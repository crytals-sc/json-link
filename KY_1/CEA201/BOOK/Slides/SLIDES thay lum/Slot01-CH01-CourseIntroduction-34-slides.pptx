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3" r:id="rId1"/>
  </p:sldMasterIdLst>
  <p:notesMasterIdLst>
    <p:notesMasterId r:id="rId38"/>
  </p:notesMasterIdLst>
  <p:handoutMasterIdLst>
    <p:handoutMasterId r:id="rId39"/>
  </p:handoutMasterIdLst>
  <p:sldIdLst>
    <p:sldId id="285" r:id="rId2"/>
    <p:sldId id="298" r:id="rId3"/>
    <p:sldId id="300" r:id="rId4"/>
    <p:sldId id="286" r:id="rId5"/>
    <p:sldId id="287" r:id="rId6"/>
    <p:sldId id="288" r:id="rId7"/>
    <p:sldId id="289" r:id="rId8"/>
    <p:sldId id="290" r:id="rId9"/>
    <p:sldId id="291" r:id="rId10"/>
    <p:sldId id="292" r:id="rId11"/>
    <p:sldId id="293" r:id="rId12"/>
    <p:sldId id="294" r:id="rId13"/>
    <p:sldId id="295" r:id="rId14"/>
    <p:sldId id="296" r:id="rId15"/>
    <p:sldId id="256" r:id="rId16"/>
    <p:sldId id="282" r:id="rId17"/>
    <p:sldId id="281" r:id="rId18"/>
    <p:sldId id="257" r:id="rId19"/>
    <p:sldId id="276" r:id="rId20"/>
    <p:sldId id="297" r:id="rId21"/>
    <p:sldId id="259" r:id="rId22"/>
    <p:sldId id="261" r:id="rId23"/>
    <p:sldId id="299" r:id="rId24"/>
    <p:sldId id="262" r:id="rId25"/>
    <p:sldId id="263" r:id="rId26"/>
    <p:sldId id="264" r:id="rId27"/>
    <p:sldId id="265" r:id="rId28"/>
    <p:sldId id="277" r:id="rId29"/>
    <p:sldId id="278" r:id="rId30"/>
    <p:sldId id="279" r:id="rId31"/>
    <p:sldId id="280" r:id="rId32"/>
    <p:sldId id="283" r:id="rId33"/>
    <p:sldId id="270" r:id="rId34"/>
    <p:sldId id="272" r:id="rId35"/>
    <p:sldId id="301" r:id="rId36"/>
    <p:sldId id="302" r:id="rId3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09"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09"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09"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09"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09" charset="0"/>
        <a:ea typeface="+mn-ea"/>
        <a:cs typeface="+mn-cs"/>
      </a:defRPr>
    </a:lvl5pPr>
    <a:lvl6pPr marL="2286000" algn="l" defTabSz="457200" rtl="0" eaLnBrk="1" latinLnBrk="0" hangingPunct="1">
      <a:defRPr sz="2400" kern="1200">
        <a:solidFill>
          <a:schemeClr val="tx1"/>
        </a:solidFill>
        <a:latin typeface="Times New Roman" pitchFamily="-109" charset="0"/>
        <a:ea typeface="+mn-ea"/>
        <a:cs typeface="+mn-cs"/>
      </a:defRPr>
    </a:lvl6pPr>
    <a:lvl7pPr marL="2743200" algn="l" defTabSz="457200" rtl="0" eaLnBrk="1" latinLnBrk="0" hangingPunct="1">
      <a:defRPr sz="2400" kern="1200">
        <a:solidFill>
          <a:schemeClr val="tx1"/>
        </a:solidFill>
        <a:latin typeface="Times New Roman" pitchFamily="-109" charset="0"/>
        <a:ea typeface="+mn-ea"/>
        <a:cs typeface="+mn-cs"/>
      </a:defRPr>
    </a:lvl7pPr>
    <a:lvl8pPr marL="3200400" algn="l" defTabSz="457200" rtl="0" eaLnBrk="1" latinLnBrk="0" hangingPunct="1">
      <a:defRPr sz="2400" kern="1200">
        <a:solidFill>
          <a:schemeClr val="tx1"/>
        </a:solidFill>
        <a:latin typeface="Times New Roman" pitchFamily="-109" charset="0"/>
        <a:ea typeface="+mn-ea"/>
        <a:cs typeface="+mn-cs"/>
      </a:defRPr>
    </a:lvl8pPr>
    <a:lvl9pPr marL="3657600" algn="l" defTabSz="457200" rtl="0" eaLnBrk="1" latinLnBrk="0" hangingPunct="1">
      <a:defRPr sz="2400" kern="1200">
        <a:solidFill>
          <a:schemeClr val="tx1"/>
        </a:solidFill>
        <a:latin typeface="Times New Roman" pitchFamily="-109"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88706" autoAdjust="0"/>
  </p:normalViewPr>
  <p:slideViewPr>
    <p:cSldViewPr>
      <p:cViewPr varScale="1">
        <p:scale>
          <a:sx n="81" d="100"/>
          <a:sy n="81" d="100"/>
        </p:scale>
        <p:origin x="1872" y="6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18.xml"/><Relationship Id="rId7" Type="http://schemas.openxmlformats.org/officeDocument/2006/relationships/slide" Target="slides/slide34.xml"/><Relationship Id="rId2" Type="http://schemas.openxmlformats.org/officeDocument/2006/relationships/slide" Target="slides/slide15.xml"/><Relationship Id="rId1" Type="http://schemas.openxmlformats.org/officeDocument/2006/relationships/slide" Target="slides/slide1.xml"/><Relationship Id="rId6" Type="http://schemas.openxmlformats.org/officeDocument/2006/relationships/slide" Target="slides/slide33.xml"/><Relationship Id="rId5" Type="http://schemas.openxmlformats.org/officeDocument/2006/relationships/slide" Target="slides/slide21.xml"/><Relationship Id="rId4" Type="http://schemas.openxmlformats.org/officeDocument/2006/relationships/slide" Target="slides/slide1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8CF26C-3B9E-EC4D-B017-A6EDD2D78F18}" type="doc">
      <dgm:prSet loTypeId="urn:microsoft.com/office/officeart/2005/8/layout/cycle4#1" loCatId="relationship" qsTypeId="urn:microsoft.com/office/officeart/2005/8/quickstyle/simple4" qsCatId="simple" csTypeId="urn:microsoft.com/office/officeart/2005/8/colors/accent1_2" csCatId="accent1" phldr="1"/>
      <dgm:spPr/>
      <dgm:t>
        <a:bodyPr/>
        <a:lstStyle/>
        <a:p>
          <a:endParaRPr lang="en-US"/>
        </a:p>
      </dgm:t>
    </dgm:pt>
    <dgm:pt modelId="{B0CAEE6A-D8FA-1A4E-8E6A-4450A6DD048D}">
      <dgm:prSet custT="1"/>
      <dgm:spPr/>
      <dgm:t>
        <a:bodyPr/>
        <a:lstStyle/>
        <a:p>
          <a:pPr rtl="0"/>
          <a:r>
            <a:rPr lang="en-US" sz="1400" b="1" dirty="0">
              <a:effectLst>
                <a:outerShdw blurRad="38100" dist="38100" dir="2700000" algn="tl">
                  <a:srgbClr val="000000">
                    <a:alpha val="43137"/>
                  </a:srgbClr>
                </a:outerShdw>
              </a:effectLst>
            </a:rPr>
            <a:t>Computer </a:t>
          </a:r>
          <a:r>
            <a:rPr lang="en-US" sz="1400" b="1" dirty="0">
              <a:solidFill>
                <a:schemeClr val="bg1"/>
              </a:solidFill>
              <a:effectLst>
                <a:outerShdw blurRad="38100" dist="38100" dir="2700000" algn="tl">
                  <a:srgbClr val="000000">
                    <a:alpha val="43137"/>
                  </a:srgbClr>
                </a:outerShdw>
              </a:effectLst>
            </a:rPr>
            <a:t>Architecture</a:t>
          </a:r>
        </a:p>
      </dgm:t>
    </dgm:pt>
    <dgm:pt modelId="{688287C0-0BBB-B04A-B8B2-AB36598391AC}" type="parTrans" cxnId="{D3324486-6DB6-E64B-B1A8-C30BAEA50D60}">
      <dgm:prSet/>
      <dgm:spPr/>
      <dgm:t>
        <a:bodyPr/>
        <a:lstStyle/>
        <a:p>
          <a:endParaRPr lang="en-US"/>
        </a:p>
      </dgm:t>
    </dgm:pt>
    <dgm:pt modelId="{06346C9A-108C-B141-813D-843AF3CECB9B}" type="sibTrans" cxnId="{D3324486-6DB6-E64B-B1A8-C30BAEA50D60}">
      <dgm:prSet/>
      <dgm:spPr/>
      <dgm:t>
        <a:bodyPr/>
        <a:lstStyle/>
        <a:p>
          <a:endParaRPr lang="en-US"/>
        </a:p>
      </dgm:t>
    </dgm:pt>
    <dgm:pt modelId="{28315CB9-8304-2142-842C-3463531B3569}">
      <dgm:prSet custT="1"/>
      <dgm:spPr/>
      <dgm:t>
        <a:bodyPr/>
        <a:lstStyle/>
        <a:p>
          <a:pPr rtl="0"/>
          <a:r>
            <a:rPr lang="en-US" sz="1800" b="1" u="sng" dirty="0">
              <a:solidFill>
                <a:srgbClr val="002060"/>
              </a:solidFill>
            </a:rPr>
            <a:t>Attributes</a:t>
          </a:r>
          <a:r>
            <a:rPr lang="en-US" sz="1800" b="1" dirty="0">
              <a:solidFill>
                <a:srgbClr val="0070C0"/>
              </a:solidFill>
            </a:rPr>
            <a:t> </a:t>
          </a:r>
          <a:r>
            <a:rPr lang="en-US" sz="1800" dirty="0"/>
            <a:t>of a system visible to the programmer</a:t>
          </a:r>
        </a:p>
      </dgm:t>
    </dgm:pt>
    <dgm:pt modelId="{A7B6E241-54E6-4343-8A9E-03120641D454}" type="parTrans" cxnId="{0982BD52-6017-0E45-866D-E6B00540A5AF}">
      <dgm:prSet/>
      <dgm:spPr/>
      <dgm:t>
        <a:bodyPr/>
        <a:lstStyle/>
        <a:p>
          <a:endParaRPr lang="en-US"/>
        </a:p>
      </dgm:t>
    </dgm:pt>
    <dgm:pt modelId="{8805F3BF-5747-FA44-B2D6-8E46921DD5F2}" type="sibTrans" cxnId="{0982BD52-6017-0E45-866D-E6B00540A5AF}">
      <dgm:prSet/>
      <dgm:spPr/>
      <dgm:t>
        <a:bodyPr/>
        <a:lstStyle/>
        <a:p>
          <a:endParaRPr lang="en-US"/>
        </a:p>
      </dgm:t>
    </dgm:pt>
    <dgm:pt modelId="{21A469AC-73E4-2148-8557-29B0050DEDC0}">
      <dgm:prSet custT="1"/>
      <dgm:spPr/>
      <dgm:t>
        <a:bodyPr/>
        <a:lstStyle/>
        <a:p>
          <a:pPr rtl="0"/>
          <a:r>
            <a:rPr lang="en-US" sz="1800" dirty="0"/>
            <a:t>Have a direct impact</a:t>
          </a:r>
          <a:r>
            <a:rPr lang="en-US" sz="1400" dirty="0"/>
            <a:t>(affect)</a:t>
          </a:r>
          <a:r>
            <a:rPr lang="en-US" sz="1800" dirty="0"/>
            <a:t> on the logical execution of a program</a:t>
          </a:r>
        </a:p>
      </dgm:t>
    </dgm:pt>
    <dgm:pt modelId="{94BC96F5-293D-3C4D-A2F1-79679BBF38E8}" type="parTrans" cxnId="{174D5ABD-454D-0D4F-8354-0209701BD34D}">
      <dgm:prSet/>
      <dgm:spPr/>
      <dgm:t>
        <a:bodyPr/>
        <a:lstStyle/>
        <a:p>
          <a:endParaRPr lang="en-US"/>
        </a:p>
      </dgm:t>
    </dgm:pt>
    <dgm:pt modelId="{C5D2949D-BDAD-0542-A3C2-B076CCD0AE72}" type="sibTrans" cxnId="{174D5ABD-454D-0D4F-8354-0209701BD34D}">
      <dgm:prSet/>
      <dgm:spPr/>
      <dgm:t>
        <a:bodyPr/>
        <a:lstStyle/>
        <a:p>
          <a:endParaRPr lang="en-US"/>
        </a:p>
      </dgm:t>
    </dgm:pt>
    <dgm:pt modelId="{308789E6-82F7-DB43-B928-143FCBCCB864}">
      <dgm:prSet custT="1"/>
      <dgm:spPr/>
      <dgm:t>
        <a:bodyPr/>
        <a:lstStyle/>
        <a:p>
          <a:pPr rtl="0"/>
          <a:r>
            <a:rPr lang="en-US" sz="1400" b="1" dirty="0">
              <a:effectLst>
                <a:outerShdw blurRad="38100" dist="38100" dir="2700000" algn="tl">
                  <a:srgbClr val="000000">
                    <a:alpha val="43137"/>
                  </a:srgbClr>
                </a:outerShdw>
              </a:effectLst>
            </a:rPr>
            <a:t>Architectural attributes include:</a:t>
          </a:r>
        </a:p>
      </dgm:t>
    </dgm:pt>
    <dgm:pt modelId="{FB24C361-90FF-A246-9A34-69E4A6A8AF57}" type="parTrans" cxnId="{30023AC5-9093-4448-B688-57B5C6556549}">
      <dgm:prSet/>
      <dgm:spPr/>
      <dgm:t>
        <a:bodyPr/>
        <a:lstStyle/>
        <a:p>
          <a:endParaRPr lang="en-US"/>
        </a:p>
      </dgm:t>
    </dgm:pt>
    <dgm:pt modelId="{616A0DCE-F636-194D-9DA8-C39FF48D7209}" type="sibTrans" cxnId="{30023AC5-9093-4448-B688-57B5C6556549}">
      <dgm:prSet/>
      <dgm:spPr/>
      <dgm:t>
        <a:bodyPr/>
        <a:lstStyle/>
        <a:p>
          <a:endParaRPr lang="en-US"/>
        </a:p>
      </dgm:t>
    </dgm:pt>
    <dgm:pt modelId="{CE5F8666-70FC-564C-8B7D-337BE33E4106}">
      <dgm:prSet custT="1"/>
      <dgm:spPr/>
      <dgm:t>
        <a:bodyPr/>
        <a:lstStyle/>
        <a:p>
          <a:pPr marL="0" indent="0" rtl="0"/>
          <a:r>
            <a:rPr lang="en-US" sz="1800" dirty="0"/>
            <a:t> </a:t>
          </a:r>
          <a:r>
            <a:rPr lang="en-US" sz="1800" b="1" u="sng" dirty="0">
              <a:solidFill>
                <a:srgbClr val="002060"/>
              </a:solidFill>
            </a:rPr>
            <a:t>Instruction set</a:t>
          </a:r>
          <a:r>
            <a:rPr lang="en-US" sz="1800" dirty="0"/>
            <a:t>, number of bits used to represent various data types,   I/O mechanisms, techniques for addressing memory</a:t>
          </a:r>
        </a:p>
      </dgm:t>
    </dgm:pt>
    <dgm:pt modelId="{76348B6E-B52D-394F-A7D3-0CFAABB89617}" type="parTrans" cxnId="{1387E257-C914-334F-A738-A616B99E545F}">
      <dgm:prSet/>
      <dgm:spPr/>
      <dgm:t>
        <a:bodyPr/>
        <a:lstStyle/>
        <a:p>
          <a:endParaRPr lang="en-US"/>
        </a:p>
      </dgm:t>
    </dgm:pt>
    <dgm:pt modelId="{AC6E989A-20AA-194C-A7C6-0BE634EC1713}" type="sibTrans" cxnId="{1387E257-C914-334F-A738-A616B99E545F}">
      <dgm:prSet/>
      <dgm:spPr/>
      <dgm:t>
        <a:bodyPr/>
        <a:lstStyle/>
        <a:p>
          <a:endParaRPr lang="en-US"/>
        </a:p>
      </dgm:t>
    </dgm:pt>
    <dgm:pt modelId="{74536227-6FB9-EA42-B0D1-89175BB10E79}">
      <dgm:prSet custT="1"/>
      <dgm:spPr/>
      <dgm:t>
        <a:bodyPr/>
        <a:lstStyle/>
        <a:p>
          <a:pPr rtl="0"/>
          <a:r>
            <a:rPr lang="en-US" sz="1400" b="1" dirty="0">
              <a:effectLst>
                <a:outerShdw blurRad="38100" dist="38100" dir="2700000" algn="tl">
                  <a:srgbClr val="000000">
                    <a:alpha val="43137"/>
                  </a:srgbClr>
                </a:outerShdw>
              </a:effectLst>
            </a:rPr>
            <a:t>Computer Organization </a:t>
          </a:r>
        </a:p>
      </dgm:t>
    </dgm:pt>
    <dgm:pt modelId="{0F4E1031-08A1-144E-B04B-64D102B658EE}" type="parTrans" cxnId="{8E989642-BD8C-7744-8EF6-FBB60B8A00FD}">
      <dgm:prSet/>
      <dgm:spPr/>
      <dgm:t>
        <a:bodyPr/>
        <a:lstStyle/>
        <a:p>
          <a:endParaRPr lang="en-US"/>
        </a:p>
      </dgm:t>
    </dgm:pt>
    <dgm:pt modelId="{134FF832-CB26-164C-83F8-265482D291A9}" type="sibTrans" cxnId="{8E989642-BD8C-7744-8EF6-FBB60B8A00FD}">
      <dgm:prSet/>
      <dgm:spPr/>
      <dgm:t>
        <a:bodyPr/>
        <a:lstStyle/>
        <a:p>
          <a:endParaRPr lang="en-US"/>
        </a:p>
      </dgm:t>
    </dgm:pt>
    <dgm:pt modelId="{4ABB395C-A2BC-EB46-8166-8924AE293271}">
      <dgm:prSet custT="1"/>
      <dgm:spPr/>
      <dgm:t>
        <a:bodyPr/>
        <a:lstStyle/>
        <a:p>
          <a:pPr rtl="0"/>
          <a:r>
            <a:rPr lang="en-US" sz="1800" dirty="0"/>
            <a:t>The </a:t>
          </a:r>
          <a:r>
            <a:rPr lang="en-US" sz="1800" b="1" dirty="0">
              <a:solidFill>
                <a:srgbClr val="FF0000"/>
              </a:solidFill>
            </a:rPr>
            <a:t>operational units and their interconnections </a:t>
          </a:r>
          <a:r>
            <a:rPr lang="en-US" sz="1800" dirty="0"/>
            <a:t>that realize the architectural specifications</a:t>
          </a:r>
        </a:p>
      </dgm:t>
    </dgm:pt>
    <dgm:pt modelId="{39F91221-9930-CA4C-BDE4-128319DAD71D}" type="parTrans" cxnId="{B9F257A1-A141-2245-873F-A8263CDB5102}">
      <dgm:prSet/>
      <dgm:spPr/>
      <dgm:t>
        <a:bodyPr/>
        <a:lstStyle/>
        <a:p>
          <a:endParaRPr lang="en-US"/>
        </a:p>
      </dgm:t>
    </dgm:pt>
    <dgm:pt modelId="{FAA95E30-E469-594E-8C2C-8129BB965E39}" type="sibTrans" cxnId="{B9F257A1-A141-2245-873F-A8263CDB5102}">
      <dgm:prSet/>
      <dgm:spPr/>
      <dgm:t>
        <a:bodyPr/>
        <a:lstStyle/>
        <a:p>
          <a:endParaRPr lang="en-US"/>
        </a:p>
      </dgm:t>
    </dgm:pt>
    <dgm:pt modelId="{54AC2B3A-9757-C341-B161-89A6E0CA9575}">
      <dgm:prSet custT="1"/>
      <dgm:spPr/>
      <dgm:t>
        <a:bodyPr/>
        <a:lstStyle/>
        <a:p>
          <a:pPr rtl="0"/>
          <a:r>
            <a:rPr lang="en-US" sz="1400" b="1" dirty="0">
              <a:effectLst>
                <a:outerShdw blurRad="38100" dist="38100" dir="2700000" algn="tl">
                  <a:srgbClr val="000000">
                    <a:alpha val="43137"/>
                  </a:srgbClr>
                </a:outerShdw>
              </a:effectLst>
            </a:rPr>
            <a:t>Organizational attributes include:</a:t>
          </a:r>
        </a:p>
      </dgm:t>
    </dgm:pt>
    <dgm:pt modelId="{83493404-DFEF-9E42-ABB4-FBBE426B3AF9}" type="parTrans" cxnId="{734FF944-1D40-0F41-B4EE-7FBCB36088CC}">
      <dgm:prSet/>
      <dgm:spPr/>
      <dgm:t>
        <a:bodyPr/>
        <a:lstStyle/>
        <a:p>
          <a:endParaRPr lang="en-US"/>
        </a:p>
      </dgm:t>
    </dgm:pt>
    <dgm:pt modelId="{D8E9FC16-4D96-4648-AE70-EC41FE4D60A6}" type="sibTrans" cxnId="{734FF944-1D40-0F41-B4EE-7FBCB36088CC}">
      <dgm:prSet/>
      <dgm:spPr/>
      <dgm:t>
        <a:bodyPr/>
        <a:lstStyle/>
        <a:p>
          <a:endParaRPr lang="en-US"/>
        </a:p>
      </dgm:t>
    </dgm:pt>
    <dgm:pt modelId="{9BB0B8FD-4469-4340-B337-9EEC8EECED22}">
      <dgm:prSet custT="1"/>
      <dgm:spPr/>
      <dgm:t>
        <a:bodyPr/>
        <a:lstStyle/>
        <a:p>
          <a:pPr rtl="0"/>
          <a:r>
            <a:rPr lang="en-US" sz="1800" b="1" dirty="0">
              <a:solidFill>
                <a:srgbClr val="FF0000"/>
              </a:solidFill>
            </a:rPr>
            <a:t>Hardware details </a:t>
          </a:r>
          <a:r>
            <a:rPr lang="en-US" sz="1800" dirty="0"/>
            <a:t>transparent to the programmer, control signals, interfaces between the computer and peripherals, memory technology used</a:t>
          </a:r>
        </a:p>
      </dgm:t>
    </dgm:pt>
    <dgm:pt modelId="{8AD2DACB-38EB-42CD-92B6-EEFAD6410248}" type="parTrans" cxnId="{2817479E-5CCF-4DDF-9149-7574A0D42EF5}">
      <dgm:prSet/>
      <dgm:spPr/>
      <dgm:t>
        <a:bodyPr/>
        <a:lstStyle/>
        <a:p>
          <a:endParaRPr lang="en-US"/>
        </a:p>
      </dgm:t>
    </dgm:pt>
    <dgm:pt modelId="{C458D760-58D0-476A-A515-EC116B6D865D}" type="sibTrans" cxnId="{2817479E-5CCF-4DDF-9149-7574A0D42EF5}">
      <dgm:prSet/>
      <dgm:spPr/>
      <dgm:t>
        <a:bodyPr/>
        <a:lstStyle/>
        <a:p>
          <a:endParaRPr lang="en-US"/>
        </a:p>
      </dgm:t>
    </dgm:pt>
    <dgm:pt modelId="{CDA0A06D-0FB6-1E45-90C3-5F07AC6489BF}" type="pres">
      <dgm:prSet presAssocID="{218CF26C-3B9E-EC4D-B017-A6EDD2D78F18}" presName="cycleMatrixDiagram" presStyleCnt="0">
        <dgm:presLayoutVars>
          <dgm:chMax val="1"/>
          <dgm:dir/>
          <dgm:animLvl val="lvl"/>
          <dgm:resizeHandles val="exact"/>
        </dgm:presLayoutVars>
      </dgm:prSet>
      <dgm:spPr/>
    </dgm:pt>
    <dgm:pt modelId="{AE230A46-0396-8548-BFE6-7DE77B7F5698}" type="pres">
      <dgm:prSet presAssocID="{218CF26C-3B9E-EC4D-B017-A6EDD2D78F18}" presName="children" presStyleCnt="0"/>
      <dgm:spPr/>
    </dgm:pt>
    <dgm:pt modelId="{9355E2DA-ED4B-FF45-A420-CEC2FAD4F47F}" type="pres">
      <dgm:prSet presAssocID="{218CF26C-3B9E-EC4D-B017-A6EDD2D78F18}" presName="child1group" presStyleCnt="0"/>
      <dgm:spPr/>
    </dgm:pt>
    <dgm:pt modelId="{EAF475D4-71BA-AC4A-A978-8E1A58675943}" type="pres">
      <dgm:prSet presAssocID="{218CF26C-3B9E-EC4D-B017-A6EDD2D78F18}" presName="child1" presStyleLbl="bgAcc1" presStyleIdx="0" presStyleCnt="4" custScaleX="145337" custScaleY="130810" custLinFactNeighborX="-40498" custLinFactNeighborY="23100"/>
      <dgm:spPr/>
    </dgm:pt>
    <dgm:pt modelId="{8DC48612-CC3B-434C-BDCA-2D368136FE30}" type="pres">
      <dgm:prSet presAssocID="{218CF26C-3B9E-EC4D-B017-A6EDD2D78F18}" presName="child1Text" presStyleLbl="bgAcc1" presStyleIdx="0" presStyleCnt="4">
        <dgm:presLayoutVars>
          <dgm:bulletEnabled val="1"/>
        </dgm:presLayoutVars>
      </dgm:prSet>
      <dgm:spPr/>
    </dgm:pt>
    <dgm:pt modelId="{36650470-D0B6-4E4B-B2CF-C9FC9D98A3AF}" type="pres">
      <dgm:prSet presAssocID="{218CF26C-3B9E-EC4D-B017-A6EDD2D78F18}" presName="child2group" presStyleCnt="0"/>
      <dgm:spPr/>
    </dgm:pt>
    <dgm:pt modelId="{D6EE7FF3-03D5-1248-B164-AC203683EA31}" type="pres">
      <dgm:prSet presAssocID="{218CF26C-3B9E-EC4D-B017-A6EDD2D78F18}" presName="child2" presStyleLbl="bgAcc1" presStyleIdx="1" presStyleCnt="4" custScaleX="134735" custScaleY="131918" custLinFactNeighborX="21340" custLinFactNeighborY="17574"/>
      <dgm:spPr/>
    </dgm:pt>
    <dgm:pt modelId="{7378E5CD-5D97-4946-88A6-1649F23BF4FB}" type="pres">
      <dgm:prSet presAssocID="{218CF26C-3B9E-EC4D-B017-A6EDD2D78F18}" presName="child2Text" presStyleLbl="bgAcc1" presStyleIdx="1" presStyleCnt="4">
        <dgm:presLayoutVars>
          <dgm:bulletEnabled val="1"/>
        </dgm:presLayoutVars>
      </dgm:prSet>
      <dgm:spPr/>
    </dgm:pt>
    <dgm:pt modelId="{079BE95B-2F90-7845-93AC-93020A91204D}" type="pres">
      <dgm:prSet presAssocID="{218CF26C-3B9E-EC4D-B017-A6EDD2D78F18}" presName="child3group" presStyleCnt="0"/>
      <dgm:spPr/>
    </dgm:pt>
    <dgm:pt modelId="{F4B243E3-6A78-9746-BEE9-84ACAEA02E36}" type="pres">
      <dgm:prSet presAssocID="{218CF26C-3B9E-EC4D-B017-A6EDD2D78F18}" presName="child3" presStyleLbl="bgAcc1" presStyleIdx="2" presStyleCnt="4" custScaleX="142389" custScaleY="160961" custLinFactNeighborX="11105" custLinFactNeighborY="568"/>
      <dgm:spPr/>
    </dgm:pt>
    <dgm:pt modelId="{28FF47C2-252F-AD4F-9FFC-C7380D031906}" type="pres">
      <dgm:prSet presAssocID="{218CF26C-3B9E-EC4D-B017-A6EDD2D78F18}" presName="child3Text" presStyleLbl="bgAcc1" presStyleIdx="2" presStyleCnt="4">
        <dgm:presLayoutVars>
          <dgm:bulletEnabled val="1"/>
        </dgm:presLayoutVars>
      </dgm:prSet>
      <dgm:spPr/>
    </dgm:pt>
    <dgm:pt modelId="{857D66DE-4C1F-C044-A0CF-897ECE7AFBB6}" type="pres">
      <dgm:prSet presAssocID="{218CF26C-3B9E-EC4D-B017-A6EDD2D78F18}" presName="child4group" presStyleCnt="0"/>
      <dgm:spPr/>
    </dgm:pt>
    <dgm:pt modelId="{82886FAE-83A2-704D-92D1-F4CC571A92A1}" type="pres">
      <dgm:prSet presAssocID="{218CF26C-3B9E-EC4D-B017-A6EDD2D78F18}" presName="child4" presStyleLbl="bgAcc1" presStyleIdx="3" presStyleCnt="4" custScaleX="177581" custScaleY="182905" custLinFactNeighborX="-25879" custLinFactNeighborY="-6824"/>
      <dgm:spPr/>
    </dgm:pt>
    <dgm:pt modelId="{946504B0-6F32-CA4D-B160-51F1CA3B2486}" type="pres">
      <dgm:prSet presAssocID="{218CF26C-3B9E-EC4D-B017-A6EDD2D78F18}" presName="child4Text" presStyleLbl="bgAcc1" presStyleIdx="3" presStyleCnt="4">
        <dgm:presLayoutVars>
          <dgm:bulletEnabled val="1"/>
        </dgm:presLayoutVars>
      </dgm:prSet>
      <dgm:spPr/>
    </dgm:pt>
    <dgm:pt modelId="{B36011C0-D512-5B43-AFFF-B5EF3477E6BC}" type="pres">
      <dgm:prSet presAssocID="{218CF26C-3B9E-EC4D-B017-A6EDD2D78F18}" presName="childPlaceholder" presStyleCnt="0"/>
      <dgm:spPr/>
    </dgm:pt>
    <dgm:pt modelId="{0176A4A2-93EB-3B4F-8E44-E15DD76601A9}" type="pres">
      <dgm:prSet presAssocID="{218CF26C-3B9E-EC4D-B017-A6EDD2D78F18}" presName="circle" presStyleCnt="0"/>
      <dgm:spPr/>
    </dgm:pt>
    <dgm:pt modelId="{0995DE62-81B9-0E4E-9982-90865C30B506}" type="pres">
      <dgm:prSet presAssocID="{218CF26C-3B9E-EC4D-B017-A6EDD2D78F18}" presName="quadrant1" presStyleLbl="node1" presStyleIdx="0" presStyleCnt="4">
        <dgm:presLayoutVars>
          <dgm:chMax val="1"/>
          <dgm:bulletEnabled val="1"/>
        </dgm:presLayoutVars>
      </dgm:prSet>
      <dgm:spPr/>
    </dgm:pt>
    <dgm:pt modelId="{E56301CE-27B0-6744-BFE7-3637DF690F07}" type="pres">
      <dgm:prSet presAssocID="{218CF26C-3B9E-EC4D-B017-A6EDD2D78F18}" presName="quadrant2" presStyleLbl="node1" presStyleIdx="1" presStyleCnt="4">
        <dgm:presLayoutVars>
          <dgm:chMax val="1"/>
          <dgm:bulletEnabled val="1"/>
        </dgm:presLayoutVars>
      </dgm:prSet>
      <dgm:spPr/>
    </dgm:pt>
    <dgm:pt modelId="{48FC8C78-AEC8-1E4B-9265-AE1BCBD2AB12}" type="pres">
      <dgm:prSet presAssocID="{218CF26C-3B9E-EC4D-B017-A6EDD2D78F18}" presName="quadrant3" presStyleLbl="node1" presStyleIdx="2" presStyleCnt="4">
        <dgm:presLayoutVars>
          <dgm:chMax val="1"/>
          <dgm:bulletEnabled val="1"/>
        </dgm:presLayoutVars>
      </dgm:prSet>
      <dgm:spPr/>
    </dgm:pt>
    <dgm:pt modelId="{84C6FD03-EE72-914E-B7C9-68870374A795}" type="pres">
      <dgm:prSet presAssocID="{218CF26C-3B9E-EC4D-B017-A6EDD2D78F18}" presName="quadrant4" presStyleLbl="node1" presStyleIdx="3" presStyleCnt="4">
        <dgm:presLayoutVars>
          <dgm:chMax val="1"/>
          <dgm:bulletEnabled val="1"/>
        </dgm:presLayoutVars>
      </dgm:prSet>
      <dgm:spPr/>
    </dgm:pt>
    <dgm:pt modelId="{D6826F6B-04DC-E742-8F5F-D9B2D824E236}" type="pres">
      <dgm:prSet presAssocID="{218CF26C-3B9E-EC4D-B017-A6EDD2D78F18}" presName="quadrantPlaceholder" presStyleCnt="0"/>
      <dgm:spPr/>
    </dgm:pt>
    <dgm:pt modelId="{1A971C7A-02BC-2144-9C44-48A4E03337B1}" type="pres">
      <dgm:prSet presAssocID="{218CF26C-3B9E-EC4D-B017-A6EDD2D78F18}" presName="center1" presStyleLbl="fgShp" presStyleIdx="0" presStyleCnt="2"/>
      <dgm:spPr/>
    </dgm:pt>
    <dgm:pt modelId="{290E4CF8-E8EE-584A-BC6F-814759FDAB7A}" type="pres">
      <dgm:prSet presAssocID="{218CF26C-3B9E-EC4D-B017-A6EDD2D78F18}" presName="center2" presStyleLbl="fgShp" presStyleIdx="1" presStyleCnt="2"/>
      <dgm:spPr/>
    </dgm:pt>
  </dgm:ptLst>
  <dgm:cxnLst>
    <dgm:cxn modelId="{28A35006-6EB0-C244-B998-FFFD23D91384}" type="presOf" srcId="{21A469AC-73E4-2148-8557-29B0050DEDC0}" destId="{8DC48612-CC3B-434C-BDCA-2D368136FE30}" srcOrd="1" destOrd="1" presId="urn:microsoft.com/office/officeart/2005/8/layout/cycle4#1"/>
    <dgm:cxn modelId="{2FF7D623-05EC-C341-AE4E-3E9FCAB5123F}" type="presOf" srcId="{54AC2B3A-9757-C341-B161-89A6E0CA9575}" destId="{84C6FD03-EE72-914E-B7C9-68870374A795}" srcOrd="0" destOrd="0" presId="urn:microsoft.com/office/officeart/2005/8/layout/cycle4#1"/>
    <dgm:cxn modelId="{DEC79734-5731-0947-807E-E0BA6FB7738D}" type="presOf" srcId="{CE5F8666-70FC-564C-8B7D-337BE33E4106}" destId="{D6EE7FF3-03D5-1248-B164-AC203683EA31}" srcOrd="0" destOrd="0" presId="urn:microsoft.com/office/officeart/2005/8/layout/cycle4#1"/>
    <dgm:cxn modelId="{1C7F9834-53D8-D447-AFDE-406FAFE9AA01}" type="presOf" srcId="{CE5F8666-70FC-564C-8B7D-337BE33E4106}" destId="{7378E5CD-5D97-4946-88A6-1649F23BF4FB}" srcOrd="1" destOrd="0" presId="urn:microsoft.com/office/officeart/2005/8/layout/cycle4#1"/>
    <dgm:cxn modelId="{578AC43C-622E-8A4D-8989-0B9965ECC139}" type="presOf" srcId="{218CF26C-3B9E-EC4D-B017-A6EDD2D78F18}" destId="{CDA0A06D-0FB6-1E45-90C3-5F07AC6489BF}" srcOrd="0" destOrd="0" presId="urn:microsoft.com/office/officeart/2005/8/layout/cycle4#1"/>
    <dgm:cxn modelId="{8E989642-BD8C-7744-8EF6-FBB60B8A00FD}" srcId="{218CF26C-3B9E-EC4D-B017-A6EDD2D78F18}" destId="{74536227-6FB9-EA42-B0D1-89175BB10E79}" srcOrd="2" destOrd="0" parTransId="{0F4E1031-08A1-144E-B04B-64D102B658EE}" sibTransId="{134FF832-CB26-164C-83F8-265482D291A9}"/>
    <dgm:cxn modelId="{734FF944-1D40-0F41-B4EE-7FBCB36088CC}" srcId="{218CF26C-3B9E-EC4D-B017-A6EDD2D78F18}" destId="{54AC2B3A-9757-C341-B161-89A6E0CA9575}" srcOrd="3" destOrd="0" parTransId="{83493404-DFEF-9E42-ABB4-FBBE426B3AF9}" sibTransId="{D8E9FC16-4D96-4648-AE70-EC41FE4D60A6}"/>
    <dgm:cxn modelId="{E1272249-4E69-894D-8DDC-98388B0A56AB}" type="presOf" srcId="{4ABB395C-A2BC-EB46-8166-8924AE293271}" destId="{F4B243E3-6A78-9746-BEE9-84ACAEA02E36}" srcOrd="0" destOrd="0" presId="urn:microsoft.com/office/officeart/2005/8/layout/cycle4#1"/>
    <dgm:cxn modelId="{65823B6C-C9F6-D147-988F-D9D117570779}" type="presOf" srcId="{21A469AC-73E4-2148-8557-29B0050DEDC0}" destId="{EAF475D4-71BA-AC4A-A978-8E1A58675943}" srcOrd="0" destOrd="1" presId="urn:microsoft.com/office/officeart/2005/8/layout/cycle4#1"/>
    <dgm:cxn modelId="{6CB4A252-48D8-A94C-B5E1-F54449DF1DFD}" type="presOf" srcId="{B0CAEE6A-D8FA-1A4E-8E6A-4450A6DD048D}" destId="{0995DE62-81B9-0E4E-9982-90865C30B506}" srcOrd="0" destOrd="0" presId="urn:microsoft.com/office/officeart/2005/8/layout/cycle4#1"/>
    <dgm:cxn modelId="{0982BD52-6017-0E45-866D-E6B00540A5AF}" srcId="{B0CAEE6A-D8FA-1A4E-8E6A-4450A6DD048D}" destId="{28315CB9-8304-2142-842C-3463531B3569}" srcOrd="0" destOrd="0" parTransId="{A7B6E241-54E6-4343-8A9E-03120641D454}" sibTransId="{8805F3BF-5747-FA44-B2D6-8E46921DD5F2}"/>
    <dgm:cxn modelId="{4B6F0975-8F18-3744-BB40-DFA5A827FB65}" type="presOf" srcId="{4ABB395C-A2BC-EB46-8166-8924AE293271}" destId="{28FF47C2-252F-AD4F-9FFC-C7380D031906}" srcOrd="1" destOrd="0" presId="urn:microsoft.com/office/officeart/2005/8/layout/cycle4#1"/>
    <dgm:cxn modelId="{1387E257-C914-334F-A738-A616B99E545F}" srcId="{308789E6-82F7-DB43-B928-143FCBCCB864}" destId="{CE5F8666-70FC-564C-8B7D-337BE33E4106}" srcOrd="0" destOrd="0" parTransId="{76348B6E-B52D-394F-A7D3-0CFAABB89617}" sibTransId="{AC6E989A-20AA-194C-A7C6-0BE634EC1713}"/>
    <dgm:cxn modelId="{D3324486-6DB6-E64B-B1A8-C30BAEA50D60}" srcId="{218CF26C-3B9E-EC4D-B017-A6EDD2D78F18}" destId="{B0CAEE6A-D8FA-1A4E-8E6A-4450A6DD048D}" srcOrd="0" destOrd="0" parTransId="{688287C0-0BBB-B04A-B8B2-AB36598391AC}" sibTransId="{06346C9A-108C-B141-813D-843AF3CECB9B}"/>
    <dgm:cxn modelId="{50C3899A-CA77-A647-B562-3E414DB1DB38}" type="presOf" srcId="{308789E6-82F7-DB43-B928-143FCBCCB864}" destId="{E56301CE-27B0-6744-BFE7-3637DF690F07}" srcOrd="0" destOrd="0" presId="urn:microsoft.com/office/officeart/2005/8/layout/cycle4#1"/>
    <dgm:cxn modelId="{2817479E-5CCF-4DDF-9149-7574A0D42EF5}" srcId="{54AC2B3A-9757-C341-B161-89A6E0CA9575}" destId="{9BB0B8FD-4469-4340-B337-9EEC8EECED22}" srcOrd="0" destOrd="0" parTransId="{8AD2DACB-38EB-42CD-92B6-EEFAD6410248}" sibTransId="{C458D760-58D0-476A-A515-EC116B6D865D}"/>
    <dgm:cxn modelId="{B9F257A1-A141-2245-873F-A8263CDB5102}" srcId="{74536227-6FB9-EA42-B0D1-89175BB10E79}" destId="{4ABB395C-A2BC-EB46-8166-8924AE293271}" srcOrd="0" destOrd="0" parTransId="{39F91221-9930-CA4C-BDE4-128319DAD71D}" sibTransId="{FAA95E30-E469-594E-8C2C-8129BB965E39}"/>
    <dgm:cxn modelId="{936663A7-F3F1-544C-BB00-A6B8712F5F75}" type="presOf" srcId="{28315CB9-8304-2142-842C-3463531B3569}" destId="{EAF475D4-71BA-AC4A-A978-8E1A58675943}" srcOrd="0" destOrd="0" presId="urn:microsoft.com/office/officeart/2005/8/layout/cycle4#1"/>
    <dgm:cxn modelId="{369DE2B8-1C60-D342-8E38-EC0EB138C6CF}" type="presOf" srcId="{74536227-6FB9-EA42-B0D1-89175BB10E79}" destId="{48FC8C78-AEC8-1E4B-9265-AE1BCBD2AB12}" srcOrd="0" destOrd="0" presId="urn:microsoft.com/office/officeart/2005/8/layout/cycle4#1"/>
    <dgm:cxn modelId="{174D5ABD-454D-0D4F-8354-0209701BD34D}" srcId="{B0CAEE6A-D8FA-1A4E-8E6A-4450A6DD048D}" destId="{21A469AC-73E4-2148-8557-29B0050DEDC0}" srcOrd="1" destOrd="0" parTransId="{94BC96F5-293D-3C4D-A2F1-79679BBF38E8}" sibTransId="{C5D2949D-BDAD-0542-A3C2-B076CCD0AE72}"/>
    <dgm:cxn modelId="{30023AC5-9093-4448-B688-57B5C6556549}" srcId="{218CF26C-3B9E-EC4D-B017-A6EDD2D78F18}" destId="{308789E6-82F7-DB43-B928-143FCBCCB864}" srcOrd="1" destOrd="0" parTransId="{FB24C361-90FF-A246-9A34-69E4A6A8AF57}" sibTransId="{616A0DCE-F636-194D-9DA8-C39FF48D7209}"/>
    <dgm:cxn modelId="{34D765C8-9409-4625-B15F-AD6D3128D524}" type="presOf" srcId="{9BB0B8FD-4469-4340-B337-9EEC8EECED22}" destId="{82886FAE-83A2-704D-92D1-F4CC571A92A1}" srcOrd="0" destOrd="0" presId="urn:microsoft.com/office/officeart/2005/8/layout/cycle4#1"/>
    <dgm:cxn modelId="{630319D7-67DE-492F-BDDF-F33300993BB0}" type="presOf" srcId="{9BB0B8FD-4469-4340-B337-9EEC8EECED22}" destId="{946504B0-6F32-CA4D-B160-51F1CA3B2486}" srcOrd="1" destOrd="0" presId="urn:microsoft.com/office/officeart/2005/8/layout/cycle4#1"/>
    <dgm:cxn modelId="{E7A4ADFA-B474-C14B-8A27-965FB71E5D8D}" type="presOf" srcId="{28315CB9-8304-2142-842C-3463531B3569}" destId="{8DC48612-CC3B-434C-BDCA-2D368136FE30}" srcOrd="1" destOrd="0" presId="urn:microsoft.com/office/officeart/2005/8/layout/cycle4#1"/>
    <dgm:cxn modelId="{699078D6-31A2-0B41-B5B3-4D3C3092B897}" type="presParOf" srcId="{CDA0A06D-0FB6-1E45-90C3-5F07AC6489BF}" destId="{AE230A46-0396-8548-BFE6-7DE77B7F5698}" srcOrd="0" destOrd="0" presId="urn:microsoft.com/office/officeart/2005/8/layout/cycle4#1"/>
    <dgm:cxn modelId="{51036B94-27D6-6442-B7E8-4BD19D5092C3}" type="presParOf" srcId="{AE230A46-0396-8548-BFE6-7DE77B7F5698}" destId="{9355E2DA-ED4B-FF45-A420-CEC2FAD4F47F}" srcOrd="0" destOrd="0" presId="urn:microsoft.com/office/officeart/2005/8/layout/cycle4#1"/>
    <dgm:cxn modelId="{5CEFC4B6-D27A-F64A-9614-3E4A00A63D41}" type="presParOf" srcId="{9355E2DA-ED4B-FF45-A420-CEC2FAD4F47F}" destId="{EAF475D4-71BA-AC4A-A978-8E1A58675943}" srcOrd="0" destOrd="0" presId="urn:microsoft.com/office/officeart/2005/8/layout/cycle4#1"/>
    <dgm:cxn modelId="{F695AE92-91AF-1640-8C0C-BF1FD554B2BE}" type="presParOf" srcId="{9355E2DA-ED4B-FF45-A420-CEC2FAD4F47F}" destId="{8DC48612-CC3B-434C-BDCA-2D368136FE30}" srcOrd="1" destOrd="0" presId="urn:microsoft.com/office/officeart/2005/8/layout/cycle4#1"/>
    <dgm:cxn modelId="{FECF91CB-3E6A-F14A-93BB-0814B430D767}" type="presParOf" srcId="{AE230A46-0396-8548-BFE6-7DE77B7F5698}" destId="{36650470-D0B6-4E4B-B2CF-C9FC9D98A3AF}" srcOrd="1" destOrd="0" presId="urn:microsoft.com/office/officeart/2005/8/layout/cycle4#1"/>
    <dgm:cxn modelId="{2033105B-7235-A441-BCD4-1C23395F17D1}" type="presParOf" srcId="{36650470-D0B6-4E4B-B2CF-C9FC9D98A3AF}" destId="{D6EE7FF3-03D5-1248-B164-AC203683EA31}" srcOrd="0" destOrd="0" presId="urn:microsoft.com/office/officeart/2005/8/layout/cycle4#1"/>
    <dgm:cxn modelId="{53B6DDD3-7071-314D-8F65-2945B82F0920}" type="presParOf" srcId="{36650470-D0B6-4E4B-B2CF-C9FC9D98A3AF}" destId="{7378E5CD-5D97-4946-88A6-1649F23BF4FB}" srcOrd="1" destOrd="0" presId="urn:microsoft.com/office/officeart/2005/8/layout/cycle4#1"/>
    <dgm:cxn modelId="{0A0EA159-BE72-504D-AF89-D51A7FA317C4}" type="presParOf" srcId="{AE230A46-0396-8548-BFE6-7DE77B7F5698}" destId="{079BE95B-2F90-7845-93AC-93020A91204D}" srcOrd="2" destOrd="0" presId="urn:microsoft.com/office/officeart/2005/8/layout/cycle4#1"/>
    <dgm:cxn modelId="{6FBAA814-9EDF-874C-B162-98D6DFEA4453}" type="presParOf" srcId="{079BE95B-2F90-7845-93AC-93020A91204D}" destId="{F4B243E3-6A78-9746-BEE9-84ACAEA02E36}" srcOrd="0" destOrd="0" presId="urn:microsoft.com/office/officeart/2005/8/layout/cycle4#1"/>
    <dgm:cxn modelId="{3B12EC53-267E-804F-9CA2-2CFD8BBE1C98}" type="presParOf" srcId="{079BE95B-2F90-7845-93AC-93020A91204D}" destId="{28FF47C2-252F-AD4F-9FFC-C7380D031906}" srcOrd="1" destOrd="0" presId="urn:microsoft.com/office/officeart/2005/8/layout/cycle4#1"/>
    <dgm:cxn modelId="{8E16598D-E657-2440-8FF9-F797A1DC2AB2}" type="presParOf" srcId="{AE230A46-0396-8548-BFE6-7DE77B7F5698}" destId="{857D66DE-4C1F-C044-A0CF-897ECE7AFBB6}" srcOrd="3" destOrd="0" presId="urn:microsoft.com/office/officeart/2005/8/layout/cycle4#1"/>
    <dgm:cxn modelId="{2F4564CF-B1C8-474E-A73E-211CD6C602FF}" type="presParOf" srcId="{857D66DE-4C1F-C044-A0CF-897ECE7AFBB6}" destId="{82886FAE-83A2-704D-92D1-F4CC571A92A1}" srcOrd="0" destOrd="0" presId="urn:microsoft.com/office/officeart/2005/8/layout/cycle4#1"/>
    <dgm:cxn modelId="{361FFEEA-B37D-DD4B-90FD-8019974C51CE}" type="presParOf" srcId="{857D66DE-4C1F-C044-A0CF-897ECE7AFBB6}" destId="{946504B0-6F32-CA4D-B160-51F1CA3B2486}" srcOrd="1" destOrd="0" presId="urn:microsoft.com/office/officeart/2005/8/layout/cycle4#1"/>
    <dgm:cxn modelId="{39AC28DA-B93C-FF4B-938E-E2902348EF70}" type="presParOf" srcId="{AE230A46-0396-8548-BFE6-7DE77B7F5698}" destId="{B36011C0-D512-5B43-AFFF-B5EF3477E6BC}" srcOrd="4" destOrd="0" presId="urn:microsoft.com/office/officeart/2005/8/layout/cycle4#1"/>
    <dgm:cxn modelId="{A20B9968-9E67-7142-A408-85D07AD8F89D}" type="presParOf" srcId="{CDA0A06D-0FB6-1E45-90C3-5F07AC6489BF}" destId="{0176A4A2-93EB-3B4F-8E44-E15DD76601A9}" srcOrd="1" destOrd="0" presId="urn:microsoft.com/office/officeart/2005/8/layout/cycle4#1"/>
    <dgm:cxn modelId="{68023DFC-2968-F643-9CE0-8363C792C624}" type="presParOf" srcId="{0176A4A2-93EB-3B4F-8E44-E15DD76601A9}" destId="{0995DE62-81B9-0E4E-9982-90865C30B506}" srcOrd="0" destOrd="0" presId="urn:microsoft.com/office/officeart/2005/8/layout/cycle4#1"/>
    <dgm:cxn modelId="{232F2B00-0E40-5244-AE96-43E53DC4C21B}" type="presParOf" srcId="{0176A4A2-93EB-3B4F-8E44-E15DD76601A9}" destId="{E56301CE-27B0-6744-BFE7-3637DF690F07}" srcOrd="1" destOrd="0" presId="urn:microsoft.com/office/officeart/2005/8/layout/cycle4#1"/>
    <dgm:cxn modelId="{64C1EE4B-7E4E-7F40-88F6-574C1472E73D}" type="presParOf" srcId="{0176A4A2-93EB-3B4F-8E44-E15DD76601A9}" destId="{48FC8C78-AEC8-1E4B-9265-AE1BCBD2AB12}" srcOrd="2" destOrd="0" presId="urn:microsoft.com/office/officeart/2005/8/layout/cycle4#1"/>
    <dgm:cxn modelId="{B9555833-A8E3-984C-A0CD-48531905E914}" type="presParOf" srcId="{0176A4A2-93EB-3B4F-8E44-E15DD76601A9}" destId="{84C6FD03-EE72-914E-B7C9-68870374A795}" srcOrd="3" destOrd="0" presId="urn:microsoft.com/office/officeart/2005/8/layout/cycle4#1"/>
    <dgm:cxn modelId="{C8E47CC9-F756-8D48-907D-F6D6F2C5F303}" type="presParOf" srcId="{0176A4A2-93EB-3B4F-8E44-E15DD76601A9}" destId="{D6826F6B-04DC-E742-8F5F-D9B2D824E236}" srcOrd="4" destOrd="0" presId="urn:microsoft.com/office/officeart/2005/8/layout/cycle4#1"/>
    <dgm:cxn modelId="{565B3FCF-A28D-E347-8015-2F2DE1DBE44D}" type="presParOf" srcId="{CDA0A06D-0FB6-1E45-90C3-5F07AC6489BF}" destId="{1A971C7A-02BC-2144-9C44-48A4E03337B1}" srcOrd="2" destOrd="0" presId="urn:microsoft.com/office/officeart/2005/8/layout/cycle4#1"/>
    <dgm:cxn modelId="{5BBB7B46-0562-E844-809D-68B34867AC01}" type="presParOf" srcId="{CDA0A06D-0FB6-1E45-90C3-5F07AC6489BF}" destId="{290E4CF8-E8EE-584A-BC6F-814759FDAB7A}" srcOrd="3" destOrd="0" presId="urn:microsoft.com/office/officeart/2005/8/layout/cycle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B243E3-6A78-9746-BEE9-84ACAEA02E36}">
      <dsp:nvSpPr>
        <dsp:cNvPr id="0" name=""/>
        <dsp:cNvSpPr/>
      </dsp:nvSpPr>
      <dsp:spPr>
        <a:xfrm>
          <a:off x="5142578" y="2715967"/>
          <a:ext cx="3398907" cy="248889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The </a:t>
          </a:r>
          <a:r>
            <a:rPr lang="en-US" sz="1800" b="1" kern="1200" dirty="0">
              <a:solidFill>
                <a:srgbClr val="FF0000"/>
              </a:solidFill>
            </a:rPr>
            <a:t>operational units and their interconnections </a:t>
          </a:r>
          <a:r>
            <a:rPr lang="en-US" sz="1800" kern="1200" dirty="0"/>
            <a:t>that realize the architectural specifications</a:t>
          </a:r>
        </a:p>
      </dsp:txBody>
      <dsp:txXfrm>
        <a:off x="6216924" y="3392863"/>
        <a:ext cx="2269889" cy="1757325"/>
      </dsp:txXfrm>
    </dsp:sp>
    <dsp:sp modelId="{82886FAE-83A2-704D-92D1-F4CC571A92A1}">
      <dsp:nvSpPr>
        <dsp:cNvPr id="0" name=""/>
        <dsp:cNvSpPr/>
      </dsp:nvSpPr>
      <dsp:spPr>
        <a:xfrm>
          <a:off x="0" y="2440792"/>
          <a:ext cx="4238960" cy="28282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rtl="0">
            <a:lnSpc>
              <a:spcPct val="90000"/>
            </a:lnSpc>
            <a:spcBef>
              <a:spcPct val="0"/>
            </a:spcBef>
            <a:spcAft>
              <a:spcPct val="15000"/>
            </a:spcAft>
            <a:buChar char="•"/>
          </a:pPr>
          <a:r>
            <a:rPr lang="en-US" sz="1800" b="1" kern="1200" dirty="0">
              <a:solidFill>
                <a:srgbClr val="FF0000"/>
              </a:solidFill>
            </a:rPr>
            <a:t>Hardware details </a:t>
          </a:r>
          <a:r>
            <a:rPr lang="en-US" sz="1800" kern="1200" dirty="0"/>
            <a:t>transparent to the programmer, control signals, interfaces between the computer and peripherals, memory technology used</a:t>
          </a:r>
        </a:p>
      </dsp:txBody>
      <dsp:txXfrm>
        <a:off x="62127" y="3209971"/>
        <a:ext cx="2843018" cy="1996902"/>
      </dsp:txXfrm>
    </dsp:sp>
    <dsp:sp modelId="{D6EE7FF3-03D5-1248-B164-AC203683EA31}">
      <dsp:nvSpPr>
        <dsp:cNvPr id="0" name=""/>
        <dsp:cNvSpPr/>
      </dsp:nvSpPr>
      <dsp:spPr>
        <a:xfrm>
          <a:off x="5478246" y="-73577"/>
          <a:ext cx="3216202" cy="20398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1" indent="0" algn="l" defTabSz="800100" rtl="0">
            <a:lnSpc>
              <a:spcPct val="90000"/>
            </a:lnSpc>
            <a:spcBef>
              <a:spcPct val="0"/>
            </a:spcBef>
            <a:spcAft>
              <a:spcPct val="15000"/>
            </a:spcAft>
            <a:buChar char="•"/>
          </a:pPr>
          <a:r>
            <a:rPr lang="en-US" sz="1800" kern="1200" dirty="0"/>
            <a:t> </a:t>
          </a:r>
          <a:r>
            <a:rPr lang="en-US" sz="1800" b="1" u="sng" kern="1200" dirty="0">
              <a:solidFill>
                <a:srgbClr val="002060"/>
              </a:solidFill>
            </a:rPr>
            <a:t>Instruction set</a:t>
          </a:r>
          <a:r>
            <a:rPr lang="en-US" sz="1800" kern="1200" dirty="0"/>
            <a:t>, number of bits used to represent various data types,   I/O mechanisms, techniques for addressing memory</a:t>
          </a:r>
        </a:p>
      </dsp:txBody>
      <dsp:txXfrm>
        <a:off x="6487915" y="-28769"/>
        <a:ext cx="2161725" cy="1440242"/>
      </dsp:txXfrm>
    </dsp:sp>
    <dsp:sp modelId="{EAF475D4-71BA-AC4A-A978-8E1A58675943}">
      <dsp:nvSpPr>
        <dsp:cNvPr id="0" name=""/>
        <dsp:cNvSpPr/>
      </dsp:nvSpPr>
      <dsp:spPr>
        <a:xfrm>
          <a:off x="0" y="20435"/>
          <a:ext cx="3469278" cy="20226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rtl="0">
            <a:lnSpc>
              <a:spcPct val="90000"/>
            </a:lnSpc>
            <a:spcBef>
              <a:spcPct val="0"/>
            </a:spcBef>
            <a:spcAft>
              <a:spcPct val="15000"/>
            </a:spcAft>
            <a:buChar char="•"/>
          </a:pPr>
          <a:r>
            <a:rPr lang="en-US" sz="1800" b="1" u="sng" kern="1200" dirty="0">
              <a:solidFill>
                <a:srgbClr val="002060"/>
              </a:solidFill>
            </a:rPr>
            <a:t>Attributes</a:t>
          </a:r>
          <a:r>
            <a:rPr lang="en-US" sz="1800" b="1" kern="1200" dirty="0">
              <a:solidFill>
                <a:srgbClr val="0070C0"/>
              </a:solidFill>
            </a:rPr>
            <a:t> </a:t>
          </a:r>
          <a:r>
            <a:rPr lang="en-US" sz="1800" kern="1200" dirty="0"/>
            <a:t>of a system visible to the programmer</a:t>
          </a:r>
        </a:p>
        <a:p>
          <a:pPr marL="171450" lvl="1" indent="-171450" algn="l" defTabSz="800100" rtl="0">
            <a:lnSpc>
              <a:spcPct val="90000"/>
            </a:lnSpc>
            <a:spcBef>
              <a:spcPct val="0"/>
            </a:spcBef>
            <a:spcAft>
              <a:spcPct val="15000"/>
            </a:spcAft>
            <a:buChar char="•"/>
          </a:pPr>
          <a:r>
            <a:rPr lang="en-US" sz="1800" kern="1200" dirty="0"/>
            <a:t>Have a direct impact</a:t>
          </a:r>
          <a:r>
            <a:rPr lang="en-US" sz="1400" kern="1200" dirty="0"/>
            <a:t>(affect)</a:t>
          </a:r>
          <a:r>
            <a:rPr lang="en-US" sz="1800" kern="1200" dirty="0"/>
            <a:t> on the logical execution of a program</a:t>
          </a:r>
        </a:p>
      </dsp:txBody>
      <dsp:txXfrm>
        <a:off x="44432" y="64867"/>
        <a:ext cx="2339630" cy="1428144"/>
      </dsp:txXfrm>
    </dsp:sp>
    <dsp:sp modelId="{0995DE62-81B9-0E4E-9982-90865C30B506}">
      <dsp:nvSpPr>
        <dsp:cNvPr id="0" name=""/>
        <dsp:cNvSpPr/>
      </dsp:nvSpPr>
      <dsp:spPr>
        <a:xfrm>
          <a:off x="2278979" y="373979"/>
          <a:ext cx="2092299" cy="2092299"/>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Computer </a:t>
          </a:r>
          <a:r>
            <a:rPr lang="en-US" sz="1400" b="1" kern="1200" dirty="0">
              <a:solidFill>
                <a:schemeClr val="bg1"/>
              </a:solidFill>
              <a:effectLst>
                <a:outerShdw blurRad="38100" dist="38100" dir="2700000" algn="tl">
                  <a:srgbClr val="000000">
                    <a:alpha val="43137"/>
                  </a:srgbClr>
                </a:outerShdw>
              </a:effectLst>
            </a:rPr>
            <a:t>Architecture</a:t>
          </a:r>
        </a:p>
      </dsp:txBody>
      <dsp:txXfrm>
        <a:off x="2891799" y="986799"/>
        <a:ext cx="1479479" cy="1479479"/>
      </dsp:txXfrm>
    </dsp:sp>
    <dsp:sp modelId="{E56301CE-27B0-6744-BFE7-3637DF690F07}">
      <dsp:nvSpPr>
        <dsp:cNvPr id="0" name=""/>
        <dsp:cNvSpPr/>
      </dsp:nvSpPr>
      <dsp:spPr>
        <a:xfrm rot="5400000">
          <a:off x="4467921" y="373979"/>
          <a:ext cx="2092299" cy="2092299"/>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Architectural attributes include:</a:t>
          </a:r>
        </a:p>
      </dsp:txBody>
      <dsp:txXfrm rot="-5400000">
        <a:off x="4467921" y="986799"/>
        <a:ext cx="1479479" cy="1479479"/>
      </dsp:txXfrm>
    </dsp:sp>
    <dsp:sp modelId="{48FC8C78-AEC8-1E4B-9265-AE1BCBD2AB12}">
      <dsp:nvSpPr>
        <dsp:cNvPr id="0" name=""/>
        <dsp:cNvSpPr/>
      </dsp:nvSpPr>
      <dsp:spPr>
        <a:xfrm rot="10800000">
          <a:off x="4467921" y="2562921"/>
          <a:ext cx="2092299" cy="2092299"/>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Computer Organization </a:t>
          </a:r>
        </a:p>
      </dsp:txBody>
      <dsp:txXfrm rot="10800000">
        <a:off x="4467921" y="2562921"/>
        <a:ext cx="1479479" cy="1479479"/>
      </dsp:txXfrm>
    </dsp:sp>
    <dsp:sp modelId="{84C6FD03-EE72-914E-B7C9-68870374A795}">
      <dsp:nvSpPr>
        <dsp:cNvPr id="0" name=""/>
        <dsp:cNvSpPr/>
      </dsp:nvSpPr>
      <dsp:spPr>
        <a:xfrm rot="16200000">
          <a:off x="2278979" y="2562921"/>
          <a:ext cx="2092299" cy="2092299"/>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Organizational attributes include:</a:t>
          </a:r>
        </a:p>
      </dsp:txBody>
      <dsp:txXfrm rot="5400000">
        <a:off x="2891799" y="2562921"/>
        <a:ext cx="1479479" cy="1479479"/>
      </dsp:txXfrm>
    </dsp:sp>
    <dsp:sp modelId="{1A971C7A-02BC-2144-9C44-48A4E03337B1}">
      <dsp:nvSpPr>
        <dsp:cNvPr id="0" name=""/>
        <dsp:cNvSpPr/>
      </dsp:nvSpPr>
      <dsp:spPr>
        <a:xfrm>
          <a:off x="4058400" y="2079710"/>
          <a:ext cx="722399" cy="628173"/>
        </a:xfrm>
        <a:prstGeom prst="circularArrow">
          <a:avLst/>
        </a:prstGeom>
        <a:gradFill rotWithShape="0">
          <a:gsLst>
            <a:gs pos="0">
              <a:schemeClr val="accent1">
                <a:tint val="60000"/>
                <a:hueOff val="0"/>
                <a:satOff val="0"/>
                <a:lumOff val="0"/>
                <a:alphaOff val="0"/>
                <a:shade val="40000"/>
                <a:alpha val="100000"/>
                <a:satMod val="150000"/>
                <a:lumMod val="100000"/>
              </a:schemeClr>
            </a:gs>
            <a:gs pos="100000">
              <a:schemeClr val="accent1">
                <a:tint val="60000"/>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 modelId="{290E4CF8-E8EE-584A-BC6F-814759FDAB7A}">
      <dsp:nvSpPr>
        <dsp:cNvPr id="0" name=""/>
        <dsp:cNvSpPr/>
      </dsp:nvSpPr>
      <dsp:spPr>
        <a:xfrm rot="10800000">
          <a:off x="4058400" y="2321315"/>
          <a:ext cx="722399" cy="628173"/>
        </a:xfrm>
        <a:prstGeom prst="circularArrow">
          <a:avLst/>
        </a:prstGeom>
        <a:gradFill rotWithShape="0">
          <a:gsLst>
            <a:gs pos="0">
              <a:schemeClr val="accent1">
                <a:tint val="60000"/>
                <a:hueOff val="0"/>
                <a:satOff val="0"/>
                <a:lumOff val="0"/>
                <a:alphaOff val="0"/>
                <a:shade val="40000"/>
                <a:alpha val="100000"/>
                <a:satMod val="150000"/>
                <a:lumMod val="100000"/>
              </a:schemeClr>
            </a:gs>
            <a:gs pos="100000">
              <a:schemeClr val="accent1">
                <a:tint val="60000"/>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1">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09" charset="0"/>
              </a:defRPr>
            </a:lvl1pPr>
          </a:lstStyle>
          <a:p>
            <a:endParaRPr lang="en-US" dirty="0"/>
          </a:p>
        </p:txBody>
      </p:sp>
      <p:sp>
        <p:nvSpPr>
          <p:cNvPr id="5120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09" charset="0"/>
              </a:defRPr>
            </a:lvl1pPr>
          </a:lstStyle>
          <a:p>
            <a:endParaRPr lang="en-US" dirty="0"/>
          </a:p>
        </p:txBody>
      </p:sp>
      <p:sp>
        <p:nvSpPr>
          <p:cNvPr id="5120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09" charset="0"/>
              </a:defRPr>
            </a:lvl1pPr>
          </a:lstStyle>
          <a:p>
            <a:endParaRPr lang="en-US" dirty="0"/>
          </a:p>
        </p:txBody>
      </p:sp>
      <p:sp>
        <p:nvSpPr>
          <p:cNvPr id="5120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09" charset="0"/>
              </a:defRPr>
            </a:lvl1pPr>
          </a:lstStyle>
          <a:p>
            <a:fld id="{632BFCA1-7074-BE49-9C26-1E5CA6845EA1}" type="slidenum">
              <a:rPr lang="en-US"/>
              <a:pPr/>
              <a:t>‹#›</a:t>
            </a:fld>
            <a:endParaRPr lang="en-US" dirty="0"/>
          </a:p>
        </p:txBody>
      </p:sp>
    </p:spTree>
    <p:extLst>
      <p:ext uri="{BB962C8B-B14F-4D97-AF65-F5344CB8AC3E}">
        <p14:creationId xmlns:p14="http://schemas.microsoft.com/office/powerpoint/2010/main" val="3979191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09" charset="0"/>
              </a:defRPr>
            </a:lvl1pPr>
          </a:lstStyle>
          <a:p>
            <a:endParaRPr lang="en-US" dirty="0"/>
          </a:p>
        </p:txBody>
      </p:sp>
      <p:sp>
        <p:nvSpPr>
          <p:cNvPr id="5017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09" charset="0"/>
              </a:defRPr>
            </a:lvl1pPr>
          </a:lstStyle>
          <a:p>
            <a:endParaRPr lang="en-US" dirty="0"/>
          </a:p>
        </p:txBody>
      </p:sp>
      <p:sp>
        <p:nvSpPr>
          <p:cNvPr id="501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018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18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09" charset="0"/>
              </a:defRPr>
            </a:lvl1pPr>
          </a:lstStyle>
          <a:p>
            <a:endParaRPr lang="en-US" dirty="0"/>
          </a:p>
        </p:txBody>
      </p:sp>
      <p:sp>
        <p:nvSpPr>
          <p:cNvPr id="5018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09" charset="0"/>
              </a:defRPr>
            </a:lvl1pPr>
          </a:lstStyle>
          <a:p>
            <a:fld id="{426AC9EA-110C-D44B-81A3-E5165EEE361B}" type="slidenum">
              <a:rPr lang="en-US"/>
              <a:pPr/>
              <a:t>‹#›</a:t>
            </a:fld>
            <a:endParaRPr lang="en-US" dirty="0"/>
          </a:p>
        </p:txBody>
      </p:sp>
    </p:spTree>
    <p:extLst>
      <p:ext uri="{BB962C8B-B14F-4D97-AF65-F5344CB8AC3E}">
        <p14:creationId xmlns:p14="http://schemas.microsoft.com/office/powerpoint/2010/main" val="8843140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09"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09" charset="0"/>
        <a:ea typeface="ＭＳ Ｐゴシック" pitchFamily="-109"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09" charset="0"/>
        <a:ea typeface="ＭＳ Ｐゴシック" pitchFamily="-109"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09" charset="0"/>
        <a:ea typeface="ＭＳ Ｐゴシック" pitchFamily="-109"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09" charset="0"/>
        <a:ea typeface="ＭＳ Ｐゴシック" pitchFamily="-109"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Prepared by Thân</a:t>
            </a:r>
            <a:r>
              <a:rPr lang="en-US" baseline="0" dirty="0">
                <a:latin typeface="Times New Roman" pitchFamily="-110" charset="0"/>
              </a:rPr>
              <a:t> Văn Sử</a:t>
            </a:r>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Breach: vi </a:t>
            </a:r>
            <a:r>
              <a:rPr lang="en-US"/>
              <a:t>phạm</a:t>
            </a:r>
          </a:p>
        </p:txBody>
      </p:sp>
      <p:sp>
        <p:nvSpPr>
          <p:cNvPr id="4" name="Slide Number Placeholder 3"/>
          <p:cNvSpPr>
            <a:spLocks noGrp="1"/>
          </p:cNvSpPr>
          <p:nvPr>
            <p:ph type="sldNum" sz="quarter" idx="5"/>
          </p:nvPr>
        </p:nvSpPr>
        <p:spPr/>
        <p:txBody>
          <a:bodyPr/>
          <a:lstStyle/>
          <a:p>
            <a:fld id="{426AC9EA-110C-D44B-81A3-E5165EEE361B}" type="slidenum">
              <a:rPr lang="en-US" smtClean="0"/>
              <a:pPr/>
              <a:t>13</a:t>
            </a:fld>
            <a:endParaRPr lang="en-US" dirty="0"/>
          </a:p>
        </p:txBody>
      </p:sp>
    </p:spTree>
    <p:extLst>
      <p:ext uri="{BB962C8B-B14F-4D97-AF65-F5344CB8AC3E}">
        <p14:creationId xmlns:p14="http://schemas.microsoft.com/office/powerpoint/2010/main" val="1177457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15</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 “Introduction”.</a:t>
            </a:r>
            <a:endParaRPr lang="en-AU"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a:t>Modified by Thân</a:t>
            </a:r>
            <a:r>
              <a:rPr lang="en-GB" baseline="0" dirty="0"/>
              <a:t> Văn Sử</a:t>
            </a:r>
            <a:endParaRPr lang="en-GB" dirty="0"/>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Assemblage: </a:t>
            </a:r>
            <a:r>
              <a:rPr lang="en-US" dirty="0" err="1"/>
              <a:t>nhóm</a:t>
            </a:r>
            <a:r>
              <a:rPr lang="en-US" dirty="0"/>
              <a:t> </a:t>
            </a:r>
            <a:r>
              <a:rPr lang="en-US" dirty="0" err="1"/>
              <a:t>họp</a:t>
            </a:r>
            <a:r>
              <a:rPr lang="en-US" dirty="0"/>
              <a:t>, </a:t>
            </a:r>
            <a:r>
              <a:rPr lang="en-US" dirty="0" err="1"/>
              <a:t>tập</a:t>
            </a:r>
            <a:r>
              <a:rPr lang="en-US" dirty="0"/>
              <a:t> </a:t>
            </a:r>
            <a:r>
              <a:rPr lang="en-US" dirty="0" err="1"/>
              <a:t>họp</a:t>
            </a:r>
            <a:endParaRPr lang="en-US" dirty="0"/>
          </a:p>
          <a:p>
            <a:endParaRPr lang="en-US" dirty="0"/>
          </a:p>
          <a:p>
            <a:r>
              <a:rPr lang="vi-VN" dirty="0"/>
              <a:t>Tại sao chúng ta nên nghiên cứu chương này?</a:t>
            </a:r>
          </a:p>
          <a:p>
            <a:r>
              <a:rPr lang="vi-VN" dirty="0"/>
              <a:t>Phân biệt kiến trúc và tổ chức Hệ thống phân cấp là gì?</a:t>
            </a:r>
          </a:p>
          <a:p>
            <a:r>
              <a:rPr lang="vi-VN" dirty="0"/>
              <a:t>Các chức năng cơ bản của máy tính là gì?</a:t>
            </a:r>
          </a:p>
          <a:p>
            <a:r>
              <a:rPr lang="vi-VN" dirty="0"/>
              <a:t>Các thành phần cấu trúc chính của máy tính là gì?</a:t>
            </a:r>
            <a:endParaRPr lang="en-US" dirty="0"/>
          </a:p>
          <a:p>
            <a:r>
              <a:rPr lang="vi-VN" b="1" dirty="0"/>
              <a:t>Hệ thống: một tập hợp các bộ phận liên quan trong đó tồn tại một cơ chế hoạt động.</a:t>
            </a:r>
          </a:p>
          <a:p>
            <a:r>
              <a:rPr lang="vi-VN" b="1" dirty="0"/>
              <a:t>Hệ thống phân cấp: một hệ thống trong đó mỗi phần có một cấp độ nhưng không có giống hoặc bằng</a:t>
            </a:r>
            <a:endParaRPr lang="en-US" b="1" dirty="0"/>
          </a:p>
        </p:txBody>
      </p:sp>
      <p:sp>
        <p:nvSpPr>
          <p:cNvPr id="4" name="Slide Number Placeholder 3"/>
          <p:cNvSpPr>
            <a:spLocks noGrp="1"/>
          </p:cNvSpPr>
          <p:nvPr>
            <p:ph type="sldNum" sz="quarter" idx="5"/>
          </p:nvPr>
        </p:nvSpPr>
        <p:spPr/>
        <p:txBody>
          <a:bodyPr/>
          <a:lstStyle/>
          <a:p>
            <a:fld id="{426AC9EA-110C-D44B-81A3-E5165EEE361B}" type="slidenum">
              <a:rPr lang="en-US" smtClean="0"/>
              <a:pPr/>
              <a:t>16</a:t>
            </a:fld>
            <a:endParaRPr lang="en-US" dirty="0"/>
          </a:p>
        </p:txBody>
      </p:sp>
    </p:spTree>
    <p:extLst>
      <p:ext uri="{BB962C8B-B14F-4D97-AF65-F5344CB8AC3E}">
        <p14:creationId xmlns:p14="http://schemas.microsoft.com/office/powerpoint/2010/main" val="3608932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674719-171D-B949-8C83-D2F8F6712CF4}" type="slidenum">
              <a:rPr lang="en-US"/>
              <a:pPr/>
              <a:t>18</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kumimoji="1" lang="en-US" sz="1200" kern="1200" baseline="0" dirty="0">
              <a:solidFill>
                <a:schemeClr val="tx1"/>
              </a:solidFill>
              <a:latin typeface="Times New Roman" pitchFamily="-109" charset="0"/>
              <a:ea typeface="+mn-ea"/>
              <a:cs typeface="+mn-cs"/>
            </a:endParaRPr>
          </a:p>
          <a:p>
            <a:r>
              <a:rPr lang="en-US" dirty="0"/>
              <a:t>Examples of architectural attributes include the instruction set, the number of bits used to represent various data types (e.g., numbers, characters), I/O mechanisms, and techniques for addressing memory. Organizational attributes include those hardware details transparent to the programmer, such as control signals; interfaces between the computer and peripherals; and the memory technology used.</a:t>
            </a:r>
            <a:endParaRPr kumimoji="1" lang="en-US" sz="1200" kern="1200" baseline="0" dirty="0">
              <a:solidFill>
                <a:schemeClr val="tx1"/>
              </a:solidFill>
              <a:latin typeface="Times New Roman" pitchFamily="-109" charset="0"/>
              <a:ea typeface="+mn-ea"/>
              <a:cs typeface="+mn-cs"/>
            </a:endParaRPr>
          </a:p>
          <a:p>
            <a:endParaRPr kumimoji="1" lang="en-US" sz="1200" kern="1200" baseline="0" dirty="0">
              <a:solidFill>
                <a:schemeClr val="tx1"/>
              </a:solidFill>
              <a:latin typeface="Times New Roman" pitchFamily="-109" charset="0"/>
              <a:ea typeface="+mn-ea"/>
              <a:cs typeface="+mn-cs"/>
            </a:endParaRPr>
          </a:p>
          <a:p>
            <a:r>
              <a:rPr kumimoji="1" lang="vi-VN" sz="1200" kern="1200" baseline="0" dirty="0">
                <a:solidFill>
                  <a:schemeClr val="tx1"/>
                </a:solidFill>
                <a:latin typeface="Times New Roman" pitchFamily="-109" charset="0"/>
                <a:ea typeface="+mn-ea"/>
                <a:cs typeface="+mn-cs"/>
              </a:rPr>
              <a:t>Kiến trúc máy tính đề cập đến những thuộc tính của một hệ thống mà một lập trình viên có thể nhìn thấy được hay nói cách khác, những thuộc tính đó có tác động trực tiếp đến việc thực thi logic của một chương trình.</a:t>
            </a:r>
            <a:endParaRPr kumimoji="1" lang="en-US" sz="1200" kern="1200" baseline="0" dirty="0">
              <a:solidFill>
                <a:schemeClr val="tx1"/>
              </a:solidFill>
              <a:latin typeface="Times New Roman" pitchFamily="-109" charset="0"/>
              <a:ea typeface="+mn-ea"/>
              <a:cs typeface="+mn-cs"/>
            </a:endParaRPr>
          </a:p>
          <a:p>
            <a:r>
              <a:rPr kumimoji="1" lang="vi-VN" sz="1200" kern="1200" baseline="0" dirty="0">
                <a:solidFill>
                  <a:schemeClr val="tx1"/>
                </a:solidFill>
                <a:latin typeface="Times New Roman" pitchFamily="-109" charset="0"/>
                <a:ea typeface="+mn-ea"/>
                <a:cs typeface="+mn-cs"/>
              </a:rPr>
              <a:t>Tổ chức máy tính đề cập đến các đơn vị hoạt động và các kết nối của chúng để thực hiện các đặc điểm kiến ​​trúc</a:t>
            </a:r>
            <a:endParaRPr kumimoji="1" lang="en-US" sz="1200" kern="1200" baseline="0" dirty="0">
              <a:solidFill>
                <a:schemeClr val="tx1"/>
              </a:solidFill>
              <a:latin typeface="Times New Roman" pitchFamily="-109" charset="0"/>
              <a:ea typeface="+mn-ea"/>
              <a:cs typeface="+mn-cs"/>
            </a:endParaRPr>
          </a:p>
          <a:p>
            <a:r>
              <a:rPr kumimoji="1" lang="vi-VN" sz="1200" kern="1200" baseline="0" dirty="0">
                <a:solidFill>
                  <a:schemeClr val="tx1"/>
                </a:solidFill>
                <a:latin typeface="Times New Roman" pitchFamily="-109" charset="0"/>
                <a:ea typeface="+mn-ea"/>
                <a:cs typeface="+mn-cs"/>
              </a:rPr>
              <a:t>Ví dụ về các thuộc tính kiến ​​trúc bao gồm tập lệnh, số lượng bitđược sử dụng để đại diện cho các kiểu dữ liệu khác nhau (ví dụ: số, ký tự), cơ chế I / O và kỹ thuật định địa chỉ bộ nhớ. Các thuộc tính của tổ chức bao gồm các chi tiết phần cứng trong suốt đối với người lập trình, chẳng hạn như các tín hiệu điều khiển; giao diệngiữa máy tính và thiết bị ngoại vi; và công nghệ bộ nhớ được sử dụng.</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674719-171D-B949-8C83-D2F8F6712CF4}" type="slidenum">
              <a:rPr lang="en-US"/>
              <a:pPr/>
              <a:t>19</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A prominent example of both these phenomena is the IBM</a:t>
            </a:r>
          </a:p>
          <a:p>
            <a:r>
              <a:rPr kumimoji="1" lang="en-US" sz="1200" kern="1200" baseline="0" dirty="0">
                <a:solidFill>
                  <a:schemeClr val="tx1"/>
                </a:solidFill>
                <a:latin typeface="Times New Roman" pitchFamily="-109" charset="0"/>
                <a:ea typeface="+mn-ea"/>
                <a:cs typeface="+mn-cs"/>
              </a:rPr>
              <a:t>System/370 architecture. This architecture was first introduced in 1970 and included</a:t>
            </a:r>
          </a:p>
          <a:p>
            <a:r>
              <a:rPr kumimoji="1" lang="en-US" sz="1200" kern="1200" baseline="0" dirty="0">
                <a:solidFill>
                  <a:schemeClr val="tx1"/>
                </a:solidFill>
                <a:latin typeface="Times New Roman" pitchFamily="-109" charset="0"/>
                <a:ea typeface="+mn-ea"/>
                <a:cs typeface="+mn-cs"/>
              </a:rPr>
              <a:t>a number of models. The customer with modest requirements could buy a cheaper,</a:t>
            </a:r>
          </a:p>
          <a:p>
            <a:r>
              <a:rPr kumimoji="1" lang="en-US" sz="1200" kern="1200" baseline="0" dirty="0">
                <a:solidFill>
                  <a:schemeClr val="tx1"/>
                </a:solidFill>
                <a:latin typeface="Times New Roman" pitchFamily="-109" charset="0"/>
                <a:ea typeface="+mn-ea"/>
                <a:cs typeface="+mn-cs"/>
              </a:rPr>
              <a:t>slower model and, if demand increased, later upgrade to a more expensive, faster</a:t>
            </a:r>
          </a:p>
          <a:p>
            <a:r>
              <a:rPr kumimoji="1" lang="en-US" sz="1200" kern="1200" baseline="0" dirty="0">
                <a:solidFill>
                  <a:schemeClr val="tx1"/>
                </a:solidFill>
                <a:latin typeface="Times New Roman" pitchFamily="-109" charset="0"/>
                <a:ea typeface="+mn-ea"/>
                <a:cs typeface="+mn-cs"/>
              </a:rPr>
              <a:t>model without having to abandon software that had already been developed. Over</a:t>
            </a:r>
          </a:p>
          <a:p>
            <a:r>
              <a:rPr kumimoji="1" lang="en-US" sz="1200" kern="1200" baseline="0" dirty="0">
                <a:solidFill>
                  <a:schemeClr val="tx1"/>
                </a:solidFill>
                <a:latin typeface="Times New Roman" pitchFamily="-109" charset="0"/>
                <a:ea typeface="+mn-ea"/>
                <a:cs typeface="+mn-cs"/>
              </a:rPr>
              <a:t>the years, IBM has introduced many new models with improved technology to replace</a:t>
            </a:r>
          </a:p>
          <a:p>
            <a:r>
              <a:rPr kumimoji="1" lang="en-US" sz="1200" kern="1200" baseline="0" dirty="0">
                <a:solidFill>
                  <a:schemeClr val="tx1"/>
                </a:solidFill>
                <a:latin typeface="Times New Roman" pitchFamily="-109" charset="0"/>
                <a:ea typeface="+mn-ea"/>
                <a:cs typeface="+mn-cs"/>
              </a:rPr>
              <a:t>older models, offering the customer greater speed, lower cost, or both. These newer</a:t>
            </a:r>
          </a:p>
          <a:p>
            <a:r>
              <a:rPr kumimoji="1" lang="en-US" sz="1200" kern="1200" baseline="0" dirty="0">
                <a:solidFill>
                  <a:schemeClr val="tx1"/>
                </a:solidFill>
                <a:latin typeface="Times New Roman" pitchFamily="-109" charset="0"/>
                <a:ea typeface="+mn-ea"/>
                <a:cs typeface="+mn-cs"/>
              </a:rPr>
              <a:t>models retained the same architecture so that the customer’s software investment was</a:t>
            </a:r>
          </a:p>
          <a:p>
            <a:r>
              <a:rPr kumimoji="1" lang="en-US" sz="1200" kern="1200" baseline="0" dirty="0">
                <a:solidFill>
                  <a:schemeClr val="tx1"/>
                </a:solidFill>
                <a:latin typeface="Times New Roman" pitchFamily="-109" charset="0"/>
                <a:ea typeface="+mn-ea"/>
                <a:cs typeface="+mn-cs"/>
              </a:rPr>
              <a:t>protected. Remarkably, the System/370 architecture, with a few enhancements, has</a:t>
            </a:r>
          </a:p>
          <a:p>
            <a:r>
              <a:rPr kumimoji="1" lang="en-US" sz="1200" kern="1200" baseline="0" dirty="0">
                <a:solidFill>
                  <a:schemeClr val="tx1"/>
                </a:solidFill>
                <a:latin typeface="Times New Roman" pitchFamily="-109" charset="0"/>
                <a:ea typeface="+mn-ea"/>
                <a:cs typeface="+mn-cs"/>
              </a:rPr>
              <a:t>survived to this day as the architecture of IBM’s mainframe product line.</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6AC9EA-110C-D44B-81A3-E5165EEE361B}" type="slidenum">
              <a:rPr lang="en-US" smtClean="0"/>
              <a:pPr/>
              <a:t>20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6B1C33-4E34-3D4C-B143-0332C5DBB7DE}" type="slidenum">
              <a:rPr lang="en-US"/>
              <a:pPr/>
              <a:t>21</a:t>
            </a:fld>
            <a:endParaRPr lang="en-US" dirty="0"/>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Discrete : </a:t>
            </a:r>
            <a:r>
              <a:rPr kumimoji="1" lang="en-US" sz="1200" kern="1200" baseline="0" dirty="0" err="1">
                <a:solidFill>
                  <a:schemeClr val="tx1"/>
                </a:solidFill>
                <a:latin typeface="Times New Roman" pitchFamily="-109" charset="0"/>
                <a:ea typeface="+mn-ea"/>
                <a:cs typeface="+mn-cs"/>
              </a:rPr>
              <a:t>rời</a:t>
            </a:r>
            <a:r>
              <a:rPr kumimoji="1" lang="en-US" sz="1200" kern="1200" baseline="0" dirty="0">
                <a:solidFill>
                  <a:schemeClr val="tx1"/>
                </a:solidFill>
                <a:latin typeface="Times New Roman" pitchFamily="-109" charset="0"/>
                <a:ea typeface="+mn-ea"/>
                <a:cs typeface="+mn-cs"/>
              </a:rPr>
              <a:t> </a:t>
            </a:r>
            <a:r>
              <a:rPr kumimoji="1" lang="en-US" sz="1200" kern="1200" baseline="0" dirty="0" err="1">
                <a:solidFill>
                  <a:schemeClr val="tx1"/>
                </a:solidFill>
                <a:latin typeface="Times New Roman" pitchFamily="-109" charset="0"/>
                <a:ea typeface="+mn-ea"/>
                <a:cs typeface="+mn-cs"/>
              </a:rPr>
              <a:t>rạc</a:t>
            </a:r>
            <a:endParaRPr kumimoji="1" lang="en-US" sz="1200" kern="1200" baseline="0" dirty="0">
              <a:solidFill>
                <a:schemeClr val="tx1"/>
              </a:solidFill>
              <a:latin typeface="Times New Roman" pitchFamily="-109" charset="0"/>
              <a:ea typeface="+mn-ea"/>
              <a:cs typeface="+mn-cs"/>
            </a:endParaRPr>
          </a:p>
          <a:p>
            <a:endParaRPr kumimoji="1" lang="en-US" sz="1200" kern="1200" baseline="0" dirty="0">
              <a:solidFill>
                <a:schemeClr val="tx1"/>
              </a:solidFill>
              <a:latin typeface="Times New Roman" pitchFamily="-109" charset="0"/>
              <a:ea typeface="+mn-ea"/>
              <a:cs typeface="+mn-cs"/>
            </a:endParaRPr>
          </a:p>
          <a:p>
            <a:r>
              <a:rPr kumimoji="1" lang="vi-VN" sz="1200" kern="1200" baseline="0" dirty="0">
                <a:solidFill>
                  <a:schemeClr val="tx1"/>
                </a:solidFill>
                <a:latin typeface="Times New Roman" pitchFamily="-109" charset="0"/>
                <a:ea typeface="+mn-ea"/>
                <a:cs typeface="+mn-cs"/>
              </a:rPr>
              <a:t>Hệ thống phân cấp</a:t>
            </a:r>
          </a:p>
          <a:p>
            <a:r>
              <a:rPr kumimoji="1" lang="vi-VN" sz="1200" kern="1200" baseline="0" dirty="0">
                <a:solidFill>
                  <a:schemeClr val="tx1"/>
                </a:solidFill>
                <a:latin typeface="Times New Roman" pitchFamily="-109" charset="0"/>
                <a:ea typeface="+mn-ea"/>
                <a:cs typeface="+mn-cs"/>
              </a:rPr>
              <a:t>Tập hợp các hệ thống con (mô-đun) có liên quan với nhau</a:t>
            </a:r>
          </a:p>
          <a:p>
            <a:r>
              <a:rPr kumimoji="1" lang="vi-VN" sz="1200" kern="1200" baseline="0" dirty="0">
                <a:solidFill>
                  <a:schemeClr val="tx1"/>
                </a:solidFill>
                <a:latin typeface="Times New Roman" pitchFamily="-109" charset="0"/>
                <a:ea typeface="+mn-ea"/>
                <a:cs typeface="+mn-cs"/>
              </a:rPr>
              <a:t>Bản chất phân cấp của các hệ thống phức tạp là điều cần thiết cho cả thiết kế và mô tả của chúng</a:t>
            </a:r>
          </a:p>
          <a:p>
            <a:r>
              <a:rPr kumimoji="1" lang="vi-VN" sz="1200" kern="1200" baseline="0" dirty="0">
                <a:solidFill>
                  <a:schemeClr val="tx1"/>
                </a:solidFill>
                <a:latin typeface="Times New Roman" pitchFamily="-109" charset="0"/>
                <a:ea typeface="+mn-ea"/>
                <a:cs typeface="+mn-cs"/>
              </a:rPr>
              <a:t>Nhà thiết kế chỉ cần đối phó với một cấp cụ thể của hệ thống tại một thời điểm</a:t>
            </a:r>
          </a:p>
          <a:p>
            <a:r>
              <a:rPr kumimoji="1" lang="vi-VN" sz="1200" kern="1200" baseline="0" dirty="0">
                <a:solidFill>
                  <a:schemeClr val="tx1"/>
                </a:solidFill>
                <a:latin typeface="Times New Roman" pitchFamily="-109" charset="0"/>
                <a:ea typeface="+mn-ea"/>
                <a:cs typeface="+mn-cs"/>
              </a:rPr>
              <a:t>Quan tâm đến cấu trúc và chức năng ở mỗi cấp độ</a:t>
            </a:r>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A computer is a complex system; contemporary computers contain millions of</a:t>
            </a:r>
          </a:p>
          <a:p>
            <a:r>
              <a:rPr kumimoji="1" lang="en-US" sz="1200" kern="1200" baseline="0" dirty="0">
                <a:solidFill>
                  <a:schemeClr val="tx1"/>
                </a:solidFill>
                <a:latin typeface="Times New Roman" pitchFamily="-109" charset="0"/>
                <a:ea typeface="+mn-ea"/>
                <a:cs typeface="+mn-cs"/>
              </a:rPr>
              <a:t>Elementary electronic components. How, then, can one clearly describe them?</a:t>
            </a:r>
          </a:p>
          <a:p>
            <a:r>
              <a:rPr kumimoji="1" lang="en-US" sz="1200" kern="1200" baseline="0" dirty="0">
                <a:solidFill>
                  <a:schemeClr val="tx1"/>
                </a:solidFill>
                <a:latin typeface="Times New Roman" pitchFamily="-109" charset="0"/>
                <a:ea typeface="+mn-ea"/>
                <a:cs typeface="+mn-cs"/>
              </a:rPr>
              <a:t>The key is to recognize the hierarchical nature of most complex systems, including</a:t>
            </a:r>
          </a:p>
          <a:p>
            <a:r>
              <a:rPr kumimoji="1" lang="en-US" sz="1200" kern="1200" baseline="0" dirty="0">
                <a:solidFill>
                  <a:schemeClr val="tx1"/>
                </a:solidFill>
                <a:latin typeface="Times New Roman" pitchFamily="-109" charset="0"/>
                <a:ea typeface="+mn-ea"/>
                <a:cs typeface="+mn-cs"/>
              </a:rPr>
              <a:t>the computer [SIMO96]. A hierarchical system is a set of interrelated subsystems,</a:t>
            </a:r>
          </a:p>
          <a:p>
            <a:r>
              <a:rPr kumimoji="1" lang="en-US" sz="1200" kern="1200" baseline="0" dirty="0">
                <a:solidFill>
                  <a:schemeClr val="tx1"/>
                </a:solidFill>
                <a:latin typeface="Times New Roman" pitchFamily="-109" charset="0"/>
                <a:ea typeface="+mn-ea"/>
                <a:cs typeface="+mn-cs"/>
              </a:rPr>
              <a:t>each of the latter, in turn, hierarchical in structure until we reach some lowest level</a:t>
            </a:r>
          </a:p>
          <a:p>
            <a:r>
              <a:rPr kumimoji="1" lang="en-US" sz="1200" kern="1200" baseline="0" dirty="0">
                <a:solidFill>
                  <a:schemeClr val="tx1"/>
                </a:solidFill>
                <a:latin typeface="Times New Roman" pitchFamily="-109" charset="0"/>
                <a:ea typeface="+mn-ea"/>
                <a:cs typeface="+mn-cs"/>
              </a:rPr>
              <a:t>of elementary subsystem.</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The hierarchical nature of complex systems is essential to both their design</a:t>
            </a:r>
          </a:p>
          <a:p>
            <a:r>
              <a:rPr kumimoji="1" lang="en-US" sz="1200" kern="1200" baseline="0" dirty="0">
                <a:solidFill>
                  <a:schemeClr val="tx1"/>
                </a:solidFill>
                <a:latin typeface="Times New Roman" pitchFamily="-109" charset="0"/>
                <a:ea typeface="+mn-ea"/>
                <a:cs typeface="+mn-cs"/>
              </a:rPr>
              <a:t>and their description. The designer need only deal with a particular level of the</a:t>
            </a:r>
          </a:p>
          <a:p>
            <a:r>
              <a:rPr kumimoji="1" lang="en-US" sz="1200" kern="1200" baseline="0" dirty="0">
                <a:solidFill>
                  <a:schemeClr val="tx1"/>
                </a:solidFill>
                <a:latin typeface="Times New Roman" pitchFamily="-109" charset="0"/>
                <a:ea typeface="+mn-ea"/>
                <a:cs typeface="+mn-cs"/>
              </a:rPr>
              <a:t>system at a time. At each level, the system consists of a set of components and</a:t>
            </a:r>
          </a:p>
          <a:p>
            <a:r>
              <a:rPr kumimoji="1" lang="en-US" sz="1200" kern="1200" baseline="0" dirty="0">
                <a:solidFill>
                  <a:schemeClr val="tx1"/>
                </a:solidFill>
                <a:latin typeface="Times New Roman" pitchFamily="-109" charset="0"/>
                <a:ea typeface="+mn-ea"/>
                <a:cs typeface="+mn-cs"/>
              </a:rPr>
              <a:t>their interrelationships. The behavior at each level depends only on a simplified,</a:t>
            </a:r>
          </a:p>
          <a:p>
            <a:r>
              <a:rPr kumimoji="1" lang="en-US" sz="1200" kern="1200" baseline="0" dirty="0">
                <a:solidFill>
                  <a:schemeClr val="tx1"/>
                </a:solidFill>
                <a:latin typeface="Times New Roman" pitchFamily="-109" charset="0"/>
                <a:ea typeface="+mn-ea"/>
                <a:cs typeface="+mn-cs"/>
              </a:rPr>
              <a:t>abstracted characterization of the system at the next lower level. At each level, the</a:t>
            </a:r>
          </a:p>
          <a:p>
            <a:r>
              <a:rPr kumimoji="1" lang="en-US" sz="1200" kern="1200" baseline="0" dirty="0">
                <a:solidFill>
                  <a:schemeClr val="tx1"/>
                </a:solidFill>
                <a:latin typeface="Times New Roman" pitchFamily="-109" charset="0"/>
                <a:ea typeface="+mn-ea"/>
                <a:cs typeface="+mn-cs"/>
              </a:rPr>
              <a:t>designer is concerned with structure and function:</a:t>
            </a:r>
          </a:p>
          <a:p>
            <a:endParaRPr lang="en-US" sz="4400" b="0" kern="1200" dirty="0">
              <a:solidFill>
                <a:schemeClr val="accent1"/>
              </a:solidFill>
              <a:latin typeface="+mj-lt"/>
              <a:ea typeface="+mj-ea"/>
              <a:cs typeface="+mj-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Structure: </a:t>
            </a:r>
            <a:r>
              <a:rPr kumimoji="1" lang="en-US" sz="1200" b="0" kern="1200" baseline="0" dirty="0">
                <a:solidFill>
                  <a:schemeClr val="tx1"/>
                </a:solidFill>
                <a:latin typeface="Times New Roman" pitchFamily="-109" charset="0"/>
                <a:ea typeface="+mn-ea"/>
                <a:cs typeface="+mn-cs"/>
              </a:rPr>
              <a:t>The way in which the components are interrelated.</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Function: </a:t>
            </a:r>
            <a:r>
              <a:rPr kumimoji="1" lang="en-US" sz="1200" b="0" kern="1200" baseline="0" dirty="0">
                <a:solidFill>
                  <a:schemeClr val="tx1"/>
                </a:solidFill>
                <a:latin typeface="Times New Roman" pitchFamily="-109" charset="0"/>
                <a:ea typeface="+mn-ea"/>
                <a:cs typeface="+mn-cs"/>
              </a:rPr>
              <a:t>The operation of each individual component as part of the structure.</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In terms of description, we have two choices: starting at the bottom and building</a:t>
            </a:r>
          </a:p>
          <a:p>
            <a:r>
              <a:rPr kumimoji="1" lang="en-US" sz="1200" kern="1200" baseline="0" dirty="0">
                <a:solidFill>
                  <a:schemeClr val="tx1"/>
                </a:solidFill>
                <a:latin typeface="Times New Roman" pitchFamily="-109" charset="0"/>
                <a:ea typeface="+mn-ea"/>
                <a:cs typeface="+mn-cs"/>
              </a:rPr>
              <a:t>up to a complete description, or beginning with a top view and decomposing the</a:t>
            </a:r>
          </a:p>
          <a:p>
            <a:r>
              <a:rPr kumimoji="1" lang="en-US" sz="1200" kern="1200" baseline="0" dirty="0">
                <a:solidFill>
                  <a:schemeClr val="tx1"/>
                </a:solidFill>
                <a:latin typeface="Times New Roman" pitchFamily="-109" charset="0"/>
                <a:ea typeface="+mn-ea"/>
                <a:cs typeface="+mn-cs"/>
              </a:rPr>
              <a:t>system into its subparts. Evidence from a number of fields suggests that the top-down</a:t>
            </a:r>
          </a:p>
          <a:p>
            <a:r>
              <a:rPr kumimoji="1" lang="en-US" sz="1200" kern="1200" baseline="0" dirty="0">
                <a:solidFill>
                  <a:schemeClr val="tx1"/>
                </a:solidFill>
                <a:latin typeface="Times New Roman" pitchFamily="-109" charset="0"/>
                <a:ea typeface="+mn-ea"/>
                <a:cs typeface="+mn-cs"/>
              </a:rPr>
              <a:t>approach is the clearest and most effective [WEIN75].</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The approach taken in this book follows from this viewpoint. The computer</a:t>
            </a:r>
          </a:p>
          <a:p>
            <a:r>
              <a:rPr kumimoji="1" lang="en-US" sz="1200" kern="1200" baseline="0" dirty="0">
                <a:solidFill>
                  <a:schemeClr val="tx1"/>
                </a:solidFill>
                <a:latin typeface="Times New Roman" pitchFamily="-109" charset="0"/>
                <a:ea typeface="+mn-ea"/>
                <a:cs typeface="+mn-cs"/>
              </a:rPr>
              <a:t>system will be described from the top down. We begin with the major components</a:t>
            </a:r>
          </a:p>
          <a:p>
            <a:r>
              <a:rPr kumimoji="1" lang="en-US" sz="1200" kern="1200" baseline="0" dirty="0">
                <a:solidFill>
                  <a:schemeClr val="tx1"/>
                </a:solidFill>
                <a:latin typeface="Times New Roman" pitchFamily="-109" charset="0"/>
                <a:ea typeface="+mn-ea"/>
                <a:cs typeface="+mn-cs"/>
              </a:rPr>
              <a:t>of a computer, describing their structure and function, and proceed to successively</a:t>
            </a:r>
          </a:p>
          <a:p>
            <a:r>
              <a:rPr kumimoji="1" lang="en-US" sz="1200" kern="1200" baseline="0" dirty="0">
                <a:solidFill>
                  <a:schemeClr val="tx1"/>
                </a:solidFill>
                <a:latin typeface="Times New Roman" pitchFamily="-109" charset="0"/>
                <a:ea typeface="+mn-ea"/>
                <a:cs typeface="+mn-cs"/>
              </a:rPr>
              <a:t>lower layers of the hierarchy. The remainder of this section provides a very brief</a:t>
            </a:r>
          </a:p>
          <a:p>
            <a:r>
              <a:rPr kumimoji="1" lang="en-US" sz="1200" kern="1200" baseline="0" dirty="0">
                <a:solidFill>
                  <a:schemeClr val="tx1"/>
                </a:solidFill>
                <a:latin typeface="Times New Roman" pitchFamily="-109" charset="0"/>
                <a:ea typeface="+mn-ea"/>
                <a:cs typeface="+mn-cs"/>
              </a:rPr>
              <a:t>overview of this plan of attack.</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19CD7E-4F7A-9B44-863C-1B45C56F48EF}" type="slidenum">
              <a:rPr lang="en-US"/>
              <a:pPr/>
              <a:t>22</a:t>
            </a:fld>
            <a:endParaRPr lang="en-US" dirty="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Apparatus : </a:t>
            </a:r>
            <a:r>
              <a:rPr kumimoji="1" lang="en-US" sz="1200" kern="1200" baseline="0" dirty="0" err="1">
                <a:solidFill>
                  <a:schemeClr val="tx1"/>
                </a:solidFill>
                <a:latin typeface="Times New Roman" pitchFamily="-109" charset="0"/>
                <a:ea typeface="+mn-ea"/>
                <a:cs typeface="+mn-cs"/>
              </a:rPr>
              <a:t>bộ</a:t>
            </a:r>
            <a:r>
              <a:rPr kumimoji="1" lang="en-US" sz="1200" kern="1200" baseline="0" dirty="0">
                <a:solidFill>
                  <a:schemeClr val="tx1"/>
                </a:solidFill>
                <a:latin typeface="Times New Roman" pitchFamily="-109" charset="0"/>
                <a:ea typeface="+mn-ea"/>
                <a:cs typeface="+mn-cs"/>
              </a:rPr>
              <a:t> </a:t>
            </a:r>
            <a:r>
              <a:rPr kumimoji="1" lang="en-US" sz="1200" kern="1200" baseline="0" dirty="0" err="1">
                <a:solidFill>
                  <a:schemeClr val="tx1"/>
                </a:solidFill>
                <a:latin typeface="Times New Roman" pitchFamily="-109" charset="0"/>
                <a:ea typeface="+mn-ea"/>
                <a:cs typeface="+mn-cs"/>
              </a:rPr>
              <a:t>máy</a:t>
            </a:r>
            <a:endParaRPr kumimoji="1" lang="en-US" sz="1200" kern="1200" baseline="0" dirty="0">
              <a:solidFill>
                <a:schemeClr val="tx1"/>
              </a:solidFill>
              <a:latin typeface="Times New Roman" pitchFamily="-109" charset="0"/>
              <a:ea typeface="+mn-ea"/>
              <a:cs typeface="+mn-cs"/>
            </a:endParaRP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Both the structure and functioning of a computer are, in essence, simple. Figure 1.1</a:t>
            </a:r>
          </a:p>
          <a:p>
            <a:r>
              <a:rPr kumimoji="1" lang="en-US" sz="1200" kern="1200" baseline="0" dirty="0">
                <a:solidFill>
                  <a:schemeClr val="tx1"/>
                </a:solidFill>
                <a:latin typeface="Times New Roman" pitchFamily="-109" charset="0"/>
                <a:ea typeface="+mn-ea"/>
                <a:cs typeface="+mn-cs"/>
              </a:rPr>
              <a:t>depicts the basic functions that a computer can perform. In general terms, there are</a:t>
            </a:r>
          </a:p>
          <a:p>
            <a:r>
              <a:rPr kumimoji="1" lang="en-US" sz="1200" kern="1200" baseline="0" dirty="0">
                <a:solidFill>
                  <a:schemeClr val="tx1"/>
                </a:solidFill>
                <a:latin typeface="Times New Roman" pitchFamily="-109" charset="0"/>
                <a:ea typeface="+mn-ea"/>
                <a:cs typeface="+mn-cs"/>
              </a:rPr>
              <a:t>only four:</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Data processing</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Data storage</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Data movement</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Control</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The computer, of course, must be able to </a:t>
            </a:r>
            <a:r>
              <a:rPr kumimoji="1" lang="en-US" sz="1200" b="1" kern="1200" baseline="0" dirty="0">
                <a:solidFill>
                  <a:schemeClr val="tx1"/>
                </a:solidFill>
                <a:latin typeface="Times New Roman" pitchFamily="-109" charset="0"/>
                <a:ea typeface="+mn-ea"/>
                <a:cs typeface="+mn-cs"/>
              </a:rPr>
              <a:t>process data. </a:t>
            </a:r>
            <a:r>
              <a:rPr kumimoji="1" lang="en-US" sz="1200" b="0" kern="1200" baseline="0" dirty="0">
                <a:solidFill>
                  <a:schemeClr val="tx1"/>
                </a:solidFill>
                <a:latin typeface="Times New Roman" pitchFamily="-109" charset="0"/>
                <a:ea typeface="+mn-ea"/>
                <a:cs typeface="+mn-cs"/>
              </a:rPr>
              <a:t>The data may take a wide</a:t>
            </a:r>
          </a:p>
          <a:p>
            <a:r>
              <a:rPr kumimoji="1" lang="en-US" sz="1200" kern="1200" baseline="0" dirty="0">
                <a:solidFill>
                  <a:schemeClr val="tx1"/>
                </a:solidFill>
                <a:latin typeface="Times New Roman" pitchFamily="-109" charset="0"/>
                <a:ea typeface="+mn-ea"/>
                <a:cs typeface="+mn-cs"/>
              </a:rPr>
              <a:t>variety of forms, and the range of processing requirements is broad. However, we</a:t>
            </a:r>
          </a:p>
          <a:p>
            <a:r>
              <a:rPr kumimoji="1" lang="en-US" sz="1200" kern="1200" baseline="0" dirty="0">
                <a:solidFill>
                  <a:schemeClr val="tx1"/>
                </a:solidFill>
                <a:latin typeface="Times New Roman" pitchFamily="-109" charset="0"/>
                <a:ea typeface="+mn-ea"/>
                <a:cs typeface="+mn-cs"/>
              </a:rPr>
              <a:t>shall see that there are only a few fundamental methods or types of data processing.</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It is also essential that a computer </a:t>
            </a:r>
            <a:r>
              <a:rPr kumimoji="1" lang="en-US" sz="1200" b="1" kern="1200" baseline="0" dirty="0">
                <a:solidFill>
                  <a:schemeClr val="tx1"/>
                </a:solidFill>
                <a:latin typeface="Times New Roman" pitchFamily="-109" charset="0"/>
                <a:ea typeface="+mn-ea"/>
                <a:cs typeface="+mn-cs"/>
              </a:rPr>
              <a:t>store data. </a:t>
            </a:r>
            <a:r>
              <a:rPr kumimoji="1" lang="en-US" sz="1200" b="0" kern="1200" baseline="0" dirty="0">
                <a:solidFill>
                  <a:schemeClr val="tx1"/>
                </a:solidFill>
                <a:latin typeface="Times New Roman" pitchFamily="-109" charset="0"/>
                <a:ea typeface="+mn-ea"/>
                <a:cs typeface="+mn-cs"/>
              </a:rPr>
              <a:t>Even if the computer is processing</a:t>
            </a:r>
          </a:p>
          <a:p>
            <a:r>
              <a:rPr kumimoji="1" lang="en-US" sz="1200" kern="1200" baseline="0" dirty="0">
                <a:solidFill>
                  <a:schemeClr val="tx1"/>
                </a:solidFill>
                <a:latin typeface="Times New Roman" pitchFamily="-109" charset="0"/>
                <a:ea typeface="+mn-ea"/>
                <a:cs typeface="+mn-cs"/>
              </a:rPr>
              <a:t>data on the fly (i.e., data come in and get processed, and the results go out</a:t>
            </a:r>
          </a:p>
          <a:p>
            <a:r>
              <a:rPr kumimoji="1" lang="en-US" sz="1200" kern="1200" baseline="0" dirty="0">
                <a:solidFill>
                  <a:schemeClr val="tx1"/>
                </a:solidFill>
                <a:latin typeface="Times New Roman" pitchFamily="-109" charset="0"/>
                <a:ea typeface="+mn-ea"/>
                <a:cs typeface="+mn-cs"/>
              </a:rPr>
              <a:t>immediately), the computer must temporarily store at least those pieces of data</a:t>
            </a:r>
          </a:p>
          <a:p>
            <a:r>
              <a:rPr kumimoji="1" lang="en-US" sz="1200" kern="1200" baseline="0" dirty="0">
                <a:solidFill>
                  <a:schemeClr val="tx1"/>
                </a:solidFill>
                <a:latin typeface="Times New Roman" pitchFamily="-109" charset="0"/>
                <a:ea typeface="+mn-ea"/>
                <a:cs typeface="+mn-cs"/>
              </a:rPr>
              <a:t>that are being worked on at any given moment. Thus, there is at least a short-term</a:t>
            </a:r>
          </a:p>
          <a:p>
            <a:r>
              <a:rPr kumimoji="1" lang="en-US" sz="1200" kern="1200" baseline="0" dirty="0">
                <a:solidFill>
                  <a:schemeClr val="tx1"/>
                </a:solidFill>
                <a:latin typeface="Times New Roman" pitchFamily="-109" charset="0"/>
                <a:ea typeface="+mn-ea"/>
                <a:cs typeface="+mn-cs"/>
              </a:rPr>
              <a:t>data storage function. Equally important, the computer performs a long-term data</a:t>
            </a:r>
          </a:p>
          <a:p>
            <a:r>
              <a:rPr kumimoji="1" lang="en-US" sz="1200" kern="1200" baseline="0" dirty="0">
                <a:solidFill>
                  <a:schemeClr val="tx1"/>
                </a:solidFill>
                <a:latin typeface="Times New Roman" pitchFamily="-109" charset="0"/>
                <a:ea typeface="+mn-ea"/>
                <a:cs typeface="+mn-cs"/>
              </a:rPr>
              <a:t>storage function. Files of data are stored on the computer for subsequent retrieval</a:t>
            </a:r>
          </a:p>
          <a:p>
            <a:r>
              <a:rPr kumimoji="1" lang="en-US" sz="1200" kern="1200" baseline="0" dirty="0">
                <a:solidFill>
                  <a:schemeClr val="tx1"/>
                </a:solidFill>
                <a:latin typeface="Times New Roman" pitchFamily="-109" charset="0"/>
                <a:ea typeface="+mn-ea"/>
                <a:cs typeface="+mn-cs"/>
              </a:rPr>
              <a:t>and update.</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The computer must be able to </a:t>
            </a:r>
            <a:r>
              <a:rPr kumimoji="1" lang="en-US" sz="1200" b="1" kern="1200" baseline="0" dirty="0">
                <a:solidFill>
                  <a:schemeClr val="tx1"/>
                </a:solidFill>
                <a:latin typeface="Times New Roman" pitchFamily="-109" charset="0"/>
                <a:ea typeface="+mn-ea"/>
                <a:cs typeface="+mn-cs"/>
              </a:rPr>
              <a:t>move data </a:t>
            </a:r>
            <a:r>
              <a:rPr kumimoji="1" lang="en-US" sz="1200" b="0" kern="1200" baseline="0" dirty="0">
                <a:solidFill>
                  <a:schemeClr val="tx1"/>
                </a:solidFill>
                <a:latin typeface="Times New Roman" pitchFamily="-109" charset="0"/>
                <a:ea typeface="+mn-ea"/>
                <a:cs typeface="+mn-cs"/>
              </a:rPr>
              <a:t>between itself and the outside</a:t>
            </a:r>
          </a:p>
          <a:p>
            <a:r>
              <a:rPr kumimoji="1" lang="en-US" sz="1200" kern="1200" baseline="0" dirty="0">
                <a:solidFill>
                  <a:schemeClr val="tx1"/>
                </a:solidFill>
                <a:latin typeface="Times New Roman" pitchFamily="-109" charset="0"/>
                <a:ea typeface="+mn-ea"/>
                <a:cs typeface="+mn-cs"/>
              </a:rPr>
              <a:t>world. The computer’s operating environment consists of devices that serve as</a:t>
            </a:r>
          </a:p>
          <a:p>
            <a:r>
              <a:rPr kumimoji="1" lang="en-US" sz="1200" kern="1200" baseline="0" dirty="0">
                <a:solidFill>
                  <a:schemeClr val="tx1"/>
                </a:solidFill>
                <a:latin typeface="Times New Roman" pitchFamily="-109" charset="0"/>
                <a:ea typeface="+mn-ea"/>
                <a:cs typeface="+mn-cs"/>
              </a:rPr>
              <a:t>either sources or destinations of data. When data are received from or delivered to</a:t>
            </a:r>
          </a:p>
          <a:p>
            <a:r>
              <a:rPr kumimoji="1" lang="en-US" sz="1200" kern="1200" baseline="0" dirty="0">
                <a:solidFill>
                  <a:schemeClr val="tx1"/>
                </a:solidFill>
                <a:latin typeface="Times New Roman" pitchFamily="-109" charset="0"/>
                <a:ea typeface="+mn-ea"/>
                <a:cs typeface="+mn-cs"/>
              </a:rPr>
              <a:t>a device that is directly connected to the computer, the process is known as </a:t>
            </a:r>
            <a:r>
              <a:rPr kumimoji="1" lang="en-US" sz="1200" i="1" kern="1200" baseline="0" dirty="0">
                <a:solidFill>
                  <a:schemeClr val="tx1"/>
                </a:solidFill>
                <a:latin typeface="Times New Roman" pitchFamily="-109" charset="0"/>
                <a:ea typeface="+mn-ea"/>
                <a:cs typeface="+mn-cs"/>
              </a:rPr>
              <a:t>input–</a:t>
            </a:r>
          </a:p>
          <a:p>
            <a:r>
              <a:rPr kumimoji="1" lang="en-US" sz="1200" i="1" kern="1200" baseline="0" dirty="0">
                <a:solidFill>
                  <a:schemeClr val="tx1"/>
                </a:solidFill>
                <a:latin typeface="Times New Roman" pitchFamily="-109" charset="0"/>
                <a:ea typeface="+mn-ea"/>
                <a:cs typeface="+mn-cs"/>
              </a:rPr>
              <a:t>output (I/O), and the device is referred to as a peripheral. When data are moved</a:t>
            </a:r>
          </a:p>
          <a:p>
            <a:r>
              <a:rPr kumimoji="1" lang="en-US" sz="1200" kern="1200" baseline="0" dirty="0">
                <a:solidFill>
                  <a:schemeClr val="tx1"/>
                </a:solidFill>
                <a:latin typeface="Times New Roman" pitchFamily="-109" charset="0"/>
                <a:ea typeface="+mn-ea"/>
                <a:cs typeface="+mn-cs"/>
              </a:rPr>
              <a:t>over longer distances, to or from a remote device, the process is known as </a:t>
            </a:r>
            <a:r>
              <a:rPr kumimoji="1" lang="en-US" sz="1200" i="1" kern="1200" baseline="0" dirty="0">
                <a:solidFill>
                  <a:schemeClr val="tx1"/>
                </a:solidFill>
                <a:latin typeface="Times New Roman" pitchFamily="-109" charset="0"/>
                <a:ea typeface="+mn-ea"/>
                <a:cs typeface="+mn-cs"/>
              </a:rPr>
              <a:t>data</a:t>
            </a:r>
          </a:p>
          <a:p>
            <a:r>
              <a:rPr kumimoji="1" lang="en-US" sz="1200" i="1" kern="1200" baseline="0" dirty="0">
                <a:solidFill>
                  <a:schemeClr val="tx1"/>
                </a:solidFill>
                <a:latin typeface="Times New Roman" pitchFamily="-109" charset="0"/>
                <a:ea typeface="+mn-ea"/>
                <a:cs typeface="+mn-cs"/>
              </a:rPr>
              <a:t>communications.</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Finally, there must be </a:t>
            </a:r>
            <a:r>
              <a:rPr kumimoji="1" lang="en-US" sz="1200" b="1" kern="1200" baseline="0" dirty="0">
                <a:solidFill>
                  <a:schemeClr val="tx1"/>
                </a:solidFill>
                <a:latin typeface="Times New Roman" pitchFamily="-109" charset="0"/>
                <a:ea typeface="+mn-ea"/>
                <a:cs typeface="+mn-cs"/>
              </a:rPr>
              <a:t>control </a:t>
            </a:r>
            <a:r>
              <a:rPr kumimoji="1" lang="en-US" sz="1200" b="0" kern="1200" baseline="0" dirty="0">
                <a:solidFill>
                  <a:schemeClr val="tx1"/>
                </a:solidFill>
                <a:latin typeface="Times New Roman" pitchFamily="-109" charset="0"/>
                <a:ea typeface="+mn-ea"/>
                <a:cs typeface="+mn-cs"/>
              </a:rPr>
              <a:t>of these three functions. Ultimately, this control</a:t>
            </a:r>
          </a:p>
          <a:p>
            <a:r>
              <a:rPr kumimoji="1" lang="en-US" sz="1200" kern="1200" baseline="0" dirty="0">
                <a:solidFill>
                  <a:schemeClr val="tx1"/>
                </a:solidFill>
                <a:latin typeface="Times New Roman" pitchFamily="-109" charset="0"/>
                <a:ea typeface="+mn-ea"/>
                <a:cs typeface="+mn-cs"/>
              </a:rPr>
              <a:t>is exercised by the individual(s) who provides the computer with instructions. Within</a:t>
            </a:r>
          </a:p>
          <a:p>
            <a:r>
              <a:rPr kumimoji="1" lang="en-US" sz="1200" kern="1200" baseline="0" dirty="0">
                <a:solidFill>
                  <a:schemeClr val="tx1"/>
                </a:solidFill>
                <a:latin typeface="Times New Roman" pitchFamily="-109" charset="0"/>
                <a:ea typeface="+mn-ea"/>
                <a:cs typeface="+mn-cs"/>
              </a:rPr>
              <a:t>the computer, a control unit manages the computer’s resources and orchestrates the</a:t>
            </a:r>
          </a:p>
          <a:p>
            <a:r>
              <a:rPr kumimoji="1" lang="en-US" sz="1200" kern="1200" baseline="0" dirty="0">
                <a:solidFill>
                  <a:schemeClr val="tx1"/>
                </a:solidFill>
                <a:latin typeface="Times New Roman" pitchFamily="-109" charset="0"/>
                <a:ea typeface="+mn-ea"/>
                <a:cs typeface="+mn-cs"/>
              </a:rPr>
              <a:t>performance of its functional parts in response to those instructions.</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2FBD03-0222-8746-BCBE-67129A3E06F8}" type="slidenum">
              <a:rPr lang="en-US"/>
              <a:pPr/>
              <a:t>24</a:t>
            </a:fld>
            <a:endParaRPr lang="en-US" dirty="0"/>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At this general level of discussion, the number of possible operations that</a:t>
            </a:r>
          </a:p>
          <a:p>
            <a:r>
              <a:rPr kumimoji="1" lang="en-US" sz="1200" kern="1200" baseline="0" dirty="0">
                <a:solidFill>
                  <a:schemeClr val="tx1"/>
                </a:solidFill>
                <a:latin typeface="Times New Roman" pitchFamily="-109" charset="0"/>
                <a:ea typeface="+mn-ea"/>
                <a:cs typeface="+mn-cs"/>
              </a:rPr>
              <a:t>can be performed is few. Figure 1.2 depicts the four possible types of operations.</a:t>
            </a:r>
          </a:p>
          <a:p>
            <a:r>
              <a:rPr kumimoji="1" lang="en-US" sz="1200" kern="1200" baseline="0" dirty="0">
                <a:solidFill>
                  <a:schemeClr val="tx1"/>
                </a:solidFill>
                <a:latin typeface="Times New Roman" pitchFamily="-109" charset="0"/>
                <a:ea typeface="+mn-ea"/>
                <a:cs typeface="+mn-cs"/>
              </a:rPr>
              <a:t>The computer can function as a data movement device (Figure 1.2a), simply</a:t>
            </a:r>
          </a:p>
          <a:p>
            <a:r>
              <a:rPr kumimoji="1" lang="en-US" sz="1200" kern="1200" baseline="0" dirty="0">
                <a:solidFill>
                  <a:schemeClr val="tx1"/>
                </a:solidFill>
                <a:latin typeface="Times New Roman" pitchFamily="-109" charset="0"/>
                <a:ea typeface="+mn-ea"/>
                <a:cs typeface="+mn-cs"/>
              </a:rPr>
              <a:t>transferring data from one peripheral or communication line to </a:t>
            </a:r>
            <a:r>
              <a:rPr kumimoji="1" lang="en-US" sz="1200" kern="1200" baseline="0">
                <a:solidFill>
                  <a:schemeClr val="tx1"/>
                </a:solidFill>
                <a:latin typeface="Times New Roman" pitchFamily="-109" charset="0"/>
                <a:ea typeface="+mn-ea"/>
                <a:cs typeface="+mn-cs"/>
              </a:rPr>
              <a:t>another.</a:t>
            </a:r>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E66782-DEDC-6847-8EDB-7E7544C9FF31}" type="slidenum">
              <a:rPr lang="en-US"/>
              <a:pPr/>
              <a:t>25</a:t>
            </a:fld>
            <a:endParaRPr 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It can also function as a data storage device (Figure 1.2b), with data transferred from</a:t>
            </a:r>
          </a:p>
          <a:p>
            <a:r>
              <a:rPr kumimoji="1" lang="en-US" sz="1200" kern="1200" baseline="0" dirty="0">
                <a:solidFill>
                  <a:schemeClr val="tx1"/>
                </a:solidFill>
                <a:latin typeface="Times New Roman" pitchFamily="-109" charset="0"/>
                <a:ea typeface="+mn-ea"/>
                <a:cs typeface="+mn-cs"/>
              </a:rPr>
              <a:t>the external environment to computer storage (read) and vice versa (write).</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B9D78-68F1-4C43-B83A-08A018756796}" type="slidenum">
              <a:rPr lang="en-US"/>
              <a:pPr/>
              <a:t>26</a:t>
            </a:fld>
            <a:endParaRPr lang="en-US" dirty="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The final two diagrams show operations involving data processing, on data either in</a:t>
            </a:r>
          </a:p>
          <a:p>
            <a:r>
              <a:rPr kumimoji="1" lang="en-US" sz="1200" kern="1200" baseline="0" dirty="0">
                <a:solidFill>
                  <a:schemeClr val="tx1"/>
                </a:solidFill>
                <a:latin typeface="Times New Roman" pitchFamily="-109" charset="0"/>
                <a:ea typeface="+mn-ea"/>
                <a:cs typeface="+mn-cs"/>
              </a:rPr>
              <a:t>storage (Figure 1.2c)</a:t>
            </a:r>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414A67-FF13-4145-A414-02A1CAE6B9C7}" type="slidenum">
              <a:rPr lang="en-US"/>
              <a:pPr/>
              <a:t>27</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En route between storage and the external environment</a:t>
            </a:r>
          </a:p>
          <a:p>
            <a:r>
              <a:rPr kumimoji="1" lang="en-US" sz="1200" kern="1200" baseline="0" dirty="0">
                <a:solidFill>
                  <a:schemeClr val="tx1"/>
                </a:solidFill>
                <a:latin typeface="Times New Roman" pitchFamily="-109" charset="0"/>
                <a:ea typeface="+mn-ea"/>
                <a:cs typeface="+mn-cs"/>
              </a:rPr>
              <a:t>(Figure 1.2d).</a:t>
            </a:r>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09" charset="0"/>
                <a:ea typeface="+mn-ea"/>
                <a:cs typeface="+mn-cs"/>
              </a:rPr>
              <a:t>Figure 1.3 is the simplest possible depiction of a computer. The computer interacts</a:t>
            </a:r>
          </a:p>
          <a:p>
            <a:r>
              <a:rPr kumimoji="1" lang="en-US" sz="1200" kern="1200" baseline="0" dirty="0">
                <a:solidFill>
                  <a:schemeClr val="tx1"/>
                </a:solidFill>
                <a:latin typeface="Times New Roman" pitchFamily="-109" charset="0"/>
                <a:ea typeface="+mn-ea"/>
                <a:cs typeface="+mn-cs"/>
              </a:rPr>
              <a:t>in some fashion with its external environment. In general, all of its linkages to</a:t>
            </a:r>
          </a:p>
          <a:p>
            <a:r>
              <a:rPr kumimoji="1" lang="en-US" sz="1200" kern="1200" baseline="0" dirty="0">
                <a:solidFill>
                  <a:schemeClr val="tx1"/>
                </a:solidFill>
                <a:latin typeface="Times New Roman" pitchFamily="-109" charset="0"/>
                <a:ea typeface="+mn-ea"/>
                <a:cs typeface="+mn-cs"/>
              </a:rPr>
              <a:t>the external environment can be classified as peripheral devices or communication</a:t>
            </a:r>
          </a:p>
          <a:p>
            <a:r>
              <a:rPr kumimoji="1" lang="en-US" sz="1200" kern="1200" baseline="0" dirty="0">
                <a:solidFill>
                  <a:schemeClr val="tx1"/>
                </a:solidFill>
                <a:latin typeface="Times New Roman" pitchFamily="-109" charset="0"/>
                <a:ea typeface="+mn-ea"/>
                <a:cs typeface="+mn-cs"/>
              </a:rPr>
              <a:t>lines. We will have something to say about both types of linkages.</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28</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09" charset="0"/>
                <a:ea typeface="+mn-ea"/>
                <a:cs typeface="+mn-cs"/>
              </a:rPr>
              <a:t>But of greater concern in this book is the internal structure of the computer</a:t>
            </a:r>
          </a:p>
          <a:p>
            <a:r>
              <a:rPr kumimoji="1" lang="en-US" sz="1200" kern="1200" baseline="0" dirty="0">
                <a:solidFill>
                  <a:schemeClr val="tx1"/>
                </a:solidFill>
                <a:latin typeface="Times New Roman" pitchFamily="-109" charset="0"/>
                <a:ea typeface="+mn-ea"/>
                <a:cs typeface="+mn-cs"/>
              </a:rPr>
              <a:t>itself, which is shown in Figure 1.4. There are four main structural components:</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Central Processing Unit (CPU)</a:t>
            </a:r>
          </a:p>
          <a:p>
            <a:r>
              <a:rPr kumimoji="1" lang="en-US" sz="1200" kern="1200" baseline="0" dirty="0">
                <a:solidFill>
                  <a:schemeClr val="tx1"/>
                </a:solidFill>
                <a:latin typeface="Times New Roman" pitchFamily="-109" charset="0"/>
                <a:ea typeface="+mn-ea"/>
                <a:cs typeface="+mn-cs"/>
              </a:rPr>
              <a:t>Main Memory</a:t>
            </a:r>
          </a:p>
          <a:p>
            <a:r>
              <a:rPr kumimoji="1" lang="en-US" sz="1200" kern="1200" baseline="0" dirty="0">
                <a:solidFill>
                  <a:schemeClr val="tx1"/>
                </a:solidFill>
                <a:latin typeface="Times New Roman" pitchFamily="-109" charset="0"/>
                <a:ea typeface="+mn-ea"/>
                <a:cs typeface="+mn-cs"/>
              </a:rPr>
              <a:t>I/O</a:t>
            </a:r>
          </a:p>
          <a:p>
            <a:r>
              <a:rPr kumimoji="1" lang="en-US" sz="1200" kern="1200" baseline="0" dirty="0">
                <a:solidFill>
                  <a:schemeClr val="tx1"/>
                </a:solidFill>
                <a:latin typeface="Times New Roman" pitchFamily="-109" charset="0"/>
                <a:ea typeface="+mn-ea"/>
                <a:cs typeface="+mn-cs"/>
              </a:rPr>
              <a:t>System Interconnection</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29</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09" charset="0"/>
                <a:ea typeface="+mn-ea"/>
                <a:cs typeface="+mn-cs"/>
              </a:rPr>
              <a:t>There are four main structural components:</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Central processing unit (CPU): </a:t>
            </a:r>
            <a:r>
              <a:rPr kumimoji="1" lang="en-US" sz="1200" b="0" kern="1200" baseline="0" dirty="0">
                <a:solidFill>
                  <a:schemeClr val="tx1"/>
                </a:solidFill>
                <a:latin typeface="Times New Roman" pitchFamily="-109" charset="0"/>
                <a:ea typeface="+mn-ea"/>
                <a:cs typeface="+mn-cs"/>
              </a:rPr>
              <a:t>Controls the operation of the computer and</a:t>
            </a:r>
          </a:p>
          <a:p>
            <a:r>
              <a:rPr kumimoji="1" lang="en-US" sz="1200" kern="1200" baseline="0" dirty="0">
                <a:solidFill>
                  <a:schemeClr val="tx1"/>
                </a:solidFill>
                <a:latin typeface="Times New Roman" pitchFamily="-109" charset="0"/>
                <a:ea typeface="+mn-ea"/>
                <a:cs typeface="+mn-cs"/>
              </a:rPr>
              <a:t>performs its data processing functions; often simply referred to as </a:t>
            </a:r>
            <a:r>
              <a:rPr kumimoji="1" lang="en-US" sz="1200" b="1" kern="1200" baseline="0" dirty="0">
                <a:solidFill>
                  <a:schemeClr val="tx1"/>
                </a:solidFill>
                <a:latin typeface="Times New Roman" pitchFamily="-109" charset="0"/>
                <a:ea typeface="+mn-ea"/>
                <a:cs typeface="+mn-cs"/>
              </a:rPr>
              <a:t>processor.</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Main memory: </a:t>
            </a:r>
            <a:r>
              <a:rPr kumimoji="1" lang="en-US" sz="1200" b="0" kern="1200" baseline="0" dirty="0">
                <a:solidFill>
                  <a:schemeClr val="tx1"/>
                </a:solidFill>
                <a:latin typeface="Times New Roman" pitchFamily="-109" charset="0"/>
                <a:ea typeface="+mn-ea"/>
                <a:cs typeface="+mn-cs"/>
              </a:rPr>
              <a:t>Stores data.</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I/O: </a:t>
            </a:r>
            <a:r>
              <a:rPr kumimoji="1" lang="en-US" sz="1200" b="0" kern="1200" baseline="0" dirty="0">
                <a:solidFill>
                  <a:schemeClr val="tx1"/>
                </a:solidFill>
                <a:latin typeface="Times New Roman" pitchFamily="-109" charset="0"/>
                <a:ea typeface="+mn-ea"/>
                <a:cs typeface="+mn-cs"/>
              </a:rPr>
              <a:t>Moves data between the computer and its external environment.</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System interconnection: </a:t>
            </a:r>
            <a:r>
              <a:rPr kumimoji="1" lang="en-US" sz="1200" b="0" kern="1200" baseline="0" dirty="0">
                <a:solidFill>
                  <a:schemeClr val="tx1"/>
                </a:solidFill>
                <a:latin typeface="Times New Roman" pitchFamily="-109" charset="0"/>
                <a:ea typeface="+mn-ea"/>
                <a:cs typeface="+mn-cs"/>
              </a:rPr>
              <a:t>Some mechanism that provides for communication</a:t>
            </a:r>
          </a:p>
          <a:p>
            <a:r>
              <a:rPr kumimoji="1" lang="en-US" sz="1200" kern="1200" baseline="0" dirty="0">
                <a:solidFill>
                  <a:schemeClr val="tx1"/>
                </a:solidFill>
                <a:latin typeface="Times New Roman" pitchFamily="-109" charset="0"/>
                <a:ea typeface="+mn-ea"/>
                <a:cs typeface="+mn-cs"/>
              </a:rPr>
              <a:t>among CPU, main memory, and I/O. A common example of system interconnection</a:t>
            </a:r>
          </a:p>
          <a:p>
            <a:r>
              <a:rPr kumimoji="1" lang="en-US" sz="1200" kern="1200" baseline="0" dirty="0">
                <a:solidFill>
                  <a:schemeClr val="tx1"/>
                </a:solidFill>
                <a:latin typeface="Times New Roman" pitchFamily="-109" charset="0"/>
                <a:ea typeface="+mn-ea"/>
                <a:cs typeface="+mn-cs"/>
              </a:rPr>
              <a:t>is by means of a </a:t>
            </a:r>
            <a:r>
              <a:rPr kumimoji="1" lang="en-US" sz="1200" b="1" kern="1200" baseline="0" dirty="0">
                <a:solidFill>
                  <a:schemeClr val="tx1"/>
                </a:solidFill>
                <a:latin typeface="Times New Roman" pitchFamily="-109" charset="0"/>
                <a:ea typeface="+mn-ea"/>
                <a:cs typeface="+mn-cs"/>
              </a:rPr>
              <a:t>system bus, </a:t>
            </a:r>
            <a:r>
              <a:rPr kumimoji="1" lang="en-US" sz="1200" b="0" kern="1200" baseline="0" dirty="0">
                <a:solidFill>
                  <a:schemeClr val="tx1"/>
                </a:solidFill>
                <a:latin typeface="Times New Roman" pitchFamily="-109" charset="0"/>
                <a:ea typeface="+mn-ea"/>
                <a:cs typeface="+mn-cs"/>
              </a:rPr>
              <a:t>consisting of a number of conducting</a:t>
            </a:r>
          </a:p>
          <a:p>
            <a:r>
              <a:rPr kumimoji="1" lang="en-US" sz="1200" kern="1200" baseline="0" dirty="0">
                <a:solidFill>
                  <a:schemeClr val="tx1"/>
                </a:solidFill>
                <a:latin typeface="Times New Roman" pitchFamily="-109" charset="0"/>
                <a:ea typeface="+mn-ea"/>
                <a:cs typeface="+mn-cs"/>
              </a:rPr>
              <a:t>wires to which all the other components attach.</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30</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baseline="0" dirty="0">
                <a:solidFill>
                  <a:schemeClr val="tx1"/>
                </a:solidFill>
                <a:latin typeface="Times New Roman" pitchFamily="-109" charset="0"/>
                <a:ea typeface="+mn-ea"/>
                <a:cs typeface="+mn-cs"/>
              </a:rPr>
              <a:t>There may be one or more of each of the aforementioned components.</a:t>
            </a:r>
          </a:p>
          <a:p>
            <a:r>
              <a:rPr kumimoji="1" lang="en-US" sz="1200" kern="1200" baseline="0" dirty="0">
                <a:solidFill>
                  <a:schemeClr val="tx1"/>
                </a:solidFill>
                <a:latin typeface="Times New Roman" pitchFamily="-109" charset="0"/>
                <a:ea typeface="+mn-ea"/>
                <a:cs typeface="+mn-cs"/>
              </a:rPr>
              <a:t>Traditionally, there has been just a single processor. In recent years, there has been</a:t>
            </a:r>
          </a:p>
          <a:p>
            <a:r>
              <a:rPr kumimoji="1" lang="en-US" sz="1200" kern="1200" baseline="0" dirty="0">
                <a:solidFill>
                  <a:schemeClr val="tx1"/>
                </a:solidFill>
                <a:latin typeface="Times New Roman" pitchFamily="-109" charset="0"/>
                <a:ea typeface="+mn-ea"/>
                <a:cs typeface="+mn-cs"/>
              </a:rPr>
              <a:t>increasing use of multiple processors in a single computer. Some design issues relating</a:t>
            </a:r>
          </a:p>
          <a:p>
            <a:r>
              <a:rPr kumimoji="1" lang="en-US" sz="1200" kern="1200" baseline="0" dirty="0">
                <a:solidFill>
                  <a:schemeClr val="tx1"/>
                </a:solidFill>
                <a:latin typeface="Times New Roman" pitchFamily="-109" charset="0"/>
                <a:ea typeface="+mn-ea"/>
                <a:cs typeface="+mn-cs"/>
              </a:rPr>
              <a:t>to multiple processors crop up and are discussed as the text proceeds; Part Five</a:t>
            </a:r>
          </a:p>
          <a:p>
            <a:r>
              <a:rPr kumimoji="1" lang="en-US" sz="1200" kern="1200" baseline="0" dirty="0">
                <a:solidFill>
                  <a:schemeClr val="tx1"/>
                </a:solidFill>
                <a:latin typeface="Times New Roman" pitchFamily="-109" charset="0"/>
                <a:ea typeface="+mn-ea"/>
                <a:cs typeface="+mn-cs"/>
              </a:rPr>
              <a:t>focuses on such computers.</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Each of these components will be examined in some detail in Part Two.</a:t>
            </a:r>
          </a:p>
          <a:p>
            <a:r>
              <a:rPr kumimoji="1" lang="en-US" sz="1200" kern="1200" baseline="0" dirty="0">
                <a:solidFill>
                  <a:schemeClr val="tx1"/>
                </a:solidFill>
                <a:latin typeface="Times New Roman" pitchFamily="-109" charset="0"/>
                <a:ea typeface="+mn-ea"/>
                <a:cs typeface="+mn-cs"/>
              </a:rPr>
              <a:t>However, for our purposes, the most interesting and in some ways the most complex</a:t>
            </a:r>
          </a:p>
          <a:p>
            <a:r>
              <a:rPr kumimoji="1" lang="en-US" sz="1200" kern="1200" baseline="0" dirty="0">
                <a:solidFill>
                  <a:schemeClr val="tx1"/>
                </a:solidFill>
                <a:latin typeface="Times New Roman" pitchFamily="-109" charset="0"/>
                <a:ea typeface="+mn-ea"/>
                <a:cs typeface="+mn-cs"/>
              </a:rPr>
              <a:t>component is the CPU. Its major structural components are as follows:</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Control unit: </a:t>
            </a:r>
            <a:r>
              <a:rPr kumimoji="1" lang="en-US" sz="1200" b="0" kern="1200" baseline="0" dirty="0">
                <a:solidFill>
                  <a:schemeClr val="tx1"/>
                </a:solidFill>
                <a:latin typeface="Times New Roman" pitchFamily="-109" charset="0"/>
                <a:ea typeface="+mn-ea"/>
                <a:cs typeface="+mn-cs"/>
              </a:rPr>
              <a:t>Controls the operation of the CPU and hence the computer.</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Arithmetic and logic unit (ALU):</a:t>
            </a:r>
            <a:r>
              <a:rPr kumimoji="1" lang="en-US" sz="1200" b="0" kern="1200" baseline="0" dirty="0">
                <a:solidFill>
                  <a:schemeClr val="tx1"/>
                </a:solidFill>
                <a:latin typeface="Times New Roman" pitchFamily="-109" charset="0"/>
                <a:ea typeface="+mn-ea"/>
                <a:cs typeface="+mn-cs"/>
              </a:rPr>
              <a:t>Performs the computer’s data processing</a:t>
            </a:r>
          </a:p>
          <a:p>
            <a:r>
              <a:rPr kumimoji="1" lang="en-US" sz="1200" b="0" kern="1200" baseline="0" dirty="0">
                <a:solidFill>
                  <a:schemeClr val="tx1"/>
                </a:solidFill>
                <a:latin typeface="Times New Roman" pitchFamily="-109" charset="0"/>
                <a:ea typeface="+mn-ea"/>
                <a:cs typeface="+mn-cs"/>
              </a:rPr>
              <a:t>functions.</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Registers: </a:t>
            </a:r>
            <a:r>
              <a:rPr kumimoji="1" lang="en-US" sz="1200" b="0" kern="1200" baseline="0" dirty="0">
                <a:solidFill>
                  <a:schemeClr val="tx1"/>
                </a:solidFill>
                <a:latin typeface="Times New Roman" pitchFamily="-109" charset="0"/>
                <a:ea typeface="+mn-ea"/>
                <a:cs typeface="+mn-cs"/>
              </a:rPr>
              <a:t>Provides storage internal to the CPU.</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CPU interconnection: </a:t>
            </a:r>
            <a:r>
              <a:rPr kumimoji="1" lang="en-US" sz="1200" b="0" kern="1200" baseline="0" dirty="0">
                <a:solidFill>
                  <a:schemeClr val="tx1"/>
                </a:solidFill>
                <a:latin typeface="Times New Roman" pitchFamily="-109" charset="0"/>
                <a:ea typeface="+mn-ea"/>
                <a:cs typeface="+mn-cs"/>
              </a:rPr>
              <a:t>Some mechanism that provides for communication</a:t>
            </a:r>
          </a:p>
          <a:p>
            <a:r>
              <a:rPr kumimoji="1" lang="en-US" sz="1200" kern="1200" baseline="0" dirty="0">
                <a:solidFill>
                  <a:schemeClr val="tx1"/>
                </a:solidFill>
                <a:latin typeface="Times New Roman" pitchFamily="-109" charset="0"/>
                <a:ea typeface="+mn-ea"/>
                <a:cs typeface="+mn-cs"/>
              </a:rPr>
              <a:t>among the control unit, ALU, and registers.</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31</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u="sng" dirty="0"/>
              <a:t>Terminologies</a:t>
            </a:r>
            <a:endParaRPr lang="en-US" b="0" u="none" dirty="0"/>
          </a:p>
          <a:p>
            <a:r>
              <a:rPr lang="en-US" b="0" u="none" dirty="0"/>
              <a:t>In general terms: </a:t>
            </a:r>
            <a:r>
              <a:rPr lang="en-US" b="0" u="none" dirty="0" err="1"/>
              <a:t>diễn</a:t>
            </a:r>
            <a:r>
              <a:rPr lang="en-US" b="0" u="none" baseline="0" dirty="0"/>
              <a:t> </a:t>
            </a:r>
            <a:r>
              <a:rPr lang="en-US" b="0" u="none" baseline="0" dirty="0" err="1"/>
              <a:t>đạt</a:t>
            </a:r>
            <a:r>
              <a:rPr lang="en-US" b="0" u="none" baseline="0" dirty="0"/>
              <a:t> </a:t>
            </a:r>
            <a:r>
              <a:rPr lang="en-US" b="0" u="none" baseline="0" dirty="0" err="1"/>
              <a:t>ngắn</a:t>
            </a:r>
            <a:r>
              <a:rPr lang="en-US" b="0" u="none" baseline="0" dirty="0"/>
              <a:t> </a:t>
            </a:r>
            <a:r>
              <a:rPr lang="en-US" b="0" u="none" baseline="0" dirty="0" err="1"/>
              <a:t>gọn</a:t>
            </a:r>
            <a:endParaRPr lang="en-US" b="0" u="none" baseline="0" dirty="0"/>
          </a:p>
          <a:p>
            <a:r>
              <a:rPr lang="en-US" b="0" u="none" baseline="0" dirty="0"/>
              <a:t>Briefly define: </a:t>
            </a:r>
            <a:r>
              <a:rPr lang="en-US" b="0" u="none" baseline="0" dirty="0" err="1"/>
              <a:t>Định</a:t>
            </a:r>
            <a:r>
              <a:rPr lang="en-US" b="0" u="none" baseline="0" dirty="0"/>
              <a:t> </a:t>
            </a:r>
            <a:r>
              <a:rPr lang="en-US" b="0" u="none" baseline="0" dirty="0" err="1"/>
              <a:t>nghĩa</a:t>
            </a:r>
            <a:r>
              <a:rPr lang="en-US" b="0" u="none" baseline="0" dirty="0"/>
              <a:t> </a:t>
            </a:r>
            <a:r>
              <a:rPr lang="en-US" b="0" u="none" baseline="0" dirty="0" err="1"/>
              <a:t>ngắn</a:t>
            </a:r>
            <a:r>
              <a:rPr lang="en-US" b="0" u="none" baseline="0" dirty="0"/>
              <a:t> </a:t>
            </a:r>
            <a:r>
              <a:rPr lang="en-US" b="0" u="none" baseline="0" dirty="0" err="1"/>
              <a:t>gọn</a:t>
            </a:r>
            <a:endParaRPr lang="en-US" b="0" u="none" baseline="0" dirty="0"/>
          </a:p>
          <a:p>
            <a:r>
              <a:rPr lang="en-US" b="1" u="sng" dirty="0"/>
              <a:t>Term: </a:t>
            </a:r>
            <a:r>
              <a:rPr lang="en-US" b="1" u="sng" dirty="0" err="1"/>
              <a:t>thuật</a:t>
            </a:r>
            <a:r>
              <a:rPr lang="en-US" b="1" u="sng" dirty="0"/>
              <a:t> </a:t>
            </a:r>
            <a:r>
              <a:rPr lang="en-US" b="1" u="sng" dirty="0" err="1"/>
              <a:t>ngữ</a:t>
            </a:r>
            <a:endParaRPr lang="en-US" b="1" u="sng"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32</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33</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1 summary.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249D53-8D1A-6345-BCE7-0271789DC3C2}" type="slidenum">
              <a:rPr lang="en-US"/>
              <a:pPr/>
              <a:t>34</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r>
              <a:rPr lang="en-GB" dirty="0"/>
              <a:t>Internet resources.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alphaModFix amt="70000"/>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windows8downloads.com/win8-masm-64.html" TargetMode="External"/><Relationship Id="rId2" Type="http://schemas.openxmlformats.org/officeDocument/2006/relationships/hyperlink" Target="http://www.masm32.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IBM_System/37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7.pdf"/><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9.pdf"/><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9.pdf"/><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9.pdf"/><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9.pdf"/><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WilliamStallings.com/COA/COA9e.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williamstallings.com/StudentSupport.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85720" y="4429132"/>
            <a:ext cx="8553480" cy="1804728"/>
          </a:xfrm>
        </p:spPr>
        <p:txBody>
          <a:bodyPr>
            <a:noAutofit/>
          </a:bodyPr>
          <a:lstStyle/>
          <a:p>
            <a:pPr algn="ctr"/>
            <a:r>
              <a:rPr lang="en-GB" sz="3600" dirty="0"/>
              <a:t>Introduction to </a:t>
            </a:r>
            <a:br>
              <a:rPr lang="en-GB" sz="3600" dirty="0"/>
            </a:br>
            <a:r>
              <a:rPr lang="en-GB" sz="3600" dirty="0"/>
              <a:t>Computer Organization and Architecture (</a:t>
            </a:r>
            <a:r>
              <a:rPr lang="en-GB" sz="3600"/>
              <a:t>COA)</a:t>
            </a:r>
            <a:endParaRPr lang="en-GB" sz="3600"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Explore Hardware </a:t>
            </a:r>
            <a:br>
              <a:rPr lang="en-US" dirty="0"/>
            </a:br>
            <a:r>
              <a:rPr lang="en-US" dirty="0"/>
              <a:t>Do it Yourself</a:t>
            </a:r>
          </a:p>
        </p:txBody>
      </p:sp>
      <p:sp>
        <p:nvSpPr>
          <p:cNvPr id="3" name="Content Placeholder 2"/>
          <p:cNvSpPr>
            <a:spLocks noGrp="1"/>
          </p:cNvSpPr>
          <p:nvPr>
            <p:ph idx="1"/>
          </p:nvPr>
        </p:nvSpPr>
        <p:spPr/>
        <p:txBody>
          <a:bodyPr/>
          <a:lstStyle/>
          <a:p>
            <a:r>
              <a:rPr lang="en-US" dirty="0"/>
              <a:t>Right click the Computer item in the Start Menu</a:t>
            </a:r>
          </a:p>
          <a:p>
            <a:r>
              <a:rPr lang="en-US" dirty="0"/>
              <a:t>Choose Properties</a:t>
            </a:r>
          </a:p>
          <a:p>
            <a:r>
              <a:rPr lang="en-US" dirty="0"/>
              <a:t>You can see information about the CPU, Ram capacity, OS</a:t>
            </a:r>
          </a:p>
          <a:p>
            <a:r>
              <a:rPr lang="en-US" dirty="0"/>
              <a:t>Choose the item  </a:t>
            </a:r>
          </a:p>
          <a:p>
            <a:r>
              <a:rPr lang="en-US" dirty="0"/>
              <a:t>Choose the tag </a:t>
            </a:r>
            <a:r>
              <a:rPr lang="en-US" b="1" dirty="0"/>
              <a:t>Hardware </a:t>
            </a:r>
            <a:r>
              <a:rPr lang="en-US" dirty="0"/>
              <a:t>in the </a:t>
            </a:r>
            <a:r>
              <a:rPr lang="en-US" b="1" dirty="0"/>
              <a:t>System Properties </a:t>
            </a:r>
            <a:r>
              <a:rPr lang="en-US" dirty="0"/>
              <a:t>window </a:t>
            </a:r>
          </a:p>
          <a:p>
            <a:r>
              <a:rPr lang="en-US" dirty="0"/>
              <a:t>Click the button </a:t>
            </a:r>
            <a:r>
              <a:rPr lang="en-US" b="1" dirty="0"/>
              <a:t>Device Manager</a:t>
            </a:r>
          </a:p>
          <a:p>
            <a:r>
              <a:rPr lang="en-US" dirty="0"/>
              <a:t>Expand the item </a:t>
            </a:r>
            <a:r>
              <a:rPr lang="en-US" b="1" dirty="0"/>
              <a:t>Processors</a:t>
            </a:r>
            <a:r>
              <a:rPr lang="en-US" dirty="0"/>
              <a:t> in the  Device Manager window you can see information about processors in your computer</a:t>
            </a:r>
          </a:p>
        </p:txBody>
      </p:sp>
      <p:pic>
        <p:nvPicPr>
          <p:cNvPr id="1026" name="Picture 2"/>
          <p:cNvPicPr>
            <a:picLocks noChangeAspect="1" noChangeArrowheads="1"/>
          </p:cNvPicPr>
          <p:nvPr/>
        </p:nvPicPr>
        <p:blipFill>
          <a:blip r:embed="rId2"/>
          <a:srcRect/>
          <a:stretch>
            <a:fillRect/>
          </a:stretch>
        </p:blipFill>
        <p:spPr bwMode="auto">
          <a:xfrm>
            <a:off x="2884026" y="3643314"/>
            <a:ext cx="2759544" cy="3429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Explore Hardware </a:t>
            </a:r>
            <a:br>
              <a:rPr lang="en-US" dirty="0"/>
            </a:br>
            <a:r>
              <a:rPr lang="en-US" dirty="0"/>
              <a:t>Do it Yourself</a:t>
            </a:r>
          </a:p>
        </p:txBody>
      </p:sp>
      <p:sp>
        <p:nvSpPr>
          <p:cNvPr id="3" name="Content Placeholder 2"/>
          <p:cNvSpPr>
            <a:spLocks noGrp="1"/>
          </p:cNvSpPr>
          <p:nvPr>
            <p:ph idx="1"/>
          </p:nvPr>
        </p:nvSpPr>
        <p:spPr/>
        <p:txBody>
          <a:bodyPr>
            <a:normAutofit fontScale="92500" lnSpcReduction="10000"/>
          </a:bodyPr>
          <a:lstStyle/>
          <a:p>
            <a:r>
              <a:rPr lang="en-US" dirty="0" err="1"/>
              <a:t>Tyoe</a:t>
            </a:r>
            <a:r>
              <a:rPr lang="en-US" dirty="0"/>
              <a:t> </a:t>
            </a:r>
            <a:r>
              <a:rPr lang="en-US" b="1" dirty="0" err="1"/>
              <a:t>Ctrll</a:t>
            </a:r>
            <a:r>
              <a:rPr lang="en-US" b="1" dirty="0"/>
              <a:t> + Alt + Delete</a:t>
            </a:r>
          </a:p>
          <a:p>
            <a:r>
              <a:rPr lang="en-US" dirty="0"/>
              <a:t>Choose </a:t>
            </a:r>
            <a:r>
              <a:rPr lang="en-US" b="1" dirty="0"/>
              <a:t>Start Task Manager</a:t>
            </a:r>
          </a:p>
          <a:p>
            <a:r>
              <a:rPr lang="en-US" dirty="0"/>
              <a:t>In the </a:t>
            </a:r>
            <a:r>
              <a:rPr lang="en-US" b="1" dirty="0"/>
              <a:t>Windows Task</a:t>
            </a:r>
            <a:r>
              <a:rPr lang="en-US" dirty="0"/>
              <a:t> </a:t>
            </a:r>
            <a:r>
              <a:rPr lang="en-US" b="1" dirty="0"/>
              <a:t>Manager</a:t>
            </a:r>
            <a:r>
              <a:rPr lang="en-US" dirty="0"/>
              <a:t> window,  </a:t>
            </a:r>
          </a:p>
          <a:p>
            <a:pPr lvl="1"/>
            <a:r>
              <a:rPr lang="en-US" dirty="0"/>
              <a:t>Choose the tab </a:t>
            </a:r>
            <a:r>
              <a:rPr lang="en-US" b="1" dirty="0"/>
              <a:t>Applications</a:t>
            </a:r>
            <a:r>
              <a:rPr lang="en-US" dirty="0"/>
              <a:t>, count number of running applications</a:t>
            </a:r>
          </a:p>
          <a:p>
            <a:pPr lvl="1"/>
            <a:r>
              <a:rPr lang="en-US" dirty="0"/>
              <a:t>Choose the tab </a:t>
            </a:r>
            <a:r>
              <a:rPr lang="en-US" b="1" dirty="0"/>
              <a:t>Processes</a:t>
            </a:r>
            <a:endParaRPr lang="en-US" dirty="0"/>
          </a:p>
          <a:p>
            <a:pPr lvl="1"/>
            <a:r>
              <a:rPr lang="en-US" dirty="0"/>
              <a:t>Click the button </a:t>
            </a:r>
            <a:r>
              <a:rPr lang="en-US" b="1" dirty="0"/>
              <a:t>Show processes from all users</a:t>
            </a:r>
            <a:r>
              <a:rPr lang="en-US" dirty="0"/>
              <a:t> at the bottom of the window, count number of running processes. </a:t>
            </a:r>
          </a:p>
          <a:p>
            <a:r>
              <a:rPr lang="en-US" dirty="0"/>
              <a:t>You knew number of processors in your computer and number of running processes. </a:t>
            </a:r>
          </a:p>
          <a:p>
            <a:pPr lvl="1"/>
            <a:r>
              <a:rPr lang="en-US" dirty="0"/>
              <a:t>In average, how many processes are executed by one processor? </a:t>
            </a:r>
          </a:p>
          <a:p>
            <a:pPr lvl="1"/>
            <a:r>
              <a:rPr lang="en-US" dirty="0"/>
              <a:t>How some processes can run on one processor?</a:t>
            </a:r>
          </a:p>
        </p:txBody>
      </p:sp>
      <p:sp>
        <p:nvSpPr>
          <p:cNvPr id="5" name="Slide Number Placeholder 4"/>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should COA be studied?</a:t>
            </a:r>
            <a:br>
              <a:rPr lang="en-US" dirty="0"/>
            </a:br>
            <a:r>
              <a:rPr lang="en-US" dirty="0"/>
              <a:t>Course Objectives </a:t>
            </a:r>
          </a:p>
        </p:txBody>
      </p:sp>
      <p:sp>
        <p:nvSpPr>
          <p:cNvPr id="3" name="Content Placeholder 2"/>
          <p:cNvSpPr>
            <a:spLocks noGrp="1"/>
          </p:cNvSpPr>
          <p:nvPr>
            <p:ph idx="1"/>
          </p:nvPr>
        </p:nvSpPr>
        <p:spPr/>
        <p:txBody>
          <a:bodyPr>
            <a:normAutofit/>
          </a:bodyPr>
          <a:lstStyle/>
          <a:p>
            <a:r>
              <a:rPr lang="en-US" sz="2800" dirty="0">
                <a:solidFill>
                  <a:schemeClr val="tx1"/>
                </a:solidFill>
              </a:rPr>
              <a:t>Important questions:</a:t>
            </a:r>
          </a:p>
          <a:p>
            <a:pPr lvl="1"/>
            <a:r>
              <a:rPr lang="en-US" sz="2400" dirty="0">
                <a:solidFill>
                  <a:schemeClr val="tx1"/>
                </a:solidFill>
              </a:rPr>
              <a:t>How are computers organized?  </a:t>
            </a:r>
          </a:p>
          <a:p>
            <a:pPr lvl="1"/>
            <a:r>
              <a:rPr lang="en-US" sz="2400" dirty="0">
                <a:solidFill>
                  <a:schemeClr val="tx1"/>
                </a:solidFill>
              </a:rPr>
              <a:t>How are computers made?</a:t>
            </a:r>
          </a:p>
          <a:p>
            <a:pPr lvl="1"/>
            <a:r>
              <a:rPr lang="en-US" sz="2400" dirty="0">
                <a:solidFill>
                  <a:schemeClr val="tx1"/>
                </a:solidFill>
              </a:rPr>
              <a:t>How are combinational circuits made?</a:t>
            </a:r>
          </a:p>
          <a:p>
            <a:pPr lvl="1"/>
            <a:r>
              <a:rPr lang="en-US" sz="2400" dirty="0">
                <a:solidFill>
                  <a:schemeClr val="tx1"/>
                </a:solidFill>
              </a:rPr>
              <a:t>How may we understand the way computers work?</a:t>
            </a:r>
          </a:p>
          <a:p>
            <a:pPr lvl="1"/>
            <a:r>
              <a:rPr lang="en-US" sz="2400" dirty="0">
                <a:solidFill>
                  <a:schemeClr val="tx1"/>
                </a:solidFill>
              </a:rPr>
              <a:t>How can computers allow many programs running concurrently?</a:t>
            </a:r>
          </a:p>
          <a:p>
            <a:r>
              <a:rPr lang="en-US" sz="2800" dirty="0">
                <a:solidFill>
                  <a:schemeClr val="tx1"/>
                </a:solidFill>
              </a:rPr>
              <a:t> What are answers for above questions?</a:t>
            </a: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Resource</a:t>
            </a:r>
          </a:p>
        </p:txBody>
      </p:sp>
      <p:sp>
        <p:nvSpPr>
          <p:cNvPr id="3" name="Content Placeholder 2"/>
          <p:cNvSpPr>
            <a:spLocks noGrp="1"/>
          </p:cNvSpPr>
          <p:nvPr>
            <p:ph idx="1"/>
          </p:nvPr>
        </p:nvSpPr>
        <p:spPr>
          <a:xfrm>
            <a:off x="285720" y="1428736"/>
            <a:ext cx="8645526" cy="4697427"/>
          </a:xfrm>
        </p:spPr>
        <p:txBody>
          <a:bodyPr>
            <a:noAutofit/>
          </a:bodyPr>
          <a:lstStyle/>
          <a:p>
            <a:r>
              <a:rPr lang="en-US" sz="2400" dirty="0">
                <a:solidFill>
                  <a:schemeClr val="tx1"/>
                </a:solidFill>
              </a:rPr>
              <a:t>Book: William Stallings, 2012, Computer Organization and Architecture: Design for Performance,  9th Edition, Prentice Hall. </a:t>
            </a:r>
          </a:p>
          <a:p>
            <a:r>
              <a:rPr lang="en-US" sz="2400" dirty="0">
                <a:solidFill>
                  <a:schemeClr val="tx1"/>
                </a:solidFill>
              </a:rPr>
              <a:t>Tool:  MASM32 SDK version 11(masm32v11r.zip), MASM64</a:t>
            </a:r>
          </a:p>
          <a:p>
            <a:pPr>
              <a:buNone/>
            </a:pPr>
            <a:r>
              <a:rPr lang="en-US" sz="2400" dirty="0">
                <a:solidFill>
                  <a:schemeClr val="tx1"/>
                </a:solidFill>
              </a:rPr>
              <a:t>Free Download Link:</a:t>
            </a:r>
          </a:p>
          <a:p>
            <a:pPr>
              <a:buNone/>
            </a:pPr>
            <a:r>
              <a:rPr lang="en-US" dirty="0">
                <a:solidFill>
                  <a:srgbClr val="FF0000"/>
                </a:solidFill>
                <a:hlinkClick r:id="rId2"/>
              </a:rPr>
              <a:t>http://www.masm32.com/</a:t>
            </a:r>
            <a:endParaRPr lang="en-US" dirty="0">
              <a:solidFill>
                <a:srgbClr val="FF0000"/>
              </a:solidFill>
            </a:endParaRPr>
          </a:p>
          <a:p>
            <a:pPr>
              <a:buNone/>
            </a:pPr>
            <a:r>
              <a:rPr lang="en-US" dirty="0">
                <a:solidFill>
                  <a:srgbClr val="FF0000"/>
                </a:solidFill>
                <a:hlinkClick r:id="rId3"/>
              </a:rPr>
              <a:t>https://www.microsoft.com/en-us/download/details.aspx?id=12654</a:t>
            </a:r>
          </a:p>
          <a:p>
            <a:pPr>
              <a:buNone/>
            </a:pPr>
            <a:r>
              <a:rPr lang="en-US" dirty="0">
                <a:solidFill>
                  <a:srgbClr val="FF0000"/>
                </a:solidFill>
                <a:hlinkClick r:id="rId3"/>
              </a:rPr>
              <a:t>http://www.windows8downloads.com/win8-masm-64.html</a:t>
            </a:r>
            <a:endParaRPr lang="en-US" dirty="0">
              <a:solidFill>
                <a:srgbClr val="FF0000"/>
              </a:solidFill>
            </a:endParaRPr>
          </a:p>
          <a:p>
            <a:pPr marL="0" indent="0">
              <a:buNone/>
            </a:pPr>
            <a:r>
              <a:rPr lang="en-US" sz="1800" b="1" dirty="0">
                <a:solidFill>
                  <a:schemeClr val="tx1"/>
                </a:solidFill>
              </a:rPr>
              <a:t>MASM 64( Important):</a:t>
            </a:r>
            <a:r>
              <a:rPr lang="en-US" sz="1800" dirty="0">
                <a:solidFill>
                  <a:schemeClr val="tx1"/>
                </a:solidFill>
              </a:rPr>
              <a:t> Make sure you have Visual C++ 2005 Express Edition installed on your computer. This is a prerequisite for the installation of this package. It will not install otherwise.</a:t>
            </a:r>
          </a:p>
          <a:p>
            <a:pPr>
              <a:buNone/>
            </a:pPr>
            <a:endParaRPr lang="en-US" sz="2400" dirty="0">
              <a:solidFill>
                <a:schemeClr val="tx1"/>
              </a:solidFill>
            </a:endParaRPr>
          </a:p>
          <a:p>
            <a:pPr>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Description</a:t>
            </a:r>
          </a:p>
        </p:txBody>
      </p:sp>
      <p:sp>
        <p:nvSpPr>
          <p:cNvPr id="3" name="Content Placeholder 2"/>
          <p:cNvSpPr>
            <a:spLocks noGrp="1"/>
          </p:cNvSpPr>
          <p:nvPr>
            <p:ph idx="1"/>
          </p:nvPr>
        </p:nvSpPr>
        <p:spPr>
          <a:xfrm>
            <a:off x="498474" y="1428736"/>
            <a:ext cx="7556313" cy="4697427"/>
          </a:xfrm>
        </p:spPr>
        <p:txBody>
          <a:bodyPr>
            <a:noAutofit/>
          </a:bodyPr>
          <a:lstStyle/>
          <a:p>
            <a:r>
              <a:rPr lang="en-US" sz="2800" dirty="0">
                <a:solidFill>
                  <a:schemeClr val="tx1"/>
                </a:solidFill>
              </a:rPr>
              <a:t>Chapter 1: Introduction</a:t>
            </a:r>
          </a:p>
          <a:p>
            <a:r>
              <a:rPr lang="en-US" sz="2800" dirty="0">
                <a:solidFill>
                  <a:schemeClr val="tx1"/>
                </a:solidFill>
              </a:rPr>
              <a:t>Chapter 2: Computer Evolution and Performance"</a:t>
            </a:r>
          </a:p>
          <a:p>
            <a:r>
              <a:rPr lang="en-US" sz="2800" dirty="0">
                <a:solidFill>
                  <a:schemeClr val="tx1"/>
                </a:solidFill>
              </a:rPr>
              <a:t>Chapter 3: A Top-Level View of Computer Function and Interconnection</a:t>
            </a:r>
          </a:p>
          <a:p>
            <a:r>
              <a:rPr lang="en-US" sz="2800" dirty="0">
                <a:solidFill>
                  <a:schemeClr val="tx1"/>
                </a:solidFill>
              </a:rPr>
              <a:t>Memories</a:t>
            </a:r>
          </a:p>
          <a:p>
            <a:pPr lvl="1"/>
            <a:r>
              <a:rPr lang="en-US" sz="2400" dirty="0">
                <a:solidFill>
                  <a:schemeClr val="tx1"/>
                </a:solidFill>
              </a:rPr>
              <a:t>Chapter 4: Cache Memory</a:t>
            </a:r>
          </a:p>
          <a:p>
            <a:pPr lvl="1"/>
            <a:r>
              <a:rPr lang="en-US" sz="2400" dirty="0">
                <a:solidFill>
                  <a:schemeClr val="tx1"/>
                </a:solidFill>
              </a:rPr>
              <a:t>Chapter 5: Internal Memory </a:t>
            </a:r>
          </a:p>
          <a:p>
            <a:pPr lvl="1"/>
            <a:r>
              <a:rPr lang="en-US" sz="2400" dirty="0">
                <a:solidFill>
                  <a:schemeClr val="tx1"/>
                </a:solidFill>
              </a:rPr>
              <a:t>Chapter 6: External Memory</a:t>
            </a:r>
          </a:p>
        </p:txBody>
      </p:sp>
      <p:sp>
        <p:nvSpPr>
          <p:cNvPr id="4" name="Slide Number Placeholder 3"/>
          <p:cNvSpPr>
            <a:spLocks noGrp="1"/>
          </p:cNvSpPr>
          <p:nvPr>
            <p:ph type="sldNum" sz="quarter" idx="12"/>
          </p:nvPr>
        </p:nvSpPr>
        <p:spPr/>
        <p:txBody>
          <a:bodyPr/>
          <a:lstStyle/>
          <a:p>
            <a:fld id="{8AF02B71-8991-4516-A01E-F1A9ACD28BDC}"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Description</a:t>
            </a:r>
          </a:p>
        </p:txBody>
      </p:sp>
      <p:sp>
        <p:nvSpPr>
          <p:cNvPr id="3" name="Content Placeholder 2"/>
          <p:cNvSpPr>
            <a:spLocks noGrp="1"/>
          </p:cNvSpPr>
          <p:nvPr>
            <p:ph idx="1"/>
          </p:nvPr>
        </p:nvSpPr>
        <p:spPr>
          <a:xfrm>
            <a:off x="500034" y="1785927"/>
            <a:ext cx="7556313" cy="3857652"/>
          </a:xfrm>
        </p:spPr>
        <p:txBody>
          <a:bodyPr>
            <a:normAutofit/>
          </a:bodyPr>
          <a:lstStyle/>
          <a:p>
            <a:r>
              <a:rPr lang="en-US" sz="2400" dirty="0">
                <a:solidFill>
                  <a:schemeClr val="tx1"/>
                </a:solidFill>
              </a:rPr>
              <a:t>Chapter 7: Input/Output</a:t>
            </a:r>
          </a:p>
          <a:p>
            <a:r>
              <a:rPr lang="en-US" sz="2400" dirty="0">
                <a:solidFill>
                  <a:schemeClr val="tx1"/>
                </a:solidFill>
              </a:rPr>
              <a:t>Chapter 8: Operating System Support</a:t>
            </a:r>
          </a:p>
          <a:p>
            <a:r>
              <a:rPr lang="en-US" sz="2400" dirty="0">
                <a:solidFill>
                  <a:schemeClr val="tx1"/>
                </a:solidFill>
              </a:rPr>
              <a:t>Chapter 11:  Digital Logic</a:t>
            </a:r>
          </a:p>
          <a:p>
            <a:r>
              <a:rPr lang="en-US" sz="2400" dirty="0">
                <a:solidFill>
                  <a:schemeClr val="tx1"/>
                </a:solidFill>
              </a:rPr>
              <a:t>Instruction Set of CPU</a:t>
            </a:r>
          </a:p>
          <a:p>
            <a:pPr lvl="1"/>
            <a:r>
              <a:rPr lang="en-US" sz="2200" dirty="0">
                <a:solidFill>
                  <a:schemeClr val="tx1"/>
                </a:solidFill>
              </a:rPr>
              <a:t>Chapter 12: Instruction Sets: Characteristics and Functions</a:t>
            </a:r>
          </a:p>
          <a:p>
            <a:pPr lvl="1"/>
            <a:r>
              <a:rPr lang="en-US" sz="2200" dirty="0">
                <a:solidFill>
                  <a:schemeClr val="tx1"/>
                </a:solidFill>
              </a:rPr>
              <a:t>Chapter 13: Instruction Sets: Addressing Modes and Formats,  Assembly Language</a:t>
            </a:r>
          </a:p>
        </p:txBody>
      </p:sp>
      <p:sp>
        <p:nvSpPr>
          <p:cNvPr id="4" name="Slide Number Placeholder 3"/>
          <p:cNvSpPr>
            <a:spLocks noGrp="1"/>
          </p:cNvSpPr>
          <p:nvPr>
            <p:ph type="sldNum" sz="quarter" idx="12"/>
          </p:nvPr>
        </p:nvSpPr>
        <p:spPr/>
        <p:txBody>
          <a:bodyPr/>
          <a:lstStyle/>
          <a:p>
            <a:fld id="{8AF02B71-8991-4516-A01E-F1A9ACD28BDC}"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Description</a:t>
            </a:r>
          </a:p>
        </p:txBody>
      </p:sp>
      <p:sp>
        <p:nvSpPr>
          <p:cNvPr id="3" name="Content Placeholder 2"/>
          <p:cNvSpPr>
            <a:spLocks noGrp="1"/>
          </p:cNvSpPr>
          <p:nvPr>
            <p:ph idx="1"/>
          </p:nvPr>
        </p:nvSpPr>
        <p:spPr>
          <a:xfrm>
            <a:off x="498474" y="1571612"/>
            <a:ext cx="7556313" cy="4554551"/>
          </a:xfrm>
        </p:spPr>
        <p:txBody>
          <a:bodyPr>
            <a:noAutofit/>
          </a:bodyPr>
          <a:lstStyle/>
          <a:p>
            <a:r>
              <a:rPr lang="en-US" sz="3200" dirty="0">
                <a:solidFill>
                  <a:schemeClr val="tx1"/>
                </a:solidFill>
              </a:rPr>
              <a:t>CPUs</a:t>
            </a:r>
          </a:p>
          <a:p>
            <a:pPr lvl="1"/>
            <a:r>
              <a:rPr lang="en-US" sz="2800" dirty="0">
                <a:solidFill>
                  <a:schemeClr val="tx1"/>
                </a:solidFill>
              </a:rPr>
              <a:t>Chapter 14: Processor Structure and Function</a:t>
            </a:r>
          </a:p>
          <a:p>
            <a:pPr lvl="1"/>
            <a:r>
              <a:rPr lang="en-US" sz="2800" dirty="0">
                <a:solidFill>
                  <a:schemeClr val="tx1"/>
                </a:solidFill>
              </a:rPr>
              <a:t>Chapter 15: Reduced Instruction Set Computers</a:t>
            </a:r>
          </a:p>
          <a:p>
            <a:pPr lvl="1"/>
            <a:r>
              <a:rPr lang="en-US" sz="2800" dirty="0">
                <a:solidFill>
                  <a:schemeClr val="tx1"/>
                </a:solidFill>
              </a:rPr>
              <a:t>Chapter 16: Instruction-Level Parallelism and Superscalar Processors</a:t>
            </a:r>
          </a:p>
          <a:p>
            <a:pPr lvl="1"/>
            <a:r>
              <a:rPr lang="en-US" sz="2800" dirty="0">
                <a:solidFill>
                  <a:schemeClr val="tx1"/>
                </a:solidFill>
              </a:rPr>
              <a:t>Chapter 17: Parallel Processing </a:t>
            </a:r>
          </a:p>
          <a:p>
            <a:pPr lvl="1"/>
            <a:r>
              <a:rPr lang="en-US" sz="2800" dirty="0">
                <a:solidFill>
                  <a:schemeClr val="tx1"/>
                </a:solidFill>
              </a:rPr>
              <a:t>Chapter 18: Multicore Computers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plan</a:t>
            </a:r>
          </a:p>
        </p:txBody>
      </p:sp>
      <p:sp>
        <p:nvSpPr>
          <p:cNvPr id="3" name="Content Placeholder 2"/>
          <p:cNvSpPr>
            <a:spLocks noGrp="1"/>
          </p:cNvSpPr>
          <p:nvPr>
            <p:ph idx="1"/>
          </p:nvPr>
        </p:nvSpPr>
        <p:spPr/>
        <p:txBody>
          <a:bodyPr>
            <a:normAutofit/>
          </a:bodyPr>
          <a:lstStyle/>
          <a:p>
            <a:r>
              <a:rPr lang="en-US" sz="2400" dirty="0">
                <a:solidFill>
                  <a:schemeClr val="tx1"/>
                </a:solidFill>
              </a:rPr>
              <a:t>See it on CMS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Rules</a:t>
            </a:r>
          </a:p>
        </p:txBody>
      </p:sp>
      <p:sp>
        <p:nvSpPr>
          <p:cNvPr id="3" name="Content Placeholder 2"/>
          <p:cNvSpPr>
            <a:spLocks noGrp="1"/>
          </p:cNvSpPr>
          <p:nvPr>
            <p:ph idx="1"/>
          </p:nvPr>
        </p:nvSpPr>
        <p:spPr>
          <a:xfrm>
            <a:off x="498474" y="1357298"/>
            <a:ext cx="7556313" cy="5214974"/>
          </a:xfrm>
        </p:spPr>
        <p:txBody>
          <a:bodyPr>
            <a:noAutofit/>
          </a:bodyPr>
          <a:lstStyle/>
          <a:p>
            <a:pPr algn="just"/>
            <a:r>
              <a:rPr lang="en-US" sz="2400" b="1" dirty="0">
                <a:solidFill>
                  <a:schemeClr val="tx1"/>
                </a:solidFill>
                <a:latin typeface="Times New Roman" pitchFamily="18" charset="0"/>
                <a:cs typeface="Times New Roman" pitchFamily="18" charset="0"/>
              </a:rPr>
              <a:t>How to conduct</a:t>
            </a:r>
          </a:p>
          <a:p>
            <a:pPr lvl="1" algn="just"/>
            <a:r>
              <a:rPr lang="en-US" sz="2000" dirty="0">
                <a:solidFill>
                  <a:schemeClr val="tx1"/>
                </a:solidFill>
                <a:latin typeface="Times New Roman" pitchFamily="18" charset="0"/>
                <a:cs typeface="Times New Roman" pitchFamily="18" charset="0"/>
              </a:rPr>
              <a:t>Prepare contents of the next session at home </a:t>
            </a:r>
          </a:p>
          <a:p>
            <a:pPr lvl="1" algn="just"/>
            <a:r>
              <a:rPr lang="en-US" sz="2000" dirty="0">
                <a:solidFill>
                  <a:schemeClr val="tx1"/>
                </a:solidFill>
                <a:latin typeface="Times New Roman" pitchFamily="18" charset="0"/>
                <a:cs typeface="Times New Roman" pitchFamily="18" charset="0"/>
              </a:rPr>
              <a:t>Following lessons in classrooms</a:t>
            </a:r>
          </a:p>
          <a:p>
            <a:pPr lvl="1" algn="just"/>
            <a:r>
              <a:rPr lang="en-US" sz="2000" dirty="0">
                <a:solidFill>
                  <a:schemeClr val="tx1"/>
                </a:solidFill>
                <a:latin typeface="Times New Roman" pitchFamily="18" charset="0"/>
                <a:cs typeface="Times New Roman" pitchFamily="18" charset="0"/>
              </a:rPr>
              <a:t>Completing chapter assessment in time and Quizzes (via CMS)</a:t>
            </a:r>
          </a:p>
          <a:p>
            <a:pPr algn="just"/>
            <a:r>
              <a:rPr lang="en-US" sz="2400" b="1" dirty="0">
                <a:solidFill>
                  <a:schemeClr val="tx1"/>
                </a:solidFill>
                <a:latin typeface="Times New Roman" pitchFamily="18" charset="0"/>
                <a:cs typeface="Times New Roman" pitchFamily="18" charset="0"/>
              </a:rPr>
              <a:t>Communication</a:t>
            </a:r>
          </a:p>
          <a:p>
            <a:pPr lvl="1" algn="just"/>
            <a:r>
              <a:rPr lang="en-US" sz="2000" dirty="0">
                <a:solidFill>
                  <a:schemeClr val="tx1"/>
                </a:solidFill>
                <a:latin typeface="Times New Roman" pitchFamily="18" charset="0"/>
                <a:cs typeface="Times New Roman" pitchFamily="18" charset="0"/>
              </a:rPr>
              <a:t>Class</a:t>
            </a:r>
          </a:p>
          <a:p>
            <a:pPr lvl="1" algn="just"/>
            <a:r>
              <a:rPr lang="en-US" sz="2000" dirty="0">
                <a:solidFill>
                  <a:schemeClr val="tx1"/>
                </a:solidFill>
                <a:latin typeface="Times New Roman" pitchFamily="18" charset="0"/>
                <a:cs typeface="Times New Roman" pitchFamily="18" charset="0"/>
              </a:rPr>
              <a:t>Interchange by FU-HCM CMS, Forum</a:t>
            </a:r>
          </a:p>
          <a:p>
            <a:pPr lvl="1" algn="just"/>
            <a:r>
              <a:rPr lang="en-US" sz="2000" dirty="0">
                <a:solidFill>
                  <a:schemeClr val="tx1"/>
                </a:solidFill>
                <a:latin typeface="Times New Roman" pitchFamily="18" charset="0"/>
                <a:cs typeface="Times New Roman" pitchFamily="18" charset="0"/>
              </a:rPr>
              <a:t>Discussing actively in your teams and in classrooms</a:t>
            </a:r>
          </a:p>
          <a:p>
            <a:pPr lvl="1" algn="just"/>
            <a:r>
              <a:rPr lang="en-US" sz="2000" dirty="0">
                <a:solidFill>
                  <a:schemeClr val="tx1"/>
                </a:solidFill>
                <a:latin typeface="Times New Roman" pitchFamily="18" charset="0"/>
                <a:cs typeface="Times New Roman" pitchFamily="18" charset="0"/>
              </a:rPr>
              <a:t>Free to question and answer</a:t>
            </a:r>
          </a:p>
          <a:p>
            <a:pPr algn="just"/>
            <a:r>
              <a:rPr lang="en-US" sz="2400" b="1" dirty="0">
                <a:solidFill>
                  <a:schemeClr val="tx1"/>
                </a:solidFill>
                <a:latin typeface="Times New Roman" pitchFamily="18" charset="0"/>
                <a:cs typeface="Times New Roman" pitchFamily="18" charset="0"/>
              </a:rPr>
              <a:t>Others</a:t>
            </a:r>
          </a:p>
          <a:p>
            <a:pPr lvl="1" algn="just">
              <a:lnSpc>
                <a:spcPct val="120000"/>
              </a:lnSpc>
            </a:pPr>
            <a:r>
              <a:rPr lang="en-US" sz="2000" dirty="0">
                <a:solidFill>
                  <a:schemeClr val="tx1"/>
                </a:solidFill>
                <a:latin typeface="Times New Roman" pitchFamily="18" charset="0"/>
                <a:cs typeface="Times New Roman" pitchFamily="18" charset="0"/>
              </a:rPr>
              <a:t>Off phone/ No game, no chat in class</a:t>
            </a:r>
          </a:p>
          <a:p>
            <a:pPr lvl="1" algn="just">
              <a:lnSpc>
                <a:spcPct val="120000"/>
              </a:lnSpc>
            </a:pPr>
            <a:r>
              <a:rPr lang="en-US" sz="2000" dirty="0">
                <a:solidFill>
                  <a:schemeClr val="tx1"/>
                </a:solidFill>
                <a:latin typeface="Times New Roman" pitchFamily="18" charset="0"/>
                <a:cs typeface="Times New Roman" pitchFamily="18" charset="0"/>
              </a:rPr>
              <a:t>Use laptops under teacher’s instruction</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Evaluation Strategy</a:t>
            </a:r>
            <a:endParaRPr lang="en-US" dirty="0"/>
          </a:p>
        </p:txBody>
      </p:sp>
      <p:sp>
        <p:nvSpPr>
          <p:cNvPr id="3" name="Content Placeholder 2"/>
          <p:cNvSpPr>
            <a:spLocks noGrp="1"/>
          </p:cNvSpPr>
          <p:nvPr>
            <p:ph idx="1"/>
          </p:nvPr>
        </p:nvSpPr>
        <p:spPr>
          <a:xfrm>
            <a:off x="498474" y="1357298"/>
            <a:ext cx="7573988" cy="4768865"/>
          </a:xfrm>
        </p:spPr>
        <p:txBody>
          <a:bodyPr>
            <a:normAutofit fontScale="92500" lnSpcReduction="10000"/>
          </a:bodyPr>
          <a:lstStyle/>
          <a:p>
            <a:pPr algn="just"/>
            <a:r>
              <a:rPr lang="en-US" sz="2800" dirty="0">
                <a:solidFill>
                  <a:schemeClr val="tx1"/>
                </a:solidFill>
                <a:latin typeface="Times New Roman" pitchFamily="18" charset="0"/>
                <a:cs typeface="Times New Roman" pitchFamily="18" charset="0"/>
              </a:rPr>
              <a:t>Must attend more than 80% of contact hours</a:t>
            </a:r>
            <a:br>
              <a:rPr lang="en-US" sz="2800" dirty="0">
                <a:solidFill>
                  <a:schemeClr val="tx1"/>
                </a:solidFill>
                <a:latin typeface="Times New Roman" pitchFamily="18" charset="0"/>
                <a:cs typeface="Times New Roman" pitchFamily="18" charset="0"/>
              </a:rPr>
            </a:br>
            <a:r>
              <a:rPr lang="en-US" sz="2800" dirty="0">
                <a:solidFill>
                  <a:schemeClr val="tx1"/>
                </a:solidFill>
                <a:latin typeface="Times New Roman" pitchFamily="18" charset="0"/>
                <a:cs typeface="Times New Roman" pitchFamily="18" charset="0"/>
              </a:rPr>
              <a:t>(if not, not allow to take exam).</a:t>
            </a:r>
          </a:p>
          <a:p>
            <a:pPr algn="just"/>
            <a:r>
              <a:rPr lang="en-US" sz="2800" dirty="0">
                <a:solidFill>
                  <a:schemeClr val="tx1"/>
                </a:solidFill>
                <a:latin typeface="Times New Roman" pitchFamily="18" charset="0"/>
                <a:cs typeface="Times New Roman" pitchFamily="18" charset="0"/>
              </a:rPr>
              <a:t>Evaluating</a:t>
            </a:r>
          </a:p>
          <a:p>
            <a:pPr lvl="1" algn="just"/>
            <a:r>
              <a:rPr lang="en-US" sz="2400" dirty="0">
                <a:solidFill>
                  <a:schemeClr val="tx1"/>
                </a:solidFill>
                <a:latin typeface="Times New Roman" pitchFamily="18" charset="0"/>
                <a:cs typeface="Times New Roman" pitchFamily="18" charset="0"/>
              </a:rPr>
              <a:t>4 Exercises (E)	             30 %</a:t>
            </a:r>
          </a:p>
          <a:p>
            <a:pPr lvl="1" algn="just"/>
            <a:r>
              <a:rPr lang="en-US" sz="2400" dirty="0">
                <a:solidFill>
                  <a:schemeClr val="tx1"/>
                </a:solidFill>
                <a:latin typeface="Times New Roman" pitchFamily="18" charset="0"/>
                <a:cs typeface="Times New Roman" pitchFamily="18" charset="0"/>
              </a:rPr>
              <a:t>2 Assignment (A)                 30% ( Assembly programs)</a:t>
            </a:r>
          </a:p>
          <a:p>
            <a:pPr lvl="1" algn="just"/>
            <a:r>
              <a:rPr lang="en-US" sz="2400" dirty="0">
                <a:solidFill>
                  <a:schemeClr val="tx1"/>
                </a:solidFill>
                <a:latin typeface="Times New Roman" pitchFamily="18" charset="0"/>
                <a:cs typeface="Times New Roman" pitchFamily="18" charset="0"/>
              </a:rPr>
              <a:t>Final Exam (FE)	             40 %</a:t>
            </a:r>
          </a:p>
          <a:p>
            <a:pPr algn="just"/>
            <a:r>
              <a:rPr lang="en-US" sz="2400" dirty="0">
                <a:solidFill>
                  <a:schemeClr val="tx1"/>
                </a:solidFill>
                <a:latin typeface="Times New Roman" pitchFamily="18" charset="0"/>
                <a:cs typeface="Times New Roman" pitchFamily="18" charset="0"/>
              </a:rPr>
              <a:t>Total score=30%(E)+30%(A)+40% (FE)</a:t>
            </a:r>
          </a:p>
          <a:p>
            <a:pPr algn="just"/>
            <a:r>
              <a:rPr lang="en-US" sz="2800" dirty="0">
                <a:solidFill>
                  <a:schemeClr val="tx1"/>
                </a:solidFill>
                <a:latin typeface="Times New Roman" pitchFamily="18" charset="0"/>
                <a:cs typeface="Times New Roman" pitchFamily="18" charset="0"/>
              </a:rPr>
              <a:t>Pass: All on-going assessment &gt; 0 and Total score ≥ 5 and Final Examination ≥ 4 (of 10)</a:t>
            </a:r>
          </a:p>
          <a:p>
            <a:pPr algn="just"/>
            <a:r>
              <a:rPr lang="en-US" sz="2800" dirty="0">
                <a:solidFill>
                  <a:schemeClr val="tx1"/>
                </a:solidFill>
                <a:latin typeface="Times New Roman" pitchFamily="18" charset="0"/>
                <a:cs typeface="Times New Roman" pitchFamily="18" charset="0"/>
              </a:rPr>
              <a:t>Retake only the Final Exam when not passed</a:t>
            </a:r>
          </a:p>
          <a:p>
            <a:endParaRPr lang="en-US"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study?</a:t>
            </a:r>
          </a:p>
        </p:txBody>
      </p:sp>
      <p:sp>
        <p:nvSpPr>
          <p:cNvPr id="3" name="Content Placeholder 2"/>
          <p:cNvSpPr>
            <a:spLocks noGrp="1"/>
          </p:cNvSpPr>
          <p:nvPr>
            <p:ph idx="1"/>
          </p:nvPr>
        </p:nvSpPr>
        <p:spPr>
          <a:xfrm>
            <a:off x="498474" y="1357298"/>
            <a:ext cx="7556313" cy="4768865"/>
          </a:xfrm>
        </p:spPr>
        <p:txBody>
          <a:bodyPr>
            <a:normAutofit fontScale="92500" lnSpcReduction="20000"/>
          </a:bodyPr>
          <a:lstStyle/>
          <a:p>
            <a:pPr algn="just"/>
            <a:r>
              <a:rPr lang="en-US" sz="2400" dirty="0">
                <a:solidFill>
                  <a:schemeClr val="tx1"/>
                </a:solidFill>
                <a:latin typeface="Times New Roman" pitchFamily="18" charset="0"/>
                <a:cs typeface="Times New Roman" pitchFamily="18" charset="0"/>
              </a:rPr>
              <a:t>This course is complex knowledge (however, it’s attractive and exciting), so you need to keep tight grip on it</a:t>
            </a:r>
          </a:p>
          <a:p>
            <a:pPr lvl="1" algn="just"/>
            <a:r>
              <a:rPr lang="en-US" sz="2400" dirty="0">
                <a:solidFill>
                  <a:schemeClr val="tx1"/>
                </a:solidFill>
                <a:latin typeface="Times New Roman" pitchFamily="18" charset="0"/>
                <a:cs typeface="Times New Roman" pitchFamily="18" charset="0"/>
              </a:rPr>
              <a:t>Read</a:t>
            </a:r>
          </a:p>
          <a:p>
            <a:pPr lvl="2" algn="just"/>
            <a:r>
              <a:rPr lang="en-US" sz="2000" dirty="0">
                <a:solidFill>
                  <a:schemeClr val="tx1"/>
                </a:solidFill>
                <a:latin typeface="Times New Roman" pitchFamily="18" charset="0"/>
                <a:cs typeface="Times New Roman" pitchFamily="18" charset="0"/>
              </a:rPr>
              <a:t>On the books to get the general concept</a:t>
            </a:r>
          </a:p>
          <a:p>
            <a:pPr lvl="2" algn="just"/>
            <a:r>
              <a:rPr lang="en-US" sz="2000" dirty="0">
                <a:solidFill>
                  <a:schemeClr val="tx1"/>
                </a:solidFill>
                <a:latin typeface="Times New Roman" pitchFamily="18" charset="0"/>
                <a:cs typeface="Times New Roman" pitchFamily="18" charset="0"/>
              </a:rPr>
              <a:t>Reference, study, collection from anywhere else (internet, your classmate, forum …)</a:t>
            </a:r>
          </a:p>
          <a:p>
            <a:pPr lvl="1" algn="just"/>
            <a:r>
              <a:rPr lang="en-US" sz="2400" dirty="0">
                <a:solidFill>
                  <a:schemeClr val="tx1"/>
                </a:solidFill>
                <a:latin typeface="Times New Roman" pitchFamily="18" charset="0"/>
                <a:cs typeface="Times New Roman" pitchFamily="18" charset="0"/>
              </a:rPr>
              <a:t>Attend lectures</a:t>
            </a:r>
          </a:p>
          <a:p>
            <a:pPr lvl="2" algn="just"/>
            <a:r>
              <a:rPr lang="en-US" sz="2000" dirty="0">
                <a:solidFill>
                  <a:schemeClr val="tx1"/>
                </a:solidFill>
                <a:latin typeface="Times New Roman" pitchFamily="18" charset="0"/>
                <a:cs typeface="Times New Roman" pitchFamily="18" charset="0"/>
              </a:rPr>
              <a:t>Listens, understand, then make your own notes</a:t>
            </a:r>
          </a:p>
          <a:p>
            <a:pPr lvl="2" algn="just"/>
            <a:r>
              <a:rPr lang="en-US" sz="2000" dirty="0">
                <a:solidFill>
                  <a:schemeClr val="tx1"/>
                </a:solidFill>
                <a:latin typeface="Times New Roman" pitchFamily="18" charset="0"/>
                <a:cs typeface="Times New Roman" pitchFamily="18" charset="0"/>
              </a:rPr>
              <a:t>Give your explanation about some topic in lectures</a:t>
            </a:r>
          </a:p>
          <a:p>
            <a:pPr lvl="2" algn="just"/>
            <a:r>
              <a:rPr lang="en-US" sz="2000" dirty="0">
                <a:solidFill>
                  <a:schemeClr val="tx1"/>
                </a:solidFill>
                <a:latin typeface="Times New Roman" pitchFamily="18" charset="0"/>
                <a:cs typeface="Times New Roman" pitchFamily="18" charset="0"/>
              </a:rPr>
              <a:t>Ask questions</a:t>
            </a:r>
          </a:p>
          <a:p>
            <a:pPr lvl="2" algn="just"/>
            <a:r>
              <a:rPr lang="en-US" sz="2000" dirty="0">
                <a:solidFill>
                  <a:schemeClr val="tx1"/>
                </a:solidFill>
                <a:latin typeface="Times New Roman" pitchFamily="18" charset="0"/>
                <a:cs typeface="Times New Roman" pitchFamily="18" charset="0"/>
              </a:rPr>
              <a:t>Practice all the exercises, demo to make your sense </a:t>
            </a:r>
          </a:p>
          <a:p>
            <a:pPr lvl="1" algn="just"/>
            <a:r>
              <a:rPr lang="en-US" sz="2400" dirty="0">
                <a:solidFill>
                  <a:schemeClr val="tx1"/>
                </a:solidFill>
                <a:latin typeface="Times New Roman" pitchFamily="18" charset="0"/>
                <a:cs typeface="Times New Roman" pitchFamily="18" charset="0"/>
              </a:rPr>
              <a:t>After classes</a:t>
            </a:r>
          </a:p>
          <a:p>
            <a:pPr lvl="2" algn="just"/>
            <a:r>
              <a:rPr lang="en-US" sz="2000" dirty="0">
                <a:solidFill>
                  <a:schemeClr val="tx1"/>
                </a:solidFill>
                <a:latin typeface="Times New Roman" pitchFamily="18" charset="0"/>
                <a:cs typeface="Times New Roman" pitchFamily="18" charset="0"/>
              </a:rPr>
              <a:t>Discuss your classmate in directly, on forum</a:t>
            </a:r>
          </a:p>
          <a:p>
            <a:pPr lvl="2" algn="just"/>
            <a:r>
              <a:rPr lang="en-US" sz="2000" dirty="0">
                <a:solidFill>
                  <a:schemeClr val="tx1"/>
                </a:solidFill>
                <a:latin typeface="Times New Roman" pitchFamily="18" charset="0"/>
                <a:cs typeface="Times New Roman" pitchFamily="18" charset="0"/>
              </a:rPr>
              <a:t>Do the lab, assignments to submit via CMS, and do more exercises</a:t>
            </a:r>
          </a:p>
          <a:p>
            <a:pPr lvl="2" algn="just"/>
            <a:r>
              <a:rPr lang="en-US" sz="2000" dirty="0">
                <a:solidFill>
                  <a:schemeClr val="tx1"/>
                </a:solidFill>
                <a:latin typeface="Times New Roman" pitchFamily="18" charset="0"/>
                <a:cs typeface="Times New Roman" pitchFamily="18" charset="0"/>
              </a:rPr>
              <a:t>Build your teams in yourselves to support together in studying</a:t>
            </a:r>
          </a:p>
          <a:p>
            <a:endParaRPr lang="en-US"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Academic Policy</a:t>
            </a:r>
          </a:p>
        </p:txBody>
      </p:sp>
      <p:sp>
        <p:nvSpPr>
          <p:cNvPr id="3" name="Content Placeholder 2"/>
          <p:cNvSpPr>
            <a:spLocks noGrp="1"/>
          </p:cNvSpPr>
          <p:nvPr>
            <p:ph idx="1"/>
          </p:nvPr>
        </p:nvSpPr>
        <p:spPr>
          <a:xfrm>
            <a:off x="498474" y="1571612"/>
            <a:ext cx="7556313" cy="4554551"/>
          </a:xfrm>
        </p:spPr>
        <p:txBody>
          <a:bodyPr/>
          <a:lstStyle/>
          <a:p>
            <a:pPr algn="just">
              <a:lnSpc>
                <a:spcPct val="90000"/>
              </a:lnSpc>
            </a:pPr>
            <a:r>
              <a:rPr lang="en-US" sz="2800" dirty="0">
                <a:solidFill>
                  <a:schemeClr val="tx1"/>
                </a:solidFill>
                <a:latin typeface="Times New Roman" pitchFamily="18" charset="0"/>
                <a:cs typeface="Times New Roman" pitchFamily="18" charset="0"/>
              </a:rPr>
              <a:t>Cheating, plagiarism and breach of copyright are serious offenses under this Policy.</a:t>
            </a:r>
          </a:p>
          <a:p>
            <a:pPr lvl="1" algn="just">
              <a:lnSpc>
                <a:spcPct val="90000"/>
              </a:lnSpc>
            </a:pPr>
            <a:r>
              <a:rPr lang="en-US" sz="2000" dirty="0">
                <a:solidFill>
                  <a:schemeClr val="tx1"/>
                </a:solidFill>
                <a:latin typeface="Times New Roman" pitchFamily="18" charset="0"/>
                <a:cs typeface="Times New Roman" pitchFamily="18" charset="0"/>
              </a:rPr>
              <a:t>Cheating</a:t>
            </a:r>
          </a:p>
          <a:p>
            <a:pPr lvl="2" algn="just">
              <a:lnSpc>
                <a:spcPct val="90000"/>
              </a:lnSpc>
            </a:pPr>
            <a:r>
              <a:rPr lang="en-US" dirty="0">
                <a:solidFill>
                  <a:schemeClr val="tx1"/>
                </a:solidFill>
                <a:latin typeface="Times New Roman" pitchFamily="18" charset="0"/>
                <a:cs typeface="Times New Roman" pitchFamily="18" charset="0"/>
              </a:rPr>
              <a:t>Cheating during a test or exam is construed as talking, peeking at another student’s paper or any other clandestine method of transmitting information.</a:t>
            </a:r>
          </a:p>
          <a:p>
            <a:pPr lvl="1" algn="just">
              <a:lnSpc>
                <a:spcPct val="90000"/>
              </a:lnSpc>
            </a:pPr>
            <a:r>
              <a:rPr lang="en-US" sz="2000" dirty="0">
                <a:solidFill>
                  <a:schemeClr val="tx1"/>
                </a:solidFill>
                <a:latin typeface="Times New Roman" pitchFamily="18" charset="0"/>
                <a:cs typeface="Times New Roman" pitchFamily="18" charset="0"/>
              </a:rPr>
              <a:t>Plagiarism</a:t>
            </a:r>
          </a:p>
          <a:p>
            <a:pPr lvl="2" algn="just">
              <a:lnSpc>
                <a:spcPct val="90000"/>
              </a:lnSpc>
            </a:pPr>
            <a:r>
              <a:rPr lang="en-US" dirty="0">
                <a:solidFill>
                  <a:schemeClr val="tx1"/>
                </a:solidFill>
                <a:latin typeface="Times New Roman" pitchFamily="18" charset="0"/>
                <a:cs typeface="Times New Roman" pitchFamily="18" charset="0"/>
              </a:rPr>
              <a:t>Plagiarism is using the work of others without citing it; that is, holding the work of others out as your own work. </a:t>
            </a:r>
          </a:p>
          <a:p>
            <a:pPr lvl="1" algn="just">
              <a:lnSpc>
                <a:spcPct val="90000"/>
              </a:lnSpc>
            </a:pPr>
            <a:r>
              <a:rPr lang="en-US" sz="2000" dirty="0">
                <a:solidFill>
                  <a:schemeClr val="tx1"/>
                </a:solidFill>
                <a:latin typeface="Times New Roman" pitchFamily="18" charset="0"/>
                <a:cs typeface="Times New Roman" pitchFamily="18" charset="0"/>
              </a:rPr>
              <a:t>Breach of Copyright</a:t>
            </a:r>
          </a:p>
          <a:p>
            <a:pPr lvl="2" algn="just">
              <a:lnSpc>
                <a:spcPct val="90000"/>
              </a:lnSpc>
            </a:pPr>
            <a:r>
              <a:rPr lang="en-US" dirty="0">
                <a:solidFill>
                  <a:schemeClr val="tx1"/>
                </a:solidFill>
                <a:latin typeface="Times New Roman" pitchFamily="18" charset="0"/>
                <a:cs typeface="Times New Roman" pitchFamily="18" charset="0"/>
              </a:rPr>
              <a:t>If you photocopy a textbook without the copyright holder's permission, you violate copyright law. </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Enjoy the Course</a:t>
            </a:r>
            <a:endParaRPr lang="en-US" dirty="0"/>
          </a:p>
        </p:txBody>
      </p:sp>
      <p:sp>
        <p:nvSpPr>
          <p:cNvPr id="3" name="Content Placeholder 2"/>
          <p:cNvSpPr>
            <a:spLocks noGrp="1"/>
          </p:cNvSpPr>
          <p:nvPr>
            <p:ph idx="1"/>
          </p:nvPr>
        </p:nvSpPr>
        <p:spPr>
          <a:xfrm>
            <a:off x="498474" y="1981200"/>
            <a:ext cx="7556313" cy="2805121"/>
          </a:xfrm>
        </p:spPr>
        <p:txBody>
          <a:bodyPr>
            <a:normAutofit/>
          </a:bodyPr>
          <a:lstStyle/>
          <a:p>
            <a:pPr algn="just">
              <a:lnSpc>
                <a:spcPct val="80000"/>
              </a:lnSpc>
            </a:pPr>
            <a:r>
              <a:rPr lang="en-US" sz="2800" dirty="0">
                <a:solidFill>
                  <a:schemeClr val="tx1"/>
                </a:solidFill>
                <a:latin typeface="Times New Roman" pitchFamily="18" charset="0"/>
                <a:cs typeface="Times New Roman" pitchFamily="18" charset="0"/>
              </a:rPr>
              <a:t>Be enthusiastic about the material because it is interesting, useful and an important part of your training as an IT engineer. </a:t>
            </a:r>
          </a:p>
          <a:p>
            <a:pPr algn="just">
              <a:lnSpc>
                <a:spcPct val="80000"/>
              </a:lnSpc>
            </a:pPr>
            <a:r>
              <a:rPr lang="en-US" sz="2800" dirty="0">
                <a:solidFill>
                  <a:schemeClr val="tx1"/>
                </a:solidFill>
                <a:latin typeface="Times New Roman" pitchFamily="18" charset="0"/>
                <a:cs typeface="Times New Roman" pitchFamily="18" charset="0"/>
              </a:rPr>
              <a:t>We will do our best but we need your help. </a:t>
            </a:r>
          </a:p>
          <a:p>
            <a:pPr algn="just">
              <a:lnSpc>
                <a:spcPct val="80000"/>
              </a:lnSpc>
            </a:pPr>
            <a:r>
              <a:rPr lang="en-US" sz="2800" dirty="0">
                <a:solidFill>
                  <a:schemeClr val="tx1"/>
                </a:solidFill>
                <a:latin typeface="Times New Roman" pitchFamily="18" charset="0"/>
                <a:cs typeface="Times New Roman" pitchFamily="18" charset="0"/>
              </a:rPr>
              <a:t>So let’s all have fun together with COA!!!</a:t>
            </a:r>
          </a:p>
          <a:p>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14282" y="5857892"/>
            <a:ext cx="8715436" cy="857256"/>
          </a:xfrm>
        </p:spPr>
        <p:txBody>
          <a:bodyPr>
            <a:normAutofit fontScale="90000"/>
          </a:bodyPr>
          <a:lstStyle/>
          <a:p>
            <a:r>
              <a:rPr lang="en-GB" dirty="0"/>
              <a:t>William Stallings, Computer Organization  and  Architecture. 9</a:t>
            </a:r>
            <a:r>
              <a:rPr lang="en-GB" baseline="30000" dirty="0"/>
              <a:t>th</a:t>
            </a:r>
            <a:r>
              <a:rPr lang="en-GB"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285720" y="4738422"/>
            <a:ext cx="8501122"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1: Introduction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p>
        </p:txBody>
      </p:sp>
      <p:sp>
        <p:nvSpPr>
          <p:cNvPr id="3" name="Content Placeholder 2"/>
          <p:cNvSpPr>
            <a:spLocks noGrp="1"/>
          </p:cNvSpPr>
          <p:nvPr>
            <p:ph idx="1"/>
          </p:nvPr>
        </p:nvSpPr>
        <p:spPr/>
        <p:txBody>
          <a:bodyPr>
            <a:normAutofit/>
          </a:bodyPr>
          <a:lstStyle/>
          <a:p>
            <a:r>
              <a:rPr lang="en-US" sz="2800" dirty="0">
                <a:solidFill>
                  <a:schemeClr val="tx1"/>
                </a:solidFill>
              </a:rPr>
              <a:t>Why should we study this chapter?</a:t>
            </a:r>
          </a:p>
          <a:p>
            <a:pPr lvl="1"/>
            <a:r>
              <a:rPr lang="en-US" sz="2400" dirty="0">
                <a:solidFill>
                  <a:schemeClr val="tx1"/>
                </a:solidFill>
              </a:rPr>
              <a:t>Distinguishing architecture and organization</a:t>
            </a:r>
          </a:p>
          <a:p>
            <a:pPr lvl="1"/>
            <a:r>
              <a:rPr lang="en-US" sz="2400" dirty="0">
                <a:solidFill>
                  <a:schemeClr val="tx1"/>
                </a:solidFill>
              </a:rPr>
              <a:t> What is a hierachical system?</a:t>
            </a:r>
          </a:p>
          <a:p>
            <a:pPr lvl="1"/>
            <a:r>
              <a:rPr lang="en-US" sz="2400" dirty="0">
                <a:solidFill>
                  <a:schemeClr val="tx1"/>
                </a:solidFill>
              </a:rPr>
              <a:t>What are basic computer functions?</a:t>
            </a:r>
          </a:p>
          <a:p>
            <a:pPr lvl="1"/>
            <a:r>
              <a:rPr lang="en-US" sz="2400" dirty="0">
                <a:solidFill>
                  <a:schemeClr val="tx1"/>
                </a:solidFill>
              </a:rPr>
              <a:t>What are main structural components of the computer?</a:t>
            </a:r>
          </a:p>
          <a:p>
            <a:endParaRPr lang="en-US" sz="2800" dirty="0">
              <a:solidFill>
                <a:schemeClr val="tx1"/>
              </a:solidFill>
            </a:endParaRPr>
          </a:p>
        </p:txBody>
      </p:sp>
      <p:sp>
        <p:nvSpPr>
          <p:cNvPr id="4" name="Rectangle 3"/>
          <p:cNvSpPr/>
          <p:nvPr/>
        </p:nvSpPr>
        <p:spPr>
          <a:xfrm>
            <a:off x="500034" y="4929198"/>
            <a:ext cx="8215370" cy="164307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u="sng"/>
              <a:t>System</a:t>
            </a:r>
            <a:r>
              <a:rPr lang="en-US"/>
              <a:t>: an assemblage of related parts in which there exists an operating mechanism.</a:t>
            </a:r>
          </a:p>
          <a:p>
            <a:r>
              <a:rPr lang="en-US" u="sng"/>
              <a:t>Hierarchical system</a:t>
            </a:r>
            <a:r>
              <a:rPr lang="en-US"/>
              <a:t>: a system in which each part have a level but without a like or equal</a:t>
            </a:r>
          </a:p>
        </p:txBody>
      </p:sp>
      <p:sp>
        <p:nvSpPr>
          <p:cNvPr id="5" name="Slide Number Placeholder 4"/>
          <p:cNvSpPr>
            <a:spLocks noGrp="1"/>
          </p:cNvSpPr>
          <p:nvPr>
            <p:ph type="sldNum" sz="quarter" idx="12"/>
          </p:nvPr>
        </p:nvSpPr>
        <p:spPr/>
        <p:txBody>
          <a:bodyPr/>
          <a:lstStyle/>
          <a:p>
            <a:fld id="{8AF02B71-8991-4516-A01E-F1A9ACD28BDC}"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Contents</a:t>
            </a:r>
          </a:p>
        </p:txBody>
      </p:sp>
      <p:sp>
        <p:nvSpPr>
          <p:cNvPr id="3" name="Content Placeholder 2"/>
          <p:cNvSpPr>
            <a:spLocks noGrp="1"/>
          </p:cNvSpPr>
          <p:nvPr>
            <p:ph idx="1"/>
          </p:nvPr>
        </p:nvSpPr>
        <p:spPr/>
        <p:txBody>
          <a:bodyPr>
            <a:normAutofit/>
          </a:bodyPr>
          <a:lstStyle/>
          <a:p>
            <a:r>
              <a:rPr lang="en-US" sz="2800" dirty="0">
                <a:solidFill>
                  <a:schemeClr val="tx1"/>
                </a:solidFill>
              </a:rPr>
              <a:t>1.1- Organization and Architecture.</a:t>
            </a:r>
          </a:p>
          <a:p>
            <a:r>
              <a:rPr lang="en-US" sz="2800" dirty="0">
                <a:solidFill>
                  <a:schemeClr val="tx1"/>
                </a:solidFill>
              </a:rPr>
              <a:t>1.2- Structure and functions </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0" y="285728"/>
            <a:ext cx="9144000" cy="700070"/>
          </a:xfrm>
        </p:spPr>
        <p:txBody>
          <a:bodyPr>
            <a:normAutofit fontScale="90000"/>
          </a:bodyPr>
          <a:lstStyle/>
          <a:p>
            <a:r>
              <a:rPr lang="en-GB" dirty="0">
                <a:effectLst>
                  <a:outerShdw blurRad="38100" dist="38100" dir="2700000" algn="tl">
                    <a:srgbClr val="000000">
                      <a:alpha val="43137"/>
                    </a:srgbClr>
                  </a:outerShdw>
                </a:effectLst>
              </a:rPr>
              <a:t>1.1- Computer Organization and Architecture</a:t>
            </a:r>
          </a:p>
        </p:txBody>
      </p:sp>
      <p:graphicFrame>
        <p:nvGraphicFramePr>
          <p:cNvPr id="25" name="Content Placeholder 24"/>
          <p:cNvGraphicFramePr>
            <a:graphicFrameLocks noGrp="1"/>
          </p:cNvGraphicFramePr>
          <p:nvPr>
            <p:ph idx="4294967295"/>
          </p:nvPr>
        </p:nvGraphicFramePr>
        <p:xfrm>
          <a:off x="161956" y="1428736"/>
          <a:ext cx="88392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p:cNvCxnSpPr/>
          <p:nvPr/>
        </p:nvCxnSpPr>
        <p:spPr>
          <a:xfrm>
            <a:off x="2428860" y="3998916"/>
            <a:ext cx="4286280" cy="1588"/>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71472" y="3429000"/>
            <a:ext cx="1775679" cy="461665"/>
          </a:xfrm>
          <a:prstGeom prst="rect">
            <a:avLst/>
          </a:prstGeom>
          <a:solidFill>
            <a:srgbClr val="FF0000"/>
          </a:solidFill>
        </p:spPr>
        <p:txBody>
          <a:bodyPr wrap="none">
            <a:spAutoFit/>
          </a:bodyPr>
          <a:lstStyle/>
          <a:p>
            <a:r>
              <a:rPr lang="en-GB" dirty="0">
                <a:solidFill>
                  <a:schemeClr val="bg1"/>
                </a:solidFill>
                <a:effectLst>
                  <a:outerShdw blurRad="38100" dist="38100" dir="2700000" algn="tl">
                    <a:srgbClr val="000000">
                      <a:alpha val="43137"/>
                    </a:srgbClr>
                  </a:outerShdw>
                </a:effectLst>
              </a:rPr>
              <a:t>Differences: </a:t>
            </a:r>
            <a:endParaRPr lang="en-US" dirty="0">
              <a:solidFill>
                <a:schemeClr val="bg1"/>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09600" y="457200"/>
            <a:ext cx="7556313" cy="1116106"/>
          </a:xfrm>
        </p:spPr>
        <p:txBody>
          <a:bodyPr>
            <a:normAutofit fontScale="90000"/>
          </a:bodyPr>
          <a:lstStyle/>
          <a:p>
            <a:r>
              <a:rPr lang="en-GB" i="1">
                <a:effectLst>
                  <a:outerShdw blurRad="38100" dist="38100" dir="2700000" algn="tl">
                    <a:srgbClr val="000000">
                      <a:alpha val="43137"/>
                    </a:srgbClr>
                  </a:outerShdw>
                </a:effectLst>
              </a:rPr>
              <a:t>Read by yourself</a:t>
            </a:r>
            <a:r>
              <a:rPr lang="en-GB">
                <a:effectLst>
                  <a:outerShdw blurRad="38100" dist="38100" dir="2700000" algn="tl">
                    <a:srgbClr val="000000">
                      <a:alpha val="43137"/>
                    </a:srgbClr>
                  </a:outerShdw>
                </a:effectLst>
              </a:rPr>
              <a:t>: </a:t>
            </a:r>
            <a:br>
              <a:rPr lang="en-GB">
                <a:effectLst>
                  <a:outerShdw blurRad="38100" dist="38100" dir="2700000" algn="tl">
                    <a:srgbClr val="000000">
                      <a:alpha val="43137"/>
                    </a:srgbClr>
                  </a:outerShdw>
                </a:effectLst>
              </a:rPr>
            </a:br>
            <a:r>
              <a:rPr lang="en-GB">
                <a:effectLst>
                  <a:outerShdw blurRad="38100" dist="38100" dir="2700000" algn="tl">
                    <a:srgbClr val="000000">
                      <a:alpha val="43137"/>
                    </a:srgbClr>
                  </a:outerShdw>
                </a:effectLst>
                <a:latin typeface="+mn-lt"/>
                <a:ea typeface="+mn-ea"/>
                <a:cs typeface="+mn-cs"/>
              </a:rPr>
              <a:t>IBM System/370 Architecture</a:t>
            </a:r>
            <a:endParaRPr lang="en-GB" dirty="0">
              <a:effectLst>
                <a:outerShdw blurRad="38100" dist="38100" dir="2700000" algn="tl">
                  <a:srgbClr val="000000">
                    <a:alpha val="43137"/>
                  </a:srgbClr>
                </a:outerShdw>
              </a:effectLst>
              <a:latin typeface="+mn-lt"/>
              <a:ea typeface="+mn-ea"/>
              <a:cs typeface="+mn-cs"/>
            </a:endParaRPr>
          </a:p>
        </p:txBody>
      </p:sp>
      <p:sp>
        <p:nvSpPr>
          <p:cNvPr id="5123" name="Rectangle 3"/>
          <p:cNvSpPr>
            <a:spLocks noGrp="1" noChangeArrowheads="1"/>
          </p:cNvSpPr>
          <p:nvPr>
            <p:ph idx="1"/>
          </p:nvPr>
        </p:nvSpPr>
        <p:spPr>
          <a:xfrm>
            <a:off x="498474" y="1785926"/>
            <a:ext cx="7931178" cy="3662378"/>
          </a:xfrm>
        </p:spPr>
        <p:txBody>
          <a:bodyPr>
            <a:normAutofit lnSpcReduction="10000"/>
          </a:bodyPr>
          <a:lstStyle/>
          <a:p>
            <a:r>
              <a:rPr lang="en-GB" sz="2400" dirty="0">
                <a:solidFill>
                  <a:schemeClr val="tx1"/>
                </a:solidFill>
              </a:rPr>
              <a:t>IBM System/370 architecture</a:t>
            </a:r>
          </a:p>
          <a:p>
            <a:pPr lvl="1"/>
            <a:r>
              <a:rPr lang="en-GB" dirty="0">
                <a:solidFill>
                  <a:schemeClr val="tx1"/>
                </a:solidFill>
              </a:rPr>
              <a:t>Was introduced in 1970</a:t>
            </a:r>
          </a:p>
          <a:p>
            <a:pPr lvl="1"/>
            <a:r>
              <a:rPr lang="en-GB" dirty="0">
                <a:solidFill>
                  <a:schemeClr val="tx1"/>
                </a:solidFill>
              </a:rPr>
              <a:t>Included a number of models</a:t>
            </a:r>
          </a:p>
          <a:p>
            <a:pPr lvl="1"/>
            <a:r>
              <a:rPr lang="en-GB" dirty="0">
                <a:solidFill>
                  <a:schemeClr val="tx1"/>
                </a:solidFill>
              </a:rPr>
              <a:t>Could upgrade to a more expensive, faster model </a:t>
            </a:r>
            <a:r>
              <a:rPr lang="en-GB" b="1" dirty="0">
                <a:solidFill>
                  <a:schemeClr val="tx1"/>
                </a:solidFill>
              </a:rPr>
              <a:t>without </a:t>
            </a:r>
            <a:r>
              <a:rPr lang="en-GB" dirty="0">
                <a:solidFill>
                  <a:schemeClr val="tx1"/>
                </a:solidFill>
              </a:rPr>
              <a:t>having to abandon (chối bỏ) original software</a:t>
            </a:r>
          </a:p>
          <a:p>
            <a:pPr lvl="1"/>
            <a:r>
              <a:rPr lang="en-GB" dirty="0">
                <a:solidFill>
                  <a:schemeClr val="tx1"/>
                </a:solidFill>
              </a:rPr>
              <a:t>New models are introduced with improved technology, but retain the same architecture so that the customer’s software investment is protected</a:t>
            </a:r>
          </a:p>
          <a:p>
            <a:pPr lvl="1"/>
            <a:r>
              <a:rPr lang="en-GB" dirty="0">
                <a:solidFill>
                  <a:schemeClr val="tx1"/>
                </a:solidFill>
              </a:rPr>
              <a:t>Architecture has survived to this day as the architecture of IBM’s mainframe </a:t>
            </a:r>
            <a:r>
              <a:rPr lang="en-GB">
                <a:solidFill>
                  <a:schemeClr val="tx1"/>
                </a:solidFill>
              </a:rPr>
              <a:t>product line</a:t>
            </a:r>
          </a:p>
          <a:p>
            <a:r>
              <a:rPr lang="en-GB">
                <a:solidFill>
                  <a:schemeClr val="tx1"/>
                </a:solidFill>
              </a:rPr>
              <a:t>More details: </a:t>
            </a:r>
            <a:r>
              <a:rPr lang="en-US">
                <a:hlinkClick r:id="rId3"/>
              </a:rPr>
              <a:t>https://en.wikipedia.org/wiki/IBM_System/370</a:t>
            </a:r>
            <a:endParaRPr lang="en-GB" dirty="0">
              <a:solidFill>
                <a:schemeClr val="tx1"/>
              </a:solidFill>
            </a:endParaRPr>
          </a:p>
        </p:txBody>
      </p:sp>
      <p:pic>
        <p:nvPicPr>
          <p:cNvPr id="5" name="Picture 4"/>
          <p:cNvPicPr>
            <a:picLocks noChangeAspect="1"/>
          </p:cNvPicPr>
          <p:nvPr/>
        </p:nvPicPr>
        <p:blipFill>
          <a:blip r:embed="rId4"/>
          <a:stretch>
            <a:fillRect/>
          </a:stretch>
        </p:blipFill>
        <p:spPr>
          <a:xfrm>
            <a:off x="6172200" y="5029200"/>
            <a:ext cx="2043775" cy="2057400"/>
          </a:xfrm>
          <a:prstGeom prst="rect">
            <a:avLst/>
          </a:prstGeom>
        </p:spPr>
      </p:pic>
      <p:sp>
        <p:nvSpPr>
          <p:cNvPr id="6" name="Rectangle 5"/>
          <p:cNvSpPr/>
          <p:nvPr/>
        </p:nvSpPr>
        <p:spPr>
          <a:xfrm>
            <a:off x="1071538" y="1681451"/>
            <a:ext cx="6500842" cy="830997"/>
          </a:xfrm>
          <a:prstGeom prst="rect">
            <a:avLst/>
          </a:prstGeom>
        </p:spPr>
        <p:txBody>
          <a:bodyPr wrap="square">
            <a:spAutoFit/>
          </a:bodyPr>
          <a:lstStyle/>
          <a:p>
            <a:endParaRPr lang="en-US"/>
          </a:p>
          <a:p>
            <a:endParaRPr lang="en-US"/>
          </a:p>
        </p:txBody>
      </p:sp>
      <p:sp>
        <p:nvSpPr>
          <p:cNvPr id="7" name="Slide Number Placeholder 6"/>
          <p:cNvSpPr>
            <a:spLocks noGrp="1"/>
          </p:cNvSpPr>
          <p:nvPr>
            <p:ph type="sldNum" sz="quarter" idx="12"/>
          </p:nvPr>
        </p:nvSpPr>
        <p:spPr/>
        <p:txBody>
          <a:bodyPr/>
          <a:lstStyle/>
          <a:p>
            <a:fld id="{8AF02B71-8991-4516-A01E-F1A9ACD28BDC}"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Building Block</a:t>
            </a:r>
          </a:p>
        </p:txBody>
      </p:sp>
      <p:sp>
        <p:nvSpPr>
          <p:cNvPr id="3" name="Content Placeholder 2"/>
          <p:cNvSpPr>
            <a:spLocks noGrp="1"/>
          </p:cNvSpPr>
          <p:nvPr>
            <p:ph idx="1"/>
          </p:nvPr>
        </p:nvSpPr>
        <p:spPr/>
        <p:txBody>
          <a:bodyPr>
            <a:normAutofit/>
          </a:bodyPr>
          <a:lstStyle/>
          <a:p>
            <a:r>
              <a:rPr lang="en-US" sz="2800"/>
              <a:t>Who are interested  in computers with  architectral look?</a:t>
            </a:r>
          </a:p>
          <a:p>
            <a:r>
              <a:rPr lang="en-US" sz="2800"/>
              <a:t>Who are interested  in computers with  organizational look?</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latin typeface="+mn-lt"/>
                <a:ea typeface="+mn-ea"/>
                <a:cs typeface="+mn-cs"/>
              </a:rPr>
              <a:t>1.2- Structure and Function</a:t>
            </a:r>
          </a:p>
        </p:txBody>
      </p:sp>
      <p:sp>
        <p:nvSpPr>
          <p:cNvPr id="25" name="Text Placeholder 24"/>
          <p:cNvSpPr>
            <a:spLocks noGrp="1"/>
          </p:cNvSpPr>
          <p:nvPr>
            <p:ph sz="half" idx="1"/>
          </p:nvPr>
        </p:nvSpPr>
        <p:spPr>
          <a:xfrm>
            <a:off x="500034" y="1357298"/>
            <a:ext cx="3657600" cy="4419600"/>
          </a:xfrm>
        </p:spPr>
        <p:txBody>
          <a:bodyPr>
            <a:normAutofit/>
          </a:bodyPr>
          <a:lstStyle/>
          <a:p>
            <a:r>
              <a:rPr lang="en-US" dirty="0">
                <a:solidFill>
                  <a:schemeClr val="tx1"/>
                </a:solidFill>
              </a:rPr>
              <a:t>Hierarchical system</a:t>
            </a:r>
          </a:p>
          <a:p>
            <a:pPr lvl="1"/>
            <a:r>
              <a:rPr lang="en-US" dirty="0">
                <a:solidFill>
                  <a:schemeClr val="tx1"/>
                </a:solidFill>
              </a:rPr>
              <a:t>Set of interrelated subsystems (modules)</a:t>
            </a:r>
          </a:p>
          <a:p>
            <a:pPr marL="228600" lvl="1">
              <a:spcBef>
                <a:spcPts val="2000"/>
              </a:spcBef>
              <a:buClr>
                <a:schemeClr val="accent1"/>
              </a:buClr>
            </a:pPr>
            <a:r>
              <a:rPr lang="en-US" dirty="0">
                <a:solidFill>
                  <a:schemeClr val="tx1"/>
                </a:solidFill>
              </a:rPr>
              <a:t>Hierarchical nature of complex systems is essential to both their design and their description</a:t>
            </a:r>
          </a:p>
          <a:p>
            <a:pPr marL="228600" lvl="1">
              <a:spcBef>
                <a:spcPts val="2000"/>
              </a:spcBef>
              <a:buClr>
                <a:schemeClr val="accent1"/>
              </a:buClr>
            </a:pPr>
            <a:r>
              <a:rPr lang="en-US" dirty="0">
                <a:solidFill>
                  <a:schemeClr val="tx1"/>
                </a:solidFill>
              </a:rPr>
              <a:t>Designer need only deal with a particular level of the system at a time</a:t>
            </a:r>
          </a:p>
          <a:p>
            <a:pPr lvl="1"/>
            <a:r>
              <a:rPr lang="en-US" dirty="0">
                <a:solidFill>
                  <a:schemeClr val="tx1"/>
                </a:solidFill>
              </a:rPr>
              <a:t>Concerned with structure and function at each level</a:t>
            </a:r>
          </a:p>
        </p:txBody>
      </p:sp>
      <p:sp>
        <p:nvSpPr>
          <p:cNvPr id="7171" name="Rectangle 3"/>
          <p:cNvSpPr>
            <a:spLocks noGrp="1" noChangeArrowheads="1"/>
          </p:cNvSpPr>
          <p:nvPr>
            <p:ph sz="half" idx="2"/>
          </p:nvPr>
        </p:nvSpPr>
        <p:spPr>
          <a:xfrm>
            <a:off x="4643438" y="1428736"/>
            <a:ext cx="3657600" cy="3352800"/>
          </a:xfrm>
        </p:spPr>
        <p:txBody>
          <a:bodyPr>
            <a:normAutofit/>
          </a:bodyPr>
          <a:lstStyle/>
          <a:p>
            <a:r>
              <a:rPr lang="en-GB" b="1" dirty="0">
                <a:solidFill>
                  <a:schemeClr val="tx1"/>
                </a:solidFill>
              </a:rPr>
              <a:t>Structure</a:t>
            </a:r>
          </a:p>
          <a:p>
            <a:pPr lvl="1"/>
            <a:r>
              <a:rPr lang="en-GB" dirty="0">
                <a:solidFill>
                  <a:schemeClr val="tx1"/>
                </a:solidFill>
              </a:rPr>
              <a:t>The way in which components relate to each other</a:t>
            </a:r>
          </a:p>
          <a:p>
            <a:r>
              <a:rPr lang="en-GB" b="1" dirty="0">
                <a:solidFill>
                  <a:schemeClr val="tx1"/>
                </a:solidFill>
              </a:rPr>
              <a:t>Function</a:t>
            </a:r>
          </a:p>
          <a:p>
            <a:pPr lvl="1"/>
            <a:r>
              <a:rPr lang="en-GB" dirty="0">
                <a:solidFill>
                  <a:schemeClr val="tx1"/>
                </a:solidFill>
              </a:rPr>
              <a:t>The operation of individual components as part of the structure</a:t>
            </a:r>
          </a:p>
        </p:txBody>
      </p:sp>
      <p:pic>
        <p:nvPicPr>
          <p:cNvPr id="5" name="Picture 4"/>
          <p:cNvPicPr>
            <a:picLocks noChangeAspect="1"/>
          </p:cNvPicPr>
          <p:nvPr/>
        </p:nvPicPr>
        <p:blipFill>
          <a:blip r:embed="rId3"/>
          <a:stretch>
            <a:fillRect/>
          </a:stretch>
        </p:blipFill>
        <p:spPr>
          <a:xfrm>
            <a:off x="7215206" y="4200759"/>
            <a:ext cx="1857388" cy="1964545"/>
          </a:xfrm>
          <a:prstGeom prst="rect">
            <a:avLst/>
          </a:prstGeom>
          <a:solidFill>
            <a:srgbClr val="6666CC"/>
          </a:solidFill>
          <a:scene3d>
            <a:camera prst="orthographicFront">
              <a:rot lat="0" lon="10799999" rev="0"/>
            </a:camera>
            <a:lightRig rig="threePt" dir="t"/>
          </a:scene3d>
        </p:spPr>
      </p:pic>
      <p:sp>
        <p:nvSpPr>
          <p:cNvPr id="6" name="Rectangle 5"/>
          <p:cNvSpPr/>
          <p:nvPr/>
        </p:nvSpPr>
        <p:spPr>
          <a:xfrm>
            <a:off x="285752" y="5500702"/>
            <a:ext cx="6715140" cy="12144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800" dirty="0"/>
              <a:t> </a:t>
            </a:r>
            <a:r>
              <a:rPr lang="en-US" sz="1800" b="1" dirty="0"/>
              <a:t>Modularity</a:t>
            </a:r>
            <a:r>
              <a:rPr lang="en-US" sz="1800" dirty="0"/>
              <a:t> is the degree to which a system's components may be separated and recombined</a:t>
            </a:r>
          </a:p>
          <a:p>
            <a:r>
              <a:rPr lang="en-US" sz="1800" b="1" dirty="0"/>
              <a:t>Module</a:t>
            </a:r>
            <a:r>
              <a:rPr lang="en-US" sz="1800" dirty="0"/>
              <a:t> is a specific discrete thing/named code/circuit which has it’s own function to use</a:t>
            </a:r>
            <a:endParaRPr lang="en-US" sz="1800" b="1" dirty="0"/>
          </a:p>
        </p:txBody>
      </p:sp>
      <p:sp>
        <p:nvSpPr>
          <p:cNvPr id="7" name="Slide Number Placeholder 6"/>
          <p:cNvSpPr>
            <a:spLocks noGrp="1"/>
          </p:cNvSpPr>
          <p:nvPr>
            <p:ph type="sldNum" sz="quarter" idx="12"/>
          </p:nvPr>
        </p:nvSpPr>
        <p:spPr/>
        <p:txBody>
          <a:bodyPr/>
          <a:lstStyle/>
          <a:p>
            <a:fld id="{8AF02B71-8991-4516-A01E-F1A9ACD28BDC}"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81000" y="762000"/>
            <a:ext cx="3255264" cy="914400"/>
          </a:xfrm>
          <a:noFill/>
        </p:spPr>
        <p:txBody>
          <a:bodyPr/>
          <a:lstStyle/>
          <a:p>
            <a:r>
              <a:rPr lang="en-GB" dirty="0"/>
              <a:t>Functions</a:t>
            </a:r>
          </a:p>
        </p:txBody>
      </p:sp>
      <p:sp>
        <p:nvSpPr>
          <p:cNvPr id="11" name="Text Placeholder 10"/>
          <p:cNvSpPr>
            <a:spLocks noGrp="1"/>
          </p:cNvSpPr>
          <p:nvPr>
            <p:ph type="body" sz="half" idx="2"/>
          </p:nvPr>
        </p:nvSpPr>
        <p:spPr>
          <a:xfrm>
            <a:off x="381093" y="2057400"/>
            <a:ext cx="2762147" cy="4068763"/>
          </a:xfrm>
        </p:spPr>
        <p:txBody>
          <a:bodyPr/>
          <a:lstStyle/>
          <a:p>
            <a:pPr marL="228600" indent="-228600">
              <a:buFont typeface="Wingdings" pitchFamily="2" charset="2"/>
              <a:buChar char="n"/>
            </a:pPr>
            <a:r>
              <a:rPr lang="en-US" sz="1800" dirty="0"/>
              <a:t>A computer can perform four basic functions:</a:t>
            </a:r>
            <a:endParaRPr lang="en-US" sz="900" dirty="0"/>
          </a:p>
          <a:p>
            <a:pPr marL="228600" indent="-228600">
              <a:buFont typeface="Wingdings" pitchFamily="2" charset="2"/>
              <a:buChar char="n"/>
            </a:pPr>
            <a:endParaRPr lang="en-US" sz="600" dirty="0"/>
          </a:p>
          <a:p>
            <a:pPr lvl="1">
              <a:buClr>
                <a:schemeClr val="accent1">
                  <a:lumMod val="20000"/>
                  <a:lumOff val="80000"/>
                </a:schemeClr>
              </a:buClr>
              <a:buFont typeface="Lucida Grande"/>
              <a:buChar char="●"/>
            </a:pPr>
            <a:r>
              <a:rPr lang="en-US" sz="1600" dirty="0">
                <a:solidFill>
                  <a:srgbClr val="FFFFFF"/>
                </a:solidFill>
              </a:rPr>
              <a:t>  Data processing</a:t>
            </a:r>
          </a:p>
          <a:p>
            <a:pPr lvl="1">
              <a:buClr>
                <a:schemeClr val="accent1">
                  <a:lumMod val="20000"/>
                  <a:lumOff val="80000"/>
                </a:schemeClr>
              </a:buClr>
              <a:buFont typeface="Lucida Grande"/>
              <a:buChar char="●"/>
            </a:pPr>
            <a:r>
              <a:rPr lang="en-US" sz="1600" dirty="0">
                <a:solidFill>
                  <a:srgbClr val="FFFFFF"/>
                </a:solidFill>
              </a:rPr>
              <a:t>  Data storage</a:t>
            </a:r>
          </a:p>
          <a:p>
            <a:pPr lvl="1">
              <a:buClr>
                <a:schemeClr val="accent1">
                  <a:lumMod val="20000"/>
                  <a:lumOff val="80000"/>
                </a:schemeClr>
              </a:buClr>
              <a:buFont typeface="Lucida Grande"/>
              <a:buChar char="●"/>
            </a:pPr>
            <a:r>
              <a:rPr lang="en-US" sz="1600" dirty="0">
                <a:solidFill>
                  <a:srgbClr val="FFFFFF"/>
                </a:solidFill>
              </a:rPr>
              <a:t>  Data movement</a:t>
            </a:r>
          </a:p>
          <a:p>
            <a:pPr lvl="1">
              <a:buClr>
                <a:schemeClr val="accent1">
                  <a:lumMod val="20000"/>
                  <a:lumOff val="80000"/>
                </a:schemeClr>
              </a:buClr>
              <a:buFont typeface="Lucida Grande"/>
              <a:buChar char="●"/>
            </a:pPr>
            <a:r>
              <a:rPr lang="en-US" sz="1600" dirty="0">
                <a:solidFill>
                  <a:srgbClr val="FFFFFF"/>
                </a:solidFill>
              </a:rPr>
              <a:t>  Control</a:t>
            </a:r>
          </a:p>
        </p:txBody>
      </p:sp>
      <p:sp>
        <p:nvSpPr>
          <p:cNvPr id="12" name="Minus 11"/>
          <p:cNvSpPr/>
          <p:nvPr/>
        </p:nvSpPr>
        <p:spPr>
          <a:xfrm>
            <a:off x="228600" y="1600200"/>
            <a:ext cx="1985946" cy="185726"/>
          </a:xfrm>
          <a:prstGeom prst="mathMinus">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29" name="Picture 5"/>
          <p:cNvPicPr>
            <a:picLocks noChangeAspect="1" noChangeArrowheads="1"/>
          </p:cNvPicPr>
          <p:nvPr/>
        </p:nvPicPr>
        <p:blipFill>
          <a:blip r:embed="rId3"/>
          <a:srcRect/>
          <a:stretch>
            <a:fillRect/>
          </a:stretch>
        </p:blipFill>
        <p:spPr bwMode="auto">
          <a:xfrm>
            <a:off x="3948082" y="357166"/>
            <a:ext cx="4981636" cy="6163506"/>
          </a:xfrm>
          <a:prstGeom prst="rect">
            <a:avLst/>
          </a:prstGeom>
          <a:noFill/>
          <a:ln w="9525">
            <a:noFill/>
            <a:miter lim="800000"/>
            <a:headEnd/>
            <a:tailEnd/>
          </a:ln>
          <a:effectLst/>
        </p:spPr>
      </p:pic>
      <p:sp>
        <p:nvSpPr>
          <p:cNvPr id="6" name="Rectangle 5"/>
          <p:cNvSpPr/>
          <p:nvPr/>
        </p:nvSpPr>
        <p:spPr>
          <a:xfrm>
            <a:off x="7072330" y="928670"/>
            <a:ext cx="1500198" cy="15001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600" dirty="0">
                <a:solidFill>
                  <a:schemeClr val="tx1"/>
                </a:solidFill>
              </a:rPr>
              <a:t>Apparatus: Things provided as means to some end (peripherals )</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Practical &amp; Discussion</a:t>
            </a:r>
          </a:p>
        </p:txBody>
      </p:sp>
      <p:sp>
        <p:nvSpPr>
          <p:cNvPr id="3" name="Content Placeholder 2"/>
          <p:cNvSpPr>
            <a:spLocks noGrp="1"/>
          </p:cNvSpPr>
          <p:nvPr>
            <p:ph idx="1"/>
          </p:nvPr>
        </p:nvSpPr>
        <p:spPr/>
        <p:txBody>
          <a:bodyPr>
            <a:normAutofit/>
          </a:bodyPr>
          <a:lstStyle/>
          <a:p>
            <a:r>
              <a:rPr lang="en-US" sz="2800" dirty="0"/>
              <a:t>Open the </a:t>
            </a:r>
            <a:r>
              <a:rPr lang="en-US" sz="2800" b="1" dirty="0"/>
              <a:t>Notepad </a:t>
            </a:r>
            <a:r>
              <a:rPr lang="en-US" sz="2800" dirty="0"/>
              <a:t>application</a:t>
            </a:r>
          </a:p>
          <a:p>
            <a:r>
              <a:rPr lang="en-US" sz="2800" dirty="0"/>
              <a:t>Input text to this application</a:t>
            </a:r>
          </a:p>
          <a:p>
            <a:r>
              <a:rPr lang="en-US" sz="2800" dirty="0"/>
              <a:t>Minimize the </a:t>
            </a:r>
            <a:r>
              <a:rPr lang="en-US" sz="2800" b="1" dirty="0"/>
              <a:t>Notepad</a:t>
            </a:r>
            <a:r>
              <a:rPr lang="en-US" sz="2800" dirty="0"/>
              <a:t> window and all opened windows to the task bar</a:t>
            </a:r>
          </a:p>
          <a:p>
            <a:r>
              <a:rPr lang="en-US" sz="2800" dirty="0"/>
              <a:t>Type the keyboard the text: “I hate you”</a:t>
            </a:r>
          </a:p>
          <a:p>
            <a:r>
              <a:rPr lang="en-US" sz="2800" dirty="0"/>
              <a:t>Give your explanation about  things happened</a:t>
            </a:r>
          </a:p>
        </p:txBody>
      </p:sp>
      <p:sp>
        <p:nvSpPr>
          <p:cNvPr id="4" name="Text Placeholder 3"/>
          <p:cNvSpPr>
            <a:spLocks noGrp="1"/>
          </p:cNvSpPr>
          <p:nvPr>
            <p:ph type="body" sz="half" idx="2"/>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0555" y="428604"/>
            <a:ext cx="3255264" cy="2133600"/>
          </a:xfrm>
          <a:noFill/>
        </p:spPr>
        <p:txBody>
          <a:bodyPr>
            <a:normAutofit/>
          </a:bodyPr>
          <a:lstStyle/>
          <a:p>
            <a:r>
              <a:rPr lang="en-GB" dirty="0"/>
              <a:t>Operations</a:t>
            </a:r>
            <a:br>
              <a:rPr lang="en-GB" dirty="0"/>
            </a:br>
            <a:br>
              <a:rPr lang="en-GB"/>
            </a:br>
            <a:r>
              <a:rPr lang="en-GB"/>
              <a:t>	   </a:t>
            </a:r>
            <a:r>
              <a:rPr lang="en-GB" dirty="0"/>
              <a:t>(a)</a:t>
            </a:r>
            <a:br>
              <a:rPr lang="en-GB" dirty="0"/>
            </a:br>
            <a:r>
              <a:rPr lang="en-GB" dirty="0"/>
              <a:t>   Data movement</a:t>
            </a:r>
          </a:p>
        </p:txBody>
      </p:sp>
      <p:pic>
        <p:nvPicPr>
          <p:cNvPr id="6" name="Picture 5"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4706" r="49412" b="50909"/>
              <a:stretch>
                <a:fillRect/>
              </a:stretch>
            </p:blipFill>
          </mc:Choice>
          <mc:Fallback>
            <p:blipFill>
              <a:blip r:embed="rId4"/>
              <a:srcRect l="4706" r="49412" b="50909"/>
              <a:stretch>
                <a:fillRect/>
              </a:stretch>
            </p:blipFill>
          </mc:Fallback>
        </mc:AlternateContent>
        <p:spPr>
          <a:xfrm>
            <a:off x="4248120" y="260168"/>
            <a:ext cx="4610160" cy="6383542"/>
          </a:xfrm>
          <a:prstGeom prst="rect">
            <a:avLst/>
          </a:prstGeom>
        </p:spPr>
      </p:pic>
      <p:cxnSp>
        <p:nvCxnSpPr>
          <p:cNvPr id="8" name="Straight Connector 7"/>
          <p:cNvCxnSpPr/>
          <p:nvPr/>
        </p:nvCxnSpPr>
        <p:spPr>
          <a:xfrm>
            <a:off x="533400" y="1347758"/>
            <a:ext cx="1600200" cy="15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9" name="Picture 8"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rcRect l="21176" t="88182" r="20000" b="3636"/>
              <a:stretch>
                <a:fillRect/>
              </a:stretch>
            </p:blipFill>
          </mc:Choice>
          <mc:Fallback>
            <p:blipFill>
              <a:blip r:embed="rId4"/>
              <a:srcRect l="21176" t="88182" r="20000" b="3636"/>
              <a:stretch>
                <a:fillRect/>
              </a:stretch>
            </p:blipFill>
          </mc:Fallback>
        </mc:AlternateContent>
        <p:spPr>
          <a:xfrm>
            <a:off x="4584130" y="5997264"/>
            <a:ext cx="3988398" cy="717884"/>
          </a:xfrm>
          <a:prstGeom prst="rect">
            <a:avLst/>
          </a:prstGeom>
        </p:spPr>
      </p:pic>
      <p:sp>
        <p:nvSpPr>
          <p:cNvPr id="7" name="Rectangle 6"/>
          <p:cNvSpPr/>
          <p:nvPr/>
        </p:nvSpPr>
        <p:spPr>
          <a:xfrm>
            <a:off x="4286248" y="1071546"/>
            <a:ext cx="1678665" cy="461665"/>
          </a:xfrm>
          <a:prstGeom prst="rect">
            <a:avLst/>
          </a:prstGeom>
        </p:spPr>
        <p:txBody>
          <a:bodyPr wrap="none">
            <a:spAutoFit/>
          </a:bodyPr>
          <a:lstStyle/>
          <a:p>
            <a:r>
              <a:rPr kumimoji="1" lang="en-US" dirty="0"/>
              <a:t>Peripheral 1</a:t>
            </a:r>
            <a:endParaRPr lang="en-US" dirty="0"/>
          </a:p>
        </p:txBody>
      </p:sp>
      <p:sp>
        <p:nvSpPr>
          <p:cNvPr id="10" name="Rectangle 9"/>
          <p:cNvSpPr/>
          <p:nvPr/>
        </p:nvSpPr>
        <p:spPr>
          <a:xfrm>
            <a:off x="7143768" y="1142984"/>
            <a:ext cx="1678665" cy="461665"/>
          </a:xfrm>
          <a:prstGeom prst="rect">
            <a:avLst/>
          </a:prstGeom>
        </p:spPr>
        <p:txBody>
          <a:bodyPr wrap="none">
            <a:spAutoFit/>
          </a:bodyPr>
          <a:lstStyle/>
          <a:p>
            <a:r>
              <a:rPr kumimoji="1" lang="en-US" dirty="0"/>
              <a:t>Peripheral 2</a:t>
            </a:r>
            <a:endParaRPr lang="en-US"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49412" t="2727" r="4706" b="52727"/>
              <a:stretch>
                <a:fillRect/>
              </a:stretch>
            </p:blipFill>
          </mc:Choice>
          <mc:Fallback>
            <p:blipFill>
              <a:blip r:embed="rId4"/>
              <a:srcRect l="49412" t="2727" r="4706" b="52727"/>
              <a:stretch>
                <a:fillRect/>
              </a:stretch>
            </p:blipFill>
          </mc:Fallback>
        </mc:AlternateContent>
        <p:spPr>
          <a:xfrm>
            <a:off x="3581401" y="0"/>
            <a:ext cx="5562599" cy="6989102"/>
          </a:xfrm>
          <a:prstGeom prst="rect">
            <a:avLst/>
          </a:prstGeom>
        </p:spPr>
      </p:pic>
      <p:sp>
        <p:nvSpPr>
          <p:cNvPr id="8" name="Rectangle 2"/>
          <p:cNvSpPr>
            <a:spLocks noGrp="1" noChangeArrowheads="1"/>
          </p:cNvSpPr>
          <p:nvPr>
            <p:ph type="title"/>
          </p:nvPr>
        </p:nvSpPr>
        <p:spPr>
          <a:xfrm>
            <a:off x="380555" y="357166"/>
            <a:ext cx="3255264" cy="2133600"/>
          </a:xfrm>
          <a:noFill/>
        </p:spPr>
        <p:txBody>
          <a:bodyPr>
            <a:normAutofit/>
          </a:bodyPr>
          <a:lstStyle/>
          <a:p>
            <a:r>
              <a:rPr lang="en-GB" dirty="0"/>
              <a:t>Operations</a:t>
            </a:r>
            <a:br>
              <a:rPr lang="en-GB" dirty="0"/>
            </a:br>
            <a:br>
              <a:rPr lang="en-GB"/>
            </a:br>
            <a:r>
              <a:rPr lang="en-GB"/>
              <a:t>	   </a:t>
            </a:r>
            <a:r>
              <a:rPr lang="en-GB" dirty="0"/>
              <a:t>(b) </a:t>
            </a:r>
            <a:br>
              <a:rPr lang="en-GB" dirty="0"/>
            </a:br>
            <a:r>
              <a:rPr lang="en-GB" dirty="0"/>
              <a:t>      Data storage</a:t>
            </a:r>
          </a:p>
        </p:txBody>
      </p:sp>
      <p:cxnSp>
        <p:nvCxnSpPr>
          <p:cNvPr id="10" name="Straight Connector 9"/>
          <p:cNvCxnSpPr/>
          <p:nvPr/>
        </p:nvCxnSpPr>
        <p:spPr>
          <a:xfrm>
            <a:off x="533400" y="1250922"/>
            <a:ext cx="1600200" cy="15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rcRect l="21176" t="88182" r="20000" b="3636"/>
              <a:stretch>
                <a:fillRect/>
              </a:stretch>
            </p:blipFill>
          </mc:Choice>
          <mc:Fallback>
            <p:blipFill>
              <a:blip r:embed="rId4"/>
              <a:srcRect l="21176" t="88182" r="20000" b="3636"/>
              <a:stretch>
                <a:fillRect/>
              </a:stretch>
            </p:blipFill>
          </mc:Fallback>
        </mc:AlternateContent>
        <p:spPr>
          <a:xfrm>
            <a:off x="4495800" y="6296907"/>
            <a:ext cx="3117307" cy="561093"/>
          </a:xfrm>
          <a:prstGeom prst="rect">
            <a:avLst/>
          </a:prstGeom>
        </p:spPr>
      </p:pic>
      <p:sp>
        <p:nvSpPr>
          <p:cNvPr id="7" name="Rectangle 6"/>
          <p:cNvSpPr/>
          <p:nvPr/>
        </p:nvSpPr>
        <p:spPr>
          <a:xfrm>
            <a:off x="4000496" y="383425"/>
            <a:ext cx="1737976" cy="830997"/>
          </a:xfrm>
          <a:prstGeom prst="rect">
            <a:avLst/>
          </a:prstGeom>
        </p:spPr>
        <p:txBody>
          <a:bodyPr wrap="none">
            <a:spAutoFit/>
          </a:bodyPr>
          <a:lstStyle/>
          <a:p>
            <a:r>
              <a:rPr kumimoji="1" lang="en-US" dirty="0"/>
              <a:t>External</a:t>
            </a:r>
          </a:p>
          <a:p>
            <a:r>
              <a:rPr kumimoji="1" lang="en-US" dirty="0"/>
              <a:t>environment</a:t>
            </a:r>
            <a:endParaRPr lang="en-US" dirty="0"/>
          </a:p>
        </p:txBody>
      </p:sp>
      <p:sp>
        <p:nvSpPr>
          <p:cNvPr id="9" name="Rectangle 8"/>
          <p:cNvSpPr/>
          <p:nvPr/>
        </p:nvSpPr>
        <p:spPr>
          <a:xfrm>
            <a:off x="5572132" y="1928802"/>
            <a:ext cx="713657" cy="461665"/>
          </a:xfrm>
          <a:prstGeom prst="rect">
            <a:avLst/>
          </a:prstGeom>
        </p:spPr>
        <p:txBody>
          <a:bodyPr wrap="none">
            <a:spAutoFit/>
          </a:bodyPr>
          <a:lstStyle/>
          <a:p>
            <a:r>
              <a:rPr kumimoji="1" lang="en-US" dirty="0"/>
              <a:t>read</a:t>
            </a:r>
            <a:endParaRPr lang="en-US" dirty="0"/>
          </a:p>
        </p:txBody>
      </p:sp>
      <p:sp>
        <p:nvSpPr>
          <p:cNvPr id="12" name="Rectangle 11"/>
          <p:cNvSpPr/>
          <p:nvPr/>
        </p:nvSpPr>
        <p:spPr>
          <a:xfrm>
            <a:off x="3857620" y="3786190"/>
            <a:ext cx="816249" cy="461665"/>
          </a:xfrm>
          <a:prstGeom prst="rect">
            <a:avLst/>
          </a:prstGeom>
        </p:spPr>
        <p:txBody>
          <a:bodyPr wrap="none">
            <a:spAutoFit/>
          </a:bodyPr>
          <a:lstStyle/>
          <a:p>
            <a:r>
              <a:rPr kumimoji="1" lang="en-US" dirty="0"/>
              <a:t>write</a:t>
            </a:r>
            <a:endParaRPr lang="en-US" dirty="0"/>
          </a:p>
        </p:txBody>
      </p:sp>
      <p:sp>
        <p:nvSpPr>
          <p:cNvPr id="13" name="Rectangle 12"/>
          <p:cNvSpPr/>
          <p:nvPr/>
        </p:nvSpPr>
        <p:spPr>
          <a:xfrm>
            <a:off x="285720" y="4429132"/>
            <a:ext cx="3357586" cy="1857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Building block</a:t>
            </a:r>
            <a:r>
              <a:rPr lang="en-US" dirty="0"/>
              <a:t>:</a:t>
            </a:r>
          </a:p>
          <a:p>
            <a:pPr algn="ctr"/>
            <a:r>
              <a:rPr lang="en-US" dirty="0"/>
              <a:t>Why data from an external device can not move to storage automatically?</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80555" y="571480"/>
            <a:ext cx="3255264" cy="1971684"/>
          </a:xfrm>
          <a:noFill/>
        </p:spPr>
        <p:txBody>
          <a:bodyPr>
            <a:normAutofit fontScale="90000"/>
          </a:bodyPr>
          <a:lstStyle/>
          <a:p>
            <a:br>
              <a:rPr lang="en-GB" sz="2889" dirty="0"/>
            </a:br>
            <a:br>
              <a:rPr lang="en-GB" sz="2889" dirty="0"/>
            </a:br>
            <a:br>
              <a:rPr lang="en-GB" sz="2889" dirty="0"/>
            </a:br>
            <a:br>
              <a:rPr lang="en-GB" sz="2889" dirty="0"/>
            </a:br>
            <a:br>
              <a:rPr lang="en-GB" sz="2889" dirty="0"/>
            </a:br>
            <a:br>
              <a:rPr lang="en-GB" sz="2889" dirty="0"/>
            </a:br>
            <a:br>
              <a:rPr lang="en-GB" sz="2889" dirty="0"/>
            </a:br>
            <a:br>
              <a:rPr lang="en-GB" sz="2889" dirty="0"/>
            </a:br>
            <a:br>
              <a:rPr lang="en-GB" sz="2889" dirty="0"/>
            </a:br>
            <a:br>
              <a:rPr lang="en-GB" sz="2889" dirty="0"/>
            </a:br>
            <a:br>
              <a:rPr lang="en-GB" sz="2889" dirty="0"/>
            </a:br>
            <a:br>
              <a:rPr lang="en-GB" sz="2889" dirty="0"/>
            </a:br>
            <a:r>
              <a:rPr lang="en-GB" sz="2889" dirty="0"/>
              <a:t>Operations</a:t>
            </a:r>
            <a:br>
              <a:rPr lang="en-GB" dirty="0"/>
            </a:br>
            <a:br>
              <a:rPr lang="en-GB" dirty="0"/>
            </a:br>
            <a:r>
              <a:rPr lang="en-GB" sz="2889" dirty="0"/>
              <a:t>               (c)</a:t>
            </a:r>
            <a:br>
              <a:rPr lang="en-GB" sz="2889" dirty="0"/>
            </a:br>
            <a:r>
              <a:rPr lang="en-GB" sz="2889" dirty="0"/>
              <a:t>    Data processing</a:t>
            </a:r>
          </a:p>
        </p:txBody>
      </p:sp>
      <p:pic>
        <p:nvPicPr>
          <p:cNvPr id="6" name="Picture 5"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3529" t="46364" r="50588" b="10909"/>
              <a:stretch>
                <a:fillRect/>
              </a:stretch>
            </p:blipFill>
          </mc:Choice>
          <mc:Fallback>
            <p:blipFill>
              <a:blip r:embed="rId4"/>
              <a:srcRect l="3529" t="46364" r="50588" b="10909"/>
              <a:stretch>
                <a:fillRect/>
              </a:stretch>
            </p:blipFill>
          </mc:Fallback>
        </mc:AlternateContent>
        <p:spPr>
          <a:xfrm>
            <a:off x="3354876" y="-381000"/>
            <a:ext cx="5789124" cy="6976636"/>
          </a:xfrm>
          <a:prstGeom prst="rect">
            <a:avLst/>
          </a:prstGeom>
        </p:spPr>
      </p:pic>
      <p:cxnSp>
        <p:nvCxnSpPr>
          <p:cNvPr id="8" name="Straight Connector 7"/>
          <p:cNvCxnSpPr/>
          <p:nvPr/>
        </p:nvCxnSpPr>
        <p:spPr>
          <a:xfrm>
            <a:off x="533400" y="1355710"/>
            <a:ext cx="1600200" cy="15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0" name="Picture 9"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rcRect l="21176" t="88182" r="20000" b="3636"/>
              <a:stretch>
                <a:fillRect/>
              </a:stretch>
            </p:blipFill>
          </mc:Choice>
          <mc:Fallback>
            <p:blipFill>
              <a:blip r:embed="rId4"/>
              <a:srcRect l="21176" t="88182" r="20000" b="3636"/>
              <a:stretch>
                <a:fillRect/>
              </a:stretch>
            </p:blipFill>
          </mc:Fallback>
        </mc:AlternateContent>
        <p:spPr>
          <a:xfrm>
            <a:off x="4724400" y="6296907"/>
            <a:ext cx="3117307" cy="561093"/>
          </a:xfrm>
          <a:prstGeom prst="rect">
            <a:avLst/>
          </a:prstGeom>
        </p:spPr>
      </p:pic>
      <p:sp>
        <p:nvSpPr>
          <p:cNvPr id="7" name="Rectangle 6"/>
          <p:cNvSpPr/>
          <p:nvPr/>
        </p:nvSpPr>
        <p:spPr>
          <a:xfrm>
            <a:off x="5000628" y="5715016"/>
            <a:ext cx="816249" cy="461665"/>
          </a:xfrm>
          <a:prstGeom prst="rect">
            <a:avLst/>
          </a:prstGeom>
        </p:spPr>
        <p:txBody>
          <a:bodyPr wrap="none">
            <a:spAutoFit/>
          </a:bodyPr>
          <a:lstStyle/>
          <a:p>
            <a:r>
              <a:rPr kumimoji="1" lang="en-US" dirty="0"/>
              <a:t>write</a:t>
            </a:r>
            <a:endParaRPr lang="en-US" dirty="0"/>
          </a:p>
        </p:txBody>
      </p:sp>
      <p:sp>
        <p:nvSpPr>
          <p:cNvPr id="9" name="Rectangle 8"/>
          <p:cNvSpPr/>
          <p:nvPr/>
        </p:nvSpPr>
        <p:spPr>
          <a:xfrm>
            <a:off x="4501285" y="4181781"/>
            <a:ext cx="713657" cy="461665"/>
          </a:xfrm>
          <a:prstGeom prst="rect">
            <a:avLst/>
          </a:prstGeom>
        </p:spPr>
        <p:txBody>
          <a:bodyPr wrap="none">
            <a:spAutoFit/>
          </a:bodyPr>
          <a:lstStyle/>
          <a:p>
            <a:r>
              <a:rPr kumimoji="1" lang="en-US" dirty="0"/>
              <a:t>read</a:t>
            </a:r>
            <a:endParaRPr lang="en-US" dirty="0"/>
          </a:p>
        </p:txBody>
      </p:sp>
      <p:sp>
        <p:nvSpPr>
          <p:cNvPr id="11" name="Rectangle 10"/>
          <p:cNvSpPr/>
          <p:nvPr/>
        </p:nvSpPr>
        <p:spPr>
          <a:xfrm>
            <a:off x="7715272" y="5929330"/>
            <a:ext cx="1242648" cy="461665"/>
          </a:xfrm>
          <a:prstGeom prst="rect">
            <a:avLst/>
          </a:prstGeom>
        </p:spPr>
        <p:txBody>
          <a:bodyPr wrap="none">
            <a:spAutoFit/>
          </a:bodyPr>
          <a:lstStyle/>
          <a:p>
            <a:r>
              <a:rPr kumimoji="1" lang="en-US" dirty="0"/>
              <a:t>compute</a:t>
            </a:r>
            <a:endParaRPr lang="en-US" dirty="0"/>
          </a:p>
        </p:txBody>
      </p:sp>
      <p:sp>
        <p:nvSpPr>
          <p:cNvPr id="12" name="Rectangle 11"/>
          <p:cNvSpPr/>
          <p:nvPr/>
        </p:nvSpPr>
        <p:spPr>
          <a:xfrm>
            <a:off x="285720" y="3857628"/>
            <a:ext cx="3357586" cy="24288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Building block</a:t>
            </a:r>
            <a:r>
              <a:rPr lang="en-US" dirty="0"/>
              <a:t>:</a:t>
            </a:r>
          </a:p>
          <a:p>
            <a:pPr algn="ctr"/>
            <a:r>
              <a:rPr lang="en-US" dirty="0"/>
              <a:t>Open the Calculator to compute some numeric operations. Give your explanation</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80555" y="838200"/>
            <a:ext cx="3255264" cy="3124200"/>
          </a:xfrm>
          <a:noFill/>
        </p:spPr>
        <p:txBody>
          <a:bodyPr>
            <a:normAutofit/>
          </a:bodyPr>
          <a:lstStyle/>
          <a:p>
            <a:r>
              <a:rPr lang="en-GB" dirty="0"/>
              <a:t>Operations</a:t>
            </a:r>
            <a:br>
              <a:rPr lang="en-GB" dirty="0"/>
            </a:br>
            <a:br>
              <a:rPr lang="en-GB" dirty="0"/>
            </a:br>
            <a:br>
              <a:rPr lang="en-GB" dirty="0"/>
            </a:br>
            <a:r>
              <a:rPr lang="en-GB" dirty="0"/>
              <a:t>	    (d)</a:t>
            </a:r>
            <a:br>
              <a:rPr lang="en-GB" dirty="0"/>
            </a:br>
            <a:r>
              <a:rPr lang="en-GB" dirty="0"/>
              <a:t>	Control</a:t>
            </a:r>
          </a:p>
        </p:txBody>
      </p:sp>
      <p:pic>
        <p:nvPicPr>
          <p:cNvPr id="6" name="Picture 5"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2941" t="47273" r="4706" b="10000"/>
              <a:stretch>
                <a:fillRect/>
              </a:stretch>
            </p:blipFill>
          </mc:Choice>
          <mc:Fallback>
            <p:blipFill>
              <a:blip r:embed="rId4"/>
              <a:srcRect l="52941" t="47273" r="4706" b="10000"/>
              <a:stretch>
                <a:fillRect/>
              </a:stretch>
            </p:blipFill>
          </mc:Fallback>
        </mc:AlternateContent>
        <p:spPr>
          <a:xfrm>
            <a:off x="3650974" y="-313569"/>
            <a:ext cx="5493026" cy="7171569"/>
          </a:xfrm>
          <a:prstGeom prst="rect">
            <a:avLst/>
          </a:prstGeom>
        </p:spPr>
      </p:pic>
      <p:cxnSp>
        <p:nvCxnSpPr>
          <p:cNvPr id="8" name="Straight Connector 7"/>
          <p:cNvCxnSpPr/>
          <p:nvPr/>
        </p:nvCxnSpPr>
        <p:spPr>
          <a:xfrm>
            <a:off x="533400" y="2438400"/>
            <a:ext cx="1600200" cy="15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0" name="Picture 9"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rcRect l="21176" t="88182" r="20000" b="3636"/>
              <a:stretch>
                <a:fillRect/>
              </a:stretch>
            </p:blipFill>
          </mc:Choice>
          <mc:Fallback>
            <p:blipFill>
              <a:blip r:embed="rId4"/>
              <a:srcRect l="21176" t="88182" r="20000" b="3636"/>
              <a:stretch>
                <a:fillRect/>
              </a:stretch>
            </p:blipFill>
          </mc:Fallback>
        </mc:AlternateContent>
        <p:spPr>
          <a:xfrm>
            <a:off x="4495800" y="6296907"/>
            <a:ext cx="3117307" cy="561093"/>
          </a:xfrm>
          <a:prstGeom prst="rect">
            <a:avLst/>
          </a:prstGeom>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629400" y="2895600"/>
            <a:ext cx="2514600" cy="1524000"/>
          </a:xfrm>
        </p:spPr>
        <p:txBody>
          <a:bodyPr>
            <a:noAutofit/>
          </a:bodyPr>
          <a:lstStyle/>
          <a:p>
            <a:pPr algn="ctr"/>
            <a:r>
              <a:rPr lang="en-US" dirty="0">
                <a:effectLst>
                  <a:outerShdw blurRad="38100" dist="38100" dir="2700000" algn="tl">
                    <a:srgbClr val="000000">
                      <a:alpha val="43137"/>
                    </a:srgbClr>
                  </a:outerShdw>
                </a:effectLst>
              </a:rPr>
              <a:t>The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Computer</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pic>
        <p:nvPicPr>
          <p:cNvPr id="4" name="Picture 3" descr="f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765" t="21818" b="14545"/>
              <a:stretch>
                <a:fillRect/>
              </a:stretch>
            </p:blipFill>
          </mc:Choice>
          <mc:Fallback>
            <p:blipFill>
              <a:blip r:embed="rId4"/>
              <a:srcRect l="11765" t="21818" b="14545"/>
              <a:stretch>
                <a:fillRect/>
              </a:stretch>
            </p:blipFill>
          </mc:Fallback>
        </mc:AlternateContent>
        <p:spPr>
          <a:xfrm>
            <a:off x="0" y="0"/>
            <a:ext cx="7347921" cy="6857999"/>
          </a:xfrm>
          <a:prstGeom prst="rect">
            <a:avLst/>
          </a:prstGeom>
        </p:spPr>
      </p:pic>
      <p:sp>
        <p:nvSpPr>
          <p:cNvPr id="5" name="Rectangle 4"/>
          <p:cNvSpPr/>
          <p:nvPr/>
        </p:nvSpPr>
        <p:spPr>
          <a:xfrm>
            <a:off x="2571736" y="538443"/>
            <a:ext cx="1208985" cy="461665"/>
          </a:xfrm>
          <a:prstGeom prst="rect">
            <a:avLst/>
          </a:prstGeom>
        </p:spPr>
        <p:txBody>
          <a:bodyPr wrap="none">
            <a:spAutoFit/>
          </a:bodyPr>
          <a:lstStyle/>
          <a:p>
            <a:r>
              <a:rPr kumimoji="1" lang="en-US" dirty="0"/>
              <a:t>linkages</a:t>
            </a:r>
            <a:endParaRPr lang="en-US" dirty="0"/>
          </a:p>
        </p:txBody>
      </p:sp>
      <p:sp>
        <p:nvSpPr>
          <p:cNvPr id="6" name="Slide Number Placeholder 5"/>
          <p:cNvSpPr>
            <a:spLocks noGrp="1"/>
          </p:cNvSpPr>
          <p:nvPr>
            <p:ph type="sldNum" sz="quarter" idx="12"/>
          </p:nvPr>
        </p:nvSpPr>
        <p:spPr/>
        <p:txBody>
          <a:bodyPr/>
          <a:lstStyle/>
          <a:p>
            <a:fld id="{8AF02B71-8991-4516-A01E-F1A9ACD28BDC}" type="slidenum">
              <a:rPr lang="en-US" smtClean="0"/>
              <a:pPr/>
              <a:t>28</a:t>
            </a:fld>
            <a:endParaRPr lang="en-US"/>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1406" y="2714620"/>
            <a:ext cx="7556500" cy="1116012"/>
          </a:xfrm>
        </p:spPr>
        <p:txBody>
          <a:bodyPr/>
          <a:lstStyle/>
          <a:p>
            <a:r>
              <a:rPr lang="en-US" sz="4000" dirty="0">
                <a:effectLst>
                  <a:outerShdw blurRad="38100" dist="38100" dir="2700000" algn="tl">
                    <a:srgbClr val="000000">
                      <a:alpha val="43137"/>
                    </a:srgbClr>
                  </a:outerShdw>
                </a:effectLst>
              </a:rPr>
              <a:t>Structure</a:t>
            </a:r>
          </a:p>
        </p:txBody>
      </p:sp>
      <p:grpSp>
        <p:nvGrpSpPr>
          <p:cNvPr id="16" name="Group 15"/>
          <p:cNvGrpSpPr/>
          <p:nvPr/>
        </p:nvGrpSpPr>
        <p:grpSpPr>
          <a:xfrm>
            <a:off x="785786" y="-27716"/>
            <a:ext cx="8010568" cy="6957178"/>
            <a:chOff x="785786" y="-27716"/>
            <a:chExt cx="8010568" cy="6957178"/>
          </a:xfrm>
        </p:grpSpPr>
        <p:pic>
          <p:nvPicPr>
            <p:cNvPr id="4" name="Picture 3"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059" t="4545" r="3529" b="5455"/>
                <a:stretch>
                  <a:fillRect/>
                </a:stretch>
              </p:blipFill>
            </mc:Choice>
            <mc:Fallback>
              <p:blipFill>
                <a:blip r:embed="rId4"/>
                <a:srcRect l="7059" t="4545" r="3529" b="5455"/>
                <a:stretch>
                  <a:fillRect/>
                </a:stretch>
              </p:blipFill>
            </mc:Fallback>
          </mc:AlternateContent>
          <p:spPr>
            <a:xfrm>
              <a:off x="785786" y="-27716"/>
              <a:ext cx="5340911" cy="6957178"/>
            </a:xfrm>
            <a:prstGeom prst="rect">
              <a:avLst/>
            </a:prstGeom>
          </p:spPr>
        </p:pic>
        <p:pic>
          <p:nvPicPr>
            <p:cNvPr id="1026" name="Picture 2"/>
            <p:cNvPicPr>
              <a:picLocks noChangeAspect="1" noChangeArrowheads="1"/>
            </p:cNvPicPr>
            <p:nvPr/>
          </p:nvPicPr>
          <p:blipFill>
            <a:blip r:embed="rId5"/>
            <a:srcRect/>
            <a:stretch>
              <a:fillRect/>
            </a:stretch>
          </p:blipFill>
          <p:spPr bwMode="auto">
            <a:xfrm>
              <a:off x="6929454" y="1071546"/>
              <a:ext cx="1866900" cy="2209800"/>
            </a:xfrm>
            <a:prstGeom prst="rect">
              <a:avLst/>
            </a:prstGeom>
            <a:noFill/>
            <a:ln w="9525">
              <a:noFill/>
              <a:miter lim="800000"/>
              <a:headEnd/>
              <a:tailEnd/>
            </a:ln>
            <a:effectLst/>
          </p:spPr>
        </p:pic>
        <p:sp>
          <p:nvSpPr>
            <p:cNvPr id="5" name="Rectangle 4"/>
            <p:cNvSpPr/>
            <p:nvPr/>
          </p:nvSpPr>
          <p:spPr>
            <a:xfrm>
              <a:off x="3857620" y="285728"/>
              <a:ext cx="857256" cy="5715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1+2</a:t>
              </a:r>
            </a:p>
          </p:txBody>
        </p:sp>
        <p:sp>
          <p:nvSpPr>
            <p:cNvPr id="6" name="Rectangle 5"/>
            <p:cNvSpPr/>
            <p:nvPr/>
          </p:nvSpPr>
          <p:spPr>
            <a:xfrm>
              <a:off x="7286644" y="1357298"/>
              <a:ext cx="285752" cy="35719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1</a:t>
              </a:r>
            </a:p>
          </p:txBody>
        </p:sp>
        <p:sp>
          <p:nvSpPr>
            <p:cNvPr id="7" name="Rectangle 6"/>
            <p:cNvSpPr/>
            <p:nvPr/>
          </p:nvSpPr>
          <p:spPr>
            <a:xfrm>
              <a:off x="7715272" y="1357298"/>
              <a:ext cx="357190" cy="428628"/>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t>
              </a:r>
            </a:p>
          </p:txBody>
        </p:sp>
        <p:sp>
          <p:nvSpPr>
            <p:cNvPr id="8" name="Rectangle 7"/>
            <p:cNvSpPr/>
            <p:nvPr/>
          </p:nvSpPr>
          <p:spPr>
            <a:xfrm>
              <a:off x="8215338" y="1357298"/>
              <a:ext cx="357190" cy="428628"/>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2</a:t>
              </a:r>
            </a:p>
          </p:txBody>
        </p:sp>
        <p:sp>
          <p:nvSpPr>
            <p:cNvPr id="9" name="Rectangle 8"/>
            <p:cNvSpPr/>
            <p:nvPr/>
          </p:nvSpPr>
          <p:spPr>
            <a:xfrm>
              <a:off x="8072462" y="1928802"/>
              <a:ext cx="357190" cy="428628"/>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3</a:t>
              </a:r>
            </a:p>
          </p:txBody>
        </p:sp>
        <p:cxnSp>
          <p:nvCxnSpPr>
            <p:cNvPr id="11" name="Straight Arrow Connector 10"/>
            <p:cNvCxnSpPr>
              <a:stCxn id="5" idx="1"/>
            </p:cNvCxnSpPr>
            <p:nvPr/>
          </p:nvCxnSpPr>
          <p:spPr>
            <a:xfrm rot="10800000" flipV="1">
              <a:off x="2786050" y="571480"/>
              <a:ext cx="1071570" cy="2143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5" idx="3"/>
            </p:cNvCxnSpPr>
            <p:nvPr/>
          </p:nvCxnSpPr>
          <p:spPr>
            <a:xfrm>
              <a:off x="4714876" y="571480"/>
              <a:ext cx="2357454" cy="8572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6" idx="1"/>
            </p:cNvCxnSpPr>
            <p:nvPr/>
          </p:nvCxnSpPr>
          <p:spPr>
            <a:xfrm rot="10800000" flipV="1">
              <a:off x="4714876" y="1535892"/>
              <a:ext cx="2571768" cy="10358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17" name="Rectangle 16"/>
          <p:cNvSpPr/>
          <p:nvPr/>
        </p:nvSpPr>
        <p:spPr>
          <a:xfrm>
            <a:off x="6786578" y="3429000"/>
            <a:ext cx="2000264" cy="7143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Try to verify</a:t>
            </a:r>
          </a:p>
        </p:txBody>
      </p:sp>
      <p:cxnSp>
        <p:nvCxnSpPr>
          <p:cNvPr id="19" name="Straight Arrow Connector 18"/>
          <p:cNvCxnSpPr>
            <a:stCxn id="9" idx="1"/>
          </p:cNvCxnSpPr>
          <p:nvPr/>
        </p:nvCxnSpPr>
        <p:spPr>
          <a:xfrm rot="10800000">
            <a:off x="2643174" y="928670"/>
            <a:ext cx="5429288" cy="1214446"/>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18" name="Slide Number Placeholder 17"/>
          <p:cNvSpPr>
            <a:spLocks noGrp="1"/>
          </p:cNvSpPr>
          <p:nvPr>
            <p:ph type="sldNum" sz="quarter" idx="12"/>
          </p:nvPr>
        </p:nvSpPr>
        <p:spPr/>
        <p:txBody>
          <a:bodyPr/>
          <a:lstStyle/>
          <a:p>
            <a:fld id="{8AF02B71-8991-4516-A01E-F1A9ACD28BDC}" type="slidenum">
              <a:rPr lang="en-US" smtClean="0"/>
              <a:pPr/>
              <a:t>29</a:t>
            </a:fld>
            <a:endParaRPr 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p:cNvSpPr>
            <a:spLocks noGrp="1"/>
          </p:cNvSpPr>
          <p:nvPr>
            <p:ph idx="1"/>
          </p:nvPr>
        </p:nvSpPr>
        <p:spPr>
          <a:xfrm>
            <a:off x="3962400" y="990600"/>
            <a:ext cx="4876800" cy="6477000"/>
          </a:xfrm>
        </p:spPr>
        <p:txBody>
          <a:bodyPr>
            <a:noAutofit/>
          </a:bodyPr>
          <a:lstStyle/>
          <a:p>
            <a:pPr>
              <a:buClr>
                <a:schemeClr val="accent1">
                  <a:lumMod val="75000"/>
                </a:schemeClr>
              </a:buClr>
              <a:buSzPct val="128000"/>
              <a:buFont typeface="Wingdings" charset="2"/>
              <a:buChar char=""/>
            </a:pPr>
            <a:r>
              <a:rPr lang="en-US" sz="2400" b="1" u="sng" dirty="0">
                <a:solidFill>
                  <a:schemeClr val="tx1"/>
                </a:solidFill>
              </a:rPr>
              <a:t>CPU</a:t>
            </a:r>
            <a:r>
              <a:rPr lang="en-US" sz="2400" dirty="0">
                <a:solidFill>
                  <a:schemeClr val="tx1"/>
                </a:solidFill>
              </a:rPr>
              <a:t> – controls the operation of the computer and performs its data processing functions </a:t>
            </a:r>
          </a:p>
          <a:p>
            <a:pPr>
              <a:buClr>
                <a:schemeClr val="accent1">
                  <a:lumMod val="75000"/>
                </a:schemeClr>
              </a:buClr>
              <a:buSzPct val="128000"/>
              <a:buFont typeface="Wingdings" charset="2"/>
              <a:buChar char=""/>
            </a:pPr>
            <a:r>
              <a:rPr lang="en-US" sz="2400" dirty="0">
                <a:solidFill>
                  <a:schemeClr val="tx1"/>
                </a:solidFill>
              </a:rPr>
              <a:t> </a:t>
            </a:r>
            <a:r>
              <a:rPr lang="en-US" sz="2400" b="1" u="sng" dirty="0">
                <a:solidFill>
                  <a:schemeClr val="tx1"/>
                </a:solidFill>
              </a:rPr>
              <a:t>Main Memory</a:t>
            </a:r>
            <a:r>
              <a:rPr lang="en-US" sz="2400" dirty="0">
                <a:solidFill>
                  <a:schemeClr val="tx1"/>
                </a:solidFill>
              </a:rPr>
              <a:t> – stores data</a:t>
            </a:r>
          </a:p>
          <a:p>
            <a:pPr>
              <a:buClr>
                <a:schemeClr val="accent1">
                  <a:lumMod val="75000"/>
                </a:schemeClr>
              </a:buClr>
              <a:buSzPct val="128000"/>
              <a:buFont typeface="Wingdings" charset="2"/>
              <a:buChar char=""/>
            </a:pPr>
            <a:r>
              <a:rPr lang="en-US" sz="2400" dirty="0">
                <a:solidFill>
                  <a:schemeClr val="tx1"/>
                </a:solidFill>
              </a:rPr>
              <a:t> </a:t>
            </a:r>
            <a:r>
              <a:rPr lang="en-US" sz="2400" b="1" u="sng" dirty="0">
                <a:solidFill>
                  <a:schemeClr val="tx1"/>
                </a:solidFill>
              </a:rPr>
              <a:t>I/O</a:t>
            </a:r>
            <a:r>
              <a:rPr lang="en-US" sz="2400" dirty="0">
                <a:solidFill>
                  <a:schemeClr val="tx1"/>
                </a:solidFill>
              </a:rPr>
              <a:t> – moves data between the computer and its external environment</a:t>
            </a:r>
          </a:p>
          <a:p>
            <a:pPr>
              <a:buClr>
                <a:schemeClr val="accent1">
                  <a:lumMod val="75000"/>
                </a:schemeClr>
              </a:buClr>
              <a:buSzPct val="128000"/>
              <a:buFont typeface="Wingdings" charset="2"/>
              <a:buChar char=""/>
            </a:pPr>
            <a:r>
              <a:rPr lang="en-US" sz="2400" dirty="0">
                <a:solidFill>
                  <a:schemeClr val="tx1"/>
                </a:solidFill>
              </a:rPr>
              <a:t> </a:t>
            </a:r>
            <a:r>
              <a:rPr lang="en-US" sz="2400" b="1" u="sng" dirty="0">
                <a:solidFill>
                  <a:schemeClr val="tx1"/>
                </a:solidFill>
              </a:rPr>
              <a:t>System Interconnection</a:t>
            </a:r>
            <a:r>
              <a:rPr lang="en-US" sz="2400" dirty="0">
                <a:solidFill>
                  <a:schemeClr val="tx1"/>
                </a:solidFill>
              </a:rPr>
              <a:t> – some mechanism that provides for communication among CPU, main memory, and I/O</a:t>
            </a:r>
            <a:endParaRPr lang="en-US" sz="2400" dirty="0"/>
          </a:p>
        </p:txBody>
      </p:sp>
      <p:sp>
        <p:nvSpPr>
          <p:cNvPr id="13" name="TextBox 12"/>
          <p:cNvSpPr txBox="1"/>
          <p:nvPr/>
        </p:nvSpPr>
        <p:spPr>
          <a:xfrm>
            <a:off x="533400" y="1524000"/>
            <a:ext cx="2911224" cy="1815882"/>
          </a:xfrm>
          <a:prstGeom prst="rect">
            <a:avLst/>
          </a:prstGeom>
          <a:noFill/>
        </p:spPr>
        <p:txBody>
          <a:bodyPr wrap="square" rtlCol="0">
            <a:spAutoFit/>
          </a:bodyPr>
          <a:lstStyle/>
          <a:p>
            <a:r>
              <a:rPr lang="en-US" sz="2800" dirty="0">
                <a:solidFill>
                  <a:srgbClr val="FFFFFF"/>
                </a:solidFill>
              </a:rPr>
              <a:t>There are four main structural components</a:t>
            </a:r>
          </a:p>
          <a:p>
            <a:r>
              <a:rPr lang="en-US" sz="2800" dirty="0">
                <a:solidFill>
                  <a:srgbClr val="FFFFFF"/>
                </a:solidFill>
              </a:rPr>
              <a:t>of the computer:</a:t>
            </a:r>
          </a:p>
        </p:txBody>
      </p:sp>
      <p:pic>
        <p:nvPicPr>
          <p:cNvPr id="62" name="Picture 61"/>
          <p:cNvPicPr>
            <a:picLocks noChangeAspect="1"/>
          </p:cNvPicPr>
          <p:nvPr/>
        </p:nvPicPr>
        <p:blipFill>
          <a:blip r:embed="rId3"/>
          <a:stretch>
            <a:fillRect/>
          </a:stretch>
        </p:blipFill>
        <p:spPr>
          <a:xfrm>
            <a:off x="838200" y="3962400"/>
            <a:ext cx="2146980" cy="2130075"/>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3255264" cy="1162050"/>
          </a:xfrm>
        </p:spPr>
        <p:txBody>
          <a:bodyPr/>
          <a:lstStyle/>
          <a:p>
            <a:pPr algn="ctr"/>
            <a:r>
              <a:rPr lang="en-US" dirty="0"/>
              <a:t>CPU</a:t>
            </a:r>
          </a:p>
        </p:txBody>
      </p:sp>
      <p:sp>
        <p:nvSpPr>
          <p:cNvPr id="3" name="Content Placeholder 2"/>
          <p:cNvSpPr>
            <a:spLocks noGrp="1"/>
          </p:cNvSpPr>
          <p:nvPr>
            <p:ph idx="1"/>
          </p:nvPr>
        </p:nvSpPr>
        <p:spPr>
          <a:xfrm>
            <a:off x="4168775" y="838200"/>
            <a:ext cx="4597399" cy="5791200"/>
          </a:xfrm>
        </p:spPr>
        <p:txBody>
          <a:bodyPr/>
          <a:lstStyle/>
          <a:p>
            <a:r>
              <a:rPr lang="en-US" dirty="0">
                <a:solidFill>
                  <a:srgbClr val="000000"/>
                </a:solidFill>
              </a:rPr>
              <a:t>Control Unit</a:t>
            </a:r>
          </a:p>
          <a:p>
            <a:pPr lvl="1"/>
            <a:r>
              <a:rPr lang="en-US" dirty="0">
                <a:solidFill>
                  <a:srgbClr val="000000"/>
                </a:solidFill>
              </a:rPr>
              <a:t>Controls the operation of the CPU and hence the computer</a:t>
            </a:r>
          </a:p>
          <a:p>
            <a:pPr marL="228600" lvl="1">
              <a:spcBef>
                <a:spcPts val="2000"/>
              </a:spcBef>
              <a:buClr>
                <a:schemeClr val="accent1"/>
              </a:buClr>
            </a:pPr>
            <a:r>
              <a:rPr lang="en-US" dirty="0">
                <a:solidFill>
                  <a:srgbClr val="000000"/>
                </a:solidFill>
              </a:rPr>
              <a:t>Arithmetic and Logic Unit (ALU)</a:t>
            </a:r>
          </a:p>
          <a:p>
            <a:pPr lvl="1"/>
            <a:r>
              <a:rPr lang="en-US" dirty="0">
                <a:solidFill>
                  <a:srgbClr val="000000"/>
                </a:solidFill>
              </a:rPr>
              <a:t>Performs the computer’s data processing function</a:t>
            </a:r>
          </a:p>
          <a:p>
            <a:pPr marL="228600" lvl="1">
              <a:spcBef>
                <a:spcPts val="2000"/>
              </a:spcBef>
              <a:buClr>
                <a:schemeClr val="accent1"/>
              </a:buClr>
            </a:pPr>
            <a:r>
              <a:rPr lang="en-US" dirty="0">
                <a:solidFill>
                  <a:srgbClr val="000000"/>
                </a:solidFill>
              </a:rPr>
              <a:t>Registers</a:t>
            </a:r>
          </a:p>
          <a:p>
            <a:pPr lvl="1"/>
            <a:r>
              <a:rPr lang="en-US" dirty="0">
                <a:solidFill>
                  <a:srgbClr val="000000"/>
                </a:solidFill>
              </a:rPr>
              <a:t>Provide storage internal to the CPU</a:t>
            </a:r>
          </a:p>
          <a:p>
            <a:pPr marL="228600" lvl="1">
              <a:spcBef>
                <a:spcPts val="2000"/>
              </a:spcBef>
              <a:buClr>
                <a:schemeClr val="accent1"/>
              </a:buClr>
            </a:pPr>
            <a:r>
              <a:rPr lang="en-US" dirty="0">
                <a:solidFill>
                  <a:srgbClr val="000000"/>
                </a:solidFill>
              </a:rPr>
              <a:t>CPU Interconnection</a:t>
            </a:r>
          </a:p>
          <a:p>
            <a:pPr lvl="1"/>
            <a:r>
              <a:rPr lang="en-US" dirty="0">
                <a:solidFill>
                  <a:srgbClr val="000000"/>
                </a:solidFill>
              </a:rPr>
              <a:t>Some mechanism that provides for communication among the control unit, ALU, and registers</a:t>
            </a:r>
          </a:p>
        </p:txBody>
      </p:sp>
      <p:sp>
        <p:nvSpPr>
          <p:cNvPr id="4" name="Text Placeholder 3"/>
          <p:cNvSpPr>
            <a:spLocks noGrp="1"/>
          </p:cNvSpPr>
          <p:nvPr>
            <p:ph type="body" sz="half" idx="2"/>
          </p:nvPr>
        </p:nvSpPr>
        <p:spPr>
          <a:xfrm>
            <a:off x="381000" y="1676400"/>
            <a:ext cx="3255264" cy="2392363"/>
          </a:xfrm>
        </p:spPr>
        <p:txBody>
          <a:bodyPr>
            <a:normAutofit/>
          </a:bodyPr>
          <a:lstStyle/>
          <a:p>
            <a:pPr algn="ctr">
              <a:spcBef>
                <a:spcPct val="0"/>
              </a:spcBef>
            </a:pPr>
            <a:r>
              <a:rPr lang="en-US" sz="2600" dirty="0">
                <a:latin typeface="+mj-lt"/>
                <a:ea typeface="+mj-ea"/>
                <a:cs typeface="+mj-cs"/>
              </a:rPr>
              <a:t>Major structural components:</a:t>
            </a:r>
          </a:p>
        </p:txBody>
      </p:sp>
      <p:pic>
        <p:nvPicPr>
          <p:cNvPr id="7" name="Picture 6"/>
          <p:cNvPicPr>
            <a:picLocks noChangeAspect="1"/>
          </p:cNvPicPr>
          <p:nvPr/>
        </p:nvPicPr>
        <p:blipFill>
          <a:blip r:embed="rId3"/>
          <a:stretch>
            <a:fillRect/>
          </a:stretch>
        </p:blipFill>
        <p:spPr>
          <a:xfrm rot="20844596">
            <a:off x="1752600" y="4724400"/>
            <a:ext cx="1599971" cy="1599971"/>
          </a:xfrm>
          <a:prstGeom prst="rect">
            <a:avLst/>
          </a:prstGeom>
        </p:spPr>
      </p:pic>
      <p:pic>
        <p:nvPicPr>
          <p:cNvPr id="8" name="Picture 7"/>
          <p:cNvPicPr>
            <a:picLocks noChangeAspect="1"/>
          </p:cNvPicPr>
          <p:nvPr/>
        </p:nvPicPr>
        <p:blipFill>
          <a:blip r:embed="rId4"/>
          <a:stretch>
            <a:fillRect/>
          </a:stretch>
        </p:blipFill>
        <p:spPr>
          <a:xfrm rot="1677974">
            <a:off x="588811" y="2951012"/>
            <a:ext cx="1612900" cy="161290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br>
              <a:rPr lang="en-US" dirty="0"/>
            </a:br>
            <a:r>
              <a:rPr lang="en-US" sz="2800" dirty="0"/>
              <a:t>(Write your answers to your notebook)</a:t>
            </a:r>
            <a:endParaRPr lang="en-US" dirty="0"/>
          </a:p>
        </p:txBody>
      </p:sp>
      <p:sp>
        <p:nvSpPr>
          <p:cNvPr id="3" name="Content Placeholder 2"/>
          <p:cNvSpPr>
            <a:spLocks noGrp="1"/>
          </p:cNvSpPr>
          <p:nvPr>
            <p:ph sz="half" idx="2"/>
          </p:nvPr>
        </p:nvSpPr>
        <p:spPr>
          <a:xfrm>
            <a:off x="497540" y="1857365"/>
            <a:ext cx="8146425" cy="4143404"/>
          </a:xfrm>
        </p:spPr>
        <p:txBody>
          <a:bodyPr>
            <a:noAutofit/>
          </a:bodyPr>
          <a:lstStyle/>
          <a:p>
            <a:r>
              <a:rPr lang="en-US" sz="2400" dirty="0"/>
              <a:t>1.1 What, in general terms, is the distinction between computer organization and computer architecture? </a:t>
            </a:r>
          </a:p>
          <a:p>
            <a:r>
              <a:rPr lang="en-US" sz="2400" dirty="0"/>
              <a:t>1.2 What, in general terms, is the distinction between computer structure and computer function? </a:t>
            </a:r>
          </a:p>
          <a:p>
            <a:r>
              <a:rPr lang="en-US" sz="2400" dirty="0"/>
              <a:t>1.3 What are the four main functions of a computer? </a:t>
            </a:r>
          </a:p>
          <a:p>
            <a:r>
              <a:rPr lang="en-US" sz="2400" dirty="0"/>
              <a:t>1.4 List and briefly define the main structural components of a computer. </a:t>
            </a:r>
          </a:p>
          <a:p>
            <a:r>
              <a:rPr lang="en-US" sz="2400" dirty="0"/>
              <a:t>1.5 List and briefly define the main structural components of a processor.</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p:txBody>
          <a:bodyPr/>
          <a:lstStyle/>
          <a:p>
            <a:r>
              <a:rPr lang="en-US" dirty="0">
                <a:solidFill>
                  <a:schemeClr val="tx1"/>
                </a:solidFill>
              </a:rPr>
              <a:t>Computer Organization</a:t>
            </a:r>
          </a:p>
          <a:p>
            <a:r>
              <a:rPr lang="en-US" dirty="0">
                <a:solidFill>
                  <a:schemeClr val="tx1"/>
                </a:solidFill>
              </a:rPr>
              <a:t>Computer Architecture</a:t>
            </a:r>
          </a:p>
          <a:p>
            <a:r>
              <a:rPr lang="en-US" dirty="0">
                <a:solidFill>
                  <a:schemeClr val="tx1"/>
                </a:solidFill>
              </a:rPr>
              <a:t>Function</a:t>
            </a:r>
          </a:p>
          <a:p>
            <a:pPr lvl="1"/>
            <a:r>
              <a:rPr lang="en-US" dirty="0">
                <a:solidFill>
                  <a:schemeClr val="tx1"/>
                </a:solidFill>
              </a:rPr>
              <a:t>Data processing</a:t>
            </a:r>
          </a:p>
          <a:p>
            <a:pPr lvl="1"/>
            <a:r>
              <a:rPr lang="en-US" dirty="0">
                <a:solidFill>
                  <a:schemeClr val="tx1"/>
                </a:solidFill>
              </a:rPr>
              <a:t>Data storage</a:t>
            </a:r>
          </a:p>
          <a:p>
            <a:pPr lvl="1"/>
            <a:r>
              <a:rPr lang="en-US" dirty="0">
                <a:solidFill>
                  <a:schemeClr val="tx1"/>
                </a:solidFill>
              </a:rPr>
              <a:t>Data movement</a:t>
            </a:r>
          </a:p>
          <a:p>
            <a:pPr lvl="1"/>
            <a:r>
              <a:rPr lang="en-US" dirty="0">
                <a:solidFill>
                  <a:schemeClr val="tx1"/>
                </a:solidFill>
              </a:rPr>
              <a:t>Control</a:t>
            </a:r>
          </a:p>
          <a:p>
            <a:endParaRPr lang="en-US" dirty="0">
              <a:solidFill>
                <a:schemeClr val="tx1"/>
              </a:solidFill>
            </a:endParaRPr>
          </a:p>
        </p:txBody>
      </p:sp>
      <p:sp>
        <p:nvSpPr>
          <p:cNvPr id="32" name="Content Placeholder 31"/>
          <p:cNvSpPr>
            <a:spLocks noGrp="1"/>
          </p:cNvSpPr>
          <p:nvPr>
            <p:ph sz="quarter" idx="4"/>
          </p:nvPr>
        </p:nvSpPr>
        <p:spPr>
          <a:xfrm>
            <a:off x="4495800" y="2362200"/>
            <a:ext cx="3657600" cy="3962400"/>
          </a:xfrm>
        </p:spPr>
        <p:txBody>
          <a:bodyPr>
            <a:normAutofit/>
          </a:bodyPr>
          <a:lstStyle/>
          <a:p>
            <a:r>
              <a:rPr lang="en-US" dirty="0">
                <a:solidFill>
                  <a:schemeClr val="tx1"/>
                </a:solidFill>
              </a:rPr>
              <a:t>Structure</a:t>
            </a:r>
          </a:p>
          <a:p>
            <a:pPr lvl="1"/>
            <a:r>
              <a:rPr lang="en-US" dirty="0">
                <a:solidFill>
                  <a:schemeClr val="tx1"/>
                </a:solidFill>
              </a:rPr>
              <a:t>CPU</a:t>
            </a:r>
          </a:p>
          <a:p>
            <a:pPr lvl="1"/>
            <a:r>
              <a:rPr lang="en-US" dirty="0">
                <a:solidFill>
                  <a:schemeClr val="tx1"/>
                </a:solidFill>
              </a:rPr>
              <a:t>Main memory</a:t>
            </a:r>
          </a:p>
          <a:p>
            <a:pPr lvl="1"/>
            <a:r>
              <a:rPr lang="en-US" dirty="0">
                <a:solidFill>
                  <a:schemeClr val="tx1"/>
                </a:solidFill>
              </a:rPr>
              <a:t>I/O</a:t>
            </a:r>
          </a:p>
          <a:p>
            <a:pPr lvl="1"/>
            <a:r>
              <a:rPr lang="en-US" dirty="0">
                <a:solidFill>
                  <a:schemeClr val="tx1"/>
                </a:solidFill>
              </a:rPr>
              <a:t>System interconnection</a:t>
            </a:r>
          </a:p>
          <a:p>
            <a:pPr marL="228600" lvl="1">
              <a:spcBef>
                <a:spcPts val="2000"/>
              </a:spcBef>
              <a:buClr>
                <a:schemeClr val="accent1"/>
              </a:buClr>
            </a:pPr>
            <a:r>
              <a:rPr lang="en-US" dirty="0">
                <a:solidFill>
                  <a:schemeClr val="tx1"/>
                </a:solidFill>
              </a:rPr>
              <a:t>CPU structural components</a:t>
            </a:r>
          </a:p>
          <a:p>
            <a:pPr lvl="1"/>
            <a:r>
              <a:rPr lang="en-US" sz="1765" dirty="0">
                <a:solidFill>
                  <a:schemeClr val="tx1"/>
                </a:solidFill>
              </a:rPr>
              <a:t>Control unit</a:t>
            </a:r>
          </a:p>
          <a:p>
            <a:pPr lvl="1"/>
            <a:r>
              <a:rPr lang="en-US" sz="1765" dirty="0">
                <a:solidFill>
                  <a:schemeClr val="tx1"/>
                </a:solidFill>
              </a:rPr>
              <a:t>ALU</a:t>
            </a:r>
          </a:p>
          <a:p>
            <a:pPr lvl="1"/>
            <a:r>
              <a:rPr lang="en-US" sz="1765" dirty="0">
                <a:solidFill>
                  <a:schemeClr val="tx1"/>
                </a:solidFill>
              </a:rPr>
              <a:t>Registers</a:t>
            </a:r>
          </a:p>
          <a:p>
            <a:pPr lvl="1"/>
            <a:r>
              <a:rPr lang="en-US" sz="1765" dirty="0">
                <a:solidFill>
                  <a:schemeClr val="tx1"/>
                </a:solidFill>
              </a:rPr>
              <a:t>CPU interconnection</a:t>
            </a: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a:p>
          <a:p>
            <a:endParaRPr lang="en-US" sz="800" dirty="0"/>
          </a:p>
          <a:p>
            <a:r>
              <a:rPr lang="en-US" sz="3200" dirty="0"/>
              <a:t>Chapter 1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a:solidFill>
                  <a:schemeClr val="accent1">
                    <a:lumMod val="50000"/>
                  </a:schemeClr>
                </a:solidFill>
              </a:rPr>
              <a:t>Introduction  </a:t>
            </a:r>
            <a:endParaRPr lang="en-US" dirty="0">
              <a:solidFill>
                <a:srgbClr val="6666CC"/>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33</a:t>
            </a:fld>
            <a:endParaRPr lang="en-US"/>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Internet Resources</a:t>
            </a:r>
            <a:br>
              <a:rPr lang="en-US" dirty="0"/>
            </a:br>
            <a:r>
              <a:rPr lang="en-US" dirty="0"/>
              <a:t>- Web site for book</a:t>
            </a:r>
          </a:p>
        </p:txBody>
      </p:sp>
      <p:sp>
        <p:nvSpPr>
          <p:cNvPr id="46083" name="Rectangle 3"/>
          <p:cNvSpPr>
            <a:spLocks noGrp="1" noChangeArrowheads="1"/>
          </p:cNvSpPr>
          <p:nvPr>
            <p:ph idx="1"/>
          </p:nvPr>
        </p:nvSpPr>
        <p:spPr/>
        <p:txBody>
          <a:bodyPr/>
          <a:lstStyle/>
          <a:p>
            <a:r>
              <a:rPr lang="en-US" sz="2400" dirty="0">
                <a:hlinkClick r:id="rId3"/>
              </a:rPr>
              <a:t>http://WilliamStallings.com/COA/COA9e.html</a:t>
            </a:r>
            <a:endParaRPr lang="en-US" sz="2400" dirty="0"/>
          </a:p>
          <a:p>
            <a:pPr lvl="1"/>
            <a:r>
              <a:rPr lang="en-US" sz="2000" dirty="0">
                <a:solidFill>
                  <a:schemeClr val="tx1"/>
                </a:solidFill>
              </a:rPr>
              <a:t>Links to sites of interest</a:t>
            </a:r>
          </a:p>
          <a:p>
            <a:pPr lvl="1"/>
            <a:r>
              <a:rPr lang="en-US" sz="2000" dirty="0">
                <a:solidFill>
                  <a:schemeClr val="tx1"/>
                </a:solidFill>
              </a:rPr>
              <a:t>Links to sites for courses that use the book</a:t>
            </a:r>
          </a:p>
          <a:p>
            <a:pPr lvl="1"/>
            <a:r>
              <a:rPr lang="en-US" sz="2000" dirty="0">
                <a:solidFill>
                  <a:schemeClr val="tx1"/>
                </a:solidFill>
              </a:rPr>
              <a:t>Errata list for book</a:t>
            </a:r>
          </a:p>
          <a:p>
            <a:pPr lvl="1"/>
            <a:r>
              <a:rPr lang="en-US" sz="2000" dirty="0">
                <a:solidFill>
                  <a:schemeClr val="tx1"/>
                </a:solidFill>
              </a:rPr>
              <a:t>Information on other books by W. Stallings</a:t>
            </a:r>
          </a:p>
          <a:p>
            <a:r>
              <a:rPr lang="en-US" sz="2400" dirty="0">
                <a:hlinkClick r:id="rId4"/>
              </a:rPr>
              <a:t>http://WilliamStallings.com/StudentSupport.html</a:t>
            </a:r>
            <a:endParaRPr lang="en-US" sz="2400" dirty="0"/>
          </a:p>
          <a:p>
            <a:pPr lvl="1"/>
            <a:r>
              <a:rPr lang="en-US" sz="2000" dirty="0">
                <a:solidFill>
                  <a:schemeClr val="tx1"/>
                </a:solidFill>
              </a:rPr>
              <a:t>Math</a:t>
            </a:r>
          </a:p>
          <a:p>
            <a:pPr lvl="1"/>
            <a:r>
              <a:rPr lang="en-US" sz="2000" dirty="0">
                <a:solidFill>
                  <a:schemeClr val="tx1"/>
                </a:solidFill>
              </a:rPr>
              <a:t>How-to</a:t>
            </a:r>
          </a:p>
          <a:p>
            <a:pPr lvl="1"/>
            <a:r>
              <a:rPr lang="en-US" sz="2000" dirty="0">
                <a:solidFill>
                  <a:schemeClr val="tx1"/>
                </a:solidFill>
              </a:rPr>
              <a:t>Research resources</a:t>
            </a:r>
          </a:p>
          <a:p>
            <a:pPr lvl="1"/>
            <a:r>
              <a:rPr lang="en-US" sz="2000" dirty="0">
                <a:solidFill>
                  <a:schemeClr val="tx1"/>
                </a:solidFill>
              </a:rPr>
              <a:t>Misc</a:t>
            </a:r>
          </a:p>
          <a:p>
            <a:pPr lvl="1"/>
            <a:endParaRPr lang="en-US" sz="2000"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a:t>01.	__________ refers to those attributes of a system visible to a programmer.</a:t>
            </a:r>
            <a:endParaRPr lang="en-US"/>
          </a:p>
          <a:p>
            <a:r>
              <a:rPr lang="en-US" b="1"/>
              <a:t> 02.  _________ refers to the operational units and their interconnections that realize the architectural specifications.</a:t>
            </a:r>
            <a:endParaRPr lang="en-US"/>
          </a:p>
          <a:p>
            <a:r>
              <a:rPr lang="en-US" b="1"/>
              <a:t> 03.  Control signals, interfaces between the computer and peripherals, and the memory technology used are all examples of _________ attributes.</a:t>
            </a:r>
            <a:endParaRPr lang="en-US"/>
          </a:p>
          <a:p>
            <a:r>
              <a:rPr lang="en-US"/>
              <a:t> </a:t>
            </a:r>
            <a:r>
              <a:rPr lang="en-US" b="1"/>
              <a:t>04.  The instruction set, the number of bits used to represent various data types, I/O mechanisms and techniques for addressing memory are all examples of _________ attributes.</a:t>
            </a:r>
            <a:endParaRPr lang="en-US"/>
          </a:p>
          <a:p>
            <a:r>
              <a:rPr lang="en-US"/>
              <a:t> </a:t>
            </a:r>
            <a:r>
              <a:rPr lang="en-US" b="1"/>
              <a:t>05. The __________ architecture is the architecture of IBM’s mainframe product line</a:t>
            </a:r>
            <a:r>
              <a:rPr lang="en-US"/>
              <a:t>.</a:t>
            </a:r>
          </a:p>
          <a:p>
            <a:r>
              <a:rPr lang="en-US" b="1"/>
              <a:t> 06. _________ is the way in which the components are interrelated.</a:t>
            </a:r>
            <a:endParaRPr lang="en-US"/>
          </a:p>
          <a:p>
            <a:endParaRPr lang="en-US"/>
          </a:p>
        </p:txBody>
      </p:sp>
      <p:sp>
        <p:nvSpPr>
          <p:cNvPr id="4" name="Slide Number Placeholder 3"/>
          <p:cNvSpPr>
            <a:spLocks noGrp="1"/>
          </p:cNvSpPr>
          <p:nvPr>
            <p:ph type="sldNum" sz="quarter" idx="12"/>
          </p:nvPr>
        </p:nvSpPr>
        <p:spPr/>
        <p:txBody>
          <a:bodyPr/>
          <a:lstStyle/>
          <a:p>
            <a:fld id="{8AF02B71-8991-4516-A01E-F1A9ACD28BDC}" type="slidenum">
              <a:rPr lang="en-US" smtClean="0"/>
              <a:pPr/>
              <a:t>35</a:t>
            </a:fld>
            <a:endParaRPr lang="en-US"/>
          </a:p>
        </p:txBody>
      </p:sp>
    </p:spTree>
    <p:extLst>
      <p:ext uri="{BB962C8B-B14F-4D97-AF65-F5344CB8AC3E}">
        <p14:creationId xmlns:p14="http://schemas.microsoft.com/office/powerpoint/2010/main" val="405422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332656"/>
            <a:ext cx="8064896" cy="5760640"/>
          </a:xfrm>
        </p:spPr>
        <p:txBody>
          <a:bodyPr>
            <a:normAutofit fontScale="85000" lnSpcReduction="20000"/>
          </a:bodyPr>
          <a:lstStyle/>
          <a:p>
            <a:r>
              <a:rPr lang="en-US" b="1"/>
              <a:t>07. _________ is the operation of each individual component as part of the structure.  </a:t>
            </a:r>
          </a:p>
          <a:p>
            <a:r>
              <a:rPr lang="en-US" b="1"/>
              <a:t>08. The basic functions that a computer can perform are:  data processing, data movement, control, and _________.</a:t>
            </a:r>
            <a:endParaRPr lang="en-US"/>
          </a:p>
          <a:p>
            <a:r>
              <a:rPr lang="en-US" b="1"/>
              <a:t> 09. When data are received from or delivered to a device that is directly connected to the computer, the process is known as __________.</a:t>
            </a:r>
            <a:endParaRPr lang="en-US"/>
          </a:p>
          <a:p>
            <a:r>
              <a:rPr lang="en-US" b="1"/>
              <a:t> 10.  The four main structural components of the computer are:  main memory, I/O, system interconnection, and __________.</a:t>
            </a:r>
            <a:endParaRPr lang="en-US"/>
          </a:p>
          <a:p>
            <a:r>
              <a:rPr lang="en-US" b="1"/>
              <a:t>11.  Often referred to as processor the ________ controls the operation of the computer and performs its data processing functions.</a:t>
            </a:r>
            <a:endParaRPr lang="en-US"/>
          </a:p>
          <a:p>
            <a:r>
              <a:rPr lang="en-US" b="1"/>
              <a:t>12.  A common example of system interconnection is by means of a ________, consisting of a number of conducting wires to which all the other components attach</a:t>
            </a:r>
            <a:endParaRPr lang="en-US"/>
          </a:p>
          <a:p>
            <a:r>
              <a:rPr lang="en-US" b="1"/>
              <a:t>13.  The major structural components of the CPU are:  control unit, register, CPU interconnection, and __________.</a:t>
            </a:r>
            <a:endParaRPr lang="en-US"/>
          </a:p>
          <a:p>
            <a:r>
              <a:rPr lang="en-US" b="1"/>
              <a:t>14.  The _________ controls the operation of the CPU and hence the computer.</a:t>
            </a:r>
            <a:endParaRPr lang="en-US"/>
          </a:p>
          <a:p>
            <a:endParaRPr lang="en-US"/>
          </a:p>
        </p:txBody>
      </p:sp>
      <p:sp>
        <p:nvSpPr>
          <p:cNvPr id="4" name="Slide Number Placeholder 3"/>
          <p:cNvSpPr>
            <a:spLocks noGrp="1"/>
          </p:cNvSpPr>
          <p:nvPr>
            <p:ph type="sldNum" sz="quarter" idx="12"/>
          </p:nvPr>
        </p:nvSpPr>
        <p:spPr/>
        <p:txBody>
          <a:bodyPr/>
          <a:lstStyle/>
          <a:p>
            <a:fld id="{8AF02B71-8991-4516-A01E-F1A9ACD28BDC}" type="slidenum">
              <a:rPr lang="en-US" smtClean="0"/>
              <a:pPr/>
              <a:t>36</a:t>
            </a:fld>
            <a:endParaRPr lang="en-US"/>
          </a:p>
        </p:txBody>
      </p:sp>
    </p:spTree>
    <p:extLst>
      <p:ext uri="{BB962C8B-B14F-4D97-AF65-F5344CB8AC3E}">
        <p14:creationId xmlns:p14="http://schemas.microsoft.com/office/powerpoint/2010/main" val="1869086001"/>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11487</TotalTime>
  <Words>3869</Words>
  <Application>Microsoft Office PowerPoint</Application>
  <PresentationFormat>On-screen Show (4:3)</PresentationFormat>
  <Paragraphs>470</Paragraphs>
  <Slides>36</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Lucida Grande</vt:lpstr>
      <vt:lpstr>Rockwell</vt:lpstr>
      <vt:lpstr>Times New Roman</vt:lpstr>
      <vt:lpstr>Wingdings</vt:lpstr>
      <vt:lpstr>Advantage</vt:lpstr>
      <vt:lpstr>Introduction to  Computer Organization and Architecture (COA)</vt:lpstr>
      <vt:lpstr>Explore Hardware  Do it Yourself</vt:lpstr>
      <vt:lpstr>Explore Hardware  Do it Yourself</vt:lpstr>
      <vt:lpstr>Why should COA be studied? Course Objectives </vt:lpstr>
      <vt:lpstr>Course Resource</vt:lpstr>
      <vt:lpstr>Course Description</vt:lpstr>
      <vt:lpstr>Course Description</vt:lpstr>
      <vt:lpstr>Course Description</vt:lpstr>
      <vt:lpstr>Course plan</vt:lpstr>
      <vt:lpstr>Course Rules</vt:lpstr>
      <vt:lpstr>Evaluation Strategy</vt:lpstr>
      <vt:lpstr>How to study?</vt:lpstr>
      <vt:lpstr>Academic Policy</vt:lpstr>
      <vt:lpstr>Enjoy the Course</vt:lpstr>
      <vt:lpstr>William Stallings, Computer Organization  and  Architecture. 9th Edition</vt:lpstr>
      <vt:lpstr>Objectives</vt:lpstr>
      <vt:lpstr>Contents</vt:lpstr>
      <vt:lpstr>1.1- Computer Organization and Architecture</vt:lpstr>
      <vt:lpstr>Read by yourself:  IBM System/370 Architecture</vt:lpstr>
      <vt:lpstr>Building Block</vt:lpstr>
      <vt:lpstr>1.2- Structure and Function</vt:lpstr>
      <vt:lpstr>Functions</vt:lpstr>
      <vt:lpstr>Practical &amp; Discussion</vt:lpstr>
      <vt:lpstr>Operations      (a)    Data movement</vt:lpstr>
      <vt:lpstr>Operations      (b)        Data storage</vt:lpstr>
      <vt:lpstr>            Operations                 (c)     Data processing</vt:lpstr>
      <vt:lpstr>Operations        (d)  Control</vt:lpstr>
      <vt:lpstr>The  Computer </vt:lpstr>
      <vt:lpstr>Structure</vt:lpstr>
      <vt:lpstr>PowerPoint Presentation</vt:lpstr>
      <vt:lpstr>CPU</vt:lpstr>
      <vt:lpstr>Exercises (Write your answers to your notebook)</vt:lpstr>
      <vt:lpstr>Summary</vt:lpstr>
      <vt:lpstr>Internet Resources - Web site for book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Intrduction</dc:title>
  <dc:creator>Adrian J Pullin</dc:creator>
  <cp:lastModifiedBy>Tong Phuoc Quan (FE FPTU HCM)</cp:lastModifiedBy>
  <cp:revision>163</cp:revision>
  <dcterms:created xsi:type="dcterms:W3CDTF">2012-06-10T02:41:24Z</dcterms:created>
  <dcterms:modified xsi:type="dcterms:W3CDTF">2022-05-16T14:57:19Z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H:\Data\Networks\Notes\HTML</vt:lpwstr>
  </property>
</Properties>
</file>