
<file path=[Content_Types].xml><?xml version="1.0" encoding="utf-8"?>
<Types xmlns="http://schemas.openxmlformats.org/package/2006/content-types">
  <Default Extension="docx" ContentType="application/vnd.openxmlformats-officedocument.wordprocessingml.document"/>
  <Default Extension="jpeg" ContentType="image/jpeg"/>
  <Default Extension="pdf" ContentType="application/pdf"/>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77" r:id="rId1"/>
  </p:sldMasterIdLst>
  <p:notesMasterIdLst>
    <p:notesMasterId r:id="rId68"/>
  </p:notesMasterIdLst>
  <p:handoutMasterIdLst>
    <p:handoutMasterId r:id="rId69"/>
  </p:handoutMasterIdLst>
  <p:sldIdLst>
    <p:sldId id="354" r:id="rId2"/>
    <p:sldId id="355" r:id="rId3"/>
    <p:sldId id="370" r:id="rId4"/>
    <p:sldId id="356" r:id="rId5"/>
    <p:sldId id="371" r:id="rId6"/>
    <p:sldId id="372" r:id="rId7"/>
    <p:sldId id="373" r:id="rId8"/>
    <p:sldId id="374" r:id="rId9"/>
    <p:sldId id="376" r:id="rId10"/>
    <p:sldId id="375" r:id="rId11"/>
    <p:sldId id="358" r:id="rId12"/>
    <p:sldId id="357" r:id="rId13"/>
    <p:sldId id="359" r:id="rId14"/>
    <p:sldId id="280" r:id="rId15"/>
    <p:sldId id="270" r:id="rId16"/>
    <p:sldId id="281" r:id="rId17"/>
    <p:sldId id="273" r:id="rId18"/>
    <p:sldId id="274" r:id="rId19"/>
    <p:sldId id="335" r:id="rId20"/>
    <p:sldId id="377" r:id="rId21"/>
    <p:sldId id="282" r:id="rId22"/>
    <p:sldId id="283" r:id="rId23"/>
    <p:sldId id="336" r:id="rId24"/>
    <p:sldId id="285" r:id="rId25"/>
    <p:sldId id="337" r:id="rId26"/>
    <p:sldId id="338" r:id="rId27"/>
    <p:sldId id="339" r:id="rId28"/>
    <p:sldId id="286" r:id="rId29"/>
    <p:sldId id="340" r:id="rId30"/>
    <p:sldId id="341" r:id="rId31"/>
    <p:sldId id="342" r:id="rId32"/>
    <p:sldId id="288" r:id="rId33"/>
    <p:sldId id="343" r:id="rId34"/>
    <p:sldId id="344" r:id="rId35"/>
    <p:sldId id="276" r:id="rId36"/>
    <p:sldId id="345" r:id="rId37"/>
    <p:sldId id="277" r:id="rId38"/>
    <p:sldId id="278" r:id="rId39"/>
    <p:sldId id="346" r:id="rId40"/>
    <p:sldId id="347" r:id="rId41"/>
    <p:sldId id="361" r:id="rId42"/>
    <p:sldId id="360" r:id="rId43"/>
    <p:sldId id="291" r:id="rId44"/>
    <p:sldId id="292" r:id="rId45"/>
    <p:sldId id="302" r:id="rId46"/>
    <p:sldId id="303" r:id="rId47"/>
    <p:sldId id="305" r:id="rId48"/>
    <p:sldId id="362" r:id="rId49"/>
    <p:sldId id="306" r:id="rId50"/>
    <p:sldId id="307" r:id="rId51"/>
    <p:sldId id="364" r:id="rId52"/>
    <p:sldId id="315" r:id="rId53"/>
    <p:sldId id="366" r:id="rId54"/>
    <p:sldId id="365" r:id="rId55"/>
    <p:sldId id="367" r:id="rId56"/>
    <p:sldId id="351" r:id="rId57"/>
    <p:sldId id="368" r:id="rId58"/>
    <p:sldId id="322" r:id="rId59"/>
    <p:sldId id="328" r:id="rId60"/>
    <p:sldId id="352" r:id="rId61"/>
    <p:sldId id="323" r:id="rId62"/>
    <p:sldId id="326" r:id="rId63"/>
    <p:sldId id="353" r:id="rId64"/>
    <p:sldId id="369" r:id="rId65"/>
    <p:sldId id="331" r:id="rId66"/>
    <p:sldId id="378" r:id="rId67"/>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itchFamily="-110"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10"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10"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10"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10" charset="0"/>
        <a:ea typeface="+mn-ea"/>
        <a:cs typeface="+mn-cs"/>
      </a:defRPr>
    </a:lvl5pPr>
    <a:lvl6pPr marL="2286000" algn="l" defTabSz="457200" rtl="0" eaLnBrk="1" latinLnBrk="0" hangingPunct="1">
      <a:defRPr sz="2400" kern="1200">
        <a:solidFill>
          <a:schemeClr val="tx1"/>
        </a:solidFill>
        <a:latin typeface="Times New Roman" pitchFamily="-110" charset="0"/>
        <a:ea typeface="+mn-ea"/>
        <a:cs typeface="+mn-cs"/>
      </a:defRPr>
    </a:lvl6pPr>
    <a:lvl7pPr marL="2743200" algn="l" defTabSz="457200" rtl="0" eaLnBrk="1" latinLnBrk="0" hangingPunct="1">
      <a:defRPr sz="2400" kern="1200">
        <a:solidFill>
          <a:schemeClr val="tx1"/>
        </a:solidFill>
        <a:latin typeface="Times New Roman" pitchFamily="-110" charset="0"/>
        <a:ea typeface="+mn-ea"/>
        <a:cs typeface="+mn-cs"/>
      </a:defRPr>
    </a:lvl7pPr>
    <a:lvl8pPr marL="3200400" algn="l" defTabSz="457200" rtl="0" eaLnBrk="1" latinLnBrk="0" hangingPunct="1">
      <a:defRPr sz="2400" kern="1200">
        <a:solidFill>
          <a:schemeClr val="tx1"/>
        </a:solidFill>
        <a:latin typeface="Times New Roman" pitchFamily="-110" charset="0"/>
        <a:ea typeface="+mn-ea"/>
        <a:cs typeface="+mn-cs"/>
      </a:defRPr>
    </a:lvl8pPr>
    <a:lvl9pPr marL="3657600" algn="l" defTabSz="457200" rtl="0" eaLnBrk="1" latinLnBrk="0" hangingPunct="1">
      <a:defRPr sz="2400" kern="1200">
        <a:solidFill>
          <a:schemeClr val="tx1"/>
        </a:solidFill>
        <a:latin typeface="Times New Roman" pitchFamily="-110"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6666FF"/>
    <a:srgbClr val="FF3300"/>
    <a:srgbClr val="8000FF"/>
    <a:srgbClr val="0000FF"/>
    <a:srgbClr val="CC66FF"/>
    <a:srgbClr val="8080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7029" autoAdjust="0"/>
    <p:restoredTop sz="95529" autoAdjust="0"/>
  </p:normalViewPr>
  <p:slideViewPr>
    <p:cSldViewPr>
      <p:cViewPr>
        <p:scale>
          <a:sx n="100" d="100"/>
          <a:sy n="100" d="100"/>
        </p:scale>
        <p:origin x="91" y="-86"/>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 r:id="rId22" collapse="1"/>
      <p:sld r:id="rId23" collapse="1"/>
      <p:sld r:id="rId24" collapse="1"/>
      <p:sld r:id="rId25" collapse="1"/>
      <p:sld r:id="rId26" collapse="1"/>
      <p:sld r:id="rId27" collapse="1"/>
      <p:sld r:id="rId28" collapse="1"/>
      <p:sld r:id="rId29" collapse="1"/>
    </p:sldLst>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_rels/viewProps.xml.rels><?xml version="1.0" encoding="UTF-8" standalone="yes"?>
<Relationships xmlns="http://schemas.openxmlformats.org/package/2006/relationships"><Relationship Id="rId8" Type="http://schemas.openxmlformats.org/officeDocument/2006/relationships/slide" Target="slides/slide21.xml"/><Relationship Id="rId13" Type="http://schemas.openxmlformats.org/officeDocument/2006/relationships/slide" Target="slides/slide28.xml"/><Relationship Id="rId18" Type="http://schemas.openxmlformats.org/officeDocument/2006/relationships/slide" Target="slides/slide45.xml"/><Relationship Id="rId26" Type="http://schemas.openxmlformats.org/officeDocument/2006/relationships/slide" Target="slides/slide54.xml"/><Relationship Id="rId3" Type="http://schemas.openxmlformats.org/officeDocument/2006/relationships/slide" Target="slides/slide12.xml"/><Relationship Id="rId21" Type="http://schemas.openxmlformats.org/officeDocument/2006/relationships/slide" Target="slides/slide49.xml"/><Relationship Id="rId7" Type="http://schemas.openxmlformats.org/officeDocument/2006/relationships/slide" Target="slides/slide17.xml"/><Relationship Id="rId12" Type="http://schemas.openxmlformats.org/officeDocument/2006/relationships/slide" Target="slides/slide27.xml"/><Relationship Id="rId17" Type="http://schemas.openxmlformats.org/officeDocument/2006/relationships/slide" Target="slides/slide43.xml"/><Relationship Id="rId25" Type="http://schemas.openxmlformats.org/officeDocument/2006/relationships/slide" Target="slides/slide53.xml"/><Relationship Id="rId2" Type="http://schemas.openxmlformats.org/officeDocument/2006/relationships/slide" Target="slides/slide11.xml"/><Relationship Id="rId16" Type="http://schemas.openxmlformats.org/officeDocument/2006/relationships/slide" Target="slides/slide38.xml"/><Relationship Id="rId20" Type="http://schemas.openxmlformats.org/officeDocument/2006/relationships/slide" Target="slides/slide48.xml"/><Relationship Id="rId29" Type="http://schemas.openxmlformats.org/officeDocument/2006/relationships/slide" Target="slides/slide65.xml"/><Relationship Id="rId1" Type="http://schemas.openxmlformats.org/officeDocument/2006/relationships/slide" Target="slides/slide1.xml"/><Relationship Id="rId6" Type="http://schemas.openxmlformats.org/officeDocument/2006/relationships/slide" Target="slides/slide15.xml"/><Relationship Id="rId11" Type="http://schemas.openxmlformats.org/officeDocument/2006/relationships/slide" Target="slides/slide24.xml"/><Relationship Id="rId24" Type="http://schemas.openxmlformats.org/officeDocument/2006/relationships/slide" Target="slides/slide52.xml"/><Relationship Id="rId5" Type="http://schemas.openxmlformats.org/officeDocument/2006/relationships/slide" Target="slides/slide14.xml"/><Relationship Id="rId15" Type="http://schemas.openxmlformats.org/officeDocument/2006/relationships/slide" Target="slides/slide37.xml"/><Relationship Id="rId23" Type="http://schemas.openxmlformats.org/officeDocument/2006/relationships/slide" Target="slides/slide51.xml"/><Relationship Id="rId28" Type="http://schemas.openxmlformats.org/officeDocument/2006/relationships/slide" Target="slides/slide57.xml"/><Relationship Id="rId10" Type="http://schemas.openxmlformats.org/officeDocument/2006/relationships/slide" Target="slides/slide23.xml"/><Relationship Id="rId19" Type="http://schemas.openxmlformats.org/officeDocument/2006/relationships/slide" Target="slides/slide46.xml"/><Relationship Id="rId4" Type="http://schemas.openxmlformats.org/officeDocument/2006/relationships/slide" Target="slides/slide13.xml"/><Relationship Id="rId9" Type="http://schemas.openxmlformats.org/officeDocument/2006/relationships/slide" Target="slides/slide22.xml"/><Relationship Id="rId14" Type="http://schemas.openxmlformats.org/officeDocument/2006/relationships/slide" Target="slides/slide32.xml"/><Relationship Id="rId22" Type="http://schemas.openxmlformats.org/officeDocument/2006/relationships/slide" Target="slides/slide50.xml"/><Relationship Id="rId27" Type="http://schemas.openxmlformats.org/officeDocument/2006/relationships/slide" Target="slides/slide5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3628641-2417-B341-BDCC-47285D1F6C68}" type="doc">
      <dgm:prSet loTypeId="urn:microsoft.com/office/officeart/2005/8/layout/hList6" loCatId="list" qsTypeId="urn:microsoft.com/office/officeart/2005/8/quickstyle/simple4" qsCatId="simple" csTypeId="urn:microsoft.com/office/officeart/2005/8/colors/accent1_2" csCatId="accent1" phldr="1"/>
      <dgm:spPr/>
      <dgm:t>
        <a:bodyPr/>
        <a:lstStyle/>
        <a:p>
          <a:endParaRPr lang="en-US"/>
        </a:p>
      </dgm:t>
    </dgm:pt>
    <dgm:pt modelId="{F70BA48B-2A3D-B54F-B09E-5121C16CAC75}">
      <dgm:prSet custT="1"/>
      <dgm:spPr>
        <a:solidFill>
          <a:schemeClr val="accent3"/>
        </a:solidFill>
        <a:ln>
          <a:solidFill>
            <a:schemeClr val="tx2"/>
          </a:solidFill>
        </a:ln>
        <a:effectLst/>
      </dgm:spPr>
      <dgm:t>
        <a:bodyPr/>
        <a:lstStyle/>
        <a:p>
          <a:pPr rtl="0"/>
          <a:r>
            <a:rPr lang="en-US" sz="1050" b="1" dirty="0">
              <a:effectLst>
                <a:outerShdw blurRad="38100" dist="38100" dir="2700000" algn="tl">
                  <a:srgbClr val="000000">
                    <a:alpha val="43137"/>
                  </a:srgbClr>
                </a:outerShdw>
              </a:effectLst>
            </a:rPr>
            <a:t>Weighed </a:t>
          </a:r>
        </a:p>
        <a:p>
          <a:pPr rtl="0"/>
          <a:r>
            <a:rPr lang="en-US" sz="1050" b="1" dirty="0">
              <a:effectLst>
                <a:outerShdw blurRad="38100" dist="38100" dir="2700000" algn="tl">
                  <a:srgbClr val="000000">
                    <a:alpha val="43137"/>
                  </a:srgbClr>
                </a:outerShdw>
              </a:effectLst>
            </a:rPr>
            <a:t>30 </a:t>
          </a:r>
        </a:p>
        <a:p>
          <a:pPr rtl="0"/>
          <a:r>
            <a:rPr lang="en-US" sz="1050" b="1" dirty="0">
              <a:effectLst>
                <a:outerShdw blurRad="38100" dist="38100" dir="2700000" algn="tl">
                  <a:srgbClr val="000000">
                    <a:alpha val="43137"/>
                  </a:srgbClr>
                </a:outerShdw>
              </a:effectLst>
            </a:rPr>
            <a:t>tons</a:t>
          </a:r>
        </a:p>
      </dgm:t>
    </dgm:pt>
    <dgm:pt modelId="{9F2D49E3-5853-594F-A5B3-083CD0F613C6}" type="parTrans" cxnId="{9E3EBC7F-FDC3-C94E-8058-D02369F88F85}">
      <dgm:prSet/>
      <dgm:spPr/>
      <dgm:t>
        <a:bodyPr/>
        <a:lstStyle/>
        <a:p>
          <a:endParaRPr lang="en-US"/>
        </a:p>
      </dgm:t>
    </dgm:pt>
    <dgm:pt modelId="{F719C99A-AF4B-BD48-B8FA-C7F4EDC2F4FB}" type="sibTrans" cxnId="{9E3EBC7F-FDC3-C94E-8058-D02369F88F85}">
      <dgm:prSet/>
      <dgm:spPr/>
      <dgm:t>
        <a:bodyPr/>
        <a:lstStyle/>
        <a:p>
          <a:endParaRPr lang="en-US"/>
        </a:p>
      </dgm:t>
    </dgm:pt>
    <dgm:pt modelId="{F02483DA-7CF6-2E44-B9CE-17FFE286BC6E}">
      <dgm:prSet custT="1"/>
      <dgm:spPr>
        <a:ln>
          <a:solidFill>
            <a:schemeClr val="tx2"/>
          </a:solidFill>
        </a:ln>
        <a:effectLst/>
      </dgm:spPr>
      <dgm:t>
        <a:bodyPr/>
        <a:lstStyle/>
        <a:p>
          <a:pPr rtl="0"/>
          <a:r>
            <a:rPr lang="en-US" sz="1050" b="1" dirty="0">
              <a:effectLst>
                <a:outerShdw blurRad="38100" dist="38100" dir="2700000" algn="tl">
                  <a:srgbClr val="000000">
                    <a:alpha val="43137"/>
                  </a:srgbClr>
                </a:outerShdw>
              </a:effectLst>
            </a:rPr>
            <a:t>Occupied </a:t>
          </a:r>
        </a:p>
        <a:p>
          <a:pPr rtl="0"/>
          <a:r>
            <a:rPr lang="en-US" sz="1050" b="1" dirty="0">
              <a:effectLst>
                <a:outerShdw blurRad="38100" dist="38100" dir="2700000" algn="tl">
                  <a:srgbClr val="000000">
                    <a:alpha val="43137"/>
                  </a:srgbClr>
                </a:outerShdw>
              </a:effectLst>
            </a:rPr>
            <a:t>1500 </a:t>
          </a:r>
        </a:p>
        <a:p>
          <a:pPr rtl="0"/>
          <a:r>
            <a:rPr lang="en-US" sz="1050" b="1" dirty="0">
              <a:effectLst>
                <a:outerShdw blurRad="38100" dist="38100" dir="2700000" algn="tl">
                  <a:srgbClr val="000000">
                    <a:alpha val="43137"/>
                  </a:srgbClr>
                </a:outerShdw>
              </a:effectLst>
            </a:rPr>
            <a:t>square</a:t>
          </a:r>
        </a:p>
        <a:p>
          <a:pPr rtl="0"/>
          <a:r>
            <a:rPr lang="en-US" sz="1050" b="1" dirty="0">
              <a:effectLst>
                <a:outerShdw blurRad="38100" dist="38100" dir="2700000" algn="tl">
                  <a:srgbClr val="000000">
                    <a:alpha val="43137"/>
                  </a:srgbClr>
                </a:outerShdw>
              </a:effectLst>
            </a:rPr>
            <a:t> feet </a:t>
          </a:r>
        </a:p>
        <a:p>
          <a:pPr rtl="0"/>
          <a:r>
            <a:rPr lang="en-US" sz="1050" b="1" dirty="0">
              <a:effectLst>
                <a:outerShdw blurRad="38100" dist="38100" dir="2700000" algn="tl">
                  <a:srgbClr val="000000">
                    <a:alpha val="43137"/>
                  </a:srgbClr>
                </a:outerShdw>
              </a:effectLst>
            </a:rPr>
            <a:t>of</a:t>
          </a:r>
        </a:p>
        <a:p>
          <a:pPr rtl="0"/>
          <a:r>
            <a:rPr lang="en-US" sz="1050" b="1" dirty="0">
              <a:effectLst>
                <a:outerShdw blurRad="38100" dist="38100" dir="2700000" algn="tl">
                  <a:srgbClr val="000000">
                    <a:alpha val="43137"/>
                  </a:srgbClr>
                </a:outerShdw>
              </a:effectLst>
            </a:rPr>
            <a:t> floor </a:t>
          </a:r>
        </a:p>
        <a:p>
          <a:pPr rtl="0"/>
          <a:r>
            <a:rPr lang="en-US" sz="1050" b="1" dirty="0">
              <a:effectLst>
                <a:outerShdw blurRad="38100" dist="38100" dir="2700000" algn="tl">
                  <a:srgbClr val="000000">
                    <a:alpha val="43137"/>
                  </a:srgbClr>
                </a:outerShdw>
              </a:effectLst>
            </a:rPr>
            <a:t>space</a:t>
          </a:r>
        </a:p>
      </dgm:t>
    </dgm:pt>
    <dgm:pt modelId="{1BEAAD57-4C0C-594A-96F5-EB1F0052E708}" type="parTrans" cxnId="{AD3D2F6B-2355-1A43-B3E8-10256B76F36D}">
      <dgm:prSet/>
      <dgm:spPr/>
      <dgm:t>
        <a:bodyPr/>
        <a:lstStyle/>
        <a:p>
          <a:endParaRPr lang="en-US"/>
        </a:p>
      </dgm:t>
    </dgm:pt>
    <dgm:pt modelId="{D7E2CAD3-7F92-3441-A93E-93633E8CD6F7}" type="sibTrans" cxnId="{AD3D2F6B-2355-1A43-B3E8-10256B76F36D}">
      <dgm:prSet/>
      <dgm:spPr/>
      <dgm:t>
        <a:bodyPr/>
        <a:lstStyle/>
        <a:p>
          <a:endParaRPr lang="en-US"/>
        </a:p>
      </dgm:t>
    </dgm:pt>
    <dgm:pt modelId="{94375650-C888-3A44-A0C6-7E577AB21A98}">
      <dgm:prSet custT="1"/>
      <dgm:spPr>
        <a:solidFill>
          <a:schemeClr val="accent3"/>
        </a:solidFill>
        <a:ln>
          <a:solidFill>
            <a:schemeClr val="tx2"/>
          </a:solidFill>
        </a:ln>
        <a:effectLst/>
      </dgm:spPr>
      <dgm:t>
        <a:bodyPr/>
        <a:lstStyle/>
        <a:p>
          <a:pPr rtl="0"/>
          <a:r>
            <a:rPr lang="en-US" sz="1050" b="1" dirty="0">
              <a:effectLst>
                <a:outerShdw blurRad="38100" dist="38100" dir="2700000" algn="tl">
                  <a:srgbClr val="000000">
                    <a:alpha val="43137"/>
                  </a:srgbClr>
                </a:outerShdw>
              </a:effectLst>
            </a:rPr>
            <a:t>Contained</a:t>
          </a:r>
        </a:p>
        <a:p>
          <a:pPr rtl="0"/>
          <a:r>
            <a:rPr lang="en-US" sz="1050" b="1" dirty="0">
              <a:effectLst>
                <a:outerShdw blurRad="38100" dist="38100" dir="2700000" algn="tl">
                  <a:srgbClr val="000000">
                    <a:alpha val="43137"/>
                  </a:srgbClr>
                </a:outerShdw>
              </a:effectLst>
            </a:rPr>
            <a:t>more </a:t>
          </a:r>
        </a:p>
        <a:p>
          <a:pPr rtl="0"/>
          <a:r>
            <a:rPr lang="en-US" sz="1050" b="1" dirty="0">
              <a:effectLst>
                <a:outerShdw blurRad="38100" dist="38100" dir="2700000" algn="tl">
                  <a:srgbClr val="000000">
                    <a:alpha val="43137"/>
                  </a:srgbClr>
                </a:outerShdw>
              </a:effectLst>
            </a:rPr>
            <a:t>than</a:t>
          </a:r>
        </a:p>
        <a:p>
          <a:pPr rtl="0"/>
          <a:r>
            <a:rPr lang="en-US" sz="1050" b="1" dirty="0">
              <a:effectLst>
                <a:outerShdw blurRad="38100" dist="38100" dir="2700000" algn="tl">
                  <a:srgbClr val="000000">
                    <a:alpha val="43137"/>
                  </a:srgbClr>
                </a:outerShdw>
              </a:effectLst>
            </a:rPr>
            <a:t> 18,000 </a:t>
          </a:r>
        </a:p>
        <a:p>
          <a:pPr rtl="0"/>
          <a:r>
            <a:rPr lang="en-US" sz="1050" b="1" dirty="0">
              <a:effectLst>
                <a:outerShdw blurRad="38100" dist="38100" dir="2700000" algn="tl">
                  <a:srgbClr val="000000">
                    <a:alpha val="43137"/>
                  </a:srgbClr>
                </a:outerShdw>
              </a:effectLst>
            </a:rPr>
            <a:t>vacuum</a:t>
          </a:r>
        </a:p>
        <a:p>
          <a:pPr rtl="0"/>
          <a:r>
            <a:rPr lang="en-US" sz="1050" b="1" dirty="0">
              <a:effectLst>
                <a:outerShdw blurRad="38100" dist="38100" dir="2700000" algn="tl">
                  <a:srgbClr val="000000">
                    <a:alpha val="43137"/>
                  </a:srgbClr>
                </a:outerShdw>
              </a:effectLst>
            </a:rPr>
            <a:t> tubes</a:t>
          </a:r>
        </a:p>
      </dgm:t>
    </dgm:pt>
    <dgm:pt modelId="{AB8ABD81-94F4-824A-86CD-571263EC2F8B}" type="parTrans" cxnId="{F988A990-C572-764C-A4F7-04A9E4A2BE4C}">
      <dgm:prSet/>
      <dgm:spPr/>
      <dgm:t>
        <a:bodyPr/>
        <a:lstStyle/>
        <a:p>
          <a:endParaRPr lang="en-US"/>
        </a:p>
      </dgm:t>
    </dgm:pt>
    <dgm:pt modelId="{6D5215AC-4037-BD4A-A1F9-9AE39D954339}" type="sibTrans" cxnId="{F988A990-C572-764C-A4F7-04A9E4A2BE4C}">
      <dgm:prSet/>
      <dgm:spPr/>
      <dgm:t>
        <a:bodyPr/>
        <a:lstStyle/>
        <a:p>
          <a:endParaRPr lang="en-US"/>
        </a:p>
      </dgm:t>
    </dgm:pt>
    <dgm:pt modelId="{C34CFD14-EBA2-3041-8306-270926D48E88}">
      <dgm:prSet custT="1"/>
      <dgm:spPr>
        <a:ln>
          <a:solidFill>
            <a:schemeClr val="tx2"/>
          </a:solidFill>
        </a:ln>
        <a:effectLst/>
      </dgm:spPr>
      <dgm:t>
        <a:bodyPr/>
        <a:lstStyle/>
        <a:p>
          <a:pPr rtl="0"/>
          <a:r>
            <a:rPr lang="en-US" sz="1050" b="1" dirty="0">
              <a:effectLst>
                <a:outerShdw blurRad="38100" dist="38100" dir="2700000" algn="tl">
                  <a:srgbClr val="000000">
                    <a:alpha val="43137"/>
                  </a:srgbClr>
                </a:outerShdw>
              </a:effectLst>
            </a:rPr>
            <a:t>140 kW </a:t>
          </a:r>
        </a:p>
        <a:p>
          <a:pPr rtl="0"/>
          <a:r>
            <a:rPr lang="en-US" sz="1050" b="1" dirty="0">
              <a:effectLst>
                <a:outerShdw blurRad="38100" dist="38100" dir="2700000" algn="tl">
                  <a:srgbClr val="000000">
                    <a:alpha val="43137"/>
                  </a:srgbClr>
                </a:outerShdw>
              </a:effectLst>
            </a:rPr>
            <a:t>Power</a:t>
          </a:r>
        </a:p>
        <a:p>
          <a:pPr rtl="0"/>
          <a:r>
            <a:rPr lang="en-US" sz="1050" b="1" dirty="0">
              <a:effectLst>
                <a:outerShdw blurRad="38100" dist="38100" dir="2700000" algn="tl">
                  <a:srgbClr val="000000">
                    <a:alpha val="43137"/>
                  </a:srgbClr>
                </a:outerShdw>
              </a:effectLst>
            </a:rPr>
            <a:t>consumption</a:t>
          </a:r>
        </a:p>
      </dgm:t>
    </dgm:pt>
    <dgm:pt modelId="{E98D93E2-224E-7F45-BFD9-AAFA046C98FE}" type="parTrans" cxnId="{0E5ACF81-4A1D-6249-B137-A162D87EE525}">
      <dgm:prSet/>
      <dgm:spPr/>
      <dgm:t>
        <a:bodyPr/>
        <a:lstStyle/>
        <a:p>
          <a:endParaRPr lang="en-US"/>
        </a:p>
      </dgm:t>
    </dgm:pt>
    <dgm:pt modelId="{D8721CE7-86F7-B141-BDD2-907DFA14A225}" type="sibTrans" cxnId="{0E5ACF81-4A1D-6249-B137-A162D87EE525}">
      <dgm:prSet/>
      <dgm:spPr/>
      <dgm:t>
        <a:bodyPr/>
        <a:lstStyle/>
        <a:p>
          <a:endParaRPr lang="en-US"/>
        </a:p>
      </dgm:t>
    </dgm:pt>
    <dgm:pt modelId="{BD2465CE-1FFF-C24D-ADD5-6AFD3AC52BFE}">
      <dgm:prSet custT="1"/>
      <dgm:spPr>
        <a:solidFill>
          <a:schemeClr val="accent3"/>
        </a:solidFill>
        <a:ln>
          <a:solidFill>
            <a:schemeClr val="tx2"/>
          </a:solidFill>
        </a:ln>
        <a:effectLst/>
      </dgm:spPr>
      <dgm:t>
        <a:bodyPr/>
        <a:lstStyle/>
        <a:p>
          <a:pPr rtl="0"/>
          <a:r>
            <a:rPr lang="en-US" sz="1050" b="1" dirty="0">
              <a:effectLst>
                <a:outerShdw blurRad="38100" dist="38100" dir="2700000" algn="tl">
                  <a:srgbClr val="000000">
                    <a:alpha val="43137"/>
                  </a:srgbClr>
                </a:outerShdw>
              </a:effectLst>
            </a:rPr>
            <a:t>Capable</a:t>
          </a:r>
        </a:p>
        <a:p>
          <a:pPr rtl="0"/>
          <a:r>
            <a:rPr lang="en-US" sz="1050" b="1" dirty="0">
              <a:effectLst>
                <a:outerShdw blurRad="38100" dist="38100" dir="2700000" algn="tl">
                  <a:srgbClr val="000000">
                    <a:alpha val="43137"/>
                  </a:srgbClr>
                </a:outerShdw>
              </a:effectLst>
            </a:rPr>
            <a:t> of</a:t>
          </a:r>
        </a:p>
        <a:p>
          <a:pPr rtl="0"/>
          <a:r>
            <a:rPr lang="en-US" sz="1050" b="1" dirty="0">
              <a:effectLst>
                <a:outerShdw blurRad="38100" dist="38100" dir="2700000" algn="tl">
                  <a:srgbClr val="000000">
                    <a:alpha val="43137"/>
                  </a:srgbClr>
                </a:outerShdw>
              </a:effectLst>
            </a:rPr>
            <a:t> 5000</a:t>
          </a:r>
        </a:p>
        <a:p>
          <a:pPr rtl="0"/>
          <a:r>
            <a:rPr lang="en-US" sz="1050" b="1" dirty="0">
              <a:effectLst>
                <a:outerShdw blurRad="38100" dist="38100" dir="2700000" algn="tl">
                  <a:srgbClr val="000000">
                    <a:alpha val="43137"/>
                  </a:srgbClr>
                </a:outerShdw>
              </a:effectLst>
            </a:rPr>
            <a:t> additions </a:t>
          </a:r>
        </a:p>
        <a:p>
          <a:pPr rtl="0"/>
          <a:r>
            <a:rPr lang="en-US" sz="1050" b="1" dirty="0">
              <a:effectLst>
                <a:outerShdw blurRad="38100" dist="38100" dir="2700000" algn="tl">
                  <a:srgbClr val="000000">
                    <a:alpha val="43137"/>
                  </a:srgbClr>
                </a:outerShdw>
              </a:effectLst>
            </a:rPr>
            <a:t>per </a:t>
          </a:r>
        </a:p>
        <a:p>
          <a:pPr rtl="0"/>
          <a:r>
            <a:rPr lang="en-US" sz="1050" b="1" dirty="0">
              <a:effectLst>
                <a:outerShdw blurRad="38100" dist="38100" dir="2700000" algn="tl">
                  <a:srgbClr val="000000">
                    <a:alpha val="43137"/>
                  </a:srgbClr>
                </a:outerShdw>
              </a:effectLst>
            </a:rPr>
            <a:t>second</a:t>
          </a:r>
        </a:p>
      </dgm:t>
    </dgm:pt>
    <dgm:pt modelId="{166ED6B4-7F12-1A44-AE3F-E07A5FAC738B}" type="parTrans" cxnId="{E57A694F-2826-224D-946E-1E66E42165E8}">
      <dgm:prSet/>
      <dgm:spPr/>
      <dgm:t>
        <a:bodyPr/>
        <a:lstStyle/>
        <a:p>
          <a:endParaRPr lang="en-US"/>
        </a:p>
      </dgm:t>
    </dgm:pt>
    <dgm:pt modelId="{FFE0DE03-0A1F-AC41-B842-664E9CE4606B}" type="sibTrans" cxnId="{E57A694F-2826-224D-946E-1E66E42165E8}">
      <dgm:prSet/>
      <dgm:spPr/>
      <dgm:t>
        <a:bodyPr/>
        <a:lstStyle/>
        <a:p>
          <a:endParaRPr lang="en-US"/>
        </a:p>
      </dgm:t>
    </dgm:pt>
    <dgm:pt modelId="{30E0722D-81DE-C34D-AE26-4717CC2CCBCB}">
      <dgm:prSet custT="1"/>
      <dgm:spPr>
        <a:ln>
          <a:solidFill>
            <a:schemeClr val="tx2"/>
          </a:solidFill>
        </a:ln>
        <a:effectLst/>
      </dgm:spPr>
      <dgm:t>
        <a:bodyPr/>
        <a:lstStyle/>
        <a:p>
          <a:pPr rtl="0"/>
          <a:r>
            <a:rPr lang="en-US" sz="1050" b="1" dirty="0">
              <a:effectLst>
                <a:outerShdw blurRad="38100" dist="38100" dir="2700000" algn="tl">
                  <a:srgbClr val="000000">
                    <a:alpha val="43137"/>
                  </a:srgbClr>
                </a:outerShdw>
              </a:effectLst>
            </a:rPr>
            <a:t>Decimal </a:t>
          </a:r>
        </a:p>
        <a:p>
          <a:pPr rtl="0"/>
          <a:r>
            <a:rPr lang="en-US" sz="1050" b="1" dirty="0">
              <a:effectLst>
                <a:outerShdw blurRad="38100" dist="38100" dir="2700000" algn="tl">
                  <a:srgbClr val="000000">
                    <a:alpha val="43137"/>
                  </a:srgbClr>
                </a:outerShdw>
              </a:effectLst>
            </a:rPr>
            <a:t>rather </a:t>
          </a:r>
        </a:p>
        <a:p>
          <a:pPr rtl="0"/>
          <a:r>
            <a:rPr lang="en-US" sz="1050" b="1" dirty="0">
              <a:effectLst>
                <a:outerShdw blurRad="38100" dist="38100" dir="2700000" algn="tl">
                  <a:srgbClr val="000000">
                    <a:alpha val="43137"/>
                  </a:srgbClr>
                </a:outerShdw>
              </a:effectLst>
            </a:rPr>
            <a:t>than</a:t>
          </a:r>
        </a:p>
        <a:p>
          <a:pPr rtl="0"/>
          <a:r>
            <a:rPr lang="en-US" sz="1050" b="1" dirty="0">
              <a:effectLst>
                <a:outerShdw blurRad="38100" dist="38100" dir="2700000" algn="tl">
                  <a:srgbClr val="000000">
                    <a:alpha val="43137"/>
                  </a:srgbClr>
                </a:outerShdw>
              </a:effectLst>
            </a:rPr>
            <a:t> binary </a:t>
          </a:r>
        </a:p>
        <a:p>
          <a:pPr rtl="0"/>
          <a:r>
            <a:rPr lang="en-US" sz="1050" b="1" dirty="0">
              <a:effectLst>
                <a:outerShdw blurRad="38100" dist="38100" dir="2700000" algn="tl">
                  <a:srgbClr val="000000">
                    <a:alpha val="43137"/>
                  </a:srgbClr>
                </a:outerShdw>
              </a:effectLst>
            </a:rPr>
            <a:t>machine</a:t>
          </a:r>
        </a:p>
      </dgm:t>
    </dgm:pt>
    <dgm:pt modelId="{E64ECDC3-E646-3B4F-8EB5-37CC0BDE8520}" type="parTrans" cxnId="{D7DB1010-1ED4-9B48-BE61-95293BF8F9C0}">
      <dgm:prSet/>
      <dgm:spPr/>
      <dgm:t>
        <a:bodyPr/>
        <a:lstStyle/>
        <a:p>
          <a:endParaRPr lang="en-US"/>
        </a:p>
      </dgm:t>
    </dgm:pt>
    <dgm:pt modelId="{04808F15-F678-3540-80D3-F78C312C53DF}" type="sibTrans" cxnId="{D7DB1010-1ED4-9B48-BE61-95293BF8F9C0}">
      <dgm:prSet/>
      <dgm:spPr/>
      <dgm:t>
        <a:bodyPr/>
        <a:lstStyle/>
        <a:p>
          <a:endParaRPr lang="en-US"/>
        </a:p>
      </dgm:t>
    </dgm:pt>
    <dgm:pt modelId="{0253558E-FCA9-8244-A643-348797FAB9E4}">
      <dgm:prSet custT="1"/>
      <dgm:spPr>
        <a:solidFill>
          <a:schemeClr val="accent3"/>
        </a:solidFill>
        <a:ln>
          <a:solidFill>
            <a:schemeClr val="tx2"/>
          </a:solidFill>
        </a:ln>
        <a:effectLst/>
      </dgm:spPr>
      <dgm:t>
        <a:bodyPr/>
        <a:lstStyle/>
        <a:p>
          <a:pPr rtl="0"/>
          <a:r>
            <a:rPr lang="en-US" sz="1050" b="1" dirty="0">
              <a:effectLst>
                <a:outerShdw blurRad="38100" dist="38100" dir="2700000" algn="tl">
                  <a:srgbClr val="000000">
                    <a:alpha val="43137"/>
                  </a:srgbClr>
                </a:outerShdw>
              </a:effectLst>
            </a:rPr>
            <a:t>Memory </a:t>
          </a:r>
        </a:p>
        <a:p>
          <a:pPr rtl="0"/>
          <a:r>
            <a:rPr lang="en-US" sz="1050" b="1" dirty="0">
              <a:effectLst>
                <a:outerShdw blurRad="38100" dist="38100" dir="2700000" algn="tl">
                  <a:srgbClr val="000000">
                    <a:alpha val="43137"/>
                  </a:srgbClr>
                </a:outerShdw>
              </a:effectLst>
            </a:rPr>
            <a:t>consisted </a:t>
          </a:r>
        </a:p>
        <a:p>
          <a:pPr rtl="0"/>
          <a:r>
            <a:rPr lang="en-US" sz="1050" b="1" dirty="0">
              <a:effectLst>
                <a:outerShdw blurRad="38100" dist="38100" dir="2700000" algn="tl">
                  <a:srgbClr val="000000">
                    <a:alpha val="43137"/>
                  </a:srgbClr>
                </a:outerShdw>
              </a:effectLst>
            </a:rPr>
            <a:t>of  20 accumulators, </a:t>
          </a:r>
        </a:p>
        <a:p>
          <a:pPr rtl="0"/>
          <a:r>
            <a:rPr lang="en-US" sz="1050" b="1" dirty="0">
              <a:effectLst>
                <a:outerShdw blurRad="38100" dist="38100" dir="2700000" algn="tl">
                  <a:srgbClr val="000000">
                    <a:alpha val="43137"/>
                  </a:srgbClr>
                </a:outerShdw>
              </a:effectLst>
            </a:rPr>
            <a:t>each</a:t>
          </a:r>
        </a:p>
        <a:p>
          <a:pPr rtl="0"/>
          <a:r>
            <a:rPr lang="en-US" sz="1050" b="1" dirty="0">
              <a:effectLst>
                <a:outerShdw blurRad="38100" dist="38100" dir="2700000" algn="tl">
                  <a:srgbClr val="000000">
                    <a:alpha val="43137"/>
                  </a:srgbClr>
                </a:outerShdw>
              </a:effectLst>
            </a:rPr>
            <a:t> capable</a:t>
          </a:r>
        </a:p>
        <a:p>
          <a:pPr rtl="0"/>
          <a:r>
            <a:rPr lang="en-US" sz="1050" b="1" dirty="0">
              <a:effectLst>
                <a:outerShdw blurRad="38100" dist="38100" dir="2700000" algn="tl">
                  <a:srgbClr val="000000">
                    <a:alpha val="43137"/>
                  </a:srgbClr>
                </a:outerShdw>
              </a:effectLst>
            </a:rPr>
            <a:t> of </a:t>
          </a:r>
        </a:p>
        <a:p>
          <a:pPr rtl="0"/>
          <a:r>
            <a:rPr lang="en-US" sz="1050" b="1" dirty="0">
              <a:effectLst>
                <a:outerShdw blurRad="38100" dist="38100" dir="2700000" algn="tl">
                  <a:srgbClr val="000000">
                    <a:alpha val="43137"/>
                  </a:srgbClr>
                </a:outerShdw>
              </a:effectLst>
            </a:rPr>
            <a:t>holding </a:t>
          </a:r>
        </a:p>
        <a:p>
          <a:pPr rtl="0"/>
          <a:r>
            <a:rPr lang="en-US" sz="1050" b="1" dirty="0">
              <a:effectLst>
                <a:outerShdw blurRad="38100" dist="38100" dir="2700000" algn="tl">
                  <a:srgbClr val="000000">
                    <a:alpha val="43137"/>
                  </a:srgbClr>
                </a:outerShdw>
              </a:effectLst>
            </a:rPr>
            <a:t>a </a:t>
          </a:r>
        </a:p>
        <a:p>
          <a:pPr rtl="0"/>
          <a:r>
            <a:rPr lang="en-US" sz="1050" b="1" dirty="0">
              <a:effectLst>
                <a:outerShdw blurRad="38100" dist="38100" dir="2700000" algn="tl">
                  <a:srgbClr val="000000">
                    <a:alpha val="43137"/>
                  </a:srgbClr>
                </a:outerShdw>
              </a:effectLst>
            </a:rPr>
            <a:t>10 digit </a:t>
          </a:r>
        </a:p>
        <a:p>
          <a:pPr rtl="0"/>
          <a:r>
            <a:rPr lang="en-US" sz="1050" b="1" dirty="0">
              <a:effectLst>
                <a:outerShdw blurRad="38100" dist="38100" dir="2700000" algn="tl">
                  <a:srgbClr val="000000">
                    <a:alpha val="43137"/>
                  </a:srgbClr>
                </a:outerShdw>
              </a:effectLst>
            </a:rPr>
            <a:t>number</a:t>
          </a:r>
        </a:p>
      </dgm:t>
    </dgm:pt>
    <dgm:pt modelId="{32B013DD-780D-6142-B7B9-D80382F3EBF1}" type="parTrans" cxnId="{BE549E63-B706-6F47-A515-A2F0A3C50E3A}">
      <dgm:prSet/>
      <dgm:spPr/>
      <dgm:t>
        <a:bodyPr/>
        <a:lstStyle/>
        <a:p>
          <a:endParaRPr lang="en-US"/>
        </a:p>
      </dgm:t>
    </dgm:pt>
    <dgm:pt modelId="{2267D7AE-C262-7943-AF02-1BDB495502E5}" type="sibTrans" cxnId="{BE549E63-B706-6F47-A515-A2F0A3C50E3A}">
      <dgm:prSet/>
      <dgm:spPr/>
      <dgm:t>
        <a:bodyPr/>
        <a:lstStyle/>
        <a:p>
          <a:endParaRPr lang="en-US"/>
        </a:p>
      </dgm:t>
    </dgm:pt>
    <dgm:pt modelId="{DB6AC2BA-0B75-684B-94ED-1AE2D9C9F707}">
      <dgm:prSet custT="1"/>
      <dgm:spPr>
        <a:ln>
          <a:solidFill>
            <a:schemeClr val="tx2"/>
          </a:solidFill>
        </a:ln>
        <a:effectLst/>
      </dgm:spPr>
      <dgm:t>
        <a:bodyPr/>
        <a:lstStyle/>
        <a:p>
          <a:pPr rtl="0">
            <a:lnSpc>
              <a:spcPct val="90000"/>
            </a:lnSpc>
            <a:spcBef>
              <a:spcPct val="0"/>
            </a:spcBef>
            <a:spcAft>
              <a:spcPct val="35000"/>
            </a:spcAft>
          </a:pPr>
          <a:r>
            <a:rPr lang="en-GB" sz="1050" b="1" dirty="0">
              <a:effectLst>
                <a:outerShdw blurRad="38100" dist="38100" dir="2700000" algn="tl">
                  <a:srgbClr val="000000">
                    <a:alpha val="43137"/>
                  </a:srgbClr>
                </a:outerShdw>
              </a:effectLst>
            </a:rPr>
            <a:t>Major</a:t>
          </a:r>
        </a:p>
        <a:p>
          <a:pPr rtl="0">
            <a:lnSpc>
              <a:spcPct val="90000"/>
            </a:lnSpc>
            <a:spcBef>
              <a:spcPct val="0"/>
            </a:spcBef>
            <a:spcAft>
              <a:spcPct val="35000"/>
            </a:spcAft>
          </a:pPr>
          <a:r>
            <a:rPr lang="en-GB" sz="1050" b="1" dirty="0">
              <a:effectLst>
                <a:outerShdw blurRad="38100" dist="38100" dir="2700000" algn="tl">
                  <a:srgbClr val="000000">
                    <a:alpha val="43137"/>
                  </a:srgbClr>
                </a:outerShdw>
              </a:effectLst>
            </a:rPr>
            <a:t> drawback </a:t>
          </a:r>
        </a:p>
        <a:p>
          <a:pPr rtl="0">
            <a:lnSpc>
              <a:spcPct val="150000"/>
            </a:lnSpc>
            <a:spcBef>
              <a:spcPts val="0"/>
            </a:spcBef>
            <a:spcAft>
              <a:spcPts val="600"/>
            </a:spcAft>
          </a:pPr>
          <a:r>
            <a:rPr lang="en-GB" sz="1050" b="1" dirty="0">
              <a:effectLst>
                <a:outerShdw blurRad="38100" dist="38100" dir="2700000" algn="tl">
                  <a:srgbClr val="000000">
                    <a:alpha val="43137"/>
                  </a:srgbClr>
                </a:outerShdw>
              </a:effectLst>
            </a:rPr>
            <a:t>was the need</a:t>
          </a:r>
        </a:p>
        <a:p>
          <a:pPr rtl="0">
            <a:lnSpc>
              <a:spcPct val="150000"/>
            </a:lnSpc>
            <a:spcBef>
              <a:spcPts val="0"/>
            </a:spcBef>
            <a:spcAft>
              <a:spcPts val="600"/>
            </a:spcAft>
          </a:pPr>
          <a:r>
            <a:rPr lang="en-GB" sz="1050" b="1" dirty="0">
              <a:effectLst>
                <a:outerShdw blurRad="38100" dist="38100" dir="2700000" algn="tl">
                  <a:srgbClr val="000000">
                    <a:alpha val="43137"/>
                  </a:srgbClr>
                </a:outerShdw>
              </a:effectLst>
            </a:rPr>
            <a:t> for manual programming</a:t>
          </a:r>
        </a:p>
        <a:p>
          <a:pPr rtl="0">
            <a:lnSpc>
              <a:spcPct val="90000"/>
            </a:lnSpc>
            <a:spcBef>
              <a:spcPct val="0"/>
            </a:spcBef>
            <a:spcAft>
              <a:spcPct val="35000"/>
            </a:spcAft>
          </a:pPr>
          <a:r>
            <a:rPr lang="en-GB" sz="1050" b="1" dirty="0">
              <a:effectLst>
                <a:outerShdw blurRad="38100" dist="38100" dir="2700000" algn="tl">
                  <a:srgbClr val="000000">
                    <a:alpha val="43137"/>
                  </a:srgbClr>
                </a:outerShdw>
              </a:effectLst>
            </a:rPr>
            <a:t> by setting </a:t>
          </a:r>
        </a:p>
        <a:p>
          <a:pPr rtl="0">
            <a:lnSpc>
              <a:spcPct val="90000"/>
            </a:lnSpc>
            <a:spcBef>
              <a:spcPct val="0"/>
            </a:spcBef>
            <a:spcAft>
              <a:spcPct val="35000"/>
            </a:spcAft>
          </a:pPr>
          <a:r>
            <a:rPr lang="en-GB" sz="1050" b="1" dirty="0">
              <a:effectLst>
                <a:outerShdw blurRad="38100" dist="38100" dir="2700000" algn="tl">
                  <a:srgbClr val="000000">
                    <a:alpha val="43137"/>
                  </a:srgbClr>
                </a:outerShdw>
              </a:effectLst>
            </a:rPr>
            <a:t>switches </a:t>
          </a:r>
        </a:p>
        <a:p>
          <a:pPr rtl="0">
            <a:lnSpc>
              <a:spcPct val="90000"/>
            </a:lnSpc>
            <a:spcBef>
              <a:spcPct val="0"/>
            </a:spcBef>
            <a:spcAft>
              <a:spcPct val="35000"/>
            </a:spcAft>
          </a:pPr>
          <a:r>
            <a:rPr lang="en-GB" sz="1050" b="1" dirty="0">
              <a:effectLst>
                <a:outerShdw blurRad="38100" dist="38100" dir="2700000" algn="tl">
                  <a:srgbClr val="000000">
                    <a:alpha val="43137"/>
                  </a:srgbClr>
                </a:outerShdw>
              </a:effectLst>
            </a:rPr>
            <a:t>and </a:t>
          </a:r>
        </a:p>
        <a:p>
          <a:pPr rtl="0">
            <a:lnSpc>
              <a:spcPct val="90000"/>
            </a:lnSpc>
            <a:spcBef>
              <a:spcPct val="0"/>
            </a:spcBef>
            <a:spcAft>
              <a:spcPct val="35000"/>
            </a:spcAft>
          </a:pPr>
          <a:r>
            <a:rPr lang="en-GB" sz="1050" b="1" dirty="0">
              <a:effectLst>
                <a:outerShdw blurRad="38100" dist="38100" dir="2700000" algn="tl">
                  <a:srgbClr val="000000">
                    <a:alpha val="43137"/>
                  </a:srgbClr>
                </a:outerShdw>
              </a:effectLst>
            </a:rPr>
            <a:t>plugging/</a:t>
          </a:r>
        </a:p>
        <a:p>
          <a:pPr rtl="0">
            <a:lnSpc>
              <a:spcPct val="90000"/>
            </a:lnSpc>
            <a:spcBef>
              <a:spcPct val="0"/>
            </a:spcBef>
            <a:spcAft>
              <a:spcPct val="35000"/>
            </a:spcAft>
          </a:pPr>
          <a:r>
            <a:rPr lang="en-GB" sz="1050" b="1" dirty="0">
              <a:effectLst>
                <a:outerShdw blurRad="38100" dist="38100" dir="2700000" algn="tl">
                  <a:srgbClr val="000000">
                    <a:alpha val="43137"/>
                  </a:srgbClr>
                </a:outerShdw>
              </a:effectLst>
            </a:rPr>
            <a:t>unplugging </a:t>
          </a:r>
        </a:p>
        <a:p>
          <a:pPr rtl="0">
            <a:lnSpc>
              <a:spcPct val="90000"/>
            </a:lnSpc>
            <a:spcBef>
              <a:spcPct val="0"/>
            </a:spcBef>
            <a:spcAft>
              <a:spcPct val="35000"/>
            </a:spcAft>
          </a:pPr>
          <a:r>
            <a:rPr lang="en-GB" sz="1050" b="1" dirty="0">
              <a:effectLst>
                <a:outerShdw blurRad="38100" dist="38100" dir="2700000" algn="tl">
                  <a:srgbClr val="000000">
                    <a:alpha val="43137"/>
                  </a:srgbClr>
                </a:outerShdw>
              </a:effectLst>
            </a:rPr>
            <a:t>cables</a:t>
          </a:r>
          <a:endParaRPr lang="en-US" sz="1050" b="1" dirty="0">
            <a:effectLst>
              <a:outerShdw blurRad="38100" dist="38100" dir="2700000" algn="tl">
                <a:srgbClr val="000000">
                  <a:alpha val="43137"/>
                </a:srgbClr>
              </a:outerShdw>
            </a:effectLst>
          </a:endParaRPr>
        </a:p>
      </dgm:t>
    </dgm:pt>
    <dgm:pt modelId="{2AEA05D9-338A-E245-9FDB-3CAAE51AEF73}" type="parTrans" cxnId="{BAFFEA74-A6C3-2945-860F-8E6FD5A45DD8}">
      <dgm:prSet/>
      <dgm:spPr/>
      <dgm:t>
        <a:bodyPr/>
        <a:lstStyle/>
        <a:p>
          <a:endParaRPr lang="en-US"/>
        </a:p>
      </dgm:t>
    </dgm:pt>
    <dgm:pt modelId="{71ED023E-4DCF-C34D-98EA-406EFD2ACB04}" type="sibTrans" cxnId="{BAFFEA74-A6C3-2945-860F-8E6FD5A45DD8}">
      <dgm:prSet/>
      <dgm:spPr/>
      <dgm:t>
        <a:bodyPr/>
        <a:lstStyle/>
        <a:p>
          <a:endParaRPr lang="en-US"/>
        </a:p>
      </dgm:t>
    </dgm:pt>
    <dgm:pt modelId="{654DFD37-2367-B448-A2F8-71AB755166DE}" type="pres">
      <dgm:prSet presAssocID="{E3628641-2417-B341-BDCC-47285D1F6C68}" presName="Name0" presStyleCnt="0">
        <dgm:presLayoutVars>
          <dgm:dir/>
          <dgm:resizeHandles val="exact"/>
        </dgm:presLayoutVars>
      </dgm:prSet>
      <dgm:spPr/>
    </dgm:pt>
    <dgm:pt modelId="{87B18C8D-A7AF-7D4C-97BE-7296A4D1F7E4}" type="pres">
      <dgm:prSet presAssocID="{F70BA48B-2A3D-B54F-B09E-5121C16CAC75}" presName="node" presStyleLbl="node1" presStyleIdx="0" presStyleCnt="8" custScaleX="83100">
        <dgm:presLayoutVars>
          <dgm:bulletEnabled val="1"/>
        </dgm:presLayoutVars>
      </dgm:prSet>
      <dgm:spPr/>
    </dgm:pt>
    <dgm:pt modelId="{4DBB3A3B-E597-B54B-BFA6-A19EC10F6AC4}" type="pres">
      <dgm:prSet presAssocID="{F719C99A-AF4B-BD48-B8FA-C7F4EDC2F4FB}" presName="sibTrans" presStyleCnt="0"/>
      <dgm:spPr/>
    </dgm:pt>
    <dgm:pt modelId="{11D6AB6E-035D-1F42-9027-7BD2139C4CDA}" type="pres">
      <dgm:prSet presAssocID="{F02483DA-7CF6-2E44-B9CE-17FFE286BC6E}" presName="node" presStyleLbl="node1" presStyleIdx="1" presStyleCnt="8">
        <dgm:presLayoutVars>
          <dgm:bulletEnabled val="1"/>
        </dgm:presLayoutVars>
      </dgm:prSet>
      <dgm:spPr/>
    </dgm:pt>
    <dgm:pt modelId="{38EDF939-1E4C-BF45-86DC-80C4FE0D1CF9}" type="pres">
      <dgm:prSet presAssocID="{D7E2CAD3-7F92-3441-A93E-93633E8CD6F7}" presName="sibTrans" presStyleCnt="0"/>
      <dgm:spPr/>
    </dgm:pt>
    <dgm:pt modelId="{E3383C09-73C1-5D40-A98D-98CD09DF88CC}" type="pres">
      <dgm:prSet presAssocID="{94375650-C888-3A44-A0C6-7E577AB21A98}" presName="node" presStyleLbl="node1" presStyleIdx="2" presStyleCnt="8">
        <dgm:presLayoutVars>
          <dgm:bulletEnabled val="1"/>
        </dgm:presLayoutVars>
      </dgm:prSet>
      <dgm:spPr/>
    </dgm:pt>
    <dgm:pt modelId="{8050D159-82B8-914F-9D68-FF7840ECE628}" type="pres">
      <dgm:prSet presAssocID="{6D5215AC-4037-BD4A-A1F9-9AE39D954339}" presName="sibTrans" presStyleCnt="0"/>
      <dgm:spPr/>
    </dgm:pt>
    <dgm:pt modelId="{41D4DD1D-B174-8F49-80E9-D6E0DD13203C}" type="pres">
      <dgm:prSet presAssocID="{C34CFD14-EBA2-3041-8306-270926D48E88}" presName="node" presStyleLbl="node1" presStyleIdx="3" presStyleCnt="8">
        <dgm:presLayoutVars>
          <dgm:bulletEnabled val="1"/>
        </dgm:presLayoutVars>
      </dgm:prSet>
      <dgm:spPr/>
    </dgm:pt>
    <dgm:pt modelId="{C20EDA11-5F19-0B49-A551-4CB0E6EFF8EC}" type="pres">
      <dgm:prSet presAssocID="{D8721CE7-86F7-B141-BDD2-907DFA14A225}" presName="sibTrans" presStyleCnt="0"/>
      <dgm:spPr/>
    </dgm:pt>
    <dgm:pt modelId="{28CF9760-770D-BC43-BCBB-3E054F62DF7E}" type="pres">
      <dgm:prSet presAssocID="{BD2465CE-1FFF-C24D-ADD5-6AFD3AC52BFE}" presName="node" presStyleLbl="node1" presStyleIdx="4" presStyleCnt="8">
        <dgm:presLayoutVars>
          <dgm:bulletEnabled val="1"/>
        </dgm:presLayoutVars>
      </dgm:prSet>
      <dgm:spPr/>
    </dgm:pt>
    <dgm:pt modelId="{4A65FFFD-AA7D-5847-971B-BABEB843317E}" type="pres">
      <dgm:prSet presAssocID="{FFE0DE03-0A1F-AC41-B842-664E9CE4606B}" presName="sibTrans" presStyleCnt="0"/>
      <dgm:spPr/>
    </dgm:pt>
    <dgm:pt modelId="{8F6F069F-3B2A-D04B-83E9-79D44DE162D7}" type="pres">
      <dgm:prSet presAssocID="{30E0722D-81DE-C34D-AE26-4717CC2CCBCB}" presName="node" presStyleLbl="node1" presStyleIdx="5" presStyleCnt="8">
        <dgm:presLayoutVars>
          <dgm:bulletEnabled val="1"/>
        </dgm:presLayoutVars>
      </dgm:prSet>
      <dgm:spPr/>
    </dgm:pt>
    <dgm:pt modelId="{8F229911-0FA3-7E46-9DC4-CD38B92062D1}" type="pres">
      <dgm:prSet presAssocID="{04808F15-F678-3540-80D3-F78C312C53DF}" presName="sibTrans" presStyleCnt="0"/>
      <dgm:spPr/>
    </dgm:pt>
    <dgm:pt modelId="{38248C2E-AE25-8144-AD90-E1533BA57C3B}" type="pres">
      <dgm:prSet presAssocID="{0253558E-FCA9-8244-A643-348797FAB9E4}" presName="node" presStyleLbl="node1" presStyleIdx="6" presStyleCnt="8" custScaleX="124588">
        <dgm:presLayoutVars>
          <dgm:bulletEnabled val="1"/>
        </dgm:presLayoutVars>
      </dgm:prSet>
      <dgm:spPr/>
    </dgm:pt>
    <dgm:pt modelId="{BD9BB113-073E-EB4F-A556-111121227DC4}" type="pres">
      <dgm:prSet presAssocID="{2267D7AE-C262-7943-AF02-1BDB495502E5}" presName="sibTrans" presStyleCnt="0"/>
      <dgm:spPr/>
    </dgm:pt>
    <dgm:pt modelId="{B210253B-B61E-0549-8DAB-E1DCD3BBE08E}" type="pres">
      <dgm:prSet presAssocID="{DB6AC2BA-0B75-684B-94ED-1AE2D9C9F707}" presName="node" presStyleLbl="node1" presStyleIdx="7" presStyleCnt="8" custScaleX="118491">
        <dgm:presLayoutVars>
          <dgm:bulletEnabled val="1"/>
        </dgm:presLayoutVars>
      </dgm:prSet>
      <dgm:spPr/>
    </dgm:pt>
  </dgm:ptLst>
  <dgm:cxnLst>
    <dgm:cxn modelId="{B8AC1A0F-531D-1F46-B6F6-15A34CA8B806}" type="presOf" srcId="{F02483DA-7CF6-2E44-B9CE-17FFE286BC6E}" destId="{11D6AB6E-035D-1F42-9027-7BD2139C4CDA}" srcOrd="0" destOrd="0" presId="urn:microsoft.com/office/officeart/2005/8/layout/hList6"/>
    <dgm:cxn modelId="{D7DB1010-1ED4-9B48-BE61-95293BF8F9C0}" srcId="{E3628641-2417-B341-BDCC-47285D1F6C68}" destId="{30E0722D-81DE-C34D-AE26-4717CC2CCBCB}" srcOrd="5" destOrd="0" parTransId="{E64ECDC3-E646-3B4F-8EB5-37CC0BDE8520}" sibTransId="{04808F15-F678-3540-80D3-F78C312C53DF}"/>
    <dgm:cxn modelId="{1576CD29-641A-C042-A365-A05A940DFFC0}" type="presOf" srcId="{0253558E-FCA9-8244-A643-348797FAB9E4}" destId="{38248C2E-AE25-8144-AD90-E1533BA57C3B}" srcOrd="0" destOrd="0" presId="urn:microsoft.com/office/officeart/2005/8/layout/hList6"/>
    <dgm:cxn modelId="{BE549E63-B706-6F47-A515-A2F0A3C50E3A}" srcId="{E3628641-2417-B341-BDCC-47285D1F6C68}" destId="{0253558E-FCA9-8244-A643-348797FAB9E4}" srcOrd="6" destOrd="0" parTransId="{32B013DD-780D-6142-B7B9-D80382F3EBF1}" sibTransId="{2267D7AE-C262-7943-AF02-1BDB495502E5}"/>
    <dgm:cxn modelId="{05C8DF49-FFDE-8A45-9AB9-B0194BD0B45F}" type="presOf" srcId="{30E0722D-81DE-C34D-AE26-4717CC2CCBCB}" destId="{8F6F069F-3B2A-D04B-83E9-79D44DE162D7}" srcOrd="0" destOrd="0" presId="urn:microsoft.com/office/officeart/2005/8/layout/hList6"/>
    <dgm:cxn modelId="{AD3D2F6B-2355-1A43-B3E8-10256B76F36D}" srcId="{E3628641-2417-B341-BDCC-47285D1F6C68}" destId="{F02483DA-7CF6-2E44-B9CE-17FFE286BC6E}" srcOrd="1" destOrd="0" parTransId="{1BEAAD57-4C0C-594A-96F5-EB1F0052E708}" sibTransId="{D7E2CAD3-7F92-3441-A93E-93633E8CD6F7}"/>
    <dgm:cxn modelId="{E57A694F-2826-224D-946E-1E66E42165E8}" srcId="{E3628641-2417-B341-BDCC-47285D1F6C68}" destId="{BD2465CE-1FFF-C24D-ADD5-6AFD3AC52BFE}" srcOrd="4" destOrd="0" parTransId="{166ED6B4-7F12-1A44-AE3F-E07A5FAC738B}" sibTransId="{FFE0DE03-0A1F-AC41-B842-664E9CE4606B}"/>
    <dgm:cxn modelId="{A336BB50-EDC7-7144-8652-E93A817AC929}" type="presOf" srcId="{C34CFD14-EBA2-3041-8306-270926D48E88}" destId="{41D4DD1D-B174-8F49-80E9-D6E0DD13203C}" srcOrd="0" destOrd="0" presId="urn:microsoft.com/office/officeart/2005/8/layout/hList6"/>
    <dgm:cxn modelId="{BAFFEA74-A6C3-2945-860F-8E6FD5A45DD8}" srcId="{E3628641-2417-B341-BDCC-47285D1F6C68}" destId="{DB6AC2BA-0B75-684B-94ED-1AE2D9C9F707}" srcOrd="7" destOrd="0" parTransId="{2AEA05D9-338A-E245-9FDB-3CAAE51AEF73}" sibTransId="{71ED023E-4DCF-C34D-98EA-406EFD2ACB04}"/>
    <dgm:cxn modelId="{5B1F0076-2E5D-B04F-A8FE-BD1DC77FB8C0}" type="presOf" srcId="{F70BA48B-2A3D-B54F-B09E-5121C16CAC75}" destId="{87B18C8D-A7AF-7D4C-97BE-7296A4D1F7E4}" srcOrd="0" destOrd="0" presId="urn:microsoft.com/office/officeart/2005/8/layout/hList6"/>
    <dgm:cxn modelId="{9E3EBC7F-FDC3-C94E-8058-D02369F88F85}" srcId="{E3628641-2417-B341-BDCC-47285D1F6C68}" destId="{F70BA48B-2A3D-B54F-B09E-5121C16CAC75}" srcOrd="0" destOrd="0" parTransId="{9F2D49E3-5853-594F-A5B3-083CD0F613C6}" sibTransId="{F719C99A-AF4B-BD48-B8FA-C7F4EDC2F4FB}"/>
    <dgm:cxn modelId="{0E5ACF81-4A1D-6249-B137-A162D87EE525}" srcId="{E3628641-2417-B341-BDCC-47285D1F6C68}" destId="{C34CFD14-EBA2-3041-8306-270926D48E88}" srcOrd="3" destOrd="0" parTransId="{E98D93E2-224E-7F45-BFD9-AAFA046C98FE}" sibTransId="{D8721CE7-86F7-B141-BDD2-907DFA14A225}"/>
    <dgm:cxn modelId="{01ED5E8F-98C3-E44D-BE17-291A0A6ADE5F}" type="presOf" srcId="{BD2465CE-1FFF-C24D-ADD5-6AFD3AC52BFE}" destId="{28CF9760-770D-BC43-BCBB-3E054F62DF7E}" srcOrd="0" destOrd="0" presId="urn:microsoft.com/office/officeart/2005/8/layout/hList6"/>
    <dgm:cxn modelId="{F988A990-C572-764C-A4F7-04A9E4A2BE4C}" srcId="{E3628641-2417-B341-BDCC-47285D1F6C68}" destId="{94375650-C888-3A44-A0C6-7E577AB21A98}" srcOrd="2" destOrd="0" parTransId="{AB8ABD81-94F4-824A-86CD-571263EC2F8B}" sibTransId="{6D5215AC-4037-BD4A-A1F9-9AE39D954339}"/>
    <dgm:cxn modelId="{3E7F59A8-B541-6646-8798-9DCE0A0C43E3}" type="presOf" srcId="{E3628641-2417-B341-BDCC-47285D1F6C68}" destId="{654DFD37-2367-B448-A2F8-71AB755166DE}" srcOrd="0" destOrd="0" presId="urn:microsoft.com/office/officeart/2005/8/layout/hList6"/>
    <dgm:cxn modelId="{13A273BE-EA6C-0B4B-B31D-AE26A4E4E6A7}" type="presOf" srcId="{94375650-C888-3A44-A0C6-7E577AB21A98}" destId="{E3383C09-73C1-5D40-A98D-98CD09DF88CC}" srcOrd="0" destOrd="0" presId="urn:microsoft.com/office/officeart/2005/8/layout/hList6"/>
    <dgm:cxn modelId="{E880CED5-9B66-5848-AB40-7C11B094D012}" type="presOf" srcId="{DB6AC2BA-0B75-684B-94ED-1AE2D9C9F707}" destId="{B210253B-B61E-0549-8DAB-E1DCD3BBE08E}" srcOrd="0" destOrd="0" presId="urn:microsoft.com/office/officeart/2005/8/layout/hList6"/>
    <dgm:cxn modelId="{5E5C33C2-631E-BE43-9361-7177698D65B2}" type="presParOf" srcId="{654DFD37-2367-B448-A2F8-71AB755166DE}" destId="{87B18C8D-A7AF-7D4C-97BE-7296A4D1F7E4}" srcOrd="0" destOrd="0" presId="urn:microsoft.com/office/officeart/2005/8/layout/hList6"/>
    <dgm:cxn modelId="{C76C093A-4CDD-0342-8D10-C10E93BD6F44}" type="presParOf" srcId="{654DFD37-2367-B448-A2F8-71AB755166DE}" destId="{4DBB3A3B-E597-B54B-BFA6-A19EC10F6AC4}" srcOrd="1" destOrd="0" presId="urn:microsoft.com/office/officeart/2005/8/layout/hList6"/>
    <dgm:cxn modelId="{161C9924-54C0-D644-A5AF-E3DD07423BC6}" type="presParOf" srcId="{654DFD37-2367-B448-A2F8-71AB755166DE}" destId="{11D6AB6E-035D-1F42-9027-7BD2139C4CDA}" srcOrd="2" destOrd="0" presId="urn:microsoft.com/office/officeart/2005/8/layout/hList6"/>
    <dgm:cxn modelId="{83B0724C-16F9-984F-9DEE-78C864D1968F}" type="presParOf" srcId="{654DFD37-2367-B448-A2F8-71AB755166DE}" destId="{38EDF939-1E4C-BF45-86DC-80C4FE0D1CF9}" srcOrd="3" destOrd="0" presId="urn:microsoft.com/office/officeart/2005/8/layout/hList6"/>
    <dgm:cxn modelId="{C80E338B-1961-6044-9396-5AF7B2FA6586}" type="presParOf" srcId="{654DFD37-2367-B448-A2F8-71AB755166DE}" destId="{E3383C09-73C1-5D40-A98D-98CD09DF88CC}" srcOrd="4" destOrd="0" presId="urn:microsoft.com/office/officeart/2005/8/layout/hList6"/>
    <dgm:cxn modelId="{41A5EB98-8A40-2246-BAC0-DB62CF8DA34C}" type="presParOf" srcId="{654DFD37-2367-B448-A2F8-71AB755166DE}" destId="{8050D159-82B8-914F-9D68-FF7840ECE628}" srcOrd="5" destOrd="0" presId="urn:microsoft.com/office/officeart/2005/8/layout/hList6"/>
    <dgm:cxn modelId="{ECCAD511-1453-5F43-B7ED-E9C7E99B8B63}" type="presParOf" srcId="{654DFD37-2367-B448-A2F8-71AB755166DE}" destId="{41D4DD1D-B174-8F49-80E9-D6E0DD13203C}" srcOrd="6" destOrd="0" presId="urn:microsoft.com/office/officeart/2005/8/layout/hList6"/>
    <dgm:cxn modelId="{29034C44-30EB-EE46-B889-C3BE3F514336}" type="presParOf" srcId="{654DFD37-2367-B448-A2F8-71AB755166DE}" destId="{C20EDA11-5F19-0B49-A551-4CB0E6EFF8EC}" srcOrd="7" destOrd="0" presId="urn:microsoft.com/office/officeart/2005/8/layout/hList6"/>
    <dgm:cxn modelId="{3A55D9A7-1552-F349-B926-6E96CDA1F633}" type="presParOf" srcId="{654DFD37-2367-B448-A2F8-71AB755166DE}" destId="{28CF9760-770D-BC43-BCBB-3E054F62DF7E}" srcOrd="8" destOrd="0" presId="urn:microsoft.com/office/officeart/2005/8/layout/hList6"/>
    <dgm:cxn modelId="{00FF15C1-C0C3-EB4F-9956-B6DA6629437C}" type="presParOf" srcId="{654DFD37-2367-B448-A2F8-71AB755166DE}" destId="{4A65FFFD-AA7D-5847-971B-BABEB843317E}" srcOrd="9" destOrd="0" presId="urn:microsoft.com/office/officeart/2005/8/layout/hList6"/>
    <dgm:cxn modelId="{816B98B8-BDCA-E649-9E4A-E9D26CA0B3FE}" type="presParOf" srcId="{654DFD37-2367-B448-A2F8-71AB755166DE}" destId="{8F6F069F-3B2A-D04B-83E9-79D44DE162D7}" srcOrd="10" destOrd="0" presId="urn:microsoft.com/office/officeart/2005/8/layout/hList6"/>
    <dgm:cxn modelId="{BECB93CA-1DC6-BC43-9266-E9A115DD69A3}" type="presParOf" srcId="{654DFD37-2367-B448-A2F8-71AB755166DE}" destId="{8F229911-0FA3-7E46-9DC4-CD38B92062D1}" srcOrd="11" destOrd="0" presId="urn:microsoft.com/office/officeart/2005/8/layout/hList6"/>
    <dgm:cxn modelId="{908C35FD-CF7B-4D40-A34D-FAF65875708C}" type="presParOf" srcId="{654DFD37-2367-B448-A2F8-71AB755166DE}" destId="{38248C2E-AE25-8144-AD90-E1533BA57C3B}" srcOrd="12" destOrd="0" presId="urn:microsoft.com/office/officeart/2005/8/layout/hList6"/>
    <dgm:cxn modelId="{1C32389F-B206-D24B-A7AF-800410D2ECE0}" type="presParOf" srcId="{654DFD37-2367-B448-A2F8-71AB755166DE}" destId="{BD9BB113-073E-EB4F-A556-111121227DC4}" srcOrd="13" destOrd="0" presId="urn:microsoft.com/office/officeart/2005/8/layout/hList6"/>
    <dgm:cxn modelId="{09DE8E06-10CD-6642-8A90-6BA0F2A9D86C}" type="presParOf" srcId="{654DFD37-2367-B448-A2F8-71AB755166DE}" destId="{B210253B-B61E-0549-8DAB-E1DCD3BBE08E}" srcOrd="14" destOrd="0" presId="urn:microsoft.com/office/officeart/2005/8/layout/h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2585831-502D-374B-A192-B7BABC6D4047}" type="doc">
      <dgm:prSet loTypeId="urn:microsoft.com/office/officeart/2005/8/layout/target2" loCatId="relationship" qsTypeId="urn:microsoft.com/office/officeart/2005/8/quickstyle/simple4" qsCatId="simple" csTypeId="urn:microsoft.com/office/officeart/2005/8/colors/accent1_2" csCatId="accent1" phldr="1"/>
      <dgm:spPr/>
      <dgm:t>
        <a:bodyPr/>
        <a:lstStyle/>
        <a:p>
          <a:endParaRPr lang="en-US"/>
        </a:p>
      </dgm:t>
    </dgm:pt>
    <dgm:pt modelId="{9083D836-F9C2-FD40-994A-FBDB3E6A01B7}">
      <dgm:prSet/>
      <dgm:spPr>
        <a:solidFill>
          <a:schemeClr val="accent1"/>
        </a:solidFill>
      </dgm:spPr>
      <dgm:t>
        <a:bodyPr/>
        <a:lstStyle/>
        <a:p>
          <a:pPr rtl="0"/>
          <a:r>
            <a:rPr lang="en-US">
              <a:effectLst>
                <a:outerShdw blurRad="38100" dist="38100" dir="2700000" algn="tl">
                  <a:srgbClr val="000000">
                    <a:alpha val="43137"/>
                  </a:srgbClr>
                </a:outerShdw>
              </a:effectLst>
            </a:rPr>
            <a:t>1965, Gordon Moore</a:t>
          </a:r>
        </a:p>
        <a:p>
          <a:pPr rtl="0"/>
          <a:r>
            <a:rPr lang="en-US">
              <a:effectLst>
                <a:outerShdw blurRad="38100" dist="38100" dir="2700000" algn="tl">
                  <a:srgbClr val="000000">
                    <a:alpha val="43137"/>
                  </a:srgbClr>
                </a:outerShdw>
              </a:effectLst>
            </a:rPr>
            <a:t>(co-founder of Intel)</a:t>
          </a:r>
          <a:endParaRPr lang="en-US" dirty="0">
            <a:effectLst>
              <a:outerShdw blurRad="38100" dist="38100" dir="2700000" algn="tl">
                <a:srgbClr val="000000">
                  <a:alpha val="43137"/>
                </a:srgbClr>
              </a:outerShdw>
            </a:effectLst>
          </a:endParaRPr>
        </a:p>
      </dgm:t>
    </dgm:pt>
    <dgm:pt modelId="{BEC757D0-ECF8-C74C-9713-97041B080D64}" type="parTrans" cxnId="{2C9A8C07-B658-9D4D-BE2E-E9C07797103D}">
      <dgm:prSet/>
      <dgm:spPr/>
      <dgm:t>
        <a:bodyPr/>
        <a:lstStyle/>
        <a:p>
          <a:endParaRPr lang="en-US"/>
        </a:p>
      </dgm:t>
    </dgm:pt>
    <dgm:pt modelId="{8036F8FD-772A-904A-A70C-A16E59E6D5BD}" type="sibTrans" cxnId="{2C9A8C07-B658-9D4D-BE2E-E9C07797103D}">
      <dgm:prSet/>
      <dgm:spPr/>
      <dgm:t>
        <a:bodyPr/>
        <a:lstStyle/>
        <a:p>
          <a:endParaRPr lang="en-US"/>
        </a:p>
      </dgm:t>
    </dgm:pt>
    <dgm:pt modelId="{F661BF27-3B17-DD40-95C5-81C23D7C8061}">
      <dgm:prSet custT="1"/>
      <dgm:spPr>
        <a:solidFill>
          <a:schemeClr val="accent4"/>
        </a:solidFill>
      </dgm:spPr>
      <dgm:t>
        <a:bodyPr/>
        <a:lstStyle/>
        <a:p>
          <a:pPr rtl="0"/>
          <a:r>
            <a:rPr lang="en-US" sz="2400" dirty="0">
              <a:effectLst>
                <a:outerShdw blurRad="38100" dist="38100" dir="2700000" algn="tl">
                  <a:srgbClr val="000000">
                    <a:alpha val="43137"/>
                  </a:srgbClr>
                </a:outerShdw>
              </a:effectLst>
            </a:rPr>
            <a:t>Observed number of transistors that could be put on a single chip was doubling every year</a:t>
          </a:r>
        </a:p>
      </dgm:t>
    </dgm:pt>
    <dgm:pt modelId="{CE9AFAC9-BEB6-734D-8EE3-122E2573F04B}" type="parTrans" cxnId="{C878F039-0BE5-7B4C-A238-12542864A3CD}">
      <dgm:prSet/>
      <dgm:spPr/>
      <dgm:t>
        <a:bodyPr/>
        <a:lstStyle/>
        <a:p>
          <a:endParaRPr lang="en-US"/>
        </a:p>
      </dgm:t>
    </dgm:pt>
    <dgm:pt modelId="{0AA3D669-0874-F54C-9B68-AB116181B3C4}" type="sibTrans" cxnId="{C878F039-0BE5-7B4C-A238-12542864A3CD}">
      <dgm:prSet/>
      <dgm:spPr/>
      <dgm:t>
        <a:bodyPr/>
        <a:lstStyle/>
        <a:p>
          <a:endParaRPr lang="en-US"/>
        </a:p>
      </dgm:t>
    </dgm:pt>
    <dgm:pt modelId="{BAD1B133-3FB4-464C-A351-6F91810CD99E}">
      <dgm:prSet custT="1"/>
      <dgm:spPr/>
      <dgm:t>
        <a:bodyPr/>
        <a:lstStyle/>
        <a:p>
          <a:pPr rtl="0"/>
          <a:r>
            <a:rPr lang="en-US" sz="1100" b="1" dirty="0">
              <a:effectLst/>
            </a:rPr>
            <a:t>The pace slowed to a doubling every 18 months in the 1970’s but has sustained that rate ever since</a:t>
          </a:r>
        </a:p>
      </dgm:t>
    </dgm:pt>
    <dgm:pt modelId="{736A4E65-B531-E547-B202-8F8898FAB6E9}" type="parTrans" cxnId="{4847154F-8122-E545-BFE9-FE0D2254CA64}">
      <dgm:prSet/>
      <dgm:spPr/>
      <dgm:t>
        <a:bodyPr/>
        <a:lstStyle/>
        <a:p>
          <a:endParaRPr lang="en-US"/>
        </a:p>
      </dgm:t>
    </dgm:pt>
    <dgm:pt modelId="{86F678DF-B5F7-8C4B-8A6C-FD1FE14096F1}" type="sibTrans" cxnId="{4847154F-8122-E545-BFE9-FE0D2254CA64}">
      <dgm:prSet/>
      <dgm:spPr/>
      <dgm:t>
        <a:bodyPr/>
        <a:lstStyle/>
        <a:p>
          <a:endParaRPr lang="en-US"/>
        </a:p>
      </dgm:t>
    </dgm:pt>
    <dgm:pt modelId="{7F79720F-E377-5344-9A85-AFB0F93B85CF}">
      <dgm:prSet/>
      <dgm:spPr>
        <a:solidFill>
          <a:schemeClr val="accent3"/>
        </a:solidFill>
      </dgm:spPr>
      <dgm:t>
        <a:bodyPr/>
        <a:lstStyle/>
        <a:p>
          <a:pPr rtl="0"/>
          <a:r>
            <a:rPr lang="en-US" dirty="0">
              <a:effectLst>
                <a:outerShdw blurRad="38100" dist="38100" dir="2700000" algn="tl">
                  <a:srgbClr val="000000">
                    <a:alpha val="43137"/>
                  </a:srgbClr>
                </a:outerShdw>
              </a:effectLst>
            </a:rPr>
            <a:t>Consequences of Moore’s law: </a:t>
          </a:r>
        </a:p>
      </dgm:t>
    </dgm:pt>
    <dgm:pt modelId="{933050AB-57FE-6E4F-A535-D08658AB3A89}" type="parTrans" cxnId="{713E7D03-B055-FB42-8E27-EC1D78EA836A}">
      <dgm:prSet/>
      <dgm:spPr/>
      <dgm:t>
        <a:bodyPr/>
        <a:lstStyle/>
        <a:p>
          <a:endParaRPr lang="en-US"/>
        </a:p>
      </dgm:t>
    </dgm:pt>
    <dgm:pt modelId="{2A2AA238-1DFB-F64F-94B6-D6F5F0EE73CB}" type="sibTrans" cxnId="{713E7D03-B055-FB42-8E27-EC1D78EA836A}">
      <dgm:prSet/>
      <dgm:spPr/>
      <dgm:t>
        <a:bodyPr/>
        <a:lstStyle/>
        <a:p>
          <a:endParaRPr lang="en-US"/>
        </a:p>
      </dgm:t>
    </dgm:pt>
    <dgm:pt modelId="{5BBA2911-4874-C74E-85E2-4C5F8F6462D9}">
      <dgm:prSet custT="1"/>
      <dgm:spPr/>
      <dgm:t>
        <a:bodyPr/>
        <a:lstStyle/>
        <a:p>
          <a:pPr rtl="0"/>
          <a:r>
            <a:rPr lang="en-US" sz="1000" b="1" dirty="0">
              <a:effectLst/>
            </a:rPr>
            <a:t>The cost of computer logic and memory circuitry has fallen at a dramatic rate</a:t>
          </a:r>
        </a:p>
      </dgm:t>
    </dgm:pt>
    <dgm:pt modelId="{72E3CE4C-AB68-E447-8363-547C71E9E9EE}" type="parTrans" cxnId="{A50FDAFF-E888-4141-ABE8-EB107623D90C}">
      <dgm:prSet/>
      <dgm:spPr/>
      <dgm:t>
        <a:bodyPr/>
        <a:lstStyle/>
        <a:p>
          <a:endParaRPr lang="en-US"/>
        </a:p>
      </dgm:t>
    </dgm:pt>
    <dgm:pt modelId="{7F69016B-A921-584C-81B5-0FCF19B650FC}" type="sibTrans" cxnId="{A50FDAFF-E888-4141-ABE8-EB107623D90C}">
      <dgm:prSet/>
      <dgm:spPr/>
      <dgm:t>
        <a:bodyPr/>
        <a:lstStyle/>
        <a:p>
          <a:endParaRPr lang="en-US"/>
        </a:p>
      </dgm:t>
    </dgm:pt>
    <dgm:pt modelId="{6E822890-7F5D-BA48-A9ED-10EE404E778C}">
      <dgm:prSet custT="1"/>
      <dgm:spPr/>
      <dgm:t>
        <a:bodyPr/>
        <a:lstStyle/>
        <a:p>
          <a:pPr rtl="0"/>
          <a:r>
            <a:rPr lang="en-US" sz="1000" b="1" dirty="0">
              <a:effectLst/>
            </a:rPr>
            <a:t>The electrical path length is shortened, increasing operating speed</a:t>
          </a:r>
        </a:p>
      </dgm:t>
    </dgm:pt>
    <dgm:pt modelId="{11F5D556-1EBA-3446-B76E-D7F2228000ED}" type="parTrans" cxnId="{D2A0ABD5-695B-B044-8F63-7563A3F7D76C}">
      <dgm:prSet/>
      <dgm:spPr/>
      <dgm:t>
        <a:bodyPr/>
        <a:lstStyle/>
        <a:p>
          <a:endParaRPr lang="en-US"/>
        </a:p>
      </dgm:t>
    </dgm:pt>
    <dgm:pt modelId="{6109DA0B-B19C-B241-A668-5D4631C27D39}" type="sibTrans" cxnId="{D2A0ABD5-695B-B044-8F63-7563A3F7D76C}">
      <dgm:prSet/>
      <dgm:spPr/>
      <dgm:t>
        <a:bodyPr/>
        <a:lstStyle/>
        <a:p>
          <a:endParaRPr lang="en-US"/>
        </a:p>
      </dgm:t>
    </dgm:pt>
    <dgm:pt modelId="{52E6D3D1-ABE1-3940-A3F1-FD380C960DD1}">
      <dgm:prSet custT="1"/>
      <dgm:spPr/>
      <dgm:t>
        <a:bodyPr/>
        <a:lstStyle/>
        <a:p>
          <a:pPr rtl="0"/>
          <a:r>
            <a:rPr lang="en-US" sz="900" b="1" dirty="0">
              <a:effectLst/>
            </a:rPr>
            <a:t>Computer becomes smaller and is more convenient to use in a variety of environments</a:t>
          </a:r>
        </a:p>
      </dgm:t>
    </dgm:pt>
    <dgm:pt modelId="{B50FECC3-7EE9-3F44-B903-D1E4F55A26F2}" type="parTrans" cxnId="{79BBBC5F-A9F5-6C4B-A81B-56A2BD7B9031}">
      <dgm:prSet/>
      <dgm:spPr/>
      <dgm:t>
        <a:bodyPr/>
        <a:lstStyle/>
        <a:p>
          <a:endParaRPr lang="en-US"/>
        </a:p>
      </dgm:t>
    </dgm:pt>
    <dgm:pt modelId="{02C9860E-AA50-844C-A097-78F218E24063}" type="sibTrans" cxnId="{79BBBC5F-A9F5-6C4B-A81B-56A2BD7B9031}">
      <dgm:prSet/>
      <dgm:spPr/>
      <dgm:t>
        <a:bodyPr/>
        <a:lstStyle/>
        <a:p>
          <a:endParaRPr lang="en-US"/>
        </a:p>
      </dgm:t>
    </dgm:pt>
    <dgm:pt modelId="{9A9FCB9E-A1F1-0F41-9552-36D8BD5C236C}">
      <dgm:prSet custT="1"/>
      <dgm:spPr/>
      <dgm:t>
        <a:bodyPr/>
        <a:lstStyle/>
        <a:p>
          <a:pPr rtl="0"/>
          <a:r>
            <a:rPr lang="en-US" sz="1000" b="1" dirty="0">
              <a:effectLst/>
            </a:rPr>
            <a:t>Reduction in power and cooling requirements</a:t>
          </a:r>
        </a:p>
      </dgm:t>
    </dgm:pt>
    <dgm:pt modelId="{C794FD44-F705-8245-BF16-E06D99C2C8F9}" type="parTrans" cxnId="{B932485B-FF0B-D548-8F89-799C03284F8F}">
      <dgm:prSet/>
      <dgm:spPr/>
      <dgm:t>
        <a:bodyPr/>
        <a:lstStyle/>
        <a:p>
          <a:endParaRPr lang="en-US"/>
        </a:p>
      </dgm:t>
    </dgm:pt>
    <dgm:pt modelId="{748BA313-798C-9640-8B3E-9FD17EBB82E1}" type="sibTrans" cxnId="{B932485B-FF0B-D548-8F89-799C03284F8F}">
      <dgm:prSet/>
      <dgm:spPr/>
      <dgm:t>
        <a:bodyPr/>
        <a:lstStyle/>
        <a:p>
          <a:endParaRPr lang="en-US"/>
        </a:p>
      </dgm:t>
    </dgm:pt>
    <dgm:pt modelId="{AEAA4B00-9826-6C43-9661-FBB2B391EB8C}">
      <dgm:prSet custT="1"/>
      <dgm:spPr/>
      <dgm:t>
        <a:bodyPr/>
        <a:lstStyle/>
        <a:p>
          <a:pPr rtl="0"/>
          <a:r>
            <a:rPr lang="en-US" sz="1000" b="1" dirty="0">
              <a:effectLst/>
            </a:rPr>
            <a:t>Fewer interchip connections</a:t>
          </a:r>
        </a:p>
      </dgm:t>
    </dgm:pt>
    <dgm:pt modelId="{F60696E8-1AFF-4242-AFEC-48F064D37990}" type="parTrans" cxnId="{11AAA65A-544E-9C48-B494-C30A31DF58D4}">
      <dgm:prSet/>
      <dgm:spPr/>
      <dgm:t>
        <a:bodyPr/>
        <a:lstStyle/>
        <a:p>
          <a:endParaRPr lang="en-US"/>
        </a:p>
      </dgm:t>
    </dgm:pt>
    <dgm:pt modelId="{014429E6-A74A-D14D-9C28-1650F2B9EF4E}" type="sibTrans" cxnId="{11AAA65A-544E-9C48-B494-C30A31DF58D4}">
      <dgm:prSet/>
      <dgm:spPr/>
      <dgm:t>
        <a:bodyPr/>
        <a:lstStyle/>
        <a:p>
          <a:endParaRPr lang="en-US"/>
        </a:p>
      </dgm:t>
    </dgm:pt>
    <dgm:pt modelId="{4AE73C61-08A4-BB42-923D-F4637248A0CC}" type="pres">
      <dgm:prSet presAssocID="{D2585831-502D-374B-A192-B7BABC6D4047}" presName="Name0" presStyleCnt="0">
        <dgm:presLayoutVars>
          <dgm:chMax val="3"/>
          <dgm:chPref val="1"/>
          <dgm:dir/>
          <dgm:animLvl val="lvl"/>
          <dgm:resizeHandles/>
        </dgm:presLayoutVars>
      </dgm:prSet>
      <dgm:spPr/>
    </dgm:pt>
    <dgm:pt modelId="{37E71A41-6A0A-4144-ABAE-9065F23B6835}" type="pres">
      <dgm:prSet presAssocID="{D2585831-502D-374B-A192-B7BABC6D4047}" presName="outerBox" presStyleCnt="0"/>
      <dgm:spPr/>
    </dgm:pt>
    <dgm:pt modelId="{5C554690-5023-454D-81BF-0F8EF7FE64E8}" type="pres">
      <dgm:prSet presAssocID="{D2585831-502D-374B-A192-B7BABC6D4047}" presName="outerBoxParent" presStyleLbl="node1" presStyleIdx="0" presStyleCnt="3"/>
      <dgm:spPr/>
    </dgm:pt>
    <dgm:pt modelId="{DB13DB65-DE9F-594C-8582-A1FC74E9C6C0}" type="pres">
      <dgm:prSet presAssocID="{D2585831-502D-374B-A192-B7BABC6D4047}" presName="outerBoxChildren" presStyleCnt="0"/>
      <dgm:spPr/>
    </dgm:pt>
    <dgm:pt modelId="{6EEF0F2A-3A05-1E47-A263-FF215CF47948}" type="pres">
      <dgm:prSet presAssocID="{D2585831-502D-374B-A192-B7BABC6D4047}" presName="middleBox" presStyleCnt="0"/>
      <dgm:spPr/>
    </dgm:pt>
    <dgm:pt modelId="{B4B2A9B5-CBBA-C949-942A-35DE101CCDFE}" type="pres">
      <dgm:prSet presAssocID="{D2585831-502D-374B-A192-B7BABC6D4047}" presName="middleBoxParent" presStyleLbl="node1" presStyleIdx="1" presStyleCnt="3"/>
      <dgm:spPr/>
    </dgm:pt>
    <dgm:pt modelId="{34E8E3CA-E7C5-6D41-94BA-38DE703CBBA7}" type="pres">
      <dgm:prSet presAssocID="{D2585831-502D-374B-A192-B7BABC6D4047}" presName="middleBoxChildren" presStyleCnt="0"/>
      <dgm:spPr/>
    </dgm:pt>
    <dgm:pt modelId="{EA68CD54-2321-944A-9097-D8C9F2E9C2D9}" type="pres">
      <dgm:prSet presAssocID="{BAD1B133-3FB4-464C-A351-6F91810CD99E}" presName="mChild" presStyleLbl="fgAcc1" presStyleIdx="0" presStyleCnt="6">
        <dgm:presLayoutVars>
          <dgm:bulletEnabled val="1"/>
        </dgm:presLayoutVars>
      </dgm:prSet>
      <dgm:spPr/>
    </dgm:pt>
    <dgm:pt modelId="{AB03BA1D-91DF-8B4F-B43D-D1B478197768}" type="pres">
      <dgm:prSet presAssocID="{D2585831-502D-374B-A192-B7BABC6D4047}" presName="centerBox" presStyleCnt="0"/>
      <dgm:spPr/>
    </dgm:pt>
    <dgm:pt modelId="{9EC0930A-9BAA-D347-A334-BC7E180A4743}" type="pres">
      <dgm:prSet presAssocID="{D2585831-502D-374B-A192-B7BABC6D4047}" presName="centerBoxParent" presStyleLbl="node1" presStyleIdx="2" presStyleCnt="3"/>
      <dgm:spPr/>
    </dgm:pt>
    <dgm:pt modelId="{851B01E6-80ED-E345-8BEA-AD24321E99DF}" type="pres">
      <dgm:prSet presAssocID="{D2585831-502D-374B-A192-B7BABC6D4047}" presName="centerBoxChildren" presStyleCnt="0"/>
      <dgm:spPr/>
    </dgm:pt>
    <dgm:pt modelId="{91813869-71C4-7749-AA7F-6F71B8046448}" type="pres">
      <dgm:prSet presAssocID="{5BBA2911-4874-C74E-85E2-4C5F8F6462D9}" presName="cChild" presStyleLbl="fgAcc1" presStyleIdx="1" presStyleCnt="6">
        <dgm:presLayoutVars>
          <dgm:bulletEnabled val="1"/>
        </dgm:presLayoutVars>
      </dgm:prSet>
      <dgm:spPr/>
    </dgm:pt>
    <dgm:pt modelId="{D62C8E5A-DCDA-9C4F-BCCD-DA89BEF23B4E}" type="pres">
      <dgm:prSet presAssocID="{7F69016B-A921-584C-81B5-0FCF19B650FC}" presName="centerSibTrans" presStyleCnt="0"/>
      <dgm:spPr/>
    </dgm:pt>
    <dgm:pt modelId="{43D95310-0335-8948-925B-493826D68CA7}" type="pres">
      <dgm:prSet presAssocID="{6E822890-7F5D-BA48-A9ED-10EE404E778C}" presName="cChild" presStyleLbl="fgAcc1" presStyleIdx="2" presStyleCnt="6">
        <dgm:presLayoutVars>
          <dgm:bulletEnabled val="1"/>
        </dgm:presLayoutVars>
      </dgm:prSet>
      <dgm:spPr/>
    </dgm:pt>
    <dgm:pt modelId="{4E6DDC86-C701-C443-9AB2-0E9A35DB7AD9}" type="pres">
      <dgm:prSet presAssocID="{6109DA0B-B19C-B241-A668-5D4631C27D39}" presName="centerSibTrans" presStyleCnt="0"/>
      <dgm:spPr/>
    </dgm:pt>
    <dgm:pt modelId="{2BFD2A48-BAFB-C448-9560-380462349BFA}" type="pres">
      <dgm:prSet presAssocID="{52E6D3D1-ABE1-3940-A3F1-FD380C960DD1}" presName="cChild" presStyleLbl="fgAcc1" presStyleIdx="3" presStyleCnt="6">
        <dgm:presLayoutVars>
          <dgm:bulletEnabled val="1"/>
        </dgm:presLayoutVars>
      </dgm:prSet>
      <dgm:spPr/>
    </dgm:pt>
    <dgm:pt modelId="{7E95640C-67A1-F344-B8CD-301632A9C6A3}" type="pres">
      <dgm:prSet presAssocID="{02C9860E-AA50-844C-A097-78F218E24063}" presName="centerSibTrans" presStyleCnt="0"/>
      <dgm:spPr/>
    </dgm:pt>
    <dgm:pt modelId="{54116479-2825-CE4B-A0CD-356DD46D1C46}" type="pres">
      <dgm:prSet presAssocID="{9A9FCB9E-A1F1-0F41-9552-36D8BD5C236C}" presName="cChild" presStyleLbl="fgAcc1" presStyleIdx="4" presStyleCnt="6">
        <dgm:presLayoutVars>
          <dgm:bulletEnabled val="1"/>
        </dgm:presLayoutVars>
      </dgm:prSet>
      <dgm:spPr/>
    </dgm:pt>
    <dgm:pt modelId="{EDF3239A-57F4-AF43-97AF-9D01BB7064C9}" type="pres">
      <dgm:prSet presAssocID="{748BA313-798C-9640-8B3E-9FD17EBB82E1}" presName="centerSibTrans" presStyleCnt="0"/>
      <dgm:spPr/>
    </dgm:pt>
    <dgm:pt modelId="{A184587C-4EF5-0248-B0F8-E4E73CF3787B}" type="pres">
      <dgm:prSet presAssocID="{AEAA4B00-9826-6C43-9661-FBB2B391EB8C}" presName="cChild" presStyleLbl="fgAcc1" presStyleIdx="5" presStyleCnt="6">
        <dgm:presLayoutVars>
          <dgm:bulletEnabled val="1"/>
        </dgm:presLayoutVars>
      </dgm:prSet>
      <dgm:spPr/>
    </dgm:pt>
  </dgm:ptLst>
  <dgm:cxnLst>
    <dgm:cxn modelId="{C0B35203-E1EA-1F4F-9021-D80D2FC50ABF}" type="presOf" srcId="{9083D836-F9C2-FD40-994A-FBDB3E6A01B7}" destId="{5C554690-5023-454D-81BF-0F8EF7FE64E8}" srcOrd="0" destOrd="0" presId="urn:microsoft.com/office/officeart/2005/8/layout/target2"/>
    <dgm:cxn modelId="{713E7D03-B055-FB42-8E27-EC1D78EA836A}" srcId="{D2585831-502D-374B-A192-B7BABC6D4047}" destId="{7F79720F-E377-5344-9A85-AFB0F93B85CF}" srcOrd="2" destOrd="0" parTransId="{933050AB-57FE-6E4F-A535-D08658AB3A89}" sibTransId="{2A2AA238-1DFB-F64F-94B6-D6F5F0EE73CB}"/>
    <dgm:cxn modelId="{2C9A8C07-B658-9D4D-BE2E-E9C07797103D}" srcId="{D2585831-502D-374B-A192-B7BABC6D4047}" destId="{9083D836-F9C2-FD40-994A-FBDB3E6A01B7}" srcOrd="0" destOrd="0" parTransId="{BEC757D0-ECF8-C74C-9713-97041B080D64}" sibTransId="{8036F8FD-772A-904A-A70C-A16E59E6D5BD}"/>
    <dgm:cxn modelId="{6239CC0B-794B-3149-9C10-B0198AC8F816}" type="presOf" srcId="{AEAA4B00-9826-6C43-9661-FBB2B391EB8C}" destId="{A184587C-4EF5-0248-B0F8-E4E73CF3787B}" srcOrd="0" destOrd="0" presId="urn:microsoft.com/office/officeart/2005/8/layout/target2"/>
    <dgm:cxn modelId="{6BB18F36-1EFB-1B40-AB12-DFEB2BAED6CD}" type="presOf" srcId="{7F79720F-E377-5344-9A85-AFB0F93B85CF}" destId="{9EC0930A-9BAA-D347-A334-BC7E180A4743}" srcOrd="0" destOrd="0" presId="urn:microsoft.com/office/officeart/2005/8/layout/target2"/>
    <dgm:cxn modelId="{C878F039-0BE5-7B4C-A238-12542864A3CD}" srcId="{D2585831-502D-374B-A192-B7BABC6D4047}" destId="{F661BF27-3B17-DD40-95C5-81C23D7C8061}" srcOrd="1" destOrd="0" parTransId="{CE9AFAC9-BEB6-734D-8EE3-122E2573F04B}" sibTransId="{0AA3D669-0874-F54C-9B68-AB116181B3C4}"/>
    <dgm:cxn modelId="{B932485B-FF0B-D548-8F89-799C03284F8F}" srcId="{7F79720F-E377-5344-9A85-AFB0F93B85CF}" destId="{9A9FCB9E-A1F1-0F41-9552-36D8BD5C236C}" srcOrd="3" destOrd="0" parTransId="{C794FD44-F705-8245-BF16-E06D99C2C8F9}" sibTransId="{748BA313-798C-9640-8B3E-9FD17EBB82E1}"/>
    <dgm:cxn modelId="{79BBBC5F-A9F5-6C4B-A81B-56A2BD7B9031}" srcId="{7F79720F-E377-5344-9A85-AFB0F93B85CF}" destId="{52E6D3D1-ABE1-3940-A3F1-FD380C960DD1}" srcOrd="2" destOrd="0" parTransId="{B50FECC3-7EE9-3F44-B903-D1E4F55A26F2}" sibTransId="{02C9860E-AA50-844C-A097-78F218E24063}"/>
    <dgm:cxn modelId="{E9DC3949-8189-614E-8E34-61CF92626D2A}" type="presOf" srcId="{D2585831-502D-374B-A192-B7BABC6D4047}" destId="{4AE73C61-08A4-BB42-923D-F4637248A0CC}" srcOrd="0" destOrd="0" presId="urn:microsoft.com/office/officeart/2005/8/layout/target2"/>
    <dgm:cxn modelId="{B6086D6C-149D-C540-8419-E6FC3F823604}" type="presOf" srcId="{9A9FCB9E-A1F1-0F41-9552-36D8BD5C236C}" destId="{54116479-2825-CE4B-A0CD-356DD46D1C46}" srcOrd="0" destOrd="0" presId="urn:microsoft.com/office/officeart/2005/8/layout/target2"/>
    <dgm:cxn modelId="{4847154F-8122-E545-BFE9-FE0D2254CA64}" srcId="{F661BF27-3B17-DD40-95C5-81C23D7C8061}" destId="{BAD1B133-3FB4-464C-A351-6F91810CD99E}" srcOrd="0" destOrd="0" parTransId="{736A4E65-B531-E547-B202-8F8898FAB6E9}" sibTransId="{86F678DF-B5F7-8C4B-8A6C-FD1FE14096F1}"/>
    <dgm:cxn modelId="{11AAA65A-544E-9C48-B494-C30A31DF58D4}" srcId="{7F79720F-E377-5344-9A85-AFB0F93B85CF}" destId="{AEAA4B00-9826-6C43-9661-FBB2B391EB8C}" srcOrd="4" destOrd="0" parTransId="{F60696E8-1AFF-4242-AFEC-48F064D37990}" sibTransId="{014429E6-A74A-D14D-9C28-1650F2B9EF4E}"/>
    <dgm:cxn modelId="{32C37194-35F8-2541-9E02-C3C6962857BC}" type="presOf" srcId="{5BBA2911-4874-C74E-85E2-4C5F8F6462D9}" destId="{91813869-71C4-7749-AA7F-6F71B8046448}" srcOrd="0" destOrd="0" presId="urn:microsoft.com/office/officeart/2005/8/layout/target2"/>
    <dgm:cxn modelId="{48AE94D2-185F-BF49-B0AE-F301A02878BC}" type="presOf" srcId="{BAD1B133-3FB4-464C-A351-6F91810CD99E}" destId="{EA68CD54-2321-944A-9097-D8C9F2E9C2D9}" srcOrd="0" destOrd="0" presId="urn:microsoft.com/office/officeart/2005/8/layout/target2"/>
    <dgm:cxn modelId="{D2A0ABD5-695B-B044-8F63-7563A3F7D76C}" srcId="{7F79720F-E377-5344-9A85-AFB0F93B85CF}" destId="{6E822890-7F5D-BA48-A9ED-10EE404E778C}" srcOrd="1" destOrd="0" parTransId="{11F5D556-1EBA-3446-B76E-D7F2228000ED}" sibTransId="{6109DA0B-B19C-B241-A668-5D4631C27D39}"/>
    <dgm:cxn modelId="{5CEDC3E7-7F37-E44B-9947-528F5B34C7A4}" type="presOf" srcId="{6E822890-7F5D-BA48-A9ED-10EE404E778C}" destId="{43D95310-0335-8948-925B-493826D68CA7}" srcOrd="0" destOrd="0" presId="urn:microsoft.com/office/officeart/2005/8/layout/target2"/>
    <dgm:cxn modelId="{78E55AEF-42F6-4C41-B7FC-72E773609FC6}" type="presOf" srcId="{52E6D3D1-ABE1-3940-A3F1-FD380C960DD1}" destId="{2BFD2A48-BAFB-C448-9560-380462349BFA}" srcOrd="0" destOrd="0" presId="urn:microsoft.com/office/officeart/2005/8/layout/target2"/>
    <dgm:cxn modelId="{A50FDAFF-E888-4141-ABE8-EB107623D90C}" srcId="{7F79720F-E377-5344-9A85-AFB0F93B85CF}" destId="{5BBA2911-4874-C74E-85E2-4C5F8F6462D9}" srcOrd="0" destOrd="0" parTransId="{72E3CE4C-AB68-E447-8363-547C71E9E9EE}" sibTransId="{7F69016B-A921-584C-81B5-0FCF19B650FC}"/>
    <dgm:cxn modelId="{BD84DBFF-15DC-6A46-B85A-9AAD7A886181}" type="presOf" srcId="{F661BF27-3B17-DD40-95C5-81C23D7C8061}" destId="{B4B2A9B5-CBBA-C949-942A-35DE101CCDFE}" srcOrd="0" destOrd="0" presId="urn:microsoft.com/office/officeart/2005/8/layout/target2"/>
    <dgm:cxn modelId="{0FFC1049-F110-9C4C-8DF4-9BDDA7CA9A2E}" type="presParOf" srcId="{4AE73C61-08A4-BB42-923D-F4637248A0CC}" destId="{37E71A41-6A0A-4144-ABAE-9065F23B6835}" srcOrd="0" destOrd="0" presId="urn:microsoft.com/office/officeart/2005/8/layout/target2"/>
    <dgm:cxn modelId="{CC7F0AA1-E09D-5645-95A1-7106CA8FA0CB}" type="presParOf" srcId="{37E71A41-6A0A-4144-ABAE-9065F23B6835}" destId="{5C554690-5023-454D-81BF-0F8EF7FE64E8}" srcOrd="0" destOrd="0" presId="urn:microsoft.com/office/officeart/2005/8/layout/target2"/>
    <dgm:cxn modelId="{8A4C2525-D995-D245-96B9-CCC865DC9F11}" type="presParOf" srcId="{37E71A41-6A0A-4144-ABAE-9065F23B6835}" destId="{DB13DB65-DE9F-594C-8582-A1FC74E9C6C0}" srcOrd="1" destOrd="0" presId="urn:microsoft.com/office/officeart/2005/8/layout/target2"/>
    <dgm:cxn modelId="{3294C466-FFB1-5A44-84B2-ED98FC1B3BB4}" type="presParOf" srcId="{4AE73C61-08A4-BB42-923D-F4637248A0CC}" destId="{6EEF0F2A-3A05-1E47-A263-FF215CF47948}" srcOrd="1" destOrd="0" presId="urn:microsoft.com/office/officeart/2005/8/layout/target2"/>
    <dgm:cxn modelId="{5F367406-4A58-324F-AC6C-C5413E584C35}" type="presParOf" srcId="{6EEF0F2A-3A05-1E47-A263-FF215CF47948}" destId="{B4B2A9B5-CBBA-C949-942A-35DE101CCDFE}" srcOrd="0" destOrd="0" presId="urn:microsoft.com/office/officeart/2005/8/layout/target2"/>
    <dgm:cxn modelId="{5AC4AEE9-CF85-1D43-A2DF-23DD26010196}" type="presParOf" srcId="{6EEF0F2A-3A05-1E47-A263-FF215CF47948}" destId="{34E8E3CA-E7C5-6D41-94BA-38DE703CBBA7}" srcOrd="1" destOrd="0" presId="urn:microsoft.com/office/officeart/2005/8/layout/target2"/>
    <dgm:cxn modelId="{13D5F622-7DB2-E74A-87DE-D7D94A389BD3}" type="presParOf" srcId="{34E8E3CA-E7C5-6D41-94BA-38DE703CBBA7}" destId="{EA68CD54-2321-944A-9097-D8C9F2E9C2D9}" srcOrd="0" destOrd="0" presId="urn:microsoft.com/office/officeart/2005/8/layout/target2"/>
    <dgm:cxn modelId="{B4EC5EE1-F2F9-8248-9D12-90E418CDD1F9}" type="presParOf" srcId="{4AE73C61-08A4-BB42-923D-F4637248A0CC}" destId="{AB03BA1D-91DF-8B4F-B43D-D1B478197768}" srcOrd="2" destOrd="0" presId="urn:microsoft.com/office/officeart/2005/8/layout/target2"/>
    <dgm:cxn modelId="{8C0AD04F-29D6-634F-B65D-804A7C3AEA91}" type="presParOf" srcId="{AB03BA1D-91DF-8B4F-B43D-D1B478197768}" destId="{9EC0930A-9BAA-D347-A334-BC7E180A4743}" srcOrd="0" destOrd="0" presId="urn:microsoft.com/office/officeart/2005/8/layout/target2"/>
    <dgm:cxn modelId="{D37F99F3-CE92-9B43-BA0F-90084D4B045D}" type="presParOf" srcId="{AB03BA1D-91DF-8B4F-B43D-D1B478197768}" destId="{851B01E6-80ED-E345-8BEA-AD24321E99DF}" srcOrd="1" destOrd="0" presId="urn:microsoft.com/office/officeart/2005/8/layout/target2"/>
    <dgm:cxn modelId="{85ED0D2A-B5CE-E44F-AEAD-A1BED1E02F2E}" type="presParOf" srcId="{851B01E6-80ED-E345-8BEA-AD24321E99DF}" destId="{91813869-71C4-7749-AA7F-6F71B8046448}" srcOrd="0" destOrd="0" presId="urn:microsoft.com/office/officeart/2005/8/layout/target2"/>
    <dgm:cxn modelId="{C773B59C-41DC-A548-AB03-F269FDDAB4F6}" type="presParOf" srcId="{851B01E6-80ED-E345-8BEA-AD24321E99DF}" destId="{D62C8E5A-DCDA-9C4F-BCCD-DA89BEF23B4E}" srcOrd="1" destOrd="0" presId="urn:microsoft.com/office/officeart/2005/8/layout/target2"/>
    <dgm:cxn modelId="{8DDB8814-F369-234A-B0D6-AE2DBF356FC4}" type="presParOf" srcId="{851B01E6-80ED-E345-8BEA-AD24321E99DF}" destId="{43D95310-0335-8948-925B-493826D68CA7}" srcOrd="2" destOrd="0" presId="urn:microsoft.com/office/officeart/2005/8/layout/target2"/>
    <dgm:cxn modelId="{B753E267-C692-A14A-838A-D216DBDC5B9E}" type="presParOf" srcId="{851B01E6-80ED-E345-8BEA-AD24321E99DF}" destId="{4E6DDC86-C701-C443-9AB2-0E9A35DB7AD9}" srcOrd="3" destOrd="0" presId="urn:microsoft.com/office/officeart/2005/8/layout/target2"/>
    <dgm:cxn modelId="{AF4B874F-1A41-B44B-A5EC-FE80B31679EC}" type="presParOf" srcId="{851B01E6-80ED-E345-8BEA-AD24321E99DF}" destId="{2BFD2A48-BAFB-C448-9560-380462349BFA}" srcOrd="4" destOrd="0" presId="urn:microsoft.com/office/officeart/2005/8/layout/target2"/>
    <dgm:cxn modelId="{0C4A58DD-C2CD-5B42-83D4-ED8D8737B475}" type="presParOf" srcId="{851B01E6-80ED-E345-8BEA-AD24321E99DF}" destId="{7E95640C-67A1-F344-B8CD-301632A9C6A3}" srcOrd="5" destOrd="0" presId="urn:microsoft.com/office/officeart/2005/8/layout/target2"/>
    <dgm:cxn modelId="{78266B7C-452E-614B-A7DE-7E0103291EA0}" type="presParOf" srcId="{851B01E6-80ED-E345-8BEA-AD24321E99DF}" destId="{54116479-2825-CE4B-A0CD-356DD46D1C46}" srcOrd="6" destOrd="0" presId="urn:microsoft.com/office/officeart/2005/8/layout/target2"/>
    <dgm:cxn modelId="{46A9448A-09D8-E34F-B65B-F3998BB80E2A}" type="presParOf" srcId="{851B01E6-80ED-E345-8BEA-AD24321E99DF}" destId="{EDF3239A-57F4-AF43-97AF-9D01BB7064C9}" srcOrd="7" destOrd="0" presId="urn:microsoft.com/office/officeart/2005/8/layout/target2"/>
    <dgm:cxn modelId="{3101F711-CD9F-2B4F-B31D-92847D39FEA7}" type="presParOf" srcId="{851B01E6-80ED-E345-8BEA-AD24321E99DF}" destId="{A184587C-4EF5-0248-B0F8-E4E73CF3787B}" srcOrd="8" destOrd="0" presId="urn:microsoft.com/office/officeart/2005/8/layout/targe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514355C-BD07-304E-A9A7-5B5A8E330603}" type="doc">
      <dgm:prSet loTypeId="urn:microsoft.com/office/officeart/2005/8/layout/process4" loCatId="process" qsTypeId="urn:microsoft.com/office/officeart/2005/8/quickstyle/simple4" qsCatId="simple" csTypeId="urn:microsoft.com/office/officeart/2005/8/colors/accent1_2" csCatId="accent1" phldr="1"/>
      <dgm:spPr/>
      <dgm:t>
        <a:bodyPr/>
        <a:lstStyle/>
        <a:p>
          <a:endParaRPr lang="en-US"/>
        </a:p>
      </dgm:t>
    </dgm:pt>
    <dgm:pt modelId="{3271F505-C3FF-754B-908B-494AD0E2A605}">
      <dgm:prSet/>
      <dgm:spPr>
        <a:ln>
          <a:solidFill>
            <a:srgbClr val="8000FF"/>
          </a:solidFill>
        </a:ln>
      </dgm:spPr>
      <dgm:t>
        <a:bodyPr/>
        <a:lstStyle/>
        <a:p>
          <a:pPr rtl="0"/>
          <a:r>
            <a:rPr lang="en-US" dirty="0"/>
            <a:t>In 1970 Fairchild produced the first relatively capacious semiconductor memory</a:t>
          </a:r>
        </a:p>
      </dgm:t>
    </dgm:pt>
    <dgm:pt modelId="{F33400EB-03E8-D046-8134-1D7B1F0B279C}" type="parTrans" cxnId="{66D9707E-017F-0541-B9E4-82E8448EF0C1}">
      <dgm:prSet/>
      <dgm:spPr/>
      <dgm:t>
        <a:bodyPr/>
        <a:lstStyle/>
        <a:p>
          <a:endParaRPr lang="en-US"/>
        </a:p>
      </dgm:t>
    </dgm:pt>
    <dgm:pt modelId="{1705B43B-9B94-774F-8E8E-1DD57A15E1C3}" type="sibTrans" cxnId="{66D9707E-017F-0541-B9E4-82E8448EF0C1}">
      <dgm:prSet/>
      <dgm:spPr/>
      <dgm:t>
        <a:bodyPr/>
        <a:lstStyle/>
        <a:p>
          <a:endParaRPr lang="en-US"/>
        </a:p>
      </dgm:t>
    </dgm:pt>
    <dgm:pt modelId="{817284ED-408B-1142-8761-CBD62D7F989C}">
      <dgm:prSet/>
      <dgm:spPr>
        <a:ln>
          <a:solidFill>
            <a:schemeClr val="accent3"/>
          </a:solidFill>
        </a:ln>
      </dgm:spPr>
      <dgm:t>
        <a:bodyPr/>
        <a:lstStyle/>
        <a:p>
          <a:pPr rtl="0"/>
          <a:r>
            <a:rPr lang="en-US" dirty="0">
              <a:solidFill>
                <a:schemeClr val="tx1"/>
              </a:solidFill>
            </a:rPr>
            <a:t>Chip was about the size of a single core</a:t>
          </a:r>
        </a:p>
      </dgm:t>
    </dgm:pt>
    <dgm:pt modelId="{97CBEE3D-6F45-9140-8FB3-C772A9165A86}" type="parTrans" cxnId="{CAF8D241-9843-4643-908B-783DD0D62DB8}">
      <dgm:prSet/>
      <dgm:spPr/>
      <dgm:t>
        <a:bodyPr/>
        <a:lstStyle/>
        <a:p>
          <a:endParaRPr lang="en-US"/>
        </a:p>
      </dgm:t>
    </dgm:pt>
    <dgm:pt modelId="{02241F8F-F691-FD45-85D7-7763B76C4782}" type="sibTrans" cxnId="{CAF8D241-9843-4643-908B-783DD0D62DB8}">
      <dgm:prSet/>
      <dgm:spPr/>
      <dgm:t>
        <a:bodyPr/>
        <a:lstStyle/>
        <a:p>
          <a:endParaRPr lang="en-US"/>
        </a:p>
      </dgm:t>
    </dgm:pt>
    <dgm:pt modelId="{6834AEE2-8096-5B4C-9533-188046F45A57}">
      <dgm:prSet/>
      <dgm:spPr>
        <a:ln>
          <a:solidFill>
            <a:schemeClr val="accent3"/>
          </a:solidFill>
        </a:ln>
      </dgm:spPr>
      <dgm:t>
        <a:bodyPr/>
        <a:lstStyle/>
        <a:p>
          <a:pPr rtl="0"/>
          <a:r>
            <a:rPr lang="en-US" dirty="0"/>
            <a:t>Could hold 256 bits of memory</a:t>
          </a:r>
        </a:p>
      </dgm:t>
    </dgm:pt>
    <dgm:pt modelId="{FD9327AE-87AA-6345-9BC0-4BDE8AE5AAD6}" type="parTrans" cxnId="{F58FF5D7-B6ED-F047-9A38-29337FD68537}">
      <dgm:prSet/>
      <dgm:spPr/>
      <dgm:t>
        <a:bodyPr/>
        <a:lstStyle/>
        <a:p>
          <a:endParaRPr lang="en-US"/>
        </a:p>
      </dgm:t>
    </dgm:pt>
    <dgm:pt modelId="{F8DE7C9B-37F6-4945-832C-8BA2E140444E}" type="sibTrans" cxnId="{F58FF5D7-B6ED-F047-9A38-29337FD68537}">
      <dgm:prSet/>
      <dgm:spPr/>
      <dgm:t>
        <a:bodyPr/>
        <a:lstStyle/>
        <a:p>
          <a:endParaRPr lang="en-US"/>
        </a:p>
      </dgm:t>
    </dgm:pt>
    <dgm:pt modelId="{B4C1D064-BA44-844B-A2F2-1467D57B3DC4}">
      <dgm:prSet/>
      <dgm:spPr>
        <a:ln>
          <a:solidFill>
            <a:schemeClr val="accent3"/>
          </a:solidFill>
        </a:ln>
      </dgm:spPr>
      <dgm:t>
        <a:bodyPr/>
        <a:lstStyle/>
        <a:p>
          <a:pPr rtl="0"/>
          <a:r>
            <a:rPr lang="en-US" dirty="0"/>
            <a:t>Non-destructive</a:t>
          </a:r>
        </a:p>
      </dgm:t>
    </dgm:pt>
    <dgm:pt modelId="{7D7594D6-9390-6C4A-8F58-04ACCAB058EA}" type="parTrans" cxnId="{19545A82-0EF7-424A-B17C-075AB7479C76}">
      <dgm:prSet/>
      <dgm:spPr/>
      <dgm:t>
        <a:bodyPr/>
        <a:lstStyle/>
        <a:p>
          <a:endParaRPr lang="en-US"/>
        </a:p>
      </dgm:t>
    </dgm:pt>
    <dgm:pt modelId="{D4F10827-D5DD-8342-9C1A-E83DCE9D6F49}" type="sibTrans" cxnId="{19545A82-0EF7-424A-B17C-075AB7479C76}">
      <dgm:prSet/>
      <dgm:spPr/>
      <dgm:t>
        <a:bodyPr/>
        <a:lstStyle/>
        <a:p>
          <a:endParaRPr lang="en-US"/>
        </a:p>
      </dgm:t>
    </dgm:pt>
    <dgm:pt modelId="{2026C043-D031-5640-8E56-22C54ED33342}">
      <dgm:prSet/>
      <dgm:spPr>
        <a:ln>
          <a:solidFill>
            <a:schemeClr val="accent3"/>
          </a:solidFill>
        </a:ln>
      </dgm:spPr>
      <dgm:t>
        <a:bodyPr/>
        <a:lstStyle/>
        <a:p>
          <a:pPr rtl="0"/>
          <a:r>
            <a:rPr lang="en-US" dirty="0"/>
            <a:t>Much faster than core </a:t>
          </a:r>
        </a:p>
      </dgm:t>
    </dgm:pt>
    <dgm:pt modelId="{DCEF23BA-964B-CA45-961E-2A94EC5CC5FE}" type="parTrans" cxnId="{348BF8BD-1A08-4645-A887-68EADAD8A464}">
      <dgm:prSet/>
      <dgm:spPr/>
      <dgm:t>
        <a:bodyPr/>
        <a:lstStyle/>
        <a:p>
          <a:endParaRPr lang="en-US"/>
        </a:p>
      </dgm:t>
    </dgm:pt>
    <dgm:pt modelId="{223A53D8-C58D-9F40-A10B-F52EB18B1370}" type="sibTrans" cxnId="{348BF8BD-1A08-4645-A887-68EADAD8A464}">
      <dgm:prSet/>
      <dgm:spPr/>
      <dgm:t>
        <a:bodyPr/>
        <a:lstStyle/>
        <a:p>
          <a:endParaRPr lang="en-US"/>
        </a:p>
      </dgm:t>
    </dgm:pt>
    <dgm:pt modelId="{8AF4DBE5-D1CE-DD4C-9CE4-60DD5602C7CA}">
      <dgm:prSet/>
      <dgm:spPr>
        <a:ln>
          <a:solidFill>
            <a:srgbClr val="8000FF"/>
          </a:solidFill>
        </a:ln>
      </dgm:spPr>
      <dgm:t>
        <a:bodyPr/>
        <a:lstStyle/>
        <a:p>
          <a:pPr rtl="0"/>
          <a:r>
            <a:rPr lang="en-US" dirty="0"/>
            <a:t>In 1974 the price per bit of semiconductor memory dropped below the price per bit of core memory</a:t>
          </a:r>
        </a:p>
      </dgm:t>
    </dgm:pt>
    <dgm:pt modelId="{1EF48EDA-8CF5-8D42-AB40-54229C718025}" type="parTrans" cxnId="{CD0CE997-B428-C74D-8F50-0415CF76E67F}">
      <dgm:prSet/>
      <dgm:spPr/>
      <dgm:t>
        <a:bodyPr/>
        <a:lstStyle/>
        <a:p>
          <a:endParaRPr lang="en-US"/>
        </a:p>
      </dgm:t>
    </dgm:pt>
    <dgm:pt modelId="{4BBEC0EF-1496-4149-8F4F-48A1110908BB}" type="sibTrans" cxnId="{CD0CE997-B428-C74D-8F50-0415CF76E67F}">
      <dgm:prSet/>
      <dgm:spPr/>
      <dgm:t>
        <a:bodyPr/>
        <a:lstStyle/>
        <a:p>
          <a:endParaRPr lang="en-US"/>
        </a:p>
      </dgm:t>
    </dgm:pt>
    <dgm:pt modelId="{CA3D650F-52D7-2F4F-96C0-F0B31CBB53DA}">
      <dgm:prSet/>
      <dgm:spPr>
        <a:ln>
          <a:solidFill>
            <a:schemeClr val="accent3"/>
          </a:solidFill>
        </a:ln>
      </dgm:spPr>
      <dgm:t>
        <a:bodyPr/>
        <a:lstStyle/>
        <a:p>
          <a:pPr rtl="0"/>
          <a:r>
            <a:rPr lang="en-US" dirty="0">
              <a:solidFill>
                <a:schemeClr val="tx1"/>
              </a:solidFill>
            </a:rPr>
            <a:t>There has been a continuing and rapid decline in memory cost accompanied by a corresponding increase in physical memory density</a:t>
          </a:r>
        </a:p>
      </dgm:t>
    </dgm:pt>
    <dgm:pt modelId="{A66D4ECC-D4F4-E946-A41F-706FD48B82C5}" type="parTrans" cxnId="{D7663D01-0AFF-1144-8F20-B3F30BD3A7F8}">
      <dgm:prSet/>
      <dgm:spPr/>
      <dgm:t>
        <a:bodyPr/>
        <a:lstStyle/>
        <a:p>
          <a:endParaRPr lang="en-US"/>
        </a:p>
      </dgm:t>
    </dgm:pt>
    <dgm:pt modelId="{1B254916-FADB-4243-BF0F-BD3D68E12D68}" type="sibTrans" cxnId="{D7663D01-0AFF-1144-8F20-B3F30BD3A7F8}">
      <dgm:prSet/>
      <dgm:spPr/>
      <dgm:t>
        <a:bodyPr/>
        <a:lstStyle/>
        <a:p>
          <a:endParaRPr lang="en-US"/>
        </a:p>
      </dgm:t>
    </dgm:pt>
    <dgm:pt modelId="{CD2163DA-4932-084C-9EAD-3AEB9F60245D}">
      <dgm:prSet/>
      <dgm:spPr>
        <a:ln>
          <a:solidFill>
            <a:schemeClr val="accent3"/>
          </a:solidFill>
        </a:ln>
      </dgm:spPr>
      <dgm:t>
        <a:bodyPr/>
        <a:lstStyle/>
        <a:p>
          <a:pPr rtl="0"/>
          <a:r>
            <a:rPr lang="en-US" dirty="0">
              <a:solidFill>
                <a:schemeClr val="tx1"/>
              </a:solidFill>
            </a:rPr>
            <a:t>Developments in memory and processor technologies changed the nature of computers in less than a decade</a:t>
          </a:r>
        </a:p>
      </dgm:t>
    </dgm:pt>
    <dgm:pt modelId="{4ABAB12B-92BE-E24A-B331-12256B8252D9}" type="parTrans" cxnId="{CEBEFBD1-92F3-9A4C-82DE-60717B78124D}">
      <dgm:prSet/>
      <dgm:spPr/>
      <dgm:t>
        <a:bodyPr/>
        <a:lstStyle/>
        <a:p>
          <a:endParaRPr lang="en-US"/>
        </a:p>
      </dgm:t>
    </dgm:pt>
    <dgm:pt modelId="{0ED0B7DD-BF44-F54A-ADEA-926BD221FD74}" type="sibTrans" cxnId="{CEBEFBD1-92F3-9A4C-82DE-60717B78124D}">
      <dgm:prSet/>
      <dgm:spPr/>
      <dgm:t>
        <a:bodyPr/>
        <a:lstStyle/>
        <a:p>
          <a:endParaRPr lang="en-US"/>
        </a:p>
      </dgm:t>
    </dgm:pt>
    <dgm:pt modelId="{0CEB27C1-112D-8A4D-9AAB-F203F016997D}">
      <dgm:prSet/>
      <dgm:spPr/>
      <dgm:t>
        <a:bodyPr/>
        <a:lstStyle/>
        <a:p>
          <a:pPr rtl="0"/>
          <a:r>
            <a:rPr lang="en-US" dirty="0"/>
            <a:t>Since 1970 semiconductor memory has been through 13 generations</a:t>
          </a:r>
        </a:p>
      </dgm:t>
    </dgm:pt>
    <dgm:pt modelId="{089018F7-2654-B44D-80A3-09F3B23CF57C}" type="parTrans" cxnId="{0C9345FE-0504-C44A-BEAF-362AFA843266}">
      <dgm:prSet/>
      <dgm:spPr/>
      <dgm:t>
        <a:bodyPr/>
        <a:lstStyle/>
        <a:p>
          <a:endParaRPr lang="en-US"/>
        </a:p>
      </dgm:t>
    </dgm:pt>
    <dgm:pt modelId="{F166E183-B1E8-2144-A388-061C53E5C04F}" type="sibTrans" cxnId="{0C9345FE-0504-C44A-BEAF-362AFA843266}">
      <dgm:prSet/>
      <dgm:spPr/>
      <dgm:t>
        <a:bodyPr/>
        <a:lstStyle/>
        <a:p>
          <a:endParaRPr lang="en-US"/>
        </a:p>
      </dgm:t>
    </dgm:pt>
    <dgm:pt modelId="{E8A023F3-5302-0940-982A-A811C9D7D2C0}">
      <dgm:prSet/>
      <dgm:spPr>
        <a:ln>
          <a:solidFill>
            <a:schemeClr val="accent3"/>
          </a:solidFill>
        </a:ln>
      </dgm:spPr>
      <dgm:t>
        <a:bodyPr/>
        <a:lstStyle/>
        <a:p>
          <a:pPr rtl="0"/>
          <a:r>
            <a:rPr lang="en-US" dirty="0"/>
            <a:t>Each generation has provided four times the storage density of the previous generation, accompanied by declining cost per bit and declining access time</a:t>
          </a:r>
        </a:p>
      </dgm:t>
    </dgm:pt>
    <dgm:pt modelId="{37E86A4C-33CA-3D45-BEDE-E5894586DC0E}" type="parTrans" cxnId="{848E2822-7458-BB44-8C16-D5D9C94D4E28}">
      <dgm:prSet/>
      <dgm:spPr/>
      <dgm:t>
        <a:bodyPr/>
        <a:lstStyle/>
        <a:p>
          <a:endParaRPr lang="en-US"/>
        </a:p>
      </dgm:t>
    </dgm:pt>
    <dgm:pt modelId="{75547D02-604D-704B-B115-83A23CFDDC4C}" type="sibTrans" cxnId="{848E2822-7458-BB44-8C16-D5D9C94D4E28}">
      <dgm:prSet/>
      <dgm:spPr/>
      <dgm:t>
        <a:bodyPr/>
        <a:lstStyle/>
        <a:p>
          <a:endParaRPr lang="en-US"/>
        </a:p>
      </dgm:t>
    </dgm:pt>
    <dgm:pt modelId="{D1EEF0AD-4235-D345-BDD8-F8C93C2C99BD}" type="pres">
      <dgm:prSet presAssocID="{2514355C-BD07-304E-A9A7-5B5A8E330603}" presName="Name0" presStyleCnt="0">
        <dgm:presLayoutVars>
          <dgm:dir/>
          <dgm:animLvl val="lvl"/>
          <dgm:resizeHandles val="exact"/>
        </dgm:presLayoutVars>
      </dgm:prSet>
      <dgm:spPr/>
    </dgm:pt>
    <dgm:pt modelId="{FE53E372-5F58-DD4D-89B5-378225F114BB}" type="pres">
      <dgm:prSet presAssocID="{0CEB27C1-112D-8A4D-9AAB-F203F016997D}" presName="boxAndChildren" presStyleCnt="0"/>
      <dgm:spPr/>
    </dgm:pt>
    <dgm:pt modelId="{0E1245A6-73B6-5C4F-8A80-957256B987E1}" type="pres">
      <dgm:prSet presAssocID="{0CEB27C1-112D-8A4D-9AAB-F203F016997D}" presName="parentTextBox" presStyleLbl="node1" presStyleIdx="0" presStyleCnt="3"/>
      <dgm:spPr/>
    </dgm:pt>
    <dgm:pt modelId="{EE39DE1C-6487-F644-B0FB-514DFD9A6203}" type="pres">
      <dgm:prSet presAssocID="{0CEB27C1-112D-8A4D-9AAB-F203F016997D}" presName="entireBox" presStyleLbl="node1" presStyleIdx="0" presStyleCnt="3" custLinFactNeighborX="-6195" custLinFactNeighborY="37365"/>
      <dgm:spPr/>
    </dgm:pt>
    <dgm:pt modelId="{AE196E9D-BD4C-3D49-B2AA-5A7688576163}" type="pres">
      <dgm:prSet presAssocID="{0CEB27C1-112D-8A4D-9AAB-F203F016997D}" presName="descendantBox" presStyleCnt="0"/>
      <dgm:spPr/>
    </dgm:pt>
    <dgm:pt modelId="{3D32EC06-2A10-E044-BF0D-8C73C5E8D97F}" type="pres">
      <dgm:prSet presAssocID="{E8A023F3-5302-0940-982A-A811C9D7D2C0}" presName="childTextBox" presStyleLbl="fgAccFollowNode1" presStyleIdx="0" presStyleCnt="7">
        <dgm:presLayoutVars>
          <dgm:bulletEnabled val="1"/>
        </dgm:presLayoutVars>
      </dgm:prSet>
      <dgm:spPr/>
    </dgm:pt>
    <dgm:pt modelId="{DE513A28-A35E-B541-BACA-C225CCCD837B}" type="pres">
      <dgm:prSet presAssocID="{4BBEC0EF-1496-4149-8F4F-48A1110908BB}" presName="sp" presStyleCnt="0"/>
      <dgm:spPr/>
    </dgm:pt>
    <dgm:pt modelId="{EEA73AED-1344-B547-8C17-A9067E08D3C6}" type="pres">
      <dgm:prSet presAssocID="{8AF4DBE5-D1CE-DD4C-9CE4-60DD5602C7CA}" presName="arrowAndChildren" presStyleCnt="0"/>
      <dgm:spPr/>
    </dgm:pt>
    <dgm:pt modelId="{AE2C2B1E-BC40-EA4C-8659-D1805A6BB825}" type="pres">
      <dgm:prSet presAssocID="{8AF4DBE5-D1CE-DD4C-9CE4-60DD5602C7CA}" presName="parentTextArrow" presStyleLbl="node1" presStyleIdx="0" presStyleCnt="3"/>
      <dgm:spPr/>
    </dgm:pt>
    <dgm:pt modelId="{9295D34B-13D6-E143-8FAA-4C45DFED13EF}" type="pres">
      <dgm:prSet presAssocID="{8AF4DBE5-D1CE-DD4C-9CE4-60DD5602C7CA}" presName="arrow" presStyleLbl="node1" presStyleIdx="1" presStyleCnt="3"/>
      <dgm:spPr/>
    </dgm:pt>
    <dgm:pt modelId="{EA0878F1-9D00-A54F-B2FA-2BB32B76DC1D}" type="pres">
      <dgm:prSet presAssocID="{8AF4DBE5-D1CE-DD4C-9CE4-60DD5602C7CA}" presName="descendantArrow" presStyleCnt="0"/>
      <dgm:spPr/>
    </dgm:pt>
    <dgm:pt modelId="{02DEDF47-B60B-174C-B68D-9085A3F1AB6A}" type="pres">
      <dgm:prSet presAssocID="{CA3D650F-52D7-2F4F-96C0-F0B31CBB53DA}" presName="childTextArrow" presStyleLbl="fgAccFollowNode1" presStyleIdx="1" presStyleCnt="7">
        <dgm:presLayoutVars>
          <dgm:bulletEnabled val="1"/>
        </dgm:presLayoutVars>
      </dgm:prSet>
      <dgm:spPr/>
    </dgm:pt>
    <dgm:pt modelId="{80A90482-38CF-964E-898E-B14683C6E887}" type="pres">
      <dgm:prSet presAssocID="{CD2163DA-4932-084C-9EAD-3AEB9F60245D}" presName="childTextArrow" presStyleLbl="fgAccFollowNode1" presStyleIdx="2" presStyleCnt="7">
        <dgm:presLayoutVars>
          <dgm:bulletEnabled val="1"/>
        </dgm:presLayoutVars>
      </dgm:prSet>
      <dgm:spPr/>
    </dgm:pt>
    <dgm:pt modelId="{D7656CE7-2034-9345-ACFA-A9F62F1415B6}" type="pres">
      <dgm:prSet presAssocID="{1705B43B-9B94-774F-8E8E-1DD57A15E1C3}" presName="sp" presStyleCnt="0"/>
      <dgm:spPr/>
    </dgm:pt>
    <dgm:pt modelId="{BBB7B630-6B70-2E4C-B572-DD0C4C9D9195}" type="pres">
      <dgm:prSet presAssocID="{3271F505-C3FF-754B-908B-494AD0E2A605}" presName="arrowAndChildren" presStyleCnt="0"/>
      <dgm:spPr/>
    </dgm:pt>
    <dgm:pt modelId="{958D548E-1C83-3C4D-B46A-75C8FC0C38EB}" type="pres">
      <dgm:prSet presAssocID="{3271F505-C3FF-754B-908B-494AD0E2A605}" presName="parentTextArrow" presStyleLbl="node1" presStyleIdx="1" presStyleCnt="3"/>
      <dgm:spPr/>
    </dgm:pt>
    <dgm:pt modelId="{20D983A6-25B2-D34F-9721-9F543575F986}" type="pres">
      <dgm:prSet presAssocID="{3271F505-C3FF-754B-908B-494AD0E2A605}" presName="arrow" presStyleLbl="node1" presStyleIdx="2" presStyleCnt="3"/>
      <dgm:spPr/>
    </dgm:pt>
    <dgm:pt modelId="{A6B4D42C-F817-E344-972B-D267A6FD2D31}" type="pres">
      <dgm:prSet presAssocID="{3271F505-C3FF-754B-908B-494AD0E2A605}" presName="descendantArrow" presStyleCnt="0"/>
      <dgm:spPr/>
    </dgm:pt>
    <dgm:pt modelId="{BCDEB9CC-91F2-B04C-BF78-8C8FAC34A974}" type="pres">
      <dgm:prSet presAssocID="{817284ED-408B-1142-8761-CBD62D7F989C}" presName="childTextArrow" presStyleLbl="fgAccFollowNode1" presStyleIdx="3" presStyleCnt="7">
        <dgm:presLayoutVars>
          <dgm:bulletEnabled val="1"/>
        </dgm:presLayoutVars>
      </dgm:prSet>
      <dgm:spPr/>
    </dgm:pt>
    <dgm:pt modelId="{22D687DF-5A41-C04B-83B2-990819124270}" type="pres">
      <dgm:prSet presAssocID="{6834AEE2-8096-5B4C-9533-188046F45A57}" presName="childTextArrow" presStyleLbl="fgAccFollowNode1" presStyleIdx="4" presStyleCnt="7">
        <dgm:presLayoutVars>
          <dgm:bulletEnabled val="1"/>
        </dgm:presLayoutVars>
      </dgm:prSet>
      <dgm:spPr/>
    </dgm:pt>
    <dgm:pt modelId="{97A27664-9A96-1645-A7EC-5BE951D18748}" type="pres">
      <dgm:prSet presAssocID="{B4C1D064-BA44-844B-A2F2-1467D57B3DC4}" presName="childTextArrow" presStyleLbl="fgAccFollowNode1" presStyleIdx="5" presStyleCnt="7">
        <dgm:presLayoutVars>
          <dgm:bulletEnabled val="1"/>
        </dgm:presLayoutVars>
      </dgm:prSet>
      <dgm:spPr/>
    </dgm:pt>
    <dgm:pt modelId="{23FFA982-4016-B24A-AD76-E71171B95C2B}" type="pres">
      <dgm:prSet presAssocID="{2026C043-D031-5640-8E56-22C54ED33342}" presName="childTextArrow" presStyleLbl="fgAccFollowNode1" presStyleIdx="6" presStyleCnt="7">
        <dgm:presLayoutVars>
          <dgm:bulletEnabled val="1"/>
        </dgm:presLayoutVars>
      </dgm:prSet>
      <dgm:spPr/>
    </dgm:pt>
  </dgm:ptLst>
  <dgm:cxnLst>
    <dgm:cxn modelId="{D7663D01-0AFF-1144-8F20-B3F30BD3A7F8}" srcId="{8AF4DBE5-D1CE-DD4C-9CE4-60DD5602C7CA}" destId="{CA3D650F-52D7-2F4F-96C0-F0B31CBB53DA}" srcOrd="0" destOrd="0" parTransId="{A66D4ECC-D4F4-E946-A41F-706FD48B82C5}" sibTransId="{1B254916-FADB-4243-BF0F-BD3D68E12D68}"/>
    <dgm:cxn modelId="{1CF48607-F509-774B-A5C5-D62E86B9E18C}" type="presOf" srcId="{E8A023F3-5302-0940-982A-A811C9D7D2C0}" destId="{3D32EC06-2A10-E044-BF0D-8C73C5E8D97F}" srcOrd="0" destOrd="0" presId="urn:microsoft.com/office/officeart/2005/8/layout/process4"/>
    <dgm:cxn modelId="{ABA10A12-75E6-2A42-9D07-3A96EE056503}" type="presOf" srcId="{8AF4DBE5-D1CE-DD4C-9CE4-60DD5602C7CA}" destId="{9295D34B-13D6-E143-8FAA-4C45DFED13EF}" srcOrd="1" destOrd="0" presId="urn:microsoft.com/office/officeart/2005/8/layout/process4"/>
    <dgm:cxn modelId="{43281916-DEC6-8146-AE71-234F3596A14D}" type="presOf" srcId="{0CEB27C1-112D-8A4D-9AAB-F203F016997D}" destId="{0E1245A6-73B6-5C4F-8A80-957256B987E1}" srcOrd="0" destOrd="0" presId="urn:microsoft.com/office/officeart/2005/8/layout/process4"/>
    <dgm:cxn modelId="{848E2822-7458-BB44-8C16-D5D9C94D4E28}" srcId="{0CEB27C1-112D-8A4D-9AAB-F203F016997D}" destId="{E8A023F3-5302-0940-982A-A811C9D7D2C0}" srcOrd="0" destOrd="0" parTransId="{37E86A4C-33CA-3D45-BEDE-E5894586DC0E}" sibTransId="{75547D02-604D-704B-B115-83A23CFDDC4C}"/>
    <dgm:cxn modelId="{13CADA39-04DF-594F-B350-5C402ED9819A}" type="presOf" srcId="{CD2163DA-4932-084C-9EAD-3AEB9F60245D}" destId="{80A90482-38CF-964E-898E-B14683C6E887}" srcOrd="0" destOrd="0" presId="urn:microsoft.com/office/officeart/2005/8/layout/process4"/>
    <dgm:cxn modelId="{B6D3633A-3115-224F-BE96-23EAD3EC9589}" type="presOf" srcId="{6834AEE2-8096-5B4C-9533-188046F45A57}" destId="{22D687DF-5A41-C04B-83B2-990819124270}" srcOrd="0" destOrd="0" presId="urn:microsoft.com/office/officeart/2005/8/layout/process4"/>
    <dgm:cxn modelId="{A551593D-4A34-AE43-8D5D-FF989CBA947B}" type="presOf" srcId="{0CEB27C1-112D-8A4D-9AAB-F203F016997D}" destId="{EE39DE1C-6487-F644-B0FB-514DFD9A6203}" srcOrd="1" destOrd="0" presId="urn:microsoft.com/office/officeart/2005/8/layout/process4"/>
    <dgm:cxn modelId="{CAF8D241-9843-4643-908B-783DD0D62DB8}" srcId="{3271F505-C3FF-754B-908B-494AD0E2A605}" destId="{817284ED-408B-1142-8761-CBD62D7F989C}" srcOrd="0" destOrd="0" parTransId="{97CBEE3D-6F45-9140-8FB3-C772A9165A86}" sibTransId="{02241F8F-F691-FD45-85D7-7763B76C4782}"/>
    <dgm:cxn modelId="{14B5DD6A-E95B-1448-B3C5-A789EE383C0F}" type="presOf" srcId="{817284ED-408B-1142-8761-CBD62D7F989C}" destId="{BCDEB9CC-91F2-B04C-BF78-8C8FAC34A974}" srcOrd="0" destOrd="0" presId="urn:microsoft.com/office/officeart/2005/8/layout/process4"/>
    <dgm:cxn modelId="{0A80F456-7E57-6F4D-B3DA-2FDCB7EAB096}" type="presOf" srcId="{2514355C-BD07-304E-A9A7-5B5A8E330603}" destId="{D1EEF0AD-4235-D345-BDD8-F8C93C2C99BD}" srcOrd="0" destOrd="0" presId="urn:microsoft.com/office/officeart/2005/8/layout/process4"/>
    <dgm:cxn modelId="{66D9707E-017F-0541-B9E4-82E8448EF0C1}" srcId="{2514355C-BD07-304E-A9A7-5B5A8E330603}" destId="{3271F505-C3FF-754B-908B-494AD0E2A605}" srcOrd="0" destOrd="0" parTransId="{F33400EB-03E8-D046-8134-1D7B1F0B279C}" sibTransId="{1705B43B-9B94-774F-8E8E-1DD57A15E1C3}"/>
    <dgm:cxn modelId="{19545A82-0EF7-424A-B17C-075AB7479C76}" srcId="{3271F505-C3FF-754B-908B-494AD0E2A605}" destId="{B4C1D064-BA44-844B-A2F2-1467D57B3DC4}" srcOrd="2" destOrd="0" parTransId="{7D7594D6-9390-6C4A-8F58-04ACCAB058EA}" sibTransId="{D4F10827-D5DD-8342-9C1A-E83DCE9D6F49}"/>
    <dgm:cxn modelId="{CD0CE997-B428-C74D-8F50-0415CF76E67F}" srcId="{2514355C-BD07-304E-A9A7-5B5A8E330603}" destId="{8AF4DBE5-D1CE-DD4C-9CE4-60DD5602C7CA}" srcOrd="1" destOrd="0" parTransId="{1EF48EDA-8CF5-8D42-AB40-54229C718025}" sibTransId="{4BBEC0EF-1496-4149-8F4F-48A1110908BB}"/>
    <dgm:cxn modelId="{4C8444A2-6668-6049-BAEB-FF1AB406E843}" type="presOf" srcId="{2026C043-D031-5640-8E56-22C54ED33342}" destId="{23FFA982-4016-B24A-AD76-E71171B95C2B}" srcOrd="0" destOrd="0" presId="urn:microsoft.com/office/officeart/2005/8/layout/process4"/>
    <dgm:cxn modelId="{081749AE-FF1D-BB4F-B79C-D1DB70F68934}" type="presOf" srcId="{3271F505-C3FF-754B-908B-494AD0E2A605}" destId="{20D983A6-25B2-D34F-9721-9F543575F986}" srcOrd="1" destOrd="0" presId="urn:microsoft.com/office/officeart/2005/8/layout/process4"/>
    <dgm:cxn modelId="{319218BD-0A7D-4C47-ACD9-8B98EE4C2F2C}" type="presOf" srcId="{3271F505-C3FF-754B-908B-494AD0E2A605}" destId="{958D548E-1C83-3C4D-B46A-75C8FC0C38EB}" srcOrd="0" destOrd="0" presId="urn:microsoft.com/office/officeart/2005/8/layout/process4"/>
    <dgm:cxn modelId="{348BF8BD-1A08-4645-A887-68EADAD8A464}" srcId="{3271F505-C3FF-754B-908B-494AD0E2A605}" destId="{2026C043-D031-5640-8E56-22C54ED33342}" srcOrd="3" destOrd="0" parTransId="{DCEF23BA-964B-CA45-961E-2A94EC5CC5FE}" sibTransId="{223A53D8-C58D-9F40-A10B-F52EB18B1370}"/>
    <dgm:cxn modelId="{CEBEFBD1-92F3-9A4C-82DE-60717B78124D}" srcId="{8AF4DBE5-D1CE-DD4C-9CE4-60DD5602C7CA}" destId="{CD2163DA-4932-084C-9EAD-3AEB9F60245D}" srcOrd="1" destOrd="0" parTransId="{4ABAB12B-92BE-E24A-B331-12256B8252D9}" sibTransId="{0ED0B7DD-BF44-F54A-ADEA-926BD221FD74}"/>
    <dgm:cxn modelId="{075860D2-9471-AF46-A47A-02B00AE99BB5}" type="presOf" srcId="{8AF4DBE5-D1CE-DD4C-9CE4-60DD5602C7CA}" destId="{AE2C2B1E-BC40-EA4C-8659-D1805A6BB825}" srcOrd="0" destOrd="0" presId="urn:microsoft.com/office/officeart/2005/8/layout/process4"/>
    <dgm:cxn modelId="{F58FF5D7-B6ED-F047-9A38-29337FD68537}" srcId="{3271F505-C3FF-754B-908B-494AD0E2A605}" destId="{6834AEE2-8096-5B4C-9533-188046F45A57}" srcOrd="1" destOrd="0" parTransId="{FD9327AE-87AA-6345-9BC0-4BDE8AE5AAD6}" sibTransId="{F8DE7C9B-37F6-4945-832C-8BA2E140444E}"/>
    <dgm:cxn modelId="{AC1503ED-51AF-A74E-B627-49CBDE6C0E0E}" type="presOf" srcId="{CA3D650F-52D7-2F4F-96C0-F0B31CBB53DA}" destId="{02DEDF47-B60B-174C-B68D-9085A3F1AB6A}" srcOrd="0" destOrd="0" presId="urn:microsoft.com/office/officeart/2005/8/layout/process4"/>
    <dgm:cxn modelId="{43D584FC-61C5-B143-B581-77CC3085DDBB}" type="presOf" srcId="{B4C1D064-BA44-844B-A2F2-1467D57B3DC4}" destId="{97A27664-9A96-1645-A7EC-5BE951D18748}" srcOrd="0" destOrd="0" presId="urn:microsoft.com/office/officeart/2005/8/layout/process4"/>
    <dgm:cxn modelId="{0C9345FE-0504-C44A-BEAF-362AFA843266}" srcId="{2514355C-BD07-304E-A9A7-5B5A8E330603}" destId="{0CEB27C1-112D-8A4D-9AAB-F203F016997D}" srcOrd="2" destOrd="0" parTransId="{089018F7-2654-B44D-80A3-09F3B23CF57C}" sibTransId="{F166E183-B1E8-2144-A388-061C53E5C04F}"/>
    <dgm:cxn modelId="{B2D2D115-D29D-024D-86C7-8436FFA47055}" type="presParOf" srcId="{D1EEF0AD-4235-D345-BDD8-F8C93C2C99BD}" destId="{FE53E372-5F58-DD4D-89B5-378225F114BB}" srcOrd="0" destOrd="0" presId="urn:microsoft.com/office/officeart/2005/8/layout/process4"/>
    <dgm:cxn modelId="{A91E965A-0C49-A241-AC28-F5E6D4126A09}" type="presParOf" srcId="{FE53E372-5F58-DD4D-89B5-378225F114BB}" destId="{0E1245A6-73B6-5C4F-8A80-957256B987E1}" srcOrd="0" destOrd="0" presId="urn:microsoft.com/office/officeart/2005/8/layout/process4"/>
    <dgm:cxn modelId="{D01CB32D-6E6C-5544-B17F-E4A221A5B7DE}" type="presParOf" srcId="{FE53E372-5F58-DD4D-89B5-378225F114BB}" destId="{EE39DE1C-6487-F644-B0FB-514DFD9A6203}" srcOrd="1" destOrd="0" presId="urn:microsoft.com/office/officeart/2005/8/layout/process4"/>
    <dgm:cxn modelId="{D40D2D4C-6BA9-0147-8F2C-8B39A16ED14F}" type="presParOf" srcId="{FE53E372-5F58-DD4D-89B5-378225F114BB}" destId="{AE196E9D-BD4C-3D49-B2AA-5A7688576163}" srcOrd="2" destOrd="0" presId="urn:microsoft.com/office/officeart/2005/8/layout/process4"/>
    <dgm:cxn modelId="{955DE040-1D62-4B4B-A12E-5D4D1AC44062}" type="presParOf" srcId="{AE196E9D-BD4C-3D49-B2AA-5A7688576163}" destId="{3D32EC06-2A10-E044-BF0D-8C73C5E8D97F}" srcOrd="0" destOrd="0" presId="urn:microsoft.com/office/officeart/2005/8/layout/process4"/>
    <dgm:cxn modelId="{50A179C7-F40A-8C40-9F0F-A4BD8EDCF951}" type="presParOf" srcId="{D1EEF0AD-4235-D345-BDD8-F8C93C2C99BD}" destId="{DE513A28-A35E-B541-BACA-C225CCCD837B}" srcOrd="1" destOrd="0" presId="urn:microsoft.com/office/officeart/2005/8/layout/process4"/>
    <dgm:cxn modelId="{273D9209-4C49-604E-AF6B-210CADE9A951}" type="presParOf" srcId="{D1EEF0AD-4235-D345-BDD8-F8C93C2C99BD}" destId="{EEA73AED-1344-B547-8C17-A9067E08D3C6}" srcOrd="2" destOrd="0" presId="urn:microsoft.com/office/officeart/2005/8/layout/process4"/>
    <dgm:cxn modelId="{EF3333BA-887C-9F48-9B1F-E93E02769EBB}" type="presParOf" srcId="{EEA73AED-1344-B547-8C17-A9067E08D3C6}" destId="{AE2C2B1E-BC40-EA4C-8659-D1805A6BB825}" srcOrd="0" destOrd="0" presId="urn:microsoft.com/office/officeart/2005/8/layout/process4"/>
    <dgm:cxn modelId="{AB1B0907-17AA-6E41-9FAD-ED61781E2CB1}" type="presParOf" srcId="{EEA73AED-1344-B547-8C17-A9067E08D3C6}" destId="{9295D34B-13D6-E143-8FAA-4C45DFED13EF}" srcOrd="1" destOrd="0" presId="urn:microsoft.com/office/officeart/2005/8/layout/process4"/>
    <dgm:cxn modelId="{672BB88F-0428-4F47-8C30-C4518E52FD4A}" type="presParOf" srcId="{EEA73AED-1344-B547-8C17-A9067E08D3C6}" destId="{EA0878F1-9D00-A54F-B2FA-2BB32B76DC1D}" srcOrd="2" destOrd="0" presId="urn:microsoft.com/office/officeart/2005/8/layout/process4"/>
    <dgm:cxn modelId="{DA6AAC38-A1B1-AA4E-A353-ECB08200612F}" type="presParOf" srcId="{EA0878F1-9D00-A54F-B2FA-2BB32B76DC1D}" destId="{02DEDF47-B60B-174C-B68D-9085A3F1AB6A}" srcOrd="0" destOrd="0" presId="urn:microsoft.com/office/officeart/2005/8/layout/process4"/>
    <dgm:cxn modelId="{9A82322D-12EA-C442-8565-2FC2D0A89456}" type="presParOf" srcId="{EA0878F1-9D00-A54F-B2FA-2BB32B76DC1D}" destId="{80A90482-38CF-964E-898E-B14683C6E887}" srcOrd="1" destOrd="0" presId="urn:microsoft.com/office/officeart/2005/8/layout/process4"/>
    <dgm:cxn modelId="{CB8C7336-EFC5-EB4E-B1B6-7E2A48A76FE1}" type="presParOf" srcId="{D1EEF0AD-4235-D345-BDD8-F8C93C2C99BD}" destId="{D7656CE7-2034-9345-ACFA-A9F62F1415B6}" srcOrd="3" destOrd="0" presId="urn:microsoft.com/office/officeart/2005/8/layout/process4"/>
    <dgm:cxn modelId="{D5F55CF5-F4EB-E240-83BA-33DA47ADB82B}" type="presParOf" srcId="{D1EEF0AD-4235-D345-BDD8-F8C93C2C99BD}" destId="{BBB7B630-6B70-2E4C-B572-DD0C4C9D9195}" srcOrd="4" destOrd="0" presId="urn:microsoft.com/office/officeart/2005/8/layout/process4"/>
    <dgm:cxn modelId="{9240AC60-635D-8A4F-98C5-6151A2D09DE6}" type="presParOf" srcId="{BBB7B630-6B70-2E4C-B572-DD0C4C9D9195}" destId="{958D548E-1C83-3C4D-B46A-75C8FC0C38EB}" srcOrd="0" destOrd="0" presId="urn:microsoft.com/office/officeart/2005/8/layout/process4"/>
    <dgm:cxn modelId="{2391E11D-2BA0-8D47-A239-BEAE6D061096}" type="presParOf" srcId="{BBB7B630-6B70-2E4C-B572-DD0C4C9D9195}" destId="{20D983A6-25B2-D34F-9721-9F543575F986}" srcOrd="1" destOrd="0" presId="urn:microsoft.com/office/officeart/2005/8/layout/process4"/>
    <dgm:cxn modelId="{596FD08F-8C7C-4A46-BFDE-23F561903732}" type="presParOf" srcId="{BBB7B630-6B70-2E4C-B572-DD0C4C9D9195}" destId="{A6B4D42C-F817-E344-972B-D267A6FD2D31}" srcOrd="2" destOrd="0" presId="urn:microsoft.com/office/officeart/2005/8/layout/process4"/>
    <dgm:cxn modelId="{67810FAB-7D00-9E4E-9654-8C05D17C8301}" type="presParOf" srcId="{A6B4D42C-F817-E344-972B-D267A6FD2D31}" destId="{BCDEB9CC-91F2-B04C-BF78-8C8FAC34A974}" srcOrd="0" destOrd="0" presId="urn:microsoft.com/office/officeart/2005/8/layout/process4"/>
    <dgm:cxn modelId="{5778A27B-34B4-9748-A87E-7D603708EE5D}" type="presParOf" srcId="{A6B4D42C-F817-E344-972B-D267A6FD2D31}" destId="{22D687DF-5A41-C04B-83B2-990819124270}" srcOrd="1" destOrd="0" presId="urn:microsoft.com/office/officeart/2005/8/layout/process4"/>
    <dgm:cxn modelId="{6CFFCCDB-6B5A-3442-A98E-AAD6B25C4E66}" type="presParOf" srcId="{A6B4D42C-F817-E344-972B-D267A6FD2D31}" destId="{97A27664-9A96-1645-A7EC-5BE951D18748}" srcOrd="2" destOrd="0" presId="urn:microsoft.com/office/officeart/2005/8/layout/process4"/>
    <dgm:cxn modelId="{EE0D94FE-DCC9-2243-80CC-3FA8F6417C74}" type="presParOf" srcId="{A6B4D42C-F817-E344-972B-D267A6FD2D31}" destId="{23FFA982-4016-B24A-AD76-E71171B95C2B}" srcOrd="3"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DEEB0FD-18FA-9C4A-92E6-3737DBB7AA4C}" type="doc">
      <dgm:prSet loTypeId="urn:microsoft.com/office/officeart/2005/8/layout/pyramid4" loCatId="pyramid" qsTypeId="urn:microsoft.com/office/officeart/2005/8/quickstyle/simple4" qsCatId="simple" csTypeId="urn:microsoft.com/office/officeart/2005/8/colors/accent1_2" csCatId="accent1" phldr="1"/>
      <dgm:spPr/>
      <dgm:t>
        <a:bodyPr/>
        <a:lstStyle/>
        <a:p>
          <a:endParaRPr lang="en-US"/>
        </a:p>
      </dgm:t>
    </dgm:pt>
    <dgm:pt modelId="{9AB80C6C-0116-6D42-BEF1-145881EFCDD8}">
      <dgm:prSet/>
      <dgm:spPr/>
      <dgm:t>
        <a:bodyPr/>
        <a:lstStyle/>
        <a:p>
          <a:pPr rtl="0"/>
          <a:r>
            <a:rPr lang="en-US" b="1" dirty="0">
              <a:effectLst>
                <a:outerShdw blurRad="38100" dist="38100" dir="2700000" algn="tl">
                  <a:srgbClr val="000000">
                    <a:alpha val="43137"/>
                  </a:srgbClr>
                </a:outerShdw>
              </a:effectLst>
            </a:rPr>
            <a:t>Increase the number of bits that are retrieved at one time by making DRAMs “</a:t>
          </a:r>
          <a:r>
            <a:rPr lang="en-US" b="1" dirty="0">
              <a:solidFill>
                <a:schemeClr val="accent6">
                  <a:lumMod val="60000"/>
                  <a:lumOff val="40000"/>
                </a:schemeClr>
              </a:solidFill>
              <a:effectLst>
                <a:outerShdw blurRad="38100" dist="38100" dir="2700000" algn="tl">
                  <a:srgbClr val="000000">
                    <a:alpha val="43137"/>
                  </a:srgbClr>
                </a:outerShdw>
              </a:effectLst>
            </a:rPr>
            <a:t>wider</a:t>
          </a:r>
          <a:r>
            <a:rPr lang="en-US" b="1" dirty="0">
              <a:effectLst>
                <a:outerShdw blurRad="38100" dist="38100" dir="2700000" algn="tl">
                  <a:srgbClr val="000000">
                    <a:alpha val="43137"/>
                  </a:srgbClr>
                </a:outerShdw>
              </a:effectLst>
            </a:rPr>
            <a:t>” rather than “deeper” and by using </a:t>
          </a:r>
          <a:r>
            <a:rPr lang="en-US" b="1" dirty="0">
              <a:solidFill>
                <a:schemeClr val="accent6">
                  <a:lumMod val="60000"/>
                  <a:lumOff val="40000"/>
                </a:schemeClr>
              </a:solidFill>
              <a:effectLst>
                <a:outerShdw blurRad="38100" dist="38100" dir="2700000" algn="tl">
                  <a:srgbClr val="000000">
                    <a:alpha val="43137"/>
                  </a:srgbClr>
                </a:outerShdw>
              </a:effectLst>
            </a:rPr>
            <a:t>wide bus data paths</a:t>
          </a:r>
        </a:p>
      </dgm:t>
    </dgm:pt>
    <dgm:pt modelId="{219CBE61-046A-C14E-9F2A-A7F188540FD5}" type="parTrans" cxnId="{3DC90812-5372-B44E-B807-A2A6DBC308B4}">
      <dgm:prSet/>
      <dgm:spPr/>
      <dgm:t>
        <a:bodyPr/>
        <a:lstStyle/>
        <a:p>
          <a:endParaRPr lang="en-US"/>
        </a:p>
      </dgm:t>
    </dgm:pt>
    <dgm:pt modelId="{A5F16F68-5B59-0646-99B8-4F8D2538E024}" type="sibTrans" cxnId="{3DC90812-5372-B44E-B807-A2A6DBC308B4}">
      <dgm:prSet/>
      <dgm:spPr/>
      <dgm:t>
        <a:bodyPr/>
        <a:lstStyle/>
        <a:p>
          <a:endParaRPr lang="en-US"/>
        </a:p>
      </dgm:t>
    </dgm:pt>
    <dgm:pt modelId="{58D11B8A-235D-384E-BEB1-50D9E38003F6}">
      <dgm:prSet custT="1"/>
      <dgm:spPr/>
      <dgm:t>
        <a:bodyPr/>
        <a:lstStyle/>
        <a:p>
          <a:pPr rtl="0"/>
          <a:r>
            <a:rPr lang="en-US" sz="1200" b="1" dirty="0">
              <a:effectLst>
                <a:outerShdw blurRad="38100" dist="38100" dir="2700000" algn="tl">
                  <a:srgbClr val="000000">
                    <a:alpha val="43137"/>
                  </a:srgbClr>
                </a:outerShdw>
              </a:effectLst>
            </a:rPr>
            <a:t>Change the DRAM interface to make it more efficient by including a </a:t>
          </a:r>
          <a:r>
            <a:rPr lang="en-US" sz="1400" b="1" u="sng" dirty="0">
              <a:solidFill>
                <a:schemeClr val="accent6">
                  <a:lumMod val="60000"/>
                  <a:lumOff val="40000"/>
                </a:schemeClr>
              </a:solidFill>
              <a:effectLst>
                <a:outerShdw blurRad="38100" dist="38100" dir="2700000" algn="tl">
                  <a:srgbClr val="000000">
                    <a:alpha val="43137"/>
                  </a:srgbClr>
                </a:outerShdw>
              </a:effectLst>
            </a:rPr>
            <a:t>cache</a:t>
          </a:r>
          <a:r>
            <a:rPr lang="en-US" sz="1200" b="1" dirty="0">
              <a:effectLst>
                <a:outerShdw blurRad="38100" dist="38100" dir="2700000" algn="tl">
                  <a:srgbClr val="000000">
                    <a:alpha val="43137"/>
                  </a:srgbClr>
                </a:outerShdw>
              </a:effectLst>
            </a:rPr>
            <a:t> or other buffering scheme on the DRAM chip</a:t>
          </a:r>
        </a:p>
      </dgm:t>
    </dgm:pt>
    <dgm:pt modelId="{1399630F-5625-0B4F-B985-30C271E8C3CD}" type="parTrans" cxnId="{2B27EE7B-137C-254C-A50A-54003056AFFB}">
      <dgm:prSet/>
      <dgm:spPr/>
      <dgm:t>
        <a:bodyPr/>
        <a:lstStyle/>
        <a:p>
          <a:endParaRPr lang="en-US"/>
        </a:p>
      </dgm:t>
    </dgm:pt>
    <dgm:pt modelId="{BAC94ACA-983F-5746-B7E9-AB18C92270DF}" type="sibTrans" cxnId="{2B27EE7B-137C-254C-A50A-54003056AFFB}">
      <dgm:prSet/>
      <dgm:spPr/>
      <dgm:t>
        <a:bodyPr/>
        <a:lstStyle/>
        <a:p>
          <a:endParaRPr lang="en-US"/>
        </a:p>
      </dgm:t>
    </dgm:pt>
    <dgm:pt modelId="{85787AF2-CDD5-224D-8D0C-D3E9575DABBC}">
      <dgm:prSet/>
      <dgm:spPr/>
      <dgm:t>
        <a:bodyPr/>
        <a:lstStyle/>
        <a:p>
          <a:pPr rtl="0"/>
          <a:r>
            <a:rPr lang="en-US" b="1" dirty="0">
              <a:effectLst>
                <a:outerShdw blurRad="38100" dist="38100" dir="2700000" algn="tl">
                  <a:srgbClr val="000000">
                    <a:alpha val="43137"/>
                  </a:srgbClr>
                </a:outerShdw>
              </a:effectLst>
            </a:rPr>
            <a:t>Reduce the frequency of memory access by incorporating increasingly complex and </a:t>
          </a:r>
          <a:r>
            <a:rPr lang="en-US" b="1" dirty="0">
              <a:solidFill>
                <a:schemeClr val="accent6">
                  <a:lumMod val="60000"/>
                  <a:lumOff val="40000"/>
                </a:schemeClr>
              </a:solidFill>
              <a:effectLst>
                <a:outerShdw blurRad="38100" dist="38100" dir="2700000" algn="tl">
                  <a:srgbClr val="000000">
                    <a:alpha val="43137"/>
                  </a:srgbClr>
                </a:outerShdw>
              </a:effectLst>
            </a:rPr>
            <a:t>efficient cache structures between the processor and main memory</a:t>
          </a:r>
        </a:p>
      </dgm:t>
    </dgm:pt>
    <dgm:pt modelId="{982793AE-DF07-484E-8B21-6D87EA215CA4}" type="parTrans" cxnId="{E1096F67-31E5-B345-AE30-109043DB01B6}">
      <dgm:prSet/>
      <dgm:spPr/>
      <dgm:t>
        <a:bodyPr/>
        <a:lstStyle/>
        <a:p>
          <a:endParaRPr lang="en-US"/>
        </a:p>
      </dgm:t>
    </dgm:pt>
    <dgm:pt modelId="{D3800628-CD07-AC4D-B025-9171D4C09D3F}" type="sibTrans" cxnId="{E1096F67-31E5-B345-AE30-109043DB01B6}">
      <dgm:prSet/>
      <dgm:spPr/>
      <dgm:t>
        <a:bodyPr/>
        <a:lstStyle/>
        <a:p>
          <a:endParaRPr lang="en-US"/>
        </a:p>
      </dgm:t>
    </dgm:pt>
    <dgm:pt modelId="{7B7EFF02-432F-784A-A578-52320D8CBDB0}">
      <dgm:prSet/>
      <dgm:spPr/>
      <dgm:t>
        <a:bodyPr/>
        <a:lstStyle/>
        <a:p>
          <a:pPr rtl="0"/>
          <a:r>
            <a:rPr lang="en-US" b="1" dirty="0">
              <a:effectLst>
                <a:outerShdw blurRad="38100" dist="38100" dir="2700000" algn="tl">
                  <a:srgbClr val="000000">
                    <a:alpha val="43137"/>
                  </a:srgbClr>
                </a:outerShdw>
              </a:effectLst>
            </a:rPr>
            <a:t>Increase the interconnect bandwidth between processors and memory by using </a:t>
          </a:r>
          <a:r>
            <a:rPr lang="en-US" b="1" u="sng" dirty="0">
              <a:solidFill>
                <a:schemeClr val="accent6">
                  <a:lumMod val="60000"/>
                  <a:lumOff val="40000"/>
                </a:schemeClr>
              </a:solidFill>
              <a:effectLst>
                <a:outerShdw blurRad="38100" dist="38100" dir="2700000" algn="tl">
                  <a:srgbClr val="000000">
                    <a:alpha val="43137"/>
                  </a:srgbClr>
                </a:outerShdw>
              </a:effectLst>
            </a:rPr>
            <a:t>higher speed buses </a:t>
          </a:r>
          <a:r>
            <a:rPr lang="en-US" b="1" dirty="0">
              <a:effectLst>
                <a:outerShdw blurRad="38100" dist="38100" dir="2700000" algn="tl">
                  <a:srgbClr val="000000">
                    <a:alpha val="43137"/>
                  </a:srgbClr>
                </a:outerShdw>
              </a:effectLst>
            </a:rPr>
            <a:t>and a hierarchy of buses to buffer and structure data flow</a:t>
          </a:r>
        </a:p>
      </dgm:t>
    </dgm:pt>
    <dgm:pt modelId="{E059F15A-8972-E040-A1A5-78A71B1D47C4}" type="parTrans" cxnId="{E14C333A-C5D2-324B-A86B-D4D99F86F770}">
      <dgm:prSet/>
      <dgm:spPr/>
      <dgm:t>
        <a:bodyPr/>
        <a:lstStyle/>
        <a:p>
          <a:endParaRPr lang="en-US"/>
        </a:p>
      </dgm:t>
    </dgm:pt>
    <dgm:pt modelId="{1119042D-6266-3441-931E-58ECBAE202A5}" type="sibTrans" cxnId="{E14C333A-C5D2-324B-A86B-D4D99F86F770}">
      <dgm:prSet/>
      <dgm:spPr/>
      <dgm:t>
        <a:bodyPr/>
        <a:lstStyle/>
        <a:p>
          <a:endParaRPr lang="en-US"/>
        </a:p>
      </dgm:t>
    </dgm:pt>
    <dgm:pt modelId="{2A4E3D9D-0DD4-4146-8C2F-D5E40C8FC794}" type="pres">
      <dgm:prSet presAssocID="{DDEEB0FD-18FA-9C4A-92E6-3737DBB7AA4C}" presName="compositeShape" presStyleCnt="0">
        <dgm:presLayoutVars>
          <dgm:chMax val="9"/>
          <dgm:dir/>
          <dgm:resizeHandles val="exact"/>
        </dgm:presLayoutVars>
      </dgm:prSet>
      <dgm:spPr/>
    </dgm:pt>
    <dgm:pt modelId="{94E1869E-B08B-E84C-BE54-79A5CFDF5A04}" type="pres">
      <dgm:prSet presAssocID="{DDEEB0FD-18FA-9C4A-92E6-3737DBB7AA4C}" presName="triangle1" presStyleLbl="node1" presStyleIdx="0" presStyleCnt="4">
        <dgm:presLayoutVars>
          <dgm:bulletEnabled val="1"/>
        </dgm:presLayoutVars>
      </dgm:prSet>
      <dgm:spPr/>
    </dgm:pt>
    <dgm:pt modelId="{4A58DB61-09B5-E94D-AEC1-6280D22B2A8E}" type="pres">
      <dgm:prSet presAssocID="{DDEEB0FD-18FA-9C4A-92E6-3737DBB7AA4C}" presName="triangle2" presStyleLbl="node1" presStyleIdx="1" presStyleCnt="4">
        <dgm:presLayoutVars>
          <dgm:bulletEnabled val="1"/>
        </dgm:presLayoutVars>
      </dgm:prSet>
      <dgm:spPr/>
    </dgm:pt>
    <dgm:pt modelId="{200ABC57-7D7F-C84D-A1A6-CF6A59C98A27}" type="pres">
      <dgm:prSet presAssocID="{DDEEB0FD-18FA-9C4A-92E6-3737DBB7AA4C}" presName="triangle3" presStyleLbl="node1" presStyleIdx="2" presStyleCnt="4">
        <dgm:presLayoutVars>
          <dgm:bulletEnabled val="1"/>
        </dgm:presLayoutVars>
      </dgm:prSet>
      <dgm:spPr/>
    </dgm:pt>
    <dgm:pt modelId="{4CEF2A95-22F9-8B4C-8350-C2D662044B6C}" type="pres">
      <dgm:prSet presAssocID="{DDEEB0FD-18FA-9C4A-92E6-3737DBB7AA4C}" presName="triangle4" presStyleLbl="node1" presStyleIdx="3" presStyleCnt="4" custScaleX="104445">
        <dgm:presLayoutVars>
          <dgm:bulletEnabled val="1"/>
        </dgm:presLayoutVars>
      </dgm:prSet>
      <dgm:spPr/>
    </dgm:pt>
  </dgm:ptLst>
  <dgm:cxnLst>
    <dgm:cxn modelId="{A6DA1E00-57D3-7B48-8A38-00999C78F3BC}" type="presOf" srcId="{DDEEB0FD-18FA-9C4A-92E6-3737DBB7AA4C}" destId="{2A4E3D9D-0DD4-4146-8C2F-D5E40C8FC794}" srcOrd="0" destOrd="0" presId="urn:microsoft.com/office/officeart/2005/8/layout/pyramid4"/>
    <dgm:cxn modelId="{EF9D0D07-833C-6C4B-8744-26C1075F7D3E}" type="presOf" srcId="{58D11B8A-235D-384E-BEB1-50D9E38003F6}" destId="{4A58DB61-09B5-E94D-AEC1-6280D22B2A8E}" srcOrd="0" destOrd="0" presId="urn:microsoft.com/office/officeart/2005/8/layout/pyramid4"/>
    <dgm:cxn modelId="{3DC90812-5372-B44E-B807-A2A6DBC308B4}" srcId="{DDEEB0FD-18FA-9C4A-92E6-3737DBB7AA4C}" destId="{9AB80C6C-0116-6D42-BEF1-145881EFCDD8}" srcOrd="0" destOrd="0" parTransId="{219CBE61-046A-C14E-9F2A-A7F188540FD5}" sibTransId="{A5F16F68-5B59-0646-99B8-4F8D2538E024}"/>
    <dgm:cxn modelId="{CCC74236-1B0F-2743-A907-518B2BF271A3}" type="presOf" srcId="{9AB80C6C-0116-6D42-BEF1-145881EFCDD8}" destId="{94E1869E-B08B-E84C-BE54-79A5CFDF5A04}" srcOrd="0" destOrd="0" presId="urn:microsoft.com/office/officeart/2005/8/layout/pyramid4"/>
    <dgm:cxn modelId="{E14C333A-C5D2-324B-A86B-D4D99F86F770}" srcId="{DDEEB0FD-18FA-9C4A-92E6-3737DBB7AA4C}" destId="{7B7EFF02-432F-784A-A578-52320D8CBDB0}" srcOrd="3" destOrd="0" parTransId="{E059F15A-8972-E040-A1A5-78A71B1D47C4}" sibTransId="{1119042D-6266-3441-931E-58ECBAE202A5}"/>
    <dgm:cxn modelId="{E1096F67-31E5-B345-AE30-109043DB01B6}" srcId="{DDEEB0FD-18FA-9C4A-92E6-3737DBB7AA4C}" destId="{85787AF2-CDD5-224D-8D0C-D3E9575DABBC}" srcOrd="2" destOrd="0" parTransId="{982793AE-DF07-484E-8B21-6D87EA215CA4}" sibTransId="{D3800628-CD07-AC4D-B025-9171D4C09D3F}"/>
    <dgm:cxn modelId="{FDE3816E-074A-EF49-9253-B4A579594108}" type="presOf" srcId="{85787AF2-CDD5-224D-8D0C-D3E9575DABBC}" destId="{200ABC57-7D7F-C84D-A1A6-CF6A59C98A27}" srcOrd="0" destOrd="0" presId="urn:microsoft.com/office/officeart/2005/8/layout/pyramid4"/>
    <dgm:cxn modelId="{2B27EE7B-137C-254C-A50A-54003056AFFB}" srcId="{DDEEB0FD-18FA-9C4A-92E6-3737DBB7AA4C}" destId="{58D11B8A-235D-384E-BEB1-50D9E38003F6}" srcOrd="1" destOrd="0" parTransId="{1399630F-5625-0B4F-B985-30C271E8C3CD}" sibTransId="{BAC94ACA-983F-5746-B7E9-AB18C92270DF}"/>
    <dgm:cxn modelId="{E5BCAF89-F36C-A64D-867A-B6A7B74F0731}" type="presOf" srcId="{7B7EFF02-432F-784A-A578-52320D8CBDB0}" destId="{4CEF2A95-22F9-8B4C-8350-C2D662044B6C}" srcOrd="0" destOrd="0" presId="urn:microsoft.com/office/officeart/2005/8/layout/pyramid4"/>
    <dgm:cxn modelId="{AEEB7F44-93AB-6C42-9203-C522C09A9C84}" type="presParOf" srcId="{2A4E3D9D-0DD4-4146-8C2F-D5E40C8FC794}" destId="{94E1869E-B08B-E84C-BE54-79A5CFDF5A04}" srcOrd="0" destOrd="0" presId="urn:microsoft.com/office/officeart/2005/8/layout/pyramid4"/>
    <dgm:cxn modelId="{89A32B5F-749D-544A-80D6-CC2AC49E9DB4}" type="presParOf" srcId="{2A4E3D9D-0DD4-4146-8C2F-D5E40C8FC794}" destId="{4A58DB61-09B5-E94D-AEC1-6280D22B2A8E}" srcOrd="1" destOrd="0" presId="urn:microsoft.com/office/officeart/2005/8/layout/pyramid4"/>
    <dgm:cxn modelId="{4F9FA992-5DE0-E045-8203-DBDF85056381}" type="presParOf" srcId="{2A4E3D9D-0DD4-4146-8C2F-D5E40C8FC794}" destId="{200ABC57-7D7F-C84D-A1A6-CF6A59C98A27}" srcOrd="2" destOrd="0" presId="urn:microsoft.com/office/officeart/2005/8/layout/pyramid4"/>
    <dgm:cxn modelId="{B003EE11-C783-4C46-8478-1BAB19FB0217}" type="presParOf" srcId="{2A4E3D9D-0DD4-4146-8C2F-D5E40C8FC794}" destId="{4CEF2A95-22F9-8B4C-8350-C2D662044B6C}" srcOrd="3" destOrd="0" presId="urn:microsoft.com/office/officeart/2005/8/layout/pyramid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8302B29-DF7B-CE48-A8D2-94069316D1C3}" type="doc">
      <dgm:prSet loTypeId="urn:microsoft.com/office/officeart/2005/8/layout/target1" loCatId="relationship" qsTypeId="urn:microsoft.com/office/officeart/2005/8/quickstyle/simple4" qsCatId="simple" csTypeId="urn:microsoft.com/office/officeart/2005/8/colors/accent1_2" csCatId="accent1"/>
      <dgm:spPr/>
      <dgm:t>
        <a:bodyPr/>
        <a:lstStyle/>
        <a:p>
          <a:endParaRPr lang="en-US"/>
        </a:p>
      </dgm:t>
    </dgm:pt>
    <dgm:pt modelId="{C19F7702-5F4C-F44B-9333-C56759486144}">
      <dgm:prSet/>
      <dgm:spPr/>
      <dgm:t>
        <a:bodyPr/>
        <a:lstStyle/>
        <a:p>
          <a:pPr rtl="0"/>
          <a:r>
            <a:rPr lang="en-US" dirty="0"/>
            <a:t>The use of multiple processors on the same chip provides the potential to increase performance without increasing the clock rate</a:t>
          </a:r>
        </a:p>
      </dgm:t>
    </dgm:pt>
    <dgm:pt modelId="{A70B69E9-4AAC-D24E-AF8E-9E3927E157EF}" type="parTrans" cxnId="{46B638DB-5077-8F47-B532-560C4EEBB34E}">
      <dgm:prSet/>
      <dgm:spPr/>
      <dgm:t>
        <a:bodyPr/>
        <a:lstStyle/>
        <a:p>
          <a:endParaRPr lang="en-US"/>
        </a:p>
      </dgm:t>
    </dgm:pt>
    <dgm:pt modelId="{4562A5FB-A475-444C-82E8-04D61A9E986C}" type="sibTrans" cxnId="{46B638DB-5077-8F47-B532-560C4EEBB34E}">
      <dgm:prSet/>
      <dgm:spPr/>
      <dgm:t>
        <a:bodyPr/>
        <a:lstStyle/>
        <a:p>
          <a:endParaRPr lang="en-US"/>
        </a:p>
      </dgm:t>
    </dgm:pt>
    <dgm:pt modelId="{E155F29C-A5B5-0E46-A2C7-79E6A500D145}">
      <dgm:prSet/>
      <dgm:spPr/>
      <dgm:t>
        <a:bodyPr/>
        <a:lstStyle/>
        <a:p>
          <a:pPr rtl="0"/>
          <a:r>
            <a:rPr lang="en-US" b="1" dirty="0"/>
            <a:t>Strategy is to use two simpler processors on the chip rather than one more complex processor</a:t>
          </a:r>
        </a:p>
      </dgm:t>
    </dgm:pt>
    <dgm:pt modelId="{8055BD00-F1C8-7846-B466-65DE4011FD8C}" type="parTrans" cxnId="{68C16891-8D07-2645-B752-FE205353DCD5}">
      <dgm:prSet/>
      <dgm:spPr/>
      <dgm:t>
        <a:bodyPr/>
        <a:lstStyle/>
        <a:p>
          <a:endParaRPr lang="en-US"/>
        </a:p>
      </dgm:t>
    </dgm:pt>
    <dgm:pt modelId="{FCDFAB97-D041-E548-96BC-411DF7EC694B}" type="sibTrans" cxnId="{68C16891-8D07-2645-B752-FE205353DCD5}">
      <dgm:prSet/>
      <dgm:spPr/>
      <dgm:t>
        <a:bodyPr/>
        <a:lstStyle/>
        <a:p>
          <a:endParaRPr lang="en-US"/>
        </a:p>
      </dgm:t>
    </dgm:pt>
    <dgm:pt modelId="{8CAB68A3-B26F-2B4B-B51A-0CF38939513F}">
      <dgm:prSet/>
      <dgm:spPr/>
      <dgm:t>
        <a:bodyPr/>
        <a:lstStyle/>
        <a:p>
          <a:pPr rtl="0"/>
          <a:r>
            <a:rPr lang="en-US" dirty="0"/>
            <a:t>With two processors larger caches are justified</a:t>
          </a:r>
        </a:p>
      </dgm:t>
    </dgm:pt>
    <dgm:pt modelId="{6ACB63A5-1C58-524A-A160-886341F60C0C}" type="parTrans" cxnId="{4A4B1846-5DC4-C84A-A863-9D344E7D707C}">
      <dgm:prSet/>
      <dgm:spPr/>
      <dgm:t>
        <a:bodyPr/>
        <a:lstStyle/>
        <a:p>
          <a:endParaRPr lang="en-US"/>
        </a:p>
      </dgm:t>
    </dgm:pt>
    <dgm:pt modelId="{3E669834-DB2C-7641-B14E-DFD1B4C62083}" type="sibTrans" cxnId="{4A4B1846-5DC4-C84A-A863-9D344E7D707C}">
      <dgm:prSet/>
      <dgm:spPr/>
      <dgm:t>
        <a:bodyPr/>
        <a:lstStyle/>
        <a:p>
          <a:endParaRPr lang="en-US"/>
        </a:p>
      </dgm:t>
    </dgm:pt>
    <dgm:pt modelId="{2BB322CA-E42D-4846-BC15-76177995191D}">
      <dgm:prSet/>
      <dgm:spPr/>
      <dgm:t>
        <a:bodyPr/>
        <a:lstStyle/>
        <a:p>
          <a:pPr rtl="0"/>
          <a:r>
            <a:rPr lang="en-US" b="1" dirty="0"/>
            <a:t>As caches became larger it made performance sense to create two and then three levels of cache on a chip</a:t>
          </a:r>
        </a:p>
      </dgm:t>
    </dgm:pt>
    <dgm:pt modelId="{85853BED-64B9-CF48-99D4-E806CF0298B4}" type="parTrans" cxnId="{1C69D18B-4D6D-C54F-9524-6177246C5F7D}">
      <dgm:prSet/>
      <dgm:spPr/>
      <dgm:t>
        <a:bodyPr/>
        <a:lstStyle/>
        <a:p>
          <a:endParaRPr lang="en-US"/>
        </a:p>
      </dgm:t>
    </dgm:pt>
    <dgm:pt modelId="{035B4B6C-BBF5-0D4D-86D8-A0562E242151}" type="sibTrans" cxnId="{1C69D18B-4D6D-C54F-9524-6177246C5F7D}">
      <dgm:prSet/>
      <dgm:spPr/>
      <dgm:t>
        <a:bodyPr/>
        <a:lstStyle/>
        <a:p>
          <a:endParaRPr lang="en-US"/>
        </a:p>
      </dgm:t>
    </dgm:pt>
    <dgm:pt modelId="{67DFE038-8E3D-C649-A5BB-9B3C0EE1B407}" type="pres">
      <dgm:prSet presAssocID="{48302B29-DF7B-CE48-A8D2-94069316D1C3}" presName="composite" presStyleCnt="0">
        <dgm:presLayoutVars>
          <dgm:chMax val="5"/>
          <dgm:dir/>
          <dgm:resizeHandles val="exact"/>
        </dgm:presLayoutVars>
      </dgm:prSet>
      <dgm:spPr/>
    </dgm:pt>
    <dgm:pt modelId="{CAE743AE-6431-1E40-A97F-5F24D5B60547}" type="pres">
      <dgm:prSet presAssocID="{C19F7702-5F4C-F44B-9333-C56759486144}" presName="circle1" presStyleLbl="lnNode1" presStyleIdx="0" presStyleCnt="4"/>
      <dgm:spPr/>
    </dgm:pt>
    <dgm:pt modelId="{AB119BD4-C127-B449-BD7B-2FB3093D572E}" type="pres">
      <dgm:prSet presAssocID="{C19F7702-5F4C-F44B-9333-C56759486144}" presName="text1" presStyleLbl="revTx" presStyleIdx="0" presStyleCnt="4">
        <dgm:presLayoutVars>
          <dgm:bulletEnabled val="1"/>
        </dgm:presLayoutVars>
      </dgm:prSet>
      <dgm:spPr/>
    </dgm:pt>
    <dgm:pt modelId="{34B48968-EEAE-C24A-A838-020141B43AD6}" type="pres">
      <dgm:prSet presAssocID="{C19F7702-5F4C-F44B-9333-C56759486144}" presName="line1" presStyleLbl="callout" presStyleIdx="0" presStyleCnt="8"/>
      <dgm:spPr>
        <a:ln>
          <a:solidFill>
            <a:schemeClr val="accent4"/>
          </a:solidFill>
        </a:ln>
      </dgm:spPr>
    </dgm:pt>
    <dgm:pt modelId="{DDA5D090-4EDE-CC46-88A9-94E77850F40F}" type="pres">
      <dgm:prSet presAssocID="{C19F7702-5F4C-F44B-9333-C56759486144}" presName="d1" presStyleLbl="callout" presStyleIdx="1" presStyleCnt="8"/>
      <dgm:spPr>
        <a:ln>
          <a:solidFill>
            <a:schemeClr val="accent4"/>
          </a:solidFill>
        </a:ln>
      </dgm:spPr>
    </dgm:pt>
    <dgm:pt modelId="{EAFBFBDD-6B2F-6542-A0F4-55DD8CB829AA}" type="pres">
      <dgm:prSet presAssocID="{E155F29C-A5B5-0E46-A2C7-79E6A500D145}" presName="circle2" presStyleLbl="lnNode1" presStyleIdx="1" presStyleCnt="4"/>
      <dgm:spPr/>
    </dgm:pt>
    <dgm:pt modelId="{513BC700-EE34-1A44-899C-A6CEEACA89E1}" type="pres">
      <dgm:prSet presAssocID="{E155F29C-A5B5-0E46-A2C7-79E6A500D145}" presName="text2" presStyleLbl="revTx" presStyleIdx="1" presStyleCnt="4">
        <dgm:presLayoutVars>
          <dgm:bulletEnabled val="1"/>
        </dgm:presLayoutVars>
      </dgm:prSet>
      <dgm:spPr/>
    </dgm:pt>
    <dgm:pt modelId="{CD79B02B-ADDF-1141-8C86-45D10350966D}" type="pres">
      <dgm:prSet presAssocID="{E155F29C-A5B5-0E46-A2C7-79E6A500D145}" presName="line2" presStyleLbl="callout" presStyleIdx="2" presStyleCnt="8"/>
      <dgm:spPr>
        <a:ln>
          <a:solidFill>
            <a:schemeClr val="accent4"/>
          </a:solidFill>
        </a:ln>
      </dgm:spPr>
    </dgm:pt>
    <dgm:pt modelId="{816E5757-0CAD-CD46-B964-B653CB3D2F71}" type="pres">
      <dgm:prSet presAssocID="{E155F29C-A5B5-0E46-A2C7-79E6A500D145}" presName="d2" presStyleLbl="callout" presStyleIdx="3" presStyleCnt="8"/>
      <dgm:spPr>
        <a:ln>
          <a:solidFill>
            <a:schemeClr val="accent4"/>
          </a:solidFill>
        </a:ln>
      </dgm:spPr>
    </dgm:pt>
    <dgm:pt modelId="{09E5408D-8A11-C349-983A-FF27A4CD0E3B}" type="pres">
      <dgm:prSet presAssocID="{8CAB68A3-B26F-2B4B-B51A-0CF38939513F}" presName="circle3" presStyleLbl="lnNode1" presStyleIdx="2" presStyleCnt="4"/>
      <dgm:spPr/>
    </dgm:pt>
    <dgm:pt modelId="{64D028ED-D856-004F-82AE-25A1792DF594}" type="pres">
      <dgm:prSet presAssocID="{8CAB68A3-B26F-2B4B-B51A-0CF38939513F}" presName="text3" presStyleLbl="revTx" presStyleIdx="2" presStyleCnt="4">
        <dgm:presLayoutVars>
          <dgm:bulletEnabled val="1"/>
        </dgm:presLayoutVars>
      </dgm:prSet>
      <dgm:spPr/>
    </dgm:pt>
    <dgm:pt modelId="{844D6AD4-814E-9A49-8479-BBC4355D2906}" type="pres">
      <dgm:prSet presAssocID="{8CAB68A3-B26F-2B4B-B51A-0CF38939513F}" presName="line3" presStyleLbl="callout" presStyleIdx="4" presStyleCnt="8"/>
      <dgm:spPr>
        <a:ln>
          <a:solidFill>
            <a:schemeClr val="accent4"/>
          </a:solidFill>
        </a:ln>
      </dgm:spPr>
    </dgm:pt>
    <dgm:pt modelId="{09E031DD-5B6F-B149-9EF5-9E627F32C5E0}" type="pres">
      <dgm:prSet presAssocID="{8CAB68A3-B26F-2B4B-B51A-0CF38939513F}" presName="d3" presStyleLbl="callout" presStyleIdx="5" presStyleCnt="8"/>
      <dgm:spPr>
        <a:ln>
          <a:solidFill>
            <a:schemeClr val="accent4"/>
          </a:solidFill>
        </a:ln>
      </dgm:spPr>
    </dgm:pt>
    <dgm:pt modelId="{F85D9B43-A645-1046-AAFB-474175001081}" type="pres">
      <dgm:prSet presAssocID="{2BB322CA-E42D-4846-BC15-76177995191D}" presName="circle4" presStyleLbl="lnNode1" presStyleIdx="3" presStyleCnt="4"/>
      <dgm:spPr/>
    </dgm:pt>
    <dgm:pt modelId="{7DB2A403-2088-DF4C-B961-D8DCC748BA56}" type="pres">
      <dgm:prSet presAssocID="{2BB322CA-E42D-4846-BC15-76177995191D}" presName="text4" presStyleLbl="revTx" presStyleIdx="3" presStyleCnt="4">
        <dgm:presLayoutVars>
          <dgm:bulletEnabled val="1"/>
        </dgm:presLayoutVars>
      </dgm:prSet>
      <dgm:spPr/>
    </dgm:pt>
    <dgm:pt modelId="{DEF37567-F691-5D47-8D86-7EF938ACCD23}" type="pres">
      <dgm:prSet presAssocID="{2BB322CA-E42D-4846-BC15-76177995191D}" presName="line4" presStyleLbl="callout" presStyleIdx="6" presStyleCnt="8"/>
      <dgm:spPr>
        <a:ln>
          <a:solidFill>
            <a:schemeClr val="accent4"/>
          </a:solidFill>
        </a:ln>
      </dgm:spPr>
    </dgm:pt>
    <dgm:pt modelId="{C5CA4BDE-6447-5546-B9F5-65BD75E05390}" type="pres">
      <dgm:prSet presAssocID="{2BB322CA-E42D-4846-BC15-76177995191D}" presName="d4" presStyleLbl="callout" presStyleIdx="7" presStyleCnt="8"/>
      <dgm:spPr>
        <a:ln>
          <a:solidFill>
            <a:schemeClr val="accent4"/>
          </a:solidFill>
        </a:ln>
      </dgm:spPr>
    </dgm:pt>
  </dgm:ptLst>
  <dgm:cxnLst>
    <dgm:cxn modelId="{4B6C9305-9663-8143-81A0-3E9955214B81}" type="presOf" srcId="{E155F29C-A5B5-0E46-A2C7-79E6A500D145}" destId="{513BC700-EE34-1A44-899C-A6CEEACA89E1}" srcOrd="0" destOrd="0" presId="urn:microsoft.com/office/officeart/2005/8/layout/target1"/>
    <dgm:cxn modelId="{019DB62C-AF38-6F4D-9BB2-199E8BA3C067}" type="presOf" srcId="{48302B29-DF7B-CE48-A8D2-94069316D1C3}" destId="{67DFE038-8E3D-C649-A5BB-9B3C0EE1B407}" srcOrd="0" destOrd="0" presId="urn:microsoft.com/office/officeart/2005/8/layout/target1"/>
    <dgm:cxn modelId="{171A6A42-3C17-7748-A842-8CCB1915C2B8}" type="presOf" srcId="{C19F7702-5F4C-F44B-9333-C56759486144}" destId="{AB119BD4-C127-B449-BD7B-2FB3093D572E}" srcOrd="0" destOrd="0" presId="urn:microsoft.com/office/officeart/2005/8/layout/target1"/>
    <dgm:cxn modelId="{4A4B1846-5DC4-C84A-A863-9D344E7D707C}" srcId="{48302B29-DF7B-CE48-A8D2-94069316D1C3}" destId="{8CAB68A3-B26F-2B4B-B51A-0CF38939513F}" srcOrd="2" destOrd="0" parTransId="{6ACB63A5-1C58-524A-A160-886341F60C0C}" sibTransId="{3E669834-DB2C-7641-B14E-DFD1B4C62083}"/>
    <dgm:cxn modelId="{1C69D18B-4D6D-C54F-9524-6177246C5F7D}" srcId="{48302B29-DF7B-CE48-A8D2-94069316D1C3}" destId="{2BB322CA-E42D-4846-BC15-76177995191D}" srcOrd="3" destOrd="0" parTransId="{85853BED-64B9-CF48-99D4-E806CF0298B4}" sibTransId="{035B4B6C-BBF5-0D4D-86D8-A0562E242151}"/>
    <dgm:cxn modelId="{68C16891-8D07-2645-B752-FE205353DCD5}" srcId="{48302B29-DF7B-CE48-A8D2-94069316D1C3}" destId="{E155F29C-A5B5-0E46-A2C7-79E6A500D145}" srcOrd="1" destOrd="0" parTransId="{8055BD00-F1C8-7846-B466-65DE4011FD8C}" sibTransId="{FCDFAB97-D041-E548-96BC-411DF7EC694B}"/>
    <dgm:cxn modelId="{1AA003D7-C481-3A42-AA00-C72307ACAD34}" type="presOf" srcId="{8CAB68A3-B26F-2B4B-B51A-0CF38939513F}" destId="{64D028ED-D856-004F-82AE-25A1792DF594}" srcOrd="0" destOrd="0" presId="urn:microsoft.com/office/officeart/2005/8/layout/target1"/>
    <dgm:cxn modelId="{46B638DB-5077-8F47-B532-560C4EEBB34E}" srcId="{48302B29-DF7B-CE48-A8D2-94069316D1C3}" destId="{C19F7702-5F4C-F44B-9333-C56759486144}" srcOrd="0" destOrd="0" parTransId="{A70B69E9-4AAC-D24E-AF8E-9E3927E157EF}" sibTransId="{4562A5FB-A475-444C-82E8-04D61A9E986C}"/>
    <dgm:cxn modelId="{217BF1EC-0D44-B94C-924C-945A9E06B6F1}" type="presOf" srcId="{2BB322CA-E42D-4846-BC15-76177995191D}" destId="{7DB2A403-2088-DF4C-B961-D8DCC748BA56}" srcOrd="0" destOrd="0" presId="urn:microsoft.com/office/officeart/2005/8/layout/target1"/>
    <dgm:cxn modelId="{1FCC9E07-AA87-E64F-9072-85950E151E9B}" type="presParOf" srcId="{67DFE038-8E3D-C649-A5BB-9B3C0EE1B407}" destId="{CAE743AE-6431-1E40-A97F-5F24D5B60547}" srcOrd="0" destOrd="0" presId="urn:microsoft.com/office/officeart/2005/8/layout/target1"/>
    <dgm:cxn modelId="{B312B154-9FC1-8341-B8F7-465DBDC5F91D}" type="presParOf" srcId="{67DFE038-8E3D-C649-A5BB-9B3C0EE1B407}" destId="{AB119BD4-C127-B449-BD7B-2FB3093D572E}" srcOrd="1" destOrd="0" presId="urn:microsoft.com/office/officeart/2005/8/layout/target1"/>
    <dgm:cxn modelId="{A68EC521-5EFD-C747-8343-1B923810951F}" type="presParOf" srcId="{67DFE038-8E3D-C649-A5BB-9B3C0EE1B407}" destId="{34B48968-EEAE-C24A-A838-020141B43AD6}" srcOrd="2" destOrd="0" presId="urn:microsoft.com/office/officeart/2005/8/layout/target1"/>
    <dgm:cxn modelId="{49879328-35EC-A944-81C3-2A49F1C5E66B}" type="presParOf" srcId="{67DFE038-8E3D-C649-A5BB-9B3C0EE1B407}" destId="{DDA5D090-4EDE-CC46-88A9-94E77850F40F}" srcOrd="3" destOrd="0" presId="urn:microsoft.com/office/officeart/2005/8/layout/target1"/>
    <dgm:cxn modelId="{419233AA-A062-014B-94FC-1172D2BCCCEC}" type="presParOf" srcId="{67DFE038-8E3D-C649-A5BB-9B3C0EE1B407}" destId="{EAFBFBDD-6B2F-6542-A0F4-55DD8CB829AA}" srcOrd="4" destOrd="0" presId="urn:microsoft.com/office/officeart/2005/8/layout/target1"/>
    <dgm:cxn modelId="{BCBE20E3-240C-874B-A132-3934F75D0B77}" type="presParOf" srcId="{67DFE038-8E3D-C649-A5BB-9B3C0EE1B407}" destId="{513BC700-EE34-1A44-899C-A6CEEACA89E1}" srcOrd="5" destOrd="0" presId="urn:microsoft.com/office/officeart/2005/8/layout/target1"/>
    <dgm:cxn modelId="{F681055D-923A-D44A-B20B-E630B78B52EF}" type="presParOf" srcId="{67DFE038-8E3D-C649-A5BB-9B3C0EE1B407}" destId="{CD79B02B-ADDF-1141-8C86-45D10350966D}" srcOrd="6" destOrd="0" presId="urn:microsoft.com/office/officeart/2005/8/layout/target1"/>
    <dgm:cxn modelId="{05F61CE4-F3C6-1549-9C08-8735F7134DB1}" type="presParOf" srcId="{67DFE038-8E3D-C649-A5BB-9B3C0EE1B407}" destId="{816E5757-0CAD-CD46-B964-B653CB3D2F71}" srcOrd="7" destOrd="0" presId="urn:microsoft.com/office/officeart/2005/8/layout/target1"/>
    <dgm:cxn modelId="{57EF3DA7-8614-DE44-994C-8B8008F3DC84}" type="presParOf" srcId="{67DFE038-8E3D-C649-A5BB-9B3C0EE1B407}" destId="{09E5408D-8A11-C349-983A-FF27A4CD0E3B}" srcOrd="8" destOrd="0" presId="urn:microsoft.com/office/officeart/2005/8/layout/target1"/>
    <dgm:cxn modelId="{715A600E-11DA-044B-A3DA-384A55E6DA9C}" type="presParOf" srcId="{67DFE038-8E3D-C649-A5BB-9B3C0EE1B407}" destId="{64D028ED-D856-004F-82AE-25A1792DF594}" srcOrd="9" destOrd="0" presId="urn:microsoft.com/office/officeart/2005/8/layout/target1"/>
    <dgm:cxn modelId="{EBE12B9E-E7DC-3B4D-A525-CBF46CD0EF22}" type="presParOf" srcId="{67DFE038-8E3D-C649-A5BB-9B3C0EE1B407}" destId="{844D6AD4-814E-9A49-8479-BBC4355D2906}" srcOrd="10" destOrd="0" presId="urn:microsoft.com/office/officeart/2005/8/layout/target1"/>
    <dgm:cxn modelId="{45073F24-BDEA-A44F-928F-58D775E3409B}" type="presParOf" srcId="{67DFE038-8E3D-C649-A5BB-9B3C0EE1B407}" destId="{09E031DD-5B6F-B149-9EF5-9E627F32C5E0}" srcOrd="11" destOrd="0" presId="urn:microsoft.com/office/officeart/2005/8/layout/target1"/>
    <dgm:cxn modelId="{9E4047F7-2ACA-AA41-B926-46A2DE42BDF2}" type="presParOf" srcId="{67DFE038-8E3D-C649-A5BB-9B3C0EE1B407}" destId="{F85D9B43-A645-1046-AAFB-474175001081}" srcOrd="12" destOrd="0" presId="urn:microsoft.com/office/officeart/2005/8/layout/target1"/>
    <dgm:cxn modelId="{FBE53C4A-D092-E84C-938D-3A496E8B6665}" type="presParOf" srcId="{67DFE038-8E3D-C649-A5BB-9B3C0EE1B407}" destId="{7DB2A403-2088-DF4C-B961-D8DCC748BA56}" srcOrd="13" destOrd="0" presId="urn:microsoft.com/office/officeart/2005/8/layout/target1"/>
    <dgm:cxn modelId="{8C37571A-B911-EB43-80B5-B862A55E4F9A}" type="presParOf" srcId="{67DFE038-8E3D-C649-A5BB-9B3C0EE1B407}" destId="{DEF37567-F691-5D47-8D86-7EF938ACCD23}" srcOrd="14" destOrd="0" presId="urn:microsoft.com/office/officeart/2005/8/layout/target1"/>
    <dgm:cxn modelId="{FC3B03F4-13C2-014D-A1C0-61500825C10A}" type="presParOf" srcId="{67DFE038-8E3D-C649-A5BB-9B3C0EE1B407}" destId="{C5CA4BDE-6447-5546-B9F5-65BD75E05390}" srcOrd="15" destOrd="0" presId="urn:microsoft.com/office/officeart/2005/8/layout/target1"/>
  </dgm:cxnLst>
  <dgm:bg/>
  <dgm:whole>
    <a:ln>
      <a:solidFill>
        <a:schemeClr val="accent4"/>
      </a:solidFill>
    </a:ln>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B18C8D-A7AF-7D4C-97BE-7296A4D1F7E4}">
      <dsp:nvSpPr>
        <dsp:cNvPr id="0" name=""/>
        <dsp:cNvSpPr/>
      </dsp:nvSpPr>
      <dsp:spPr>
        <a:xfrm rot="16200000">
          <a:off x="-2323897" y="2325360"/>
          <a:ext cx="5486400" cy="835679"/>
        </a:xfrm>
        <a:prstGeom prst="flowChartManualOperation">
          <a:avLst/>
        </a:prstGeom>
        <a:solidFill>
          <a:schemeClr val="accent3"/>
        </a:solidFill>
        <a:ln>
          <a:solidFill>
            <a:schemeClr val="tx2"/>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69850" tIns="0" rIns="66675" bIns="0" numCol="1" spcCol="1270" anchor="ctr" anchorCtr="0">
          <a:noAutofit/>
        </a:bodyPr>
        <a:lstStyle/>
        <a:p>
          <a:pPr marL="0" lvl="0" indent="0" algn="ctr" defTabSz="466725" rtl="0">
            <a:lnSpc>
              <a:spcPct val="90000"/>
            </a:lnSpc>
            <a:spcBef>
              <a:spcPct val="0"/>
            </a:spcBef>
            <a:spcAft>
              <a:spcPct val="35000"/>
            </a:spcAft>
            <a:buNone/>
          </a:pPr>
          <a:r>
            <a:rPr lang="en-US" sz="1050" b="1" kern="1200" dirty="0">
              <a:effectLst>
                <a:outerShdw blurRad="38100" dist="38100" dir="2700000" algn="tl">
                  <a:srgbClr val="000000">
                    <a:alpha val="43137"/>
                  </a:srgbClr>
                </a:outerShdw>
              </a:effectLst>
            </a:rPr>
            <a:t>Weighed </a:t>
          </a:r>
        </a:p>
        <a:p>
          <a:pPr marL="0" lvl="0" indent="0" algn="ctr" defTabSz="466725" rtl="0">
            <a:lnSpc>
              <a:spcPct val="90000"/>
            </a:lnSpc>
            <a:spcBef>
              <a:spcPct val="0"/>
            </a:spcBef>
            <a:spcAft>
              <a:spcPct val="35000"/>
            </a:spcAft>
            <a:buNone/>
          </a:pPr>
          <a:r>
            <a:rPr lang="en-US" sz="1050" b="1" kern="1200" dirty="0">
              <a:effectLst>
                <a:outerShdw blurRad="38100" dist="38100" dir="2700000" algn="tl">
                  <a:srgbClr val="000000">
                    <a:alpha val="43137"/>
                  </a:srgbClr>
                </a:outerShdw>
              </a:effectLst>
            </a:rPr>
            <a:t>30 </a:t>
          </a:r>
        </a:p>
        <a:p>
          <a:pPr marL="0" lvl="0" indent="0" algn="ctr" defTabSz="466725" rtl="0">
            <a:lnSpc>
              <a:spcPct val="90000"/>
            </a:lnSpc>
            <a:spcBef>
              <a:spcPct val="0"/>
            </a:spcBef>
            <a:spcAft>
              <a:spcPct val="35000"/>
            </a:spcAft>
            <a:buNone/>
          </a:pPr>
          <a:r>
            <a:rPr lang="en-US" sz="1050" b="1" kern="1200" dirty="0">
              <a:effectLst>
                <a:outerShdw blurRad="38100" dist="38100" dir="2700000" algn="tl">
                  <a:srgbClr val="000000">
                    <a:alpha val="43137"/>
                  </a:srgbClr>
                </a:outerShdw>
              </a:effectLst>
            </a:rPr>
            <a:t>tons</a:t>
          </a:r>
        </a:p>
      </dsp:txBody>
      <dsp:txXfrm rot="5400000">
        <a:off x="1463" y="1097280"/>
        <a:ext cx="835679" cy="3291840"/>
      </dsp:txXfrm>
    </dsp:sp>
    <dsp:sp modelId="{11D6AB6E-035D-1F42-9027-7BD2139C4CDA}">
      <dsp:nvSpPr>
        <dsp:cNvPr id="0" name=""/>
        <dsp:cNvSpPr/>
      </dsp:nvSpPr>
      <dsp:spPr>
        <a:xfrm rot="16200000">
          <a:off x="-1327818" y="2240384"/>
          <a:ext cx="5486400" cy="1005631"/>
        </a:xfrm>
        <a:prstGeom prst="flowChartManualOperation">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solidFill>
            <a:schemeClr val="tx2"/>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69850" tIns="0" rIns="66675" bIns="0" numCol="1" spcCol="1270" anchor="ctr" anchorCtr="0">
          <a:noAutofit/>
        </a:bodyPr>
        <a:lstStyle/>
        <a:p>
          <a:pPr marL="0" lvl="0" indent="0" algn="ctr" defTabSz="466725" rtl="0">
            <a:lnSpc>
              <a:spcPct val="90000"/>
            </a:lnSpc>
            <a:spcBef>
              <a:spcPct val="0"/>
            </a:spcBef>
            <a:spcAft>
              <a:spcPct val="35000"/>
            </a:spcAft>
            <a:buNone/>
          </a:pPr>
          <a:r>
            <a:rPr lang="en-US" sz="1050" b="1" kern="1200" dirty="0">
              <a:effectLst>
                <a:outerShdw blurRad="38100" dist="38100" dir="2700000" algn="tl">
                  <a:srgbClr val="000000">
                    <a:alpha val="43137"/>
                  </a:srgbClr>
                </a:outerShdw>
              </a:effectLst>
            </a:rPr>
            <a:t>Occupied </a:t>
          </a:r>
        </a:p>
        <a:p>
          <a:pPr marL="0" lvl="0" indent="0" algn="ctr" defTabSz="466725" rtl="0">
            <a:lnSpc>
              <a:spcPct val="90000"/>
            </a:lnSpc>
            <a:spcBef>
              <a:spcPct val="0"/>
            </a:spcBef>
            <a:spcAft>
              <a:spcPct val="35000"/>
            </a:spcAft>
            <a:buNone/>
          </a:pPr>
          <a:r>
            <a:rPr lang="en-US" sz="1050" b="1" kern="1200" dirty="0">
              <a:effectLst>
                <a:outerShdw blurRad="38100" dist="38100" dir="2700000" algn="tl">
                  <a:srgbClr val="000000">
                    <a:alpha val="43137"/>
                  </a:srgbClr>
                </a:outerShdw>
              </a:effectLst>
            </a:rPr>
            <a:t>1500 </a:t>
          </a:r>
        </a:p>
        <a:p>
          <a:pPr marL="0" lvl="0" indent="0" algn="ctr" defTabSz="466725" rtl="0">
            <a:lnSpc>
              <a:spcPct val="90000"/>
            </a:lnSpc>
            <a:spcBef>
              <a:spcPct val="0"/>
            </a:spcBef>
            <a:spcAft>
              <a:spcPct val="35000"/>
            </a:spcAft>
            <a:buNone/>
          </a:pPr>
          <a:r>
            <a:rPr lang="en-US" sz="1050" b="1" kern="1200" dirty="0">
              <a:effectLst>
                <a:outerShdw blurRad="38100" dist="38100" dir="2700000" algn="tl">
                  <a:srgbClr val="000000">
                    <a:alpha val="43137"/>
                  </a:srgbClr>
                </a:outerShdw>
              </a:effectLst>
            </a:rPr>
            <a:t>square</a:t>
          </a:r>
        </a:p>
        <a:p>
          <a:pPr marL="0" lvl="0" indent="0" algn="ctr" defTabSz="466725" rtl="0">
            <a:lnSpc>
              <a:spcPct val="90000"/>
            </a:lnSpc>
            <a:spcBef>
              <a:spcPct val="0"/>
            </a:spcBef>
            <a:spcAft>
              <a:spcPct val="35000"/>
            </a:spcAft>
            <a:buNone/>
          </a:pPr>
          <a:r>
            <a:rPr lang="en-US" sz="1050" b="1" kern="1200" dirty="0">
              <a:effectLst>
                <a:outerShdw blurRad="38100" dist="38100" dir="2700000" algn="tl">
                  <a:srgbClr val="000000">
                    <a:alpha val="43137"/>
                  </a:srgbClr>
                </a:outerShdw>
              </a:effectLst>
            </a:rPr>
            <a:t> feet </a:t>
          </a:r>
        </a:p>
        <a:p>
          <a:pPr marL="0" lvl="0" indent="0" algn="ctr" defTabSz="466725" rtl="0">
            <a:lnSpc>
              <a:spcPct val="90000"/>
            </a:lnSpc>
            <a:spcBef>
              <a:spcPct val="0"/>
            </a:spcBef>
            <a:spcAft>
              <a:spcPct val="35000"/>
            </a:spcAft>
            <a:buNone/>
          </a:pPr>
          <a:r>
            <a:rPr lang="en-US" sz="1050" b="1" kern="1200" dirty="0">
              <a:effectLst>
                <a:outerShdw blurRad="38100" dist="38100" dir="2700000" algn="tl">
                  <a:srgbClr val="000000">
                    <a:alpha val="43137"/>
                  </a:srgbClr>
                </a:outerShdw>
              </a:effectLst>
            </a:rPr>
            <a:t>of</a:t>
          </a:r>
        </a:p>
        <a:p>
          <a:pPr marL="0" lvl="0" indent="0" algn="ctr" defTabSz="466725" rtl="0">
            <a:lnSpc>
              <a:spcPct val="90000"/>
            </a:lnSpc>
            <a:spcBef>
              <a:spcPct val="0"/>
            </a:spcBef>
            <a:spcAft>
              <a:spcPct val="35000"/>
            </a:spcAft>
            <a:buNone/>
          </a:pPr>
          <a:r>
            <a:rPr lang="en-US" sz="1050" b="1" kern="1200" dirty="0">
              <a:effectLst>
                <a:outerShdw blurRad="38100" dist="38100" dir="2700000" algn="tl">
                  <a:srgbClr val="000000">
                    <a:alpha val="43137"/>
                  </a:srgbClr>
                </a:outerShdw>
              </a:effectLst>
            </a:rPr>
            <a:t> floor </a:t>
          </a:r>
        </a:p>
        <a:p>
          <a:pPr marL="0" lvl="0" indent="0" algn="ctr" defTabSz="466725" rtl="0">
            <a:lnSpc>
              <a:spcPct val="90000"/>
            </a:lnSpc>
            <a:spcBef>
              <a:spcPct val="0"/>
            </a:spcBef>
            <a:spcAft>
              <a:spcPct val="35000"/>
            </a:spcAft>
            <a:buNone/>
          </a:pPr>
          <a:r>
            <a:rPr lang="en-US" sz="1050" b="1" kern="1200" dirty="0">
              <a:effectLst>
                <a:outerShdw blurRad="38100" dist="38100" dir="2700000" algn="tl">
                  <a:srgbClr val="000000">
                    <a:alpha val="43137"/>
                  </a:srgbClr>
                </a:outerShdw>
              </a:effectLst>
            </a:rPr>
            <a:t>space</a:t>
          </a:r>
        </a:p>
      </dsp:txBody>
      <dsp:txXfrm rot="5400000">
        <a:off x="912566" y="1097280"/>
        <a:ext cx="1005631" cy="3291840"/>
      </dsp:txXfrm>
    </dsp:sp>
    <dsp:sp modelId="{E3383C09-73C1-5D40-A98D-98CD09DF88CC}">
      <dsp:nvSpPr>
        <dsp:cNvPr id="0" name=""/>
        <dsp:cNvSpPr/>
      </dsp:nvSpPr>
      <dsp:spPr>
        <a:xfrm rot="16200000">
          <a:off x="-246764" y="2240384"/>
          <a:ext cx="5486400" cy="1005631"/>
        </a:xfrm>
        <a:prstGeom prst="flowChartManualOperation">
          <a:avLst/>
        </a:prstGeom>
        <a:solidFill>
          <a:schemeClr val="accent3"/>
        </a:solidFill>
        <a:ln>
          <a:solidFill>
            <a:schemeClr val="tx2"/>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69850" tIns="0" rIns="66675" bIns="0" numCol="1" spcCol="1270" anchor="ctr" anchorCtr="0">
          <a:noAutofit/>
        </a:bodyPr>
        <a:lstStyle/>
        <a:p>
          <a:pPr marL="0" lvl="0" indent="0" algn="ctr" defTabSz="466725" rtl="0">
            <a:lnSpc>
              <a:spcPct val="90000"/>
            </a:lnSpc>
            <a:spcBef>
              <a:spcPct val="0"/>
            </a:spcBef>
            <a:spcAft>
              <a:spcPct val="35000"/>
            </a:spcAft>
            <a:buNone/>
          </a:pPr>
          <a:r>
            <a:rPr lang="en-US" sz="1050" b="1" kern="1200" dirty="0">
              <a:effectLst>
                <a:outerShdw blurRad="38100" dist="38100" dir="2700000" algn="tl">
                  <a:srgbClr val="000000">
                    <a:alpha val="43137"/>
                  </a:srgbClr>
                </a:outerShdw>
              </a:effectLst>
            </a:rPr>
            <a:t>Contained</a:t>
          </a:r>
        </a:p>
        <a:p>
          <a:pPr marL="0" lvl="0" indent="0" algn="ctr" defTabSz="466725" rtl="0">
            <a:lnSpc>
              <a:spcPct val="90000"/>
            </a:lnSpc>
            <a:spcBef>
              <a:spcPct val="0"/>
            </a:spcBef>
            <a:spcAft>
              <a:spcPct val="35000"/>
            </a:spcAft>
            <a:buNone/>
          </a:pPr>
          <a:r>
            <a:rPr lang="en-US" sz="1050" b="1" kern="1200" dirty="0">
              <a:effectLst>
                <a:outerShdw blurRad="38100" dist="38100" dir="2700000" algn="tl">
                  <a:srgbClr val="000000">
                    <a:alpha val="43137"/>
                  </a:srgbClr>
                </a:outerShdw>
              </a:effectLst>
            </a:rPr>
            <a:t>more </a:t>
          </a:r>
        </a:p>
        <a:p>
          <a:pPr marL="0" lvl="0" indent="0" algn="ctr" defTabSz="466725" rtl="0">
            <a:lnSpc>
              <a:spcPct val="90000"/>
            </a:lnSpc>
            <a:spcBef>
              <a:spcPct val="0"/>
            </a:spcBef>
            <a:spcAft>
              <a:spcPct val="35000"/>
            </a:spcAft>
            <a:buNone/>
          </a:pPr>
          <a:r>
            <a:rPr lang="en-US" sz="1050" b="1" kern="1200" dirty="0">
              <a:effectLst>
                <a:outerShdw blurRad="38100" dist="38100" dir="2700000" algn="tl">
                  <a:srgbClr val="000000">
                    <a:alpha val="43137"/>
                  </a:srgbClr>
                </a:outerShdw>
              </a:effectLst>
            </a:rPr>
            <a:t>than</a:t>
          </a:r>
        </a:p>
        <a:p>
          <a:pPr marL="0" lvl="0" indent="0" algn="ctr" defTabSz="466725" rtl="0">
            <a:lnSpc>
              <a:spcPct val="90000"/>
            </a:lnSpc>
            <a:spcBef>
              <a:spcPct val="0"/>
            </a:spcBef>
            <a:spcAft>
              <a:spcPct val="35000"/>
            </a:spcAft>
            <a:buNone/>
          </a:pPr>
          <a:r>
            <a:rPr lang="en-US" sz="1050" b="1" kern="1200" dirty="0">
              <a:effectLst>
                <a:outerShdw blurRad="38100" dist="38100" dir="2700000" algn="tl">
                  <a:srgbClr val="000000">
                    <a:alpha val="43137"/>
                  </a:srgbClr>
                </a:outerShdw>
              </a:effectLst>
            </a:rPr>
            <a:t> 18,000 </a:t>
          </a:r>
        </a:p>
        <a:p>
          <a:pPr marL="0" lvl="0" indent="0" algn="ctr" defTabSz="466725" rtl="0">
            <a:lnSpc>
              <a:spcPct val="90000"/>
            </a:lnSpc>
            <a:spcBef>
              <a:spcPct val="0"/>
            </a:spcBef>
            <a:spcAft>
              <a:spcPct val="35000"/>
            </a:spcAft>
            <a:buNone/>
          </a:pPr>
          <a:r>
            <a:rPr lang="en-US" sz="1050" b="1" kern="1200" dirty="0">
              <a:effectLst>
                <a:outerShdw blurRad="38100" dist="38100" dir="2700000" algn="tl">
                  <a:srgbClr val="000000">
                    <a:alpha val="43137"/>
                  </a:srgbClr>
                </a:outerShdw>
              </a:effectLst>
            </a:rPr>
            <a:t>vacuum</a:t>
          </a:r>
        </a:p>
        <a:p>
          <a:pPr marL="0" lvl="0" indent="0" algn="ctr" defTabSz="466725" rtl="0">
            <a:lnSpc>
              <a:spcPct val="90000"/>
            </a:lnSpc>
            <a:spcBef>
              <a:spcPct val="0"/>
            </a:spcBef>
            <a:spcAft>
              <a:spcPct val="35000"/>
            </a:spcAft>
            <a:buNone/>
          </a:pPr>
          <a:r>
            <a:rPr lang="en-US" sz="1050" b="1" kern="1200" dirty="0">
              <a:effectLst>
                <a:outerShdw blurRad="38100" dist="38100" dir="2700000" algn="tl">
                  <a:srgbClr val="000000">
                    <a:alpha val="43137"/>
                  </a:srgbClr>
                </a:outerShdw>
              </a:effectLst>
            </a:rPr>
            <a:t> tubes</a:t>
          </a:r>
        </a:p>
      </dsp:txBody>
      <dsp:txXfrm rot="5400000">
        <a:off x="1993620" y="1097280"/>
        <a:ext cx="1005631" cy="3291840"/>
      </dsp:txXfrm>
    </dsp:sp>
    <dsp:sp modelId="{41D4DD1D-B174-8F49-80E9-D6E0DD13203C}">
      <dsp:nvSpPr>
        <dsp:cNvPr id="0" name=""/>
        <dsp:cNvSpPr/>
      </dsp:nvSpPr>
      <dsp:spPr>
        <a:xfrm rot="16200000">
          <a:off x="834289" y="2240384"/>
          <a:ext cx="5486400" cy="1005631"/>
        </a:xfrm>
        <a:prstGeom prst="flowChartManualOperation">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solidFill>
            <a:schemeClr val="tx2"/>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69850" tIns="0" rIns="66675" bIns="0" numCol="1" spcCol="1270" anchor="ctr" anchorCtr="0">
          <a:noAutofit/>
        </a:bodyPr>
        <a:lstStyle/>
        <a:p>
          <a:pPr marL="0" lvl="0" indent="0" algn="ctr" defTabSz="466725" rtl="0">
            <a:lnSpc>
              <a:spcPct val="90000"/>
            </a:lnSpc>
            <a:spcBef>
              <a:spcPct val="0"/>
            </a:spcBef>
            <a:spcAft>
              <a:spcPct val="35000"/>
            </a:spcAft>
            <a:buNone/>
          </a:pPr>
          <a:r>
            <a:rPr lang="en-US" sz="1050" b="1" kern="1200" dirty="0">
              <a:effectLst>
                <a:outerShdw blurRad="38100" dist="38100" dir="2700000" algn="tl">
                  <a:srgbClr val="000000">
                    <a:alpha val="43137"/>
                  </a:srgbClr>
                </a:outerShdw>
              </a:effectLst>
            </a:rPr>
            <a:t>140 kW </a:t>
          </a:r>
        </a:p>
        <a:p>
          <a:pPr marL="0" lvl="0" indent="0" algn="ctr" defTabSz="466725" rtl="0">
            <a:lnSpc>
              <a:spcPct val="90000"/>
            </a:lnSpc>
            <a:spcBef>
              <a:spcPct val="0"/>
            </a:spcBef>
            <a:spcAft>
              <a:spcPct val="35000"/>
            </a:spcAft>
            <a:buNone/>
          </a:pPr>
          <a:r>
            <a:rPr lang="en-US" sz="1050" b="1" kern="1200" dirty="0">
              <a:effectLst>
                <a:outerShdw blurRad="38100" dist="38100" dir="2700000" algn="tl">
                  <a:srgbClr val="000000">
                    <a:alpha val="43137"/>
                  </a:srgbClr>
                </a:outerShdw>
              </a:effectLst>
            </a:rPr>
            <a:t>Power</a:t>
          </a:r>
        </a:p>
        <a:p>
          <a:pPr marL="0" lvl="0" indent="0" algn="ctr" defTabSz="466725" rtl="0">
            <a:lnSpc>
              <a:spcPct val="90000"/>
            </a:lnSpc>
            <a:spcBef>
              <a:spcPct val="0"/>
            </a:spcBef>
            <a:spcAft>
              <a:spcPct val="35000"/>
            </a:spcAft>
            <a:buNone/>
          </a:pPr>
          <a:r>
            <a:rPr lang="en-US" sz="1050" b="1" kern="1200" dirty="0">
              <a:effectLst>
                <a:outerShdw blurRad="38100" dist="38100" dir="2700000" algn="tl">
                  <a:srgbClr val="000000">
                    <a:alpha val="43137"/>
                  </a:srgbClr>
                </a:outerShdw>
              </a:effectLst>
            </a:rPr>
            <a:t>consumption</a:t>
          </a:r>
        </a:p>
      </dsp:txBody>
      <dsp:txXfrm rot="5400000">
        <a:off x="3074673" y="1097280"/>
        <a:ext cx="1005631" cy="3291840"/>
      </dsp:txXfrm>
    </dsp:sp>
    <dsp:sp modelId="{28CF9760-770D-BC43-BCBB-3E054F62DF7E}">
      <dsp:nvSpPr>
        <dsp:cNvPr id="0" name=""/>
        <dsp:cNvSpPr/>
      </dsp:nvSpPr>
      <dsp:spPr>
        <a:xfrm rot="16200000">
          <a:off x="1915343" y="2240384"/>
          <a:ext cx="5486400" cy="1005631"/>
        </a:xfrm>
        <a:prstGeom prst="flowChartManualOperation">
          <a:avLst/>
        </a:prstGeom>
        <a:solidFill>
          <a:schemeClr val="accent3"/>
        </a:solidFill>
        <a:ln>
          <a:solidFill>
            <a:schemeClr val="tx2"/>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69850" tIns="0" rIns="66675" bIns="0" numCol="1" spcCol="1270" anchor="ctr" anchorCtr="0">
          <a:noAutofit/>
        </a:bodyPr>
        <a:lstStyle/>
        <a:p>
          <a:pPr marL="0" lvl="0" indent="0" algn="ctr" defTabSz="466725" rtl="0">
            <a:lnSpc>
              <a:spcPct val="90000"/>
            </a:lnSpc>
            <a:spcBef>
              <a:spcPct val="0"/>
            </a:spcBef>
            <a:spcAft>
              <a:spcPct val="35000"/>
            </a:spcAft>
            <a:buNone/>
          </a:pPr>
          <a:r>
            <a:rPr lang="en-US" sz="1050" b="1" kern="1200" dirty="0">
              <a:effectLst>
                <a:outerShdw blurRad="38100" dist="38100" dir="2700000" algn="tl">
                  <a:srgbClr val="000000">
                    <a:alpha val="43137"/>
                  </a:srgbClr>
                </a:outerShdw>
              </a:effectLst>
            </a:rPr>
            <a:t>Capable</a:t>
          </a:r>
        </a:p>
        <a:p>
          <a:pPr marL="0" lvl="0" indent="0" algn="ctr" defTabSz="466725" rtl="0">
            <a:lnSpc>
              <a:spcPct val="90000"/>
            </a:lnSpc>
            <a:spcBef>
              <a:spcPct val="0"/>
            </a:spcBef>
            <a:spcAft>
              <a:spcPct val="35000"/>
            </a:spcAft>
            <a:buNone/>
          </a:pPr>
          <a:r>
            <a:rPr lang="en-US" sz="1050" b="1" kern="1200" dirty="0">
              <a:effectLst>
                <a:outerShdw blurRad="38100" dist="38100" dir="2700000" algn="tl">
                  <a:srgbClr val="000000">
                    <a:alpha val="43137"/>
                  </a:srgbClr>
                </a:outerShdw>
              </a:effectLst>
            </a:rPr>
            <a:t> of</a:t>
          </a:r>
        </a:p>
        <a:p>
          <a:pPr marL="0" lvl="0" indent="0" algn="ctr" defTabSz="466725" rtl="0">
            <a:lnSpc>
              <a:spcPct val="90000"/>
            </a:lnSpc>
            <a:spcBef>
              <a:spcPct val="0"/>
            </a:spcBef>
            <a:spcAft>
              <a:spcPct val="35000"/>
            </a:spcAft>
            <a:buNone/>
          </a:pPr>
          <a:r>
            <a:rPr lang="en-US" sz="1050" b="1" kern="1200" dirty="0">
              <a:effectLst>
                <a:outerShdw blurRad="38100" dist="38100" dir="2700000" algn="tl">
                  <a:srgbClr val="000000">
                    <a:alpha val="43137"/>
                  </a:srgbClr>
                </a:outerShdw>
              </a:effectLst>
            </a:rPr>
            <a:t> 5000</a:t>
          </a:r>
        </a:p>
        <a:p>
          <a:pPr marL="0" lvl="0" indent="0" algn="ctr" defTabSz="466725" rtl="0">
            <a:lnSpc>
              <a:spcPct val="90000"/>
            </a:lnSpc>
            <a:spcBef>
              <a:spcPct val="0"/>
            </a:spcBef>
            <a:spcAft>
              <a:spcPct val="35000"/>
            </a:spcAft>
            <a:buNone/>
          </a:pPr>
          <a:r>
            <a:rPr lang="en-US" sz="1050" b="1" kern="1200" dirty="0">
              <a:effectLst>
                <a:outerShdw blurRad="38100" dist="38100" dir="2700000" algn="tl">
                  <a:srgbClr val="000000">
                    <a:alpha val="43137"/>
                  </a:srgbClr>
                </a:outerShdw>
              </a:effectLst>
            </a:rPr>
            <a:t> additions </a:t>
          </a:r>
        </a:p>
        <a:p>
          <a:pPr marL="0" lvl="0" indent="0" algn="ctr" defTabSz="466725" rtl="0">
            <a:lnSpc>
              <a:spcPct val="90000"/>
            </a:lnSpc>
            <a:spcBef>
              <a:spcPct val="0"/>
            </a:spcBef>
            <a:spcAft>
              <a:spcPct val="35000"/>
            </a:spcAft>
            <a:buNone/>
          </a:pPr>
          <a:r>
            <a:rPr lang="en-US" sz="1050" b="1" kern="1200" dirty="0">
              <a:effectLst>
                <a:outerShdw blurRad="38100" dist="38100" dir="2700000" algn="tl">
                  <a:srgbClr val="000000">
                    <a:alpha val="43137"/>
                  </a:srgbClr>
                </a:outerShdw>
              </a:effectLst>
            </a:rPr>
            <a:t>per </a:t>
          </a:r>
        </a:p>
        <a:p>
          <a:pPr marL="0" lvl="0" indent="0" algn="ctr" defTabSz="466725" rtl="0">
            <a:lnSpc>
              <a:spcPct val="90000"/>
            </a:lnSpc>
            <a:spcBef>
              <a:spcPct val="0"/>
            </a:spcBef>
            <a:spcAft>
              <a:spcPct val="35000"/>
            </a:spcAft>
            <a:buNone/>
          </a:pPr>
          <a:r>
            <a:rPr lang="en-US" sz="1050" b="1" kern="1200" dirty="0">
              <a:effectLst>
                <a:outerShdw blurRad="38100" dist="38100" dir="2700000" algn="tl">
                  <a:srgbClr val="000000">
                    <a:alpha val="43137"/>
                  </a:srgbClr>
                </a:outerShdw>
              </a:effectLst>
            </a:rPr>
            <a:t>second</a:t>
          </a:r>
        </a:p>
      </dsp:txBody>
      <dsp:txXfrm rot="5400000">
        <a:off x="4155727" y="1097280"/>
        <a:ext cx="1005631" cy="3291840"/>
      </dsp:txXfrm>
    </dsp:sp>
    <dsp:sp modelId="{8F6F069F-3B2A-D04B-83E9-79D44DE162D7}">
      <dsp:nvSpPr>
        <dsp:cNvPr id="0" name=""/>
        <dsp:cNvSpPr/>
      </dsp:nvSpPr>
      <dsp:spPr>
        <a:xfrm rot="16200000">
          <a:off x="2996397" y="2240384"/>
          <a:ext cx="5486400" cy="1005631"/>
        </a:xfrm>
        <a:prstGeom prst="flowChartManualOperation">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solidFill>
            <a:schemeClr val="tx2"/>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69850" tIns="0" rIns="66675" bIns="0" numCol="1" spcCol="1270" anchor="ctr" anchorCtr="0">
          <a:noAutofit/>
        </a:bodyPr>
        <a:lstStyle/>
        <a:p>
          <a:pPr marL="0" lvl="0" indent="0" algn="ctr" defTabSz="466725" rtl="0">
            <a:lnSpc>
              <a:spcPct val="90000"/>
            </a:lnSpc>
            <a:spcBef>
              <a:spcPct val="0"/>
            </a:spcBef>
            <a:spcAft>
              <a:spcPct val="35000"/>
            </a:spcAft>
            <a:buNone/>
          </a:pPr>
          <a:r>
            <a:rPr lang="en-US" sz="1050" b="1" kern="1200" dirty="0">
              <a:effectLst>
                <a:outerShdw blurRad="38100" dist="38100" dir="2700000" algn="tl">
                  <a:srgbClr val="000000">
                    <a:alpha val="43137"/>
                  </a:srgbClr>
                </a:outerShdw>
              </a:effectLst>
            </a:rPr>
            <a:t>Decimal </a:t>
          </a:r>
        </a:p>
        <a:p>
          <a:pPr marL="0" lvl="0" indent="0" algn="ctr" defTabSz="466725" rtl="0">
            <a:lnSpc>
              <a:spcPct val="90000"/>
            </a:lnSpc>
            <a:spcBef>
              <a:spcPct val="0"/>
            </a:spcBef>
            <a:spcAft>
              <a:spcPct val="35000"/>
            </a:spcAft>
            <a:buNone/>
          </a:pPr>
          <a:r>
            <a:rPr lang="en-US" sz="1050" b="1" kern="1200" dirty="0">
              <a:effectLst>
                <a:outerShdw blurRad="38100" dist="38100" dir="2700000" algn="tl">
                  <a:srgbClr val="000000">
                    <a:alpha val="43137"/>
                  </a:srgbClr>
                </a:outerShdw>
              </a:effectLst>
            </a:rPr>
            <a:t>rather </a:t>
          </a:r>
        </a:p>
        <a:p>
          <a:pPr marL="0" lvl="0" indent="0" algn="ctr" defTabSz="466725" rtl="0">
            <a:lnSpc>
              <a:spcPct val="90000"/>
            </a:lnSpc>
            <a:spcBef>
              <a:spcPct val="0"/>
            </a:spcBef>
            <a:spcAft>
              <a:spcPct val="35000"/>
            </a:spcAft>
            <a:buNone/>
          </a:pPr>
          <a:r>
            <a:rPr lang="en-US" sz="1050" b="1" kern="1200" dirty="0">
              <a:effectLst>
                <a:outerShdw blurRad="38100" dist="38100" dir="2700000" algn="tl">
                  <a:srgbClr val="000000">
                    <a:alpha val="43137"/>
                  </a:srgbClr>
                </a:outerShdw>
              </a:effectLst>
            </a:rPr>
            <a:t>than</a:t>
          </a:r>
        </a:p>
        <a:p>
          <a:pPr marL="0" lvl="0" indent="0" algn="ctr" defTabSz="466725" rtl="0">
            <a:lnSpc>
              <a:spcPct val="90000"/>
            </a:lnSpc>
            <a:spcBef>
              <a:spcPct val="0"/>
            </a:spcBef>
            <a:spcAft>
              <a:spcPct val="35000"/>
            </a:spcAft>
            <a:buNone/>
          </a:pPr>
          <a:r>
            <a:rPr lang="en-US" sz="1050" b="1" kern="1200" dirty="0">
              <a:effectLst>
                <a:outerShdw blurRad="38100" dist="38100" dir="2700000" algn="tl">
                  <a:srgbClr val="000000">
                    <a:alpha val="43137"/>
                  </a:srgbClr>
                </a:outerShdw>
              </a:effectLst>
            </a:rPr>
            <a:t> binary </a:t>
          </a:r>
        </a:p>
        <a:p>
          <a:pPr marL="0" lvl="0" indent="0" algn="ctr" defTabSz="466725" rtl="0">
            <a:lnSpc>
              <a:spcPct val="90000"/>
            </a:lnSpc>
            <a:spcBef>
              <a:spcPct val="0"/>
            </a:spcBef>
            <a:spcAft>
              <a:spcPct val="35000"/>
            </a:spcAft>
            <a:buNone/>
          </a:pPr>
          <a:r>
            <a:rPr lang="en-US" sz="1050" b="1" kern="1200" dirty="0">
              <a:effectLst>
                <a:outerShdw blurRad="38100" dist="38100" dir="2700000" algn="tl">
                  <a:srgbClr val="000000">
                    <a:alpha val="43137"/>
                  </a:srgbClr>
                </a:outerShdw>
              </a:effectLst>
            </a:rPr>
            <a:t>machine</a:t>
          </a:r>
        </a:p>
      </dsp:txBody>
      <dsp:txXfrm rot="5400000">
        <a:off x="5236781" y="1097280"/>
        <a:ext cx="1005631" cy="3291840"/>
      </dsp:txXfrm>
    </dsp:sp>
    <dsp:sp modelId="{38248C2E-AE25-8144-AD90-E1533BA57C3B}">
      <dsp:nvSpPr>
        <dsp:cNvPr id="0" name=""/>
        <dsp:cNvSpPr/>
      </dsp:nvSpPr>
      <dsp:spPr>
        <a:xfrm rot="16200000">
          <a:off x="4201083" y="2116751"/>
          <a:ext cx="5486400" cy="1252896"/>
        </a:xfrm>
        <a:prstGeom prst="flowChartManualOperation">
          <a:avLst/>
        </a:prstGeom>
        <a:solidFill>
          <a:schemeClr val="accent3"/>
        </a:solidFill>
        <a:ln>
          <a:solidFill>
            <a:schemeClr val="tx2"/>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69850" tIns="0" rIns="66675" bIns="0" numCol="1" spcCol="1270" anchor="ctr" anchorCtr="0">
          <a:noAutofit/>
        </a:bodyPr>
        <a:lstStyle/>
        <a:p>
          <a:pPr marL="0" lvl="0" indent="0" algn="ctr" defTabSz="466725" rtl="0">
            <a:lnSpc>
              <a:spcPct val="90000"/>
            </a:lnSpc>
            <a:spcBef>
              <a:spcPct val="0"/>
            </a:spcBef>
            <a:spcAft>
              <a:spcPct val="35000"/>
            </a:spcAft>
            <a:buNone/>
          </a:pPr>
          <a:r>
            <a:rPr lang="en-US" sz="1050" b="1" kern="1200" dirty="0">
              <a:effectLst>
                <a:outerShdw blurRad="38100" dist="38100" dir="2700000" algn="tl">
                  <a:srgbClr val="000000">
                    <a:alpha val="43137"/>
                  </a:srgbClr>
                </a:outerShdw>
              </a:effectLst>
            </a:rPr>
            <a:t>Memory </a:t>
          </a:r>
        </a:p>
        <a:p>
          <a:pPr marL="0" lvl="0" indent="0" algn="ctr" defTabSz="466725" rtl="0">
            <a:lnSpc>
              <a:spcPct val="90000"/>
            </a:lnSpc>
            <a:spcBef>
              <a:spcPct val="0"/>
            </a:spcBef>
            <a:spcAft>
              <a:spcPct val="35000"/>
            </a:spcAft>
            <a:buNone/>
          </a:pPr>
          <a:r>
            <a:rPr lang="en-US" sz="1050" b="1" kern="1200" dirty="0">
              <a:effectLst>
                <a:outerShdw blurRad="38100" dist="38100" dir="2700000" algn="tl">
                  <a:srgbClr val="000000">
                    <a:alpha val="43137"/>
                  </a:srgbClr>
                </a:outerShdw>
              </a:effectLst>
            </a:rPr>
            <a:t>consisted </a:t>
          </a:r>
        </a:p>
        <a:p>
          <a:pPr marL="0" lvl="0" indent="0" algn="ctr" defTabSz="466725" rtl="0">
            <a:lnSpc>
              <a:spcPct val="90000"/>
            </a:lnSpc>
            <a:spcBef>
              <a:spcPct val="0"/>
            </a:spcBef>
            <a:spcAft>
              <a:spcPct val="35000"/>
            </a:spcAft>
            <a:buNone/>
          </a:pPr>
          <a:r>
            <a:rPr lang="en-US" sz="1050" b="1" kern="1200" dirty="0">
              <a:effectLst>
                <a:outerShdw blurRad="38100" dist="38100" dir="2700000" algn="tl">
                  <a:srgbClr val="000000">
                    <a:alpha val="43137"/>
                  </a:srgbClr>
                </a:outerShdw>
              </a:effectLst>
            </a:rPr>
            <a:t>of  20 accumulators, </a:t>
          </a:r>
        </a:p>
        <a:p>
          <a:pPr marL="0" lvl="0" indent="0" algn="ctr" defTabSz="466725" rtl="0">
            <a:lnSpc>
              <a:spcPct val="90000"/>
            </a:lnSpc>
            <a:spcBef>
              <a:spcPct val="0"/>
            </a:spcBef>
            <a:spcAft>
              <a:spcPct val="35000"/>
            </a:spcAft>
            <a:buNone/>
          </a:pPr>
          <a:r>
            <a:rPr lang="en-US" sz="1050" b="1" kern="1200" dirty="0">
              <a:effectLst>
                <a:outerShdw blurRad="38100" dist="38100" dir="2700000" algn="tl">
                  <a:srgbClr val="000000">
                    <a:alpha val="43137"/>
                  </a:srgbClr>
                </a:outerShdw>
              </a:effectLst>
            </a:rPr>
            <a:t>each</a:t>
          </a:r>
        </a:p>
        <a:p>
          <a:pPr marL="0" lvl="0" indent="0" algn="ctr" defTabSz="466725" rtl="0">
            <a:lnSpc>
              <a:spcPct val="90000"/>
            </a:lnSpc>
            <a:spcBef>
              <a:spcPct val="0"/>
            </a:spcBef>
            <a:spcAft>
              <a:spcPct val="35000"/>
            </a:spcAft>
            <a:buNone/>
          </a:pPr>
          <a:r>
            <a:rPr lang="en-US" sz="1050" b="1" kern="1200" dirty="0">
              <a:effectLst>
                <a:outerShdw blurRad="38100" dist="38100" dir="2700000" algn="tl">
                  <a:srgbClr val="000000">
                    <a:alpha val="43137"/>
                  </a:srgbClr>
                </a:outerShdw>
              </a:effectLst>
            </a:rPr>
            <a:t> capable</a:t>
          </a:r>
        </a:p>
        <a:p>
          <a:pPr marL="0" lvl="0" indent="0" algn="ctr" defTabSz="466725" rtl="0">
            <a:lnSpc>
              <a:spcPct val="90000"/>
            </a:lnSpc>
            <a:spcBef>
              <a:spcPct val="0"/>
            </a:spcBef>
            <a:spcAft>
              <a:spcPct val="35000"/>
            </a:spcAft>
            <a:buNone/>
          </a:pPr>
          <a:r>
            <a:rPr lang="en-US" sz="1050" b="1" kern="1200" dirty="0">
              <a:effectLst>
                <a:outerShdw blurRad="38100" dist="38100" dir="2700000" algn="tl">
                  <a:srgbClr val="000000">
                    <a:alpha val="43137"/>
                  </a:srgbClr>
                </a:outerShdw>
              </a:effectLst>
            </a:rPr>
            <a:t> of </a:t>
          </a:r>
        </a:p>
        <a:p>
          <a:pPr marL="0" lvl="0" indent="0" algn="ctr" defTabSz="466725" rtl="0">
            <a:lnSpc>
              <a:spcPct val="90000"/>
            </a:lnSpc>
            <a:spcBef>
              <a:spcPct val="0"/>
            </a:spcBef>
            <a:spcAft>
              <a:spcPct val="35000"/>
            </a:spcAft>
            <a:buNone/>
          </a:pPr>
          <a:r>
            <a:rPr lang="en-US" sz="1050" b="1" kern="1200" dirty="0">
              <a:effectLst>
                <a:outerShdw blurRad="38100" dist="38100" dir="2700000" algn="tl">
                  <a:srgbClr val="000000">
                    <a:alpha val="43137"/>
                  </a:srgbClr>
                </a:outerShdw>
              </a:effectLst>
            </a:rPr>
            <a:t>holding </a:t>
          </a:r>
        </a:p>
        <a:p>
          <a:pPr marL="0" lvl="0" indent="0" algn="ctr" defTabSz="466725" rtl="0">
            <a:lnSpc>
              <a:spcPct val="90000"/>
            </a:lnSpc>
            <a:spcBef>
              <a:spcPct val="0"/>
            </a:spcBef>
            <a:spcAft>
              <a:spcPct val="35000"/>
            </a:spcAft>
            <a:buNone/>
          </a:pPr>
          <a:r>
            <a:rPr lang="en-US" sz="1050" b="1" kern="1200" dirty="0">
              <a:effectLst>
                <a:outerShdw blurRad="38100" dist="38100" dir="2700000" algn="tl">
                  <a:srgbClr val="000000">
                    <a:alpha val="43137"/>
                  </a:srgbClr>
                </a:outerShdw>
              </a:effectLst>
            </a:rPr>
            <a:t>a </a:t>
          </a:r>
        </a:p>
        <a:p>
          <a:pPr marL="0" lvl="0" indent="0" algn="ctr" defTabSz="466725" rtl="0">
            <a:lnSpc>
              <a:spcPct val="90000"/>
            </a:lnSpc>
            <a:spcBef>
              <a:spcPct val="0"/>
            </a:spcBef>
            <a:spcAft>
              <a:spcPct val="35000"/>
            </a:spcAft>
            <a:buNone/>
          </a:pPr>
          <a:r>
            <a:rPr lang="en-US" sz="1050" b="1" kern="1200" dirty="0">
              <a:effectLst>
                <a:outerShdw blurRad="38100" dist="38100" dir="2700000" algn="tl">
                  <a:srgbClr val="000000">
                    <a:alpha val="43137"/>
                  </a:srgbClr>
                </a:outerShdw>
              </a:effectLst>
            </a:rPr>
            <a:t>10 digit </a:t>
          </a:r>
        </a:p>
        <a:p>
          <a:pPr marL="0" lvl="0" indent="0" algn="ctr" defTabSz="466725" rtl="0">
            <a:lnSpc>
              <a:spcPct val="90000"/>
            </a:lnSpc>
            <a:spcBef>
              <a:spcPct val="0"/>
            </a:spcBef>
            <a:spcAft>
              <a:spcPct val="35000"/>
            </a:spcAft>
            <a:buNone/>
          </a:pPr>
          <a:r>
            <a:rPr lang="en-US" sz="1050" b="1" kern="1200" dirty="0">
              <a:effectLst>
                <a:outerShdw blurRad="38100" dist="38100" dir="2700000" algn="tl">
                  <a:srgbClr val="000000">
                    <a:alpha val="43137"/>
                  </a:srgbClr>
                </a:outerShdw>
              </a:effectLst>
            </a:rPr>
            <a:t>number</a:t>
          </a:r>
        </a:p>
      </dsp:txBody>
      <dsp:txXfrm rot="5400000">
        <a:off x="6317835" y="1097279"/>
        <a:ext cx="1252896" cy="3291840"/>
      </dsp:txXfrm>
    </dsp:sp>
    <dsp:sp modelId="{B210253B-B61E-0549-8DAB-E1DCD3BBE08E}">
      <dsp:nvSpPr>
        <dsp:cNvPr id="0" name=""/>
        <dsp:cNvSpPr/>
      </dsp:nvSpPr>
      <dsp:spPr>
        <a:xfrm rot="16200000">
          <a:off x="5498745" y="2147408"/>
          <a:ext cx="5486400" cy="1191582"/>
        </a:xfrm>
        <a:prstGeom prst="flowChartManualOperation">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solidFill>
            <a:schemeClr val="tx2"/>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69850" tIns="0" rIns="66675" bIns="0" numCol="1" spcCol="1270" anchor="ctr" anchorCtr="0">
          <a:noAutofit/>
        </a:bodyPr>
        <a:lstStyle/>
        <a:p>
          <a:pPr marL="0" lvl="0" indent="0" algn="ctr" defTabSz="466725" rtl="0">
            <a:lnSpc>
              <a:spcPct val="90000"/>
            </a:lnSpc>
            <a:spcBef>
              <a:spcPct val="0"/>
            </a:spcBef>
            <a:spcAft>
              <a:spcPct val="35000"/>
            </a:spcAft>
            <a:buNone/>
          </a:pPr>
          <a:r>
            <a:rPr lang="en-GB" sz="1050" b="1" kern="1200" dirty="0">
              <a:effectLst>
                <a:outerShdw blurRad="38100" dist="38100" dir="2700000" algn="tl">
                  <a:srgbClr val="000000">
                    <a:alpha val="43137"/>
                  </a:srgbClr>
                </a:outerShdw>
              </a:effectLst>
            </a:rPr>
            <a:t>Major</a:t>
          </a:r>
        </a:p>
        <a:p>
          <a:pPr marL="0" lvl="0" indent="0" algn="ctr" defTabSz="466725" rtl="0">
            <a:lnSpc>
              <a:spcPct val="90000"/>
            </a:lnSpc>
            <a:spcBef>
              <a:spcPct val="0"/>
            </a:spcBef>
            <a:spcAft>
              <a:spcPct val="35000"/>
            </a:spcAft>
            <a:buNone/>
          </a:pPr>
          <a:r>
            <a:rPr lang="en-GB" sz="1050" b="1" kern="1200" dirty="0">
              <a:effectLst>
                <a:outerShdw blurRad="38100" dist="38100" dir="2700000" algn="tl">
                  <a:srgbClr val="000000">
                    <a:alpha val="43137"/>
                  </a:srgbClr>
                </a:outerShdw>
              </a:effectLst>
            </a:rPr>
            <a:t> drawback </a:t>
          </a:r>
        </a:p>
        <a:p>
          <a:pPr marL="0" lvl="0" indent="0" algn="ctr" defTabSz="466725" rtl="0">
            <a:lnSpc>
              <a:spcPct val="150000"/>
            </a:lnSpc>
            <a:spcBef>
              <a:spcPct val="0"/>
            </a:spcBef>
            <a:spcAft>
              <a:spcPts val="600"/>
            </a:spcAft>
            <a:buNone/>
          </a:pPr>
          <a:r>
            <a:rPr lang="en-GB" sz="1050" b="1" kern="1200" dirty="0">
              <a:effectLst>
                <a:outerShdw blurRad="38100" dist="38100" dir="2700000" algn="tl">
                  <a:srgbClr val="000000">
                    <a:alpha val="43137"/>
                  </a:srgbClr>
                </a:outerShdw>
              </a:effectLst>
            </a:rPr>
            <a:t>was the need</a:t>
          </a:r>
        </a:p>
        <a:p>
          <a:pPr marL="0" lvl="0" indent="0" algn="ctr" defTabSz="466725" rtl="0">
            <a:lnSpc>
              <a:spcPct val="150000"/>
            </a:lnSpc>
            <a:spcBef>
              <a:spcPct val="0"/>
            </a:spcBef>
            <a:spcAft>
              <a:spcPts val="600"/>
            </a:spcAft>
            <a:buNone/>
          </a:pPr>
          <a:r>
            <a:rPr lang="en-GB" sz="1050" b="1" kern="1200" dirty="0">
              <a:effectLst>
                <a:outerShdw blurRad="38100" dist="38100" dir="2700000" algn="tl">
                  <a:srgbClr val="000000">
                    <a:alpha val="43137"/>
                  </a:srgbClr>
                </a:outerShdw>
              </a:effectLst>
            </a:rPr>
            <a:t> for manual programming</a:t>
          </a:r>
        </a:p>
        <a:p>
          <a:pPr marL="0" lvl="0" indent="0" algn="ctr" defTabSz="466725" rtl="0">
            <a:lnSpc>
              <a:spcPct val="90000"/>
            </a:lnSpc>
            <a:spcBef>
              <a:spcPct val="0"/>
            </a:spcBef>
            <a:spcAft>
              <a:spcPct val="35000"/>
            </a:spcAft>
            <a:buNone/>
          </a:pPr>
          <a:r>
            <a:rPr lang="en-GB" sz="1050" b="1" kern="1200" dirty="0">
              <a:effectLst>
                <a:outerShdw blurRad="38100" dist="38100" dir="2700000" algn="tl">
                  <a:srgbClr val="000000">
                    <a:alpha val="43137"/>
                  </a:srgbClr>
                </a:outerShdw>
              </a:effectLst>
            </a:rPr>
            <a:t> by setting </a:t>
          </a:r>
        </a:p>
        <a:p>
          <a:pPr marL="0" lvl="0" indent="0" algn="ctr" defTabSz="466725" rtl="0">
            <a:lnSpc>
              <a:spcPct val="90000"/>
            </a:lnSpc>
            <a:spcBef>
              <a:spcPct val="0"/>
            </a:spcBef>
            <a:spcAft>
              <a:spcPct val="35000"/>
            </a:spcAft>
            <a:buNone/>
          </a:pPr>
          <a:r>
            <a:rPr lang="en-GB" sz="1050" b="1" kern="1200" dirty="0">
              <a:effectLst>
                <a:outerShdw blurRad="38100" dist="38100" dir="2700000" algn="tl">
                  <a:srgbClr val="000000">
                    <a:alpha val="43137"/>
                  </a:srgbClr>
                </a:outerShdw>
              </a:effectLst>
            </a:rPr>
            <a:t>switches </a:t>
          </a:r>
        </a:p>
        <a:p>
          <a:pPr marL="0" lvl="0" indent="0" algn="ctr" defTabSz="466725" rtl="0">
            <a:lnSpc>
              <a:spcPct val="90000"/>
            </a:lnSpc>
            <a:spcBef>
              <a:spcPct val="0"/>
            </a:spcBef>
            <a:spcAft>
              <a:spcPct val="35000"/>
            </a:spcAft>
            <a:buNone/>
          </a:pPr>
          <a:r>
            <a:rPr lang="en-GB" sz="1050" b="1" kern="1200" dirty="0">
              <a:effectLst>
                <a:outerShdw blurRad="38100" dist="38100" dir="2700000" algn="tl">
                  <a:srgbClr val="000000">
                    <a:alpha val="43137"/>
                  </a:srgbClr>
                </a:outerShdw>
              </a:effectLst>
            </a:rPr>
            <a:t>and </a:t>
          </a:r>
        </a:p>
        <a:p>
          <a:pPr marL="0" lvl="0" indent="0" algn="ctr" defTabSz="466725" rtl="0">
            <a:lnSpc>
              <a:spcPct val="90000"/>
            </a:lnSpc>
            <a:spcBef>
              <a:spcPct val="0"/>
            </a:spcBef>
            <a:spcAft>
              <a:spcPct val="35000"/>
            </a:spcAft>
            <a:buNone/>
          </a:pPr>
          <a:r>
            <a:rPr lang="en-GB" sz="1050" b="1" kern="1200" dirty="0">
              <a:effectLst>
                <a:outerShdw blurRad="38100" dist="38100" dir="2700000" algn="tl">
                  <a:srgbClr val="000000">
                    <a:alpha val="43137"/>
                  </a:srgbClr>
                </a:outerShdw>
              </a:effectLst>
            </a:rPr>
            <a:t>plugging/</a:t>
          </a:r>
        </a:p>
        <a:p>
          <a:pPr marL="0" lvl="0" indent="0" algn="ctr" defTabSz="466725" rtl="0">
            <a:lnSpc>
              <a:spcPct val="90000"/>
            </a:lnSpc>
            <a:spcBef>
              <a:spcPct val="0"/>
            </a:spcBef>
            <a:spcAft>
              <a:spcPct val="35000"/>
            </a:spcAft>
            <a:buNone/>
          </a:pPr>
          <a:r>
            <a:rPr lang="en-GB" sz="1050" b="1" kern="1200" dirty="0">
              <a:effectLst>
                <a:outerShdw blurRad="38100" dist="38100" dir="2700000" algn="tl">
                  <a:srgbClr val="000000">
                    <a:alpha val="43137"/>
                  </a:srgbClr>
                </a:outerShdw>
              </a:effectLst>
            </a:rPr>
            <a:t>unplugging </a:t>
          </a:r>
        </a:p>
        <a:p>
          <a:pPr marL="0" lvl="0" indent="0" algn="ctr" defTabSz="466725" rtl="0">
            <a:lnSpc>
              <a:spcPct val="90000"/>
            </a:lnSpc>
            <a:spcBef>
              <a:spcPct val="0"/>
            </a:spcBef>
            <a:spcAft>
              <a:spcPct val="35000"/>
            </a:spcAft>
            <a:buNone/>
          </a:pPr>
          <a:r>
            <a:rPr lang="en-GB" sz="1050" b="1" kern="1200" dirty="0">
              <a:effectLst>
                <a:outerShdw blurRad="38100" dist="38100" dir="2700000" algn="tl">
                  <a:srgbClr val="000000">
                    <a:alpha val="43137"/>
                  </a:srgbClr>
                </a:outerShdw>
              </a:effectLst>
            </a:rPr>
            <a:t>cables</a:t>
          </a:r>
          <a:endParaRPr lang="en-US" sz="1050" b="1" kern="1200" dirty="0">
            <a:effectLst>
              <a:outerShdw blurRad="38100" dist="38100" dir="2700000" algn="tl">
                <a:srgbClr val="000000">
                  <a:alpha val="43137"/>
                </a:srgbClr>
              </a:outerShdw>
            </a:effectLst>
          </a:endParaRPr>
        </a:p>
      </dsp:txBody>
      <dsp:txXfrm rot="5400000">
        <a:off x="7646154" y="1097279"/>
        <a:ext cx="1191582" cy="329184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554690-5023-454D-81BF-0F8EF7FE64E8}">
      <dsp:nvSpPr>
        <dsp:cNvPr id="0" name=""/>
        <dsp:cNvSpPr/>
      </dsp:nvSpPr>
      <dsp:spPr>
        <a:xfrm>
          <a:off x="0" y="0"/>
          <a:ext cx="8001000" cy="5791200"/>
        </a:xfrm>
        <a:prstGeom prst="roundRect">
          <a:avLst>
            <a:gd name="adj" fmla="val 8500"/>
          </a:avLst>
        </a:prstGeom>
        <a:solidFill>
          <a:schemeClr val="accent1"/>
        </a:soli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4494615" numCol="1" spcCol="1270" anchor="t" anchorCtr="0">
          <a:noAutofit/>
        </a:bodyPr>
        <a:lstStyle/>
        <a:p>
          <a:pPr marL="0" lvl="0" indent="0" algn="l" defTabSz="1244600" rtl="0">
            <a:lnSpc>
              <a:spcPct val="90000"/>
            </a:lnSpc>
            <a:spcBef>
              <a:spcPct val="0"/>
            </a:spcBef>
            <a:spcAft>
              <a:spcPct val="35000"/>
            </a:spcAft>
            <a:buNone/>
          </a:pPr>
          <a:r>
            <a:rPr lang="en-US" sz="2800" kern="1200">
              <a:effectLst>
                <a:outerShdw blurRad="38100" dist="38100" dir="2700000" algn="tl">
                  <a:srgbClr val="000000">
                    <a:alpha val="43137"/>
                  </a:srgbClr>
                </a:outerShdw>
              </a:effectLst>
            </a:rPr>
            <a:t>1965, Gordon Moore</a:t>
          </a:r>
        </a:p>
        <a:p>
          <a:pPr marL="0" lvl="0" indent="0" algn="l" defTabSz="1244600" rtl="0">
            <a:lnSpc>
              <a:spcPct val="90000"/>
            </a:lnSpc>
            <a:spcBef>
              <a:spcPct val="0"/>
            </a:spcBef>
            <a:spcAft>
              <a:spcPct val="35000"/>
            </a:spcAft>
            <a:buNone/>
          </a:pPr>
          <a:r>
            <a:rPr lang="en-US" sz="2800" kern="1200">
              <a:effectLst>
                <a:outerShdw blurRad="38100" dist="38100" dir="2700000" algn="tl">
                  <a:srgbClr val="000000">
                    <a:alpha val="43137"/>
                  </a:srgbClr>
                </a:outerShdw>
              </a:effectLst>
            </a:rPr>
            <a:t>(co-founder of Intel)</a:t>
          </a:r>
          <a:endParaRPr lang="en-US" sz="2800" kern="1200" dirty="0">
            <a:effectLst>
              <a:outerShdw blurRad="38100" dist="38100" dir="2700000" algn="tl">
                <a:srgbClr val="000000">
                  <a:alpha val="43137"/>
                </a:srgbClr>
              </a:outerShdw>
            </a:effectLst>
          </a:endParaRPr>
        </a:p>
      </dsp:txBody>
      <dsp:txXfrm>
        <a:off x="144176" y="144176"/>
        <a:ext cx="7712648" cy="5502848"/>
      </dsp:txXfrm>
    </dsp:sp>
    <dsp:sp modelId="{B4B2A9B5-CBBA-C949-942A-35DE101CCDFE}">
      <dsp:nvSpPr>
        <dsp:cNvPr id="0" name=""/>
        <dsp:cNvSpPr/>
      </dsp:nvSpPr>
      <dsp:spPr>
        <a:xfrm>
          <a:off x="200025" y="1447800"/>
          <a:ext cx="7600950" cy="4053840"/>
        </a:xfrm>
        <a:prstGeom prst="roundRect">
          <a:avLst>
            <a:gd name="adj" fmla="val 10500"/>
          </a:avLst>
        </a:prstGeom>
        <a:solidFill>
          <a:schemeClr val="accent4"/>
        </a:soli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2574188" numCol="1" spcCol="1270" anchor="t" anchorCtr="0">
          <a:noAutofit/>
        </a:bodyPr>
        <a:lstStyle/>
        <a:p>
          <a:pPr marL="0" lvl="0" indent="0" algn="l" defTabSz="1066800" rtl="0">
            <a:lnSpc>
              <a:spcPct val="90000"/>
            </a:lnSpc>
            <a:spcBef>
              <a:spcPct val="0"/>
            </a:spcBef>
            <a:spcAft>
              <a:spcPct val="35000"/>
            </a:spcAft>
            <a:buNone/>
          </a:pPr>
          <a:r>
            <a:rPr lang="en-US" sz="2400" kern="1200" dirty="0">
              <a:effectLst>
                <a:outerShdw blurRad="38100" dist="38100" dir="2700000" algn="tl">
                  <a:srgbClr val="000000">
                    <a:alpha val="43137"/>
                  </a:srgbClr>
                </a:outerShdw>
              </a:effectLst>
            </a:rPr>
            <a:t>Observed number of transistors that could be put on a single chip was doubling every year</a:t>
          </a:r>
        </a:p>
      </dsp:txBody>
      <dsp:txXfrm>
        <a:off x="324695" y="1572470"/>
        <a:ext cx="7351610" cy="3804500"/>
      </dsp:txXfrm>
    </dsp:sp>
    <dsp:sp modelId="{EA68CD54-2321-944A-9097-D8C9F2E9C2D9}">
      <dsp:nvSpPr>
        <dsp:cNvPr id="0" name=""/>
        <dsp:cNvSpPr/>
      </dsp:nvSpPr>
      <dsp:spPr>
        <a:xfrm>
          <a:off x="390048" y="2866644"/>
          <a:ext cx="1520190" cy="2330958"/>
        </a:xfrm>
        <a:prstGeom prst="roundRect">
          <a:avLst>
            <a:gd name="adj" fmla="val 105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rtl="0">
            <a:lnSpc>
              <a:spcPct val="90000"/>
            </a:lnSpc>
            <a:spcBef>
              <a:spcPct val="0"/>
            </a:spcBef>
            <a:spcAft>
              <a:spcPct val="35000"/>
            </a:spcAft>
            <a:buNone/>
          </a:pPr>
          <a:r>
            <a:rPr lang="en-US" sz="1100" b="1" kern="1200" dirty="0">
              <a:effectLst/>
            </a:rPr>
            <a:t>The pace slowed to a doubling every 18 months in the 1970’s but has sustained that rate ever since</a:t>
          </a:r>
        </a:p>
      </dsp:txBody>
      <dsp:txXfrm>
        <a:off x="436799" y="2913395"/>
        <a:ext cx="1426688" cy="2237456"/>
      </dsp:txXfrm>
    </dsp:sp>
    <dsp:sp modelId="{9EC0930A-9BAA-D347-A334-BC7E180A4743}">
      <dsp:nvSpPr>
        <dsp:cNvPr id="0" name=""/>
        <dsp:cNvSpPr/>
      </dsp:nvSpPr>
      <dsp:spPr>
        <a:xfrm>
          <a:off x="2080260" y="2895600"/>
          <a:ext cx="5520690" cy="2316480"/>
        </a:xfrm>
        <a:prstGeom prst="roundRect">
          <a:avLst>
            <a:gd name="adj" fmla="val 10500"/>
          </a:avLst>
        </a:prstGeom>
        <a:solidFill>
          <a:schemeClr val="accent3"/>
        </a:soli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307524" numCol="1" spcCol="1270" anchor="t" anchorCtr="0">
          <a:noAutofit/>
        </a:bodyPr>
        <a:lstStyle/>
        <a:p>
          <a:pPr marL="0" lvl="0" indent="0" algn="l" defTabSz="1244600" rtl="0">
            <a:lnSpc>
              <a:spcPct val="90000"/>
            </a:lnSpc>
            <a:spcBef>
              <a:spcPct val="0"/>
            </a:spcBef>
            <a:spcAft>
              <a:spcPct val="35000"/>
            </a:spcAft>
            <a:buNone/>
          </a:pPr>
          <a:r>
            <a:rPr lang="en-US" sz="2800" kern="1200" dirty="0">
              <a:effectLst>
                <a:outerShdw blurRad="38100" dist="38100" dir="2700000" algn="tl">
                  <a:srgbClr val="000000">
                    <a:alpha val="43137"/>
                  </a:srgbClr>
                </a:outerShdw>
              </a:effectLst>
            </a:rPr>
            <a:t>Consequences of Moore’s law: </a:t>
          </a:r>
        </a:p>
      </dsp:txBody>
      <dsp:txXfrm>
        <a:off x="2151500" y="2966840"/>
        <a:ext cx="5378210" cy="2174000"/>
      </dsp:txXfrm>
    </dsp:sp>
    <dsp:sp modelId="{91813869-71C4-7749-AA7F-6F71B8046448}">
      <dsp:nvSpPr>
        <dsp:cNvPr id="0" name=""/>
        <dsp:cNvSpPr/>
      </dsp:nvSpPr>
      <dsp:spPr>
        <a:xfrm>
          <a:off x="2218277" y="3938016"/>
          <a:ext cx="1029468" cy="1042416"/>
        </a:xfrm>
        <a:prstGeom prst="roundRect">
          <a:avLst>
            <a:gd name="adj" fmla="val 105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rtl="0">
            <a:lnSpc>
              <a:spcPct val="90000"/>
            </a:lnSpc>
            <a:spcBef>
              <a:spcPct val="0"/>
            </a:spcBef>
            <a:spcAft>
              <a:spcPct val="35000"/>
            </a:spcAft>
            <a:buNone/>
          </a:pPr>
          <a:r>
            <a:rPr lang="en-US" sz="1000" b="1" kern="1200" dirty="0">
              <a:effectLst/>
            </a:rPr>
            <a:t>The cost of computer logic and memory circuitry has fallen at a dramatic rate</a:t>
          </a:r>
        </a:p>
      </dsp:txBody>
      <dsp:txXfrm>
        <a:off x="2249937" y="3969676"/>
        <a:ext cx="966148" cy="979096"/>
      </dsp:txXfrm>
    </dsp:sp>
    <dsp:sp modelId="{43D95310-0335-8948-925B-493826D68CA7}">
      <dsp:nvSpPr>
        <dsp:cNvPr id="0" name=""/>
        <dsp:cNvSpPr/>
      </dsp:nvSpPr>
      <dsp:spPr>
        <a:xfrm>
          <a:off x="3271303" y="3938016"/>
          <a:ext cx="1029468" cy="1042416"/>
        </a:xfrm>
        <a:prstGeom prst="roundRect">
          <a:avLst>
            <a:gd name="adj" fmla="val 105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rtl="0">
            <a:lnSpc>
              <a:spcPct val="90000"/>
            </a:lnSpc>
            <a:spcBef>
              <a:spcPct val="0"/>
            </a:spcBef>
            <a:spcAft>
              <a:spcPct val="35000"/>
            </a:spcAft>
            <a:buNone/>
          </a:pPr>
          <a:r>
            <a:rPr lang="en-US" sz="1000" b="1" kern="1200" dirty="0">
              <a:effectLst/>
            </a:rPr>
            <a:t>The electrical path length is shortened, increasing operating speed</a:t>
          </a:r>
        </a:p>
      </dsp:txBody>
      <dsp:txXfrm>
        <a:off x="3302963" y="3969676"/>
        <a:ext cx="966148" cy="979096"/>
      </dsp:txXfrm>
    </dsp:sp>
    <dsp:sp modelId="{2BFD2A48-BAFB-C448-9560-380462349BFA}">
      <dsp:nvSpPr>
        <dsp:cNvPr id="0" name=""/>
        <dsp:cNvSpPr/>
      </dsp:nvSpPr>
      <dsp:spPr>
        <a:xfrm>
          <a:off x="4324329" y="3938016"/>
          <a:ext cx="1029468" cy="1042416"/>
        </a:xfrm>
        <a:prstGeom prst="roundRect">
          <a:avLst>
            <a:gd name="adj" fmla="val 105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400050" rtl="0">
            <a:lnSpc>
              <a:spcPct val="90000"/>
            </a:lnSpc>
            <a:spcBef>
              <a:spcPct val="0"/>
            </a:spcBef>
            <a:spcAft>
              <a:spcPct val="35000"/>
            </a:spcAft>
            <a:buNone/>
          </a:pPr>
          <a:r>
            <a:rPr lang="en-US" sz="900" b="1" kern="1200" dirty="0">
              <a:effectLst/>
            </a:rPr>
            <a:t>Computer becomes smaller and is more convenient to use in a variety of environments</a:t>
          </a:r>
        </a:p>
      </dsp:txBody>
      <dsp:txXfrm>
        <a:off x="4355989" y="3969676"/>
        <a:ext cx="966148" cy="979096"/>
      </dsp:txXfrm>
    </dsp:sp>
    <dsp:sp modelId="{54116479-2825-CE4B-A0CD-356DD46D1C46}">
      <dsp:nvSpPr>
        <dsp:cNvPr id="0" name=""/>
        <dsp:cNvSpPr/>
      </dsp:nvSpPr>
      <dsp:spPr>
        <a:xfrm>
          <a:off x="5377355" y="3938016"/>
          <a:ext cx="1029468" cy="1042416"/>
        </a:xfrm>
        <a:prstGeom prst="roundRect">
          <a:avLst>
            <a:gd name="adj" fmla="val 105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rtl="0">
            <a:lnSpc>
              <a:spcPct val="90000"/>
            </a:lnSpc>
            <a:spcBef>
              <a:spcPct val="0"/>
            </a:spcBef>
            <a:spcAft>
              <a:spcPct val="35000"/>
            </a:spcAft>
            <a:buNone/>
          </a:pPr>
          <a:r>
            <a:rPr lang="en-US" sz="1000" b="1" kern="1200" dirty="0">
              <a:effectLst/>
            </a:rPr>
            <a:t>Reduction in power and cooling requirements</a:t>
          </a:r>
        </a:p>
      </dsp:txBody>
      <dsp:txXfrm>
        <a:off x="5409015" y="3969676"/>
        <a:ext cx="966148" cy="979096"/>
      </dsp:txXfrm>
    </dsp:sp>
    <dsp:sp modelId="{A184587C-4EF5-0248-B0F8-E4E73CF3787B}">
      <dsp:nvSpPr>
        <dsp:cNvPr id="0" name=""/>
        <dsp:cNvSpPr/>
      </dsp:nvSpPr>
      <dsp:spPr>
        <a:xfrm>
          <a:off x="6430381" y="3938016"/>
          <a:ext cx="1029468" cy="1042416"/>
        </a:xfrm>
        <a:prstGeom prst="roundRect">
          <a:avLst>
            <a:gd name="adj" fmla="val 105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rtl="0">
            <a:lnSpc>
              <a:spcPct val="90000"/>
            </a:lnSpc>
            <a:spcBef>
              <a:spcPct val="0"/>
            </a:spcBef>
            <a:spcAft>
              <a:spcPct val="35000"/>
            </a:spcAft>
            <a:buNone/>
          </a:pPr>
          <a:r>
            <a:rPr lang="en-US" sz="1000" b="1" kern="1200" dirty="0">
              <a:effectLst/>
            </a:rPr>
            <a:t>Fewer interchip connections</a:t>
          </a:r>
        </a:p>
      </dsp:txBody>
      <dsp:txXfrm>
        <a:off x="6462041" y="3969676"/>
        <a:ext cx="966148" cy="97909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39DE1C-6487-F644-B0FB-514DFD9A6203}">
      <dsp:nvSpPr>
        <dsp:cNvPr id="0" name=""/>
        <dsp:cNvSpPr/>
      </dsp:nvSpPr>
      <dsp:spPr>
        <a:xfrm>
          <a:off x="0" y="4073500"/>
          <a:ext cx="8610599" cy="1336699"/>
        </a:xfrm>
        <a:prstGeom prst="rect">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rtl="0">
            <a:lnSpc>
              <a:spcPct val="90000"/>
            </a:lnSpc>
            <a:spcBef>
              <a:spcPct val="0"/>
            </a:spcBef>
            <a:spcAft>
              <a:spcPct val="35000"/>
            </a:spcAft>
            <a:buNone/>
          </a:pPr>
          <a:r>
            <a:rPr lang="en-US" sz="1700" kern="1200" dirty="0"/>
            <a:t>Since 1970 semiconductor memory has been through 13 generations</a:t>
          </a:r>
        </a:p>
      </dsp:txBody>
      <dsp:txXfrm>
        <a:off x="0" y="4073500"/>
        <a:ext cx="8610599" cy="721817"/>
      </dsp:txXfrm>
    </dsp:sp>
    <dsp:sp modelId="{3D32EC06-2A10-E044-BF0D-8C73C5E8D97F}">
      <dsp:nvSpPr>
        <dsp:cNvPr id="0" name=""/>
        <dsp:cNvSpPr/>
      </dsp:nvSpPr>
      <dsp:spPr>
        <a:xfrm>
          <a:off x="0" y="4767627"/>
          <a:ext cx="8610599" cy="614881"/>
        </a:xfrm>
        <a:prstGeom prst="rect">
          <a:avLst/>
        </a:prstGeom>
        <a:solidFill>
          <a:schemeClr val="accent1">
            <a:alpha val="90000"/>
            <a:tint val="40000"/>
            <a:hueOff val="0"/>
            <a:satOff val="0"/>
            <a:lumOff val="0"/>
            <a:alphaOff val="0"/>
          </a:schemeClr>
        </a:solidFill>
        <a:ln w="12700" cap="flat" cmpd="sng" algn="ctr">
          <a:solidFill>
            <a:schemeClr val="accent3"/>
          </a:solidFill>
          <a:prstDash val="solid"/>
        </a:ln>
        <a:effectLst/>
      </dsp:spPr>
      <dsp:style>
        <a:lnRef idx="1">
          <a:scrgbClr r="0" g="0" b="0"/>
        </a:lnRef>
        <a:fillRef idx="1">
          <a:scrgbClr r="0" g="0" b="0"/>
        </a:fillRef>
        <a:effectRef idx="0">
          <a:scrgbClr r="0" g="0" b="0"/>
        </a:effectRef>
        <a:fontRef idx="minor"/>
      </dsp:style>
      <dsp:txBody>
        <a:bodyPr spcFirstLastPara="0" vert="horz" wrap="square" lIns="99568" tIns="17780" rIns="99568" bIns="17780" numCol="1" spcCol="1270" anchor="ctr" anchorCtr="0">
          <a:noAutofit/>
        </a:bodyPr>
        <a:lstStyle/>
        <a:p>
          <a:pPr marL="0" lvl="0" indent="0" algn="ctr" defTabSz="622300" rtl="0">
            <a:lnSpc>
              <a:spcPct val="90000"/>
            </a:lnSpc>
            <a:spcBef>
              <a:spcPct val="0"/>
            </a:spcBef>
            <a:spcAft>
              <a:spcPct val="35000"/>
            </a:spcAft>
            <a:buNone/>
          </a:pPr>
          <a:r>
            <a:rPr lang="en-US" sz="1400" kern="1200" dirty="0"/>
            <a:t>Each generation has provided four times the storage density of the previous generation, accompanied by declining cost per bit and declining access time</a:t>
          </a:r>
        </a:p>
      </dsp:txBody>
      <dsp:txXfrm>
        <a:off x="0" y="4767627"/>
        <a:ext cx="8610599" cy="614881"/>
      </dsp:txXfrm>
    </dsp:sp>
    <dsp:sp modelId="{9295D34B-13D6-E143-8FAA-4C45DFED13EF}">
      <dsp:nvSpPr>
        <dsp:cNvPr id="0" name=""/>
        <dsp:cNvSpPr/>
      </dsp:nvSpPr>
      <dsp:spPr>
        <a:xfrm rot="10800000">
          <a:off x="0" y="2036750"/>
          <a:ext cx="8610599" cy="2055844"/>
        </a:xfrm>
        <a:prstGeom prst="upArrowCallout">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solidFill>
            <a:srgbClr val="8000FF"/>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rtl="0">
            <a:lnSpc>
              <a:spcPct val="90000"/>
            </a:lnSpc>
            <a:spcBef>
              <a:spcPct val="0"/>
            </a:spcBef>
            <a:spcAft>
              <a:spcPct val="35000"/>
            </a:spcAft>
            <a:buNone/>
          </a:pPr>
          <a:r>
            <a:rPr lang="en-US" sz="1700" kern="1200" dirty="0"/>
            <a:t>In 1974 the price per bit of semiconductor memory dropped below the price per bit of core memory</a:t>
          </a:r>
        </a:p>
      </dsp:txBody>
      <dsp:txXfrm rot="-10800000">
        <a:off x="0" y="2036750"/>
        <a:ext cx="8610599" cy="721601"/>
      </dsp:txXfrm>
    </dsp:sp>
    <dsp:sp modelId="{02DEDF47-B60B-174C-B68D-9085A3F1AB6A}">
      <dsp:nvSpPr>
        <dsp:cNvPr id="0" name=""/>
        <dsp:cNvSpPr/>
      </dsp:nvSpPr>
      <dsp:spPr>
        <a:xfrm>
          <a:off x="0" y="2758351"/>
          <a:ext cx="4305299" cy="614697"/>
        </a:xfrm>
        <a:prstGeom prst="rect">
          <a:avLst/>
        </a:prstGeom>
        <a:solidFill>
          <a:schemeClr val="accent1">
            <a:alpha val="90000"/>
            <a:tint val="40000"/>
            <a:hueOff val="0"/>
            <a:satOff val="0"/>
            <a:lumOff val="0"/>
            <a:alphaOff val="0"/>
          </a:schemeClr>
        </a:solidFill>
        <a:ln w="12700" cap="flat" cmpd="sng" algn="ctr">
          <a:solidFill>
            <a:schemeClr val="accent3"/>
          </a:solidFill>
          <a:prstDash val="solid"/>
        </a:ln>
        <a:effectLst/>
      </dsp:spPr>
      <dsp:style>
        <a:lnRef idx="1">
          <a:scrgbClr r="0" g="0" b="0"/>
        </a:lnRef>
        <a:fillRef idx="1">
          <a:scrgbClr r="0" g="0" b="0"/>
        </a:fillRef>
        <a:effectRef idx="0">
          <a:scrgbClr r="0" g="0" b="0"/>
        </a:effectRef>
        <a:fontRef idx="minor"/>
      </dsp:style>
      <dsp:txBody>
        <a:bodyPr spcFirstLastPara="0" vert="horz" wrap="square" lIns="99568" tIns="17780" rIns="99568" bIns="17780" numCol="1" spcCol="1270" anchor="ctr" anchorCtr="0">
          <a:noAutofit/>
        </a:bodyPr>
        <a:lstStyle/>
        <a:p>
          <a:pPr marL="0" lvl="0" indent="0" algn="ctr" defTabSz="622300" rtl="0">
            <a:lnSpc>
              <a:spcPct val="90000"/>
            </a:lnSpc>
            <a:spcBef>
              <a:spcPct val="0"/>
            </a:spcBef>
            <a:spcAft>
              <a:spcPct val="35000"/>
            </a:spcAft>
            <a:buNone/>
          </a:pPr>
          <a:r>
            <a:rPr lang="en-US" sz="1400" kern="1200" dirty="0">
              <a:solidFill>
                <a:schemeClr val="tx1"/>
              </a:solidFill>
            </a:rPr>
            <a:t>There has been a continuing and rapid decline in memory cost accompanied by a corresponding increase in physical memory density</a:t>
          </a:r>
        </a:p>
      </dsp:txBody>
      <dsp:txXfrm>
        <a:off x="0" y="2758351"/>
        <a:ext cx="4305299" cy="614697"/>
      </dsp:txXfrm>
    </dsp:sp>
    <dsp:sp modelId="{80A90482-38CF-964E-898E-B14683C6E887}">
      <dsp:nvSpPr>
        <dsp:cNvPr id="0" name=""/>
        <dsp:cNvSpPr/>
      </dsp:nvSpPr>
      <dsp:spPr>
        <a:xfrm>
          <a:off x="4305299" y="2758351"/>
          <a:ext cx="4305299" cy="614697"/>
        </a:xfrm>
        <a:prstGeom prst="rect">
          <a:avLst/>
        </a:prstGeom>
        <a:solidFill>
          <a:schemeClr val="accent1">
            <a:alpha val="90000"/>
            <a:tint val="40000"/>
            <a:hueOff val="0"/>
            <a:satOff val="0"/>
            <a:lumOff val="0"/>
            <a:alphaOff val="0"/>
          </a:schemeClr>
        </a:solidFill>
        <a:ln w="12700" cap="flat" cmpd="sng" algn="ctr">
          <a:solidFill>
            <a:schemeClr val="accent3"/>
          </a:solidFill>
          <a:prstDash val="solid"/>
        </a:ln>
        <a:effectLst/>
      </dsp:spPr>
      <dsp:style>
        <a:lnRef idx="1">
          <a:scrgbClr r="0" g="0" b="0"/>
        </a:lnRef>
        <a:fillRef idx="1">
          <a:scrgbClr r="0" g="0" b="0"/>
        </a:fillRef>
        <a:effectRef idx="0">
          <a:scrgbClr r="0" g="0" b="0"/>
        </a:effectRef>
        <a:fontRef idx="minor"/>
      </dsp:style>
      <dsp:txBody>
        <a:bodyPr spcFirstLastPara="0" vert="horz" wrap="square" lIns="99568" tIns="17780" rIns="99568" bIns="17780" numCol="1" spcCol="1270" anchor="ctr" anchorCtr="0">
          <a:noAutofit/>
        </a:bodyPr>
        <a:lstStyle/>
        <a:p>
          <a:pPr marL="0" lvl="0" indent="0" algn="ctr" defTabSz="622300" rtl="0">
            <a:lnSpc>
              <a:spcPct val="90000"/>
            </a:lnSpc>
            <a:spcBef>
              <a:spcPct val="0"/>
            </a:spcBef>
            <a:spcAft>
              <a:spcPct val="35000"/>
            </a:spcAft>
            <a:buNone/>
          </a:pPr>
          <a:r>
            <a:rPr lang="en-US" sz="1400" kern="1200" dirty="0">
              <a:solidFill>
                <a:schemeClr val="tx1"/>
              </a:solidFill>
            </a:rPr>
            <a:t>Developments in memory and processor technologies changed the nature of computers in less than a decade</a:t>
          </a:r>
        </a:p>
      </dsp:txBody>
      <dsp:txXfrm>
        <a:off x="4305299" y="2758351"/>
        <a:ext cx="4305299" cy="614697"/>
      </dsp:txXfrm>
    </dsp:sp>
    <dsp:sp modelId="{20D983A6-25B2-D34F-9721-9F543575F986}">
      <dsp:nvSpPr>
        <dsp:cNvPr id="0" name=""/>
        <dsp:cNvSpPr/>
      </dsp:nvSpPr>
      <dsp:spPr>
        <a:xfrm rot="10800000">
          <a:off x="0" y="956"/>
          <a:ext cx="8610599" cy="2055844"/>
        </a:xfrm>
        <a:prstGeom prst="upArrowCallout">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solidFill>
            <a:srgbClr val="8000FF"/>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rtl="0">
            <a:lnSpc>
              <a:spcPct val="90000"/>
            </a:lnSpc>
            <a:spcBef>
              <a:spcPct val="0"/>
            </a:spcBef>
            <a:spcAft>
              <a:spcPct val="35000"/>
            </a:spcAft>
            <a:buNone/>
          </a:pPr>
          <a:r>
            <a:rPr lang="en-US" sz="1700" kern="1200" dirty="0"/>
            <a:t>In 1970 Fairchild produced the first relatively capacious semiconductor memory</a:t>
          </a:r>
        </a:p>
      </dsp:txBody>
      <dsp:txXfrm rot="-10800000">
        <a:off x="0" y="956"/>
        <a:ext cx="8610599" cy="721601"/>
      </dsp:txXfrm>
    </dsp:sp>
    <dsp:sp modelId="{BCDEB9CC-91F2-B04C-BF78-8C8FAC34A974}">
      <dsp:nvSpPr>
        <dsp:cNvPr id="0" name=""/>
        <dsp:cNvSpPr/>
      </dsp:nvSpPr>
      <dsp:spPr>
        <a:xfrm>
          <a:off x="0" y="722557"/>
          <a:ext cx="2152649" cy="614697"/>
        </a:xfrm>
        <a:prstGeom prst="rect">
          <a:avLst/>
        </a:prstGeom>
        <a:solidFill>
          <a:schemeClr val="accent1">
            <a:alpha val="90000"/>
            <a:tint val="40000"/>
            <a:hueOff val="0"/>
            <a:satOff val="0"/>
            <a:lumOff val="0"/>
            <a:alphaOff val="0"/>
          </a:schemeClr>
        </a:solidFill>
        <a:ln w="12700" cap="flat" cmpd="sng" algn="ctr">
          <a:solidFill>
            <a:schemeClr val="accent3"/>
          </a:solidFill>
          <a:prstDash val="solid"/>
        </a:ln>
        <a:effectLst/>
      </dsp:spPr>
      <dsp:style>
        <a:lnRef idx="1">
          <a:scrgbClr r="0" g="0" b="0"/>
        </a:lnRef>
        <a:fillRef idx="1">
          <a:scrgbClr r="0" g="0" b="0"/>
        </a:fillRef>
        <a:effectRef idx="0">
          <a:scrgbClr r="0" g="0" b="0"/>
        </a:effectRef>
        <a:fontRef idx="minor"/>
      </dsp:style>
      <dsp:txBody>
        <a:bodyPr spcFirstLastPara="0" vert="horz" wrap="square" lIns="99568" tIns="17780" rIns="99568" bIns="17780" numCol="1" spcCol="1270" anchor="ctr" anchorCtr="0">
          <a:noAutofit/>
        </a:bodyPr>
        <a:lstStyle/>
        <a:p>
          <a:pPr marL="0" lvl="0" indent="0" algn="ctr" defTabSz="622300" rtl="0">
            <a:lnSpc>
              <a:spcPct val="90000"/>
            </a:lnSpc>
            <a:spcBef>
              <a:spcPct val="0"/>
            </a:spcBef>
            <a:spcAft>
              <a:spcPct val="35000"/>
            </a:spcAft>
            <a:buNone/>
          </a:pPr>
          <a:r>
            <a:rPr lang="en-US" sz="1400" kern="1200" dirty="0">
              <a:solidFill>
                <a:schemeClr val="tx1"/>
              </a:solidFill>
            </a:rPr>
            <a:t>Chip was about the size of a single core</a:t>
          </a:r>
        </a:p>
      </dsp:txBody>
      <dsp:txXfrm>
        <a:off x="0" y="722557"/>
        <a:ext cx="2152649" cy="614697"/>
      </dsp:txXfrm>
    </dsp:sp>
    <dsp:sp modelId="{22D687DF-5A41-C04B-83B2-990819124270}">
      <dsp:nvSpPr>
        <dsp:cNvPr id="0" name=""/>
        <dsp:cNvSpPr/>
      </dsp:nvSpPr>
      <dsp:spPr>
        <a:xfrm>
          <a:off x="2152649" y="722557"/>
          <a:ext cx="2152649" cy="614697"/>
        </a:xfrm>
        <a:prstGeom prst="rect">
          <a:avLst/>
        </a:prstGeom>
        <a:solidFill>
          <a:schemeClr val="accent1">
            <a:alpha val="90000"/>
            <a:tint val="40000"/>
            <a:hueOff val="0"/>
            <a:satOff val="0"/>
            <a:lumOff val="0"/>
            <a:alphaOff val="0"/>
          </a:schemeClr>
        </a:solidFill>
        <a:ln w="12700" cap="flat" cmpd="sng" algn="ctr">
          <a:solidFill>
            <a:schemeClr val="accent3"/>
          </a:solidFill>
          <a:prstDash val="solid"/>
        </a:ln>
        <a:effectLst/>
      </dsp:spPr>
      <dsp:style>
        <a:lnRef idx="1">
          <a:scrgbClr r="0" g="0" b="0"/>
        </a:lnRef>
        <a:fillRef idx="1">
          <a:scrgbClr r="0" g="0" b="0"/>
        </a:fillRef>
        <a:effectRef idx="0">
          <a:scrgbClr r="0" g="0" b="0"/>
        </a:effectRef>
        <a:fontRef idx="minor"/>
      </dsp:style>
      <dsp:txBody>
        <a:bodyPr spcFirstLastPara="0" vert="horz" wrap="square" lIns="99568" tIns="17780" rIns="99568" bIns="17780" numCol="1" spcCol="1270" anchor="ctr" anchorCtr="0">
          <a:noAutofit/>
        </a:bodyPr>
        <a:lstStyle/>
        <a:p>
          <a:pPr marL="0" lvl="0" indent="0" algn="ctr" defTabSz="622300" rtl="0">
            <a:lnSpc>
              <a:spcPct val="90000"/>
            </a:lnSpc>
            <a:spcBef>
              <a:spcPct val="0"/>
            </a:spcBef>
            <a:spcAft>
              <a:spcPct val="35000"/>
            </a:spcAft>
            <a:buNone/>
          </a:pPr>
          <a:r>
            <a:rPr lang="en-US" sz="1400" kern="1200" dirty="0"/>
            <a:t>Could hold 256 bits of memory</a:t>
          </a:r>
        </a:p>
      </dsp:txBody>
      <dsp:txXfrm>
        <a:off x="2152649" y="722557"/>
        <a:ext cx="2152649" cy="614697"/>
      </dsp:txXfrm>
    </dsp:sp>
    <dsp:sp modelId="{97A27664-9A96-1645-A7EC-5BE951D18748}">
      <dsp:nvSpPr>
        <dsp:cNvPr id="0" name=""/>
        <dsp:cNvSpPr/>
      </dsp:nvSpPr>
      <dsp:spPr>
        <a:xfrm>
          <a:off x="4305299" y="722557"/>
          <a:ext cx="2152649" cy="614697"/>
        </a:xfrm>
        <a:prstGeom prst="rect">
          <a:avLst/>
        </a:prstGeom>
        <a:solidFill>
          <a:schemeClr val="accent1">
            <a:alpha val="90000"/>
            <a:tint val="40000"/>
            <a:hueOff val="0"/>
            <a:satOff val="0"/>
            <a:lumOff val="0"/>
            <a:alphaOff val="0"/>
          </a:schemeClr>
        </a:solidFill>
        <a:ln w="12700" cap="flat" cmpd="sng" algn="ctr">
          <a:solidFill>
            <a:schemeClr val="accent3"/>
          </a:solidFill>
          <a:prstDash val="solid"/>
        </a:ln>
        <a:effectLst/>
      </dsp:spPr>
      <dsp:style>
        <a:lnRef idx="1">
          <a:scrgbClr r="0" g="0" b="0"/>
        </a:lnRef>
        <a:fillRef idx="1">
          <a:scrgbClr r="0" g="0" b="0"/>
        </a:fillRef>
        <a:effectRef idx="0">
          <a:scrgbClr r="0" g="0" b="0"/>
        </a:effectRef>
        <a:fontRef idx="minor"/>
      </dsp:style>
      <dsp:txBody>
        <a:bodyPr spcFirstLastPara="0" vert="horz" wrap="square" lIns="99568" tIns="17780" rIns="99568" bIns="17780" numCol="1" spcCol="1270" anchor="ctr" anchorCtr="0">
          <a:noAutofit/>
        </a:bodyPr>
        <a:lstStyle/>
        <a:p>
          <a:pPr marL="0" lvl="0" indent="0" algn="ctr" defTabSz="622300" rtl="0">
            <a:lnSpc>
              <a:spcPct val="90000"/>
            </a:lnSpc>
            <a:spcBef>
              <a:spcPct val="0"/>
            </a:spcBef>
            <a:spcAft>
              <a:spcPct val="35000"/>
            </a:spcAft>
            <a:buNone/>
          </a:pPr>
          <a:r>
            <a:rPr lang="en-US" sz="1400" kern="1200" dirty="0"/>
            <a:t>Non-destructive</a:t>
          </a:r>
        </a:p>
      </dsp:txBody>
      <dsp:txXfrm>
        <a:off x="4305299" y="722557"/>
        <a:ext cx="2152649" cy="614697"/>
      </dsp:txXfrm>
    </dsp:sp>
    <dsp:sp modelId="{23FFA982-4016-B24A-AD76-E71171B95C2B}">
      <dsp:nvSpPr>
        <dsp:cNvPr id="0" name=""/>
        <dsp:cNvSpPr/>
      </dsp:nvSpPr>
      <dsp:spPr>
        <a:xfrm>
          <a:off x="6457949" y="722557"/>
          <a:ext cx="2152649" cy="614697"/>
        </a:xfrm>
        <a:prstGeom prst="rect">
          <a:avLst/>
        </a:prstGeom>
        <a:solidFill>
          <a:schemeClr val="accent1">
            <a:alpha val="90000"/>
            <a:tint val="40000"/>
            <a:hueOff val="0"/>
            <a:satOff val="0"/>
            <a:lumOff val="0"/>
            <a:alphaOff val="0"/>
          </a:schemeClr>
        </a:solidFill>
        <a:ln w="12700" cap="flat" cmpd="sng" algn="ctr">
          <a:solidFill>
            <a:schemeClr val="accent3"/>
          </a:solidFill>
          <a:prstDash val="solid"/>
        </a:ln>
        <a:effectLst/>
      </dsp:spPr>
      <dsp:style>
        <a:lnRef idx="1">
          <a:scrgbClr r="0" g="0" b="0"/>
        </a:lnRef>
        <a:fillRef idx="1">
          <a:scrgbClr r="0" g="0" b="0"/>
        </a:fillRef>
        <a:effectRef idx="0">
          <a:scrgbClr r="0" g="0" b="0"/>
        </a:effectRef>
        <a:fontRef idx="minor"/>
      </dsp:style>
      <dsp:txBody>
        <a:bodyPr spcFirstLastPara="0" vert="horz" wrap="square" lIns="99568" tIns="17780" rIns="99568" bIns="17780" numCol="1" spcCol="1270" anchor="ctr" anchorCtr="0">
          <a:noAutofit/>
        </a:bodyPr>
        <a:lstStyle/>
        <a:p>
          <a:pPr marL="0" lvl="0" indent="0" algn="ctr" defTabSz="622300" rtl="0">
            <a:lnSpc>
              <a:spcPct val="90000"/>
            </a:lnSpc>
            <a:spcBef>
              <a:spcPct val="0"/>
            </a:spcBef>
            <a:spcAft>
              <a:spcPct val="35000"/>
            </a:spcAft>
            <a:buNone/>
          </a:pPr>
          <a:r>
            <a:rPr lang="en-US" sz="1400" kern="1200" dirty="0"/>
            <a:t>Much faster than core </a:t>
          </a:r>
        </a:p>
      </dsp:txBody>
      <dsp:txXfrm>
        <a:off x="6457949" y="722557"/>
        <a:ext cx="2152649" cy="61469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E1869E-B08B-E84C-BE54-79A5CFDF5A04}">
      <dsp:nvSpPr>
        <dsp:cNvPr id="0" name=""/>
        <dsp:cNvSpPr/>
      </dsp:nvSpPr>
      <dsp:spPr>
        <a:xfrm>
          <a:off x="3047994" y="0"/>
          <a:ext cx="3429000" cy="3429000"/>
        </a:xfrm>
        <a:prstGeom prst="triangle">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rtl="0">
            <a:lnSpc>
              <a:spcPct val="90000"/>
            </a:lnSpc>
            <a:spcBef>
              <a:spcPct val="0"/>
            </a:spcBef>
            <a:spcAft>
              <a:spcPct val="35000"/>
            </a:spcAft>
            <a:buNone/>
          </a:pPr>
          <a:r>
            <a:rPr lang="en-US" sz="1200" b="1" kern="1200" dirty="0">
              <a:effectLst>
                <a:outerShdw blurRad="38100" dist="38100" dir="2700000" algn="tl">
                  <a:srgbClr val="000000">
                    <a:alpha val="43137"/>
                  </a:srgbClr>
                </a:outerShdw>
              </a:effectLst>
            </a:rPr>
            <a:t>Increase the number of bits that are retrieved at one time by making DRAMs “</a:t>
          </a:r>
          <a:r>
            <a:rPr lang="en-US" sz="1200" b="1" kern="1200" dirty="0">
              <a:solidFill>
                <a:schemeClr val="accent6">
                  <a:lumMod val="60000"/>
                  <a:lumOff val="40000"/>
                </a:schemeClr>
              </a:solidFill>
              <a:effectLst>
                <a:outerShdw blurRad="38100" dist="38100" dir="2700000" algn="tl">
                  <a:srgbClr val="000000">
                    <a:alpha val="43137"/>
                  </a:srgbClr>
                </a:outerShdw>
              </a:effectLst>
            </a:rPr>
            <a:t>wider</a:t>
          </a:r>
          <a:r>
            <a:rPr lang="en-US" sz="1200" b="1" kern="1200" dirty="0">
              <a:effectLst>
                <a:outerShdw blurRad="38100" dist="38100" dir="2700000" algn="tl">
                  <a:srgbClr val="000000">
                    <a:alpha val="43137"/>
                  </a:srgbClr>
                </a:outerShdw>
              </a:effectLst>
            </a:rPr>
            <a:t>” rather than “deeper” and by using </a:t>
          </a:r>
          <a:r>
            <a:rPr lang="en-US" sz="1200" b="1" kern="1200" dirty="0">
              <a:solidFill>
                <a:schemeClr val="accent6">
                  <a:lumMod val="60000"/>
                  <a:lumOff val="40000"/>
                </a:schemeClr>
              </a:solidFill>
              <a:effectLst>
                <a:outerShdw blurRad="38100" dist="38100" dir="2700000" algn="tl">
                  <a:srgbClr val="000000">
                    <a:alpha val="43137"/>
                  </a:srgbClr>
                </a:outerShdw>
              </a:effectLst>
            </a:rPr>
            <a:t>wide bus data paths</a:t>
          </a:r>
        </a:p>
      </dsp:txBody>
      <dsp:txXfrm>
        <a:off x="3905244" y="1714500"/>
        <a:ext cx="1714500" cy="1714500"/>
      </dsp:txXfrm>
    </dsp:sp>
    <dsp:sp modelId="{4A58DB61-09B5-E94D-AEC1-6280D22B2A8E}">
      <dsp:nvSpPr>
        <dsp:cNvPr id="0" name=""/>
        <dsp:cNvSpPr/>
      </dsp:nvSpPr>
      <dsp:spPr>
        <a:xfrm>
          <a:off x="1333494" y="3429000"/>
          <a:ext cx="3429000" cy="3429000"/>
        </a:xfrm>
        <a:prstGeom prst="triangle">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rtl="0">
            <a:lnSpc>
              <a:spcPct val="90000"/>
            </a:lnSpc>
            <a:spcBef>
              <a:spcPct val="0"/>
            </a:spcBef>
            <a:spcAft>
              <a:spcPct val="35000"/>
            </a:spcAft>
            <a:buNone/>
          </a:pPr>
          <a:r>
            <a:rPr lang="en-US" sz="1200" b="1" kern="1200" dirty="0">
              <a:effectLst>
                <a:outerShdw blurRad="38100" dist="38100" dir="2700000" algn="tl">
                  <a:srgbClr val="000000">
                    <a:alpha val="43137"/>
                  </a:srgbClr>
                </a:outerShdw>
              </a:effectLst>
            </a:rPr>
            <a:t>Change the DRAM interface to make it more efficient by including a </a:t>
          </a:r>
          <a:r>
            <a:rPr lang="en-US" sz="1400" b="1" u="sng" kern="1200" dirty="0">
              <a:solidFill>
                <a:schemeClr val="accent6">
                  <a:lumMod val="60000"/>
                  <a:lumOff val="40000"/>
                </a:schemeClr>
              </a:solidFill>
              <a:effectLst>
                <a:outerShdw blurRad="38100" dist="38100" dir="2700000" algn="tl">
                  <a:srgbClr val="000000">
                    <a:alpha val="43137"/>
                  </a:srgbClr>
                </a:outerShdw>
              </a:effectLst>
            </a:rPr>
            <a:t>cache</a:t>
          </a:r>
          <a:r>
            <a:rPr lang="en-US" sz="1200" b="1" kern="1200" dirty="0">
              <a:effectLst>
                <a:outerShdw blurRad="38100" dist="38100" dir="2700000" algn="tl">
                  <a:srgbClr val="000000">
                    <a:alpha val="43137"/>
                  </a:srgbClr>
                </a:outerShdw>
              </a:effectLst>
            </a:rPr>
            <a:t> or other buffering scheme on the DRAM chip</a:t>
          </a:r>
        </a:p>
      </dsp:txBody>
      <dsp:txXfrm>
        <a:off x="2190744" y="5143500"/>
        <a:ext cx="1714500" cy="1714500"/>
      </dsp:txXfrm>
    </dsp:sp>
    <dsp:sp modelId="{200ABC57-7D7F-C84D-A1A6-CF6A59C98A27}">
      <dsp:nvSpPr>
        <dsp:cNvPr id="0" name=""/>
        <dsp:cNvSpPr/>
      </dsp:nvSpPr>
      <dsp:spPr>
        <a:xfrm rot="10800000">
          <a:off x="3047994" y="3429000"/>
          <a:ext cx="3429000" cy="3429000"/>
        </a:xfrm>
        <a:prstGeom prst="triangle">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rtl="0">
            <a:lnSpc>
              <a:spcPct val="90000"/>
            </a:lnSpc>
            <a:spcBef>
              <a:spcPct val="0"/>
            </a:spcBef>
            <a:spcAft>
              <a:spcPct val="35000"/>
            </a:spcAft>
            <a:buNone/>
          </a:pPr>
          <a:r>
            <a:rPr lang="en-US" sz="1200" b="1" kern="1200" dirty="0">
              <a:effectLst>
                <a:outerShdw blurRad="38100" dist="38100" dir="2700000" algn="tl">
                  <a:srgbClr val="000000">
                    <a:alpha val="43137"/>
                  </a:srgbClr>
                </a:outerShdw>
              </a:effectLst>
            </a:rPr>
            <a:t>Reduce the frequency of memory access by incorporating increasingly complex and </a:t>
          </a:r>
          <a:r>
            <a:rPr lang="en-US" sz="1200" b="1" kern="1200" dirty="0">
              <a:solidFill>
                <a:schemeClr val="accent6">
                  <a:lumMod val="60000"/>
                  <a:lumOff val="40000"/>
                </a:schemeClr>
              </a:solidFill>
              <a:effectLst>
                <a:outerShdw blurRad="38100" dist="38100" dir="2700000" algn="tl">
                  <a:srgbClr val="000000">
                    <a:alpha val="43137"/>
                  </a:srgbClr>
                </a:outerShdw>
              </a:effectLst>
            </a:rPr>
            <a:t>efficient cache structures between the processor and main memory</a:t>
          </a:r>
        </a:p>
      </dsp:txBody>
      <dsp:txXfrm rot="10800000">
        <a:off x="3905244" y="3429000"/>
        <a:ext cx="1714500" cy="1714500"/>
      </dsp:txXfrm>
    </dsp:sp>
    <dsp:sp modelId="{4CEF2A95-22F9-8B4C-8350-C2D662044B6C}">
      <dsp:nvSpPr>
        <dsp:cNvPr id="0" name=""/>
        <dsp:cNvSpPr/>
      </dsp:nvSpPr>
      <dsp:spPr>
        <a:xfrm>
          <a:off x="4686285" y="3429000"/>
          <a:ext cx="3581419" cy="3429000"/>
        </a:xfrm>
        <a:prstGeom prst="triangle">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rtl="0">
            <a:lnSpc>
              <a:spcPct val="90000"/>
            </a:lnSpc>
            <a:spcBef>
              <a:spcPct val="0"/>
            </a:spcBef>
            <a:spcAft>
              <a:spcPct val="35000"/>
            </a:spcAft>
            <a:buNone/>
          </a:pPr>
          <a:r>
            <a:rPr lang="en-US" sz="1200" b="1" kern="1200" dirty="0">
              <a:effectLst>
                <a:outerShdw blurRad="38100" dist="38100" dir="2700000" algn="tl">
                  <a:srgbClr val="000000">
                    <a:alpha val="43137"/>
                  </a:srgbClr>
                </a:outerShdw>
              </a:effectLst>
            </a:rPr>
            <a:t>Increase the interconnect bandwidth between processors and memory by using </a:t>
          </a:r>
          <a:r>
            <a:rPr lang="en-US" sz="1200" b="1" u="sng" kern="1200" dirty="0">
              <a:solidFill>
                <a:schemeClr val="accent6">
                  <a:lumMod val="60000"/>
                  <a:lumOff val="40000"/>
                </a:schemeClr>
              </a:solidFill>
              <a:effectLst>
                <a:outerShdw blurRad="38100" dist="38100" dir="2700000" algn="tl">
                  <a:srgbClr val="000000">
                    <a:alpha val="43137"/>
                  </a:srgbClr>
                </a:outerShdw>
              </a:effectLst>
            </a:rPr>
            <a:t>higher speed buses </a:t>
          </a:r>
          <a:r>
            <a:rPr lang="en-US" sz="1200" b="1" kern="1200" dirty="0">
              <a:effectLst>
                <a:outerShdw blurRad="38100" dist="38100" dir="2700000" algn="tl">
                  <a:srgbClr val="000000">
                    <a:alpha val="43137"/>
                  </a:srgbClr>
                </a:outerShdw>
              </a:effectLst>
            </a:rPr>
            <a:t>and a hierarchy of buses to buffer and structure data flow</a:t>
          </a:r>
        </a:p>
      </dsp:txBody>
      <dsp:txXfrm>
        <a:off x="5581640" y="5143500"/>
        <a:ext cx="1790709" cy="17145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5D9B43-A645-1046-AAFB-474175001081}">
      <dsp:nvSpPr>
        <dsp:cNvPr id="0" name=""/>
        <dsp:cNvSpPr/>
      </dsp:nvSpPr>
      <dsp:spPr>
        <a:xfrm>
          <a:off x="209550" y="1562100"/>
          <a:ext cx="4686300" cy="4686300"/>
        </a:xfrm>
        <a:prstGeom prst="ellipse">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w="12700" cap="flat" cmpd="sng" algn="ctr">
          <a:solidFill>
            <a:schemeClr val="lt1">
              <a:hueOff val="0"/>
              <a:satOff val="0"/>
              <a:lumOff val="0"/>
              <a:alphaOff val="0"/>
            </a:schemeClr>
          </a:solidFill>
          <a:prstDash val="solid"/>
        </a:ln>
        <a:effectLst>
          <a:innerShdw blurRad="50800" dist="25400" dir="13500000">
            <a:srgbClr val="FFFFFF">
              <a:alpha val="75000"/>
            </a:srgbClr>
          </a:innerShdw>
          <a:outerShdw blurRad="63500" dist="25400" dir="5400000" rotWithShape="0">
            <a:srgbClr val="808080">
              <a:alpha val="75000"/>
            </a:srgbClr>
          </a:outerShdw>
        </a:effectLst>
      </dsp:spPr>
      <dsp:style>
        <a:lnRef idx="1">
          <a:scrgbClr r="0" g="0" b="0"/>
        </a:lnRef>
        <a:fillRef idx="3">
          <a:scrgbClr r="0" g="0" b="0"/>
        </a:fillRef>
        <a:effectRef idx="2">
          <a:scrgbClr r="0" g="0" b="0"/>
        </a:effectRef>
        <a:fontRef idx="minor">
          <a:schemeClr val="lt1"/>
        </a:fontRef>
      </dsp:style>
    </dsp:sp>
    <dsp:sp modelId="{09E5408D-8A11-C349-983A-FF27A4CD0E3B}">
      <dsp:nvSpPr>
        <dsp:cNvPr id="0" name=""/>
        <dsp:cNvSpPr/>
      </dsp:nvSpPr>
      <dsp:spPr>
        <a:xfrm>
          <a:off x="879300" y="2231850"/>
          <a:ext cx="3346799" cy="3346799"/>
        </a:xfrm>
        <a:prstGeom prst="ellipse">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w="12700" cap="flat" cmpd="sng" algn="ctr">
          <a:solidFill>
            <a:schemeClr val="lt1">
              <a:hueOff val="0"/>
              <a:satOff val="0"/>
              <a:lumOff val="0"/>
              <a:alphaOff val="0"/>
            </a:schemeClr>
          </a:solidFill>
          <a:prstDash val="solid"/>
        </a:ln>
        <a:effectLst>
          <a:innerShdw blurRad="50800" dist="25400" dir="13500000">
            <a:srgbClr val="FFFFFF">
              <a:alpha val="75000"/>
            </a:srgbClr>
          </a:innerShdw>
          <a:outerShdw blurRad="63500" dist="25400" dir="5400000" rotWithShape="0">
            <a:srgbClr val="808080">
              <a:alpha val="75000"/>
            </a:srgbClr>
          </a:outerShdw>
        </a:effectLst>
      </dsp:spPr>
      <dsp:style>
        <a:lnRef idx="1">
          <a:scrgbClr r="0" g="0" b="0"/>
        </a:lnRef>
        <a:fillRef idx="3">
          <a:scrgbClr r="0" g="0" b="0"/>
        </a:fillRef>
        <a:effectRef idx="2">
          <a:scrgbClr r="0" g="0" b="0"/>
        </a:effectRef>
        <a:fontRef idx="minor">
          <a:schemeClr val="lt1"/>
        </a:fontRef>
      </dsp:style>
    </dsp:sp>
    <dsp:sp modelId="{EAFBFBDD-6B2F-6542-A0F4-55DD8CB829AA}">
      <dsp:nvSpPr>
        <dsp:cNvPr id="0" name=""/>
        <dsp:cNvSpPr/>
      </dsp:nvSpPr>
      <dsp:spPr>
        <a:xfrm>
          <a:off x="1548660" y="2901210"/>
          <a:ext cx="2008079" cy="2008079"/>
        </a:xfrm>
        <a:prstGeom prst="ellipse">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w="12700" cap="flat" cmpd="sng" algn="ctr">
          <a:solidFill>
            <a:schemeClr val="lt1">
              <a:hueOff val="0"/>
              <a:satOff val="0"/>
              <a:lumOff val="0"/>
              <a:alphaOff val="0"/>
            </a:schemeClr>
          </a:solidFill>
          <a:prstDash val="solid"/>
        </a:ln>
        <a:effectLst>
          <a:innerShdw blurRad="50800" dist="25400" dir="13500000">
            <a:srgbClr val="FFFFFF">
              <a:alpha val="75000"/>
            </a:srgbClr>
          </a:innerShdw>
          <a:outerShdw blurRad="63500" dist="25400" dir="5400000" rotWithShape="0">
            <a:srgbClr val="808080">
              <a:alpha val="75000"/>
            </a:srgbClr>
          </a:outerShdw>
        </a:effectLst>
      </dsp:spPr>
      <dsp:style>
        <a:lnRef idx="1">
          <a:scrgbClr r="0" g="0" b="0"/>
        </a:lnRef>
        <a:fillRef idx="3">
          <a:scrgbClr r="0" g="0" b="0"/>
        </a:fillRef>
        <a:effectRef idx="2">
          <a:scrgbClr r="0" g="0" b="0"/>
        </a:effectRef>
        <a:fontRef idx="minor">
          <a:schemeClr val="lt1"/>
        </a:fontRef>
      </dsp:style>
    </dsp:sp>
    <dsp:sp modelId="{CAE743AE-6431-1E40-A97F-5F24D5B60547}">
      <dsp:nvSpPr>
        <dsp:cNvPr id="0" name=""/>
        <dsp:cNvSpPr/>
      </dsp:nvSpPr>
      <dsp:spPr>
        <a:xfrm>
          <a:off x="2218020" y="3570570"/>
          <a:ext cx="669359" cy="669359"/>
        </a:xfrm>
        <a:prstGeom prst="ellipse">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w="12700" cap="flat" cmpd="sng" algn="ctr">
          <a:solidFill>
            <a:schemeClr val="lt1">
              <a:hueOff val="0"/>
              <a:satOff val="0"/>
              <a:lumOff val="0"/>
              <a:alphaOff val="0"/>
            </a:schemeClr>
          </a:solidFill>
          <a:prstDash val="solid"/>
        </a:ln>
        <a:effectLst>
          <a:innerShdw blurRad="50800" dist="25400" dir="13500000">
            <a:srgbClr val="FFFFFF">
              <a:alpha val="75000"/>
            </a:srgbClr>
          </a:innerShdw>
          <a:outerShdw blurRad="63500" dist="25400" dir="5400000" rotWithShape="0">
            <a:srgbClr val="808080">
              <a:alpha val="75000"/>
            </a:srgbClr>
          </a:outerShdw>
        </a:effectLst>
      </dsp:spPr>
      <dsp:style>
        <a:lnRef idx="1">
          <a:scrgbClr r="0" g="0" b="0"/>
        </a:lnRef>
        <a:fillRef idx="3">
          <a:scrgbClr r="0" g="0" b="0"/>
        </a:fillRef>
        <a:effectRef idx="2">
          <a:scrgbClr r="0" g="0" b="0"/>
        </a:effectRef>
        <a:fontRef idx="minor">
          <a:schemeClr val="lt1"/>
        </a:fontRef>
      </dsp:style>
    </dsp:sp>
    <dsp:sp modelId="{AB119BD4-C127-B449-BD7B-2FB3093D572E}">
      <dsp:nvSpPr>
        <dsp:cNvPr id="0" name=""/>
        <dsp:cNvSpPr/>
      </dsp:nvSpPr>
      <dsp:spPr>
        <a:xfrm>
          <a:off x="5676900" y="0"/>
          <a:ext cx="2343150" cy="11208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16510" rIns="16510" bIns="16510" numCol="1" spcCol="1270" anchor="ctr" anchorCtr="0">
          <a:noAutofit/>
        </a:bodyPr>
        <a:lstStyle/>
        <a:p>
          <a:pPr marL="0" lvl="0" indent="0" algn="l" defTabSz="577850" rtl="0">
            <a:lnSpc>
              <a:spcPct val="90000"/>
            </a:lnSpc>
            <a:spcBef>
              <a:spcPct val="0"/>
            </a:spcBef>
            <a:spcAft>
              <a:spcPct val="35000"/>
            </a:spcAft>
            <a:buNone/>
          </a:pPr>
          <a:r>
            <a:rPr lang="en-US" sz="1300" kern="1200" dirty="0"/>
            <a:t>The use of multiple processors on the same chip provides the potential to increase performance without increasing the clock rate</a:t>
          </a:r>
        </a:p>
      </dsp:txBody>
      <dsp:txXfrm>
        <a:off x="5676900" y="0"/>
        <a:ext cx="2343150" cy="1120806"/>
      </dsp:txXfrm>
    </dsp:sp>
    <dsp:sp modelId="{34B48968-EEAE-C24A-A838-020141B43AD6}">
      <dsp:nvSpPr>
        <dsp:cNvPr id="0" name=""/>
        <dsp:cNvSpPr/>
      </dsp:nvSpPr>
      <dsp:spPr>
        <a:xfrm>
          <a:off x="5091112" y="560403"/>
          <a:ext cx="585787" cy="0"/>
        </a:xfrm>
        <a:prstGeom prst="line">
          <a:avLst/>
        </a:prstGeom>
        <a:solidFill>
          <a:schemeClr val="accent1">
            <a:hueOff val="0"/>
            <a:satOff val="0"/>
            <a:lumOff val="0"/>
            <a:alphaOff val="0"/>
          </a:schemeClr>
        </a:solidFill>
        <a:ln w="25400" cap="flat" cmpd="sng" algn="ctr">
          <a:solidFill>
            <a:schemeClr val="accent4"/>
          </a:solidFill>
          <a:prstDash val="solid"/>
        </a:ln>
        <a:effectLst/>
      </dsp:spPr>
      <dsp:style>
        <a:lnRef idx="2">
          <a:scrgbClr r="0" g="0" b="0"/>
        </a:lnRef>
        <a:fillRef idx="1">
          <a:scrgbClr r="0" g="0" b="0"/>
        </a:fillRef>
        <a:effectRef idx="1">
          <a:scrgbClr r="0" g="0" b="0"/>
        </a:effectRef>
        <a:fontRef idx="minor"/>
      </dsp:style>
    </dsp:sp>
    <dsp:sp modelId="{DDA5D090-4EDE-CC46-88A9-94E77850F40F}">
      <dsp:nvSpPr>
        <dsp:cNvPr id="0" name=""/>
        <dsp:cNvSpPr/>
      </dsp:nvSpPr>
      <dsp:spPr>
        <a:xfrm rot="5400000">
          <a:off x="2146554" y="929449"/>
          <a:ext cx="3311652" cy="2577465"/>
        </a:xfrm>
        <a:prstGeom prst="line">
          <a:avLst/>
        </a:prstGeom>
        <a:solidFill>
          <a:schemeClr val="accent1">
            <a:hueOff val="0"/>
            <a:satOff val="0"/>
            <a:lumOff val="0"/>
            <a:alphaOff val="0"/>
          </a:schemeClr>
        </a:solidFill>
        <a:ln w="25400" cap="flat" cmpd="sng" algn="ctr">
          <a:solidFill>
            <a:schemeClr val="accent4"/>
          </a:solidFill>
          <a:prstDash val="solid"/>
        </a:ln>
        <a:effectLst/>
      </dsp:spPr>
      <dsp:style>
        <a:lnRef idx="2">
          <a:scrgbClr r="0" g="0" b="0"/>
        </a:lnRef>
        <a:fillRef idx="1">
          <a:scrgbClr r="0" g="0" b="0"/>
        </a:fillRef>
        <a:effectRef idx="1">
          <a:scrgbClr r="0" g="0" b="0"/>
        </a:effectRef>
        <a:fontRef idx="minor"/>
      </dsp:style>
    </dsp:sp>
    <dsp:sp modelId="{513BC700-EE34-1A44-899C-A6CEEACA89E1}">
      <dsp:nvSpPr>
        <dsp:cNvPr id="0" name=""/>
        <dsp:cNvSpPr/>
      </dsp:nvSpPr>
      <dsp:spPr>
        <a:xfrm>
          <a:off x="5676900" y="1120806"/>
          <a:ext cx="2343150" cy="11208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16510" rIns="16510" bIns="16510" numCol="1" spcCol="1270" anchor="ctr" anchorCtr="0">
          <a:noAutofit/>
        </a:bodyPr>
        <a:lstStyle/>
        <a:p>
          <a:pPr marL="0" lvl="0" indent="0" algn="l" defTabSz="577850" rtl="0">
            <a:lnSpc>
              <a:spcPct val="90000"/>
            </a:lnSpc>
            <a:spcBef>
              <a:spcPct val="0"/>
            </a:spcBef>
            <a:spcAft>
              <a:spcPct val="35000"/>
            </a:spcAft>
            <a:buNone/>
          </a:pPr>
          <a:r>
            <a:rPr lang="en-US" sz="1300" b="1" kern="1200" dirty="0"/>
            <a:t>Strategy is to use two simpler processors on the chip rather than one more complex processor</a:t>
          </a:r>
        </a:p>
      </dsp:txBody>
      <dsp:txXfrm>
        <a:off x="5676900" y="1120806"/>
        <a:ext cx="2343150" cy="1120806"/>
      </dsp:txXfrm>
    </dsp:sp>
    <dsp:sp modelId="{CD79B02B-ADDF-1141-8C86-45D10350966D}">
      <dsp:nvSpPr>
        <dsp:cNvPr id="0" name=""/>
        <dsp:cNvSpPr/>
      </dsp:nvSpPr>
      <dsp:spPr>
        <a:xfrm>
          <a:off x="5091112" y="1681210"/>
          <a:ext cx="585787" cy="0"/>
        </a:xfrm>
        <a:prstGeom prst="line">
          <a:avLst/>
        </a:prstGeom>
        <a:solidFill>
          <a:schemeClr val="accent1">
            <a:hueOff val="0"/>
            <a:satOff val="0"/>
            <a:lumOff val="0"/>
            <a:alphaOff val="0"/>
          </a:schemeClr>
        </a:solidFill>
        <a:ln w="25400" cap="flat" cmpd="sng" algn="ctr">
          <a:solidFill>
            <a:schemeClr val="accent4"/>
          </a:solidFill>
          <a:prstDash val="solid"/>
        </a:ln>
        <a:effectLst/>
      </dsp:spPr>
      <dsp:style>
        <a:lnRef idx="2">
          <a:scrgbClr r="0" g="0" b="0"/>
        </a:lnRef>
        <a:fillRef idx="1">
          <a:scrgbClr r="0" g="0" b="0"/>
        </a:fillRef>
        <a:effectRef idx="1">
          <a:scrgbClr r="0" g="0" b="0"/>
        </a:effectRef>
        <a:fontRef idx="minor"/>
      </dsp:style>
    </dsp:sp>
    <dsp:sp modelId="{816E5757-0CAD-CD46-B964-B653CB3D2F71}">
      <dsp:nvSpPr>
        <dsp:cNvPr id="0" name=""/>
        <dsp:cNvSpPr/>
      </dsp:nvSpPr>
      <dsp:spPr>
        <a:xfrm rot="5400000">
          <a:off x="2719844" y="2031901"/>
          <a:ext cx="2719616" cy="2019014"/>
        </a:xfrm>
        <a:prstGeom prst="line">
          <a:avLst/>
        </a:prstGeom>
        <a:solidFill>
          <a:schemeClr val="accent1">
            <a:hueOff val="0"/>
            <a:satOff val="0"/>
            <a:lumOff val="0"/>
            <a:alphaOff val="0"/>
          </a:schemeClr>
        </a:solidFill>
        <a:ln w="25400" cap="flat" cmpd="sng" algn="ctr">
          <a:solidFill>
            <a:schemeClr val="accent4"/>
          </a:solidFill>
          <a:prstDash val="solid"/>
        </a:ln>
        <a:effectLst/>
      </dsp:spPr>
      <dsp:style>
        <a:lnRef idx="2">
          <a:scrgbClr r="0" g="0" b="0"/>
        </a:lnRef>
        <a:fillRef idx="1">
          <a:scrgbClr r="0" g="0" b="0"/>
        </a:fillRef>
        <a:effectRef idx="1">
          <a:scrgbClr r="0" g="0" b="0"/>
        </a:effectRef>
        <a:fontRef idx="minor"/>
      </dsp:style>
    </dsp:sp>
    <dsp:sp modelId="{64D028ED-D856-004F-82AE-25A1792DF594}">
      <dsp:nvSpPr>
        <dsp:cNvPr id="0" name=""/>
        <dsp:cNvSpPr/>
      </dsp:nvSpPr>
      <dsp:spPr>
        <a:xfrm>
          <a:off x="5676900" y="2241613"/>
          <a:ext cx="2343150" cy="11208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16510" rIns="16510" bIns="16510" numCol="1" spcCol="1270" anchor="ctr" anchorCtr="0">
          <a:noAutofit/>
        </a:bodyPr>
        <a:lstStyle/>
        <a:p>
          <a:pPr marL="0" lvl="0" indent="0" algn="l" defTabSz="577850" rtl="0">
            <a:lnSpc>
              <a:spcPct val="90000"/>
            </a:lnSpc>
            <a:spcBef>
              <a:spcPct val="0"/>
            </a:spcBef>
            <a:spcAft>
              <a:spcPct val="35000"/>
            </a:spcAft>
            <a:buNone/>
          </a:pPr>
          <a:r>
            <a:rPr lang="en-US" sz="1300" kern="1200" dirty="0"/>
            <a:t>With two processors larger caches are justified</a:t>
          </a:r>
        </a:p>
      </dsp:txBody>
      <dsp:txXfrm>
        <a:off x="5676900" y="2241613"/>
        <a:ext cx="2343150" cy="1120806"/>
      </dsp:txXfrm>
    </dsp:sp>
    <dsp:sp modelId="{844D6AD4-814E-9A49-8479-BBC4355D2906}">
      <dsp:nvSpPr>
        <dsp:cNvPr id="0" name=""/>
        <dsp:cNvSpPr/>
      </dsp:nvSpPr>
      <dsp:spPr>
        <a:xfrm>
          <a:off x="5091112" y="2802016"/>
          <a:ext cx="585787" cy="0"/>
        </a:xfrm>
        <a:prstGeom prst="line">
          <a:avLst/>
        </a:prstGeom>
        <a:solidFill>
          <a:schemeClr val="accent1">
            <a:hueOff val="0"/>
            <a:satOff val="0"/>
            <a:lumOff val="0"/>
            <a:alphaOff val="0"/>
          </a:schemeClr>
        </a:solidFill>
        <a:ln w="25400" cap="flat" cmpd="sng" algn="ctr">
          <a:solidFill>
            <a:schemeClr val="accent4"/>
          </a:solidFill>
          <a:prstDash val="solid"/>
        </a:ln>
        <a:effectLst/>
      </dsp:spPr>
      <dsp:style>
        <a:lnRef idx="2">
          <a:scrgbClr r="0" g="0" b="0"/>
        </a:lnRef>
        <a:fillRef idx="1">
          <a:scrgbClr r="0" g="0" b="0"/>
        </a:fillRef>
        <a:effectRef idx="1">
          <a:scrgbClr r="0" g="0" b="0"/>
        </a:effectRef>
        <a:fontRef idx="minor"/>
      </dsp:style>
    </dsp:sp>
    <dsp:sp modelId="{09E031DD-5B6F-B149-9EF5-9E627F32C5E0}">
      <dsp:nvSpPr>
        <dsp:cNvPr id="0" name=""/>
        <dsp:cNvSpPr/>
      </dsp:nvSpPr>
      <dsp:spPr>
        <a:xfrm rot="5400000">
          <a:off x="3274780" y="3059372"/>
          <a:ext cx="2074468" cy="1558194"/>
        </a:xfrm>
        <a:prstGeom prst="line">
          <a:avLst/>
        </a:prstGeom>
        <a:solidFill>
          <a:schemeClr val="accent1">
            <a:hueOff val="0"/>
            <a:satOff val="0"/>
            <a:lumOff val="0"/>
            <a:alphaOff val="0"/>
          </a:schemeClr>
        </a:solidFill>
        <a:ln w="25400" cap="flat" cmpd="sng" algn="ctr">
          <a:solidFill>
            <a:schemeClr val="accent4"/>
          </a:solidFill>
          <a:prstDash val="solid"/>
        </a:ln>
        <a:effectLst/>
      </dsp:spPr>
      <dsp:style>
        <a:lnRef idx="2">
          <a:scrgbClr r="0" g="0" b="0"/>
        </a:lnRef>
        <a:fillRef idx="1">
          <a:scrgbClr r="0" g="0" b="0"/>
        </a:fillRef>
        <a:effectRef idx="1">
          <a:scrgbClr r="0" g="0" b="0"/>
        </a:effectRef>
        <a:fontRef idx="minor"/>
      </dsp:style>
    </dsp:sp>
    <dsp:sp modelId="{7DB2A403-2088-DF4C-B961-D8DCC748BA56}">
      <dsp:nvSpPr>
        <dsp:cNvPr id="0" name=""/>
        <dsp:cNvSpPr/>
      </dsp:nvSpPr>
      <dsp:spPr>
        <a:xfrm>
          <a:off x="5676900" y="3362420"/>
          <a:ext cx="2343150" cy="11208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16510" rIns="16510" bIns="16510" numCol="1" spcCol="1270" anchor="ctr" anchorCtr="0">
          <a:noAutofit/>
        </a:bodyPr>
        <a:lstStyle/>
        <a:p>
          <a:pPr marL="0" lvl="0" indent="0" algn="l" defTabSz="577850" rtl="0">
            <a:lnSpc>
              <a:spcPct val="90000"/>
            </a:lnSpc>
            <a:spcBef>
              <a:spcPct val="0"/>
            </a:spcBef>
            <a:spcAft>
              <a:spcPct val="35000"/>
            </a:spcAft>
            <a:buNone/>
          </a:pPr>
          <a:r>
            <a:rPr lang="en-US" sz="1300" b="1" kern="1200" dirty="0"/>
            <a:t>As caches became larger it made performance sense to create two and then three levels of cache on a chip</a:t>
          </a:r>
        </a:p>
      </dsp:txBody>
      <dsp:txXfrm>
        <a:off x="5676900" y="3362420"/>
        <a:ext cx="2343150" cy="1120806"/>
      </dsp:txXfrm>
    </dsp:sp>
    <dsp:sp modelId="{DEF37567-F691-5D47-8D86-7EF938ACCD23}">
      <dsp:nvSpPr>
        <dsp:cNvPr id="0" name=""/>
        <dsp:cNvSpPr/>
      </dsp:nvSpPr>
      <dsp:spPr>
        <a:xfrm>
          <a:off x="5091112" y="3922823"/>
          <a:ext cx="585787" cy="0"/>
        </a:xfrm>
        <a:prstGeom prst="line">
          <a:avLst/>
        </a:prstGeom>
        <a:solidFill>
          <a:schemeClr val="accent1">
            <a:hueOff val="0"/>
            <a:satOff val="0"/>
            <a:lumOff val="0"/>
            <a:alphaOff val="0"/>
          </a:schemeClr>
        </a:solidFill>
        <a:ln w="25400" cap="flat" cmpd="sng" algn="ctr">
          <a:solidFill>
            <a:schemeClr val="accent4"/>
          </a:solidFill>
          <a:prstDash val="solid"/>
        </a:ln>
        <a:effectLst/>
      </dsp:spPr>
      <dsp:style>
        <a:lnRef idx="2">
          <a:scrgbClr r="0" g="0" b="0"/>
        </a:lnRef>
        <a:fillRef idx="1">
          <a:scrgbClr r="0" g="0" b="0"/>
        </a:fillRef>
        <a:effectRef idx="1">
          <a:scrgbClr r="0" g="0" b="0"/>
        </a:effectRef>
        <a:fontRef idx="minor"/>
      </dsp:style>
    </dsp:sp>
    <dsp:sp modelId="{C5CA4BDE-6447-5546-B9F5-65BD75E05390}">
      <dsp:nvSpPr>
        <dsp:cNvPr id="0" name=""/>
        <dsp:cNvSpPr/>
      </dsp:nvSpPr>
      <dsp:spPr>
        <a:xfrm rot="5400000">
          <a:off x="3831044" y="4090905"/>
          <a:ext cx="1425884" cy="1088783"/>
        </a:xfrm>
        <a:prstGeom prst="line">
          <a:avLst/>
        </a:prstGeom>
        <a:solidFill>
          <a:schemeClr val="accent1">
            <a:hueOff val="0"/>
            <a:satOff val="0"/>
            <a:lumOff val="0"/>
            <a:alphaOff val="0"/>
          </a:schemeClr>
        </a:solidFill>
        <a:ln w="25400" cap="flat" cmpd="sng" algn="ctr">
          <a:solidFill>
            <a:schemeClr val="accent4"/>
          </a:solidFill>
          <a:prstDash val="solid"/>
        </a:ln>
        <a:effectLst/>
      </dsp:spPr>
      <dsp:style>
        <a:lnRef idx="2">
          <a:scrgbClr r="0" g="0" b="0"/>
        </a:lnRef>
        <a:fillRef idx="1">
          <a:scrgbClr r="0" g="0" b="0"/>
        </a:fillRef>
        <a:effectRef idx="1">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target2">
  <dgm:title val=""/>
  <dgm:desc val=""/>
  <dgm:catLst>
    <dgm:cat type="relationship"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chMax val="3"/>
      <dgm:chPref val="1"/>
      <dgm:dir/>
      <dgm:animLvl val="lvl"/>
      <dgm:resizeHandles/>
    </dgm:varLst>
    <dgm:alg type="composite">
      <dgm:param type="horzAlign" val="none"/>
      <dgm:param type="vertAlign" val="none"/>
    </dgm:alg>
    <dgm:shape xmlns:r="http://schemas.openxmlformats.org/officeDocument/2006/relationships" r:blip="">
      <dgm:adjLst/>
    </dgm:shape>
    <dgm:presOf/>
    <dgm:choose name="Name1">
      <dgm:if name="Name2" func="var" arg="dir" op="equ" val="norm">
        <dgm:choose name="Name3">
          <dgm:if name="Name4" axis="ch ch" ptType="node node" st="1 1" cnt="1 0" func="cnt" op="gt" val="0">
            <dgm:choose name="Name5">
              <dgm:if name="Name6"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2"/>
                  <dgm:constr type="t" for="ch" forName="middleBox" refType="h" fact="0.25"/>
                  <dgm:constr type="w" for="ch" forName="middleBox" refType="w" fact="0.775"/>
                  <dgm:constr type="h" for="ch" forName="middleBox" refType="h" fact="0.7"/>
                  <dgm:constr type="l" for="ch" forName="centerBox" refType="w" fact="0.395"/>
                  <dgm:constr type="t" for="ch" forName="centerBox" refType="h" fact="0.5"/>
                  <dgm:constr type="w" for="ch" forName="centerBox" refType="w" fact="0.555"/>
                  <dgm:constr type="h" for="ch" forName="centerBox" refType="h" fact="0.4"/>
                  <dgm:constr type="userA" for="des" forName="outerSibTrans" refType="w"/>
                  <dgm:constr type="userA" for="des" forName="middleSibTrans" refType="w"/>
                  <dgm:constr type="userA" for="des" forName="centerSibTrans" refType="w"/>
                </dgm:constrLst>
              </dgm:if>
              <dgm:else name="Name7">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2"/>
                  <dgm:constr type="t" for="ch" forName="middleBox" refType="h" fact="0.25"/>
                  <dgm:constr type="w" for="ch" forName="middleBox" refType="w" fact="0.775"/>
                  <dgm:constr type="h" for="ch" forName="middleBox" refType="h" fact="0.7"/>
                  <dgm:constr type="l" for="ch" forName="centerBox" refType="w" fact="0.225"/>
                  <dgm:constr type="t" for="ch" forName="centerBox" refType="h" fact="0.5"/>
                  <dgm:constr type="w" for="ch" forName="centerBox" refType="w" fact="0.725"/>
                  <dgm:constr type="h" for="ch" forName="centerBox" refType="h" fact="0.4"/>
                  <dgm:constr type="userA" for="des" forName="outerSibTrans" refType="w"/>
                  <dgm:constr type="userA" for="des" forName="middleSibTrans" refType="w"/>
                  <dgm:constr type="userA" for="des" forName="centerSibTrans" refType="w"/>
                </dgm:constrLst>
              </dgm:else>
            </dgm:choose>
          </dgm:if>
          <dgm:else name="Name8">
            <dgm:choose name="Name9">
              <dgm:if name="Name10"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26"/>
                  <dgm:constr type="t" for="ch" forName="centerBox" refType="h" fact="0.5"/>
                  <dgm:constr type="w" for="ch" forName="centerBox" refType="w" fact="0.69"/>
                  <dgm:constr type="h" for="ch" forName="centerBox" refType="h" fact="0.4"/>
                  <dgm:constr type="userA" for="des" forName="outerSibTrans" refType="w"/>
                  <dgm:constr type="userA" for="des" forName="middleSibTrans" refType="w"/>
                  <dgm:constr type="userA" for="des" forName="centerSibTrans" refType="w"/>
                </dgm:constrLst>
              </dgm:if>
              <dgm:else name="Name11">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9"/>
                  <dgm:constr type="h" for="ch" forName="centerBox" refType="h" fact="0.4"/>
                  <dgm:constr type="userA" for="des" forName="outerSibTrans" refType="w"/>
                  <dgm:constr type="userA" for="des" forName="middleSibTrans" refType="w"/>
                  <dgm:constr type="userA" for="des" forName="centerSibTrans" refType="w"/>
                </dgm:constrLst>
              </dgm:else>
            </dgm:choose>
          </dgm:else>
        </dgm:choose>
      </dgm:if>
      <dgm:else name="Name12">
        <dgm:choose name="Name13">
          <dgm:if name="Name14" axis="ch ch" ptType="node node" st="1 1" cnt="1 0" func="cnt" op="gt" val="0">
            <dgm:choose name="Name15">
              <dgm:if name="Name16"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775"/>
                  <dgm:constr type="h" for="ch" forName="middleBox" refType="h" fact="0.7"/>
                  <dgm:constr type="l" for="ch" forName="centerBox" refType="w" fact="0.05"/>
                  <dgm:constr type="t" for="ch" forName="centerBox" refType="h" fact="0.5"/>
                  <dgm:constr type="w" for="ch" forName="centerBox" refType="w" fact="0.55"/>
                  <dgm:constr type="h" for="ch" forName="centerBox" refType="h" fact="0.4"/>
                  <dgm:constr type="userA" for="des" forName="outerSibTrans" refType="w"/>
                  <dgm:constr type="userA" for="des" forName="middleSibTrans" refType="w"/>
                  <dgm:constr type="userA" for="des" forName="centerSibTrans" refType="w"/>
                </dgm:constrLst>
              </dgm:if>
              <dgm:else name="Name17">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775"/>
                  <dgm:constr type="h" for="ch" forName="middleBox" refType="h" fact="0.7"/>
                  <dgm:constr type="l" for="ch" forName="centerBox" refType="w" fact="0.05"/>
                  <dgm:constr type="t" for="ch" forName="centerBox" refType="h" fact="0.5"/>
                  <dgm:constr type="w" for="ch" forName="centerBox" refType="w" fact="0.725"/>
                  <dgm:constr type="h" for="ch" forName="centerBox" refType="h" fact="0.4"/>
                  <dgm:constr type="userA" for="des" forName="outerSibTrans" refType="w"/>
                  <dgm:constr type="userA" for="des" forName="middleSibTrans" refType="w"/>
                  <dgm:constr type="userA" for="des" forName="centerSibTrans" refType="w"/>
                </dgm:constrLst>
              </dgm:else>
            </dgm:choose>
          </dgm:if>
          <dgm:else name="Name18">
            <dgm:choose name="Name19">
              <dgm:if name="Name20"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69"/>
                  <dgm:constr type="h" for="ch" forName="centerBox" refType="h" fact="0.4"/>
                  <dgm:constr type="userA" for="des" forName="outerSibTrans" refType="w"/>
                  <dgm:constr type="userA" for="des" forName="middleSibTrans" refType="w"/>
                  <dgm:constr type="userA" for="des" forName="centerSibTrans" refType="w"/>
                </dgm:constrLst>
              </dgm:if>
              <dgm:else name="Name21">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9"/>
                  <dgm:constr type="h" for="ch" forName="centerBox" refType="h" fact="0.4"/>
                  <dgm:constr type="userA" for="des" forName="outerSibTrans" refType="w"/>
                  <dgm:constr type="userA" for="des" forName="middleSibTrans" refType="w"/>
                  <dgm:constr type="userA" for="des" forName="centerSibTrans" refType="w"/>
                </dgm:constrLst>
              </dgm:else>
            </dgm:choose>
          </dgm:else>
        </dgm:choose>
      </dgm:else>
    </dgm:choose>
    <dgm:ruleLst/>
    <dgm:choose name="Name22">
      <dgm:if name="Name23" axis="root ch" ptType="all node" st="1 1" cnt="0 0" func="cnt" op="gte" val="1">
        <dgm:layoutNode name="outerBox" styleLbl="node1">
          <dgm:alg type="composite">
            <dgm:param type="horzAlign" val="none"/>
            <dgm:param type="vertAlign" val="none"/>
          </dgm:alg>
          <dgm:shape xmlns:r="http://schemas.openxmlformats.org/officeDocument/2006/relationships" r:blip="">
            <dgm:adjLst/>
          </dgm:shape>
          <dgm:presOf/>
          <dgm:choose name="Name24">
            <dgm:if name="Name25" axis="root ch" ptType="all node" st="1 1" cnt="0 0" func="cnt" op="gt" val="1">
              <dgm:choose name="Name26">
                <dgm:if name="Name27" func="var" arg="dir" op="equ" val="norm">
                  <dgm:constrLst>
                    <dgm:constr type="l" for="ch" forName="outerBoxParent"/>
                    <dgm:constr type="t" for="ch" forName="outerBoxParent"/>
                    <dgm:constr type="w" for="ch" forName="outerBoxParent" refType="w"/>
                    <dgm:constr type="h" for="ch" forName="outerBoxParent" refType="h"/>
                    <dgm:constr type="bMarg" for="ch" forName="outerBoxParent" refType="h" fact="2.2"/>
                    <dgm:constr type="l" for="ch" forName="outerBoxChildren" refType="w" fact="0.025"/>
                    <dgm:constr type="t" for="ch" forName="outerBoxChildren" refType="h" fact="0.25"/>
                    <dgm:constr type="w" for="ch" forName="outerBoxChildren" refType="w" fact="0.15"/>
                    <dgm:constr type="h" for="ch" forName="outerBoxChildren" refType="h" fact="0.7"/>
                  </dgm:constrLst>
                </dgm:if>
                <dgm:else name="Name28">
                  <dgm:constrLst>
                    <dgm:constr type="l" for="ch" forName="outerBoxParent"/>
                    <dgm:constr type="t" for="ch" forName="outerBoxParent"/>
                    <dgm:constr type="w" for="ch" forName="outerBoxParent" refType="w"/>
                    <dgm:constr type="h" for="ch" forName="outerBoxParent" refType="h"/>
                    <dgm:constr type="bMarg" for="ch" forName="outerBoxParent" refType="h" fact="2.2"/>
                    <dgm:constr type="l" for="ch" forName="outerBoxChildren" refType="w" fact="0.825"/>
                    <dgm:constr type="t" for="ch" forName="outerBoxChildren" refType="h" fact="0.25"/>
                    <dgm:constr type="w" for="ch" forName="outerBoxChildren" refType="w" fact="0.15"/>
                    <dgm:constr type="h" for="ch" forName="outerBoxChildren" refType="h" fact="0.7"/>
                  </dgm:constrLst>
                </dgm:else>
              </dgm:choose>
            </dgm:if>
            <dgm:else name="Name29">
              <dgm:constrLst>
                <dgm:constr type="l" for="ch" forName="outerBoxParent"/>
                <dgm:constr type="t" for="ch" forName="outerBoxParent"/>
                <dgm:constr type="w" for="ch" forName="outerBoxParent" refType="w"/>
                <dgm:constr type="h" for="ch" forName="outerBoxParent" refType="h"/>
                <dgm:constr type="bMarg" for="ch" forName="outerBoxParent" refType="h" fact="1.75"/>
                <dgm:constr type="l" for="ch" forName="outerBoxChildren" refType="w" fact="0.025"/>
                <dgm:constr type="t" for="ch" forName="outerBoxChildren" refType="h" fact="0.45"/>
                <dgm:constr type="w" for="ch" forName="outerBoxChildren" refType="w" fact="0.95"/>
                <dgm:constr type="h" for="ch" forName="outerBoxChildren" refType="h" fact="0.45"/>
              </dgm:constrLst>
            </dgm:else>
          </dgm:choose>
          <dgm:ruleLst/>
          <dgm:layoutNode name="outerBoxParent" styleLbl="node1">
            <dgm:alg type="tx">
              <dgm:param type="txAnchorVert" val="t"/>
              <dgm:param type="parTxLTRAlign" val="l"/>
              <dgm:param type="parTxRTLAlign" val="r"/>
            </dgm:alg>
            <dgm:shape xmlns:r="http://schemas.openxmlformats.org/officeDocument/2006/relationships" type="roundRect" r:blip="">
              <dgm:adjLst>
                <dgm:adj idx="1" val="0.085"/>
              </dgm:adjLst>
            </dgm:shape>
            <dgm:presOf axis="ch" ptType="node" cnt="1"/>
            <dgm:constrLst>
              <dgm:constr type="tMarg" refType="primFontSz" fact="0.3"/>
              <dgm:constr type="lMarg" refType="primFontSz" fact="0.3"/>
              <dgm:constr type="rMarg" refType="primFontSz" fact="0.3"/>
            </dgm:constrLst>
            <dgm:ruleLst>
              <dgm:rule type="primFontSz" val="5" fact="NaN" max="NaN"/>
            </dgm:ruleLst>
          </dgm:layoutNode>
          <dgm:layoutNode name="outerBoxChildren">
            <dgm:choose name="Name30">
              <dgm:if name="Name31" axis="root ch" ptType="all node" st="1 1" cnt="0 0" func="cnt" op="gt" val="1">
                <dgm:alg type="lin">
                  <dgm:param type="linDir" val="fromT"/>
                  <dgm:param type="vertAlign" val="t"/>
                </dgm:alg>
              </dgm:if>
              <dgm:else name="Name32">
                <dgm:choose name="Name33">
                  <dgm:if name="Name34" func="var" arg="dir" op="equ" val="norm">
                    <dgm:alg type="lin">
                      <dgm:param type="horzAlign" val="l"/>
                    </dgm:alg>
                  </dgm:if>
                  <dgm:else name="Name35">
                    <dgm:alg type="lin">
                      <dgm:param type="linDir" val="fromR"/>
                      <dgm:param type="horzAlign" val="r"/>
                    </dgm:alg>
                  </dgm:else>
                </dgm:choose>
              </dgm:else>
            </dgm:choose>
            <dgm:shape xmlns:r="http://schemas.openxmlformats.org/officeDocument/2006/relationships" r:blip="">
              <dgm:adjLst/>
            </dgm:shape>
            <dgm:presOf/>
            <dgm:constrLst>
              <dgm:constr type="w" for="ch" forName="oChild" refType="w"/>
              <dgm:constr type="h" for="ch" forName="oChild" refType="h"/>
            </dgm:constrLst>
            <dgm:ruleLst/>
            <dgm:forEach name="Name36" axis="ch ch" ptType="node node" st="1 1" cnt="1 0">
              <dgm:layoutNode name="o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37" axis="followSib" ptType="sibTrans" cnt="1">
                <dgm:layoutNode name="outer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layoutNode>
      </dgm:if>
      <dgm:else name="Name38"/>
    </dgm:choose>
    <dgm:choose name="Name39">
      <dgm:if name="Name40" axis="root ch" ptType="all node" st="1 1" cnt="0 0" func="cnt" op="gte" val="2">
        <dgm:layoutNode name="middleBox">
          <dgm:alg type="composite">
            <dgm:param type="horzAlign" val="none"/>
            <dgm:param type="vertAlign" val="none"/>
          </dgm:alg>
          <dgm:shape xmlns:r="http://schemas.openxmlformats.org/officeDocument/2006/relationships" r:blip="">
            <dgm:adjLst/>
          </dgm:shape>
          <dgm:presOf/>
          <dgm:choose name="Name41">
            <dgm:if name="Name42" axis="root ch" ptType="all node" st="1 1" cnt="0 0" func="cnt" op="gt" val="2">
              <dgm:choose name="Name43">
                <dgm:if name="Name44" func="var" arg="dir" op="equ" val="norm">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025"/>
                    <dgm:constr type="t" for="ch" forName="middleBoxChildren" refType="h" fact="0.35"/>
                    <dgm:constr type="w" for="ch" forName="middleBoxChildren" refType="w" fact="0.2"/>
                    <dgm:constr type="h" for="ch" forName="middleBoxChildren" refType="h" fact="0.575"/>
                  </dgm:constrLst>
                </dgm:if>
                <dgm:else name="Name45">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775"/>
                    <dgm:constr type="t" for="ch" forName="middleBoxChildren" refType="h" fact="0.35"/>
                    <dgm:constr type="w" for="ch" forName="middleBoxChildren" refType="w" fact="0.2"/>
                    <dgm:constr type="h" for="ch" forName="middleBoxChildren" refType="h" fact="0.575"/>
                  </dgm:constrLst>
                </dgm:else>
              </dgm:choose>
            </dgm:if>
            <dgm:else name="Name46">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025"/>
                <dgm:constr type="t" for="ch" forName="middleBoxChildren" refType="h" fact="0.45"/>
                <dgm:constr type="w" for="ch" forName="middleBoxChildren" refType="w" fact="0.95"/>
                <dgm:constr type="h" for="ch" forName="middleBoxChildren" refType="h" fact="0.45"/>
              </dgm:constrLst>
            </dgm:else>
          </dgm:choose>
          <dgm:ruleLst/>
          <dgm:layoutNode name="middleBoxParent" styleLbl="node1">
            <dgm:alg type="tx">
              <dgm:param type="txAnchorVert" val="t"/>
              <dgm:param type="parTxLTRAlign" val="l"/>
              <dgm:param type="parTxRTLAlign" val="r"/>
            </dgm:alg>
            <dgm:shape xmlns:r="http://schemas.openxmlformats.org/officeDocument/2006/relationships" type="roundRect" r:blip="">
              <dgm:adjLst>
                <dgm:adj idx="1" val="0.105"/>
              </dgm:adjLst>
            </dgm:shape>
            <dgm:presOf axis="ch" ptType="node" st="2" cnt="1"/>
            <dgm:constrLst>
              <dgm:constr type="tMarg" refType="primFontSz" fact="0.3"/>
              <dgm:constr type="lMarg" refType="primFontSz" fact="0.3"/>
              <dgm:constr type="rMarg" refType="primFontSz" fact="0.3"/>
            </dgm:constrLst>
            <dgm:ruleLst>
              <dgm:rule type="primFontSz" val="5" fact="NaN" max="NaN"/>
            </dgm:ruleLst>
          </dgm:layoutNode>
          <dgm:layoutNode name="middleBoxChildren">
            <dgm:choose name="Name47">
              <dgm:if name="Name48" axis="root ch" ptType="all node" st="1 1" cnt="0 0" func="cnt" op="gt" val="2">
                <dgm:alg type="lin">
                  <dgm:param type="linDir" val="fromT"/>
                  <dgm:param type="vertAlign" val="t"/>
                </dgm:alg>
              </dgm:if>
              <dgm:else name="Name49">
                <dgm:choose name="Name50">
                  <dgm:if name="Name51" func="var" arg="dir" op="equ" val="norm">
                    <dgm:alg type="lin">
                      <dgm:param type="horzAlign" val="l"/>
                    </dgm:alg>
                  </dgm:if>
                  <dgm:else name="Name52">
                    <dgm:alg type="lin">
                      <dgm:param type="linDir" val="fromR"/>
                      <dgm:param type="horzAlign" val="r"/>
                    </dgm:alg>
                  </dgm:else>
                </dgm:choose>
              </dgm:else>
            </dgm:choose>
            <dgm:shape xmlns:r="http://schemas.openxmlformats.org/officeDocument/2006/relationships" r:blip="">
              <dgm:adjLst/>
            </dgm:shape>
            <dgm:presOf/>
            <dgm:constrLst>
              <dgm:constr type="w" for="ch" forName="mChild" refType="w"/>
              <dgm:constr type="h" for="ch" forName="mChild" refType="h"/>
            </dgm:constrLst>
            <dgm:ruleLst/>
            <dgm:forEach name="Name53" axis="ch ch" ptType="node node" st="2 1" cnt="1 0">
              <dgm:layoutNode name="m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54" axis="followSib" ptType="sibTrans" cnt="1">
                <dgm:layoutNode name="middle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layoutNode>
      </dgm:if>
      <dgm:else name="Name55"/>
    </dgm:choose>
    <dgm:choose name="Name56">
      <dgm:if name="Name57" axis="root ch" ptType="all node" st="1 1" cnt="0 0" func="cnt" op="gte" val="3">
        <dgm:layoutNode name="centerBox">
          <dgm:alg type="composite">
            <dgm:param type="horzAlign" val="none"/>
            <dgm:param type="vertAlign" val="none"/>
          </dgm:alg>
          <dgm:shape xmlns:r="http://schemas.openxmlformats.org/officeDocument/2006/relationships" r:blip="">
            <dgm:adjLst/>
          </dgm:shape>
          <dgm:presOf/>
          <dgm:choose name="Name58">
            <dgm:if name="Name59" axis="ch ch" ptType="node node" st="3 1" cnt="1 0" func="cnt" op="gt" val="0">
              <dgm:constrLst>
                <dgm:constr type="l" for="ch" forName="centerBoxParent"/>
                <dgm:constr type="t" for="ch" forName="centerBoxParent"/>
                <dgm:constr type="w" for="ch" forName="centerBoxParent" refType="w"/>
                <dgm:constr type="h" for="ch" forName="centerBoxParent" refType="h"/>
                <dgm:constr type="bMarg" for="ch" forName="centerBoxParent" refType="h" fact="1.6"/>
                <dgm:constr type="l" for="ch" forName="centerBoxChildren" refType="w" fact="0.025"/>
                <dgm:constr type="t" for="ch" forName="centerBoxChildren" refType="h" fact="0.45"/>
                <dgm:constr type="w" for="ch" forName="centerBoxChildren" refType="w" fact="0.95"/>
                <dgm:constr type="h" for="ch" forName="centerBoxChildren" refType="h" fact="0.45"/>
              </dgm:constrLst>
            </dgm:if>
            <dgm:else name="Name60">
              <dgm:constrLst>
                <dgm:constr type="l" for="ch" forName="centerBoxParent"/>
                <dgm:constr type="t" for="ch" forName="centerBoxParent"/>
                <dgm:constr type="w" for="ch" forName="centerBoxParent" refType="w"/>
                <dgm:constr type="h" for="ch" forName="centerBoxParent" refType="h"/>
              </dgm:constrLst>
            </dgm:else>
          </dgm:choose>
          <dgm:ruleLst/>
          <dgm:layoutNode name="centerBoxParent" styleLbl="node1">
            <dgm:alg type="tx">
              <dgm:param type="txAnchorVert" val="t"/>
              <dgm:param type="parTxLTRAlign" val="l"/>
              <dgm:param type="parTxRTLAlign" val="r"/>
            </dgm:alg>
            <dgm:shape xmlns:r="http://schemas.openxmlformats.org/officeDocument/2006/relationships" type="roundRect" r:blip="">
              <dgm:adjLst>
                <dgm:adj idx="1" val="0.105"/>
              </dgm:adjLst>
            </dgm:shape>
            <dgm:presOf axis="ch" ptType="node" st="3" cnt="1"/>
            <dgm:constrLst>
              <dgm:constr type="tMarg" refType="primFontSz" fact="0.3"/>
              <dgm:constr type="lMarg" refType="primFontSz" fact="0.3"/>
              <dgm:constr type="rMarg" refType="primFontSz" fact="0.3"/>
            </dgm:constrLst>
            <dgm:ruleLst>
              <dgm:rule type="primFontSz" val="5" fact="NaN" max="NaN"/>
            </dgm:ruleLst>
          </dgm:layoutNode>
          <dgm:choose name="Name61">
            <dgm:if name="Name62" axis="ch ch" ptType="node node" st="3 1" cnt="1 0" func="cnt" op="gt" val="0">
              <dgm:layoutNode name="centerBoxChildren">
                <dgm:choose name="Name63">
                  <dgm:if name="Name64" func="var" arg="dir" op="equ" val="norm">
                    <dgm:alg type="lin">
                      <dgm:param type="horzAlign" val="l"/>
                    </dgm:alg>
                  </dgm:if>
                  <dgm:else name="Name65">
                    <dgm:alg type="lin">
                      <dgm:param type="linDir" val="fromR"/>
                      <dgm:param type="horzAlign" val="r"/>
                    </dgm:alg>
                  </dgm:else>
                </dgm:choose>
                <dgm:shape xmlns:r="http://schemas.openxmlformats.org/officeDocument/2006/relationships" r:blip="">
                  <dgm:adjLst/>
                </dgm:shape>
                <dgm:presOf/>
                <dgm:constrLst>
                  <dgm:constr type="w" for="ch" forName="cChild" refType="w"/>
                  <dgm:constr type="h" for="ch" forName="cChild" refType="h"/>
                </dgm:constrLst>
                <dgm:ruleLst/>
                <dgm:forEach name="Name66" axis="ch ch" ptType="node node" st="3 1" cnt="1 0">
                  <dgm:layoutNode name="c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67" axis="followSib" ptType="sibTrans" cnt="1">
                    <dgm:layoutNode name="center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if>
            <dgm:else name="Name68"/>
          </dgm:choose>
        </dgm:layoutNode>
      </dgm:if>
      <dgm:else name="Name69"/>
    </dgm:choose>
  </dgm:layoutNode>
</dgm:layoutDef>
</file>

<file path=ppt/diagrams/layout3.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yramid4">
  <dgm:title val=""/>
  <dgm:desc val=""/>
  <dgm:catLst>
    <dgm:cat type="pyramid" pri="4000"/>
    <dgm:cat type="relationship" pri="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useDef="1">
    <dgm:dataModel>
      <dgm:ptLst/>
      <dgm:bg/>
      <dgm:whole/>
    </dgm:dataModel>
  </dgm:styleData>
  <dgm:clrData useDef="1">
    <dgm:dataModel>
      <dgm:ptLst/>
      <dgm:bg/>
      <dgm:whole/>
    </dgm:dataModel>
  </dgm:clrData>
  <dgm:layoutNode name="compositeShape">
    <dgm:varLst>
      <dgm:chMax val="9"/>
      <dgm:dir/>
      <dgm:resizeHandles val="exact"/>
    </dgm:varLst>
    <dgm:alg type="composite">
      <dgm:param type="ar" val="1"/>
    </dgm:alg>
    <dgm:shape xmlns:r="http://schemas.openxmlformats.org/officeDocument/2006/relationships" r:blip="">
      <dgm:adjLst/>
    </dgm:shape>
    <dgm:presOf/>
    <dgm:choose name="Name0">
      <dgm:if name="Name1" axis="ch" ptType="node" func="cnt" op="lte" val="4">
        <dgm:choose name="Name2">
          <dgm:if name="Name3" axis="ch" ptType="node" func="cnt" op="equ" val="1">
            <dgm:constrLst>
              <dgm:constr type="primFontSz" for="ch" ptType="node" op="equ" val="65"/>
              <dgm:constr type="t" for="ch" forName="triangle1"/>
              <dgm:constr type="l" for="ch" forName="triangle1"/>
              <dgm:constr type="h" for="ch" forName="triangle1" refType="h"/>
              <dgm:constr type="w" for="ch" forName="triangle1" refType="h"/>
            </dgm:constrLst>
          </dgm:if>
          <dgm:else name="Name4">
            <dgm:constrLst>
              <dgm:constr type="primFontSz" for="ch" ptType="node" op="equ" val="65"/>
              <dgm:constr type="t" for="ch" forName="triangle1"/>
              <dgm:constr type="l" for="ch" forName="triangle1" refType="h" fact="0.25"/>
              <dgm:constr type="h" for="ch" forName="triangle1" refType="h" fact="0.5"/>
              <dgm:constr type="w" for="ch" forName="triangle1" refType="h" fact="0.5"/>
              <dgm:constr type="t" for="ch" forName="triangle2" refType="h" fact="0.5"/>
              <dgm:constr type="l" for="ch" forName="triangle2"/>
              <dgm:constr type="h" for="ch" forName="triangle2" refType="h" fact="0.5"/>
              <dgm:constr type="w" for="ch" forName="triangle2" refType="h" fact="0.5"/>
              <dgm:constr type="t" for="ch" forName="triangle3" refType="h" fact="0.5"/>
              <dgm:constr type="l" for="ch" forName="triangle3" refType="h" fact="0.25"/>
              <dgm:constr type="h" for="ch" forName="triangle3" refType="h" fact="0.5"/>
              <dgm:constr type="w" for="ch" forName="triangle3" refType="h" fact="0.5"/>
              <dgm:constr type="t" for="ch" forName="triangle4" refType="h" fact="0.5"/>
              <dgm:constr type="l" for="ch" forName="triangle4" refType="h" fact="0.5"/>
              <dgm:constr type="h" for="ch" forName="triangle4" refType="h" fact="0.5"/>
              <dgm:constr type="w" for="ch" forName="triangle4" refType="h" fact="0.5"/>
            </dgm:constrLst>
          </dgm:else>
        </dgm:choose>
      </dgm:if>
      <dgm:else name="Name5">
        <dgm:constrLst>
          <dgm:constr type="primFontSz" for="ch" ptType="node" op="equ" val="65"/>
          <dgm:constr type="t" for="ch" forName="triangle1"/>
          <dgm:constr type="l" for="ch" forName="triangle1" refType="h" fact="0.33"/>
          <dgm:constr type="h" for="ch" forName="triangle1" refType="h" fact="0.33"/>
          <dgm:constr type="w" for="ch" forName="triangle1" refType="h" fact="0.33"/>
          <dgm:constr type="t" for="ch" forName="triangle2" refType="h" fact="0.33"/>
          <dgm:constr type="l" for="ch" forName="triangle2" refType="h" fact="0.165"/>
          <dgm:constr type="h" for="ch" forName="triangle2" refType="h" fact="0.33"/>
          <dgm:constr type="w" for="ch" forName="triangle2" refType="h" fact="0.33"/>
          <dgm:constr type="t" for="ch" forName="triangle3" refType="h" fact="0.33"/>
          <dgm:constr type="l" for="ch" forName="triangle3" refType="h" fact="0.33"/>
          <dgm:constr type="h" for="ch" forName="triangle3" refType="h" fact="0.33"/>
          <dgm:constr type="w" for="ch" forName="triangle3" refType="h" fact="0.33"/>
          <dgm:constr type="t" for="ch" forName="triangle4" refType="h" fact="0.33"/>
          <dgm:constr type="l" for="ch" forName="triangle4" refType="h" fact="0.495"/>
          <dgm:constr type="h" for="ch" forName="triangle4" refType="h" fact="0.33"/>
          <dgm:constr type="w" for="ch" forName="triangle4" refType="h" fact="0.33"/>
          <dgm:constr type="t" for="ch" forName="triangle5" refType="h" fact="0.66"/>
          <dgm:constr type="l" for="ch" forName="triangle5"/>
          <dgm:constr type="h" for="ch" forName="triangle5" refType="h" fact="0.33"/>
          <dgm:constr type="w" for="ch" forName="triangle5" refType="h" fact="0.33"/>
          <dgm:constr type="t" for="ch" forName="triangle6" refType="h" fact="0.66"/>
          <dgm:constr type="l" for="ch" forName="triangle6" refType="h" fact="0.165"/>
          <dgm:constr type="h" for="ch" forName="triangle6" refType="h" fact="0.33"/>
          <dgm:constr type="w" for="ch" forName="triangle6" refType="h" fact="0.33"/>
          <dgm:constr type="t" for="ch" forName="triangle7" refType="h" fact="0.66"/>
          <dgm:constr type="l" for="ch" forName="triangle7" refType="h" fact="0.33"/>
          <dgm:constr type="h" for="ch" forName="triangle7" refType="h" fact="0.33"/>
          <dgm:constr type="w" for="ch" forName="triangle7" refType="h" fact="0.33"/>
          <dgm:constr type="t" for="ch" forName="triangle8" refType="h" fact="0.66"/>
          <dgm:constr type="l" for="ch" forName="triangle8" refType="h" fact="0.495"/>
          <dgm:constr type="h" for="ch" forName="triangle8" refType="h" fact="0.33"/>
          <dgm:constr type="w" for="ch" forName="triangle8" refType="h" fact="0.33"/>
          <dgm:constr type="t" for="ch" forName="triangle9" refType="h" fact="0.66"/>
          <dgm:constr type="l" for="ch" forName="triangle9" refType="h" fact="0.66"/>
          <dgm:constr type="h" for="ch" forName="triangle9" refType="h" fact="0.33"/>
          <dgm:constr type="w" for="ch" forName="triangle9" refType="h" fact="0.33"/>
        </dgm:constrLst>
      </dgm:else>
    </dgm:choose>
    <dgm:ruleLst/>
    <dgm:choose name="Name6">
      <dgm:if name="Name7" axis="ch" ptType="node" func="cnt" op="gte" val="1">
        <dgm:layoutNode name="triangle1" styleLbl="node1">
          <dgm:varLst>
            <dgm:bulletEnabled val="1"/>
          </dgm:varLst>
          <dgm:alg type="tx">
            <dgm:param type="txAnchorVertCh" val="mid"/>
          </dgm:alg>
          <dgm:shape xmlns:r="http://schemas.openxmlformats.org/officeDocument/2006/relationships" type="triangle"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8"/>
    </dgm:choose>
    <dgm:choose name="Name9">
      <dgm:if name="Name10" axis="ch" ptType="node" func="cnt" op="gte" val="2">
        <dgm:layoutNode name="triangle2" styleLbl="node1">
          <dgm:varLst>
            <dgm:bulletEnabled val="1"/>
          </dgm:varLst>
          <dgm:alg type="tx">
            <dgm:param type="txAnchorVertCh" val="mid"/>
          </dgm:alg>
          <dgm:shape xmlns:r="http://schemas.openxmlformats.org/officeDocument/2006/relationships" type="triangle" r:blip="">
            <dgm:adjLst/>
          </dgm:shape>
          <dgm:choose name="Name11">
            <dgm:if name="Name12" func="var" arg="dir" op="equ" val="norm">
              <dgm:presOf axis="ch desOrSelf" ptType="node node" st="2 1" cnt="1 0"/>
            </dgm:if>
            <dgm:else name="Name13">
              <dgm:presOf axis="ch desOrSelf" ptType="node node" st="4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3" styleLbl="node1">
          <dgm:varLst>
            <dgm:bulletEnabled val="1"/>
          </dgm:varLst>
          <dgm:alg type="tx">
            <dgm:param type="txAnchorVertCh" val="mid"/>
          </dgm:alg>
          <dgm:shape xmlns:r="http://schemas.openxmlformats.org/officeDocument/2006/relationships" rot="180" type="triangle"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4" styleLbl="node1">
          <dgm:varLst>
            <dgm:bulletEnabled val="1"/>
          </dgm:varLst>
          <dgm:alg type="tx">
            <dgm:param type="txAnchorVertCh" val="mid"/>
          </dgm:alg>
          <dgm:shape xmlns:r="http://schemas.openxmlformats.org/officeDocument/2006/relationships" type="triangle" r:blip="">
            <dgm:adjLst/>
          </dgm:shape>
          <dgm:choose name="Name14">
            <dgm:if name="Name15" func="var" arg="dir" op="equ" val="norm">
              <dgm:presOf axis="ch desOrSelf" ptType="node node" st="4 1" cnt="1 0"/>
            </dgm:if>
            <dgm:else name="Name16">
              <dgm:presOf axis="ch desOrSelf" ptType="node node" st="2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7"/>
    </dgm:choose>
    <dgm:choose name="Name18">
      <dgm:if name="Name19" axis="ch" ptType="node" func="cnt" op="gte" val="5">
        <dgm:layoutNode name="triangle5" styleLbl="node1">
          <dgm:varLst>
            <dgm:bulletEnabled val="1"/>
          </dgm:varLst>
          <dgm:alg type="tx">
            <dgm:param type="txAnchorVertCh" val="mid"/>
          </dgm:alg>
          <dgm:shape xmlns:r="http://schemas.openxmlformats.org/officeDocument/2006/relationships" type="triangle" r:blip="">
            <dgm:adjLst/>
          </dgm:shape>
          <dgm:choose name="Name20">
            <dgm:if name="Name21" func="var" arg="dir" op="equ" val="norm">
              <dgm:presOf axis="ch desOrSelf" ptType="node node" st="5 1" cnt="1 0"/>
            </dgm:if>
            <dgm:else name="Name22">
              <dgm:presOf axis="ch desOrSelf" ptType="node node" st="9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6" styleLbl="node1">
          <dgm:varLst>
            <dgm:bulletEnabled val="1"/>
          </dgm:varLst>
          <dgm:alg type="tx">
            <dgm:param type="txAnchorVertCh" val="mid"/>
          </dgm:alg>
          <dgm:shape xmlns:r="http://schemas.openxmlformats.org/officeDocument/2006/relationships" rot="180" type="triangle" r:blip="">
            <dgm:adjLst/>
          </dgm:shape>
          <dgm:choose name="Name23">
            <dgm:if name="Name24" func="var" arg="dir" op="equ" val="norm">
              <dgm:presOf axis="ch desOrSelf" ptType="node node" st="6 1" cnt="1 0"/>
            </dgm:if>
            <dgm:else name="Name25">
              <dgm:presOf axis="ch desOrSelf" ptType="node node" st="8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7" styleLbl="node1">
          <dgm:varLst>
            <dgm:bulletEnabled val="1"/>
          </dgm:varLst>
          <dgm:alg type="tx">
            <dgm:param type="txAnchorVertCh" val="mid"/>
          </dgm:alg>
          <dgm:shape xmlns:r="http://schemas.openxmlformats.org/officeDocument/2006/relationships" type="triangle" r:blip="">
            <dgm:adjLst/>
          </dgm:shape>
          <dgm:presOf axis="ch desOrSelf" ptType="node node" st="7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8" styleLbl="node1">
          <dgm:varLst>
            <dgm:bulletEnabled val="1"/>
          </dgm:varLst>
          <dgm:alg type="tx">
            <dgm:param type="txAnchorVertCh" val="mid"/>
          </dgm:alg>
          <dgm:shape xmlns:r="http://schemas.openxmlformats.org/officeDocument/2006/relationships" rot="180" type="triangle" r:blip="">
            <dgm:adjLst/>
          </dgm:shape>
          <dgm:choose name="Name26">
            <dgm:if name="Name27" func="var" arg="dir" op="equ" val="norm">
              <dgm:presOf axis="ch desOrSelf" ptType="node node" st="8 1" cnt="1 0"/>
            </dgm:if>
            <dgm:else name="Name28">
              <dgm:presOf axis="ch desOrSelf" ptType="node node" st="6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9" styleLbl="node1">
          <dgm:varLst>
            <dgm:bulletEnabled val="1"/>
          </dgm:varLst>
          <dgm:alg type="tx">
            <dgm:param type="txAnchorVertCh" val="mid"/>
          </dgm:alg>
          <dgm:shape xmlns:r="http://schemas.openxmlformats.org/officeDocument/2006/relationships" type="triangle" r:blip="">
            <dgm:adjLst/>
          </dgm:shape>
          <dgm:choose name="Name29">
            <dgm:if name="Name30" func="var" arg="dir" op="equ" val="norm">
              <dgm:presOf axis="ch desOrSelf" ptType="node node" st="9 1" cnt="1 0"/>
            </dgm:if>
            <dgm:else name="Name31">
              <dgm:presOf axis="ch desOrSelf" ptType="node node" st="5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2"/>
    </dgm:choose>
  </dgm:layoutNode>
</dgm:layoutDef>
</file>

<file path=ppt/diagrams/layout5.xml><?xml version="1.0" encoding="utf-8"?>
<dgm:layoutDef xmlns:dgm="http://schemas.openxmlformats.org/drawingml/2006/diagram" xmlns:a="http://schemas.openxmlformats.org/drawingml/2006/main" uniqueId="urn:microsoft.com/office/officeart/2005/8/layout/target1">
  <dgm:title val=""/>
  <dgm:desc val=""/>
  <dgm:catLst>
    <dgm:cat type="relationship" pri="25000"/>
    <dgm:cat type="convert" pri="2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ite">
    <dgm:varLst>
      <dgm:chMax val="5"/>
      <dgm:dir/>
      <dgm:resizeHandles val="exact"/>
    </dgm:varLst>
    <dgm:alg type="composite">
      <dgm:param type="ar" val="1.25"/>
    </dgm:alg>
    <dgm:shape xmlns:r="http://schemas.openxmlformats.org/officeDocument/2006/relationships" r:blip="">
      <dgm:adjLst/>
    </dgm:shape>
    <dgm:presOf/>
    <dgm:choose name="Name0">
      <dgm:if name="Name1" func="var" arg="dir" op="equ" val="norm">
        <dgm:choose name="Name2">
          <dgm:if name="Name3" axis="ch" ptType="node" func="cnt" op="equ" val="0">
            <dgm:constrLst/>
          </dgm:if>
          <dgm:if name="Name4" axis="ch" ptType="node" func="cnt" op="equ" val="1">
            <dgm:constrLst>
              <dgm:constr type="primFontSz" for="des" ptType="node" op="equ" val="65"/>
              <dgm:constr type="w" for="ch" forName="circle1" refType="w" fact="0.6"/>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3125"/>
              <dgm:constr type="r" for="ch" forName="text1" refType="w"/>
              <dgm:constr type="t" for="ch" forName="text1"/>
              <dgm:constr type="l" for="ch" forName="line1" refType="w" fact="0.625"/>
              <dgm:constr type="ctrY" for="ch" forName="line1" refType="ctrY" refFor="ch" refForName="text1"/>
              <dgm:constr type="r" for="ch" forName="line1" refType="l" refFor="ch" refForName="text1"/>
              <dgm:constr type="h" for="ch" forName="line1"/>
              <dgm:constr type="l" for="ch" forName="d1" refType="w" fact="0.3"/>
              <dgm:constr type="b" for="ch" forName="d1" refType="h" fact="0.625"/>
              <dgm:constr type="w" for="ch" forName="d1" refType="w" fact="0.32475"/>
              <dgm:constr type="h" for="ch" forName="d1" refType="h" fact="0.469"/>
            </dgm:constrLst>
          </dgm:if>
          <dgm:if name="Name5" axis="ch" ptType="node" func="cnt" op="equ" val="2">
            <dgm:constrLst>
              <dgm:constr type="primFontSz" for="des" ptType="node" op="equ" val="65"/>
              <dgm:constr type="w" for="ch" forName="circle1" refType="w" fact="0.2"/>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3125"/>
              <dgm:constr type="r" for="ch" forName="text1" refType="w"/>
              <dgm:constr type="t" for="ch" forName="text1"/>
              <dgm:constr type="l" for="ch" forName="line1" refType="w" fact="0.625"/>
              <dgm:constr type="ctrY" for="ch" forName="line1" refType="ctrY" refFor="ch" refForName="text1"/>
              <dgm:constr type="w" for="ch" forName="line1" refType="w" fact="0.075"/>
              <dgm:constr type="h" for="ch" forName="line1"/>
              <dgm:constr type="l" for="ch" forName="d1" refType="w" fact="0.3"/>
              <dgm:constr type="b" for="ch" forName="d1" refType="h" fact="0.625"/>
              <dgm:constr type="w" for="ch" forName="d1" refType="w" fact="0.32475"/>
              <dgm:constr type="h" for="ch" forName="d1" refType="h" fact="0.469"/>
              <dgm:constr type="w" for="ch" forName="circle2" refType="w" fact="0.6"/>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3125"/>
              <dgm:constr type="r" for="ch" forName="text2" refType="w"/>
              <dgm:constr type="t" for="ch" forName="text2" refType="b" refFor="ch" refForName="text1"/>
              <dgm:constr type="l" for="ch" forName="line2" refType="w" fact="0.625"/>
              <dgm:constr type="ctrY" for="ch" forName="line2" refType="ctrY" refFor="ch" refForName="text2"/>
              <dgm:constr type="w" for="ch" forName="line2" refType="w" fact="0.075"/>
              <dgm:constr type="h" for="ch" forName="line2"/>
              <dgm:constr type="l" for="ch" forName="d2" refType="w" fact="0.44325"/>
              <dgm:constr type="b" for="ch" forName="d2" refType="h" fact="0.7975"/>
              <dgm:constr type="w" for="ch" forName="d2" refType="w" fact="0.1815"/>
              <dgm:constr type="h" for="ch" forName="d2" refType="h" fact="0.3283"/>
            </dgm:constrLst>
          </dgm:if>
          <dgm:if name="Name6" axis="ch" ptType="node" func="cnt" op="equ" val="3">
            <dgm:constrLst>
              <dgm:constr type="primFontSz" for="des" ptType="node" op="equ" val="65"/>
              <dgm:constr type="w" for="ch" forName="circle1" refType="w" fact="0.12"/>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21875"/>
              <dgm:constr type="r" for="ch" forName="text1" refType="w"/>
              <dgm:constr type="t" for="ch" forName="text1"/>
              <dgm:constr type="l" for="ch" forName="line1" refType="w" fact="0.625"/>
              <dgm:constr type="ctrY" for="ch" forName="line1" refType="ctrY" refFor="ch" refForName="text1"/>
              <dgm:constr type="w" for="ch" forName="line1" refType="w" fact="0.075"/>
              <dgm:constr type="h" for="ch" forName="line1"/>
              <dgm:constr type="l" for="ch" forName="d1" refType="w" fact="0.3"/>
              <dgm:constr type="b" for="ch" forName="d1" refType="h" fact="0.625"/>
              <dgm:constr type="w" for="ch" forName="d1" refType="w" fact="0.3247"/>
              <dgm:constr type="h" for="ch" forName="d1" refType="h" fact="0.5155"/>
              <dgm:constr type="w" for="ch" forName="circle2" refType="w" fact="0.36"/>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21875"/>
              <dgm:constr type="r" for="ch" forName="text2" refType="w"/>
              <dgm:constr type="t" for="ch" forName="text2" refType="b" refFor="ch" refForName="text1"/>
              <dgm:constr type="l" for="ch" forName="line2" refType="w" fact="0.625"/>
              <dgm:constr type="ctrY" for="ch" forName="line2" refType="ctrY" refFor="ch" refForName="text2"/>
              <dgm:constr type="w" for="ch" forName="line2" refType="w" fact="0.075"/>
              <dgm:constr type="h" for="ch" forName="line2"/>
              <dgm:constr type="l" for="ch" forName="d2" refType="w" fact="0.386"/>
              <dgm:constr type="b" for="ch" forName="d2" refType="h" fact="0.72969"/>
              <dgm:constr type="w" for="ch" forName="d2" refType="w" fact="0.2387"/>
              <dgm:constr type="h" for="ch" forName="d2" refType="h" fact="0.4017"/>
              <dgm:constr type="w" for="ch" forName="circle3" refType="w" fact="0.6"/>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21875"/>
              <dgm:constr type="r" for="ch" forName="text3" refType="w"/>
              <dgm:constr type="t" for="ch" forName="text3" refType="b" refFor="ch" refForName="text2"/>
              <dgm:constr type="l" for="ch" forName="line3" refType="w" fact="0.625"/>
              <dgm:constr type="ctrY" for="ch" forName="line3" refType="ctrY" refFor="ch" refForName="text3"/>
              <dgm:constr type="w" for="ch" forName="line3" refType="w" fact="0.075"/>
              <dgm:constr type="h" for="ch" forName="line3"/>
              <dgm:constr type="l" for="ch" forName="d3" refType="w" fact="0.47175"/>
              <dgm:constr type="b" for="ch" forName="d3" refType="h" fact="0.83375"/>
              <dgm:constr type="w" for="ch" forName="d3" refType="w" fact="0.1527"/>
              <dgm:constr type="h" for="ch" forName="d3" refType="h" fact="0.287"/>
            </dgm:constrLst>
          </dgm:if>
          <dgm:if name="Name7" axis="ch" ptType="node" func="cnt" op="equ" val="4">
            <dgm:constrLst>
              <dgm:constr type="primFontSz" for="des" ptType="node" op="equ" val="65"/>
              <dgm:constr type="w" for="ch" forName="circle1" refType="w" fact="0.0857"/>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17938"/>
              <dgm:constr type="r" for="ch" forName="text1" refType="w"/>
              <dgm:constr type="t" for="ch" forName="text1"/>
              <dgm:constr type="l" for="ch" forName="line1" refType="w" fact="0.625"/>
              <dgm:constr type="ctrY" for="ch" forName="line1" refType="ctrY" refFor="ch" refForName="text1"/>
              <dgm:constr type="w" for="ch" forName="line1" refType="w" fact="0.075"/>
              <dgm:constr type="h" for="ch" forName="line1"/>
              <dgm:constr type="l" for="ch" forName="d1" refType="w" fact="0.295"/>
              <dgm:constr type="b" for="ch" forName="d1" refType="h" fact="0.62"/>
              <dgm:constr type="w" for="ch" forName="d1" refType="w" fact="0.33"/>
              <dgm:constr type="h" for="ch" forName="d1" refType="h" fact="0.53"/>
              <dgm:constr type="w" for="ch" forName="circle2" refType="w" fact="0.2571"/>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17938"/>
              <dgm:constr type="r" for="ch" forName="text2" refType="w"/>
              <dgm:constr type="t" for="ch" forName="text2" refType="b" refFor="ch" refForName="text1"/>
              <dgm:constr type="l" for="ch" forName="line2" refType="w" fact="0.625"/>
              <dgm:constr type="ctrY" for="ch" forName="line2" refType="ctrY" refFor="ch" refForName="text2"/>
              <dgm:constr type="w" for="ch" forName="line2" refType="w" fact="0.075"/>
              <dgm:constr type="h" for="ch" forName="line2"/>
              <dgm:constr type="l" for="ch" forName="d2" refType="w" fact="0.36625"/>
              <dgm:constr type="b" for="ch" forName="d2" refType="h" fact="0.70438"/>
              <dgm:constr type="w" for="ch" forName="d2" refType="w" fact="0.2585"/>
              <dgm:constr type="h" for="ch" forName="d2" refType="h" fact="0.43525"/>
              <dgm:constr type="w" for="ch" forName="circle3" refType="w" fact="0.4285"/>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7938"/>
              <dgm:constr type="r" for="ch" forName="text3" refType="w"/>
              <dgm:constr type="t" for="ch" forName="text3" refType="b" refFor="ch" refForName="text2"/>
              <dgm:constr type="l" for="ch" forName="line3" refType="w" fact="0.625"/>
              <dgm:constr type="ctrY" for="ch" forName="line3" refType="ctrY" refFor="ch" refForName="text3"/>
              <dgm:constr type="w" for="ch" forName="line3" refType="w" fact="0.075"/>
              <dgm:constr type="h" for="ch" forName="line3"/>
              <dgm:constr type="l" for="ch" forName="d3" refType="w" fact="0.4255"/>
              <dgm:constr type="b" for="ch" forName="d3" refType="h" fact="0.78031"/>
              <dgm:constr type="w" for="ch" forName="d3" refType="w" fact="0.1995"/>
              <dgm:constr type="h" for="ch" forName="d3" refType="h" fact="0.332"/>
              <dgm:constr type="w" for="ch" forName="circle4" refType="w" fact="0.6"/>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7938"/>
              <dgm:constr type="r" for="ch" forName="text4" refType="w"/>
              <dgm:constr type="t" for="ch" forName="text4" refType="b" refFor="ch" refForName="text3"/>
              <dgm:constr type="l" for="ch" forName="line4" refType="w" fact="0.625"/>
              <dgm:constr type="ctrY" for="ch" forName="line4" refType="ctrY" refFor="ch" refForName="text4"/>
              <dgm:constr type="w" for="ch" forName="line4" refType="w" fact="0.075"/>
              <dgm:constr type="h" for="ch" forName="line4"/>
              <dgm:constr type="l" for="ch" forName="d4" refType="w" fact="0.48525"/>
              <dgm:constr type="b" for="ch" forName="d4" refType="h" fact="0.85594"/>
              <dgm:constr type="w" for="ch" forName="d4" refType="w" fact="0.1394"/>
              <dgm:constr type="h" for="ch" forName="d4" refType="h" fact="0.2282"/>
            </dgm:constrLst>
          </dgm:if>
          <dgm:if name="Name8" axis="ch" ptType="node" func="cnt" op="gte" val="5">
            <dgm:constrLst>
              <dgm:constr type="primFontSz" for="des" ptType="node" op="equ" val="65"/>
              <dgm:constr type="w" for="ch" forName="circle1" refType="w" fact="0.0667"/>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1324"/>
              <dgm:constr type="r" for="ch" forName="text1" refType="w"/>
              <dgm:constr type="ctrY" for="ch" forName="text1" refType="h" fact="0.13"/>
              <dgm:constr type="l" for="ch" forName="line1" refType="w" fact="0.625"/>
              <dgm:constr type="ctrY" for="ch" forName="line1" refType="ctrY" refFor="ch" refForName="text1"/>
              <dgm:constr type="w" for="ch" forName="line1" refType="w" fact="0.075"/>
              <dgm:constr type="h" for="ch" forName="line1"/>
              <dgm:constr type="l" for="ch" forName="d1" refType="w" fact="0.3"/>
              <dgm:constr type="b" for="ch" forName="d1" refType="h" fact="0.625"/>
              <dgm:constr type="w" for="ch" forName="d1" refType="w" fact="0.3245"/>
              <dgm:constr type="h" for="ch" forName="d1" refType="h" fact="0.495"/>
              <dgm:constr type="w" for="ch" forName="circle2" refType="w" fact="0.2"/>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1324"/>
              <dgm:constr type="r" for="ch" forName="text2" refType="w"/>
              <dgm:constr type="ctrY" for="ch" forName="text2" refType="h" fact="0.27"/>
              <dgm:constr type="l" for="ch" forName="line2" refType="w" fact="0.625"/>
              <dgm:constr type="ctrY" for="ch" forName="line2" refType="ctrY" refFor="ch" refForName="text2"/>
              <dgm:constr type="w" for="ch" forName="line2" refType="w" fact="0.075"/>
              <dgm:constr type="h" for="ch" forName="line2"/>
              <dgm:constr type="l" for="ch" forName="d2" refType="w" fact="0.3498"/>
              <dgm:constr type="b" for="ch" forName="d2" refType="h" fact="0.682"/>
              <dgm:constr type="w" for="ch" forName="d2" refType="w" fact="0.275"/>
              <dgm:constr type="h" for="ch" forName="d2" refType="h" fact="0.41215"/>
              <dgm:constr type="w" for="ch" forName="circle3" refType="w" fact="0.3334"/>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324"/>
              <dgm:constr type="r" for="ch" forName="text3" refType="w"/>
              <dgm:constr type="ctrY" for="ch" forName="text3" refType="h" fact="0.41"/>
              <dgm:constr type="l" for="ch" forName="line3" refType="w" fact="0.625"/>
              <dgm:constr type="ctrY" for="ch" forName="line3" refType="ctrY" refFor="ch" refForName="text3"/>
              <dgm:constr type="w" for="ch" forName="line3" refType="w" fact="0.075"/>
              <dgm:constr type="h" for="ch" forName="line3"/>
              <dgm:constr type="l" for="ch" forName="d3" refType="w" fact="0.394"/>
              <dgm:constr type="b" for="ch" forName="d3" refType="h" fact="0.735"/>
              <dgm:constr type="w" for="ch" forName="d3" refType="w" fact="0.231"/>
              <dgm:constr type="h" for="ch" forName="d3" refType="h" fact="0.325"/>
              <dgm:constr type="w" for="ch" forName="circle4" refType="w" fact="0.4667"/>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324"/>
              <dgm:constr type="r" for="ch" forName="text4" refType="w"/>
              <dgm:constr type="ctrY" for="ch" forName="text4" refType="h" fact="0.547"/>
              <dgm:constr type="l" for="ch" forName="line4" refType="w" fact="0.625"/>
              <dgm:constr type="ctrY" for="ch" forName="line4" refType="ctrY" refFor="ch" refForName="text4"/>
              <dgm:constr type="w" for="ch" forName="line4" refType="w" fact="0.075"/>
              <dgm:constr type="h" for="ch" forName="line4"/>
              <dgm:constr type="l" for="ch" forName="d4" refType="w" fact="0.446"/>
              <dgm:constr type="b" for="ch" forName="d4" refType="h" fact="0.795"/>
              <dgm:constr type="w" for="ch" forName="d4" refType="w" fact="0.179"/>
              <dgm:constr type="h" for="ch" forName="d4" refType="h" fact="0.248"/>
              <dgm:constr type="w" for="ch" forName="circle5" refType="w" fact="0.6"/>
              <dgm:constr type="h" for="ch" forName="circle5" refType="w" refFor="ch" refForName="circle5"/>
              <dgm:constr type="ctrX" for="ch" forName="circle5" refType="ctrX" refFor="ch" refForName="circle1"/>
              <dgm:constr type="ctrY" for="ch" forName="circle5" refType="ctrY" refFor="ch" refForName="circle1"/>
              <dgm:constr type="w" for="ch" forName="text5" refType="w" fact="0.3"/>
              <dgm:constr type="h" for="ch" forName="text5" refType="h" fact="0.1324"/>
              <dgm:constr type="r" for="ch" forName="text5" refType="w"/>
              <dgm:constr type="ctrY" for="ch" forName="text5" refType="h" fact="0.68"/>
              <dgm:constr type="l" for="ch" forName="line5" refType="w" fact="0.625"/>
              <dgm:constr type="ctrY" for="ch" forName="line5" refType="ctrY" refFor="ch" refForName="text5"/>
              <dgm:constr type="w" for="ch" forName="line5" refType="w" fact="0.075"/>
              <dgm:constr type="h" for="ch" forName="line5"/>
              <dgm:constr type="l" for="ch" forName="d5" refType="w" fact="0.495"/>
              <dgm:constr type="b" for="ch" forName="d5" refType="h" fact="0.855"/>
              <dgm:constr type="w" for="ch" forName="d5" refType="w" fact="0.13"/>
              <dgm:constr type="h" for="ch" forName="d5" refType="h" fact="0.175"/>
            </dgm:constrLst>
          </dgm:if>
          <dgm:else name="Name9"/>
        </dgm:choose>
      </dgm:if>
      <dgm:else name="Name10">
        <dgm:choose name="Name11">
          <dgm:if name="Name12" axis="ch" ptType="node" func="cnt" op="equ" val="0">
            <dgm:constrLst/>
          </dgm:if>
          <dgm:if name="Name13" axis="ch" ptType="node" func="cnt" op="equ" val="1">
            <dgm:constrLst>
              <dgm:constr type="primFontSz" for="des" ptType="node" op="equ" val="65"/>
              <dgm:constr type="w" for="ch" forName="circle1" refType="w" fact="0.6"/>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3125"/>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75"/>
              <dgm:constr type="h" for="ch" forName="d1" refType="h" fact="0.469"/>
            </dgm:constrLst>
          </dgm:if>
          <dgm:if name="Name14" axis="ch" ptType="node" func="cnt" op="equ" val="2">
            <dgm:constrLst>
              <dgm:constr type="primFontSz" for="des" ptType="node" op="equ" val="65"/>
              <dgm:constr type="w" for="ch" forName="circle1" refType="w" fact="0.2"/>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3125"/>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75"/>
              <dgm:constr type="h" for="ch" forName="d1" refType="h" fact="0.469"/>
              <dgm:constr type="w" for="ch" forName="circle2" refType="w" fact="0.6"/>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3125"/>
              <dgm:constr type="l" for="ch" forName="text2"/>
              <dgm:constr type="t" for="ch" forName="text2" refType="b" refFor="ch" refForName="text1"/>
              <dgm:constr type="l" for="ch" forName="line2" refType="r" refFor="ch" refForName="text2"/>
              <dgm:constr type="ctrY" for="ch" forName="line2" refType="ctrY" refFor="ch" refForName="text2"/>
              <dgm:constr type="r" for="ch" forName="line2" refType="w" fact="0.375"/>
              <dgm:constr type="h" for="ch" forName="line2"/>
              <dgm:constr type="r" for="ch" forName="d2" refType="w" fact="0.55675"/>
              <dgm:constr type="b" for="ch" forName="d2" refType="h" fact="0.7975"/>
              <dgm:constr type="w" for="ch" forName="d2" refType="w" fact="0.1815"/>
              <dgm:constr type="h" for="ch" forName="d2" refType="h" fact="0.3283"/>
            </dgm:constrLst>
          </dgm:if>
          <dgm:if name="Name15" axis="ch" ptType="node" func="cnt" op="equ" val="3">
            <dgm:constrLst>
              <dgm:constr type="primFontSz" for="des" ptType="node" op="equ" val="65"/>
              <dgm:constr type="w" for="ch" forName="circle1" refType="w" fact="0.12"/>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21875"/>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7"/>
              <dgm:constr type="h" for="ch" forName="d1" refType="h" fact="0.5155"/>
              <dgm:constr type="w" for="ch" forName="circle2" refType="w" fact="0.36"/>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21875"/>
              <dgm:constr type="l" for="ch" forName="text2"/>
              <dgm:constr type="t" for="ch" forName="text2" refType="b" refFor="ch" refForName="text1"/>
              <dgm:constr type="l" for="ch" forName="line2" refType="r" refFor="ch" refForName="text2"/>
              <dgm:constr type="ctrY" for="ch" forName="line2" refType="ctrY" refFor="ch" refForName="text2"/>
              <dgm:constr type="r" for="ch" forName="line2" refType="w" fact="0.375"/>
              <dgm:constr type="h" for="ch" forName="line2"/>
              <dgm:constr type="r" for="ch" forName="d2" refType="w" fact="0.614"/>
              <dgm:constr type="b" for="ch" forName="d2" refType="h" fact="0.72969"/>
              <dgm:constr type="w" for="ch" forName="d2" refType="w" fact="0.2387"/>
              <dgm:constr type="h" for="ch" forName="d2" refType="h" fact="0.4017"/>
              <dgm:constr type="w" for="ch" forName="circle3" refType="w" fact="0.6"/>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21875"/>
              <dgm:constr type="l" for="ch" forName="text3"/>
              <dgm:constr type="t" for="ch" forName="text3" refType="b" refFor="ch" refForName="text2"/>
              <dgm:constr type="l" for="ch" forName="line3" refType="r" refFor="ch" refForName="text3"/>
              <dgm:constr type="ctrY" for="ch" forName="line3" refType="ctrY" refFor="ch" refForName="text3"/>
              <dgm:constr type="r" for="ch" forName="line3" refType="w" fact="0.375"/>
              <dgm:constr type="h" for="ch" forName="line3"/>
              <dgm:constr type="r" for="ch" forName="d3" refType="w" fact="0.52825"/>
              <dgm:constr type="b" for="ch" forName="d3" refType="h" fact="0.83375"/>
              <dgm:constr type="w" for="ch" forName="d3" refType="w" fact="0.1527"/>
              <dgm:constr type="h" for="ch" forName="d3" refType="h" fact="0.287"/>
            </dgm:constrLst>
          </dgm:if>
          <dgm:if name="Name16" axis="ch" ptType="node" func="cnt" op="equ" val="4">
            <dgm:constrLst>
              <dgm:constr type="primFontSz" for="des" ptType="node" op="equ" val="65"/>
              <dgm:constr type="w" for="ch" forName="circle1" refType="w" fact="0.0857"/>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17938"/>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05"/>
              <dgm:constr type="b" for="ch" forName="d1" refType="h" fact="0.62"/>
              <dgm:constr type="w" for="ch" forName="d1" refType="w" fact="0.33"/>
              <dgm:constr type="h" for="ch" forName="d1" refType="h" fact="0.53"/>
              <dgm:constr type="w" for="ch" forName="circle2" refType="w" fact="0.2571"/>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17938"/>
              <dgm:constr type="l" for="ch" forName="text2"/>
              <dgm:constr type="t" for="ch" forName="text2" refType="b" refFor="ch" refForName="text1"/>
              <dgm:constr type="l" for="ch" forName="line2" refType="r" refFor="ch" refForName="text2"/>
              <dgm:constr type="ctrY" for="ch" forName="line2" refType="ctrY" refFor="ch" refForName="text2"/>
              <dgm:constr type="r" for="ch" forName="line2" refType="w" fact="0.375"/>
              <dgm:constr type="h" for="ch" forName="line2"/>
              <dgm:constr type="r" for="ch" forName="d2" refType="w" fact="0.63375"/>
              <dgm:constr type="b" for="ch" forName="d2" refType="h" fact="0.70438"/>
              <dgm:constr type="w" for="ch" forName="d2" refType="w" fact="0.2585"/>
              <dgm:constr type="h" for="ch" forName="d2" refType="h" fact="0.43525"/>
              <dgm:constr type="w" for="ch" forName="circle3" refType="w" fact="0.4285"/>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7938"/>
              <dgm:constr type="l" for="ch" forName="text3"/>
              <dgm:constr type="t" for="ch" forName="text3" refType="b" refFor="ch" refForName="text2"/>
              <dgm:constr type="l" for="ch" forName="line3" refType="r" refFor="ch" refForName="text3"/>
              <dgm:constr type="ctrY" for="ch" forName="line3" refType="ctrY" refFor="ch" refForName="text3"/>
              <dgm:constr type="r" for="ch" forName="line3" refType="w" fact="0.375"/>
              <dgm:constr type="h" for="ch" forName="line3"/>
              <dgm:constr type="r" for="ch" forName="d3" refType="w" fact="0.5745"/>
              <dgm:constr type="b" for="ch" forName="d3" refType="h" fact="0.78031"/>
              <dgm:constr type="w" for="ch" forName="d3" refType="w" fact="0.1995"/>
              <dgm:constr type="h" for="ch" forName="d3" refType="h" fact="0.332"/>
              <dgm:constr type="w" for="ch" forName="circle4" refType="w" fact="0.6"/>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7938"/>
              <dgm:constr type="l" for="ch" forName="text4"/>
              <dgm:constr type="t" for="ch" forName="text4" refType="b" refFor="ch" refForName="text3"/>
              <dgm:constr type="l" for="ch" forName="line4" refType="r" refFor="ch" refForName="text4"/>
              <dgm:constr type="ctrY" for="ch" forName="line4" refType="ctrY" refFor="ch" refForName="text4"/>
              <dgm:constr type="r" for="ch" forName="line4" refType="w" fact="0.375"/>
              <dgm:constr type="h" for="ch" forName="line4"/>
              <dgm:constr type="r" for="ch" forName="d4" refType="w" fact="0.51475"/>
              <dgm:constr type="b" for="ch" forName="d4" refType="h" fact="0.85594"/>
              <dgm:constr type="w" for="ch" forName="d4" refType="w" fact="0.1394"/>
              <dgm:constr type="h" for="ch" forName="d4" refType="h" fact="0.2282"/>
            </dgm:constrLst>
          </dgm:if>
          <dgm:if name="Name17" axis="ch" ptType="node" func="cnt" op="gte" val="5">
            <dgm:constrLst>
              <dgm:constr type="primFontSz" for="des" ptType="node" op="equ" val="65"/>
              <dgm:constr type="w" for="ch" forName="circle1" refType="w" fact="0.0667"/>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1324"/>
              <dgm:constr type="l" for="ch" forName="text1"/>
              <dgm:constr type="ctrY" for="ch" forName="text1" refType="h" fact="0.13"/>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5"/>
              <dgm:constr type="h" for="ch" forName="d1" refType="h" fact="0.495"/>
              <dgm:constr type="w" for="ch" forName="circle2" refType="w" fact="0.2"/>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1324"/>
              <dgm:constr type="l" for="ch" forName="text2"/>
              <dgm:constr type="ctrY" for="ch" forName="text2" refType="h" fact="0.27"/>
              <dgm:constr type="l" for="ch" forName="line2" refType="r" refFor="ch" refForName="text2"/>
              <dgm:constr type="ctrY" for="ch" forName="line2" refType="ctrY" refFor="ch" refForName="text2"/>
              <dgm:constr type="r" for="ch" forName="line2" refType="w" fact="0.375"/>
              <dgm:constr type="h" for="ch" forName="line2"/>
              <dgm:constr type="r" for="ch" forName="d2" refType="w" fact="0.6502"/>
              <dgm:constr type="b" for="ch" forName="d2" refType="h" fact="0.682"/>
              <dgm:constr type="w" for="ch" forName="d2" refType="w" fact="0.275"/>
              <dgm:constr type="h" for="ch" forName="d2" refType="h" fact="0.41215"/>
              <dgm:constr type="w" for="ch" forName="circle3" refType="w" fact="0.3334"/>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324"/>
              <dgm:constr type="l" for="ch" forName="text3"/>
              <dgm:constr type="ctrY" for="ch" forName="text3" refType="h" fact="0.41"/>
              <dgm:constr type="l" for="ch" forName="line3" refType="r" refFor="ch" refForName="text3"/>
              <dgm:constr type="ctrY" for="ch" forName="line3" refType="ctrY" refFor="ch" refForName="text3"/>
              <dgm:constr type="r" for="ch" forName="line3" refType="w" fact="0.375"/>
              <dgm:constr type="h" for="ch" forName="line3"/>
              <dgm:constr type="r" for="ch" forName="d3" refType="w" fact="0.606"/>
              <dgm:constr type="b" for="ch" forName="d3" refType="h" fact="0.735"/>
              <dgm:constr type="w" for="ch" forName="d3" refType="w" fact="0.231"/>
              <dgm:constr type="h" for="ch" forName="d3" refType="h" fact="0.325"/>
              <dgm:constr type="w" for="ch" forName="circle4" refType="w" fact="0.4667"/>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324"/>
              <dgm:constr type="l" for="ch" forName="text4"/>
              <dgm:constr type="ctrY" for="ch" forName="text4" refType="h" fact="0.547"/>
              <dgm:constr type="l" for="ch" forName="line4" refType="r" refFor="ch" refForName="text4"/>
              <dgm:constr type="ctrY" for="ch" forName="line4" refType="ctrY" refFor="ch" refForName="text4"/>
              <dgm:constr type="r" for="ch" forName="line4" refType="w" fact="0.375"/>
              <dgm:constr type="h" for="ch" forName="line4"/>
              <dgm:constr type="r" for="ch" forName="d4" refType="w" fact="0.554"/>
              <dgm:constr type="b" for="ch" forName="d4" refType="h" fact="0.795"/>
              <dgm:constr type="w" for="ch" forName="d4" refType="w" fact="0.179"/>
              <dgm:constr type="h" for="ch" forName="d4" refType="h" fact="0.248"/>
              <dgm:constr type="w" for="ch" forName="circle5" refType="w" fact="0.6"/>
              <dgm:constr type="h" for="ch" forName="circle5" refType="w" refFor="ch" refForName="circle5"/>
              <dgm:constr type="ctrX" for="ch" forName="circle5" refType="ctrX" refFor="ch" refForName="circle1"/>
              <dgm:constr type="ctrY" for="ch" forName="circle5" refType="ctrY" refFor="ch" refForName="circle1"/>
              <dgm:constr type="w" for="ch" forName="text5" refType="w" fact="0.3"/>
              <dgm:constr type="h" for="ch" forName="text5" refType="h" fact="0.1324"/>
              <dgm:constr type="l" for="ch" forName="text5"/>
              <dgm:constr type="ctrY" for="ch" forName="text5" refType="h" fact="0.68"/>
              <dgm:constr type="l" for="ch" forName="line5" refType="r" refFor="ch" refForName="text5"/>
              <dgm:constr type="ctrY" for="ch" forName="line5" refType="ctrY" refFor="ch" refForName="text5"/>
              <dgm:constr type="r" for="ch" forName="line5" refType="w" fact="0.375"/>
              <dgm:constr type="h" for="ch" forName="line5"/>
              <dgm:constr type="r" for="ch" forName="d5" refType="w" fact="0.505"/>
              <dgm:constr type="b" for="ch" forName="d5" refType="h" fact="0.855"/>
              <dgm:constr type="w" for="ch" forName="d5" refType="w" fact="0.13"/>
              <dgm:constr type="h" for="ch" forName="d5" refType="h" fact="0.175"/>
            </dgm:constrLst>
          </dgm:if>
          <dgm:else name="Name18"/>
        </dgm:choose>
      </dgm:else>
    </dgm:choose>
    <dgm:ruleLst/>
    <dgm:forEach name="Name19" axis="ch" ptType="node" cnt="1">
      <dgm:layoutNode name="circle1" styleLbl="lnNode1">
        <dgm:alg type="sp"/>
        <dgm:shape xmlns:r="http://schemas.openxmlformats.org/officeDocument/2006/relationships" type="ellipse" r:blip="">
          <dgm:adjLst/>
        </dgm:shape>
        <dgm:presOf/>
        <dgm:constrLst/>
        <dgm:ruleLst/>
      </dgm:layoutNode>
      <dgm:layoutNode name="text1" styleLbl="revTx">
        <dgm:varLst>
          <dgm:bulletEnabled val="1"/>
        </dgm:varLst>
        <dgm:choose name="Name20">
          <dgm:if name="Name21" func="var" arg="dir" op="equ" val="norm">
            <dgm:choose name="Name22">
              <dgm:if name="Name23" axis="root des" ptType="all node" func="maxDepth" op="gt" val="1">
                <dgm:alg type="tx">
                  <dgm:param type="parTxLTRAlign" val="l"/>
                  <dgm:param type="parTxRTLAlign" val="r"/>
                </dgm:alg>
              </dgm:if>
              <dgm:else name="Name24">
                <dgm:alg type="tx">
                  <dgm:param type="parTxLTRAlign" val="l"/>
                  <dgm:param type="parTxRTLAlign" val="l"/>
                </dgm:alg>
              </dgm:else>
            </dgm:choose>
          </dgm:if>
          <dgm:else name="Name25">
            <dgm:choose name="Name26">
              <dgm:if name="Name27" axis="root des" ptType="all node" func="maxDepth" op="gt" val="1">
                <dgm:alg type="tx">
                  <dgm:param type="parTxLTRAlign" val="l"/>
                  <dgm:param type="parTxRTLAlign" val="r"/>
                </dgm:alg>
              </dgm:if>
              <dgm:else name="Name28">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29">
          <dgm:if name="Name30" func="var" arg="dir" op="equ" val="norm">
            <dgm:constrLst>
              <dgm:constr type="tMarg" refType="primFontSz" fact="0.1"/>
              <dgm:constr type="bMarg" refType="primFontSz" fact="0.1"/>
              <dgm:constr type="rMarg" refType="primFontSz" fact="0.1"/>
            </dgm:constrLst>
          </dgm:if>
          <dgm:else name="Name31">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1" styleLbl="callout">
        <dgm:alg type="sp"/>
        <dgm:shape xmlns:r="http://schemas.openxmlformats.org/officeDocument/2006/relationships" type="line" r:blip="">
          <dgm:adjLst/>
        </dgm:shape>
        <dgm:presOf/>
        <dgm:constrLst/>
        <dgm:ruleLst/>
      </dgm:layoutNode>
      <dgm:layoutNode name="d1" styleLbl="callout">
        <dgm:alg type="sp"/>
        <dgm:choose name="Name32">
          <dgm:if name="Name33" func="var" arg="dir" op="equ" val="norm">
            <dgm:shape xmlns:r="http://schemas.openxmlformats.org/officeDocument/2006/relationships" rot="90" type="line" r:blip="">
              <dgm:adjLst/>
            </dgm:shape>
          </dgm:if>
          <dgm:else name="Name34">
            <dgm:shape xmlns:r="http://schemas.openxmlformats.org/officeDocument/2006/relationships" rot="180" type="line" r:blip="">
              <dgm:adjLst/>
            </dgm:shape>
          </dgm:else>
        </dgm:choose>
        <dgm:presOf/>
        <dgm:constrLst/>
        <dgm:ruleLst/>
      </dgm:layoutNode>
    </dgm:forEach>
    <dgm:forEach name="Name35" axis="ch" ptType="node" st="2" cnt="1">
      <dgm:layoutNode name="circle2" styleLbl="lnNode1">
        <dgm:alg type="sp"/>
        <dgm:shape xmlns:r="http://schemas.openxmlformats.org/officeDocument/2006/relationships" type="ellipse" r:blip="" zOrderOff="-5">
          <dgm:adjLst/>
        </dgm:shape>
        <dgm:presOf/>
        <dgm:constrLst/>
        <dgm:ruleLst/>
      </dgm:layoutNode>
      <dgm:layoutNode name="text2" styleLbl="revTx">
        <dgm:varLst>
          <dgm:bulletEnabled val="1"/>
        </dgm:varLst>
        <dgm:choose name="Name36">
          <dgm:if name="Name37" func="var" arg="dir" op="equ" val="norm">
            <dgm:choose name="Name38">
              <dgm:if name="Name39" axis="root des" ptType="all node" func="maxDepth" op="gt" val="1">
                <dgm:alg type="tx">
                  <dgm:param type="parTxLTRAlign" val="l"/>
                  <dgm:param type="parTxRTLAlign" val="r"/>
                </dgm:alg>
              </dgm:if>
              <dgm:else name="Name40">
                <dgm:alg type="tx">
                  <dgm:param type="parTxLTRAlign" val="l"/>
                  <dgm:param type="parTxRTLAlign" val="l"/>
                </dgm:alg>
              </dgm:else>
            </dgm:choose>
          </dgm:if>
          <dgm:else name="Name41">
            <dgm:choose name="Name42">
              <dgm:if name="Name43" axis="root des" ptType="all node" func="maxDepth" op="gt" val="1">
                <dgm:alg type="tx">
                  <dgm:param type="parTxLTRAlign" val="l"/>
                  <dgm:param type="parTxRTLAlign" val="r"/>
                </dgm:alg>
              </dgm:if>
              <dgm:else name="Name44">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45">
          <dgm:if name="Name46" func="var" arg="dir" op="equ" val="norm">
            <dgm:constrLst>
              <dgm:constr type="tMarg" refType="primFontSz" fact="0.1"/>
              <dgm:constr type="bMarg" refType="primFontSz" fact="0.1"/>
              <dgm:constr type="rMarg" refType="primFontSz" fact="0.1"/>
            </dgm:constrLst>
          </dgm:if>
          <dgm:else name="Name47">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2" styleLbl="callout">
        <dgm:alg type="sp"/>
        <dgm:shape xmlns:r="http://schemas.openxmlformats.org/officeDocument/2006/relationships" type="line" r:blip="">
          <dgm:adjLst/>
        </dgm:shape>
        <dgm:presOf/>
        <dgm:constrLst/>
        <dgm:ruleLst/>
      </dgm:layoutNode>
      <dgm:layoutNode name="d2" styleLbl="callout">
        <dgm:alg type="sp"/>
        <dgm:choose name="Name48">
          <dgm:if name="Name49" func="var" arg="dir" op="equ" val="norm">
            <dgm:shape xmlns:r="http://schemas.openxmlformats.org/officeDocument/2006/relationships" rot="90" type="line" r:blip="">
              <dgm:adjLst/>
            </dgm:shape>
          </dgm:if>
          <dgm:else name="Name50">
            <dgm:shape xmlns:r="http://schemas.openxmlformats.org/officeDocument/2006/relationships" rot="180" type="line" r:blip="">
              <dgm:adjLst/>
            </dgm:shape>
          </dgm:else>
        </dgm:choose>
        <dgm:presOf/>
        <dgm:constrLst/>
        <dgm:ruleLst/>
      </dgm:layoutNode>
    </dgm:forEach>
    <dgm:forEach name="Name51" axis="ch" ptType="node" st="3" cnt="1">
      <dgm:layoutNode name="circle3" styleLbl="lnNode1">
        <dgm:alg type="sp"/>
        <dgm:shape xmlns:r="http://schemas.openxmlformats.org/officeDocument/2006/relationships" type="ellipse" r:blip="" zOrderOff="-10">
          <dgm:adjLst/>
        </dgm:shape>
        <dgm:presOf/>
        <dgm:constrLst/>
        <dgm:ruleLst/>
      </dgm:layoutNode>
      <dgm:layoutNode name="text3" styleLbl="revTx">
        <dgm:varLst>
          <dgm:bulletEnabled val="1"/>
        </dgm:varLst>
        <dgm:choose name="Name52">
          <dgm:if name="Name53" func="var" arg="dir" op="equ" val="norm">
            <dgm:choose name="Name54">
              <dgm:if name="Name55" axis="root des" ptType="all node" func="maxDepth" op="gt" val="1">
                <dgm:alg type="tx">
                  <dgm:param type="parTxLTRAlign" val="l"/>
                  <dgm:param type="parTxRTLAlign" val="r"/>
                </dgm:alg>
              </dgm:if>
              <dgm:else name="Name56">
                <dgm:alg type="tx">
                  <dgm:param type="parTxLTRAlign" val="l"/>
                  <dgm:param type="parTxRTLAlign" val="l"/>
                </dgm:alg>
              </dgm:else>
            </dgm:choose>
          </dgm:if>
          <dgm:else name="Name57">
            <dgm:choose name="Name58">
              <dgm:if name="Name59" axis="root des" ptType="all node" func="maxDepth" op="gt" val="1">
                <dgm:alg type="tx">
                  <dgm:param type="parTxLTRAlign" val="l"/>
                  <dgm:param type="parTxRTLAlign" val="r"/>
                </dgm:alg>
              </dgm:if>
              <dgm:else name="Name60">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61">
          <dgm:if name="Name62" func="var" arg="dir" op="equ" val="norm">
            <dgm:constrLst>
              <dgm:constr type="tMarg" refType="primFontSz" fact="0.1"/>
              <dgm:constr type="bMarg" refType="primFontSz" fact="0.1"/>
              <dgm:constr type="rMarg" refType="primFontSz" fact="0.1"/>
            </dgm:constrLst>
          </dgm:if>
          <dgm:else name="Name63">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3" styleLbl="callout">
        <dgm:alg type="sp"/>
        <dgm:shape xmlns:r="http://schemas.openxmlformats.org/officeDocument/2006/relationships" type="line" r:blip="">
          <dgm:adjLst/>
        </dgm:shape>
        <dgm:presOf/>
        <dgm:constrLst/>
        <dgm:ruleLst/>
      </dgm:layoutNode>
      <dgm:layoutNode name="d3" styleLbl="callout">
        <dgm:alg type="sp"/>
        <dgm:choose name="Name64">
          <dgm:if name="Name65" func="var" arg="dir" op="equ" val="norm">
            <dgm:shape xmlns:r="http://schemas.openxmlformats.org/officeDocument/2006/relationships" rot="90" type="line" r:blip="">
              <dgm:adjLst/>
            </dgm:shape>
          </dgm:if>
          <dgm:else name="Name66">
            <dgm:shape xmlns:r="http://schemas.openxmlformats.org/officeDocument/2006/relationships" rot="180" type="line" r:blip="">
              <dgm:adjLst/>
            </dgm:shape>
          </dgm:else>
        </dgm:choose>
        <dgm:presOf/>
        <dgm:constrLst/>
        <dgm:ruleLst/>
      </dgm:layoutNode>
    </dgm:forEach>
    <dgm:forEach name="Name67" axis="ch" ptType="node" st="4" cnt="1">
      <dgm:layoutNode name="circle4" styleLbl="lnNode1">
        <dgm:alg type="sp"/>
        <dgm:shape xmlns:r="http://schemas.openxmlformats.org/officeDocument/2006/relationships" type="ellipse" r:blip="" zOrderOff="-15">
          <dgm:adjLst/>
        </dgm:shape>
        <dgm:presOf/>
        <dgm:constrLst/>
        <dgm:ruleLst/>
      </dgm:layoutNode>
      <dgm:layoutNode name="text4" styleLbl="revTx">
        <dgm:varLst>
          <dgm:bulletEnabled val="1"/>
        </dgm:varLst>
        <dgm:choose name="Name68">
          <dgm:if name="Name69" func="var" arg="dir" op="equ" val="norm">
            <dgm:choose name="Name70">
              <dgm:if name="Name71" axis="root des" ptType="all node" func="maxDepth" op="gt" val="1">
                <dgm:alg type="tx">
                  <dgm:param type="parTxLTRAlign" val="l"/>
                  <dgm:param type="parTxRTLAlign" val="r"/>
                </dgm:alg>
              </dgm:if>
              <dgm:else name="Name72">
                <dgm:alg type="tx">
                  <dgm:param type="parTxLTRAlign" val="l"/>
                  <dgm:param type="parTxRTLAlign" val="l"/>
                </dgm:alg>
              </dgm:else>
            </dgm:choose>
          </dgm:if>
          <dgm:else name="Name73">
            <dgm:choose name="Name74">
              <dgm:if name="Name75" axis="root des" ptType="all node" func="maxDepth" op="gt" val="1">
                <dgm:alg type="tx">
                  <dgm:param type="parTxLTRAlign" val="l"/>
                  <dgm:param type="parTxRTLAlign" val="r"/>
                </dgm:alg>
              </dgm:if>
              <dgm:else name="Name76">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77">
          <dgm:if name="Name78" func="var" arg="dir" op="equ" val="norm">
            <dgm:constrLst>
              <dgm:constr type="tMarg" refType="primFontSz" fact="0.1"/>
              <dgm:constr type="bMarg" refType="primFontSz" fact="0.1"/>
              <dgm:constr type="rMarg" refType="primFontSz" fact="0.1"/>
            </dgm:constrLst>
          </dgm:if>
          <dgm:else name="Name79">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4" styleLbl="callout">
        <dgm:alg type="sp"/>
        <dgm:shape xmlns:r="http://schemas.openxmlformats.org/officeDocument/2006/relationships" type="line" r:blip="">
          <dgm:adjLst/>
        </dgm:shape>
        <dgm:presOf/>
        <dgm:constrLst/>
        <dgm:ruleLst/>
      </dgm:layoutNode>
      <dgm:layoutNode name="d4" styleLbl="callout">
        <dgm:alg type="sp"/>
        <dgm:choose name="Name80">
          <dgm:if name="Name81" func="var" arg="dir" op="equ" val="norm">
            <dgm:shape xmlns:r="http://schemas.openxmlformats.org/officeDocument/2006/relationships" rot="90" type="line" r:blip="">
              <dgm:adjLst/>
            </dgm:shape>
          </dgm:if>
          <dgm:else name="Name82">
            <dgm:shape xmlns:r="http://schemas.openxmlformats.org/officeDocument/2006/relationships" rot="180" type="line" r:blip="">
              <dgm:adjLst/>
            </dgm:shape>
          </dgm:else>
        </dgm:choose>
        <dgm:presOf/>
        <dgm:constrLst/>
        <dgm:ruleLst/>
      </dgm:layoutNode>
    </dgm:forEach>
    <dgm:forEach name="Name83" axis="ch" ptType="node" st="5" cnt="1">
      <dgm:layoutNode name="circle5" styleLbl="lnNode1">
        <dgm:alg type="sp"/>
        <dgm:shape xmlns:r="http://schemas.openxmlformats.org/officeDocument/2006/relationships" type="ellipse" r:blip="" zOrderOff="-20">
          <dgm:adjLst/>
        </dgm:shape>
        <dgm:presOf/>
        <dgm:constrLst/>
        <dgm:ruleLst/>
      </dgm:layoutNode>
      <dgm:layoutNode name="text5" styleLbl="revTx">
        <dgm:varLst>
          <dgm:bulletEnabled val="1"/>
        </dgm:varLst>
        <dgm:choose name="Name84">
          <dgm:if name="Name85" func="var" arg="dir" op="equ" val="norm">
            <dgm:choose name="Name86">
              <dgm:if name="Name87" axis="root des" ptType="all node" func="maxDepth" op="gt" val="1">
                <dgm:alg type="tx">
                  <dgm:param type="parTxLTRAlign" val="l"/>
                  <dgm:param type="parTxRTLAlign" val="r"/>
                </dgm:alg>
              </dgm:if>
              <dgm:else name="Name88">
                <dgm:alg type="tx">
                  <dgm:param type="parTxLTRAlign" val="l"/>
                  <dgm:param type="parTxRTLAlign" val="l"/>
                </dgm:alg>
              </dgm:else>
            </dgm:choose>
          </dgm:if>
          <dgm:else name="Name89">
            <dgm:choose name="Name90">
              <dgm:if name="Name91" axis="root des" ptType="all node" func="maxDepth" op="gt" val="1">
                <dgm:alg type="tx">
                  <dgm:param type="parTxLTRAlign" val="l"/>
                  <dgm:param type="parTxRTLAlign" val="r"/>
                </dgm:alg>
              </dgm:if>
              <dgm:else name="Name92">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tMarg" refType="primFontSz" fact="0.1"/>
              <dgm:constr type="bMarg" refType="primFontSz" fact="0.1"/>
              <dgm:constr type="rMarg" refType="primFontSz" fact="0.1"/>
            </dgm:constrLst>
          </dgm:if>
          <dgm:else name="Name95">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5" styleLbl="callout">
        <dgm:alg type="sp"/>
        <dgm:shape xmlns:r="http://schemas.openxmlformats.org/officeDocument/2006/relationships" type="line" r:blip="">
          <dgm:adjLst/>
        </dgm:shape>
        <dgm:presOf/>
        <dgm:constrLst/>
        <dgm:ruleLst/>
      </dgm:layoutNode>
      <dgm:layoutNode name="d5" styleLbl="callout">
        <dgm:alg type="sp"/>
        <dgm:choose name="Name96">
          <dgm:if name="Name97" func="var" arg="dir" op="equ" val="norm">
            <dgm:shape xmlns:r="http://schemas.openxmlformats.org/officeDocument/2006/relationships" rot="90" type="line" r:blip="">
              <dgm:adjLst/>
            </dgm:shape>
          </dgm:if>
          <dgm:else name="Name98">
            <dgm:shape xmlns:r="http://schemas.openxmlformats.org/officeDocument/2006/relationships" rot="180" type="line" r:blip="">
              <dgm:adjLst/>
            </dgm:shape>
          </dgm:else>
        </dgm:choose>
        <dgm:presOf/>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none" lIns="90000" tIns="46800" rIns="90000" bIns="46800" numCol="1" anchor="ctr" anchorCtr="0" compatLnSpc="1">
            <a:prstTxWarp prst="textNoShape">
              <a:avLst/>
            </a:prstTxWarp>
          </a:bodyPr>
          <a:lstStyle>
            <a:lvl1pPr>
              <a:defRPr sz="1200">
                <a:latin typeface="Arial" pitchFamily="-110" charset="0"/>
              </a:defRPr>
            </a:lvl1pPr>
          </a:lstStyle>
          <a:p>
            <a:endParaRPr lang="en-US" dirty="0"/>
          </a:p>
        </p:txBody>
      </p:sp>
      <p:sp>
        <p:nvSpPr>
          <p:cNvPr id="5939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none" lIns="90000" tIns="46800" rIns="90000" bIns="46800" numCol="1" anchor="ctr" anchorCtr="0" compatLnSpc="1">
            <a:prstTxWarp prst="textNoShape">
              <a:avLst/>
            </a:prstTxWarp>
          </a:bodyPr>
          <a:lstStyle>
            <a:lvl1pPr algn="r">
              <a:defRPr sz="1200">
                <a:latin typeface="Arial" pitchFamily="-110" charset="0"/>
              </a:defRPr>
            </a:lvl1pPr>
          </a:lstStyle>
          <a:p>
            <a:endParaRPr lang="en-US" dirty="0"/>
          </a:p>
        </p:txBody>
      </p:sp>
      <p:sp>
        <p:nvSpPr>
          <p:cNvPr id="5939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none" lIns="90000" tIns="46800" rIns="90000" bIns="46800" numCol="1" anchor="b" anchorCtr="0" compatLnSpc="1">
            <a:prstTxWarp prst="textNoShape">
              <a:avLst/>
            </a:prstTxWarp>
          </a:bodyPr>
          <a:lstStyle>
            <a:lvl1pPr>
              <a:defRPr sz="1200">
                <a:latin typeface="Arial" pitchFamily="-110" charset="0"/>
              </a:defRPr>
            </a:lvl1pPr>
          </a:lstStyle>
          <a:p>
            <a:endParaRPr lang="en-US" dirty="0"/>
          </a:p>
        </p:txBody>
      </p:sp>
      <p:sp>
        <p:nvSpPr>
          <p:cNvPr id="5939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none" lIns="90000" tIns="46800" rIns="90000" bIns="46800" numCol="1" anchor="b" anchorCtr="0" compatLnSpc="1">
            <a:prstTxWarp prst="textNoShape">
              <a:avLst/>
            </a:prstTxWarp>
          </a:bodyPr>
          <a:lstStyle>
            <a:lvl1pPr algn="r">
              <a:defRPr sz="1200">
                <a:latin typeface="Arial" pitchFamily="-110" charset="0"/>
              </a:defRPr>
            </a:lvl1pPr>
          </a:lstStyle>
          <a:p>
            <a:fld id="{4F817154-EF57-E447-B272-3CC33A38C6FD}" type="slidenum">
              <a:rPr lang="en-US"/>
              <a:pPr/>
              <a:t>‹#›</a:t>
            </a:fld>
            <a:endParaRPr lang="en-US" dirty="0"/>
          </a:p>
        </p:txBody>
      </p:sp>
    </p:spTree>
    <p:extLst>
      <p:ext uri="{BB962C8B-B14F-4D97-AF65-F5344CB8AC3E}">
        <p14:creationId xmlns:p14="http://schemas.microsoft.com/office/powerpoint/2010/main" val="40629201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837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none" lIns="90000" tIns="46800" rIns="90000" bIns="46800" numCol="1" anchor="ctr" anchorCtr="0" compatLnSpc="1">
            <a:prstTxWarp prst="textNoShape">
              <a:avLst/>
            </a:prstTxWarp>
          </a:bodyPr>
          <a:lstStyle>
            <a:lvl1pPr>
              <a:defRPr sz="1200">
                <a:latin typeface="Arial" pitchFamily="-110" charset="0"/>
              </a:defRPr>
            </a:lvl1pPr>
          </a:lstStyle>
          <a:p>
            <a:endParaRPr lang="en-US" dirty="0"/>
          </a:p>
        </p:txBody>
      </p:sp>
      <p:sp>
        <p:nvSpPr>
          <p:cNvPr id="58371"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none" lIns="90000" tIns="46800" rIns="90000" bIns="46800" numCol="1" anchor="ctr" anchorCtr="0" compatLnSpc="1">
            <a:prstTxWarp prst="textNoShape">
              <a:avLst/>
            </a:prstTxWarp>
          </a:bodyPr>
          <a:lstStyle>
            <a:lvl1pPr algn="r">
              <a:defRPr sz="1200">
                <a:latin typeface="Arial" pitchFamily="-110" charset="0"/>
              </a:defRPr>
            </a:lvl1pPr>
          </a:lstStyle>
          <a:p>
            <a:endParaRPr lang="en-US" dirty="0"/>
          </a:p>
        </p:txBody>
      </p:sp>
      <p:sp>
        <p:nvSpPr>
          <p:cNvPr id="5837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58373"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none" lIns="90000" tIns="46800" rIns="90000" bIns="46800" numCol="1" anchor="ctr"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8374"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none" lIns="90000" tIns="46800" rIns="90000" bIns="46800" numCol="1" anchor="b" anchorCtr="0" compatLnSpc="1">
            <a:prstTxWarp prst="textNoShape">
              <a:avLst/>
            </a:prstTxWarp>
          </a:bodyPr>
          <a:lstStyle>
            <a:lvl1pPr>
              <a:defRPr sz="1200">
                <a:latin typeface="Arial" pitchFamily="-110" charset="0"/>
              </a:defRPr>
            </a:lvl1pPr>
          </a:lstStyle>
          <a:p>
            <a:endParaRPr lang="en-US" dirty="0"/>
          </a:p>
        </p:txBody>
      </p:sp>
      <p:sp>
        <p:nvSpPr>
          <p:cNvPr id="58375"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none" lIns="90000" tIns="46800" rIns="90000" bIns="46800" numCol="1" anchor="b" anchorCtr="0" compatLnSpc="1">
            <a:prstTxWarp prst="textNoShape">
              <a:avLst/>
            </a:prstTxWarp>
          </a:bodyPr>
          <a:lstStyle>
            <a:lvl1pPr algn="r">
              <a:defRPr sz="1200">
                <a:latin typeface="Arial" pitchFamily="-110" charset="0"/>
              </a:defRPr>
            </a:lvl1pPr>
          </a:lstStyle>
          <a:p>
            <a:fld id="{FDEEBCE0-4A34-3647-9307-E59F6D6CD745}" type="slidenum">
              <a:rPr lang="en-US"/>
              <a:pPr/>
              <a:t>‹#›</a:t>
            </a:fld>
            <a:endParaRPr lang="en-US" dirty="0"/>
          </a:p>
        </p:txBody>
      </p:sp>
    </p:spTree>
    <p:extLst>
      <p:ext uri="{BB962C8B-B14F-4D97-AF65-F5344CB8AC3E}">
        <p14:creationId xmlns:p14="http://schemas.microsoft.com/office/powerpoint/2010/main" val="368272268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10"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10" charset="0"/>
        <a:ea typeface="ＭＳ Ｐゴシック" pitchFamily="-110" charset="-128"/>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10" charset="0"/>
        <a:ea typeface="ＭＳ Ｐゴシック" pitchFamily="-110" charset="-128"/>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10" charset="0"/>
        <a:ea typeface="ＭＳ Ｐゴシック" pitchFamily="-110" charset="-128"/>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10" charset="0"/>
        <a:ea typeface="ＭＳ Ｐゴシック" pitchFamily="-110"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C1486A-64A2-174A-9561-2035EFB54CD6}" type="slidenum">
              <a:rPr lang="en-US"/>
              <a:pPr/>
              <a:t>1</a:t>
            </a:fld>
            <a:endParaRPr lang="en-US" dirty="0"/>
          </a:p>
        </p:txBody>
      </p:sp>
      <p:sp>
        <p:nvSpPr>
          <p:cNvPr id="52226" name="Rectangle 2050"/>
          <p:cNvSpPr>
            <a:spLocks noGrp="1" noRot="1" noChangeAspect="1" noChangeArrowheads="1" noTextEdit="1"/>
          </p:cNvSpPr>
          <p:nvPr>
            <p:ph type="sldImg"/>
          </p:nvPr>
        </p:nvSpPr>
        <p:spPr>
          <a:ln/>
        </p:spPr>
      </p:sp>
      <p:sp>
        <p:nvSpPr>
          <p:cNvPr id="52227" name="Rectangle 2051"/>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latin typeface="Times New Roman" pitchFamily="-110" charset="0"/>
              </a:rPr>
              <a:t>Lecture slides prepared for “Computer Organization</a:t>
            </a:r>
            <a:r>
              <a:rPr lang="en-US" baseline="0" dirty="0">
                <a:latin typeface="Times New Roman" pitchFamily="-110" charset="0"/>
              </a:rPr>
              <a:t> and Architecture</a:t>
            </a:r>
            <a:r>
              <a:rPr lang="en-US" dirty="0">
                <a:latin typeface="Times New Roman" pitchFamily="-110" charset="0"/>
              </a:rPr>
              <a:t>”, 9/e, by William Stallings, Chapter 2 “Computer</a:t>
            </a:r>
            <a:r>
              <a:rPr lang="en-US" baseline="0" dirty="0">
                <a:latin typeface="Times New Roman" pitchFamily="-110" charset="0"/>
              </a:rPr>
              <a:t> Evolution and Performance</a:t>
            </a:r>
            <a:r>
              <a:rPr lang="en-US" dirty="0">
                <a:latin typeface="Times New Roman" pitchFamily="-110" charset="0"/>
              </a:rPr>
              <a:t>”.</a:t>
            </a:r>
            <a:endParaRPr lang="en-AU" dirty="0">
              <a:latin typeface="Times New Roman" pitchFamily="-110" charset="0"/>
            </a:endParaRPr>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latin typeface="Times New Roman" pitchFamily="-110" charset="0"/>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a:latin typeface="Times New Roman" pitchFamily="-110" charset="0"/>
              </a:rPr>
              <a:t>Adapted</a:t>
            </a:r>
            <a:r>
              <a:rPr lang="en-GB" dirty="0"/>
              <a:t> by </a:t>
            </a:r>
            <a:r>
              <a:rPr lang="en-GB" dirty="0" err="1"/>
              <a:t>Thân</a:t>
            </a:r>
            <a:r>
              <a:rPr lang="en-GB" baseline="0" dirty="0"/>
              <a:t> </a:t>
            </a:r>
            <a:r>
              <a:rPr lang="en-GB" baseline="0" dirty="0" err="1"/>
              <a:t>Văn</a:t>
            </a:r>
            <a:r>
              <a:rPr lang="en-GB" baseline="0" dirty="0"/>
              <a:t> </a:t>
            </a:r>
            <a:r>
              <a:rPr lang="en-GB" baseline="0" dirty="0" err="1"/>
              <a:t>Sử</a:t>
            </a:r>
            <a:endParaRPr lang="en-GB" baseline="0"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GB" baseline="0" dirty="0"/>
          </a:p>
          <a:p>
            <a:pPr marL="0" marR="0" indent="0" algn="l" defTabSz="914400" rtl="0" eaLnBrk="0" fontAlgn="base" latinLnBrk="0" hangingPunct="0">
              <a:lnSpc>
                <a:spcPct val="100000"/>
              </a:lnSpc>
              <a:spcBef>
                <a:spcPct val="30000"/>
              </a:spcBef>
              <a:spcAft>
                <a:spcPct val="0"/>
              </a:spcAft>
              <a:buClrTx/>
              <a:buSzTx/>
              <a:buFontTx/>
              <a:buNone/>
              <a:tabLst/>
              <a:defRPr/>
            </a:pPr>
            <a:r>
              <a:rPr lang="en-GB" b="1" baseline="0" dirty="0"/>
              <a:t>Evolution</a:t>
            </a:r>
            <a:r>
              <a:rPr lang="en-GB" b="0" baseline="0" dirty="0"/>
              <a:t>: </a:t>
            </a:r>
            <a:r>
              <a:rPr lang="en-GB" b="0" baseline="0" dirty="0" err="1"/>
              <a:t>Sự</a:t>
            </a:r>
            <a:r>
              <a:rPr lang="en-GB" b="0" baseline="0" dirty="0"/>
              <a:t> </a:t>
            </a:r>
            <a:r>
              <a:rPr lang="en-GB" b="0" baseline="0" dirty="0" err="1"/>
              <a:t>tiến</a:t>
            </a:r>
            <a:r>
              <a:rPr lang="en-GB" b="0" baseline="0" dirty="0"/>
              <a:t> </a:t>
            </a:r>
            <a:r>
              <a:rPr lang="en-GB" b="0" baseline="0" dirty="0" err="1"/>
              <a:t>hóa</a:t>
            </a:r>
            <a:r>
              <a:rPr lang="en-GB" b="0" baseline="0" dirty="0"/>
              <a:t>, </a:t>
            </a:r>
            <a:r>
              <a:rPr lang="en-GB" b="0" baseline="0" dirty="0" err="1"/>
              <a:t>sự</a:t>
            </a:r>
            <a:r>
              <a:rPr lang="en-GB" b="0" baseline="0" dirty="0"/>
              <a:t> </a:t>
            </a:r>
            <a:r>
              <a:rPr lang="en-GB" b="0" baseline="0" dirty="0" err="1"/>
              <a:t>thay</a:t>
            </a:r>
            <a:r>
              <a:rPr lang="en-GB" b="0" baseline="0" dirty="0"/>
              <a:t> </a:t>
            </a:r>
            <a:r>
              <a:rPr lang="en-GB" b="0" baseline="0" dirty="0" err="1"/>
              <a:t>đổi</a:t>
            </a:r>
            <a:r>
              <a:rPr lang="en-GB" b="0" baseline="0" dirty="0"/>
              <a:t> </a:t>
            </a:r>
            <a:r>
              <a:rPr lang="en-GB" b="0" baseline="0" dirty="0" err="1"/>
              <a:t>tốt</a:t>
            </a:r>
            <a:r>
              <a:rPr lang="en-GB" b="0" baseline="0" dirty="0"/>
              <a:t> </a:t>
            </a:r>
            <a:r>
              <a:rPr lang="en-GB" b="0" baseline="0" dirty="0" err="1"/>
              <a:t>dần</a:t>
            </a:r>
            <a:r>
              <a:rPr lang="en-GB" b="0" baseline="0" dirty="0"/>
              <a:t> </a:t>
            </a:r>
            <a:r>
              <a:rPr lang="en-GB" b="0" baseline="0" dirty="0" err="1"/>
              <a:t>lên</a:t>
            </a:r>
            <a:endParaRPr lang="en-GB" b="1" dirty="0"/>
          </a:p>
          <a:p>
            <a:r>
              <a:rPr lang="en-GB" b="1" dirty="0"/>
              <a:t>Performance</a:t>
            </a:r>
            <a:r>
              <a:rPr lang="en-GB" b="0" dirty="0"/>
              <a:t>: </a:t>
            </a:r>
            <a:r>
              <a:rPr lang="en-GB" b="0" dirty="0" err="1"/>
              <a:t>Hiệu</a:t>
            </a:r>
            <a:r>
              <a:rPr lang="en-GB" b="0" baseline="0" dirty="0"/>
              <a:t> </a:t>
            </a:r>
            <a:r>
              <a:rPr lang="en-GB" b="0" baseline="0" dirty="0" err="1"/>
              <a:t>suất</a:t>
            </a:r>
            <a:r>
              <a:rPr lang="en-GB" b="0" baseline="0" dirty="0"/>
              <a:t>, </a:t>
            </a:r>
            <a:r>
              <a:rPr lang="en-GB" b="0" baseline="0" dirty="0" err="1"/>
              <a:t>phần</a:t>
            </a:r>
            <a:r>
              <a:rPr lang="en-GB" b="0" baseline="0" dirty="0"/>
              <a:t> (</a:t>
            </a:r>
            <a:r>
              <a:rPr lang="en-GB" b="0" baseline="0" dirty="0" err="1"/>
              <a:t>xuất</a:t>
            </a:r>
            <a:r>
              <a:rPr lang="en-GB" b="0" baseline="0" dirty="0"/>
              <a:t>/</a:t>
            </a:r>
            <a:r>
              <a:rPr lang="en-GB" b="0" baseline="0" dirty="0" err="1"/>
              <a:t>tỉ</a:t>
            </a:r>
            <a:r>
              <a:rPr lang="en-GB" b="0" baseline="0" dirty="0"/>
              <a:t> </a:t>
            </a:r>
            <a:r>
              <a:rPr lang="en-GB" b="0" baseline="0" dirty="0" err="1"/>
              <a:t>lệ</a:t>
            </a:r>
            <a:r>
              <a:rPr lang="en-GB" b="0" baseline="0" dirty="0"/>
              <a:t>) </a:t>
            </a:r>
            <a:r>
              <a:rPr lang="en-GB" b="0" baseline="0" dirty="0" err="1"/>
              <a:t>hiệu</a:t>
            </a:r>
            <a:r>
              <a:rPr lang="en-GB" b="0" baseline="0" dirty="0"/>
              <a:t> </a:t>
            </a:r>
            <a:r>
              <a:rPr lang="en-GB" b="0" baseline="0" dirty="0" err="1"/>
              <a:t>quả</a:t>
            </a:r>
            <a:r>
              <a:rPr lang="en-GB" b="0" baseline="0" dirty="0"/>
              <a:t> </a:t>
            </a:r>
            <a:r>
              <a:rPr lang="en-GB" b="0" baseline="0" dirty="0" err="1"/>
              <a:t>của</a:t>
            </a:r>
            <a:r>
              <a:rPr lang="en-GB" b="0" baseline="0" dirty="0"/>
              <a:t> </a:t>
            </a:r>
            <a:r>
              <a:rPr lang="en-GB" b="0" baseline="0" dirty="0" err="1"/>
              <a:t>một</a:t>
            </a:r>
            <a:r>
              <a:rPr lang="en-GB" b="0" baseline="0" dirty="0"/>
              <a:t> </a:t>
            </a:r>
            <a:r>
              <a:rPr lang="en-GB" b="0" baseline="0" dirty="0" err="1"/>
              <a:t>hoạt</a:t>
            </a:r>
            <a:r>
              <a:rPr lang="en-GB" b="0" baseline="0" dirty="0"/>
              <a:t> </a:t>
            </a:r>
            <a:r>
              <a:rPr lang="en-GB" b="0" baseline="0" dirty="0" err="1"/>
              <a:t>động</a:t>
            </a:r>
            <a:endParaRPr lang="en-GB" b="1"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a:t>Generation</a:t>
            </a:r>
            <a:r>
              <a:rPr lang="en-US" b="0" dirty="0"/>
              <a:t>: </a:t>
            </a:r>
            <a:r>
              <a:rPr lang="en-US" b="0" dirty="0" err="1"/>
              <a:t>Thế</a:t>
            </a:r>
            <a:r>
              <a:rPr lang="en-US" b="0" baseline="0" dirty="0"/>
              <a:t> </a:t>
            </a:r>
            <a:r>
              <a:rPr lang="en-US" b="0" baseline="0" dirty="0" err="1"/>
              <a:t>hệ</a:t>
            </a:r>
            <a:r>
              <a:rPr lang="en-US" b="0" baseline="0" dirty="0"/>
              <a:t>, </a:t>
            </a:r>
            <a:r>
              <a:rPr lang="en-US" b="0" baseline="0" dirty="0" err="1"/>
              <a:t>đánh</a:t>
            </a:r>
            <a:r>
              <a:rPr lang="en-US" b="0" baseline="0" dirty="0"/>
              <a:t> </a:t>
            </a:r>
            <a:r>
              <a:rPr lang="en-US" b="0" baseline="0" dirty="0" err="1"/>
              <a:t>dấu</a:t>
            </a:r>
            <a:r>
              <a:rPr lang="en-US" b="0" baseline="0" dirty="0"/>
              <a:t> </a:t>
            </a:r>
            <a:r>
              <a:rPr lang="en-US" b="0" baseline="0" dirty="0" err="1"/>
              <a:t>một</a:t>
            </a:r>
            <a:r>
              <a:rPr lang="en-US" b="0" baseline="0" dirty="0"/>
              <a:t> </a:t>
            </a:r>
            <a:r>
              <a:rPr lang="en-US" b="0" baseline="0" dirty="0" err="1"/>
              <a:t>thế</a:t>
            </a:r>
            <a:r>
              <a:rPr lang="en-US" b="0" baseline="0" dirty="0"/>
              <a:t> </a:t>
            </a:r>
            <a:r>
              <a:rPr lang="en-US" b="0" baseline="0" dirty="0" err="1"/>
              <a:t>hệ</a:t>
            </a:r>
            <a:r>
              <a:rPr lang="en-US" b="0" baseline="0" dirty="0"/>
              <a:t> </a:t>
            </a:r>
            <a:r>
              <a:rPr lang="en-US" b="0" baseline="0" dirty="0" err="1"/>
              <a:t>bằng</a:t>
            </a:r>
            <a:r>
              <a:rPr lang="en-US" b="0" baseline="0" dirty="0"/>
              <a:t> </a:t>
            </a:r>
            <a:r>
              <a:rPr lang="en-US" b="0" baseline="0" dirty="0" err="1"/>
              <a:t>một</a:t>
            </a:r>
            <a:r>
              <a:rPr lang="en-US" b="0" baseline="0" dirty="0"/>
              <a:t> </a:t>
            </a:r>
            <a:r>
              <a:rPr lang="en-US" b="0" baseline="0" dirty="0" err="1"/>
              <a:t>biến</a:t>
            </a:r>
            <a:r>
              <a:rPr lang="en-US" b="0" baseline="0" dirty="0"/>
              <a:t> </a:t>
            </a:r>
            <a:r>
              <a:rPr lang="en-US" b="0" baseline="0" dirty="0" err="1"/>
              <a:t>cố</a:t>
            </a:r>
            <a:r>
              <a:rPr lang="en-US" b="0" baseline="0" dirty="0"/>
              <a:t> </a:t>
            </a:r>
            <a:r>
              <a:rPr lang="en-US" b="0" baseline="0" dirty="0" err="1"/>
              <a:t>như</a:t>
            </a:r>
            <a:r>
              <a:rPr lang="en-US" b="0" baseline="0" dirty="0"/>
              <a:t> </a:t>
            </a:r>
            <a:r>
              <a:rPr lang="en-US" b="0" baseline="0" dirty="0" err="1"/>
              <a:t>sinh</a:t>
            </a:r>
            <a:r>
              <a:rPr lang="en-US" b="0" baseline="0" dirty="0"/>
              <a:t> </a:t>
            </a:r>
            <a:r>
              <a:rPr lang="en-US" b="0" baseline="0" dirty="0" err="1"/>
              <a:t>nở</a:t>
            </a:r>
            <a:r>
              <a:rPr lang="en-US" b="0" baseline="0" dirty="0"/>
              <a:t> ở </a:t>
            </a:r>
            <a:r>
              <a:rPr lang="en-US" b="0" baseline="0" dirty="0" err="1"/>
              <a:t>động</a:t>
            </a:r>
            <a:r>
              <a:rPr lang="en-US" b="0" baseline="0" dirty="0"/>
              <a:t> </a:t>
            </a:r>
            <a:r>
              <a:rPr lang="en-US" b="0" baseline="0" dirty="0" err="1"/>
              <a:t>vật</a:t>
            </a:r>
            <a:r>
              <a:rPr lang="en-US" b="0" baseline="0" dirty="0"/>
              <a:t>, </a:t>
            </a:r>
            <a:r>
              <a:rPr lang="en-US" b="0" baseline="0" dirty="0" err="1"/>
              <a:t>một</a:t>
            </a:r>
            <a:r>
              <a:rPr lang="en-US" b="0" baseline="0" dirty="0"/>
              <a:t> </a:t>
            </a:r>
            <a:r>
              <a:rPr lang="en-US" b="0" baseline="0" dirty="0" err="1"/>
              <a:t>phát</a:t>
            </a:r>
            <a:r>
              <a:rPr lang="en-US" b="0" baseline="0" dirty="0"/>
              <a:t> minh </a:t>
            </a:r>
            <a:r>
              <a:rPr lang="en-US" b="0" baseline="0" dirty="0" err="1"/>
              <a:t>trong</a:t>
            </a:r>
            <a:r>
              <a:rPr lang="en-US" b="0" baseline="0" dirty="0"/>
              <a:t> </a:t>
            </a:r>
            <a:r>
              <a:rPr lang="en-US" b="0" baseline="0" dirty="0" err="1"/>
              <a:t>khoa</a:t>
            </a:r>
            <a:r>
              <a:rPr lang="en-US" b="0" baseline="0" dirty="0"/>
              <a:t> </a:t>
            </a:r>
            <a:r>
              <a:rPr lang="en-US" b="0" baseline="0" dirty="0" err="1"/>
              <a:t>học</a:t>
            </a:r>
            <a:endParaRPr lang="en-US" b="0" baseline="0" dirty="0"/>
          </a:p>
          <a:p>
            <a:r>
              <a:rPr lang="en-US" b="1" baseline="0" dirty="0"/>
              <a:t>Assess</a:t>
            </a:r>
            <a:r>
              <a:rPr lang="en-US" b="0" baseline="0" dirty="0"/>
              <a:t>: Evaluate, </a:t>
            </a:r>
            <a:r>
              <a:rPr lang="en-US" b="0" baseline="0" dirty="0" err="1"/>
              <a:t>đánh</a:t>
            </a:r>
            <a:r>
              <a:rPr lang="en-US" b="0" baseline="0" dirty="0"/>
              <a:t> </a:t>
            </a:r>
            <a:r>
              <a:rPr lang="en-US" b="0" baseline="0" dirty="0" err="1"/>
              <a:t>giá</a:t>
            </a:r>
            <a:endParaRPr lang="en-US" b="0" baseline="0" dirty="0"/>
          </a:p>
          <a:p>
            <a:r>
              <a:rPr lang="vi-VN" b="1" dirty="0"/>
              <a:t>Các máy tính được phát triển như thế nào?  các thế hệ</a:t>
            </a:r>
          </a:p>
          <a:p>
            <a:r>
              <a:rPr lang="vi-VN" b="1" dirty="0"/>
              <a:t>Những ứng dụng nào yêu cầu máy tính mạnh mẽ?</a:t>
            </a:r>
          </a:p>
          <a:p>
            <a:r>
              <a:rPr lang="vi-VN" b="1" dirty="0"/>
              <a:t>Multicore, MICs (nhiều lõi tích hợp) và GPGPUs (đơn vị xử lý đồ hoạ tổng hợp) là gì?</a:t>
            </a:r>
          </a:p>
          <a:p>
            <a:r>
              <a:rPr lang="vi-VN" b="1" dirty="0"/>
              <a:t>Làm thế nào để đánh giá hiệu suất máy tính?</a:t>
            </a:r>
            <a:endParaRPr lang="en-US" b="1"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Trade-off: a balance between two opposing things, that are you willing accept in order to </a:t>
            </a:r>
            <a:r>
              <a:rPr lang="en-US" dirty="0" err="1"/>
              <a:t>archieve</a:t>
            </a:r>
            <a:r>
              <a:rPr lang="en-US" dirty="0"/>
              <a:t> something</a:t>
            </a:r>
          </a:p>
          <a:p>
            <a:endParaRPr lang="en-US" dirty="0"/>
          </a:p>
          <a:p>
            <a:r>
              <a:rPr lang="vi-VN" dirty="0"/>
              <a:t>Sau khi học chương này, bạn sẽ có thể:</a:t>
            </a:r>
          </a:p>
          <a:p>
            <a:r>
              <a:rPr lang="vi-VN" dirty="0"/>
              <a:t>Trình bày tổng quan về sự tiến triển của công nghệ máy tính từ các máy tính số thời kỳ đầu đến các bộ vi xử lý mới nhất.</a:t>
            </a:r>
          </a:p>
          <a:p>
            <a:r>
              <a:rPr lang="vi-VN" dirty="0"/>
              <a:t>Hiểu được các vấn đề về hiệu năng chính có liên quan đến thiết kế máy tính.</a:t>
            </a:r>
          </a:p>
          <a:p>
            <a:r>
              <a:rPr lang="vi-VN" dirty="0"/>
              <a:t>Giải thích lý do để chuyển sang tổ chức đa lõi và hiểu được sự cân bằng giữa bộ nhớ cache và các tài nguyên bộ xử lý trên một con chip đơn.</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3</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a:t>Nếu</a:t>
            </a:r>
            <a:r>
              <a:rPr lang="en-US" baseline="0" dirty="0"/>
              <a:t> </a:t>
            </a:r>
            <a:r>
              <a:rPr lang="en-US" baseline="0" dirty="0" err="1"/>
              <a:t>sinh</a:t>
            </a:r>
            <a:r>
              <a:rPr lang="en-US" baseline="0" dirty="0"/>
              <a:t> </a:t>
            </a:r>
            <a:r>
              <a:rPr lang="en-US" baseline="0" dirty="0" err="1"/>
              <a:t>viên</a:t>
            </a:r>
            <a:r>
              <a:rPr lang="en-US" baseline="0" dirty="0"/>
              <a:t> </a:t>
            </a:r>
            <a:r>
              <a:rPr lang="en-US" baseline="0" dirty="0" err="1"/>
              <a:t>đã</a:t>
            </a:r>
            <a:r>
              <a:rPr lang="en-US" baseline="0" dirty="0"/>
              <a:t> </a:t>
            </a:r>
            <a:r>
              <a:rPr lang="en-US" baseline="0" dirty="0" err="1"/>
              <a:t>biết</a:t>
            </a:r>
            <a:r>
              <a:rPr lang="en-US" baseline="0" dirty="0"/>
              <a:t> </a:t>
            </a:r>
            <a:r>
              <a:rPr lang="en-US" baseline="0" dirty="0" err="1"/>
              <a:t>hệ</a:t>
            </a:r>
            <a:r>
              <a:rPr lang="en-US" baseline="0" dirty="0"/>
              <a:t> </a:t>
            </a:r>
            <a:r>
              <a:rPr lang="en-US" baseline="0" dirty="0" err="1"/>
              <a:t>thống</a:t>
            </a:r>
            <a:r>
              <a:rPr lang="en-US" baseline="0" dirty="0"/>
              <a:t> </a:t>
            </a:r>
            <a:r>
              <a:rPr lang="en-US" baseline="0" dirty="0" err="1"/>
              <a:t>số</a:t>
            </a:r>
            <a:r>
              <a:rPr lang="en-US" baseline="0" dirty="0"/>
              <a:t> </a:t>
            </a:r>
            <a:r>
              <a:rPr lang="en-US" baseline="0" dirty="0" err="1"/>
              <a:t>thì</a:t>
            </a:r>
            <a:r>
              <a:rPr lang="en-US" baseline="0" dirty="0"/>
              <a:t> </a:t>
            </a:r>
            <a:r>
              <a:rPr lang="en-US" baseline="0" dirty="0" err="1"/>
              <a:t>bỏ</a:t>
            </a:r>
            <a:r>
              <a:rPr lang="en-US" baseline="0" dirty="0"/>
              <a:t> qua </a:t>
            </a:r>
            <a:r>
              <a:rPr lang="en-US" baseline="0" dirty="0" err="1"/>
              <a:t>phần</a:t>
            </a:r>
            <a:r>
              <a:rPr lang="en-US" baseline="0" dirty="0"/>
              <a:t> </a:t>
            </a:r>
            <a:r>
              <a:rPr lang="en-US" baseline="0" dirty="0" err="1"/>
              <a:t>này</a:t>
            </a:r>
            <a:endParaRPr lang="en-US" baseline="0" dirty="0"/>
          </a:p>
          <a:p>
            <a:r>
              <a:rPr lang="vi-VN" dirty="0"/>
              <a:t>Khái niệm cơ bản: Hệ thống số (tùy chọn)</a:t>
            </a:r>
          </a:p>
          <a:p>
            <a:r>
              <a:rPr lang="vi-VN" dirty="0"/>
              <a:t>2.1- Một lịch sử ngắn của Máy vi tính</a:t>
            </a:r>
          </a:p>
          <a:p>
            <a:r>
              <a:rPr lang="vi-VN" dirty="0"/>
              <a:t>2.2- Thiết kế cho Hiệu suất</a:t>
            </a:r>
          </a:p>
          <a:p>
            <a:r>
              <a:rPr lang="vi-VN" dirty="0"/>
              <a:t>2.3- Multicore, MICs và GPGPUs</a:t>
            </a:r>
          </a:p>
          <a:p>
            <a:r>
              <a:rPr lang="vi-VN" dirty="0"/>
              <a:t>2.6- Đánh giá hiệu suất</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a:t>Hệ</a:t>
            </a:r>
            <a:r>
              <a:rPr lang="en-US" baseline="0" dirty="0"/>
              <a:t> </a:t>
            </a:r>
            <a:r>
              <a:rPr lang="en-US" baseline="0" dirty="0" err="1"/>
              <a:t>thống</a:t>
            </a:r>
            <a:r>
              <a:rPr lang="en-US" baseline="0" dirty="0"/>
              <a:t> </a:t>
            </a:r>
            <a:r>
              <a:rPr lang="en-US" baseline="0" dirty="0" err="1"/>
              <a:t>số</a:t>
            </a:r>
            <a:r>
              <a:rPr lang="en-US" baseline="0" dirty="0"/>
              <a:t> </a:t>
            </a:r>
            <a:r>
              <a:rPr lang="en-US" baseline="0" dirty="0" err="1"/>
              <a:t>có</a:t>
            </a:r>
            <a:r>
              <a:rPr lang="en-US" baseline="0" dirty="0"/>
              <a:t> </a:t>
            </a:r>
            <a:r>
              <a:rPr lang="en-US" baseline="0" dirty="0" err="1"/>
              <a:t>được</a:t>
            </a:r>
            <a:r>
              <a:rPr lang="en-US" baseline="0" dirty="0"/>
              <a:t> </a:t>
            </a:r>
            <a:r>
              <a:rPr lang="en-US" baseline="0" dirty="0" err="1"/>
              <a:t>là</a:t>
            </a:r>
            <a:r>
              <a:rPr lang="en-US" baseline="0" dirty="0"/>
              <a:t> do </a:t>
            </a:r>
            <a:r>
              <a:rPr lang="en-US" baseline="0" dirty="0" err="1"/>
              <a:t>quy</a:t>
            </a:r>
            <a:r>
              <a:rPr lang="en-US" baseline="0" dirty="0"/>
              <a:t> </a:t>
            </a:r>
            <a:r>
              <a:rPr lang="en-US" baseline="0" dirty="0" err="1"/>
              <a:t>ước</a:t>
            </a:r>
            <a:r>
              <a:rPr lang="en-US" baseline="0" dirty="0"/>
              <a:t> </a:t>
            </a:r>
            <a:r>
              <a:rPr lang="en-US" baseline="0" dirty="0">
                <a:sym typeface="Wingdings" pitchFamily="2" charset="2"/>
              </a:rPr>
              <a:t> </a:t>
            </a:r>
            <a:r>
              <a:rPr lang="en-US" baseline="0" dirty="0" err="1">
                <a:sym typeface="Wingdings" pitchFamily="2" charset="2"/>
              </a:rPr>
              <a:t>Một</a:t>
            </a:r>
            <a:r>
              <a:rPr lang="en-US" baseline="0" dirty="0">
                <a:sym typeface="Wingdings" pitchFamily="2" charset="2"/>
              </a:rPr>
              <a:t> </a:t>
            </a:r>
            <a:r>
              <a:rPr lang="en-US" baseline="0" dirty="0" err="1">
                <a:sym typeface="Wingdings" pitchFamily="2" charset="2"/>
              </a:rPr>
              <a:t>cộng</a:t>
            </a:r>
            <a:r>
              <a:rPr lang="en-US" baseline="0" dirty="0">
                <a:sym typeface="Wingdings" pitchFamily="2" charset="2"/>
              </a:rPr>
              <a:t> </a:t>
            </a:r>
            <a:r>
              <a:rPr lang="en-US" baseline="0" dirty="0" err="1">
                <a:sym typeface="Wingdings" pitchFamily="2" charset="2"/>
              </a:rPr>
              <a:t>đồng</a:t>
            </a:r>
            <a:r>
              <a:rPr lang="en-US" baseline="0" dirty="0">
                <a:sym typeface="Wingdings" pitchFamily="2" charset="2"/>
              </a:rPr>
              <a:t> </a:t>
            </a:r>
            <a:r>
              <a:rPr lang="en-US" baseline="0" dirty="0" err="1">
                <a:sym typeface="Wingdings" pitchFamily="2" charset="2"/>
              </a:rPr>
              <a:t>đồng</a:t>
            </a:r>
            <a:r>
              <a:rPr lang="en-US" baseline="0" dirty="0">
                <a:sym typeface="Wingdings" pitchFamily="2" charset="2"/>
              </a:rPr>
              <a:t> </a:t>
            </a:r>
            <a:r>
              <a:rPr lang="en-US" baseline="0" dirty="0" err="1">
                <a:sym typeface="Wingdings" pitchFamily="2" charset="2"/>
              </a:rPr>
              <a:t>chấp</a:t>
            </a:r>
            <a:r>
              <a:rPr lang="en-US" baseline="0" dirty="0">
                <a:sym typeface="Wingdings" pitchFamily="2" charset="2"/>
              </a:rPr>
              <a:t> </a:t>
            </a:r>
            <a:r>
              <a:rPr lang="en-US" baseline="0" dirty="0" err="1">
                <a:sym typeface="Wingdings" pitchFamily="2" charset="2"/>
              </a:rPr>
              <a:t>nhận</a:t>
            </a:r>
            <a:r>
              <a:rPr lang="en-US" baseline="0" dirty="0">
                <a:sym typeface="Wingdings" pitchFamily="2" charset="2"/>
              </a:rPr>
              <a:t> </a:t>
            </a:r>
            <a:r>
              <a:rPr lang="en-US" baseline="0" dirty="0" err="1">
                <a:sym typeface="Wingdings" pitchFamily="2" charset="2"/>
              </a:rPr>
              <a:t>nó</a:t>
            </a:r>
            <a:r>
              <a:rPr lang="en-US" baseline="0" dirty="0"/>
              <a:t>. </a:t>
            </a:r>
            <a:r>
              <a:rPr lang="en-US" baseline="0" dirty="0" err="1"/>
              <a:t>Như</a:t>
            </a:r>
            <a:r>
              <a:rPr lang="en-US" baseline="0" dirty="0"/>
              <a:t> </a:t>
            </a:r>
            <a:r>
              <a:rPr lang="en-US" baseline="0" dirty="0" err="1"/>
              <a:t>vậy</a:t>
            </a:r>
            <a:r>
              <a:rPr lang="en-US" baseline="0" dirty="0"/>
              <a:t>, </a:t>
            </a:r>
            <a:r>
              <a:rPr lang="en-US" baseline="0" dirty="0" err="1"/>
              <a:t>người</a:t>
            </a:r>
            <a:r>
              <a:rPr lang="en-US" baseline="0" dirty="0"/>
              <a:t> </a:t>
            </a:r>
            <a:r>
              <a:rPr lang="en-US" baseline="0" dirty="0" err="1"/>
              <a:t>ta</a:t>
            </a:r>
            <a:r>
              <a:rPr lang="en-US" baseline="0" dirty="0"/>
              <a:t> </a:t>
            </a:r>
            <a:r>
              <a:rPr lang="en-US" baseline="0" dirty="0" err="1"/>
              <a:t>hoàn</a:t>
            </a:r>
            <a:r>
              <a:rPr lang="en-US" baseline="0" dirty="0"/>
              <a:t> </a:t>
            </a:r>
            <a:r>
              <a:rPr lang="en-US" baseline="0" dirty="0" err="1"/>
              <a:t>toàn</a:t>
            </a:r>
            <a:r>
              <a:rPr lang="en-US" baseline="0" dirty="0"/>
              <a:t> </a:t>
            </a:r>
            <a:r>
              <a:rPr lang="en-US" baseline="0" dirty="0" err="1"/>
              <a:t>có</a:t>
            </a:r>
            <a:r>
              <a:rPr lang="en-US" baseline="0" dirty="0"/>
              <a:t> </a:t>
            </a:r>
            <a:r>
              <a:rPr lang="en-US" baseline="0" dirty="0" err="1"/>
              <a:t>thể</a:t>
            </a:r>
            <a:r>
              <a:rPr lang="en-US" baseline="0" dirty="0"/>
              <a:t> </a:t>
            </a:r>
            <a:r>
              <a:rPr lang="en-US" baseline="0" dirty="0" err="1"/>
              <a:t>chấp</a:t>
            </a:r>
            <a:r>
              <a:rPr lang="en-US" baseline="0" dirty="0"/>
              <a:t> </a:t>
            </a:r>
            <a:r>
              <a:rPr lang="en-US" baseline="0" dirty="0" err="1"/>
              <a:t>nhận</a:t>
            </a:r>
            <a:r>
              <a:rPr lang="en-US" baseline="0" dirty="0"/>
              <a:t> </a:t>
            </a:r>
            <a:r>
              <a:rPr lang="en-US" baseline="0" dirty="0" err="1"/>
              <a:t>sự</a:t>
            </a:r>
            <a:r>
              <a:rPr lang="en-US" baseline="0" dirty="0"/>
              <a:t> </a:t>
            </a:r>
            <a:r>
              <a:rPr lang="en-US" baseline="0" dirty="0" err="1"/>
              <a:t>thay</a:t>
            </a:r>
            <a:r>
              <a:rPr lang="en-US" baseline="0" dirty="0"/>
              <a:t> </a:t>
            </a:r>
            <a:r>
              <a:rPr lang="en-US" baseline="0" dirty="0" err="1"/>
              <a:t>thế</a:t>
            </a:r>
            <a:r>
              <a:rPr lang="en-US" baseline="0" dirty="0"/>
              <a:t>   0 1 2 3 4 5 6 7 8 9 </a:t>
            </a:r>
            <a:r>
              <a:rPr lang="en-US" baseline="0" dirty="0" err="1"/>
              <a:t>bằng</a:t>
            </a:r>
            <a:r>
              <a:rPr lang="en-US" baseline="0" dirty="0"/>
              <a:t> 0 1 2 8 9 3 4 5 6 7</a:t>
            </a:r>
          </a:p>
          <a:p>
            <a:endParaRPr lang="en-US" baseline="0" dirty="0"/>
          </a:p>
          <a:p>
            <a:r>
              <a:rPr lang="en-US" baseline="0" dirty="0" err="1"/>
              <a:t>Cơ</a:t>
            </a:r>
            <a:r>
              <a:rPr lang="en-US" baseline="0" dirty="0"/>
              <a:t> </a:t>
            </a:r>
            <a:r>
              <a:rPr lang="en-US" baseline="0" dirty="0" err="1"/>
              <a:t>chế</a:t>
            </a:r>
            <a:r>
              <a:rPr lang="en-US" baseline="0" dirty="0"/>
              <a:t> </a:t>
            </a:r>
            <a:r>
              <a:rPr lang="en-US" baseline="0" dirty="0" err="1"/>
              <a:t>vận</a:t>
            </a:r>
            <a:r>
              <a:rPr lang="en-US" baseline="0" dirty="0"/>
              <a:t> </a:t>
            </a:r>
            <a:r>
              <a:rPr lang="en-US" baseline="0" dirty="0" err="1"/>
              <a:t>hành</a:t>
            </a:r>
            <a:r>
              <a:rPr lang="en-US" baseline="0" dirty="0"/>
              <a:t>: </a:t>
            </a:r>
          </a:p>
          <a:p>
            <a:pPr>
              <a:buFontTx/>
              <a:buChar char="-"/>
            </a:pPr>
            <a:r>
              <a:rPr lang="en-US" sz="1200" dirty="0"/>
              <a:t> Way for counting</a:t>
            </a:r>
          </a:p>
          <a:p>
            <a:pPr>
              <a:buFontTx/>
              <a:buChar char="-"/>
            </a:pPr>
            <a:r>
              <a:rPr lang="en-US" sz="1200" dirty="0"/>
              <a:t> Ways of executing operators</a:t>
            </a:r>
          </a:p>
          <a:p>
            <a:pPr>
              <a:buFontTx/>
              <a:buChar char="-"/>
            </a:pPr>
            <a:r>
              <a:rPr lang="en-US" sz="1200" baseline="0" dirty="0"/>
              <a:t> Way for expressing a number</a:t>
            </a:r>
            <a:endParaRPr lang="en-US" baseline="0"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5</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a:t>Cách</a:t>
            </a:r>
            <a:r>
              <a:rPr lang="en-US" baseline="0" dirty="0"/>
              <a:t> </a:t>
            </a:r>
            <a:r>
              <a:rPr lang="en-US" baseline="0" dirty="0" err="1"/>
              <a:t>tính</a:t>
            </a:r>
            <a:r>
              <a:rPr lang="en-US" baseline="0" dirty="0"/>
              <a:t> </a:t>
            </a:r>
            <a:r>
              <a:rPr lang="en-US" baseline="0" dirty="0" err="1"/>
              <a:t>trị</a:t>
            </a:r>
            <a:r>
              <a:rPr lang="en-US" baseline="0" dirty="0"/>
              <a:t> </a:t>
            </a:r>
            <a:r>
              <a:rPr lang="en-US" baseline="0" dirty="0" err="1"/>
              <a:t>tương</a:t>
            </a:r>
            <a:r>
              <a:rPr lang="en-US" baseline="0" dirty="0"/>
              <a:t> </a:t>
            </a:r>
            <a:r>
              <a:rPr lang="en-US" baseline="0" dirty="0" err="1"/>
              <a:t>tự</a:t>
            </a:r>
            <a:r>
              <a:rPr lang="en-US" baseline="0" dirty="0"/>
              <a:t> </a:t>
            </a:r>
            <a:r>
              <a:rPr lang="en-US" baseline="0" dirty="0" err="1"/>
              <a:t>cách</a:t>
            </a:r>
            <a:r>
              <a:rPr lang="en-US" baseline="0" dirty="0"/>
              <a:t> </a:t>
            </a:r>
            <a:r>
              <a:rPr lang="en-US" baseline="0" dirty="0" err="1"/>
              <a:t>đọc</a:t>
            </a:r>
            <a:r>
              <a:rPr lang="en-US" baseline="0" dirty="0"/>
              <a:t> </a:t>
            </a:r>
            <a:r>
              <a:rPr lang="en-US" baseline="0" dirty="0" err="1"/>
              <a:t>dãy</a:t>
            </a:r>
            <a:r>
              <a:rPr lang="en-US" baseline="0" dirty="0"/>
              <a:t> </a:t>
            </a:r>
            <a:r>
              <a:rPr lang="en-US" baseline="0" dirty="0" err="1"/>
              <a:t>số</a:t>
            </a:r>
            <a:r>
              <a:rPr lang="en-US" baseline="0" dirty="0"/>
              <a:t>:</a:t>
            </a:r>
          </a:p>
          <a:p>
            <a:r>
              <a:rPr lang="en-US" baseline="0" dirty="0" err="1"/>
              <a:t>Ba</a:t>
            </a:r>
            <a:r>
              <a:rPr lang="en-US" baseline="0" dirty="0"/>
              <a:t> </a:t>
            </a:r>
            <a:r>
              <a:rPr lang="en-US" baseline="0" dirty="0" err="1"/>
              <a:t>chục</a:t>
            </a:r>
            <a:r>
              <a:rPr lang="en-US" baseline="0" dirty="0"/>
              <a:t> </a:t>
            </a:r>
            <a:r>
              <a:rPr lang="en-US" baseline="0" dirty="0" err="1"/>
              <a:t>ngàn</a:t>
            </a:r>
            <a:r>
              <a:rPr lang="en-US" baseline="0" dirty="0"/>
              <a:t>, </a:t>
            </a:r>
            <a:r>
              <a:rPr lang="en-US" baseline="0" dirty="0" err="1"/>
              <a:t>bảy</a:t>
            </a:r>
            <a:r>
              <a:rPr lang="en-US" baseline="0" dirty="0"/>
              <a:t> </a:t>
            </a:r>
            <a:r>
              <a:rPr lang="en-US" baseline="0" dirty="0" err="1"/>
              <a:t>ngàn</a:t>
            </a:r>
            <a:r>
              <a:rPr lang="en-US" baseline="0" dirty="0"/>
              <a:t>, </a:t>
            </a:r>
            <a:r>
              <a:rPr lang="en-US" baseline="0" dirty="0" err="1"/>
              <a:t>không</a:t>
            </a:r>
            <a:r>
              <a:rPr lang="en-US" baseline="0" dirty="0"/>
              <a:t> </a:t>
            </a:r>
            <a:r>
              <a:rPr lang="en-US" baseline="0" dirty="0" err="1"/>
              <a:t>trăm</a:t>
            </a:r>
            <a:r>
              <a:rPr lang="en-US" baseline="0" dirty="0"/>
              <a:t>, </a:t>
            </a:r>
            <a:r>
              <a:rPr lang="en-US" baseline="0" dirty="0" err="1"/>
              <a:t>một</a:t>
            </a:r>
            <a:r>
              <a:rPr lang="en-US" baseline="0" dirty="0"/>
              <a:t> </a:t>
            </a:r>
            <a:r>
              <a:rPr lang="en-US" baseline="0" dirty="0" err="1"/>
              <a:t>chục</a:t>
            </a:r>
            <a:r>
              <a:rPr lang="en-US" baseline="0" dirty="0"/>
              <a:t>, </a:t>
            </a:r>
            <a:r>
              <a:rPr lang="en-US" baseline="0" dirty="0" err="1"/>
              <a:t>năm</a:t>
            </a:r>
            <a:r>
              <a:rPr lang="en-US" baseline="0" dirty="0"/>
              <a:t> </a:t>
            </a:r>
            <a:r>
              <a:rPr lang="en-US" baseline="0" dirty="0" err="1"/>
              <a:t>đơn</a:t>
            </a:r>
            <a:r>
              <a:rPr lang="en-US" baseline="0" dirty="0"/>
              <a:t> </a:t>
            </a:r>
            <a:r>
              <a:rPr lang="en-US" baseline="0" dirty="0" err="1"/>
              <a:t>vị</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6</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302DEA2-F8D7-C549-B179-963DC37A15CB}" type="slidenum">
              <a:rPr lang="en-US"/>
              <a:pPr/>
              <a:t>11</a:t>
            </a:fld>
            <a:endParaRPr lang="en-US" dirty="0"/>
          </a:p>
        </p:txBody>
      </p:sp>
      <p:sp>
        <p:nvSpPr>
          <p:cNvPr id="61442" name="Rectangle 2"/>
          <p:cNvSpPr>
            <a:spLocks noGrp="1" noRot="1" noChangeAspect="1" noChangeArrowheads="1" noTextEdit="1"/>
          </p:cNvSpPr>
          <p:nvPr>
            <p:ph type="sldImg"/>
          </p:nvPr>
        </p:nvSpPr>
        <p:spPr>
          <a:ln/>
        </p:spPr>
      </p:sp>
      <p:sp>
        <p:nvSpPr>
          <p:cNvPr id="61443" name="Rectangle 3"/>
          <p:cNvSpPr>
            <a:spLocks noGrp="1" noChangeArrowheads="1"/>
          </p:cNvSpPr>
          <p:nvPr>
            <p:ph type="body" idx="1"/>
          </p:nvPr>
        </p:nvSpPr>
        <p:spPr/>
        <p:txBody>
          <a:bodyPr/>
          <a:lstStyle/>
          <a:p>
            <a:r>
              <a:rPr kumimoji="1" lang="vi-VN" sz="1200" b="1" i="1" kern="1200" baseline="0">
                <a:solidFill>
                  <a:schemeClr val="tx1"/>
                </a:solidFill>
                <a:latin typeface="Times New Roman" pitchFamily="-110" charset="0"/>
                <a:ea typeface="+mn-ea"/>
                <a:cs typeface="+mn-cs"/>
              </a:rPr>
              <a:t>ENIAC (Máy tính và tích hợp số điện tử), được thiết kế</a:t>
            </a:r>
          </a:p>
          <a:p>
            <a:r>
              <a:rPr kumimoji="1" lang="vi-VN" sz="1200" b="1" i="1" kern="1200" baseline="0">
                <a:solidFill>
                  <a:schemeClr val="tx1"/>
                </a:solidFill>
                <a:latin typeface="Times New Roman" pitchFamily="-110" charset="0"/>
                <a:ea typeface="+mn-ea"/>
                <a:cs typeface="+mn-cs"/>
              </a:rPr>
              <a:t>và được xây dựng tại Đại học Pennsylvania, là mục đích chung đầu tiên của thế giới</a:t>
            </a:r>
          </a:p>
          <a:p>
            <a:r>
              <a:rPr kumimoji="1" lang="vi-VN" sz="1200" b="1" i="1" kern="1200" baseline="0">
                <a:solidFill>
                  <a:schemeClr val="tx1"/>
                </a:solidFill>
                <a:latin typeface="Times New Roman" pitchFamily="-110" charset="0"/>
                <a:ea typeface="+mn-ea"/>
                <a:cs typeface="+mn-cs"/>
              </a:rPr>
              <a:t>máy tính điện tử kỹ thuật số. Dự án là một phản ứng cho nhu cầu của Hoa Kỳ</a:t>
            </a:r>
          </a:p>
          <a:p>
            <a:r>
              <a:rPr kumimoji="1" lang="vi-VN" sz="1200" b="1" i="1" kern="1200" baseline="0">
                <a:solidFill>
                  <a:schemeClr val="tx1"/>
                </a:solidFill>
                <a:latin typeface="Times New Roman" pitchFamily="-110" charset="0"/>
                <a:ea typeface="+mn-ea"/>
                <a:cs typeface="+mn-cs"/>
              </a:rPr>
              <a:t>trong suốt thế chiến II. Phòng thí nghiệm nghiên cứu đạn đạo của quân đội (BRL), một cơ quan</a:t>
            </a:r>
          </a:p>
          <a:p>
            <a:r>
              <a:rPr kumimoji="1" lang="vi-VN" sz="1200" b="1" i="1" kern="1200" baseline="0">
                <a:solidFill>
                  <a:schemeClr val="tx1"/>
                </a:solidFill>
                <a:latin typeface="Times New Roman" pitchFamily="-110" charset="0"/>
                <a:ea typeface="+mn-ea"/>
                <a:cs typeface="+mn-cs"/>
              </a:rPr>
              <a:t>chịu trách nhiệm phát triển các bảng phạm vi và quỹ đạo cho vũ khí mới, đã có</a:t>
            </a:r>
          </a:p>
          <a:p>
            <a:r>
              <a:rPr kumimoji="1" lang="vi-VN" sz="1200" b="1" i="1" kern="1200" baseline="0">
                <a:solidFill>
                  <a:schemeClr val="tx1"/>
                </a:solidFill>
                <a:latin typeface="Times New Roman" pitchFamily="-110" charset="0"/>
                <a:ea typeface="+mn-ea"/>
                <a:cs typeface="+mn-cs"/>
              </a:rPr>
              <a:t>khó cung cấp các bảng này một cách chính xác và trong một khung thời gian hợp lý.</a:t>
            </a:r>
          </a:p>
          <a:p>
            <a:r>
              <a:rPr kumimoji="1" lang="vi-VN" sz="1200" b="1" i="1" kern="1200" baseline="0">
                <a:solidFill>
                  <a:schemeClr val="tx1"/>
                </a:solidFill>
                <a:latin typeface="Times New Roman" pitchFamily="-110" charset="0"/>
                <a:ea typeface="+mn-ea"/>
                <a:cs typeface="+mn-cs"/>
              </a:rPr>
              <a:t>Không có những bàn bắn này, vũ khí và pháo mới là vô dụng đối với các xạ thủ.</a:t>
            </a:r>
          </a:p>
          <a:p>
            <a:r>
              <a:rPr kumimoji="1" lang="vi-VN" sz="1200" b="1" i="1" kern="1200" baseline="0">
                <a:solidFill>
                  <a:schemeClr val="tx1"/>
                </a:solidFill>
                <a:latin typeface="Times New Roman" pitchFamily="-110" charset="0"/>
                <a:ea typeface="+mn-ea"/>
                <a:cs typeface="+mn-cs"/>
              </a:rPr>
              <a:t>BRL đã tuyển dụng hơn 200 người, sử dụng máy tính để bàn, đã giải quyết</a:t>
            </a:r>
          </a:p>
          <a:p>
            <a:r>
              <a:rPr kumimoji="1" lang="vi-VN" sz="1200" b="1" i="1" kern="1200" baseline="0">
                <a:solidFill>
                  <a:schemeClr val="tx1"/>
                </a:solidFill>
                <a:latin typeface="Times New Roman" pitchFamily="-110" charset="0"/>
                <a:ea typeface="+mn-ea"/>
                <a:cs typeface="+mn-cs"/>
              </a:rPr>
              <a:t>các phương trình đạn đạo cần thiết. Chuẩn bị các bảng cho một vũ khí duy nhất</a:t>
            </a:r>
          </a:p>
          <a:p>
            <a:r>
              <a:rPr kumimoji="1" lang="vi-VN" sz="1200" b="1" i="1" kern="1200" baseline="0">
                <a:solidFill>
                  <a:schemeClr val="tx1"/>
                </a:solidFill>
                <a:latin typeface="Times New Roman" pitchFamily="-110" charset="0"/>
                <a:ea typeface="+mn-ea"/>
                <a:cs typeface="+mn-cs"/>
              </a:rPr>
              <a:t>sẽ mất một người nhiều giờ, thậm chí nhiều ngày.</a:t>
            </a:r>
          </a:p>
          <a:p>
            <a:endParaRPr kumimoji="1" lang="vi-VN" sz="1200" b="1" i="1" kern="1200" baseline="0">
              <a:solidFill>
                <a:schemeClr val="tx1"/>
              </a:solidFill>
              <a:latin typeface="Times New Roman" pitchFamily="-110" charset="0"/>
              <a:ea typeface="+mn-ea"/>
              <a:cs typeface="+mn-cs"/>
            </a:endParaRPr>
          </a:p>
          <a:p>
            <a:r>
              <a:rPr kumimoji="1" lang="vi-VN" sz="1200" b="1" i="1" kern="1200" baseline="0">
                <a:solidFill>
                  <a:schemeClr val="tx1"/>
                </a:solidFill>
                <a:latin typeface="Times New Roman" pitchFamily="-110" charset="0"/>
                <a:ea typeface="+mn-ea"/>
                <a:cs typeface="+mn-cs"/>
              </a:rPr>
              <a:t>John Mauchly, giáo sư kỹ thuật điện tại Đại học</a:t>
            </a:r>
          </a:p>
          <a:p>
            <a:r>
              <a:rPr kumimoji="1" lang="vi-VN" sz="1200" b="1" i="1" kern="1200" baseline="0">
                <a:solidFill>
                  <a:schemeClr val="tx1"/>
                </a:solidFill>
                <a:latin typeface="Times New Roman" pitchFamily="-110" charset="0"/>
                <a:ea typeface="+mn-ea"/>
                <a:cs typeface="+mn-cs"/>
              </a:rPr>
              <a:t>Pennsylvania và John Eckert, một trong những sinh viên tốt nghiệp của mình, đã đề xuất xây dựng một</a:t>
            </a:r>
          </a:p>
          <a:p>
            <a:r>
              <a:rPr kumimoji="1" lang="vi-VN" sz="1200" b="1" i="1" kern="1200" baseline="0">
                <a:solidFill>
                  <a:schemeClr val="tx1"/>
                </a:solidFill>
                <a:latin typeface="Times New Roman" pitchFamily="-110" charset="0"/>
                <a:ea typeface="+mn-ea"/>
                <a:cs typeface="+mn-cs"/>
              </a:rPr>
              <a:t>máy tính đa năng sử dụng ống chân không cho ứng dụng BRL. Năm 1943,</a:t>
            </a:r>
          </a:p>
          <a:p>
            <a:r>
              <a:rPr kumimoji="1" lang="vi-VN" sz="1200" b="1" i="1" kern="1200" baseline="0">
                <a:solidFill>
                  <a:schemeClr val="tx1"/>
                </a:solidFill>
                <a:latin typeface="Times New Roman" pitchFamily="-110" charset="0"/>
                <a:ea typeface="+mn-ea"/>
                <a:cs typeface="+mn-cs"/>
              </a:rPr>
              <a:t>Quân đội đã chấp nhận đề xuất này và công việc bắt đầu trên ENIAC.</a:t>
            </a:r>
            <a:endParaRPr kumimoji="1" lang="en-US" sz="1200" b="1" i="1" kern="1200" baseline="0">
              <a:solidFill>
                <a:schemeClr val="tx1"/>
              </a:solidFill>
              <a:latin typeface="Times New Roman" pitchFamily="-110" charset="0"/>
              <a:ea typeface="+mn-ea"/>
              <a:cs typeface="+mn-cs"/>
            </a:endParaRPr>
          </a:p>
          <a:p>
            <a:r>
              <a:rPr kumimoji="1" lang="en-US" sz="1200" b="1" i="1" kern="1200" baseline="0">
                <a:solidFill>
                  <a:schemeClr val="tx1"/>
                </a:solidFill>
                <a:latin typeface="Times New Roman" pitchFamily="-110" charset="0"/>
                <a:ea typeface="+mn-ea"/>
                <a:cs typeface="+mn-cs"/>
              </a:rPr>
              <a:t>The </a:t>
            </a:r>
            <a:r>
              <a:rPr kumimoji="1" lang="en-US" sz="1200" b="1" i="1" kern="1200" baseline="0" dirty="0">
                <a:solidFill>
                  <a:schemeClr val="tx1"/>
                </a:solidFill>
                <a:latin typeface="Times New Roman" pitchFamily="-110" charset="0"/>
                <a:ea typeface="+mn-ea"/>
                <a:cs typeface="+mn-cs"/>
              </a:rPr>
              <a:t>ENIAC (Electronic Numerical Integrator And Computer), </a:t>
            </a:r>
            <a:r>
              <a:rPr kumimoji="1" lang="en-US" sz="1200" b="0" i="1" kern="1200" baseline="0" dirty="0">
                <a:solidFill>
                  <a:schemeClr val="tx1"/>
                </a:solidFill>
                <a:latin typeface="Times New Roman" pitchFamily="-110" charset="0"/>
                <a:ea typeface="+mn-ea"/>
                <a:cs typeface="+mn-cs"/>
              </a:rPr>
              <a:t>designed</a:t>
            </a:r>
          </a:p>
          <a:p>
            <a:r>
              <a:rPr kumimoji="1" lang="en-US" sz="1200" kern="1200" baseline="0" dirty="0">
                <a:solidFill>
                  <a:schemeClr val="tx1"/>
                </a:solidFill>
                <a:latin typeface="Times New Roman" pitchFamily="-110" charset="0"/>
                <a:ea typeface="+mn-ea"/>
                <a:cs typeface="+mn-cs"/>
              </a:rPr>
              <a:t>and constructed at the University of Pennsylvania, was the world’s first general purpose</a:t>
            </a:r>
          </a:p>
          <a:p>
            <a:r>
              <a:rPr kumimoji="1" lang="en-US" sz="1200" kern="1200" baseline="0" dirty="0">
                <a:solidFill>
                  <a:schemeClr val="tx1"/>
                </a:solidFill>
                <a:latin typeface="Times New Roman" pitchFamily="-110" charset="0"/>
                <a:ea typeface="+mn-ea"/>
                <a:cs typeface="+mn-cs"/>
              </a:rPr>
              <a:t>electronic digital computer. The project was a response to U.S. needs</a:t>
            </a:r>
          </a:p>
          <a:p>
            <a:r>
              <a:rPr kumimoji="1" lang="en-US" sz="1200" kern="1200" baseline="0" dirty="0">
                <a:solidFill>
                  <a:schemeClr val="tx1"/>
                </a:solidFill>
                <a:latin typeface="Times New Roman" pitchFamily="-110" charset="0"/>
                <a:ea typeface="+mn-ea"/>
                <a:cs typeface="+mn-cs"/>
              </a:rPr>
              <a:t>during World War II. The Army’s Ballistics Research Laboratory (BRL), an agency</a:t>
            </a:r>
          </a:p>
          <a:p>
            <a:r>
              <a:rPr kumimoji="1" lang="en-US" sz="1200" kern="1200" baseline="0" dirty="0">
                <a:solidFill>
                  <a:schemeClr val="tx1"/>
                </a:solidFill>
                <a:latin typeface="Times New Roman" pitchFamily="-110" charset="0"/>
                <a:ea typeface="+mn-ea"/>
                <a:cs typeface="+mn-cs"/>
              </a:rPr>
              <a:t>responsible for developing range and trajectory tables for new weapons, was having</a:t>
            </a:r>
          </a:p>
          <a:p>
            <a:r>
              <a:rPr kumimoji="1" lang="en-US" sz="1200" kern="1200" baseline="0" dirty="0">
                <a:solidFill>
                  <a:schemeClr val="tx1"/>
                </a:solidFill>
                <a:latin typeface="Times New Roman" pitchFamily="-110" charset="0"/>
                <a:ea typeface="+mn-ea"/>
                <a:cs typeface="+mn-cs"/>
              </a:rPr>
              <a:t>difficulty supplying these tables accurately and within a reasonable time frame.</a:t>
            </a:r>
          </a:p>
          <a:p>
            <a:r>
              <a:rPr kumimoji="1" lang="en-US" sz="1200" kern="1200" baseline="0" dirty="0">
                <a:solidFill>
                  <a:schemeClr val="tx1"/>
                </a:solidFill>
                <a:latin typeface="Times New Roman" pitchFamily="-110" charset="0"/>
                <a:ea typeface="+mn-ea"/>
                <a:cs typeface="+mn-cs"/>
              </a:rPr>
              <a:t>Without these firing tables, the new weapons and artillery were useless to gunners.</a:t>
            </a:r>
          </a:p>
          <a:p>
            <a:r>
              <a:rPr kumimoji="1" lang="en-US" sz="1200" kern="1200" baseline="0" dirty="0">
                <a:solidFill>
                  <a:schemeClr val="tx1"/>
                </a:solidFill>
                <a:latin typeface="Times New Roman" pitchFamily="-110" charset="0"/>
                <a:ea typeface="+mn-ea"/>
                <a:cs typeface="+mn-cs"/>
              </a:rPr>
              <a:t>The BRL employed more than 200 people who, using desktop calculators, solved</a:t>
            </a:r>
          </a:p>
          <a:p>
            <a:r>
              <a:rPr kumimoji="1" lang="en-US" sz="1200" kern="1200" baseline="0" dirty="0">
                <a:solidFill>
                  <a:schemeClr val="tx1"/>
                </a:solidFill>
                <a:latin typeface="Times New Roman" pitchFamily="-110" charset="0"/>
                <a:ea typeface="+mn-ea"/>
                <a:cs typeface="+mn-cs"/>
              </a:rPr>
              <a:t>the necessary ballistics equations. Preparation of the tables for a single weapon</a:t>
            </a:r>
          </a:p>
          <a:p>
            <a:r>
              <a:rPr kumimoji="1" lang="en-US" sz="1200" kern="1200" baseline="0" dirty="0">
                <a:solidFill>
                  <a:schemeClr val="tx1"/>
                </a:solidFill>
                <a:latin typeface="Times New Roman" pitchFamily="-110" charset="0"/>
                <a:ea typeface="+mn-ea"/>
                <a:cs typeface="+mn-cs"/>
              </a:rPr>
              <a:t>would take one person many hours, even days.</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John Mauchly, a professor of electrical engineering at the University of</a:t>
            </a:r>
          </a:p>
          <a:p>
            <a:r>
              <a:rPr kumimoji="1" lang="en-US" sz="1200" kern="1200" baseline="0" dirty="0">
                <a:solidFill>
                  <a:schemeClr val="tx1"/>
                </a:solidFill>
                <a:latin typeface="Times New Roman" pitchFamily="-110" charset="0"/>
                <a:ea typeface="+mn-ea"/>
                <a:cs typeface="+mn-cs"/>
              </a:rPr>
              <a:t>Pennsylvania, and John Eckert, one of his graduate students, proposed to build a</a:t>
            </a:r>
          </a:p>
          <a:p>
            <a:r>
              <a:rPr kumimoji="1" lang="en-US" sz="1200" kern="1200" baseline="0" dirty="0">
                <a:solidFill>
                  <a:schemeClr val="tx1"/>
                </a:solidFill>
                <a:latin typeface="Times New Roman" pitchFamily="-110" charset="0"/>
                <a:ea typeface="+mn-ea"/>
                <a:cs typeface="+mn-cs"/>
              </a:rPr>
              <a:t>general-purpose computer using vacuum tubes for the BRL’s application. In 1943,</a:t>
            </a:r>
          </a:p>
          <a:p>
            <a:r>
              <a:rPr kumimoji="1" lang="en-US" sz="1200" kern="1200" baseline="0" dirty="0">
                <a:solidFill>
                  <a:schemeClr val="tx1"/>
                </a:solidFill>
                <a:latin typeface="Times New Roman" pitchFamily="-110" charset="0"/>
                <a:ea typeface="+mn-ea"/>
                <a:cs typeface="+mn-cs"/>
              </a:rPr>
              <a:t>the Army accepted this proposal, and work began on the ENIAC. </a:t>
            </a:r>
            <a:endParaRPr lang="en-GB"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302DEA2-F8D7-C549-B179-963DC37A15CB}" type="slidenum">
              <a:rPr lang="en-US"/>
              <a:pPr/>
              <a:t>12</a:t>
            </a:fld>
            <a:endParaRPr lang="en-US" dirty="0"/>
          </a:p>
        </p:txBody>
      </p:sp>
      <p:sp>
        <p:nvSpPr>
          <p:cNvPr id="61442" name="Rectangle 2"/>
          <p:cNvSpPr>
            <a:spLocks noGrp="1" noRot="1" noChangeAspect="1" noChangeArrowheads="1" noTextEdit="1"/>
          </p:cNvSpPr>
          <p:nvPr>
            <p:ph type="sldImg"/>
          </p:nvPr>
        </p:nvSpPr>
        <p:spPr>
          <a:ln/>
        </p:spPr>
      </p:sp>
      <p:sp>
        <p:nvSpPr>
          <p:cNvPr id="61443" name="Rectangle 3"/>
          <p:cNvSpPr>
            <a:spLocks noGrp="1" noChangeArrowheads="1"/>
          </p:cNvSpPr>
          <p:nvPr>
            <p:ph type="body" idx="1"/>
          </p:nvPr>
        </p:nvSpPr>
        <p:spPr/>
        <p:txBody>
          <a:bodyPr/>
          <a:lstStyle/>
          <a:p>
            <a:r>
              <a:rPr kumimoji="1" lang="en-US" sz="1200" b="1" i="1" kern="1200" baseline="0" dirty="0">
                <a:solidFill>
                  <a:schemeClr val="tx1"/>
                </a:solidFill>
                <a:latin typeface="Times New Roman" pitchFamily="-110" charset="0"/>
                <a:ea typeface="+mn-ea"/>
                <a:cs typeface="+mn-cs"/>
              </a:rPr>
              <a:t>The ENIAC (Electronic Numerical Integrator And Computer), </a:t>
            </a:r>
            <a:r>
              <a:rPr kumimoji="1" lang="en-US" sz="1200" b="0" i="1" kern="1200" baseline="0" dirty="0">
                <a:solidFill>
                  <a:schemeClr val="tx1"/>
                </a:solidFill>
                <a:latin typeface="Times New Roman" pitchFamily="-110" charset="0"/>
                <a:ea typeface="+mn-ea"/>
                <a:cs typeface="+mn-cs"/>
              </a:rPr>
              <a:t>designed</a:t>
            </a:r>
          </a:p>
          <a:p>
            <a:r>
              <a:rPr kumimoji="1" lang="en-US" sz="1200" kern="1200" baseline="0" dirty="0">
                <a:solidFill>
                  <a:schemeClr val="tx1"/>
                </a:solidFill>
                <a:latin typeface="Times New Roman" pitchFamily="-110" charset="0"/>
                <a:ea typeface="+mn-ea"/>
                <a:cs typeface="+mn-cs"/>
              </a:rPr>
              <a:t>and constructed at the University of Pennsylvania, was the world’s first general purpose</a:t>
            </a:r>
          </a:p>
          <a:p>
            <a:r>
              <a:rPr kumimoji="1" lang="en-US" sz="1200" kern="1200" baseline="0" dirty="0">
                <a:solidFill>
                  <a:schemeClr val="tx1"/>
                </a:solidFill>
                <a:latin typeface="Times New Roman" pitchFamily="-110" charset="0"/>
                <a:ea typeface="+mn-ea"/>
                <a:cs typeface="+mn-cs"/>
              </a:rPr>
              <a:t>electronic digital computer. The project was a response to U.S. needs</a:t>
            </a:r>
          </a:p>
          <a:p>
            <a:r>
              <a:rPr kumimoji="1" lang="en-US" sz="1200" kern="1200" baseline="0" dirty="0">
                <a:solidFill>
                  <a:schemeClr val="tx1"/>
                </a:solidFill>
                <a:latin typeface="Times New Roman" pitchFamily="-110" charset="0"/>
                <a:ea typeface="+mn-ea"/>
                <a:cs typeface="+mn-cs"/>
              </a:rPr>
              <a:t>during World War II. The Army’s Ballistics Research Laboratory (BRL), an agency</a:t>
            </a:r>
          </a:p>
          <a:p>
            <a:r>
              <a:rPr kumimoji="1" lang="en-US" sz="1200" kern="1200" baseline="0" dirty="0">
                <a:solidFill>
                  <a:schemeClr val="tx1"/>
                </a:solidFill>
                <a:latin typeface="Times New Roman" pitchFamily="-110" charset="0"/>
                <a:ea typeface="+mn-ea"/>
                <a:cs typeface="+mn-cs"/>
              </a:rPr>
              <a:t>responsible for developing range and trajectory tables for new weapons, was having</a:t>
            </a:r>
          </a:p>
          <a:p>
            <a:r>
              <a:rPr kumimoji="1" lang="en-US" sz="1200" kern="1200" baseline="0" dirty="0">
                <a:solidFill>
                  <a:schemeClr val="tx1"/>
                </a:solidFill>
                <a:latin typeface="Times New Roman" pitchFamily="-110" charset="0"/>
                <a:ea typeface="+mn-ea"/>
                <a:cs typeface="+mn-cs"/>
              </a:rPr>
              <a:t>difficulty supplying these tables accurately and within a reasonable time frame.</a:t>
            </a:r>
          </a:p>
          <a:p>
            <a:r>
              <a:rPr kumimoji="1" lang="en-US" sz="1200" kern="1200" baseline="0" dirty="0">
                <a:solidFill>
                  <a:schemeClr val="tx1"/>
                </a:solidFill>
                <a:latin typeface="Times New Roman" pitchFamily="-110" charset="0"/>
                <a:ea typeface="+mn-ea"/>
                <a:cs typeface="+mn-cs"/>
              </a:rPr>
              <a:t>Without these firing tables, the new weapons and artillery were useless to gunners.</a:t>
            </a:r>
          </a:p>
          <a:p>
            <a:r>
              <a:rPr kumimoji="1" lang="en-US" sz="1200" kern="1200" baseline="0" dirty="0">
                <a:solidFill>
                  <a:schemeClr val="tx1"/>
                </a:solidFill>
                <a:latin typeface="Times New Roman" pitchFamily="-110" charset="0"/>
                <a:ea typeface="+mn-ea"/>
                <a:cs typeface="+mn-cs"/>
              </a:rPr>
              <a:t>The BRL employed more than 200 people who, using desktop calculators, solved</a:t>
            </a:r>
          </a:p>
          <a:p>
            <a:r>
              <a:rPr kumimoji="1" lang="en-US" sz="1200" kern="1200" baseline="0" dirty="0">
                <a:solidFill>
                  <a:schemeClr val="tx1"/>
                </a:solidFill>
                <a:latin typeface="Times New Roman" pitchFamily="-110" charset="0"/>
                <a:ea typeface="+mn-ea"/>
                <a:cs typeface="+mn-cs"/>
              </a:rPr>
              <a:t>the necessary ballistics equations. Preparation of the tables for a single weapon</a:t>
            </a:r>
          </a:p>
          <a:p>
            <a:r>
              <a:rPr kumimoji="1" lang="en-US" sz="1200" kern="1200" baseline="0" dirty="0">
                <a:solidFill>
                  <a:schemeClr val="tx1"/>
                </a:solidFill>
                <a:latin typeface="Times New Roman" pitchFamily="-110" charset="0"/>
                <a:ea typeface="+mn-ea"/>
                <a:cs typeface="+mn-cs"/>
              </a:rPr>
              <a:t>would take one person many hours, even days.</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John Mauchly, a professor of electrical engineering at the University of</a:t>
            </a:r>
          </a:p>
          <a:p>
            <a:r>
              <a:rPr kumimoji="1" lang="en-US" sz="1200" kern="1200" baseline="0" dirty="0">
                <a:solidFill>
                  <a:schemeClr val="tx1"/>
                </a:solidFill>
                <a:latin typeface="Times New Roman" pitchFamily="-110" charset="0"/>
                <a:ea typeface="+mn-ea"/>
                <a:cs typeface="+mn-cs"/>
              </a:rPr>
              <a:t>Pennsylvania, and John Eckert, one of his graduate students, proposed to build a</a:t>
            </a:r>
          </a:p>
          <a:p>
            <a:r>
              <a:rPr kumimoji="1" lang="en-US" sz="1200" kern="1200" baseline="0" dirty="0">
                <a:solidFill>
                  <a:schemeClr val="tx1"/>
                </a:solidFill>
                <a:latin typeface="Times New Roman" pitchFamily="-110" charset="0"/>
                <a:ea typeface="+mn-ea"/>
                <a:cs typeface="+mn-cs"/>
              </a:rPr>
              <a:t>general-purpose computer using vacuum tubes for the BRL’s application. In 1943,</a:t>
            </a:r>
          </a:p>
          <a:p>
            <a:r>
              <a:rPr kumimoji="1" lang="en-US" sz="1200" kern="1200" baseline="0" dirty="0">
                <a:solidFill>
                  <a:schemeClr val="tx1"/>
                </a:solidFill>
                <a:latin typeface="Times New Roman" pitchFamily="-110" charset="0"/>
                <a:ea typeface="+mn-ea"/>
                <a:cs typeface="+mn-cs"/>
              </a:rPr>
              <a:t>the Army accepted this proposal, and work began on the ENIAC. </a:t>
            </a:r>
            <a:endParaRPr lang="en-GB"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302DEA2-F8D7-C549-B179-963DC37A15CB}" type="slidenum">
              <a:rPr lang="en-US"/>
              <a:pPr/>
              <a:t>13</a:t>
            </a:fld>
            <a:endParaRPr lang="en-US" dirty="0"/>
          </a:p>
        </p:txBody>
      </p:sp>
      <p:sp>
        <p:nvSpPr>
          <p:cNvPr id="61442" name="Rectangle 2"/>
          <p:cNvSpPr>
            <a:spLocks noGrp="1" noRot="1" noChangeAspect="1" noChangeArrowheads="1" noTextEdit="1"/>
          </p:cNvSpPr>
          <p:nvPr>
            <p:ph type="sldImg"/>
          </p:nvPr>
        </p:nvSpPr>
        <p:spPr>
          <a:ln/>
        </p:spPr>
      </p:sp>
      <p:sp>
        <p:nvSpPr>
          <p:cNvPr id="61443" name="Rectangle 3"/>
          <p:cNvSpPr>
            <a:spLocks noGrp="1" noChangeArrowheads="1"/>
          </p:cNvSpPr>
          <p:nvPr>
            <p:ph type="body" idx="1"/>
          </p:nvPr>
        </p:nvSpPr>
        <p:spPr/>
        <p:txBody>
          <a:bodyPr/>
          <a:lstStyle/>
          <a:p>
            <a:r>
              <a:rPr kumimoji="1" lang="vi-VN" sz="1200" b="1" i="1" kern="1200" baseline="0" dirty="0">
                <a:solidFill>
                  <a:schemeClr val="tx1"/>
                </a:solidFill>
                <a:latin typeface="Times New Roman" pitchFamily="-110" charset="0"/>
                <a:ea typeface="+mn-ea"/>
                <a:cs typeface="+mn-cs"/>
              </a:rPr>
              <a:t>Máy tính Số Máy Vi Tính Và Máy Tính</a:t>
            </a:r>
          </a:p>
          <a:p>
            <a:r>
              <a:rPr kumimoji="1" lang="vi-VN" sz="1200" b="1" i="1" kern="1200" baseline="0" dirty="0">
                <a:solidFill>
                  <a:schemeClr val="tx1"/>
                </a:solidFill>
                <a:latin typeface="Times New Roman" pitchFamily="-110" charset="0"/>
                <a:ea typeface="+mn-ea"/>
                <a:cs typeface="+mn-cs"/>
              </a:rPr>
              <a:t>Được thiết kế và xây dựng tại Đại học Pennsylvania</a:t>
            </a:r>
          </a:p>
          <a:p>
            <a:r>
              <a:rPr kumimoji="1" lang="vi-VN" sz="1200" b="1" i="1" kern="1200" baseline="0" dirty="0">
                <a:solidFill>
                  <a:schemeClr val="tx1"/>
                </a:solidFill>
                <a:latin typeface="Times New Roman" pitchFamily="-110" charset="0"/>
                <a:ea typeface="+mn-ea"/>
                <a:cs typeface="+mn-cs"/>
              </a:rPr>
              <a:t>Bắt đầu vào năm 1943 - hoàn thành vào năm 1946, bởi John Mauchly và John Eckert</a:t>
            </a:r>
          </a:p>
          <a:p>
            <a:r>
              <a:rPr kumimoji="1" lang="vi-VN" sz="1200" b="1" i="1" kern="1200" baseline="0" dirty="0">
                <a:solidFill>
                  <a:schemeClr val="tx1"/>
                </a:solidFill>
                <a:latin typeface="Times New Roman" pitchFamily="-110" charset="0"/>
                <a:ea typeface="+mn-ea"/>
                <a:cs typeface="+mn-cs"/>
              </a:rPr>
              <a:t>Đầu tiên của thế giới mục đích điện tử kỹ thuật số máy tính</a:t>
            </a:r>
          </a:p>
          <a:p>
            <a:r>
              <a:rPr kumimoji="1" lang="vi-VN" sz="1200" b="1" i="1" kern="1200" baseline="0" dirty="0">
                <a:solidFill>
                  <a:schemeClr val="tx1"/>
                </a:solidFill>
                <a:latin typeface="Times New Roman" pitchFamily="-110" charset="0"/>
                <a:ea typeface="+mn-ea"/>
                <a:cs typeface="+mn-cs"/>
              </a:rPr>
              <a:t>Phòng thí nghiệm Nghiên cứu Nhiệt đới của Quân đội (BRL) cần một cách để cung cấp các bảng quỹ đạo vũ khí mới một cách chính xác và trong khoảng thời gian hợp lý</a:t>
            </a:r>
          </a:p>
          <a:p>
            <a:r>
              <a:rPr kumimoji="1" lang="vi-VN" sz="1200" b="1" i="1" kern="1200" baseline="0" dirty="0">
                <a:solidFill>
                  <a:schemeClr val="tx1"/>
                </a:solidFill>
                <a:latin typeface="Times New Roman" pitchFamily="-110" charset="0"/>
                <a:ea typeface="+mn-ea"/>
                <a:cs typeface="+mn-cs"/>
              </a:rPr>
              <a:t>Đã không xong trong thời gian để được sử dụng trong nỗ lực chiến tranh</a:t>
            </a:r>
          </a:p>
          <a:p>
            <a:r>
              <a:rPr kumimoji="1" lang="vi-VN" sz="1200" b="1" i="1" kern="1200" baseline="0" dirty="0">
                <a:solidFill>
                  <a:schemeClr val="tx1"/>
                </a:solidFill>
                <a:latin typeface="Times New Roman" pitchFamily="-110" charset="0"/>
                <a:ea typeface="+mn-ea"/>
                <a:cs typeface="+mn-cs"/>
              </a:rPr>
              <a:t>Nhiệm vụ đầu tiên của nó là thực hiện một loạt các tính toán đã được sử dụng để giúp xác định tính khả thi của bom hydro</a:t>
            </a:r>
          </a:p>
          <a:p>
            <a:r>
              <a:rPr kumimoji="1" lang="vi-VN" sz="1200" b="1" i="1" kern="1200" baseline="0" dirty="0">
                <a:solidFill>
                  <a:schemeClr val="tx1"/>
                </a:solidFill>
                <a:latin typeface="Times New Roman" pitchFamily="-110" charset="0"/>
                <a:ea typeface="+mn-ea"/>
                <a:cs typeface="+mn-cs"/>
              </a:rPr>
              <a:t>Tiếp tục hoạt động dưới sự quản lý BRL cho đến năm 1955 khi nó được tháo rời (Phòng thí nghiệm Nghiên cứu về đạn đạo của Quân đội)</a:t>
            </a:r>
            <a:endParaRPr kumimoji="1" lang="en-US" sz="1200" b="1" i="1" kern="1200" baseline="0" dirty="0">
              <a:solidFill>
                <a:schemeClr val="tx1"/>
              </a:solidFill>
              <a:latin typeface="Times New Roman" pitchFamily="-110" charset="0"/>
              <a:ea typeface="+mn-ea"/>
              <a:cs typeface="+mn-cs"/>
            </a:endParaRPr>
          </a:p>
          <a:p>
            <a:r>
              <a:rPr kumimoji="1" lang="en-US" sz="1200" b="1" i="1" kern="1200" baseline="0" dirty="0">
                <a:solidFill>
                  <a:schemeClr val="tx1"/>
                </a:solidFill>
                <a:latin typeface="Times New Roman" pitchFamily="-110" charset="0"/>
                <a:ea typeface="+mn-ea"/>
                <a:cs typeface="+mn-cs"/>
              </a:rPr>
              <a:t>The ENIAC (Electronic Numerical Integrator And Computer), </a:t>
            </a:r>
            <a:r>
              <a:rPr kumimoji="1" lang="en-US" sz="1200" b="0" i="1" kern="1200" baseline="0" dirty="0">
                <a:solidFill>
                  <a:schemeClr val="tx1"/>
                </a:solidFill>
                <a:latin typeface="Times New Roman" pitchFamily="-110" charset="0"/>
                <a:ea typeface="+mn-ea"/>
                <a:cs typeface="+mn-cs"/>
              </a:rPr>
              <a:t>designed</a:t>
            </a:r>
          </a:p>
          <a:p>
            <a:r>
              <a:rPr kumimoji="1" lang="en-US" sz="1200" kern="1200" baseline="0" dirty="0">
                <a:solidFill>
                  <a:schemeClr val="tx1"/>
                </a:solidFill>
                <a:latin typeface="Times New Roman" pitchFamily="-110" charset="0"/>
                <a:ea typeface="+mn-ea"/>
                <a:cs typeface="+mn-cs"/>
              </a:rPr>
              <a:t>and constructed at the University of Pennsylvania, was the world’s first general purpose</a:t>
            </a:r>
          </a:p>
          <a:p>
            <a:r>
              <a:rPr kumimoji="1" lang="en-US" sz="1200" kern="1200" baseline="0" dirty="0">
                <a:solidFill>
                  <a:schemeClr val="tx1"/>
                </a:solidFill>
                <a:latin typeface="Times New Roman" pitchFamily="-110" charset="0"/>
                <a:ea typeface="+mn-ea"/>
                <a:cs typeface="+mn-cs"/>
              </a:rPr>
              <a:t>electronic digital computer. The project was a response to U.S. needs</a:t>
            </a:r>
          </a:p>
          <a:p>
            <a:r>
              <a:rPr kumimoji="1" lang="en-US" sz="1200" kern="1200" baseline="0" dirty="0">
                <a:solidFill>
                  <a:schemeClr val="tx1"/>
                </a:solidFill>
                <a:latin typeface="Times New Roman" pitchFamily="-110" charset="0"/>
                <a:ea typeface="+mn-ea"/>
                <a:cs typeface="+mn-cs"/>
              </a:rPr>
              <a:t>during World War II. The Army’s Ballistics Research Laboratory (BRL), an agency</a:t>
            </a:r>
          </a:p>
          <a:p>
            <a:r>
              <a:rPr kumimoji="1" lang="en-US" sz="1200" kern="1200" baseline="0" dirty="0">
                <a:solidFill>
                  <a:schemeClr val="tx1"/>
                </a:solidFill>
                <a:latin typeface="Times New Roman" pitchFamily="-110" charset="0"/>
                <a:ea typeface="+mn-ea"/>
                <a:cs typeface="+mn-cs"/>
              </a:rPr>
              <a:t>responsible for developing range and trajectory tables for new weapons, was having</a:t>
            </a:r>
          </a:p>
          <a:p>
            <a:r>
              <a:rPr kumimoji="1" lang="en-US" sz="1200" kern="1200" baseline="0" dirty="0">
                <a:solidFill>
                  <a:schemeClr val="tx1"/>
                </a:solidFill>
                <a:latin typeface="Times New Roman" pitchFamily="-110" charset="0"/>
                <a:ea typeface="+mn-ea"/>
                <a:cs typeface="+mn-cs"/>
              </a:rPr>
              <a:t>difficulty supplying these tables accurately and within a reasonable time frame.</a:t>
            </a:r>
          </a:p>
          <a:p>
            <a:r>
              <a:rPr kumimoji="1" lang="en-US" sz="1200" kern="1200" baseline="0" dirty="0">
                <a:solidFill>
                  <a:schemeClr val="tx1"/>
                </a:solidFill>
                <a:latin typeface="Times New Roman" pitchFamily="-110" charset="0"/>
                <a:ea typeface="+mn-ea"/>
                <a:cs typeface="+mn-cs"/>
              </a:rPr>
              <a:t>Without these firing tables, the new weapons and artillery were useless to gunners.</a:t>
            </a:r>
          </a:p>
          <a:p>
            <a:r>
              <a:rPr kumimoji="1" lang="en-US" sz="1200" kern="1200" baseline="0" dirty="0">
                <a:solidFill>
                  <a:schemeClr val="tx1"/>
                </a:solidFill>
                <a:latin typeface="Times New Roman" pitchFamily="-110" charset="0"/>
                <a:ea typeface="+mn-ea"/>
                <a:cs typeface="+mn-cs"/>
              </a:rPr>
              <a:t>The BRL employed more than 200 people who, using desktop calculators, solved</a:t>
            </a:r>
          </a:p>
          <a:p>
            <a:r>
              <a:rPr kumimoji="1" lang="en-US" sz="1200" kern="1200" baseline="0" dirty="0">
                <a:solidFill>
                  <a:schemeClr val="tx1"/>
                </a:solidFill>
                <a:latin typeface="Times New Roman" pitchFamily="-110" charset="0"/>
                <a:ea typeface="+mn-ea"/>
                <a:cs typeface="+mn-cs"/>
              </a:rPr>
              <a:t>the necessary ballistics equations. Preparation of the tables for a single weapon</a:t>
            </a:r>
          </a:p>
          <a:p>
            <a:r>
              <a:rPr kumimoji="1" lang="en-US" sz="1200" kern="1200" baseline="0" dirty="0">
                <a:solidFill>
                  <a:schemeClr val="tx1"/>
                </a:solidFill>
                <a:latin typeface="Times New Roman" pitchFamily="-110" charset="0"/>
                <a:ea typeface="+mn-ea"/>
                <a:cs typeface="+mn-cs"/>
              </a:rPr>
              <a:t>would take one person many hours, even days.</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John Mauchly, a professor of electrical engineering at the University of</a:t>
            </a:r>
          </a:p>
          <a:p>
            <a:r>
              <a:rPr kumimoji="1" lang="en-US" sz="1200" kern="1200" baseline="0" dirty="0">
                <a:solidFill>
                  <a:schemeClr val="tx1"/>
                </a:solidFill>
                <a:latin typeface="Times New Roman" pitchFamily="-110" charset="0"/>
                <a:ea typeface="+mn-ea"/>
                <a:cs typeface="+mn-cs"/>
              </a:rPr>
              <a:t>Pennsylvania, and John Eckert, one of his graduate students, proposed to build a</a:t>
            </a:r>
          </a:p>
          <a:p>
            <a:r>
              <a:rPr kumimoji="1" lang="en-US" sz="1200" kern="1200" baseline="0" dirty="0">
                <a:solidFill>
                  <a:schemeClr val="tx1"/>
                </a:solidFill>
                <a:latin typeface="Times New Roman" pitchFamily="-110" charset="0"/>
                <a:ea typeface="+mn-ea"/>
                <a:cs typeface="+mn-cs"/>
              </a:rPr>
              <a:t>general-purpose computer using vacuum tubes for the BRL’s application. In 1943,</a:t>
            </a:r>
          </a:p>
          <a:p>
            <a:r>
              <a:rPr kumimoji="1" lang="en-US" sz="1200" kern="1200" baseline="0" dirty="0">
                <a:solidFill>
                  <a:schemeClr val="tx1"/>
                </a:solidFill>
                <a:latin typeface="Times New Roman" pitchFamily="-110" charset="0"/>
                <a:ea typeface="+mn-ea"/>
                <a:cs typeface="+mn-cs"/>
              </a:rPr>
              <a:t>the Army accepted this proposal, and work began on the ENIAC. </a:t>
            </a:r>
            <a:endParaRPr lang="en-GB"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145C595-74CD-1C4A-945A-60A24F3947E1}" type="slidenum">
              <a:rPr lang="en-US"/>
              <a:pPr/>
              <a:t>14</a:t>
            </a:fld>
            <a:endParaRPr lang="en-US" dirty="0"/>
          </a:p>
        </p:txBody>
      </p:sp>
      <p:sp>
        <p:nvSpPr>
          <p:cNvPr id="62466" name="Rectangle 2"/>
          <p:cNvSpPr>
            <a:spLocks noGrp="1" noRot="1" noChangeAspect="1" noChangeArrowheads="1" noTextEdit="1"/>
          </p:cNvSpPr>
          <p:nvPr>
            <p:ph type="sldImg"/>
          </p:nvPr>
        </p:nvSpPr>
        <p:spPr>
          <a:ln/>
        </p:spPr>
      </p:sp>
      <p:sp>
        <p:nvSpPr>
          <p:cNvPr id="62467" name="Rectangle 3"/>
          <p:cNvSpPr>
            <a:spLocks noGrp="1" noChangeArrowheads="1"/>
          </p:cNvSpPr>
          <p:nvPr>
            <p:ph type="body" idx="1"/>
          </p:nvPr>
        </p:nvSpPr>
        <p:spPr/>
        <p:txBody>
          <a:bodyPr/>
          <a:lstStyle/>
          <a:p>
            <a:r>
              <a:rPr kumimoji="1" lang="vi-VN" sz="1200" kern="1200" baseline="0" dirty="0">
                <a:solidFill>
                  <a:schemeClr val="tx1"/>
                </a:solidFill>
                <a:latin typeface="Times New Roman" pitchFamily="-110" charset="0"/>
                <a:ea typeface="+mn-ea"/>
                <a:cs typeface="+mn-cs"/>
              </a:rPr>
              <a:t>Kết quả là máy rất to, trọng lượng 30 tấn, chiếm 1500 bộ vuông diện tích sàn,</a:t>
            </a:r>
          </a:p>
          <a:p>
            <a:r>
              <a:rPr kumimoji="1" lang="vi-VN" sz="1200" kern="1200" baseline="0" dirty="0">
                <a:solidFill>
                  <a:schemeClr val="tx1"/>
                </a:solidFill>
                <a:latin typeface="Times New Roman" pitchFamily="-110" charset="0"/>
                <a:ea typeface="+mn-ea"/>
                <a:cs typeface="+mn-cs"/>
              </a:rPr>
              <a:t>và chứa hơn 18.000 ống chân không. Khi hoạt động, nó tiêu thụ</a:t>
            </a:r>
          </a:p>
          <a:p>
            <a:r>
              <a:rPr kumimoji="1" lang="vi-VN" sz="1200" kern="1200" baseline="0" dirty="0">
                <a:solidFill>
                  <a:schemeClr val="tx1"/>
                </a:solidFill>
                <a:latin typeface="Times New Roman" pitchFamily="-110" charset="0"/>
                <a:ea typeface="+mn-ea"/>
                <a:cs typeface="+mn-cs"/>
              </a:rPr>
              <a:t>140 kilowatt điện. Nó cũng nhanh hơn bất kỳ cơ điện tử nào</a:t>
            </a:r>
          </a:p>
          <a:p>
            <a:r>
              <a:rPr kumimoji="1" lang="vi-VN" sz="1200" kern="1200" baseline="0" dirty="0">
                <a:solidFill>
                  <a:schemeClr val="tx1"/>
                </a:solidFill>
                <a:latin typeface="Times New Roman" pitchFamily="-110" charset="0"/>
                <a:ea typeface="+mn-ea"/>
                <a:cs typeface="+mn-cs"/>
              </a:rPr>
              <a:t>máy tính, có khả năng bổ sung 5000 lần mỗi giây.</a:t>
            </a:r>
          </a:p>
          <a:p>
            <a:endParaRPr kumimoji="1" lang="vi-VN" sz="1200" kern="1200" baseline="0" dirty="0">
              <a:solidFill>
                <a:schemeClr val="tx1"/>
              </a:solidFill>
              <a:latin typeface="Times New Roman" pitchFamily="-110" charset="0"/>
              <a:ea typeface="+mn-ea"/>
              <a:cs typeface="+mn-cs"/>
            </a:endParaRPr>
          </a:p>
          <a:p>
            <a:r>
              <a:rPr kumimoji="1" lang="vi-VN" sz="1200" kern="1200" baseline="0" dirty="0">
                <a:solidFill>
                  <a:schemeClr val="tx1"/>
                </a:solidFill>
                <a:latin typeface="Times New Roman" pitchFamily="-110" charset="0"/>
                <a:ea typeface="+mn-ea"/>
                <a:cs typeface="+mn-cs"/>
              </a:rPr>
              <a:t>ENIAC là một thập phân chứ không phải là một máy nhị phân. Đó là, con số</a:t>
            </a:r>
          </a:p>
          <a:p>
            <a:r>
              <a:rPr kumimoji="1" lang="vi-VN" sz="1200" kern="1200" baseline="0" dirty="0">
                <a:solidFill>
                  <a:schemeClr val="tx1"/>
                </a:solidFill>
                <a:latin typeface="Times New Roman" pitchFamily="-110" charset="0"/>
                <a:ea typeface="+mn-ea"/>
                <a:cs typeface="+mn-cs"/>
              </a:rPr>
              <a:t>được đại diện ở dạng thập phân và số học được thực hiện bằng số thập phân</a:t>
            </a:r>
          </a:p>
          <a:p>
            <a:r>
              <a:rPr kumimoji="1" lang="vi-VN" sz="1200" kern="1200" baseline="0" dirty="0">
                <a:solidFill>
                  <a:schemeClr val="tx1"/>
                </a:solidFill>
                <a:latin typeface="Times New Roman" pitchFamily="-110" charset="0"/>
                <a:ea typeface="+mn-ea"/>
                <a:cs typeface="+mn-cs"/>
              </a:rPr>
              <a:t>hệ thống. Bộ nhớ của nó bao gồm 20 accumulators (thanh ghi tích lũy cho cộng cộng dồn), mỗi cái có thể chứa 10 chữ số</a:t>
            </a:r>
          </a:p>
          <a:p>
            <a:r>
              <a:rPr kumimoji="1" lang="vi-VN" sz="1200" kern="1200" baseline="0" dirty="0">
                <a:solidFill>
                  <a:schemeClr val="tx1"/>
                </a:solidFill>
                <a:latin typeface="Times New Roman" pitchFamily="-110" charset="0"/>
                <a:ea typeface="+mn-ea"/>
                <a:cs typeface="+mn-cs"/>
              </a:rPr>
              <a:t>số thập phân. Một vòng 10 ống chân không đại diện cho mỗi chữ số. Bất cứ lúc nào,</a:t>
            </a:r>
          </a:p>
          <a:p>
            <a:r>
              <a:rPr kumimoji="1" lang="vi-VN" sz="1200" kern="1200" baseline="0" dirty="0">
                <a:solidFill>
                  <a:schemeClr val="tx1"/>
                </a:solidFill>
                <a:latin typeface="Times New Roman" pitchFamily="-110" charset="0"/>
                <a:ea typeface="+mn-ea"/>
                <a:cs typeface="+mn-cs"/>
              </a:rPr>
              <a:t>chỉ có một ống chân không ở trạng thái ON, đại diện cho một trong 10 chữ số. Các</a:t>
            </a:r>
          </a:p>
          <a:p>
            <a:r>
              <a:rPr kumimoji="1" lang="vi-VN" sz="1200" kern="1200" baseline="0" dirty="0">
                <a:solidFill>
                  <a:schemeClr val="tx1"/>
                </a:solidFill>
                <a:latin typeface="Times New Roman" pitchFamily="-110" charset="0"/>
                <a:ea typeface="+mn-ea"/>
                <a:cs typeface="+mn-cs"/>
              </a:rPr>
              <a:t>nhược điểm chính của ENIAC là nó phải được lập trình bằng tay bởi</a:t>
            </a:r>
          </a:p>
          <a:p>
            <a:r>
              <a:rPr kumimoji="1" lang="vi-VN" sz="1200" kern="1200" baseline="0" dirty="0">
                <a:solidFill>
                  <a:schemeClr val="tx1"/>
                </a:solidFill>
                <a:latin typeface="Times New Roman" pitchFamily="-110" charset="0"/>
                <a:ea typeface="+mn-ea"/>
                <a:cs typeface="+mn-cs"/>
              </a:rPr>
              <a:t>thiết lập chuyển mạch và cắm và rút dây cáp.</a:t>
            </a:r>
          </a:p>
          <a:p>
            <a:endParaRPr kumimoji="1" lang="vi-VN" sz="1200" kern="1200" baseline="0" dirty="0">
              <a:solidFill>
                <a:schemeClr val="tx1"/>
              </a:solidFill>
              <a:latin typeface="Times New Roman" pitchFamily="-110" charset="0"/>
              <a:ea typeface="+mn-ea"/>
              <a:cs typeface="+mn-cs"/>
            </a:endParaRPr>
          </a:p>
          <a:p>
            <a:r>
              <a:rPr kumimoji="1" lang="vi-VN" sz="1200" kern="1200" baseline="0" dirty="0">
                <a:solidFill>
                  <a:schemeClr val="tx1"/>
                </a:solidFill>
                <a:latin typeface="Times New Roman" pitchFamily="-110" charset="0"/>
                <a:ea typeface="+mn-ea"/>
                <a:cs typeface="+mn-cs"/>
              </a:rPr>
              <a:t>ENIAC hoàn thành vào năm 1946, quá muộn để được sử dụng trong chiến tranh.</a:t>
            </a:r>
          </a:p>
          <a:p>
            <a:r>
              <a:rPr kumimoji="1" lang="vi-VN" sz="1200" kern="1200" baseline="0" dirty="0">
                <a:solidFill>
                  <a:schemeClr val="tx1"/>
                </a:solidFill>
                <a:latin typeface="Times New Roman" pitchFamily="-110" charset="0"/>
                <a:ea typeface="+mn-ea"/>
                <a:cs typeface="+mn-cs"/>
              </a:rPr>
              <a:t>Thay vào đó, nhiệm vụ đầu tiên của nó là thực hiện một loạt các tính toán phức tạp đã được sử dụng</a:t>
            </a:r>
          </a:p>
          <a:p>
            <a:r>
              <a:rPr kumimoji="1" lang="vi-VN" sz="1200" kern="1200" baseline="0" dirty="0">
                <a:solidFill>
                  <a:schemeClr val="tx1"/>
                </a:solidFill>
                <a:latin typeface="Times New Roman" pitchFamily="-110" charset="0"/>
                <a:ea typeface="+mn-ea"/>
                <a:cs typeface="+mn-cs"/>
              </a:rPr>
              <a:t>để giúp xác định tính khả thi của bom hydro. Việc sử dụng ENIAC cho</a:t>
            </a:r>
          </a:p>
          <a:p>
            <a:r>
              <a:rPr kumimoji="1" lang="vi-VN" sz="1200" kern="1200" baseline="0" dirty="0">
                <a:solidFill>
                  <a:schemeClr val="tx1"/>
                </a:solidFill>
                <a:latin typeface="Times New Roman" pitchFamily="-110" charset="0"/>
                <a:ea typeface="+mn-ea"/>
                <a:cs typeface="+mn-cs"/>
              </a:rPr>
              <a:t>một mục đích khác với mục đích mà nó được xây dựng đã chứng minh mục đích chung của nó</a:t>
            </a:r>
          </a:p>
          <a:p>
            <a:r>
              <a:rPr kumimoji="1" lang="vi-VN" sz="1200" kern="1200" baseline="0" dirty="0">
                <a:solidFill>
                  <a:schemeClr val="tx1"/>
                </a:solidFill>
                <a:latin typeface="Times New Roman" pitchFamily="-110" charset="0"/>
                <a:ea typeface="+mn-ea"/>
                <a:cs typeface="+mn-cs"/>
              </a:rPr>
              <a:t>Thiên nhiên. ENIAC tiếp tục hoạt động dưới sự quản lý BRL cho đến năm 1955,</a:t>
            </a:r>
          </a:p>
          <a:p>
            <a:r>
              <a:rPr kumimoji="1" lang="vi-VN" sz="1200" kern="1200" baseline="0" dirty="0">
                <a:solidFill>
                  <a:schemeClr val="tx1"/>
                </a:solidFill>
                <a:latin typeface="Times New Roman" pitchFamily="-110" charset="0"/>
                <a:ea typeface="+mn-ea"/>
                <a:cs typeface="+mn-cs"/>
              </a:rPr>
              <a:t>khi nó được tháo rời.</a:t>
            </a:r>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The resulting machine was enormous, weighing 30 tons, occupying 1500 square feet of floor space,</a:t>
            </a:r>
          </a:p>
          <a:p>
            <a:r>
              <a:rPr kumimoji="1" lang="en-US" sz="1200" kern="1200" baseline="0" dirty="0">
                <a:solidFill>
                  <a:schemeClr val="tx1"/>
                </a:solidFill>
                <a:latin typeface="Times New Roman" pitchFamily="-110" charset="0"/>
                <a:ea typeface="+mn-ea"/>
                <a:cs typeface="+mn-cs"/>
              </a:rPr>
              <a:t>and containing more than 18,000 vacuum tubes. When operating, it consumed</a:t>
            </a:r>
          </a:p>
          <a:p>
            <a:r>
              <a:rPr kumimoji="1" lang="en-US" sz="1200" kern="1200" baseline="0" dirty="0">
                <a:solidFill>
                  <a:schemeClr val="tx1"/>
                </a:solidFill>
                <a:latin typeface="Times New Roman" pitchFamily="-110" charset="0"/>
                <a:ea typeface="+mn-ea"/>
                <a:cs typeface="+mn-cs"/>
              </a:rPr>
              <a:t>140 kilowatts of power. It was also substantially faster than any electromechanical</a:t>
            </a:r>
          </a:p>
          <a:p>
            <a:r>
              <a:rPr kumimoji="1" lang="en-US" sz="1200" kern="1200" baseline="0" dirty="0">
                <a:solidFill>
                  <a:schemeClr val="tx1"/>
                </a:solidFill>
                <a:latin typeface="Times New Roman" pitchFamily="-110" charset="0"/>
                <a:ea typeface="+mn-ea"/>
                <a:cs typeface="+mn-cs"/>
              </a:rPr>
              <a:t>computer, capable of 5000 additions per second.</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The ENIAC was a decimal rather than a binary machine. That is, numbers</a:t>
            </a:r>
          </a:p>
          <a:p>
            <a:r>
              <a:rPr kumimoji="1" lang="en-US" sz="1200" kern="1200" baseline="0" dirty="0">
                <a:solidFill>
                  <a:schemeClr val="tx1"/>
                </a:solidFill>
                <a:latin typeface="Times New Roman" pitchFamily="-110" charset="0"/>
                <a:ea typeface="+mn-ea"/>
                <a:cs typeface="+mn-cs"/>
              </a:rPr>
              <a:t>were represented in decimal form, and arithmetic was performed in the decimal</a:t>
            </a:r>
          </a:p>
          <a:p>
            <a:r>
              <a:rPr kumimoji="1" lang="en-US" sz="1200" kern="1200" baseline="0" dirty="0">
                <a:solidFill>
                  <a:schemeClr val="tx1"/>
                </a:solidFill>
                <a:latin typeface="Times New Roman" pitchFamily="-110" charset="0"/>
                <a:ea typeface="+mn-ea"/>
                <a:cs typeface="+mn-cs"/>
              </a:rPr>
              <a:t>system. Its memory consisted of 20 </a:t>
            </a:r>
            <a:r>
              <a:rPr kumimoji="1" lang="en-US" sz="1200" i="1" kern="1200" baseline="0" dirty="0">
                <a:solidFill>
                  <a:schemeClr val="tx1"/>
                </a:solidFill>
                <a:latin typeface="Times New Roman" pitchFamily="-110" charset="0"/>
                <a:ea typeface="+mn-ea"/>
                <a:cs typeface="+mn-cs"/>
              </a:rPr>
              <a:t>accumulators </a:t>
            </a:r>
            <a:r>
              <a:rPr kumimoji="1" lang="en-US" sz="1200" b="1" i="1" kern="1200" baseline="0" dirty="0">
                <a:solidFill>
                  <a:schemeClr val="tx1"/>
                </a:solidFill>
                <a:latin typeface="Times New Roman" pitchFamily="-110" charset="0"/>
                <a:ea typeface="+mn-ea"/>
                <a:cs typeface="+mn-cs"/>
              </a:rPr>
              <a:t>(thanh ghi tích lũy cho việc cộng dồn),</a:t>
            </a:r>
            <a:r>
              <a:rPr kumimoji="1" lang="en-US" sz="1200" i="1" kern="1200" baseline="0" dirty="0">
                <a:solidFill>
                  <a:schemeClr val="tx1"/>
                </a:solidFill>
                <a:latin typeface="Times New Roman" pitchFamily="-110" charset="0"/>
                <a:ea typeface="+mn-ea"/>
                <a:cs typeface="+mn-cs"/>
              </a:rPr>
              <a:t> </a:t>
            </a:r>
            <a:r>
              <a:rPr kumimoji="1" lang="en-US" sz="1200" i="0" kern="1200" baseline="0" dirty="0">
                <a:solidFill>
                  <a:schemeClr val="tx1"/>
                </a:solidFill>
                <a:latin typeface="Times New Roman" pitchFamily="-110" charset="0"/>
                <a:ea typeface="+mn-ea"/>
                <a:cs typeface="+mn-cs"/>
              </a:rPr>
              <a:t>each capable of holding a 10-digit</a:t>
            </a:r>
          </a:p>
          <a:p>
            <a:r>
              <a:rPr kumimoji="1" lang="en-US" sz="1200" kern="1200" baseline="0" dirty="0">
                <a:solidFill>
                  <a:schemeClr val="tx1"/>
                </a:solidFill>
                <a:latin typeface="Times New Roman" pitchFamily="-110" charset="0"/>
                <a:ea typeface="+mn-ea"/>
                <a:cs typeface="+mn-cs"/>
              </a:rPr>
              <a:t>decimal number. A ring of 10 vacuum tubes represented each digit. At any time,</a:t>
            </a:r>
          </a:p>
          <a:p>
            <a:r>
              <a:rPr kumimoji="1" lang="en-US" sz="1200" kern="1200" baseline="0" dirty="0">
                <a:solidFill>
                  <a:schemeClr val="tx1"/>
                </a:solidFill>
                <a:latin typeface="Times New Roman" pitchFamily="-110" charset="0"/>
                <a:ea typeface="+mn-ea"/>
                <a:cs typeface="+mn-cs"/>
              </a:rPr>
              <a:t>only one vacuum tube was in the ON state, representing one of the 10 digits. The</a:t>
            </a:r>
          </a:p>
          <a:p>
            <a:r>
              <a:rPr kumimoji="1" lang="en-US" sz="1200" kern="1200" baseline="0" dirty="0">
                <a:solidFill>
                  <a:schemeClr val="tx1"/>
                </a:solidFill>
                <a:latin typeface="Times New Roman" pitchFamily="-110" charset="0"/>
                <a:ea typeface="+mn-ea"/>
                <a:cs typeface="+mn-cs"/>
              </a:rPr>
              <a:t>major drawback of the ENIAC was that it had to be programmed manually by</a:t>
            </a:r>
          </a:p>
          <a:p>
            <a:r>
              <a:rPr kumimoji="1" lang="en-US" sz="1200" kern="1200" baseline="0" dirty="0">
                <a:solidFill>
                  <a:schemeClr val="tx1"/>
                </a:solidFill>
                <a:latin typeface="Times New Roman" pitchFamily="-110" charset="0"/>
                <a:ea typeface="+mn-ea"/>
                <a:cs typeface="+mn-cs"/>
              </a:rPr>
              <a:t>setting switches and plugging and unplugging cables.</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The ENIAC was completed in 1946, too late to be used in the war effort.</a:t>
            </a:r>
          </a:p>
          <a:p>
            <a:r>
              <a:rPr kumimoji="1" lang="en-US" sz="1200" kern="1200" baseline="0" dirty="0">
                <a:solidFill>
                  <a:schemeClr val="tx1"/>
                </a:solidFill>
                <a:latin typeface="Times New Roman" pitchFamily="-110" charset="0"/>
                <a:ea typeface="+mn-ea"/>
                <a:cs typeface="+mn-cs"/>
              </a:rPr>
              <a:t>Instead, its first task was to perform a series of complex calculations that were used</a:t>
            </a:r>
          </a:p>
          <a:p>
            <a:r>
              <a:rPr kumimoji="1" lang="en-US" sz="1200" kern="1200" baseline="0" dirty="0">
                <a:solidFill>
                  <a:schemeClr val="tx1"/>
                </a:solidFill>
                <a:latin typeface="Times New Roman" pitchFamily="-110" charset="0"/>
                <a:ea typeface="+mn-ea"/>
                <a:cs typeface="+mn-cs"/>
              </a:rPr>
              <a:t>to help determine the feasibility of the hydrogen bomb. The use of the ENIAC for</a:t>
            </a:r>
          </a:p>
          <a:p>
            <a:r>
              <a:rPr kumimoji="1" lang="en-US" sz="1200" kern="1200" baseline="0" dirty="0">
                <a:solidFill>
                  <a:schemeClr val="tx1"/>
                </a:solidFill>
                <a:latin typeface="Times New Roman" pitchFamily="-110" charset="0"/>
                <a:ea typeface="+mn-ea"/>
                <a:cs typeface="+mn-cs"/>
              </a:rPr>
              <a:t>a purpose other than that for which it was built demonstrated its general-purpose</a:t>
            </a:r>
          </a:p>
          <a:p>
            <a:r>
              <a:rPr kumimoji="1" lang="en-US" sz="1200" kern="1200" baseline="0" dirty="0">
                <a:solidFill>
                  <a:schemeClr val="tx1"/>
                </a:solidFill>
                <a:latin typeface="Times New Roman" pitchFamily="-110" charset="0"/>
                <a:ea typeface="+mn-ea"/>
                <a:cs typeface="+mn-cs"/>
              </a:rPr>
              <a:t>nature. The ENIAC continued to operate under BRL management until 1955,</a:t>
            </a:r>
          </a:p>
          <a:p>
            <a:r>
              <a:rPr kumimoji="1" lang="en-US" sz="1200" kern="1200" baseline="0" dirty="0">
                <a:solidFill>
                  <a:schemeClr val="tx1"/>
                </a:solidFill>
                <a:latin typeface="Times New Roman" pitchFamily="-110" charset="0"/>
                <a:ea typeface="+mn-ea"/>
                <a:cs typeface="+mn-cs"/>
              </a:rPr>
              <a:t>when it was disassembled.</a:t>
            </a:r>
            <a:endParaRPr lang="en-GB" dirty="0"/>
          </a:p>
          <a:p>
            <a:endParaRPr lang="en-GB"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FED6845-E971-D44B-B7C4-232554A4FCF4}" type="slidenum">
              <a:rPr lang="en-US"/>
              <a:pPr/>
              <a:t>15</a:t>
            </a:fld>
            <a:endParaRPr lang="en-US" dirty="0"/>
          </a:p>
        </p:txBody>
      </p:sp>
      <p:sp>
        <p:nvSpPr>
          <p:cNvPr id="63490" name="Rectangle 2"/>
          <p:cNvSpPr>
            <a:spLocks noGrp="1" noRot="1" noChangeAspect="1" noChangeArrowheads="1" noTextEdit="1"/>
          </p:cNvSpPr>
          <p:nvPr>
            <p:ph type="sldImg"/>
          </p:nvPr>
        </p:nvSpPr>
        <p:spPr>
          <a:ln/>
        </p:spPr>
      </p:sp>
      <p:sp>
        <p:nvSpPr>
          <p:cNvPr id="63491" name="Rectangle 3"/>
          <p:cNvSpPr>
            <a:spLocks noGrp="1" noChangeArrowheads="1"/>
          </p:cNvSpPr>
          <p:nvPr>
            <p:ph type="body" idx="1"/>
          </p:nvPr>
        </p:nvSpPr>
        <p:spPr/>
        <p:txBody>
          <a:bodyPr/>
          <a:lstStyle/>
          <a:p>
            <a:r>
              <a:rPr kumimoji="1" lang="vi-VN" sz="1200" kern="1200" baseline="0" dirty="0">
                <a:solidFill>
                  <a:schemeClr val="tx1"/>
                </a:solidFill>
                <a:latin typeface="Times New Roman" pitchFamily="-110" charset="0"/>
                <a:ea typeface="+mn-ea"/>
                <a:cs typeface="+mn-cs"/>
              </a:rPr>
              <a:t>Xuất bản lần đầu tiên của ý tưởng này là vào năm 1945</a:t>
            </a:r>
          </a:p>
          <a:p>
            <a:r>
              <a:rPr kumimoji="1" lang="vi-VN" sz="1200" kern="1200" baseline="0" dirty="0">
                <a:solidFill>
                  <a:schemeClr val="tx1"/>
                </a:solidFill>
                <a:latin typeface="Times New Roman" pitchFamily="-110" charset="0"/>
                <a:ea typeface="+mn-ea"/>
                <a:cs typeface="+mn-cs"/>
              </a:rPr>
              <a:t>Khái niệm chương trình lưu trữ</a:t>
            </a:r>
          </a:p>
          <a:p>
            <a:r>
              <a:rPr kumimoji="1" lang="vi-VN" sz="1200" kern="1200" baseline="0" dirty="0">
                <a:solidFill>
                  <a:schemeClr val="tx1"/>
                </a:solidFill>
                <a:latin typeface="Times New Roman" pitchFamily="-110" charset="0"/>
                <a:ea typeface="+mn-ea"/>
                <a:cs typeface="+mn-cs"/>
              </a:rPr>
              <a:t>Được phân bổ cho các nhà thiết kế ENIAC, nổi bật nhất là nhà toán học John von Neumann</a:t>
            </a:r>
          </a:p>
          <a:p>
            <a:r>
              <a:rPr kumimoji="1" lang="vi-VN" sz="1200" kern="1200" baseline="0" dirty="0">
                <a:solidFill>
                  <a:schemeClr val="tx1"/>
                </a:solidFill>
                <a:latin typeface="Times New Roman" pitchFamily="-110" charset="0"/>
                <a:ea typeface="+mn-ea"/>
                <a:cs typeface="+mn-cs"/>
              </a:rPr>
              <a:t>Chương trình đại diện trong một hình thức phù hợp để lưu trữ trong bộ nhớ cùng với dữ liệu (chương trình = dữ liệu + hướng dẫn)</a:t>
            </a:r>
          </a:p>
          <a:p>
            <a:r>
              <a:rPr kumimoji="1" lang="vi-VN" sz="1200" kern="1200" baseline="0" dirty="0">
                <a:solidFill>
                  <a:schemeClr val="tx1"/>
                </a:solidFill>
                <a:latin typeface="Times New Roman" pitchFamily="-110" charset="0"/>
                <a:ea typeface="+mn-ea"/>
                <a:cs typeface="+mn-cs"/>
              </a:rPr>
              <a:t>Máy tính IAS</a:t>
            </a:r>
          </a:p>
          <a:p>
            <a:r>
              <a:rPr kumimoji="1" lang="vi-VN" sz="1200" kern="1200" baseline="0" dirty="0">
                <a:solidFill>
                  <a:schemeClr val="tx1"/>
                </a:solidFill>
                <a:latin typeface="Times New Roman" pitchFamily="-110" charset="0"/>
                <a:ea typeface="+mn-ea"/>
                <a:cs typeface="+mn-cs"/>
              </a:rPr>
              <a:t>Viện nghiên cứu cao cấp Princeton</a:t>
            </a:r>
          </a:p>
          <a:p>
            <a:r>
              <a:rPr kumimoji="1" lang="vi-VN" sz="1200" kern="1200" baseline="0" dirty="0">
                <a:solidFill>
                  <a:schemeClr val="tx1"/>
                </a:solidFill>
                <a:latin typeface="Times New Roman" pitchFamily="-110" charset="0"/>
                <a:ea typeface="+mn-ea"/>
                <a:cs typeface="+mn-cs"/>
              </a:rPr>
              <a:t>Nguyên mẫu của tất cả các máy tính mục đích chung sau đó</a:t>
            </a:r>
          </a:p>
          <a:p>
            <a:r>
              <a:rPr kumimoji="1" lang="vi-VN" sz="1200" kern="1200" baseline="0" dirty="0">
                <a:solidFill>
                  <a:schemeClr val="tx1"/>
                </a:solidFill>
                <a:latin typeface="Times New Roman" pitchFamily="-110" charset="0"/>
                <a:ea typeface="+mn-ea"/>
                <a:cs typeface="+mn-cs"/>
              </a:rPr>
              <a:t>Hoàn thành năm 1952</a:t>
            </a:r>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The task of entering and altering programs for the ENIAC was extremely tedious. </a:t>
            </a:r>
          </a:p>
          <a:p>
            <a:r>
              <a:rPr kumimoji="1" lang="en-US" sz="1200" kern="1200" baseline="0" dirty="0">
                <a:solidFill>
                  <a:schemeClr val="tx1"/>
                </a:solidFill>
                <a:latin typeface="Times New Roman" pitchFamily="-110" charset="0"/>
                <a:ea typeface="+mn-ea"/>
                <a:cs typeface="+mn-cs"/>
              </a:rPr>
              <a:t>But suppose a program could be represented in a form suitable for storing in memory </a:t>
            </a:r>
          </a:p>
          <a:p>
            <a:r>
              <a:rPr kumimoji="1" lang="en-US" sz="1200" kern="1200" baseline="0" dirty="0">
                <a:solidFill>
                  <a:schemeClr val="tx1"/>
                </a:solidFill>
                <a:latin typeface="Times New Roman" pitchFamily="-110" charset="0"/>
                <a:ea typeface="+mn-ea"/>
                <a:cs typeface="+mn-cs"/>
              </a:rPr>
              <a:t>alongside the data. Then, a computer could get its instructions by reading them from</a:t>
            </a:r>
          </a:p>
          <a:p>
            <a:r>
              <a:rPr kumimoji="1" lang="en-US" sz="1200" kern="1200" baseline="0" dirty="0">
                <a:solidFill>
                  <a:schemeClr val="tx1"/>
                </a:solidFill>
                <a:latin typeface="Times New Roman" pitchFamily="-110" charset="0"/>
                <a:ea typeface="+mn-ea"/>
                <a:cs typeface="+mn-cs"/>
              </a:rPr>
              <a:t>memory, and a program could be set or altered by setting the values of a portion of memory.</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This idea, known as the </a:t>
            </a:r>
            <a:r>
              <a:rPr kumimoji="1" lang="en-US" sz="1200" b="1" kern="1200" baseline="0" dirty="0">
                <a:solidFill>
                  <a:schemeClr val="tx1"/>
                </a:solidFill>
                <a:latin typeface="Times New Roman" pitchFamily="-110" charset="0"/>
                <a:ea typeface="+mn-ea"/>
                <a:cs typeface="+mn-cs"/>
              </a:rPr>
              <a:t>stored-program concept, </a:t>
            </a:r>
            <a:r>
              <a:rPr kumimoji="1" lang="en-US" sz="1200" b="0" kern="1200" baseline="0" dirty="0">
                <a:solidFill>
                  <a:schemeClr val="tx1"/>
                </a:solidFill>
                <a:latin typeface="Times New Roman" pitchFamily="-110" charset="0"/>
                <a:ea typeface="+mn-ea"/>
                <a:cs typeface="+mn-cs"/>
              </a:rPr>
              <a:t>is usually attributed to the</a:t>
            </a:r>
          </a:p>
          <a:p>
            <a:r>
              <a:rPr kumimoji="1" lang="en-US" sz="1200" kern="1200" baseline="0" dirty="0">
                <a:solidFill>
                  <a:schemeClr val="tx1"/>
                </a:solidFill>
                <a:latin typeface="Times New Roman" pitchFamily="-110" charset="0"/>
                <a:ea typeface="+mn-ea"/>
                <a:cs typeface="+mn-cs"/>
              </a:rPr>
              <a:t>ENIAC designers, most notably the mathematician John von Neumann, who was</a:t>
            </a:r>
          </a:p>
          <a:p>
            <a:r>
              <a:rPr kumimoji="1" lang="en-US" sz="1200" kern="1200" baseline="0" dirty="0">
                <a:solidFill>
                  <a:schemeClr val="tx1"/>
                </a:solidFill>
                <a:latin typeface="Times New Roman" pitchFamily="-110" charset="0"/>
                <a:ea typeface="+mn-ea"/>
                <a:cs typeface="+mn-cs"/>
              </a:rPr>
              <a:t>a consultant on the ENIAC project. Alan Turing developed the idea at about the</a:t>
            </a:r>
          </a:p>
          <a:p>
            <a:r>
              <a:rPr kumimoji="1" lang="en-US" sz="1200" kern="1200" baseline="0" dirty="0">
                <a:solidFill>
                  <a:schemeClr val="tx1"/>
                </a:solidFill>
                <a:latin typeface="Times New Roman" pitchFamily="-110" charset="0"/>
                <a:ea typeface="+mn-ea"/>
                <a:cs typeface="+mn-cs"/>
              </a:rPr>
              <a:t>same time. The first publication of the idea was in a 1945 proposal by von Neumann</a:t>
            </a:r>
          </a:p>
          <a:p>
            <a:r>
              <a:rPr kumimoji="1" lang="en-US" sz="1200" kern="1200" baseline="0" dirty="0">
                <a:solidFill>
                  <a:schemeClr val="tx1"/>
                </a:solidFill>
                <a:latin typeface="Times New Roman" pitchFamily="-110" charset="0"/>
                <a:ea typeface="+mn-ea"/>
                <a:cs typeface="+mn-cs"/>
              </a:rPr>
              <a:t>for a new computer, the EDVAC (Electronic Discrete Variable Computer).</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In 1946, von Neumann and his colleagues began the design of a new stored program</a:t>
            </a:r>
          </a:p>
          <a:p>
            <a:r>
              <a:rPr kumimoji="1" lang="en-US" sz="1200" kern="1200" baseline="0" dirty="0">
                <a:solidFill>
                  <a:schemeClr val="tx1"/>
                </a:solidFill>
                <a:latin typeface="Times New Roman" pitchFamily="-110" charset="0"/>
                <a:ea typeface="+mn-ea"/>
                <a:cs typeface="+mn-cs"/>
              </a:rPr>
              <a:t>computer, referred to as the IAS computer, at the Princeton Institute for</a:t>
            </a:r>
          </a:p>
          <a:p>
            <a:r>
              <a:rPr kumimoji="1" lang="en-US" sz="1200" kern="1200" baseline="0" dirty="0">
                <a:solidFill>
                  <a:schemeClr val="tx1"/>
                </a:solidFill>
                <a:latin typeface="Times New Roman" pitchFamily="-110" charset="0"/>
                <a:ea typeface="+mn-ea"/>
                <a:cs typeface="+mn-cs"/>
              </a:rPr>
              <a:t>Advanced Studies. The IAS computer, although not completed until 1952, is the</a:t>
            </a:r>
          </a:p>
          <a:p>
            <a:r>
              <a:rPr kumimoji="1" lang="en-US" sz="1200" kern="1200" baseline="0" dirty="0">
                <a:solidFill>
                  <a:schemeClr val="tx1"/>
                </a:solidFill>
                <a:latin typeface="Times New Roman" pitchFamily="-110" charset="0"/>
                <a:ea typeface="+mn-ea"/>
                <a:cs typeface="+mn-cs"/>
              </a:rPr>
              <a:t>prototype of all subsequent general-purpose computers.</a:t>
            </a:r>
            <a:endParaRPr lang="en-GB"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58403C2-765D-404C-AB4A-99BCCA5A6DC8}" type="slidenum">
              <a:rPr lang="en-US"/>
              <a:pPr/>
              <a:t>16</a:t>
            </a:fld>
            <a:endParaRPr lang="en-US" dirty="0"/>
          </a:p>
        </p:txBody>
      </p:sp>
      <p:sp>
        <p:nvSpPr>
          <p:cNvPr id="64514" name="Rectangle 2"/>
          <p:cNvSpPr>
            <a:spLocks noGrp="1" noRot="1" noChangeAspect="1" noChangeArrowheads="1" noTextEdit="1"/>
          </p:cNvSpPr>
          <p:nvPr>
            <p:ph type="sldImg"/>
          </p:nvPr>
        </p:nvSpPr>
        <p:spPr>
          <a:ln/>
        </p:spPr>
      </p:sp>
      <p:sp>
        <p:nvSpPr>
          <p:cNvPr id="64515"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110" charset="0"/>
                <a:ea typeface="+mn-ea"/>
                <a:cs typeface="+mn-cs"/>
              </a:rPr>
              <a:t>Figure 2.1 shows the general structure of the IAS computer (compare to middle</a:t>
            </a:r>
          </a:p>
          <a:p>
            <a:r>
              <a:rPr kumimoji="1" lang="en-US" sz="1200" kern="1200" baseline="0" dirty="0">
                <a:solidFill>
                  <a:schemeClr val="tx1"/>
                </a:solidFill>
                <a:latin typeface="Times New Roman" pitchFamily="-110" charset="0"/>
                <a:ea typeface="+mn-ea"/>
                <a:cs typeface="+mn-cs"/>
              </a:rPr>
              <a:t>portion of Figure 1.4). It consists of</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A </a:t>
            </a:r>
            <a:r>
              <a:rPr kumimoji="1" lang="en-US" sz="1200" b="1" kern="1200" baseline="0" dirty="0">
                <a:solidFill>
                  <a:schemeClr val="tx1"/>
                </a:solidFill>
                <a:latin typeface="Times New Roman" pitchFamily="-110" charset="0"/>
                <a:ea typeface="+mn-ea"/>
                <a:cs typeface="+mn-cs"/>
              </a:rPr>
              <a:t>main memory, </a:t>
            </a:r>
            <a:r>
              <a:rPr kumimoji="1" lang="en-US" sz="1200" b="0" kern="1200" baseline="0" dirty="0">
                <a:solidFill>
                  <a:schemeClr val="tx1"/>
                </a:solidFill>
                <a:latin typeface="Times New Roman" pitchFamily="-110" charset="0"/>
                <a:ea typeface="+mn-ea"/>
                <a:cs typeface="+mn-cs"/>
              </a:rPr>
              <a:t>which stores both data and instructions</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An </a:t>
            </a:r>
            <a:r>
              <a:rPr kumimoji="1" lang="en-US" sz="1200" b="1" kern="1200" baseline="0" dirty="0">
                <a:solidFill>
                  <a:schemeClr val="tx1"/>
                </a:solidFill>
                <a:latin typeface="Times New Roman" pitchFamily="-110" charset="0"/>
                <a:ea typeface="+mn-ea"/>
                <a:cs typeface="+mn-cs"/>
              </a:rPr>
              <a:t>arithmetic and logic unit (ALU) </a:t>
            </a:r>
            <a:r>
              <a:rPr kumimoji="1" lang="en-US" sz="1200" b="0" kern="1200" baseline="0" dirty="0">
                <a:solidFill>
                  <a:schemeClr val="tx1"/>
                </a:solidFill>
                <a:latin typeface="Times New Roman" pitchFamily="-110" charset="0"/>
                <a:ea typeface="+mn-ea"/>
                <a:cs typeface="+mn-cs"/>
              </a:rPr>
              <a:t>capable of operating on binary data</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A </a:t>
            </a:r>
            <a:r>
              <a:rPr kumimoji="1" lang="en-US" sz="1200" b="1" kern="1200" baseline="0" dirty="0">
                <a:solidFill>
                  <a:schemeClr val="tx1"/>
                </a:solidFill>
                <a:latin typeface="Times New Roman" pitchFamily="-110" charset="0"/>
                <a:ea typeface="+mn-ea"/>
                <a:cs typeface="+mn-cs"/>
              </a:rPr>
              <a:t>control unit, </a:t>
            </a:r>
            <a:r>
              <a:rPr kumimoji="1" lang="en-US" sz="1200" b="0" kern="1200" baseline="0" dirty="0">
                <a:solidFill>
                  <a:schemeClr val="tx1"/>
                </a:solidFill>
                <a:latin typeface="Times New Roman" pitchFamily="-110" charset="0"/>
                <a:ea typeface="+mn-ea"/>
                <a:cs typeface="+mn-cs"/>
              </a:rPr>
              <a:t>which interprets the instructions in memory and causes them</a:t>
            </a:r>
          </a:p>
          <a:p>
            <a:r>
              <a:rPr kumimoji="1" lang="en-US" sz="1200" kern="1200" baseline="0" dirty="0">
                <a:solidFill>
                  <a:schemeClr val="tx1"/>
                </a:solidFill>
                <a:latin typeface="Times New Roman" pitchFamily="-110" charset="0"/>
                <a:ea typeface="+mn-ea"/>
                <a:cs typeface="+mn-cs"/>
              </a:rPr>
              <a:t>to be executed</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a:t>
            </a:r>
            <a:r>
              <a:rPr kumimoji="1" lang="en-US" sz="1200" b="1" kern="1200" baseline="0" dirty="0">
                <a:solidFill>
                  <a:schemeClr val="tx1"/>
                </a:solidFill>
                <a:latin typeface="Times New Roman" pitchFamily="-110" charset="0"/>
                <a:ea typeface="+mn-ea"/>
                <a:cs typeface="+mn-cs"/>
              </a:rPr>
              <a:t>Input/output (I/O) </a:t>
            </a:r>
            <a:r>
              <a:rPr kumimoji="1" lang="en-US" sz="1200" b="0" kern="1200" baseline="0" dirty="0">
                <a:solidFill>
                  <a:schemeClr val="tx1"/>
                </a:solidFill>
                <a:latin typeface="Times New Roman" pitchFamily="-110" charset="0"/>
                <a:ea typeface="+mn-ea"/>
                <a:cs typeface="+mn-cs"/>
              </a:rPr>
              <a:t>equipment operated by the control unit</a:t>
            </a:r>
            <a:endParaRPr lang="en-GB" b="0"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28FD58E-35E8-E546-955F-066F4D125A80}" type="slidenum">
              <a:rPr lang="en-US"/>
              <a:pPr/>
              <a:t>17</a:t>
            </a:fld>
            <a:endParaRPr lang="en-US" dirty="0"/>
          </a:p>
        </p:txBody>
      </p:sp>
      <p:sp>
        <p:nvSpPr>
          <p:cNvPr id="65538" name="Rectangle 2"/>
          <p:cNvSpPr>
            <a:spLocks noGrp="1" noRot="1" noChangeAspect="1" noChangeArrowheads="1" noTextEdit="1"/>
          </p:cNvSpPr>
          <p:nvPr>
            <p:ph type="sldImg"/>
          </p:nvPr>
        </p:nvSpPr>
        <p:spPr>
          <a:ln/>
        </p:spPr>
      </p:sp>
      <p:sp>
        <p:nvSpPr>
          <p:cNvPr id="65539" name="Rectangle 3"/>
          <p:cNvSpPr>
            <a:spLocks noGrp="1" noChangeArrowheads="1"/>
          </p:cNvSpPr>
          <p:nvPr>
            <p:ph type="body" idx="1"/>
          </p:nvPr>
        </p:nvSpPr>
        <p:spPr/>
        <p:txBody>
          <a:bodyPr/>
          <a:lstStyle/>
          <a:p>
            <a:r>
              <a:rPr kumimoji="1" lang="vi-VN" sz="1200" kern="1200" baseline="0" dirty="0">
                <a:solidFill>
                  <a:schemeClr val="tx1"/>
                </a:solidFill>
                <a:latin typeface="Times New Roman" pitchFamily="-110" charset="0"/>
                <a:ea typeface="+mn-ea"/>
                <a:cs typeface="+mn-cs"/>
              </a:rPr>
              <a:t>Bộ nhớ của IAS bao gồm 1000 địa điểm lưu trữ, gọi là từ, của</a:t>
            </a:r>
          </a:p>
          <a:p>
            <a:r>
              <a:rPr kumimoji="1" lang="vi-VN" sz="1200" kern="1200" baseline="0" dirty="0">
                <a:solidFill>
                  <a:schemeClr val="tx1"/>
                </a:solidFill>
                <a:latin typeface="Times New Roman" pitchFamily="-110" charset="0"/>
                <a:ea typeface="+mn-ea"/>
                <a:cs typeface="+mn-cs"/>
              </a:rPr>
              <a:t>40 chữ số nhị phân (mỗi bit). Cả dữ liệu và hướng dẫn được lưu trữ ở đó. Số</a:t>
            </a:r>
          </a:p>
          <a:p>
            <a:r>
              <a:rPr kumimoji="1" lang="vi-VN" sz="1200" kern="1200" baseline="0" dirty="0">
                <a:solidFill>
                  <a:schemeClr val="tx1"/>
                </a:solidFill>
                <a:latin typeface="Times New Roman" pitchFamily="-110" charset="0"/>
                <a:ea typeface="+mn-ea"/>
                <a:cs typeface="+mn-cs"/>
              </a:rPr>
              <a:t>được biểu diễn dưới dạng nhị phân, và mỗi lệnh là một mã nhị phân. Hình 2.2</a:t>
            </a:r>
          </a:p>
          <a:p>
            <a:r>
              <a:rPr kumimoji="1" lang="vi-VN" sz="1200" kern="1200" baseline="0" dirty="0">
                <a:solidFill>
                  <a:schemeClr val="tx1"/>
                </a:solidFill>
                <a:latin typeface="Times New Roman" pitchFamily="-110" charset="0"/>
                <a:ea typeface="+mn-ea"/>
                <a:cs typeface="+mn-cs"/>
              </a:rPr>
              <a:t>minh hoạ các định dạng này. Mỗi số được đại diện bởi một dấu bit và một 39-bit</a:t>
            </a:r>
          </a:p>
          <a:p>
            <a:r>
              <a:rPr kumimoji="1" lang="vi-VN" sz="1200" kern="1200" baseline="0" dirty="0">
                <a:solidFill>
                  <a:schemeClr val="tx1"/>
                </a:solidFill>
                <a:latin typeface="Times New Roman" pitchFamily="-110" charset="0"/>
                <a:ea typeface="+mn-ea"/>
                <a:cs typeface="+mn-cs"/>
              </a:rPr>
              <a:t>giá trị. Một từ cũng có thể chứa hai hướng dẫn 20-bit, với mỗi hướng dẫn</a:t>
            </a:r>
          </a:p>
          <a:p>
            <a:r>
              <a:rPr kumimoji="1" lang="vi-VN" sz="1200" kern="1200" baseline="0" dirty="0">
                <a:solidFill>
                  <a:schemeClr val="tx1"/>
                </a:solidFill>
                <a:latin typeface="Times New Roman" pitchFamily="-110" charset="0"/>
                <a:ea typeface="+mn-ea"/>
                <a:cs typeface="+mn-cs"/>
              </a:rPr>
              <a:t>bao gồm mã thao tác 8-bit (opcode) xác định hoạt động được</a:t>
            </a:r>
          </a:p>
          <a:p>
            <a:r>
              <a:rPr kumimoji="1" lang="vi-VN" sz="1200" kern="1200" baseline="0" dirty="0">
                <a:solidFill>
                  <a:schemeClr val="tx1"/>
                </a:solidFill>
                <a:latin typeface="Times New Roman" pitchFamily="-110" charset="0"/>
                <a:ea typeface="+mn-ea"/>
                <a:cs typeface="+mn-cs"/>
              </a:rPr>
              <a:t>Thực hiện và một địa chỉ 12-bit chỉ định một trong những từ trong bộ nhớ (được đánh số</a:t>
            </a:r>
          </a:p>
          <a:p>
            <a:r>
              <a:rPr kumimoji="1" lang="vi-VN" sz="1200" kern="1200" baseline="0" dirty="0">
                <a:solidFill>
                  <a:schemeClr val="tx1"/>
                </a:solidFill>
                <a:latin typeface="Times New Roman" pitchFamily="-110" charset="0"/>
                <a:ea typeface="+mn-ea"/>
                <a:cs typeface="+mn-cs"/>
              </a:rPr>
              <a:t>từ 0 đến 999).</a:t>
            </a:r>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The memory of the IAS consists of 1000 storage locations, called </a:t>
            </a:r>
            <a:r>
              <a:rPr kumimoji="1" lang="en-US" sz="1200" b="1" kern="1200" baseline="0" dirty="0">
                <a:solidFill>
                  <a:schemeClr val="tx1"/>
                </a:solidFill>
                <a:latin typeface="Times New Roman" pitchFamily="-110" charset="0"/>
                <a:ea typeface="+mn-ea"/>
                <a:cs typeface="+mn-cs"/>
              </a:rPr>
              <a:t>words, </a:t>
            </a:r>
            <a:r>
              <a:rPr kumimoji="1" lang="en-US" sz="1200" b="0" kern="1200" baseline="0" dirty="0">
                <a:solidFill>
                  <a:schemeClr val="tx1"/>
                </a:solidFill>
                <a:latin typeface="Times New Roman" pitchFamily="-110" charset="0"/>
                <a:ea typeface="+mn-ea"/>
                <a:cs typeface="+mn-cs"/>
              </a:rPr>
              <a:t>of</a:t>
            </a:r>
          </a:p>
          <a:p>
            <a:r>
              <a:rPr kumimoji="1" lang="en-US" sz="1200" kern="1200" baseline="0" dirty="0">
                <a:solidFill>
                  <a:schemeClr val="tx1"/>
                </a:solidFill>
                <a:latin typeface="Times New Roman" pitchFamily="-110" charset="0"/>
                <a:ea typeface="+mn-ea"/>
                <a:cs typeface="+mn-cs"/>
              </a:rPr>
              <a:t>40 binary digits (bits) each. Both data and instructions are stored there. Numbers</a:t>
            </a:r>
          </a:p>
          <a:p>
            <a:r>
              <a:rPr kumimoji="1" lang="en-US" sz="1200" kern="1200" baseline="0" dirty="0">
                <a:solidFill>
                  <a:schemeClr val="tx1"/>
                </a:solidFill>
                <a:latin typeface="Times New Roman" pitchFamily="-110" charset="0"/>
                <a:ea typeface="+mn-ea"/>
                <a:cs typeface="+mn-cs"/>
              </a:rPr>
              <a:t>are represented in binary form, and each instruction is a binary code. Figure 2.2</a:t>
            </a:r>
          </a:p>
          <a:p>
            <a:r>
              <a:rPr kumimoji="1" lang="en-US" sz="1200" kern="1200" baseline="0" dirty="0">
                <a:solidFill>
                  <a:schemeClr val="tx1"/>
                </a:solidFill>
                <a:latin typeface="Times New Roman" pitchFamily="-110" charset="0"/>
                <a:ea typeface="+mn-ea"/>
                <a:cs typeface="+mn-cs"/>
              </a:rPr>
              <a:t>illustrates these formats. Each number is represented by a sign bit and a 39-bit</a:t>
            </a:r>
          </a:p>
          <a:p>
            <a:r>
              <a:rPr kumimoji="1" lang="en-US" sz="1200" kern="1200" baseline="0" dirty="0">
                <a:solidFill>
                  <a:schemeClr val="tx1"/>
                </a:solidFill>
                <a:latin typeface="Times New Roman" pitchFamily="-110" charset="0"/>
                <a:ea typeface="+mn-ea"/>
                <a:cs typeface="+mn-cs"/>
              </a:rPr>
              <a:t>value. A word may also contain two 20-bit instructions, with each instruction</a:t>
            </a:r>
          </a:p>
          <a:p>
            <a:r>
              <a:rPr kumimoji="1" lang="en-US" sz="1200" kern="1200" baseline="0" dirty="0">
                <a:solidFill>
                  <a:schemeClr val="tx1"/>
                </a:solidFill>
                <a:latin typeface="Times New Roman" pitchFamily="-110" charset="0"/>
                <a:ea typeface="+mn-ea"/>
                <a:cs typeface="+mn-cs"/>
              </a:rPr>
              <a:t>consisting of an 8-bit operation code </a:t>
            </a:r>
            <a:r>
              <a:rPr kumimoji="1" lang="en-US" sz="1200" b="1" kern="1200" baseline="0" dirty="0">
                <a:solidFill>
                  <a:schemeClr val="tx1"/>
                </a:solidFill>
                <a:latin typeface="Times New Roman" pitchFamily="-110" charset="0"/>
                <a:ea typeface="+mn-ea"/>
                <a:cs typeface="+mn-cs"/>
              </a:rPr>
              <a:t>(opcode) </a:t>
            </a:r>
            <a:r>
              <a:rPr kumimoji="1" lang="en-US" sz="1200" b="0" kern="1200" baseline="0" dirty="0">
                <a:solidFill>
                  <a:schemeClr val="tx1"/>
                </a:solidFill>
                <a:latin typeface="Times New Roman" pitchFamily="-110" charset="0"/>
                <a:ea typeface="+mn-ea"/>
                <a:cs typeface="+mn-cs"/>
              </a:rPr>
              <a:t>specifying the operation to be</a:t>
            </a:r>
          </a:p>
          <a:p>
            <a:r>
              <a:rPr kumimoji="1" lang="en-US" sz="1200" kern="1200" baseline="0" dirty="0">
                <a:solidFill>
                  <a:schemeClr val="tx1"/>
                </a:solidFill>
                <a:latin typeface="Times New Roman" pitchFamily="-110" charset="0"/>
                <a:ea typeface="+mn-ea"/>
                <a:cs typeface="+mn-cs"/>
              </a:rPr>
              <a:t>Performed and a 12-bit address designating one of the words in memory (numbered</a:t>
            </a:r>
          </a:p>
          <a:p>
            <a:r>
              <a:rPr kumimoji="1" lang="en-US" sz="1200" kern="1200" baseline="0" dirty="0">
                <a:solidFill>
                  <a:schemeClr val="tx1"/>
                </a:solidFill>
                <a:latin typeface="Times New Roman" pitchFamily="-110" charset="0"/>
                <a:ea typeface="+mn-ea"/>
                <a:cs typeface="+mn-cs"/>
              </a:rPr>
              <a:t>from 0 to 999).</a:t>
            </a:r>
          </a:p>
          <a:p>
            <a:endParaRPr kumimoji="1" lang="en-US" sz="1200" kern="1200" baseline="0" dirty="0">
              <a:solidFill>
                <a:schemeClr val="tx1"/>
              </a:solidFill>
              <a:latin typeface="Times New Roman" pitchFamily="-110" charset="0"/>
              <a:ea typeface="+mn-ea"/>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B3D0444-46A2-EF4D-AFA4-665D9B0D8B4E}" type="slidenum">
              <a:rPr lang="en-US"/>
              <a:pPr/>
              <a:t>18</a:t>
            </a:fld>
            <a:endParaRPr lang="en-US" dirty="0"/>
          </a:p>
        </p:txBody>
      </p:sp>
      <p:sp>
        <p:nvSpPr>
          <p:cNvPr id="66562" name="Rectangle 2"/>
          <p:cNvSpPr>
            <a:spLocks noGrp="1" noRot="1" noChangeAspect="1" noChangeArrowheads="1" noTextEdit="1"/>
          </p:cNvSpPr>
          <p:nvPr>
            <p:ph type="sldImg"/>
          </p:nvPr>
        </p:nvSpPr>
        <p:spPr>
          <a:ln/>
        </p:spPr>
      </p:sp>
      <p:sp>
        <p:nvSpPr>
          <p:cNvPr id="66563" name="Rectangle 3"/>
          <p:cNvSpPr>
            <a:spLocks noGrp="1" noChangeArrowheads="1"/>
          </p:cNvSpPr>
          <p:nvPr>
            <p:ph type="body" idx="1"/>
          </p:nvPr>
        </p:nvSpPr>
        <p:spPr/>
        <p:txBody>
          <a:bodyPr/>
          <a:lstStyle/>
          <a:p>
            <a:r>
              <a:rPr lang="en-US" dirty="0"/>
              <a:t>Control </a:t>
            </a:r>
            <a:r>
              <a:rPr lang="en-US" dirty="0" err="1"/>
              <a:t>circuitry:mach</a:t>
            </a:r>
            <a:r>
              <a:rPr lang="en-US" dirty="0"/>
              <a:t> </a:t>
            </a:r>
            <a:r>
              <a:rPr lang="en-US" dirty="0" err="1"/>
              <a:t>điều</a:t>
            </a:r>
            <a:r>
              <a:rPr lang="en-US" dirty="0"/>
              <a:t> </a:t>
            </a:r>
            <a:r>
              <a:rPr lang="en-US" dirty="0" err="1"/>
              <a:t>khiển</a:t>
            </a:r>
            <a:endParaRPr lang="en-US" b="0" i="0" dirty="0">
              <a:solidFill>
                <a:srgbClr val="000000"/>
              </a:solidFill>
              <a:effectLst/>
              <a:latin typeface="Calibri-Bold_20_54"/>
            </a:endParaRPr>
          </a:p>
          <a:p>
            <a:endParaRPr lang="en-US" b="0" i="0" dirty="0">
              <a:solidFill>
                <a:srgbClr val="000000"/>
              </a:solidFill>
              <a:effectLst/>
              <a:latin typeface="Calibri-Bold_20_54"/>
            </a:endParaRPr>
          </a:p>
          <a:p>
            <a:r>
              <a:rPr lang="en-US" b="0" i="0" dirty="0">
                <a:solidFill>
                  <a:srgbClr val="000000"/>
                </a:solidFill>
                <a:effectLst/>
                <a:latin typeface="Calibri-Bold_20_54"/>
              </a:rPr>
              <a:t>Accumulator (AC) and multiplier quotient (MQ):</a:t>
            </a:r>
            <a:r>
              <a:rPr lang="en-US" b="0" i="0" dirty="0">
                <a:solidFill>
                  <a:srgbClr val="000000"/>
                </a:solidFill>
                <a:effectLst/>
                <a:latin typeface="Calibri_7_54"/>
              </a:rPr>
              <a:t>Employed to hold temporarily operands and results of ALU operations. For example, the result of multiplying two 40-bit numbers is an 80-bit number; the most significant 40 bits are stored in the AC and the least significant in the MQ</a:t>
            </a:r>
            <a:endParaRPr kumimoji="1" lang="en-US" sz="1200" b="1" kern="1200" baseline="0" dirty="0">
              <a:solidFill>
                <a:schemeClr val="tx1"/>
              </a:solidFill>
              <a:latin typeface="Times New Roman" pitchFamily="-110" charset="0"/>
              <a:ea typeface="+mn-ea"/>
              <a:cs typeface="+mn-cs"/>
            </a:endParaRPr>
          </a:p>
          <a:p>
            <a:endParaRPr kumimoji="1" lang="en-US" sz="1200" b="1" kern="1200" baseline="0" dirty="0">
              <a:solidFill>
                <a:schemeClr val="tx1"/>
              </a:solidFill>
              <a:latin typeface="Times New Roman" pitchFamily="-110" charset="0"/>
              <a:ea typeface="+mn-ea"/>
              <a:cs typeface="+mn-cs"/>
            </a:endParaRPr>
          </a:p>
          <a:p>
            <a:r>
              <a:rPr kumimoji="1" lang="en-US" sz="1200" b="1" kern="1200" baseline="0" dirty="0" err="1">
                <a:solidFill>
                  <a:schemeClr val="tx1"/>
                </a:solidFill>
                <a:latin typeface="Times New Roman" pitchFamily="-110" charset="0"/>
                <a:ea typeface="+mn-ea"/>
                <a:cs typeface="+mn-cs"/>
              </a:rPr>
              <a:t>Cần</a:t>
            </a:r>
            <a:r>
              <a:rPr kumimoji="1" lang="en-US" sz="1200" b="1" kern="1200" baseline="0" dirty="0">
                <a:solidFill>
                  <a:schemeClr val="tx1"/>
                </a:solidFill>
                <a:latin typeface="Times New Roman" pitchFamily="-110" charset="0"/>
                <a:ea typeface="+mn-ea"/>
                <a:cs typeface="+mn-cs"/>
              </a:rPr>
              <a:t> </a:t>
            </a:r>
            <a:r>
              <a:rPr kumimoji="1" lang="en-US" sz="1200" b="1" kern="1200" baseline="0" dirty="0" err="1">
                <a:solidFill>
                  <a:schemeClr val="tx1"/>
                </a:solidFill>
                <a:latin typeface="Times New Roman" pitchFamily="-110" charset="0"/>
                <a:ea typeface="+mn-ea"/>
                <a:cs typeface="+mn-cs"/>
              </a:rPr>
              <a:t>giải</a:t>
            </a:r>
            <a:r>
              <a:rPr kumimoji="1" lang="en-US" sz="1200" b="1" kern="1200" baseline="0" dirty="0">
                <a:solidFill>
                  <a:schemeClr val="tx1"/>
                </a:solidFill>
                <a:latin typeface="Times New Roman" pitchFamily="-110" charset="0"/>
                <a:ea typeface="+mn-ea"/>
                <a:cs typeface="+mn-cs"/>
              </a:rPr>
              <a:t> </a:t>
            </a:r>
            <a:r>
              <a:rPr kumimoji="1" lang="en-US" sz="1200" b="1" kern="1200" baseline="0" dirty="0" err="1">
                <a:solidFill>
                  <a:schemeClr val="tx1"/>
                </a:solidFill>
                <a:latin typeface="Times New Roman" pitchFamily="-110" charset="0"/>
                <a:ea typeface="+mn-ea"/>
                <a:cs typeface="+mn-cs"/>
              </a:rPr>
              <a:t>thích</a:t>
            </a:r>
            <a:r>
              <a:rPr kumimoji="1" lang="en-US" sz="1200" b="1" kern="1200" baseline="0" dirty="0">
                <a:solidFill>
                  <a:schemeClr val="tx1"/>
                </a:solidFill>
                <a:latin typeface="Times New Roman" pitchFamily="-110" charset="0"/>
                <a:ea typeface="+mn-ea"/>
                <a:cs typeface="+mn-cs"/>
              </a:rPr>
              <a:t> </a:t>
            </a:r>
            <a:r>
              <a:rPr kumimoji="1" lang="en-US" sz="1200" b="1" kern="1200" baseline="0" dirty="0" err="1">
                <a:solidFill>
                  <a:schemeClr val="tx1"/>
                </a:solidFill>
                <a:latin typeface="Times New Roman" pitchFamily="-110" charset="0"/>
                <a:ea typeface="+mn-ea"/>
                <a:cs typeface="+mn-cs"/>
              </a:rPr>
              <a:t>cách</a:t>
            </a:r>
            <a:r>
              <a:rPr kumimoji="1" lang="en-US" sz="1200" b="1" kern="1200" baseline="0" dirty="0">
                <a:solidFill>
                  <a:schemeClr val="tx1"/>
                </a:solidFill>
                <a:latin typeface="Times New Roman" pitchFamily="-110" charset="0"/>
                <a:ea typeface="+mn-ea"/>
                <a:cs typeface="+mn-cs"/>
              </a:rPr>
              <a:t> </a:t>
            </a:r>
            <a:r>
              <a:rPr kumimoji="1" lang="en-US" sz="1200" b="1" kern="1200" baseline="0" dirty="0" err="1">
                <a:solidFill>
                  <a:schemeClr val="tx1"/>
                </a:solidFill>
                <a:latin typeface="Times New Roman" pitchFamily="-110" charset="0"/>
                <a:ea typeface="+mn-ea"/>
                <a:cs typeface="+mn-cs"/>
              </a:rPr>
              <a:t>đọc</a:t>
            </a:r>
            <a:r>
              <a:rPr kumimoji="1" lang="en-US" sz="1200" b="1" kern="1200" baseline="0" dirty="0">
                <a:solidFill>
                  <a:schemeClr val="tx1"/>
                </a:solidFill>
                <a:latin typeface="Times New Roman" pitchFamily="-110" charset="0"/>
                <a:ea typeface="+mn-ea"/>
                <a:cs typeface="+mn-cs"/>
              </a:rPr>
              <a:t> </a:t>
            </a:r>
            <a:r>
              <a:rPr kumimoji="1" lang="en-US" sz="1200" b="1" kern="1200" baseline="0" dirty="0" err="1">
                <a:solidFill>
                  <a:schemeClr val="tx1"/>
                </a:solidFill>
                <a:latin typeface="Times New Roman" pitchFamily="-110" charset="0"/>
                <a:ea typeface="+mn-ea"/>
                <a:cs typeface="+mn-cs"/>
              </a:rPr>
              <a:t>lệnh</a:t>
            </a:r>
            <a:r>
              <a:rPr kumimoji="1" lang="en-US" sz="1200" b="1" kern="1200" baseline="0" dirty="0">
                <a:solidFill>
                  <a:schemeClr val="tx1"/>
                </a:solidFill>
                <a:latin typeface="Times New Roman" pitchFamily="-110" charset="0"/>
                <a:ea typeface="+mn-ea"/>
                <a:cs typeface="+mn-cs"/>
              </a:rPr>
              <a:t>/</a:t>
            </a:r>
            <a:r>
              <a:rPr kumimoji="1" lang="en-US" sz="1200" b="1" kern="1200" baseline="0" dirty="0" err="1">
                <a:solidFill>
                  <a:schemeClr val="tx1"/>
                </a:solidFill>
                <a:latin typeface="Times New Roman" pitchFamily="-110" charset="0"/>
                <a:ea typeface="+mn-ea"/>
                <a:cs typeface="+mn-cs"/>
              </a:rPr>
              <a:t>dữ</a:t>
            </a:r>
            <a:r>
              <a:rPr kumimoji="1" lang="en-US" sz="1200" b="1" kern="1200" baseline="0" dirty="0">
                <a:solidFill>
                  <a:schemeClr val="tx1"/>
                </a:solidFill>
                <a:latin typeface="Times New Roman" pitchFamily="-110" charset="0"/>
                <a:ea typeface="+mn-ea"/>
                <a:cs typeface="+mn-cs"/>
              </a:rPr>
              <a:t> </a:t>
            </a:r>
            <a:r>
              <a:rPr kumimoji="1" lang="en-US" sz="1200" b="1" kern="1200" baseline="0" dirty="0" err="1">
                <a:solidFill>
                  <a:schemeClr val="tx1"/>
                </a:solidFill>
                <a:latin typeface="Times New Roman" pitchFamily="-110" charset="0"/>
                <a:ea typeface="+mn-ea"/>
                <a:cs typeface="+mn-cs"/>
              </a:rPr>
              <a:t>liệu</a:t>
            </a:r>
            <a:r>
              <a:rPr kumimoji="1" lang="en-US" sz="1200" b="1" kern="1200" baseline="0" dirty="0">
                <a:solidFill>
                  <a:schemeClr val="tx1"/>
                </a:solidFill>
                <a:latin typeface="Times New Roman" pitchFamily="-110" charset="0"/>
                <a:ea typeface="+mn-ea"/>
                <a:cs typeface="+mn-cs"/>
              </a:rPr>
              <a:t> </a:t>
            </a:r>
            <a:r>
              <a:rPr kumimoji="1" lang="en-US" sz="1200" b="1" kern="1200" baseline="0" dirty="0" err="1">
                <a:solidFill>
                  <a:schemeClr val="tx1"/>
                </a:solidFill>
                <a:latin typeface="Times New Roman" pitchFamily="-110" charset="0"/>
                <a:ea typeface="+mn-ea"/>
                <a:cs typeface="+mn-cs"/>
              </a:rPr>
              <a:t>từ</a:t>
            </a:r>
            <a:r>
              <a:rPr kumimoji="1" lang="en-US" sz="1200" b="1" kern="1200" baseline="0" dirty="0">
                <a:solidFill>
                  <a:schemeClr val="tx1"/>
                </a:solidFill>
                <a:latin typeface="Times New Roman" pitchFamily="-110" charset="0"/>
                <a:ea typeface="+mn-ea"/>
                <a:cs typeface="+mn-cs"/>
              </a:rPr>
              <a:t> </a:t>
            </a:r>
            <a:r>
              <a:rPr kumimoji="1" lang="en-US" sz="1200" b="1" kern="1200" baseline="0" dirty="0" err="1">
                <a:solidFill>
                  <a:schemeClr val="tx1"/>
                </a:solidFill>
                <a:latin typeface="Times New Roman" pitchFamily="-110" charset="0"/>
                <a:ea typeface="+mn-ea"/>
                <a:cs typeface="+mn-cs"/>
              </a:rPr>
              <a:t>bộ</a:t>
            </a:r>
            <a:r>
              <a:rPr kumimoji="1" lang="en-US" sz="1200" b="1" kern="1200" baseline="0" dirty="0">
                <a:solidFill>
                  <a:schemeClr val="tx1"/>
                </a:solidFill>
                <a:latin typeface="Times New Roman" pitchFamily="-110" charset="0"/>
                <a:ea typeface="+mn-ea"/>
                <a:cs typeface="+mn-cs"/>
              </a:rPr>
              <a:t> </a:t>
            </a:r>
            <a:r>
              <a:rPr kumimoji="1" lang="en-US" sz="1200" b="1" kern="1200" baseline="0" dirty="0" err="1">
                <a:solidFill>
                  <a:schemeClr val="tx1"/>
                </a:solidFill>
                <a:latin typeface="Times New Roman" pitchFamily="-110" charset="0"/>
                <a:ea typeface="+mn-ea"/>
                <a:cs typeface="+mn-cs"/>
              </a:rPr>
              <a:t>nhớ</a:t>
            </a:r>
            <a:r>
              <a:rPr kumimoji="1" lang="en-US" sz="1200" b="1" kern="1200" baseline="0" dirty="0">
                <a:solidFill>
                  <a:schemeClr val="tx1"/>
                </a:solidFill>
                <a:latin typeface="Times New Roman" pitchFamily="-110" charset="0"/>
                <a:ea typeface="+mn-ea"/>
                <a:cs typeface="+mn-cs"/>
              </a:rPr>
              <a:t> </a:t>
            </a:r>
            <a:r>
              <a:rPr kumimoji="1" lang="en-US" sz="1200" b="1" kern="1200" baseline="0" dirty="0" err="1">
                <a:solidFill>
                  <a:schemeClr val="tx1"/>
                </a:solidFill>
                <a:latin typeface="Times New Roman" pitchFamily="-110" charset="0"/>
                <a:ea typeface="+mn-ea"/>
                <a:cs typeface="+mn-cs"/>
              </a:rPr>
              <a:t>vào</a:t>
            </a:r>
            <a:r>
              <a:rPr kumimoji="1" lang="en-US" sz="1200" b="1" kern="1200" baseline="0" dirty="0">
                <a:solidFill>
                  <a:schemeClr val="tx1"/>
                </a:solidFill>
                <a:latin typeface="Times New Roman" pitchFamily="-110" charset="0"/>
                <a:ea typeface="+mn-ea"/>
                <a:cs typeface="+mn-cs"/>
              </a:rPr>
              <a:t> CPU</a:t>
            </a:r>
          </a:p>
          <a:p>
            <a:endParaRPr kumimoji="1" lang="en-US" sz="1200" b="1" kern="1200" baseline="0" dirty="0">
              <a:solidFill>
                <a:schemeClr val="tx1"/>
              </a:solidFill>
              <a:latin typeface="Times New Roman" pitchFamily="-110" charset="0"/>
              <a:ea typeface="+mn-ea"/>
              <a:cs typeface="+mn-cs"/>
            </a:endParaRPr>
          </a:p>
          <a:p>
            <a:r>
              <a:rPr kumimoji="1" lang="vi-VN" sz="1200" kern="1200" baseline="0" dirty="0">
                <a:solidFill>
                  <a:schemeClr val="tx1"/>
                </a:solidFill>
                <a:latin typeface="Times New Roman" pitchFamily="-110" charset="0"/>
                <a:ea typeface="+mn-ea"/>
                <a:cs typeface="+mn-cs"/>
              </a:rPr>
              <a:t>Bộ điều khiển vận hành IAS bằng cách tìm nạp các lệnh từ bộ nhớ và</a:t>
            </a:r>
          </a:p>
          <a:p>
            <a:r>
              <a:rPr kumimoji="1" lang="vi-VN" sz="1200" kern="1200" baseline="0" dirty="0">
                <a:solidFill>
                  <a:schemeClr val="tx1"/>
                </a:solidFill>
                <a:latin typeface="Times New Roman" pitchFamily="-110" charset="0"/>
                <a:ea typeface="+mn-ea"/>
                <a:cs typeface="+mn-cs"/>
              </a:rPr>
              <a:t>thực hiện chúng một lần. Để giải thích điều này, một sơ đồ cấu trúc chi tiết hơn là</a:t>
            </a:r>
          </a:p>
          <a:p>
            <a:r>
              <a:rPr kumimoji="1" lang="vi-VN" sz="1200" kern="1200" baseline="0" dirty="0">
                <a:solidFill>
                  <a:schemeClr val="tx1"/>
                </a:solidFill>
                <a:latin typeface="Times New Roman" pitchFamily="-110" charset="0"/>
                <a:ea typeface="+mn-ea"/>
                <a:cs typeface="+mn-cs"/>
              </a:rPr>
              <a:t>cần thiết, như được chỉ ra trong Hình 2.3. Con số này cho thấy cả đơn vị kiểm soát và</a:t>
            </a:r>
          </a:p>
          <a:p>
            <a:r>
              <a:rPr kumimoji="1" lang="vi-VN" sz="1200" kern="1200" baseline="0" dirty="0">
                <a:solidFill>
                  <a:schemeClr val="tx1"/>
                </a:solidFill>
                <a:latin typeface="Times New Roman" pitchFamily="-110" charset="0"/>
                <a:ea typeface="+mn-ea"/>
                <a:cs typeface="+mn-cs"/>
              </a:rPr>
              <a:t>ALU chứa các vị trí lưu trữ, được gọi là thanh ghi.</a:t>
            </a:r>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The control unit operates the IAS by fetching instructions from memory and</a:t>
            </a:r>
          </a:p>
          <a:p>
            <a:r>
              <a:rPr kumimoji="1" lang="en-US" sz="1200" kern="1200" baseline="0" dirty="0">
                <a:solidFill>
                  <a:schemeClr val="tx1"/>
                </a:solidFill>
                <a:latin typeface="Times New Roman" pitchFamily="-110" charset="0"/>
                <a:ea typeface="+mn-ea"/>
                <a:cs typeface="+mn-cs"/>
              </a:rPr>
              <a:t>executing them one at a time. To explain this, a more detailed structure diagram is</a:t>
            </a:r>
          </a:p>
          <a:p>
            <a:r>
              <a:rPr kumimoji="1" lang="en-US" sz="1200" kern="1200" baseline="0" dirty="0">
                <a:solidFill>
                  <a:schemeClr val="tx1"/>
                </a:solidFill>
                <a:latin typeface="Times New Roman" pitchFamily="-110" charset="0"/>
                <a:ea typeface="+mn-ea"/>
                <a:cs typeface="+mn-cs"/>
              </a:rPr>
              <a:t>needed, as indicated in Figure 2.3. This figure reveals that both the control unit and</a:t>
            </a:r>
          </a:p>
          <a:p>
            <a:r>
              <a:rPr kumimoji="1" lang="en-US" sz="1200" kern="1200" baseline="0" dirty="0">
                <a:solidFill>
                  <a:schemeClr val="tx1"/>
                </a:solidFill>
                <a:latin typeface="Times New Roman" pitchFamily="-110" charset="0"/>
                <a:ea typeface="+mn-ea"/>
                <a:cs typeface="+mn-cs"/>
              </a:rPr>
              <a:t>the ALU contain storage locations, called </a:t>
            </a:r>
            <a:r>
              <a:rPr kumimoji="1" lang="en-US" sz="1200" i="1" kern="1200" baseline="0" dirty="0">
                <a:solidFill>
                  <a:schemeClr val="tx1"/>
                </a:solidFill>
                <a:latin typeface="Times New Roman" pitchFamily="-110" charset="0"/>
                <a:ea typeface="+mn-ea"/>
                <a:cs typeface="+mn-cs"/>
              </a:rPr>
              <a:t>registers.</a:t>
            </a:r>
            <a:endParaRPr lang="en-GB"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32500" lnSpcReduction="20000"/>
          </a:bodyPr>
          <a:lstStyle/>
          <a:p>
            <a:r>
              <a:rPr kumimoji="1" lang="vi-VN" sz="1200" kern="1200" baseline="0" dirty="0">
                <a:solidFill>
                  <a:schemeClr val="tx1"/>
                </a:solidFill>
                <a:latin typeface="Times New Roman" pitchFamily="-110" charset="0"/>
                <a:ea typeface="+mn-ea"/>
                <a:cs typeface="+mn-cs"/>
              </a:rPr>
              <a:t>Máy tính IAS có tổng cộng 21 hướng dẫn, được liệt kê trong Bảng 2.1.</a:t>
            </a:r>
          </a:p>
          <a:p>
            <a:r>
              <a:rPr kumimoji="1" lang="vi-VN" sz="1200" kern="1200" baseline="0" dirty="0">
                <a:solidFill>
                  <a:schemeClr val="tx1"/>
                </a:solidFill>
                <a:latin typeface="Times New Roman" pitchFamily="-110" charset="0"/>
                <a:ea typeface="+mn-ea"/>
                <a:cs typeface="+mn-cs"/>
              </a:rPr>
              <a:t>Chúng có thể được phân nhóm như sau:</a:t>
            </a:r>
          </a:p>
          <a:p>
            <a:endParaRPr kumimoji="1" lang="vi-VN" sz="1200" kern="1200" baseline="0" dirty="0">
              <a:solidFill>
                <a:schemeClr val="tx1"/>
              </a:solidFill>
              <a:latin typeface="Times New Roman" pitchFamily="-110" charset="0"/>
              <a:ea typeface="+mn-ea"/>
              <a:cs typeface="+mn-cs"/>
            </a:endParaRPr>
          </a:p>
          <a:p>
            <a:r>
              <a:rPr kumimoji="1" lang="vi-VN" sz="1200" kern="1200" baseline="0" dirty="0">
                <a:solidFill>
                  <a:schemeClr val="tx1"/>
                </a:solidFill>
                <a:latin typeface="Times New Roman" pitchFamily="-110" charset="0"/>
                <a:ea typeface="+mn-ea"/>
                <a:cs typeface="+mn-cs"/>
              </a:rPr>
              <a:t>• Truyền dữ liệu: Di chuyển dữ liệu giữa bộ nhớ và đăng ký ALU hoặc giữa</a:t>
            </a:r>
          </a:p>
          <a:p>
            <a:r>
              <a:rPr kumimoji="1" lang="vi-VN" sz="1200" kern="1200" baseline="0" dirty="0">
                <a:solidFill>
                  <a:schemeClr val="tx1"/>
                </a:solidFill>
                <a:latin typeface="Times New Roman" pitchFamily="-110" charset="0"/>
                <a:ea typeface="+mn-ea"/>
                <a:cs typeface="+mn-cs"/>
              </a:rPr>
              <a:t>hai ALU đăng ký.</a:t>
            </a:r>
          </a:p>
          <a:p>
            <a:endParaRPr kumimoji="1" lang="vi-VN" sz="1200" kern="1200" baseline="0" dirty="0">
              <a:solidFill>
                <a:schemeClr val="tx1"/>
              </a:solidFill>
              <a:latin typeface="Times New Roman" pitchFamily="-110" charset="0"/>
              <a:ea typeface="+mn-ea"/>
              <a:cs typeface="+mn-cs"/>
            </a:endParaRPr>
          </a:p>
          <a:p>
            <a:r>
              <a:rPr kumimoji="1" lang="vi-VN" sz="1200" kern="1200" baseline="0" dirty="0">
                <a:solidFill>
                  <a:schemeClr val="tx1"/>
                </a:solidFill>
                <a:latin typeface="Times New Roman" pitchFamily="-110" charset="0"/>
                <a:ea typeface="+mn-ea"/>
                <a:cs typeface="+mn-cs"/>
              </a:rPr>
              <a:t>Chi nhánh không điều kiện: Thông thường, bộ điều khiển thực hiện các lệnh trong</a:t>
            </a:r>
          </a:p>
          <a:p>
            <a:r>
              <a:rPr kumimoji="1" lang="vi-VN" sz="1200" kern="1200" baseline="0" dirty="0">
                <a:solidFill>
                  <a:schemeClr val="tx1"/>
                </a:solidFill>
                <a:latin typeface="Times New Roman" pitchFamily="-110" charset="0"/>
                <a:ea typeface="+mn-ea"/>
                <a:cs typeface="+mn-cs"/>
              </a:rPr>
              <a:t>chuỗi từ bộ nhớ. Trình tự này có thể được thay đổi bởi một hướng dẫn chi nhánh,</a:t>
            </a:r>
          </a:p>
          <a:p>
            <a:r>
              <a:rPr kumimoji="1" lang="vi-VN" sz="1200" kern="1200" baseline="0" dirty="0">
                <a:solidFill>
                  <a:schemeClr val="tx1"/>
                </a:solidFill>
                <a:latin typeface="Times New Roman" pitchFamily="-110" charset="0"/>
                <a:ea typeface="+mn-ea"/>
                <a:cs typeface="+mn-cs"/>
              </a:rPr>
              <a:t>tạo điều kiện thuận lợi cho hoạt động lặp đi lặp lại.</a:t>
            </a:r>
          </a:p>
          <a:p>
            <a:endParaRPr kumimoji="1" lang="vi-VN" sz="1200" kern="1200" baseline="0" dirty="0">
              <a:solidFill>
                <a:schemeClr val="tx1"/>
              </a:solidFill>
              <a:latin typeface="Times New Roman" pitchFamily="-110" charset="0"/>
              <a:ea typeface="+mn-ea"/>
              <a:cs typeface="+mn-cs"/>
            </a:endParaRPr>
          </a:p>
          <a:p>
            <a:r>
              <a:rPr kumimoji="1" lang="vi-VN" sz="1200" kern="1200" baseline="0" dirty="0">
                <a:solidFill>
                  <a:schemeClr val="tx1"/>
                </a:solidFill>
                <a:latin typeface="Times New Roman" pitchFamily="-110" charset="0"/>
                <a:ea typeface="+mn-ea"/>
                <a:cs typeface="+mn-cs"/>
              </a:rPr>
              <a:t>• Chi nhánh có điều kiện: Chi nhánh có thể được thực hiện phụ thuộc vào điều kiện, do đó</a:t>
            </a:r>
          </a:p>
          <a:p>
            <a:r>
              <a:rPr kumimoji="1" lang="vi-VN" sz="1200" kern="1200" baseline="0" dirty="0">
                <a:solidFill>
                  <a:schemeClr val="tx1"/>
                </a:solidFill>
                <a:latin typeface="Times New Roman" pitchFamily="-110" charset="0"/>
                <a:ea typeface="+mn-ea"/>
                <a:cs typeface="+mn-cs"/>
              </a:rPr>
              <a:t>cho phép điểm quyết định.</a:t>
            </a:r>
          </a:p>
          <a:p>
            <a:endParaRPr kumimoji="1" lang="vi-VN" sz="1200" kern="1200" baseline="0" dirty="0">
              <a:solidFill>
                <a:schemeClr val="tx1"/>
              </a:solidFill>
              <a:latin typeface="Times New Roman" pitchFamily="-110" charset="0"/>
              <a:ea typeface="+mn-ea"/>
              <a:cs typeface="+mn-cs"/>
            </a:endParaRPr>
          </a:p>
          <a:p>
            <a:r>
              <a:rPr kumimoji="1" lang="vi-VN" sz="1200" kern="1200" baseline="0" dirty="0">
                <a:solidFill>
                  <a:schemeClr val="tx1"/>
                </a:solidFill>
                <a:latin typeface="Times New Roman" pitchFamily="-110" charset="0"/>
                <a:ea typeface="+mn-ea"/>
                <a:cs typeface="+mn-cs"/>
              </a:rPr>
              <a:t>• Số học: Các hoạt động được thực hiện bởi ALU.</a:t>
            </a:r>
          </a:p>
          <a:p>
            <a:endParaRPr kumimoji="1" lang="vi-VN" sz="1200" kern="1200" baseline="0" dirty="0">
              <a:solidFill>
                <a:schemeClr val="tx1"/>
              </a:solidFill>
              <a:latin typeface="Times New Roman" pitchFamily="-110" charset="0"/>
              <a:ea typeface="+mn-ea"/>
              <a:cs typeface="+mn-cs"/>
            </a:endParaRPr>
          </a:p>
          <a:p>
            <a:r>
              <a:rPr kumimoji="1" lang="vi-VN" sz="1200" kern="1200" baseline="0" dirty="0">
                <a:solidFill>
                  <a:schemeClr val="tx1"/>
                </a:solidFill>
                <a:latin typeface="Times New Roman" pitchFamily="-110" charset="0"/>
                <a:ea typeface="+mn-ea"/>
                <a:cs typeface="+mn-cs"/>
              </a:rPr>
              <a:t>• Địa chỉ sửa đổi: Cho phép các địa chỉ được tính trong ALU và sau đó</a:t>
            </a:r>
          </a:p>
          <a:p>
            <a:r>
              <a:rPr kumimoji="1" lang="vi-VN" sz="1200" kern="1200" baseline="0" dirty="0">
                <a:solidFill>
                  <a:schemeClr val="tx1"/>
                </a:solidFill>
                <a:latin typeface="Times New Roman" pitchFamily="-110" charset="0"/>
                <a:ea typeface="+mn-ea"/>
                <a:cs typeface="+mn-cs"/>
              </a:rPr>
              <a:t>chèn vào các hướng dẫn được lưu trữ trong bộ nhớ. Điều này cho phép một chương trình đáng kể</a:t>
            </a:r>
          </a:p>
          <a:p>
            <a:r>
              <a:rPr kumimoji="1" lang="vi-VN" sz="1200" kern="1200" baseline="0" dirty="0">
                <a:solidFill>
                  <a:schemeClr val="tx1"/>
                </a:solidFill>
                <a:latin typeface="Times New Roman" pitchFamily="-110" charset="0"/>
                <a:ea typeface="+mn-ea"/>
                <a:cs typeface="+mn-cs"/>
              </a:rPr>
              <a:t>giải quyết tính linh hoạt.</a:t>
            </a:r>
          </a:p>
          <a:p>
            <a:endParaRPr kumimoji="1" lang="vi-VN" sz="1200" kern="1200" baseline="0" dirty="0">
              <a:solidFill>
                <a:schemeClr val="tx1"/>
              </a:solidFill>
              <a:latin typeface="Times New Roman" pitchFamily="-110" charset="0"/>
              <a:ea typeface="+mn-ea"/>
              <a:cs typeface="+mn-cs"/>
            </a:endParaRPr>
          </a:p>
          <a:p>
            <a:r>
              <a:rPr kumimoji="1" lang="vi-VN" sz="1200" kern="1200" baseline="0" dirty="0">
                <a:solidFill>
                  <a:schemeClr val="tx1"/>
                </a:solidFill>
                <a:latin typeface="Times New Roman" pitchFamily="-110" charset="0"/>
                <a:ea typeface="+mn-ea"/>
                <a:cs typeface="+mn-cs"/>
              </a:rPr>
              <a:t>Bảng 2.1 trình bày các hướng dẫn dưới dạng biểu tượng, dễ đọc. Thực ra,</a:t>
            </a:r>
          </a:p>
          <a:p>
            <a:r>
              <a:rPr kumimoji="1" lang="vi-VN" sz="1200" kern="1200" baseline="0" dirty="0">
                <a:solidFill>
                  <a:schemeClr val="tx1"/>
                </a:solidFill>
                <a:latin typeface="Times New Roman" pitchFamily="-110" charset="0"/>
                <a:ea typeface="+mn-ea"/>
                <a:cs typeface="+mn-cs"/>
              </a:rPr>
              <a:t>mỗi hướng dẫn phải phù hợp với định dạng của hình 2.2b. Phần opcode</a:t>
            </a:r>
          </a:p>
          <a:p>
            <a:r>
              <a:rPr kumimoji="1" lang="vi-VN" sz="1200" kern="1200" baseline="0" dirty="0">
                <a:solidFill>
                  <a:schemeClr val="tx1"/>
                </a:solidFill>
                <a:latin typeface="Times New Roman" pitchFamily="-110" charset="0"/>
                <a:ea typeface="+mn-ea"/>
                <a:cs typeface="+mn-cs"/>
              </a:rPr>
              <a:t>(8 bit đầu tiên) chỉ định trong số 21 hướng dẫn sẽ được thực hiện. Địa chỉ</a:t>
            </a:r>
          </a:p>
          <a:p>
            <a:r>
              <a:rPr kumimoji="1" lang="vi-VN" sz="1200" kern="1200" baseline="0" dirty="0">
                <a:solidFill>
                  <a:schemeClr val="tx1"/>
                </a:solidFill>
                <a:latin typeface="Times New Roman" pitchFamily="-110" charset="0"/>
                <a:ea typeface="+mn-ea"/>
                <a:cs typeface="+mn-cs"/>
              </a:rPr>
              <a:t>phần còn lại (12 bit) xác định vị trí bộ nhớ 1000 vị trí</a:t>
            </a:r>
          </a:p>
          <a:p>
            <a:r>
              <a:rPr kumimoji="1" lang="vi-VN" sz="1200" kern="1200" baseline="0" dirty="0">
                <a:solidFill>
                  <a:schemeClr val="tx1"/>
                </a:solidFill>
                <a:latin typeface="Times New Roman" pitchFamily="-110" charset="0"/>
                <a:ea typeface="+mn-ea"/>
                <a:cs typeface="+mn-cs"/>
              </a:rPr>
              <a:t>tham gia vào việc thực hiện chỉ thị.</a:t>
            </a:r>
          </a:p>
          <a:p>
            <a:r>
              <a:rPr kumimoji="1" lang="vi-VN" sz="1200" kern="1200" baseline="0" dirty="0">
                <a:solidFill>
                  <a:schemeClr val="tx1"/>
                </a:solidFill>
                <a:latin typeface="Times New Roman" pitchFamily="-110" charset="0"/>
                <a:ea typeface="+mn-ea"/>
                <a:cs typeface="+mn-cs"/>
              </a:rPr>
              <a:t>- *</a:t>
            </a:r>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The IAS computer had a total of 21 instructions, which are listed in Table 2.1.</a:t>
            </a:r>
          </a:p>
          <a:p>
            <a:r>
              <a:rPr kumimoji="1" lang="en-US" sz="1200" kern="1200" baseline="0" dirty="0">
                <a:solidFill>
                  <a:schemeClr val="tx1"/>
                </a:solidFill>
                <a:latin typeface="Times New Roman" pitchFamily="-110" charset="0"/>
                <a:ea typeface="+mn-ea"/>
                <a:cs typeface="+mn-cs"/>
              </a:rPr>
              <a:t>These can be grouped as follows:</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a:t>
            </a:r>
            <a:r>
              <a:rPr kumimoji="1" lang="en-US" sz="1200" b="1" kern="1200" baseline="0" dirty="0">
                <a:solidFill>
                  <a:schemeClr val="tx1"/>
                </a:solidFill>
                <a:latin typeface="Times New Roman" pitchFamily="-110" charset="0"/>
                <a:ea typeface="+mn-ea"/>
                <a:cs typeface="+mn-cs"/>
              </a:rPr>
              <a:t>Data transfer: </a:t>
            </a:r>
            <a:r>
              <a:rPr kumimoji="1" lang="en-US" sz="1200" b="0" kern="1200" baseline="0" dirty="0">
                <a:solidFill>
                  <a:schemeClr val="tx1"/>
                </a:solidFill>
                <a:latin typeface="Times New Roman" pitchFamily="-110" charset="0"/>
                <a:ea typeface="+mn-ea"/>
                <a:cs typeface="+mn-cs"/>
              </a:rPr>
              <a:t>Move data between memory and ALU registers or between</a:t>
            </a:r>
          </a:p>
          <a:p>
            <a:r>
              <a:rPr kumimoji="1" lang="en-US" sz="1200" kern="1200" baseline="0" dirty="0">
                <a:solidFill>
                  <a:schemeClr val="tx1"/>
                </a:solidFill>
                <a:latin typeface="Times New Roman" pitchFamily="-110" charset="0"/>
                <a:ea typeface="+mn-ea"/>
                <a:cs typeface="+mn-cs"/>
              </a:rPr>
              <a:t>two ALU registers.</a:t>
            </a:r>
          </a:p>
          <a:p>
            <a:endParaRPr kumimoji="1" lang="en-US" sz="1200" kern="1200" baseline="0" dirty="0">
              <a:solidFill>
                <a:schemeClr val="tx1"/>
              </a:solidFill>
              <a:latin typeface="Times New Roman" pitchFamily="-110" charset="0"/>
              <a:ea typeface="+mn-ea"/>
              <a:cs typeface="+mn-cs"/>
            </a:endParaRPr>
          </a:p>
          <a:p>
            <a:r>
              <a:rPr kumimoji="1" lang="en-US" sz="1200" b="1" kern="1200" baseline="0" dirty="0">
                <a:solidFill>
                  <a:schemeClr val="tx1"/>
                </a:solidFill>
                <a:latin typeface="Times New Roman" pitchFamily="-110" charset="0"/>
                <a:ea typeface="+mn-ea"/>
                <a:cs typeface="+mn-cs"/>
              </a:rPr>
              <a:t>Unconditional branch: </a:t>
            </a:r>
            <a:r>
              <a:rPr kumimoji="1" lang="en-US" sz="1200" b="0" kern="1200" baseline="0" dirty="0">
                <a:solidFill>
                  <a:schemeClr val="tx1"/>
                </a:solidFill>
                <a:latin typeface="Times New Roman" pitchFamily="-110" charset="0"/>
                <a:ea typeface="+mn-ea"/>
                <a:cs typeface="+mn-cs"/>
              </a:rPr>
              <a:t>Normally, the control unit executes instructions in</a:t>
            </a:r>
          </a:p>
          <a:p>
            <a:r>
              <a:rPr kumimoji="1" lang="en-US" sz="1200" kern="1200" baseline="0" dirty="0">
                <a:solidFill>
                  <a:schemeClr val="tx1"/>
                </a:solidFill>
                <a:latin typeface="Times New Roman" pitchFamily="-110" charset="0"/>
                <a:ea typeface="+mn-ea"/>
                <a:cs typeface="+mn-cs"/>
              </a:rPr>
              <a:t>sequence from memory. This sequence can be changed by a branch instruction,</a:t>
            </a:r>
          </a:p>
          <a:p>
            <a:r>
              <a:rPr kumimoji="1" lang="en-US" sz="1200" kern="1200" baseline="0" dirty="0">
                <a:solidFill>
                  <a:schemeClr val="tx1"/>
                </a:solidFill>
                <a:latin typeface="Times New Roman" pitchFamily="-110" charset="0"/>
                <a:ea typeface="+mn-ea"/>
                <a:cs typeface="+mn-cs"/>
              </a:rPr>
              <a:t>which facilitates repetitive operations.</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a:t>
            </a:r>
            <a:r>
              <a:rPr kumimoji="1" lang="en-US" sz="1200" b="1" kern="1200" baseline="0" dirty="0">
                <a:solidFill>
                  <a:schemeClr val="tx1"/>
                </a:solidFill>
                <a:latin typeface="Times New Roman" pitchFamily="-110" charset="0"/>
                <a:ea typeface="+mn-ea"/>
                <a:cs typeface="+mn-cs"/>
              </a:rPr>
              <a:t>Conditional branch: </a:t>
            </a:r>
            <a:r>
              <a:rPr kumimoji="1" lang="en-US" sz="1200" b="0" kern="1200" baseline="0" dirty="0">
                <a:solidFill>
                  <a:schemeClr val="tx1"/>
                </a:solidFill>
                <a:latin typeface="Times New Roman" pitchFamily="-110" charset="0"/>
                <a:ea typeface="+mn-ea"/>
                <a:cs typeface="+mn-cs"/>
              </a:rPr>
              <a:t>The branch can be made dependent on a condition, thus</a:t>
            </a:r>
          </a:p>
          <a:p>
            <a:r>
              <a:rPr kumimoji="1" lang="en-US" sz="1200" kern="1200" baseline="0" dirty="0">
                <a:solidFill>
                  <a:schemeClr val="tx1"/>
                </a:solidFill>
                <a:latin typeface="Times New Roman" pitchFamily="-110" charset="0"/>
                <a:ea typeface="+mn-ea"/>
                <a:cs typeface="+mn-cs"/>
              </a:rPr>
              <a:t>allowing decision points.</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a:t>
            </a:r>
            <a:r>
              <a:rPr kumimoji="1" lang="en-US" sz="1200" b="1" kern="1200" baseline="0" dirty="0">
                <a:solidFill>
                  <a:schemeClr val="tx1"/>
                </a:solidFill>
                <a:latin typeface="Times New Roman" pitchFamily="-110" charset="0"/>
                <a:ea typeface="+mn-ea"/>
                <a:cs typeface="+mn-cs"/>
              </a:rPr>
              <a:t>Arithmetic: </a:t>
            </a:r>
            <a:r>
              <a:rPr kumimoji="1" lang="en-US" sz="1200" b="0" kern="1200" baseline="0" dirty="0">
                <a:solidFill>
                  <a:schemeClr val="tx1"/>
                </a:solidFill>
                <a:latin typeface="Times New Roman" pitchFamily="-110" charset="0"/>
                <a:ea typeface="+mn-ea"/>
                <a:cs typeface="+mn-cs"/>
              </a:rPr>
              <a:t>Operations performed by the ALU.</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a:t>
            </a:r>
            <a:r>
              <a:rPr kumimoji="1" lang="en-US" sz="1200" b="1" kern="1200" baseline="0" dirty="0">
                <a:solidFill>
                  <a:schemeClr val="tx1"/>
                </a:solidFill>
                <a:latin typeface="Times New Roman" pitchFamily="-110" charset="0"/>
                <a:ea typeface="+mn-ea"/>
                <a:cs typeface="+mn-cs"/>
              </a:rPr>
              <a:t>Address modify: </a:t>
            </a:r>
            <a:r>
              <a:rPr kumimoji="1" lang="en-US" sz="1200" b="0" kern="1200" baseline="0" dirty="0">
                <a:solidFill>
                  <a:schemeClr val="tx1"/>
                </a:solidFill>
                <a:latin typeface="Times New Roman" pitchFamily="-110" charset="0"/>
                <a:ea typeface="+mn-ea"/>
                <a:cs typeface="+mn-cs"/>
              </a:rPr>
              <a:t>Permits addresses to be computed in the ALU and then</a:t>
            </a:r>
          </a:p>
          <a:p>
            <a:r>
              <a:rPr kumimoji="1" lang="en-US" sz="1200" kern="1200" baseline="0" dirty="0">
                <a:solidFill>
                  <a:schemeClr val="tx1"/>
                </a:solidFill>
                <a:latin typeface="Times New Roman" pitchFamily="-110" charset="0"/>
                <a:ea typeface="+mn-ea"/>
                <a:cs typeface="+mn-cs"/>
              </a:rPr>
              <a:t>inserted into instructions stored in memory. This allows a program considerable</a:t>
            </a:r>
          </a:p>
          <a:p>
            <a:r>
              <a:rPr kumimoji="1" lang="en-US" sz="1200" kern="1200" baseline="0" dirty="0">
                <a:solidFill>
                  <a:schemeClr val="tx1"/>
                </a:solidFill>
                <a:latin typeface="Times New Roman" pitchFamily="-110" charset="0"/>
                <a:ea typeface="+mn-ea"/>
                <a:cs typeface="+mn-cs"/>
              </a:rPr>
              <a:t>addressing flexibility.</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Table 2.1 presents instructions in a symbolic, easy-to-read form. Actually,</a:t>
            </a:r>
          </a:p>
          <a:p>
            <a:r>
              <a:rPr kumimoji="1" lang="en-US" sz="1200" kern="1200" baseline="0" dirty="0">
                <a:solidFill>
                  <a:schemeClr val="tx1"/>
                </a:solidFill>
                <a:latin typeface="Times New Roman" pitchFamily="-110" charset="0"/>
                <a:ea typeface="+mn-ea"/>
                <a:cs typeface="+mn-cs"/>
              </a:rPr>
              <a:t>each instruction must conform to the format of Figure 2.2b. The opcode portion</a:t>
            </a:r>
          </a:p>
          <a:p>
            <a:r>
              <a:rPr kumimoji="1" lang="en-US" sz="1200" kern="1200" baseline="0" dirty="0">
                <a:solidFill>
                  <a:schemeClr val="tx1"/>
                </a:solidFill>
                <a:latin typeface="Times New Roman" pitchFamily="-110" charset="0"/>
                <a:ea typeface="+mn-ea"/>
                <a:cs typeface="+mn-cs"/>
              </a:rPr>
              <a:t>(first 8 bits) specifies which of the 21 instructions is to be executed. The address</a:t>
            </a:r>
          </a:p>
          <a:p>
            <a:r>
              <a:rPr kumimoji="1" lang="en-US" sz="1200" kern="1200" baseline="0" dirty="0">
                <a:solidFill>
                  <a:schemeClr val="tx1"/>
                </a:solidFill>
                <a:latin typeface="Times New Roman" pitchFamily="-110" charset="0"/>
                <a:ea typeface="+mn-ea"/>
                <a:cs typeface="+mn-cs"/>
              </a:rPr>
              <a:t>portion (remaining 12 bits) specifies which of the 1000 memory locations is to be</a:t>
            </a:r>
          </a:p>
          <a:p>
            <a:r>
              <a:rPr kumimoji="1" lang="en-US" sz="1200" kern="1200" baseline="0" dirty="0">
                <a:solidFill>
                  <a:schemeClr val="tx1"/>
                </a:solidFill>
                <a:latin typeface="Times New Roman" pitchFamily="-110" charset="0"/>
                <a:ea typeface="+mn-ea"/>
                <a:cs typeface="+mn-cs"/>
              </a:rPr>
              <a:t>involved in the execution of the instruction.</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19</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0000" lnSpcReduction="20000"/>
          </a:bodyPr>
          <a:lstStyle/>
          <a:p>
            <a:r>
              <a:rPr kumimoji="1" lang="vi-VN" sz="1200" kern="1200" baseline="0">
                <a:solidFill>
                  <a:schemeClr val="tx1"/>
                </a:solidFill>
                <a:latin typeface="Times New Roman" pitchFamily="-110" charset="0"/>
                <a:ea typeface="+mn-ea"/>
                <a:cs typeface="+mn-cs"/>
              </a:rPr>
              <a:t>Máy tính IAS có tổng cộng 21 hướng dẫn, được liệt kê trong Bảng 2.1.</a:t>
            </a:r>
          </a:p>
          <a:p>
            <a:r>
              <a:rPr kumimoji="1" lang="vi-VN" sz="1200" kern="1200" baseline="0">
                <a:solidFill>
                  <a:schemeClr val="tx1"/>
                </a:solidFill>
                <a:latin typeface="Times New Roman" pitchFamily="-110" charset="0"/>
                <a:ea typeface="+mn-ea"/>
                <a:cs typeface="+mn-cs"/>
              </a:rPr>
              <a:t>Chúng có thể được nhóm lại như sau:</a:t>
            </a:r>
          </a:p>
          <a:p>
            <a:endParaRPr kumimoji="1" lang="vi-VN" sz="1200" kern="1200" baseline="0">
              <a:solidFill>
                <a:schemeClr val="tx1"/>
              </a:solidFill>
              <a:latin typeface="Times New Roman" pitchFamily="-110" charset="0"/>
              <a:ea typeface="+mn-ea"/>
              <a:cs typeface="+mn-cs"/>
            </a:endParaRPr>
          </a:p>
          <a:p>
            <a:r>
              <a:rPr kumimoji="1" lang="vi-VN" sz="1200" kern="1200" baseline="0">
                <a:solidFill>
                  <a:schemeClr val="tx1"/>
                </a:solidFill>
                <a:latin typeface="Times New Roman" pitchFamily="-110" charset="0"/>
                <a:ea typeface="+mn-ea"/>
                <a:cs typeface="+mn-cs"/>
              </a:rPr>
              <a:t>• Truyền dữ liệu: Di chuyển dữ liệu giữa các bộ nhớ và các thanh ghi ALU hoặc giữa</a:t>
            </a:r>
          </a:p>
          <a:p>
            <a:r>
              <a:rPr kumimoji="1" lang="vi-VN" sz="1200" kern="1200" baseline="0">
                <a:solidFill>
                  <a:schemeClr val="tx1"/>
                </a:solidFill>
                <a:latin typeface="Times New Roman" pitchFamily="-110" charset="0"/>
                <a:ea typeface="+mn-ea"/>
                <a:cs typeface="+mn-cs"/>
              </a:rPr>
              <a:t>hai thanh ghi ALU.</a:t>
            </a:r>
          </a:p>
          <a:p>
            <a:endParaRPr kumimoji="1" lang="vi-VN" sz="1200" kern="1200" baseline="0">
              <a:solidFill>
                <a:schemeClr val="tx1"/>
              </a:solidFill>
              <a:latin typeface="Times New Roman" pitchFamily="-110" charset="0"/>
              <a:ea typeface="+mn-ea"/>
              <a:cs typeface="+mn-cs"/>
            </a:endParaRPr>
          </a:p>
          <a:p>
            <a:r>
              <a:rPr kumimoji="1" lang="vi-VN" sz="1200" kern="1200" baseline="0">
                <a:solidFill>
                  <a:schemeClr val="tx1"/>
                </a:solidFill>
                <a:latin typeface="Times New Roman" pitchFamily="-110" charset="0"/>
                <a:ea typeface="+mn-ea"/>
                <a:cs typeface="+mn-cs"/>
              </a:rPr>
              <a:t>Nhánh vô điều kiện: Thông thường, bộ điều khiển thực hiện các hướng dẫn trong</a:t>
            </a:r>
          </a:p>
          <a:p>
            <a:r>
              <a:rPr kumimoji="1" lang="vi-VN" sz="1200" kern="1200" baseline="0">
                <a:solidFill>
                  <a:schemeClr val="tx1"/>
                </a:solidFill>
                <a:latin typeface="Times New Roman" pitchFamily="-110" charset="0"/>
                <a:ea typeface="+mn-ea"/>
                <a:cs typeface="+mn-cs"/>
              </a:rPr>
              <a:t>trình tự từ bộ nhớ. Trình tự này có thể được thay đổi bởi một hướng dẫn chi nhánh,</a:t>
            </a:r>
          </a:p>
          <a:p>
            <a:r>
              <a:rPr kumimoji="1" lang="vi-VN" sz="1200" kern="1200" baseline="0">
                <a:solidFill>
                  <a:schemeClr val="tx1"/>
                </a:solidFill>
                <a:latin typeface="Times New Roman" pitchFamily="-110" charset="0"/>
                <a:ea typeface="+mn-ea"/>
                <a:cs typeface="+mn-cs"/>
              </a:rPr>
              <a:t>tạo điều kiện cho các hoạt động lặp đi lặp lại.</a:t>
            </a:r>
          </a:p>
          <a:p>
            <a:endParaRPr kumimoji="1" lang="vi-VN" sz="1200" kern="1200" baseline="0">
              <a:solidFill>
                <a:schemeClr val="tx1"/>
              </a:solidFill>
              <a:latin typeface="Times New Roman" pitchFamily="-110" charset="0"/>
              <a:ea typeface="+mn-ea"/>
              <a:cs typeface="+mn-cs"/>
            </a:endParaRPr>
          </a:p>
          <a:p>
            <a:r>
              <a:rPr kumimoji="1" lang="vi-VN" sz="1200" kern="1200" baseline="0">
                <a:solidFill>
                  <a:schemeClr val="tx1"/>
                </a:solidFill>
                <a:latin typeface="Times New Roman" pitchFamily="-110" charset="0"/>
                <a:ea typeface="+mn-ea"/>
                <a:cs typeface="+mn-cs"/>
              </a:rPr>
              <a:t>• Chi nhánh có điều kiện: Chi nhánh có thể được thực hiện tùy thuộc vào một điều kiện, do đó</a:t>
            </a:r>
          </a:p>
          <a:p>
            <a:r>
              <a:rPr kumimoji="1" lang="vi-VN" sz="1200" kern="1200" baseline="0">
                <a:solidFill>
                  <a:schemeClr val="tx1"/>
                </a:solidFill>
                <a:latin typeface="Times New Roman" pitchFamily="-110" charset="0"/>
                <a:ea typeface="+mn-ea"/>
                <a:cs typeface="+mn-cs"/>
              </a:rPr>
              <a:t>cho phép điểm quyết định.</a:t>
            </a:r>
          </a:p>
          <a:p>
            <a:endParaRPr kumimoji="1" lang="vi-VN" sz="1200" kern="1200" baseline="0">
              <a:solidFill>
                <a:schemeClr val="tx1"/>
              </a:solidFill>
              <a:latin typeface="Times New Roman" pitchFamily="-110" charset="0"/>
              <a:ea typeface="+mn-ea"/>
              <a:cs typeface="+mn-cs"/>
            </a:endParaRPr>
          </a:p>
          <a:p>
            <a:r>
              <a:rPr kumimoji="1" lang="vi-VN" sz="1200" kern="1200" baseline="0">
                <a:solidFill>
                  <a:schemeClr val="tx1"/>
                </a:solidFill>
                <a:latin typeface="Times New Roman" pitchFamily="-110" charset="0"/>
                <a:ea typeface="+mn-ea"/>
                <a:cs typeface="+mn-cs"/>
              </a:rPr>
              <a:t>• Số học: Các hoạt động được thực hiện bởi ALU.</a:t>
            </a:r>
          </a:p>
          <a:p>
            <a:endParaRPr kumimoji="1" lang="vi-VN" sz="1200" kern="1200" baseline="0">
              <a:solidFill>
                <a:schemeClr val="tx1"/>
              </a:solidFill>
              <a:latin typeface="Times New Roman" pitchFamily="-110" charset="0"/>
              <a:ea typeface="+mn-ea"/>
              <a:cs typeface="+mn-cs"/>
            </a:endParaRPr>
          </a:p>
          <a:p>
            <a:r>
              <a:rPr kumimoji="1" lang="vi-VN" sz="1200" kern="1200" baseline="0">
                <a:solidFill>
                  <a:schemeClr val="tx1"/>
                </a:solidFill>
                <a:latin typeface="Times New Roman" pitchFamily="-110" charset="0"/>
                <a:ea typeface="+mn-ea"/>
                <a:cs typeface="+mn-cs"/>
              </a:rPr>
              <a:t>• Sửa đổi địa chỉ: Cho phép các địa chỉ được tính toán trong ALU và sau đó</a:t>
            </a:r>
          </a:p>
          <a:p>
            <a:r>
              <a:rPr kumimoji="1" lang="vi-VN" sz="1200" kern="1200" baseline="0">
                <a:solidFill>
                  <a:schemeClr val="tx1"/>
                </a:solidFill>
                <a:latin typeface="Times New Roman" pitchFamily="-110" charset="0"/>
                <a:ea typeface="+mn-ea"/>
                <a:cs typeface="+mn-cs"/>
              </a:rPr>
              <a:t>chèn vào các hướng dẫn được lưu trữ trong bộ nhớ. Điều này cho phép một chương trình đáng kể</a:t>
            </a:r>
          </a:p>
          <a:p>
            <a:r>
              <a:rPr kumimoji="1" lang="vi-VN" sz="1200" kern="1200" baseline="0">
                <a:solidFill>
                  <a:schemeClr val="tx1"/>
                </a:solidFill>
                <a:latin typeface="Times New Roman" pitchFamily="-110" charset="0"/>
                <a:ea typeface="+mn-ea"/>
                <a:cs typeface="+mn-cs"/>
              </a:rPr>
              <a:t>giải quyết sự linh hoạt.</a:t>
            </a:r>
          </a:p>
          <a:p>
            <a:endParaRPr kumimoji="1" lang="vi-VN" sz="1200" kern="1200" baseline="0">
              <a:solidFill>
                <a:schemeClr val="tx1"/>
              </a:solidFill>
              <a:latin typeface="Times New Roman" pitchFamily="-110" charset="0"/>
              <a:ea typeface="+mn-ea"/>
              <a:cs typeface="+mn-cs"/>
            </a:endParaRPr>
          </a:p>
          <a:p>
            <a:r>
              <a:rPr kumimoji="1" lang="vi-VN" sz="1200" kern="1200" baseline="0">
                <a:solidFill>
                  <a:schemeClr val="tx1"/>
                </a:solidFill>
                <a:latin typeface="Times New Roman" pitchFamily="-110" charset="0"/>
                <a:ea typeface="+mn-ea"/>
                <a:cs typeface="+mn-cs"/>
              </a:rPr>
              <a:t>Bảng 2.1 trình bày các hướng dẫn ở dạng biểu tượng, dễ đọc. Thực ra,</a:t>
            </a:r>
          </a:p>
          <a:p>
            <a:r>
              <a:rPr kumimoji="1" lang="vi-VN" sz="1200" kern="1200" baseline="0">
                <a:solidFill>
                  <a:schemeClr val="tx1"/>
                </a:solidFill>
                <a:latin typeface="Times New Roman" pitchFamily="-110" charset="0"/>
                <a:ea typeface="+mn-ea"/>
                <a:cs typeface="+mn-cs"/>
              </a:rPr>
              <a:t>mỗi hướng dẫn phải phù hợp với định dạng của Hình 2.2b. Phần opcode</a:t>
            </a:r>
          </a:p>
          <a:p>
            <a:r>
              <a:rPr kumimoji="1" lang="vi-VN" sz="1200" kern="1200" baseline="0">
                <a:solidFill>
                  <a:schemeClr val="tx1"/>
                </a:solidFill>
                <a:latin typeface="Times New Roman" pitchFamily="-110" charset="0"/>
                <a:ea typeface="+mn-ea"/>
                <a:cs typeface="+mn-cs"/>
              </a:rPr>
              <a:t>(8 bit đầu tiên) chỉ định lệnh nào trong số 21 lệnh sẽ được thực hiện. Địa chỉ</a:t>
            </a:r>
          </a:p>
          <a:p>
            <a:r>
              <a:rPr kumimoji="1" lang="vi-VN" sz="1200" kern="1200" baseline="0">
                <a:solidFill>
                  <a:schemeClr val="tx1"/>
                </a:solidFill>
                <a:latin typeface="Times New Roman" pitchFamily="-110" charset="0"/>
                <a:ea typeface="+mn-ea"/>
                <a:cs typeface="+mn-cs"/>
              </a:rPr>
              <a:t>phần (12 bit còn lại) chỉ định vị trí nào trong số 1000 vị trí bộ nhớ sẽ là</a:t>
            </a:r>
          </a:p>
          <a:p>
            <a:r>
              <a:rPr kumimoji="1" lang="vi-VN" sz="1200" kern="1200" baseline="0">
                <a:solidFill>
                  <a:schemeClr val="tx1"/>
                </a:solidFill>
                <a:latin typeface="Times New Roman" pitchFamily="-110" charset="0"/>
                <a:ea typeface="+mn-ea"/>
                <a:cs typeface="+mn-cs"/>
              </a:rPr>
              <a:t>tham gia vào việc thực hiện các hướng dẫn.</a:t>
            </a:r>
            <a:endParaRPr kumimoji="1" lang="en-US" sz="1200" kern="1200" baseline="0">
              <a:solidFill>
                <a:schemeClr val="tx1"/>
              </a:solidFill>
              <a:latin typeface="Times New Roman" pitchFamily="-110" charset="0"/>
              <a:ea typeface="+mn-ea"/>
              <a:cs typeface="+mn-cs"/>
            </a:endParaRPr>
          </a:p>
          <a:p>
            <a:r>
              <a:rPr kumimoji="1" lang="en-US" sz="1200" kern="1200" baseline="0">
                <a:solidFill>
                  <a:schemeClr val="tx1"/>
                </a:solidFill>
                <a:latin typeface="Times New Roman" pitchFamily="-110" charset="0"/>
                <a:ea typeface="+mn-ea"/>
                <a:cs typeface="+mn-cs"/>
              </a:rPr>
              <a:t>The </a:t>
            </a:r>
            <a:r>
              <a:rPr kumimoji="1" lang="en-US" sz="1200" kern="1200" baseline="0" dirty="0">
                <a:solidFill>
                  <a:schemeClr val="tx1"/>
                </a:solidFill>
                <a:latin typeface="Times New Roman" pitchFamily="-110" charset="0"/>
                <a:ea typeface="+mn-ea"/>
                <a:cs typeface="+mn-cs"/>
              </a:rPr>
              <a:t>IAS computer had a total of 21 instructions, which are listed in Table 2.1.</a:t>
            </a:r>
          </a:p>
          <a:p>
            <a:r>
              <a:rPr kumimoji="1" lang="en-US" sz="1200" kern="1200" baseline="0" dirty="0">
                <a:solidFill>
                  <a:schemeClr val="tx1"/>
                </a:solidFill>
                <a:latin typeface="Times New Roman" pitchFamily="-110" charset="0"/>
                <a:ea typeface="+mn-ea"/>
                <a:cs typeface="+mn-cs"/>
              </a:rPr>
              <a:t>These can be grouped as follows:</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a:t>
            </a:r>
            <a:r>
              <a:rPr kumimoji="1" lang="en-US" sz="1200" b="1" kern="1200" baseline="0" dirty="0">
                <a:solidFill>
                  <a:schemeClr val="tx1"/>
                </a:solidFill>
                <a:latin typeface="Times New Roman" pitchFamily="-110" charset="0"/>
                <a:ea typeface="+mn-ea"/>
                <a:cs typeface="+mn-cs"/>
              </a:rPr>
              <a:t>Data transfer: </a:t>
            </a:r>
            <a:r>
              <a:rPr kumimoji="1" lang="en-US" sz="1200" b="0" kern="1200" baseline="0" dirty="0">
                <a:solidFill>
                  <a:schemeClr val="tx1"/>
                </a:solidFill>
                <a:latin typeface="Times New Roman" pitchFamily="-110" charset="0"/>
                <a:ea typeface="+mn-ea"/>
                <a:cs typeface="+mn-cs"/>
              </a:rPr>
              <a:t>Move data between memory and ALU registers or between</a:t>
            </a:r>
          </a:p>
          <a:p>
            <a:r>
              <a:rPr kumimoji="1" lang="en-US" sz="1200" kern="1200" baseline="0" dirty="0">
                <a:solidFill>
                  <a:schemeClr val="tx1"/>
                </a:solidFill>
                <a:latin typeface="Times New Roman" pitchFamily="-110" charset="0"/>
                <a:ea typeface="+mn-ea"/>
                <a:cs typeface="+mn-cs"/>
              </a:rPr>
              <a:t>two ALU registers.</a:t>
            </a:r>
          </a:p>
          <a:p>
            <a:endParaRPr kumimoji="1" lang="en-US" sz="1200" kern="1200" baseline="0" dirty="0">
              <a:solidFill>
                <a:schemeClr val="tx1"/>
              </a:solidFill>
              <a:latin typeface="Times New Roman" pitchFamily="-110" charset="0"/>
              <a:ea typeface="+mn-ea"/>
              <a:cs typeface="+mn-cs"/>
            </a:endParaRPr>
          </a:p>
          <a:p>
            <a:r>
              <a:rPr kumimoji="1" lang="en-US" sz="1200" b="1" kern="1200" baseline="0" dirty="0">
                <a:solidFill>
                  <a:schemeClr val="tx1"/>
                </a:solidFill>
                <a:latin typeface="Times New Roman" pitchFamily="-110" charset="0"/>
                <a:ea typeface="+mn-ea"/>
                <a:cs typeface="+mn-cs"/>
              </a:rPr>
              <a:t>Unconditional branch: </a:t>
            </a:r>
            <a:r>
              <a:rPr kumimoji="1" lang="en-US" sz="1200" b="0" kern="1200" baseline="0" dirty="0">
                <a:solidFill>
                  <a:schemeClr val="tx1"/>
                </a:solidFill>
                <a:latin typeface="Times New Roman" pitchFamily="-110" charset="0"/>
                <a:ea typeface="+mn-ea"/>
                <a:cs typeface="+mn-cs"/>
              </a:rPr>
              <a:t>Normally, the control unit executes instructions in</a:t>
            </a:r>
          </a:p>
          <a:p>
            <a:r>
              <a:rPr kumimoji="1" lang="en-US" sz="1200" kern="1200" baseline="0" dirty="0">
                <a:solidFill>
                  <a:schemeClr val="tx1"/>
                </a:solidFill>
                <a:latin typeface="Times New Roman" pitchFamily="-110" charset="0"/>
                <a:ea typeface="+mn-ea"/>
                <a:cs typeface="+mn-cs"/>
              </a:rPr>
              <a:t>sequence from memory. This sequence can be changed by a branch instruction,</a:t>
            </a:r>
          </a:p>
          <a:p>
            <a:r>
              <a:rPr kumimoji="1" lang="en-US" sz="1200" kern="1200" baseline="0" dirty="0">
                <a:solidFill>
                  <a:schemeClr val="tx1"/>
                </a:solidFill>
                <a:latin typeface="Times New Roman" pitchFamily="-110" charset="0"/>
                <a:ea typeface="+mn-ea"/>
                <a:cs typeface="+mn-cs"/>
              </a:rPr>
              <a:t>which facilitates repetitive operations.</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a:t>
            </a:r>
            <a:r>
              <a:rPr kumimoji="1" lang="en-US" sz="1200" b="1" kern="1200" baseline="0" dirty="0">
                <a:solidFill>
                  <a:schemeClr val="tx1"/>
                </a:solidFill>
                <a:latin typeface="Times New Roman" pitchFamily="-110" charset="0"/>
                <a:ea typeface="+mn-ea"/>
                <a:cs typeface="+mn-cs"/>
              </a:rPr>
              <a:t>Conditional branch: </a:t>
            </a:r>
            <a:r>
              <a:rPr kumimoji="1" lang="en-US" sz="1200" b="0" kern="1200" baseline="0" dirty="0">
                <a:solidFill>
                  <a:schemeClr val="tx1"/>
                </a:solidFill>
                <a:latin typeface="Times New Roman" pitchFamily="-110" charset="0"/>
                <a:ea typeface="+mn-ea"/>
                <a:cs typeface="+mn-cs"/>
              </a:rPr>
              <a:t>The branch can be made dependent on a condition, thus</a:t>
            </a:r>
          </a:p>
          <a:p>
            <a:r>
              <a:rPr kumimoji="1" lang="en-US" sz="1200" kern="1200" baseline="0" dirty="0">
                <a:solidFill>
                  <a:schemeClr val="tx1"/>
                </a:solidFill>
                <a:latin typeface="Times New Roman" pitchFamily="-110" charset="0"/>
                <a:ea typeface="+mn-ea"/>
                <a:cs typeface="+mn-cs"/>
              </a:rPr>
              <a:t>allowing decision points.</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a:t>
            </a:r>
            <a:r>
              <a:rPr kumimoji="1" lang="en-US" sz="1200" b="1" kern="1200" baseline="0" dirty="0">
                <a:solidFill>
                  <a:schemeClr val="tx1"/>
                </a:solidFill>
                <a:latin typeface="Times New Roman" pitchFamily="-110" charset="0"/>
                <a:ea typeface="+mn-ea"/>
                <a:cs typeface="+mn-cs"/>
              </a:rPr>
              <a:t>Arithmetic: </a:t>
            </a:r>
            <a:r>
              <a:rPr kumimoji="1" lang="en-US" sz="1200" b="0" kern="1200" baseline="0" dirty="0">
                <a:solidFill>
                  <a:schemeClr val="tx1"/>
                </a:solidFill>
                <a:latin typeface="Times New Roman" pitchFamily="-110" charset="0"/>
                <a:ea typeface="+mn-ea"/>
                <a:cs typeface="+mn-cs"/>
              </a:rPr>
              <a:t>Operations performed by the ALU.</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a:t>
            </a:r>
            <a:r>
              <a:rPr kumimoji="1" lang="en-US" sz="1200" b="1" kern="1200" baseline="0" dirty="0">
                <a:solidFill>
                  <a:schemeClr val="tx1"/>
                </a:solidFill>
                <a:latin typeface="Times New Roman" pitchFamily="-110" charset="0"/>
                <a:ea typeface="+mn-ea"/>
                <a:cs typeface="+mn-cs"/>
              </a:rPr>
              <a:t>Address modify: </a:t>
            </a:r>
            <a:r>
              <a:rPr kumimoji="1" lang="en-US" sz="1200" b="0" kern="1200" baseline="0" dirty="0">
                <a:solidFill>
                  <a:schemeClr val="tx1"/>
                </a:solidFill>
                <a:latin typeface="Times New Roman" pitchFamily="-110" charset="0"/>
                <a:ea typeface="+mn-ea"/>
                <a:cs typeface="+mn-cs"/>
              </a:rPr>
              <a:t>Permits addresses to be computed in the ALU and then</a:t>
            </a:r>
          </a:p>
          <a:p>
            <a:r>
              <a:rPr kumimoji="1" lang="en-US" sz="1200" kern="1200" baseline="0" dirty="0">
                <a:solidFill>
                  <a:schemeClr val="tx1"/>
                </a:solidFill>
                <a:latin typeface="Times New Roman" pitchFamily="-110" charset="0"/>
                <a:ea typeface="+mn-ea"/>
                <a:cs typeface="+mn-cs"/>
              </a:rPr>
              <a:t>inserted into instructions stored in memory. This allows a program considerable</a:t>
            </a:r>
          </a:p>
          <a:p>
            <a:r>
              <a:rPr kumimoji="1" lang="en-US" sz="1200" kern="1200" baseline="0" dirty="0">
                <a:solidFill>
                  <a:schemeClr val="tx1"/>
                </a:solidFill>
                <a:latin typeface="Times New Roman" pitchFamily="-110" charset="0"/>
                <a:ea typeface="+mn-ea"/>
                <a:cs typeface="+mn-cs"/>
              </a:rPr>
              <a:t>addressing flexibility.</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Table 2.1 presents instructions in a symbolic, easy-to-read form. Actually,</a:t>
            </a:r>
          </a:p>
          <a:p>
            <a:r>
              <a:rPr kumimoji="1" lang="en-US" sz="1200" kern="1200" baseline="0" dirty="0">
                <a:solidFill>
                  <a:schemeClr val="tx1"/>
                </a:solidFill>
                <a:latin typeface="Times New Roman" pitchFamily="-110" charset="0"/>
                <a:ea typeface="+mn-ea"/>
                <a:cs typeface="+mn-cs"/>
              </a:rPr>
              <a:t>each instruction must conform to the format of Figure 2.2b. The opcode portion</a:t>
            </a:r>
          </a:p>
          <a:p>
            <a:r>
              <a:rPr kumimoji="1" lang="en-US" sz="1200" kern="1200" baseline="0" dirty="0">
                <a:solidFill>
                  <a:schemeClr val="tx1"/>
                </a:solidFill>
                <a:latin typeface="Times New Roman" pitchFamily="-110" charset="0"/>
                <a:ea typeface="+mn-ea"/>
                <a:cs typeface="+mn-cs"/>
              </a:rPr>
              <a:t>(first 8 bits) specifies which of the 21 instructions is to be executed. The address</a:t>
            </a:r>
          </a:p>
          <a:p>
            <a:r>
              <a:rPr kumimoji="1" lang="en-US" sz="1200" kern="1200" baseline="0" dirty="0">
                <a:solidFill>
                  <a:schemeClr val="tx1"/>
                </a:solidFill>
                <a:latin typeface="Times New Roman" pitchFamily="-110" charset="0"/>
                <a:ea typeface="+mn-ea"/>
                <a:cs typeface="+mn-cs"/>
              </a:rPr>
              <a:t>portion (remaining 12 bits) specifies which of the 1000 memory locations is to be</a:t>
            </a:r>
          </a:p>
          <a:p>
            <a:r>
              <a:rPr kumimoji="1" lang="en-US" sz="1200" kern="1200" baseline="0" dirty="0">
                <a:solidFill>
                  <a:schemeClr val="tx1"/>
                </a:solidFill>
                <a:latin typeface="Times New Roman" pitchFamily="-110" charset="0"/>
                <a:ea typeface="+mn-ea"/>
                <a:cs typeface="+mn-cs"/>
              </a:rPr>
              <a:t>involved in the execution of the instruction.</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20</a:t>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4E859E3-EB53-1944-A05E-ADEF90241019}" type="slidenum">
              <a:rPr lang="en-US"/>
              <a:pPr/>
              <a:t>21</a:t>
            </a:fld>
            <a:endParaRPr lang="en-US" dirty="0"/>
          </a:p>
        </p:txBody>
      </p:sp>
      <p:sp>
        <p:nvSpPr>
          <p:cNvPr id="67586" name="Rectangle 2"/>
          <p:cNvSpPr>
            <a:spLocks noGrp="1" noRot="1" noChangeAspect="1" noChangeArrowheads="1" noTextEdit="1"/>
          </p:cNvSpPr>
          <p:nvPr>
            <p:ph type="sldImg"/>
          </p:nvPr>
        </p:nvSpPr>
        <p:spPr>
          <a:ln/>
        </p:spPr>
      </p:sp>
      <p:sp>
        <p:nvSpPr>
          <p:cNvPr id="67587"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110" charset="0"/>
                <a:ea typeface="+mn-ea"/>
                <a:cs typeface="+mn-cs"/>
              </a:rPr>
              <a:t>The 1950s saw the birth of the computer industry with</a:t>
            </a:r>
          </a:p>
          <a:p>
            <a:r>
              <a:rPr kumimoji="1" lang="en-US" sz="1200" kern="1200" baseline="0" dirty="0">
                <a:solidFill>
                  <a:schemeClr val="tx1"/>
                </a:solidFill>
                <a:latin typeface="Times New Roman" pitchFamily="-110" charset="0"/>
                <a:ea typeface="+mn-ea"/>
                <a:cs typeface="+mn-cs"/>
              </a:rPr>
              <a:t>two companies, Sperry and IBM, dominating the marketplace.</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In 1947, Eckert and Mauchly formed the Eckert-Mauchly Computer</a:t>
            </a:r>
          </a:p>
          <a:p>
            <a:r>
              <a:rPr kumimoji="1" lang="en-US" sz="1200" kern="1200" baseline="0" dirty="0">
                <a:solidFill>
                  <a:schemeClr val="tx1"/>
                </a:solidFill>
                <a:latin typeface="Times New Roman" pitchFamily="-110" charset="0"/>
                <a:ea typeface="+mn-ea"/>
                <a:cs typeface="+mn-cs"/>
              </a:rPr>
              <a:t>Corporation to manufacture computers commercially. Their first successful machine</a:t>
            </a:r>
          </a:p>
          <a:p>
            <a:r>
              <a:rPr kumimoji="1" lang="en-US" sz="1200" kern="1200" baseline="0" dirty="0">
                <a:solidFill>
                  <a:schemeClr val="tx1"/>
                </a:solidFill>
                <a:latin typeface="Times New Roman" pitchFamily="-110" charset="0"/>
                <a:ea typeface="+mn-ea"/>
                <a:cs typeface="+mn-cs"/>
              </a:rPr>
              <a:t>was the UNIVAC I (Universal Automatic Computer), which was commissioned by</a:t>
            </a:r>
          </a:p>
          <a:p>
            <a:r>
              <a:rPr kumimoji="1" lang="en-US" sz="1200" kern="1200" baseline="0" dirty="0">
                <a:solidFill>
                  <a:schemeClr val="tx1"/>
                </a:solidFill>
                <a:latin typeface="Times New Roman" pitchFamily="-110" charset="0"/>
                <a:ea typeface="+mn-ea"/>
                <a:cs typeface="+mn-cs"/>
              </a:rPr>
              <a:t>the Bureau of the Census for the 1950 calculations. The Eckert-Mauchly Computer</a:t>
            </a:r>
          </a:p>
          <a:p>
            <a:r>
              <a:rPr kumimoji="1" lang="en-US" sz="1200" kern="1200" baseline="0" dirty="0">
                <a:solidFill>
                  <a:schemeClr val="tx1"/>
                </a:solidFill>
                <a:latin typeface="Times New Roman" pitchFamily="-110" charset="0"/>
                <a:ea typeface="+mn-ea"/>
                <a:cs typeface="+mn-cs"/>
              </a:rPr>
              <a:t>Corporation became part of the UNIVAC division of Sperry-Rand Corporation,</a:t>
            </a:r>
          </a:p>
          <a:p>
            <a:r>
              <a:rPr kumimoji="1" lang="en-US" sz="1200" kern="1200" baseline="0" dirty="0">
                <a:solidFill>
                  <a:schemeClr val="tx1"/>
                </a:solidFill>
                <a:latin typeface="Times New Roman" pitchFamily="-110" charset="0"/>
                <a:ea typeface="+mn-ea"/>
                <a:cs typeface="+mn-cs"/>
              </a:rPr>
              <a:t>which went on to build a series of successor machines.</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The UNIVAC I was the first successful commercial computer. It was intended</a:t>
            </a:r>
          </a:p>
          <a:p>
            <a:r>
              <a:rPr kumimoji="1" lang="en-US" sz="1200" kern="1200" baseline="0" dirty="0">
                <a:solidFill>
                  <a:schemeClr val="tx1"/>
                </a:solidFill>
                <a:latin typeface="Times New Roman" pitchFamily="-110" charset="0"/>
                <a:ea typeface="+mn-ea"/>
                <a:cs typeface="+mn-cs"/>
              </a:rPr>
              <a:t>for both scientific and commercial applications. The first paper describing the</a:t>
            </a:r>
          </a:p>
          <a:p>
            <a:r>
              <a:rPr kumimoji="1" lang="en-US" sz="1200" kern="1200" baseline="0" dirty="0">
                <a:solidFill>
                  <a:schemeClr val="tx1"/>
                </a:solidFill>
                <a:latin typeface="Times New Roman" pitchFamily="-110" charset="0"/>
                <a:ea typeface="+mn-ea"/>
                <a:cs typeface="+mn-cs"/>
              </a:rPr>
              <a:t>system listed matrix algebraic computations, statistical problems, premium billings</a:t>
            </a:r>
          </a:p>
          <a:p>
            <a:r>
              <a:rPr kumimoji="1" lang="en-US" sz="1200" kern="1200" baseline="0" dirty="0">
                <a:solidFill>
                  <a:schemeClr val="tx1"/>
                </a:solidFill>
                <a:latin typeface="Times New Roman" pitchFamily="-110" charset="0"/>
                <a:ea typeface="+mn-ea"/>
                <a:cs typeface="+mn-cs"/>
              </a:rPr>
              <a:t>for a life insurance company, and logistical problems as a sample of the tasks it could</a:t>
            </a:r>
          </a:p>
          <a:p>
            <a:r>
              <a:rPr kumimoji="1" lang="en-US" sz="1200" kern="1200" baseline="0" dirty="0">
                <a:solidFill>
                  <a:schemeClr val="tx1"/>
                </a:solidFill>
                <a:latin typeface="Times New Roman" pitchFamily="-110" charset="0"/>
                <a:ea typeface="+mn-ea"/>
                <a:cs typeface="+mn-cs"/>
              </a:rPr>
              <a:t>perform.</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The UNIVAC II, which had greater memory capacity and higher performance</a:t>
            </a:r>
          </a:p>
          <a:p>
            <a:r>
              <a:rPr kumimoji="1" lang="en-US" sz="1200" kern="1200" baseline="0" dirty="0">
                <a:solidFill>
                  <a:schemeClr val="tx1"/>
                </a:solidFill>
                <a:latin typeface="Times New Roman" pitchFamily="-110" charset="0"/>
                <a:ea typeface="+mn-ea"/>
                <a:cs typeface="+mn-cs"/>
              </a:rPr>
              <a:t>than the UNIVAC I, was delivered in the late 1950s and illustrates several trends that</a:t>
            </a:r>
          </a:p>
          <a:p>
            <a:r>
              <a:rPr kumimoji="1" lang="en-US" sz="1200" kern="1200" baseline="0" dirty="0">
                <a:solidFill>
                  <a:schemeClr val="tx1"/>
                </a:solidFill>
                <a:latin typeface="Times New Roman" pitchFamily="-110" charset="0"/>
                <a:ea typeface="+mn-ea"/>
                <a:cs typeface="+mn-cs"/>
              </a:rPr>
              <a:t>have remained characteristic of the computer industry. First, advances in technology</a:t>
            </a:r>
          </a:p>
          <a:p>
            <a:r>
              <a:rPr kumimoji="1" lang="en-US" sz="1200" kern="1200" baseline="0" dirty="0">
                <a:solidFill>
                  <a:schemeClr val="tx1"/>
                </a:solidFill>
                <a:latin typeface="Times New Roman" pitchFamily="-110" charset="0"/>
                <a:ea typeface="+mn-ea"/>
                <a:cs typeface="+mn-cs"/>
              </a:rPr>
              <a:t>allow companies to continue to build larger, more powerful computers. Second,</a:t>
            </a:r>
          </a:p>
          <a:p>
            <a:r>
              <a:rPr kumimoji="1" lang="en-US" sz="1200" kern="1200" baseline="0" dirty="0">
                <a:solidFill>
                  <a:schemeClr val="tx1"/>
                </a:solidFill>
                <a:latin typeface="Times New Roman" pitchFamily="-110" charset="0"/>
                <a:ea typeface="+mn-ea"/>
                <a:cs typeface="+mn-cs"/>
              </a:rPr>
              <a:t>each company tries to make its new machines </a:t>
            </a:r>
            <a:r>
              <a:rPr kumimoji="1" lang="en-US" sz="1200" i="1" kern="1200" baseline="0" dirty="0">
                <a:solidFill>
                  <a:schemeClr val="tx1"/>
                </a:solidFill>
                <a:latin typeface="Times New Roman" pitchFamily="-110" charset="0"/>
                <a:ea typeface="+mn-ea"/>
                <a:cs typeface="+mn-cs"/>
              </a:rPr>
              <a:t>backward compatible with the older</a:t>
            </a:r>
          </a:p>
          <a:p>
            <a:r>
              <a:rPr kumimoji="1" lang="en-US" sz="1200" kern="1200" baseline="0" dirty="0">
                <a:solidFill>
                  <a:schemeClr val="tx1"/>
                </a:solidFill>
                <a:latin typeface="Times New Roman" pitchFamily="-110" charset="0"/>
                <a:ea typeface="+mn-ea"/>
                <a:cs typeface="+mn-cs"/>
              </a:rPr>
              <a:t>machines. This means that the programs written for the older machines can be</a:t>
            </a:r>
          </a:p>
          <a:p>
            <a:r>
              <a:rPr kumimoji="1" lang="en-US" sz="1200" kern="1200" baseline="0" dirty="0">
                <a:solidFill>
                  <a:schemeClr val="tx1"/>
                </a:solidFill>
                <a:latin typeface="Times New Roman" pitchFamily="-110" charset="0"/>
                <a:ea typeface="+mn-ea"/>
                <a:cs typeface="+mn-cs"/>
              </a:rPr>
              <a:t>executed on the new machine. This strategy is adopted in the hopes of retaining the</a:t>
            </a:r>
          </a:p>
          <a:p>
            <a:r>
              <a:rPr kumimoji="1" lang="en-US" sz="1200" kern="1200" baseline="0" dirty="0">
                <a:solidFill>
                  <a:schemeClr val="tx1"/>
                </a:solidFill>
                <a:latin typeface="Times New Roman" pitchFamily="-110" charset="0"/>
                <a:ea typeface="+mn-ea"/>
                <a:cs typeface="+mn-cs"/>
              </a:rPr>
              <a:t>customer base; that is, when a customer decides to buy a newer machine, he or she is</a:t>
            </a:r>
          </a:p>
          <a:p>
            <a:r>
              <a:rPr kumimoji="1" lang="en-US" sz="1200" kern="1200" baseline="0" dirty="0">
                <a:solidFill>
                  <a:schemeClr val="tx1"/>
                </a:solidFill>
                <a:latin typeface="Times New Roman" pitchFamily="-110" charset="0"/>
                <a:ea typeface="+mn-ea"/>
                <a:cs typeface="+mn-cs"/>
              </a:rPr>
              <a:t>likely to get it from the same company to avoid losing the investment in programs.</a:t>
            </a:r>
          </a:p>
          <a:p>
            <a:endParaRPr kumimoji="1" lang="en-US" sz="1200" kern="1200" baseline="0" dirty="0">
              <a:solidFill>
                <a:schemeClr val="tx1"/>
              </a:solidFill>
              <a:latin typeface="Times New Roman" pitchFamily="-110" charset="0"/>
              <a:ea typeface="+mn-ea"/>
              <a:cs typeface="+mn-cs"/>
            </a:endParaRPr>
          </a:p>
          <a:p>
            <a:r>
              <a:rPr kumimoji="1" lang="vi-VN" sz="1200" kern="1200" baseline="0">
                <a:solidFill>
                  <a:schemeClr val="tx1"/>
                </a:solidFill>
                <a:latin typeface="Times New Roman" pitchFamily="-110" charset="0"/>
                <a:ea typeface="+mn-ea"/>
                <a:cs typeface="+mn-cs"/>
              </a:rPr>
              <a:t>Những năm 1950 chứng kiến ​​sự ra đời của ngành công nghiệp máy tính với</a:t>
            </a:r>
          </a:p>
          <a:p>
            <a:r>
              <a:rPr kumimoji="1" lang="vi-VN" sz="1200" kern="1200" baseline="0">
                <a:solidFill>
                  <a:schemeClr val="tx1"/>
                </a:solidFill>
                <a:latin typeface="Times New Roman" pitchFamily="-110" charset="0"/>
                <a:ea typeface="+mn-ea"/>
                <a:cs typeface="+mn-cs"/>
              </a:rPr>
              <a:t>hai công ty, Sperry và IBM, thống trị thị trường.</a:t>
            </a:r>
          </a:p>
          <a:p>
            <a:endParaRPr kumimoji="1" lang="vi-VN" sz="1200" kern="1200" baseline="0">
              <a:solidFill>
                <a:schemeClr val="tx1"/>
              </a:solidFill>
              <a:latin typeface="Times New Roman" pitchFamily="-110" charset="0"/>
              <a:ea typeface="+mn-ea"/>
              <a:cs typeface="+mn-cs"/>
            </a:endParaRPr>
          </a:p>
          <a:p>
            <a:r>
              <a:rPr kumimoji="1" lang="vi-VN" sz="1200" kern="1200" baseline="0">
                <a:solidFill>
                  <a:schemeClr val="tx1"/>
                </a:solidFill>
                <a:latin typeface="Times New Roman" pitchFamily="-110" charset="0"/>
                <a:ea typeface="+mn-ea"/>
                <a:cs typeface="+mn-cs"/>
              </a:rPr>
              <a:t>Năm 1947, Eckert và Mauchly thành lập Máy tính Eckert-Mauchly</a:t>
            </a:r>
          </a:p>
          <a:p>
            <a:r>
              <a:rPr kumimoji="1" lang="vi-VN" sz="1200" kern="1200" baseline="0">
                <a:solidFill>
                  <a:schemeClr val="tx1"/>
                </a:solidFill>
                <a:latin typeface="Times New Roman" pitchFamily="-110" charset="0"/>
                <a:ea typeface="+mn-ea"/>
                <a:cs typeface="+mn-cs"/>
              </a:rPr>
              <a:t>Tổng công ty sản xuất máy tính thương mại. Máy thành công đầu tiên của họ</a:t>
            </a:r>
          </a:p>
          <a:p>
            <a:r>
              <a:rPr kumimoji="1" lang="vi-VN" sz="1200" kern="1200" baseline="0">
                <a:solidFill>
                  <a:schemeClr val="tx1"/>
                </a:solidFill>
                <a:latin typeface="Times New Roman" pitchFamily="-110" charset="0"/>
                <a:ea typeface="+mn-ea"/>
                <a:cs typeface="+mn-cs"/>
              </a:rPr>
              <a:t>là UNIVAC I (Máy tính tự động phổ quát), được ủy quyền bởi</a:t>
            </a:r>
          </a:p>
          <a:p>
            <a:r>
              <a:rPr kumimoji="1" lang="vi-VN" sz="1200" kern="1200" baseline="0">
                <a:solidFill>
                  <a:schemeClr val="tx1"/>
                </a:solidFill>
                <a:latin typeface="Times New Roman" pitchFamily="-110" charset="0"/>
                <a:ea typeface="+mn-ea"/>
                <a:cs typeface="+mn-cs"/>
              </a:rPr>
              <a:t>Cục điều tra dân số cho các tính toán năm 1950. Máy tính Eckert-Mauchly</a:t>
            </a:r>
          </a:p>
          <a:p>
            <a:r>
              <a:rPr kumimoji="1" lang="vi-VN" sz="1200" kern="1200" baseline="0">
                <a:solidFill>
                  <a:schemeClr val="tx1"/>
                </a:solidFill>
                <a:latin typeface="Times New Roman" pitchFamily="-110" charset="0"/>
                <a:ea typeface="+mn-ea"/>
                <a:cs typeface="+mn-cs"/>
              </a:rPr>
              <a:t>Corporation trở thành một phần của bộ phận UNIVAC của Sperry-Rand Corporation,</a:t>
            </a:r>
          </a:p>
          <a:p>
            <a:r>
              <a:rPr kumimoji="1" lang="vi-VN" sz="1200" kern="1200" baseline="0">
                <a:solidFill>
                  <a:schemeClr val="tx1"/>
                </a:solidFill>
                <a:latin typeface="Times New Roman" pitchFamily="-110" charset="0"/>
                <a:ea typeface="+mn-ea"/>
                <a:cs typeface="+mn-cs"/>
              </a:rPr>
              <a:t>mà đã tiếp tục xây dựng một loạt các máy kế nhiệm.</a:t>
            </a:r>
          </a:p>
          <a:p>
            <a:endParaRPr kumimoji="1" lang="vi-VN" sz="1200" kern="1200" baseline="0">
              <a:solidFill>
                <a:schemeClr val="tx1"/>
              </a:solidFill>
              <a:latin typeface="Times New Roman" pitchFamily="-110" charset="0"/>
              <a:ea typeface="+mn-ea"/>
              <a:cs typeface="+mn-cs"/>
            </a:endParaRPr>
          </a:p>
          <a:p>
            <a:r>
              <a:rPr kumimoji="1" lang="vi-VN" sz="1200" kern="1200" baseline="0">
                <a:solidFill>
                  <a:schemeClr val="tx1"/>
                </a:solidFill>
                <a:latin typeface="Times New Roman" pitchFamily="-110" charset="0"/>
                <a:ea typeface="+mn-ea"/>
                <a:cs typeface="+mn-cs"/>
              </a:rPr>
              <a:t>UNIVAC I là máy tính thương mại thành công đầu tiên. Nó đã được dự định</a:t>
            </a:r>
          </a:p>
          <a:p>
            <a:r>
              <a:rPr kumimoji="1" lang="vi-VN" sz="1200" kern="1200" baseline="0">
                <a:solidFill>
                  <a:schemeClr val="tx1"/>
                </a:solidFill>
                <a:latin typeface="Times New Roman" pitchFamily="-110" charset="0"/>
                <a:ea typeface="+mn-ea"/>
                <a:cs typeface="+mn-cs"/>
              </a:rPr>
              <a:t>cho cả ứng dụng khoa học và thương mại. Bài báo đầu tiên mô tả</a:t>
            </a:r>
          </a:p>
          <a:p>
            <a:r>
              <a:rPr kumimoji="1" lang="vi-VN" sz="1200" kern="1200" baseline="0">
                <a:solidFill>
                  <a:schemeClr val="tx1"/>
                </a:solidFill>
                <a:latin typeface="Times New Roman" pitchFamily="-110" charset="0"/>
                <a:ea typeface="+mn-ea"/>
                <a:cs typeface="+mn-cs"/>
              </a:rPr>
              <a:t>hệ thống liệt kê các tính toán đại số ma trận, các vấn đề thống kê, hóa đơn cao cấp</a:t>
            </a:r>
          </a:p>
          <a:p>
            <a:r>
              <a:rPr kumimoji="1" lang="vi-VN" sz="1200" kern="1200" baseline="0">
                <a:solidFill>
                  <a:schemeClr val="tx1"/>
                </a:solidFill>
                <a:latin typeface="Times New Roman" pitchFamily="-110" charset="0"/>
                <a:ea typeface="+mn-ea"/>
                <a:cs typeface="+mn-cs"/>
              </a:rPr>
              <a:t>đối với một công ty bảo hiểm nhân thọ và các vấn đề hậu cần như một ví dụ về các nhiệm vụ có thể</a:t>
            </a:r>
          </a:p>
          <a:p>
            <a:r>
              <a:rPr kumimoji="1" lang="vi-VN" sz="1200" kern="1200" baseline="0">
                <a:solidFill>
                  <a:schemeClr val="tx1"/>
                </a:solidFill>
                <a:latin typeface="Times New Roman" pitchFamily="-110" charset="0"/>
                <a:ea typeface="+mn-ea"/>
                <a:cs typeface="+mn-cs"/>
              </a:rPr>
              <a:t>biểu diễn.</a:t>
            </a:r>
          </a:p>
          <a:p>
            <a:endParaRPr kumimoji="1" lang="vi-VN" sz="1200" kern="1200" baseline="0">
              <a:solidFill>
                <a:schemeClr val="tx1"/>
              </a:solidFill>
              <a:latin typeface="Times New Roman" pitchFamily="-110" charset="0"/>
              <a:ea typeface="+mn-ea"/>
              <a:cs typeface="+mn-cs"/>
            </a:endParaRPr>
          </a:p>
          <a:p>
            <a:r>
              <a:rPr kumimoji="1" lang="vi-VN" sz="1200" kern="1200" baseline="0">
                <a:solidFill>
                  <a:schemeClr val="tx1"/>
                </a:solidFill>
                <a:latin typeface="Times New Roman" pitchFamily="-110" charset="0"/>
                <a:ea typeface="+mn-ea"/>
                <a:cs typeface="+mn-cs"/>
              </a:rPr>
              <a:t>UNIVAC II, có dung lượng bộ nhớ lớn hơn và hiệu năng cao hơn</a:t>
            </a:r>
          </a:p>
          <a:p>
            <a:r>
              <a:rPr kumimoji="1" lang="vi-VN" sz="1200" kern="1200" baseline="0">
                <a:solidFill>
                  <a:schemeClr val="tx1"/>
                </a:solidFill>
                <a:latin typeface="Times New Roman" pitchFamily="-110" charset="0"/>
                <a:ea typeface="+mn-ea"/>
                <a:cs typeface="+mn-cs"/>
              </a:rPr>
              <a:t>so với UNIVAC I, đã được giao vào cuối những năm 1950 và minh họa một số xu hướng</a:t>
            </a:r>
          </a:p>
          <a:p>
            <a:r>
              <a:rPr kumimoji="1" lang="vi-VN" sz="1200" kern="1200" baseline="0">
                <a:solidFill>
                  <a:schemeClr val="tx1"/>
                </a:solidFill>
                <a:latin typeface="Times New Roman" pitchFamily="-110" charset="0"/>
                <a:ea typeface="+mn-ea"/>
                <a:cs typeface="+mn-cs"/>
              </a:rPr>
              <a:t>vẫn là đặc trưng của ngành công nghiệp máy tính. Đầu tiên, tiến bộ trong công nghệ</a:t>
            </a:r>
          </a:p>
          <a:p>
            <a:r>
              <a:rPr kumimoji="1" lang="vi-VN" sz="1200" kern="1200" baseline="0">
                <a:solidFill>
                  <a:schemeClr val="tx1"/>
                </a:solidFill>
                <a:latin typeface="Times New Roman" pitchFamily="-110" charset="0"/>
                <a:ea typeface="+mn-ea"/>
                <a:cs typeface="+mn-cs"/>
              </a:rPr>
              <a:t>cho phép các công ty tiếp tục xây dựng các máy tính lớn hơn, mạnh hơn. Thứ hai,</a:t>
            </a:r>
          </a:p>
          <a:p>
            <a:r>
              <a:rPr kumimoji="1" lang="vi-VN" sz="1200" kern="1200" baseline="0">
                <a:solidFill>
                  <a:schemeClr val="tx1"/>
                </a:solidFill>
                <a:latin typeface="Times New Roman" pitchFamily="-110" charset="0"/>
                <a:ea typeface="+mn-ea"/>
                <a:cs typeface="+mn-cs"/>
              </a:rPr>
              <a:t>mỗi công ty cố gắng làm cho các máy mới của mình tương thích ngược với các máy cũ hơn</a:t>
            </a:r>
          </a:p>
          <a:p>
            <a:r>
              <a:rPr kumimoji="1" lang="vi-VN" sz="1200" kern="1200" baseline="0">
                <a:solidFill>
                  <a:schemeClr val="tx1"/>
                </a:solidFill>
                <a:latin typeface="Times New Roman" pitchFamily="-110" charset="0"/>
                <a:ea typeface="+mn-ea"/>
                <a:cs typeface="+mn-cs"/>
              </a:rPr>
              <a:t>máy móc. Điều này có nghĩa là các chương trình được viết cho các máy cũ hơn có thể là</a:t>
            </a:r>
          </a:p>
          <a:p>
            <a:r>
              <a:rPr kumimoji="1" lang="vi-VN" sz="1200" kern="1200" baseline="0">
                <a:solidFill>
                  <a:schemeClr val="tx1"/>
                </a:solidFill>
                <a:latin typeface="Times New Roman" pitchFamily="-110" charset="0"/>
                <a:ea typeface="+mn-ea"/>
                <a:cs typeface="+mn-cs"/>
              </a:rPr>
              <a:t>thực hiện trên máy mới. Chiến lược này được thông qua với hy vọng giữ lại</a:t>
            </a:r>
          </a:p>
          <a:p>
            <a:r>
              <a:rPr kumimoji="1" lang="vi-VN" sz="1200" kern="1200" baseline="0">
                <a:solidFill>
                  <a:schemeClr val="tx1"/>
                </a:solidFill>
                <a:latin typeface="Times New Roman" pitchFamily="-110" charset="0"/>
                <a:ea typeface="+mn-ea"/>
                <a:cs typeface="+mn-cs"/>
              </a:rPr>
              <a:t>cơ sở khách hàng; nghĩa là, khi khách hàng quyết định mua một chiếc máy mới hơn, họ sẽ</a:t>
            </a:r>
          </a:p>
          <a:p>
            <a:r>
              <a:rPr kumimoji="1" lang="vi-VN" sz="1200" kern="1200" baseline="0">
                <a:solidFill>
                  <a:schemeClr val="tx1"/>
                </a:solidFill>
                <a:latin typeface="Times New Roman" pitchFamily="-110" charset="0"/>
                <a:ea typeface="+mn-ea"/>
                <a:cs typeface="+mn-cs"/>
              </a:rPr>
              <a:t>có khả năng nhận được nó từ cùng một công ty để tránh mất đầu tư vào các chương trình.</a:t>
            </a:r>
          </a:p>
          <a:p>
            <a:endParaRPr kumimoji="1" lang="vi-VN" sz="1200" kern="1200" baseline="0">
              <a:solidFill>
                <a:schemeClr val="tx1"/>
              </a:solidFill>
              <a:latin typeface="Times New Roman" pitchFamily="-110" charset="0"/>
              <a:ea typeface="+mn-ea"/>
              <a:cs typeface="+mn-cs"/>
            </a:endParaRPr>
          </a:p>
          <a:p>
            <a:r>
              <a:rPr kumimoji="1" lang="vi-VN" sz="1200" kern="1200" baseline="0">
                <a:solidFill>
                  <a:schemeClr val="tx1"/>
                </a:solidFill>
                <a:latin typeface="Times New Roman" pitchFamily="-110" charset="0"/>
                <a:ea typeface="+mn-ea"/>
                <a:cs typeface="+mn-cs"/>
              </a:rPr>
              <a:t>Bộ phận UNIVAC cũng bắt đầu phát triển dòng máy tính 1100,</a:t>
            </a:r>
          </a:p>
          <a:p>
            <a:r>
              <a:rPr kumimoji="1" lang="vi-VN" sz="1200" kern="1200" baseline="0">
                <a:solidFill>
                  <a:schemeClr val="tx1"/>
                </a:solidFill>
                <a:latin typeface="Times New Roman" pitchFamily="-110" charset="0"/>
                <a:ea typeface="+mn-ea"/>
                <a:cs typeface="+mn-cs"/>
              </a:rPr>
              <a:t>đó là nguồn doanh thu chính của nó. Loạt bài này minh họa một sự khác biệt</a:t>
            </a:r>
          </a:p>
          <a:p>
            <a:r>
              <a:rPr kumimoji="1" lang="vi-VN" sz="1200" kern="1200" baseline="0">
                <a:solidFill>
                  <a:schemeClr val="tx1"/>
                </a:solidFill>
                <a:latin typeface="Times New Roman" pitchFamily="-110" charset="0"/>
                <a:ea typeface="+mn-ea"/>
                <a:cs typeface="+mn-cs"/>
              </a:rPr>
              <a:t>đã tồn tại cùng một lúc. Mẫu đầu tiên, UNIVAC 1103, và những người kế nhiệm của nó</a:t>
            </a:r>
          </a:p>
          <a:p>
            <a:r>
              <a:rPr kumimoji="1" lang="vi-VN" sz="1200" kern="1200" baseline="0">
                <a:solidFill>
                  <a:schemeClr val="tx1"/>
                </a:solidFill>
                <a:latin typeface="Times New Roman" pitchFamily="-110" charset="0"/>
                <a:ea typeface="+mn-ea"/>
                <a:cs typeface="+mn-cs"/>
              </a:rPr>
              <a:t>trong nhiều năm chủ yếu dành cho các ứng dụng khoa học, liên quan đến lâu dài</a:t>
            </a:r>
          </a:p>
          <a:p>
            <a:r>
              <a:rPr kumimoji="1" lang="vi-VN" sz="1200" kern="1200" baseline="0">
                <a:solidFill>
                  <a:schemeClr val="tx1"/>
                </a:solidFill>
                <a:latin typeface="Times New Roman" pitchFamily="-110" charset="0"/>
                <a:ea typeface="+mn-ea"/>
                <a:cs typeface="+mn-cs"/>
              </a:rPr>
              <a:t>và tính toán phức tạp. Các công ty khác tập trung vào các ứng dụng kinh doanh,</a:t>
            </a:r>
          </a:p>
          <a:p>
            <a:r>
              <a:rPr kumimoji="1" lang="vi-VN" sz="1200" kern="1200" baseline="0">
                <a:solidFill>
                  <a:schemeClr val="tx1"/>
                </a:solidFill>
                <a:latin typeface="Times New Roman" pitchFamily="-110" charset="0"/>
                <a:ea typeface="+mn-ea"/>
                <a:cs typeface="+mn-cs"/>
              </a:rPr>
              <a:t>trong đó liên quan đến việc xử lý số lượng lớn dữ liệu văn bản. Sự chia rẽ này phần lớn đã biến mất,</a:t>
            </a:r>
          </a:p>
          <a:p>
            <a:r>
              <a:rPr kumimoji="1" lang="vi-VN" sz="1200" kern="1200" baseline="0">
                <a:solidFill>
                  <a:schemeClr val="tx1"/>
                </a:solidFill>
                <a:latin typeface="Times New Roman" pitchFamily="-110" charset="0"/>
                <a:ea typeface="+mn-ea"/>
                <a:cs typeface="+mn-cs"/>
              </a:rPr>
              <a:t>nhưng nó đã được chứng minh trong một số năm.</a:t>
            </a:r>
            <a:endParaRPr kumimoji="1" lang="en-US" sz="1200" kern="1200" baseline="0">
              <a:solidFill>
                <a:schemeClr val="tx1"/>
              </a:solidFill>
              <a:latin typeface="Times New Roman" pitchFamily="-110" charset="0"/>
              <a:ea typeface="+mn-ea"/>
              <a:cs typeface="+mn-cs"/>
            </a:endParaRPr>
          </a:p>
          <a:p>
            <a:r>
              <a:rPr kumimoji="1" lang="en-US" sz="1200" kern="1200" baseline="0">
                <a:solidFill>
                  <a:schemeClr val="tx1"/>
                </a:solidFill>
                <a:latin typeface="Times New Roman" pitchFamily="-110" charset="0"/>
                <a:ea typeface="+mn-ea"/>
                <a:cs typeface="+mn-cs"/>
              </a:rPr>
              <a:t>The </a:t>
            </a:r>
            <a:r>
              <a:rPr kumimoji="1" lang="en-US" sz="1200" kern="1200" baseline="0" dirty="0">
                <a:solidFill>
                  <a:schemeClr val="tx1"/>
                </a:solidFill>
                <a:latin typeface="Times New Roman" pitchFamily="-110" charset="0"/>
                <a:ea typeface="+mn-ea"/>
                <a:cs typeface="+mn-cs"/>
              </a:rPr>
              <a:t>UNIVAC division also began development of the 1100 series of computers,</a:t>
            </a:r>
          </a:p>
          <a:p>
            <a:r>
              <a:rPr kumimoji="1" lang="en-US" sz="1200" kern="1200" baseline="0" dirty="0">
                <a:solidFill>
                  <a:schemeClr val="tx1"/>
                </a:solidFill>
                <a:latin typeface="Times New Roman" pitchFamily="-110" charset="0"/>
                <a:ea typeface="+mn-ea"/>
                <a:cs typeface="+mn-cs"/>
              </a:rPr>
              <a:t>which was to be its major source of revenue. This series illustrates a distinction</a:t>
            </a:r>
          </a:p>
          <a:p>
            <a:r>
              <a:rPr kumimoji="1" lang="en-US" sz="1200" kern="1200" baseline="0" dirty="0">
                <a:solidFill>
                  <a:schemeClr val="tx1"/>
                </a:solidFill>
                <a:latin typeface="Times New Roman" pitchFamily="-110" charset="0"/>
                <a:ea typeface="+mn-ea"/>
                <a:cs typeface="+mn-cs"/>
              </a:rPr>
              <a:t>that existed at one time. The first model, the UNIVAC 1103, and its successors</a:t>
            </a:r>
          </a:p>
          <a:p>
            <a:r>
              <a:rPr kumimoji="1" lang="en-US" sz="1200" kern="1200" baseline="0" dirty="0">
                <a:solidFill>
                  <a:schemeClr val="tx1"/>
                </a:solidFill>
                <a:latin typeface="Times New Roman" pitchFamily="-110" charset="0"/>
                <a:ea typeface="+mn-ea"/>
                <a:cs typeface="+mn-cs"/>
              </a:rPr>
              <a:t>for many years were primarily intended for scientific applications, involving long</a:t>
            </a:r>
          </a:p>
          <a:p>
            <a:r>
              <a:rPr kumimoji="1" lang="en-US" sz="1200" kern="1200" baseline="0" dirty="0">
                <a:solidFill>
                  <a:schemeClr val="tx1"/>
                </a:solidFill>
                <a:latin typeface="Times New Roman" pitchFamily="-110" charset="0"/>
                <a:ea typeface="+mn-ea"/>
                <a:cs typeface="+mn-cs"/>
              </a:rPr>
              <a:t>and complex calculations. Other companies concentrated on business applications,</a:t>
            </a:r>
          </a:p>
          <a:p>
            <a:r>
              <a:rPr kumimoji="1" lang="en-US" sz="1200" kern="1200" baseline="0" dirty="0">
                <a:solidFill>
                  <a:schemeClr val="tx1"/>
                </a:solidFill>
                <a:latin typeface="Times New Roman" pitchFamily="-110" charset="0"/>
                <a:ea typeface="+mn-ea"/>
                <a:cs typeface="+mn-cs"/>
              </a:rPr>
              <a:t>which involved processing large amounts of text data. This split has largely disappeared,</a:t>
            </a:r>
          </a:p>
          <a:p>
            <a:r>
              <a:rPr kumimoji="1" lang="en-US" sz="1200" kern="1200" baseline="0" dirty="0">
                <a:solidFill>
                  <a:schemeClr val="tx1"/>
                </a:solidFill>
                <a:latin typeface="Times New Roman" pitchFamily="-110" charset="0"/>
                <a:ea typeface="+mn-ea"/>
                <a:cs typeface="+mn-cs"/>
              </a:rPr>
              <a:t>but it was evident for a number of years.</a:t>
            </a:r>
            <a:endParaRPr lang="en-GB"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8092674-3704-C749-A383-F56736620207}" type="slidenum">
              <a:rPr lang="en-US"/>
              <a:pPr/>
              <a:t>22</a:t>
            </a:fld>
            <a:endParaRPr lang="en-US" dirty="0"/>
          </a:p>
        </p:txBody>
      </p:sp>
      <p:sp>
        <p:nvSpPr>
          <p:cNvPr id="68610" name="Rectangle 2"/>
          <p:cNvSpPr>
            <a:spLocks noGrp="1" noRot="1" noChangeAspect="1" noChangeArrowheads="1" noTextEdit="1"/>
          </p:cNvSpPr>
          <p:nvPr>
            <p:ph type="sldImg"/>
          </p:nvPr>
        </p:nvSpPr>
        <p:spPr>
          <a:ln/>
        </p:spPr>
      </p:sp>
      <p:sp>
        <p:nvSpPr>
          <p:cNvPr id="68611" name="Rectangle 3"/>
          <p:cNvSpPr>
            <a:spLocks noGrp="1" noChangeArrowheads="1"/>
          </p:cNvSpPr>
          <p:nvPr>
            <p:ph type="body" idx="1"/>
          </p:nvPr>
        </p:nvSpPr>
        <p:spPr/>
        <p:txBody>
          <a:bodyPr/>
          <a:lstStyle/>
          <a:p>
            <a:r>
              <a:rPr kumimoji="1" lang="vi-VN" sz="1200" kern="1200" baseline="0">
                <a:solidFill>
                  <a:schemeClr val="tx1"/>
                </a:solidFill>
                <a:latin typeface="Times New Roman" pitchFamily="-110" charset="0"/>
                <a:ea typeface="+mn-ea"/>
                <a:cs typeface="+mn-cs"/>
              </a:rPr>
              <a:t>IBM, sau đó là nhà sản xuất chính của thiết bị xử lý thẻ đục lỗ,</a:t>
            </a:r>
          </a:p>
          <a:p>
            <a:r>
              <a:rPr kumimoji="1" lang="vi-VN" sz="1200" kern="1200" baseline="0">
                <a:solidFill>
                  <a:schemeClr val="tx1"/>
                </a:solidFill>
                <a:latin typeface="Times New Roman" pitchFamily="-110" charset="0"/>
                <a:ea typeface="+mn-ea"/>
                <a:cs typeface="+mn-cs"/>
              </a:rPr>
              <a:t>giao máy tính chương trình lưu trữ điện tử đầu tiên, 701, vào năm 1953. 701 là</a:t>
            </a:r>
          </a:p>
          <a:p>
            <a:r>
              <a:rPr kumimoji="1" lang="vi-VN" sz="1200" kern="1200" baseline="0">
                <a:solidFill>
                  <a:schemeClr val="tx1"/>
                </a:solidFill>
                <a:latin typeface="Times New Roman" pitchFamily="-110" charset="0"/>
                <a:ea typeface="+mn-ea"/>
                <a:cs typeface="+mn-cs"/>
              </a:rPr>
              <a:t>chủ yếu dành cho các ứng dụng khoa học [BASH81]. Năm 1955, IBM giới thiệu</a:t>
            </a:r>
          </a:p>
          <a:p>
            <a:r>
              <a:rPr kumimoji="1" lang="vi-VN" sz="1200" kern="1200" baseline="0">
                <a:solidFill>
                  <a:schemeClr val="tx1"/>
                </a:solidFill>
                <a:latin typeface="Times New Roman" pitchFamily="-110" charset="0"/>
                <a:ea typeface="+mn-ea"/>
                <a:cs typeface="+mn-cs"/>
              </a:rPr>
              <a:t>sản phẩm 702 đồng hành, có một số tính năng phần cứng phù hợp với nó</a:t>
            </a:r>
          </a:p>
          <a:p>
            <a:r>
              <a:rPr kumimoji="1" lang="vi-VN" sz="1200" kern="1200" baseline="0">
                <a:solidFill>
                  <a:schemeClr val="tx1"/>
                </a:solidFill>
                <a:latin typeface="Times New Roman" pitchFamily="-110" charset="0"/>
                <a:ea typeface="+mn-ea"/>
                <a:cs typeface="+mn-cs"/>
              </a:rPr>
              <a:t>cho các ứng dụng kinh doanh. Đây là những máy đầu tiên trong chuỗi dài 700/7000 máy tính</a:t>
            </a:r>
          </a:p>
          <a:p>
            <a:r>
              <a:rPr kumimoji="1" lang="vi-VN" sz="1200" kern="1200" baseline="0">
                <a:solidFill>
                  <a:schemeClr val="tx1"/>
                </a:solidFill>
                <a:latin typeface="Times New Roman" pitchFamily="-110" charset="0"/>
                <a:ea typeface="+mn-ea"/>
                <a:cs typeface="+mn-cs"/>
              </a:rPr>
              <a:t>đã thành lập IBM với tư cách là nhà sản xuất máy tính thống trị áp đảo.</a:t>
            </a:r>
            <a:endParaRPr kumimoji="1" lang="en-US" sz="1200" kern="1200" baseline="0">
              <a:solidFill>
                <a:schemeClr val="tx1"/>
              </a:solidFill>
              <a:latin typeface="Times New Roman" pitchFamily="-110" charset="0"/>
              <a:ea typeface="+mn-ea"/>
              <a:cs typeface="+mn-cs"/>
            </a:endParaRPr>
          </a:p>
          <a:p>
            <a:r>
              <a:rPr kumimoji="1" lang="en-US" sz="1200" kern="1200" baseline="0">
                <a:solidFill>
                  <a:schemeClr val="tx1"/>
                </a:solidFill>
                <a:latin typeface="Times New Roman" pitchFamily="-110" charset="0"/>
                <a:ea typeface="+mn-ea"/>
                <a:cs typeface="+mn-cs"/>
              </a:rPr>
              <a:t>IBM</a:t>
            </a:r>
            <a:r>
              <a:rPr kumimoji="1" lang="en-US" sz="1200" kern="1200" baseline="0" dirty="0">
                <a:solidFill>
                  <a:schemeClr val="tx1"/>
                </a:solidFill>
                <a:latin typeface="Times New Roman" pitchFamily="-110" charset="0"/>
                <a:ea typeface="+mn-ea"/>
                <a:cs typeface="+mn-cs"/>
              </a:rPr>
              <a:t>, then the major manufacturer of punched-card processing equipment,</a:t>
            </a:r>
          </a:p>
          <a:p>
            <a:r>
              <a:rPr kumimoji="1" lang="en-US" sz="1200" kern="1200" baseline="0" dirty="0">
                <a:solidFill>
                  <a:schemeClr val="tx1"/>
                </a:solidFill>
                <a:latin typeface="Times New Roman" pitchFamily="-110" charset="0"/>
                <a:ea typeface="+mn-ea"/>
                <a:cs typeface="+mn-cs"/>
              </a:rPr>
              <a:t>delivered its first electronic stored-program computer, the 701, in 1953. The 701 was</a:t>
            </a:r>
          </a:p>
          <a:p>
            <a:r>
              <a:rPr kumimoji="1" lang="en-US" sz="1200" kern="1200" baseline="0" dirty="0">
                <a:solidFill>
                  <a:schemeClr val="tx1"/>
                </a:solidFill>
                <a:latin typeface="Times New Roman" pitchFamily="-110" charset="0"/>
                <a:ea typeface="+mn-ea"/>
                <a:cs typeface="+mn-cs"/>
              </a:rPr>
              <a:t>intended primarily for scientific applications [BASH81]. In 1955, IBM introduced</a:t>
            </a:r>
          </a:p>
          <a:p>
            <a:r>
              <a:rPr kumimoji="1" lang="en-US" sz="1200" kern="1200" baseline="0" dirty="0">
                <a:solidFill>
                  <a:schemeClr val="tx1"/>
                </a:solidFill>
                <a:latin typeface="Times New Roman" pitchFamily="-110" charset="0"/>
                <a:ea typeface="+mn-ea"/>
                <a:cs typeface="+mn-cs"/>
              </a:rPr>
              <a:t>the companion 702 product, which had a number of hardware features that suited it</a:t>
            </a:r>
          </a:p>
          <a:p>
            <a:r>
              <a:rPr kumimoji="1" lang="en-US" sz="1200" kern="1200" baseline="0" dirty="0">
                <a:solidFill>
                  <a:schemeClr val="tx1"/>
                </a:solidFill>
                <a:latin typeface="Times New Roman" pitchFamily="-110" charset="0"/>
                <a:ea typeface="+mn-ea"/>
                <a:cs typeface="+mn-cs"/>
              </a:rPr>
              <a:t>to business applications. These were the first of a long series of 700/7000 computers</a:t>
            </a:r>
          </a:p>
          <a:p>
            <a:r>
              <a:rPr kumimoji="1" lang="en-US" sz="1200" kern="1200" baseline="0" dirty="0">
                <a:solidFill>
                  <a:schemeClr val="tx1"/>
                </a:solidFill>
                <a:latin typeface="Times New Roman" pitchFamily="-110" charset="0"/>
                <a:ea typeface="+mn-ea"/>
                <a:cs typeface="+mn-cs"/>
              </a:rPr>
              <a:t>that established IBM as the overwhelmingly dominant computer manufacturer.</a:t>
            </a:r>
            <a:endParaRPr lang="en-GB"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302DEA2-F8D7-C549-B179-963DC37A15CB}" type="slidenum">
              <a:rPr lang="en-US"/>
              <a:pPr/>
              <a:t>23</a:t>
            </a:fld>
            <a:endParaRPr lang="en-US" dirty="0"/>
          </a:p>
        </p:txBody>
      </p:sp>
      <p:sp>
        <p:nvSpPr>
          <p:cNvPr id="61442" name="Rectangle 2"/>
          <p:cNvSpPr>
            <a:spLocks noGrp="1" noRot="1" noChangeAspect="1" noChangeArrowheads="1" noTextEdit="1"/>
          </p:cNvSpPr>
          <p:nvPr>
            <p:ph type="sldImg"/>
          </p:nvPr>
        </p:nvSpPr>
        <p:spPr>
          <a:ln/>
        </p:spPr>
      </p:sp>
      <p:sp>
        <p:nvSpPr>
          <p:cNvPr id="61443" name="Rectangle 3"/>
          <p:cNvSpPr>
            <a:spLocks noGrp="1" noChangeArrowheads="1"/>
          </p:cNvSpPr>
          <p:nvPr>
            <p:ph type="body" idx="1"/>
          </p:nvPr>
        </p:nvSpPr>
        <p:spPr/>
        <p:txBody>
          <a:bodyPr/>
          <a:lstStyle/>
          <a:p>
            <a:r>
              <a:rPr kumimoji="1" lang="vi-VN" sz="1200" kern="1200" baseline="0">
                <a:solidFill>
                  <a:schemeClr val="tx1"/>
                </a:solidFill>
                <a:latin typeface="Times New Roman" pitchFamily="-110" charset="0"/>
                <a:ea typeface="+mn-ea"/>
                <a:cs typeface="+mn-cs"/>
              </a:rPr>
              <a:t>Thay đổi lớn đầu tiên trong máy tính điện tử là thay thế</a:t>
            </a:r>
          </a:p>
          <a:p>
            <a:r>
              <a:rPr kumimoji="1" lang="vi-VN" sz="1200" kern="1200" baseline="0">
                <a:solidFill>
                  <a:schemeClr val="tx1"/>
                </a:solidFill>
                <a:latin typeface="Times New Roman" pitchFamily="-110" charset="0"/>
                <a:ea typeface="+mn-ea"/>
                <a:cs typeface="+mn-cs"/>
              </a:rPr>
              <a:t>các ống chân không bằng bóng bán dẫn. Các bóng bán dẫn nhỏ hơn, rẻ hơn và tiêu tan</a:t>
            </a:r>
          </a:p>
          <a:p>
            <a:r>
              <a:rPr kumimoji="1" lang="vi-VN" sz="1200" kern="1200" baseline="0">
                <a:solidFill>
                  <a:schemeClr val="tx1"/>
                </a:solidFill>
                <a:latin typeface="Times New Roman" pitchFamily="-110" charset="0"/>
                <a:ea typeface="+mn-ea"/>
                <a:cs typeface="+mn-cs"/>
              </a:rPr>
              <a:t>ít nhiệt hơn ống chân không nhưng có thể được sử dụng theo cách tương tự như ống chân không</a:t>
            </a:r>
          </a:p>
          <a:p>
            <a:r>
              <a:rPr kumimoji="1" lang="vi-VN" sz="1200" kern="1200" baseline="0">
                <a:solidFill>
                  <a:schemeClr val="tx1"/>
                </a:solidFill>
                <a:latin typeface="Times New Roman" pitchFamily="-110" charset="0"/>
                <a:ea typeface="+mn-ea"/>
                <a:cs typeface="+mn-cs"/>
              </a:rPr>
              <a:t>xây dựng máy tính. Không giống như ống chân không, đòi hỏi dây, tấm kim loại, một</a:t>
            </a:r>
          </a:p>
          <a:p>
            <a:r>
              <a:rPr kumimoji="1" lang="vi-VN" sz="1200" kern="1200" baseline="0">
                <a:solidFill>
                  <a:schemeClr val="tx1"/>
                </a:solidFill>
                <a:latin typeface="Times New Roman" pitchFamily="-110" charset="0"/>
                <a:ea typeface="+mn-ea"/>
                <a:cs typeface="+mn-cs"/>
              </a:rPr>
              <a:t>viên nang thủy tinh và chân không, bóng bán dẫn là một thiết bị trạng thái rắn, được làm từ silicon.</a:t>
            </a:r>
          </a:p>
          <a:p>
            <a:endParaRPr kumimoji="1" lang="vi-VN" sz="1200" kern="1200" baseline="0">
              <a:solidFill>
                <a:schemeClr val="tx1"/>
              </a:solidFill>
              <a:latin typeface="Times New Roman" pitchFamily="-110" charset="0"/>
              <a:ea typeface="+mn-ea"/>
              <a:cs typeface="+mn-cs"/>
            </a:endParaRPr>
          </a:p>
          <a:p>
            <a:r>
              <a:rPr kumimoji="1" lang="vi-VN" sz="1200" kern="1200" baseline="0">
                <a:solidFill>
                  <a:schemeClr val="tx1"/>
                </a:solidFill>
                <a:latin typeface="Times New Roman" pitchFamily="-110" charset="0"/>
                <a:ea typeface="+mn-ea"/>
                <a:cs typeface="+mn-cs"/>
              </a:rPr>
              <a:t>Transitor được phát minh tại Bell Labs vào năm 1947 và đến những năm 1950 đã có</a:t>
            </a:r>
          </a:p>
          <a:p>
            <a:r>
              <a:rPr kumimoji="1" lang="vi-VN" sz="1200" kern="1200" baseline="0">
                <a:solidFill>
                  <a:schemeClr val="tx1"/>
                </a:solidFill>
                <a:latin typeface="Times New Roman" pitchFamily="-110" charset="0"/>
                <a:ea typeface="+mn-ea"/>
                <a:cs typeface="+mn-cs"/>
              </a:rPr>
              <a:t>phát động một cuộc cách mạng điện tử. Tuy nhiên, mãi đến cuối những năm 1950, tuy nhiên, điều đó</a:t>
            </a:r>
          </a:p>
          <a:p>
            <a:r>
              <a:rPr kumimoji="1" lang="vi-VN" sz="1200" kern="1200" baseline="0">
                <a:solidFill>
                  <a:schemeClr val="tx1"/>
                </a:solidFill>
                <a:latin typeface="Times New Roman" pitchFamily="-110" charset="0"/>
                <a:ea typeface="+mn-ea"/>
                <a:cs typeface="+mn-cs"/>
              </a:rPr>
              <a:t>máy tính đầy đủ transitor đã có sẵn trên thị trường. IBM một lần nữa không phải là</a:t>
            </a:r>
          </a:p>
          <a:p>
            <a:r>
              <a:rPr kumimoji="1" lang="vi-VN" sz="1200" kern="1200" baseline="0">
                <a:solidFill>
                  <a:schemeClr val="tx1"/>
                </a:solidFill>
                <a:latin typeface="Times New Roman" pitchFamily="-110" charset="0"/>
                <a:ea typeface="+mn-ea"/>
                <a:cs typeface="+mn-cs"/>
              </a:rPr>
              <a:t>công ty đầu tiên cung cấp công nghệ mới. NCR và, thành công hơn, RCA</a:t>
            </a:r>
          </a:p>
          <a:p>
            <a:r>
              <a:rPr kumimoji="1" lang="vi-VN" sz="1200" kern="1200" baseline="0">
                <a:solidFill>
                  <a:schemeClr val="tx1"/>
                </a:solidFill>
                <a:latin typeface="Times New Roman" pitchFamily="-110" charset="0"/>
                <a:ea typeface="+mn-ea"/>
                <a:cs typeface="+mn-cs"/>
              </a:rPr>
              <a:t>là những người đi đầu với một số máy bán dẫn nhỏ. IBM đã làm theo ngay sau đó</a:t>
            </a:r>
          </a:p>
          <a:p>
            <a:r>
              <a:rPr kumimoji="1" lang="vi-VN" sz="1200" kern="1200" baseline="0">
                <a:solidFill>
                  <a:schemeClr val="tx1"/>
                </a:solidFill>
                <a:latin typeface="Times New Roman" pitchFamily="-110" charset="0"/>
                <a:ea typeface="+mn-ea"/>
                <a:cs typeface="+mn-cs"/>
              </a:rPr>
              <a:t>với loạt 7000.</a:t>
            </a:r>
          </a:p>
          <a:p>
            <a:endParaRPr kumimoji="1" lang="vi-VN" sz="1200" kern="1200" baseline="0">
              <a:solidFill>
                <a:schemeClr val="tx1"/>
              </a:solidFill>
              <a:latin typeface="Times New Roman" pitchFamily="-110" charset="0"/>
              <a:ea typeface="+mn-ea"/>
              <a:cs typeface="+mn-cs"/>
            </a:endParaRPr>
          </a:p>
          <a:p>
            <a:r>
              <a:rPr kumimoji="1" lang="vi-VN" sz="1200" kern="1200" baseline="0">
                <a:solidFill>
                  <a:schemeClr val="tx1"/>
                </a:solidFill>
                <a:latin typeface="Times New Roman" pitchFamily="-110" charset="0"/>
                <a:ea typeface="+mn-ea"/>
                <a:cs typeface="+mn-cs"/>
              </a:rPr>
              <a:t>Việc sử dụng bóng bán dẫn xác định thế hệ thứ hai của máy tính.</a:t>
            </a:r>
            <a:endParaRPr kumimoji="1" lang="en-US" sz="1200" kern="1200" baseline="0">
              <a:solidFill>
                <a:schemeClr val="tx1"/>
              </a:solidFill>
              <a:latin typeface="Times New Roman" pitchFamily="-110" charset="0"/>
              <a:ea typeface="+mn-ea"/>
              <a:cs typeface="+mn-cs"/>
            </a:endParaRPr>
          </a:p>
          <a:p>
            <a:r>
              <a:rPr kumimoji="1" lang="en-US" sz="1200" kern="1200" baseline="0">
                <a:solidFill>
                  <a:schemeClr val="tx1"/>
                </a:solidFill>
                <a:latin typeface="Times New Roman" pitchFamily="-110" charset="0"/>
                <a:ea typeface="+mn-ea"/>
                <a:cs typeface="+mn-cs"/>
              </a:rPr>
              <a:t>The </a:t>
            </a:r>
            <a:r>
              <a:rPr kumimoji="1" lang="en-US" sz="1200" kern="1200" baseline="0" dirty="0">
                <a:solidFill>
                  <a:schemeClr val="tx1"/>
                </a:solidFill>
                <a:latin typeface="Times New Roman" pitchFamily="-110" charset="0"/>
                <a:ea typeface="+mn-ea"/>
                <a:cs typeface="+mn-cs"/>
              </a:rPr>
              <a:t>first major change in the electronic computer came with the replacement of</a:t>
            </a:r>
          </a:p>
          <a:p>
            <a:r>
              <a:rPr kumimoji="1" lang="en-US" sz="1200" kern="1200" baseline="0" dirty="0">
                <a:solidFill>
                  <a:schemeClr val="tx1"/>
                </a:solidFill>
                <a:latin typeface="Times New Roman" pitchFamily="-110" charset="0"/>
                <a:ea typeface="+mn-ea"/>
                <a:cs typeface="+mn-cs"/>
              </a:rPr>
              <a:t>the vacuum tube by the transistor. The transistor is smaller, cheaper, and dissipates</a:t>
            </a:r>
          </a:p>
          <a:p>
            <a:r>
              <a:rPr kumimoji="1" lang="en-US" sz="1200" kern="1200" baseline="0" dirty="0">
                <a:solidFill>
                  <a:schemeClr val="tx1"/>
                </a:solidFill>
                <a:latin typeface="Times New Roman" pitchFamily="-110" charset="0"/>
                <a:ea typeface="+mn-ea"/>
                <a:cs typeface="+mn-cs"/>
              </a:rPr>
              <a:t>less heat than a vacuum tube but can be used in the same way as a vacuum tube to</a:t>
            </a:r>
          </a:p>
          <a:p>
            <a:r>
              <a:rPr kumimoji="1" lang="en-US" sz="1200" kern="1200" baseline="0" dirty="0">
                <a:solidFill>
                  <a:schemeClr val="tx1"/>
                </a:solidFill>
                <a:latin typeface="Times New Roman" pitchFamily="-110" charset="0"/>
                <a:ea typeface="+mn-ea"/>
                <a:cs typeface="+mn-cs"/>
              </a:rPr>
              <a:t>construct computers. Unlike the vacuum tube, which requires wires, metal plates, a</a:t>
            </a:r>
          </a:p>
          <a:p>
            <a:r>
              <a:rPr kumimoji="1" lang="en-US" sz="1200" kern="1200" baseline="0" dirty="0">
                <a:solidFill>
                  <a:schemeClr val="tx1"/>
                </a:solidFill>
                <a:latin typeface="Times New Roman" pitchFamily="-110" charset="0"/>
                <a:ea typeface="+mn-ea"/>
                <a:cs typeface="+mn-cs"/>
              </a:rPr>
              <a:t>glass capsule, and a vacuum, the transistor is a </a:t>
            </a:r>
            <a:r>
              <a:rPr kumimoji="1" lang="en-US" sz="1200" i="1" kern="1200" baseline="0" dirty="0">
                <a:solidFill>
                  <a:schemeClr val="tx1"/>
                </a:solidFill>
                <a:latin typeface="Times New Roman" pitchFamily="-110" charset="0"/>
                <a:ea typeface="+mn-ea"/>
                <a:cs typeface="+mn-cs"/>
              </a:rPr>
              <a:t>solid-state device, made from silicon.</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The transistor was invented at Bell Labs in 1947 and by the 1950s had</a:t>
            </a:r>
          </a:p>
          <a:p>
            <a:r>
              <a:rPr kumimoji="1" lang="en-US" sz="1200" kern="1200" baseline="0" dirty="0">
                <a:solidFill>
                  <a:schemeClr val="tx1"/>
                </a:solidFill>
                <a:latin typeface="Times New Roman" pitchFamily="-110" charset="0"/>
                <a:ea typeface="+mn-ea"/>
                <a:cs typeface="+mn-cs"/>
              </a:rPr>
              <a:t>launched an electronic revolution. It was not until the late 1950s, however, that</a:t>
            </a:r>
          </a:p>
          <a:p>
            <a:r>
              <a:rPr kumimoji="1" lang="en-US" sz="1200" kern="1200" baseline="0" dirty="0">
                <a:solidFill>
                  <a:schemeClr val="tx1"/>
                </a:solidFill>
                <a:latin typeface="Times New Roman" pitchFamily="-110" charset="0"/>
                <a:ea typeface="+mn-ea"/>
                <a:cs typeface="+mn-cs"/>
              </a:rPr>
              <a:t>fully transistorized computers were commercially available. IBM again was not the</a:t>
            </a:r>
          </a:p>
          <a:p>
            <a:r>
              <a:rPr kumimoji="1" lang="en-US" sz="1200" kern="1200" baseline="0" dirty="0">
                <a:solidFill>
                  <a:schemeClr val="tx1"/>
                </a:solidFill>
                <a:latin typeface="Times New Roman" pitchFamily="-110" charset="0"/>
                <a:ea typeface="+mn-ea"/>
                <a:cs typeface="+mn-cs"/>
              </a:rPr>
              <a:t>first company to deliver the new technology. NCR and, more successfully, RCA</a:t>
            </a:r>
          </a:p>
          <a:p>
            <a:r>
              <a:rPr kumimoji="1" lang="en-US" sz="1200" kern="1200" baseline="0" dirty="0">
                <a:solidFill>
                  <a:schemeClr val="tx1"/>
                </a:solidFill>
                <a:latin typeface="Times New Roman" pitchFamily="-110" charset="0"/>
                <a:ea typeface="+mn-ea"/>
                <a:cs typeface="+mn-cs"/>
              </a:rPr>
              <a:t>were the front-runners with some small transistor machines. IBM followed shortly</a:t>
            </a:r>
          </a:p>
          <a:p>
            <a:r>
              <a:rPr kumimoji="1" lang="en-US" sz="1200" kern="1200" baseline="0" dirty="0">
                <a:solidFill>
                  <a:schemeClr val="tx1"/>
                </a:solidFill>
                <a:latin typeface="Times New Roman" pitchFamily="-110" charset="0"/>
                <a:ea typeface="+mn-ea"/>
                <a:cs typeface="+mn-cs"/>
              </a:rPr>
              <a:t>with the 7000 series.</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The use of the transistor defines the </a:t>
            </a:r>
            <a:r>
              <a:rPr kumimoji="1" lang="en-US" sz="1200" i="1" kern="1200" baseline="0" dirty="0">
                <a:solidFill>
                  <a:schemeClr val="tx1"/>
                </a:solidFill>
                <a:latin typeface="Times New Roman" pitchFamily="-110" charset="0"/>
                <a:ea typeface="+mn-ea"/>
                <a:cs typeface="+mn-cs"/>
              </a:rPr>
              <a:t>second generation of computers.</a:t>
            </a:r>
            <a:endParaRPr kumimoji="1" lang="en-US" sz="1200" kern="1200" baseline="0" dirty="0">
              <a:solidFill>
                <a:schemeClr val="tx1"/>
              </a:solidFill>
              <a:latin typeface="Times New Roman" pitchFamily="-110" charset="0"/>
              <a:ea typeface="+mn-ea"/>
              <a:cs typeface="+mn-cs"/>
            </a:endParaRPr>
          </a:p>
          <a:p>
            <a:endParaRPr lang="en-GB"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5EB77A8-3D3D-AD4D-A219-1AF8D83B047D}" type="slidenum">
              <a:rPr lang="en-US"/>
              <a:pPr/>
              <a:t>24</a:t>
            </a:fld>
            <a:endParaRPr lang="en-US" dirty="0"/>
          </a:p>
        </p:txBody>
      </p:sp>
      <p:sp>
        <p:nvSpPr>
          <p:cNvPr id="70658" name="Rectangle 2"/>
          <p:cNvSpPr>
            <a:spLocks noGrp="1" noRot="1" noChangeAspect="1" noChangeArrowheads="1" noTextEdit="1"/>
          </p:cNvSpPr>
          <p:nvPr>
            <p:ph type="sldImg"/>
          </p:nvPr>
        </p:nvSpPr>
        <p:spPr>
          <a:ln/>
        </p:spPr>
      </p:sp>
      <p:sp>
        <p:nvSpPr>
          <p:cNvPr id="70659" name="Rectangle 3"/>
          <p:cNvSpPr>
            <a:spLocks noGrp="1" noChangeArrowheads="1"/>
          </p:cNvSpPr>
          <p:nvPr>
            <p:ph type="body" idx="1"/>
          </p:nvPr>
        </p:nvSpPr>
        <p:spPr/>
        <p:txBody>
          <a:bodyPr/>
          <a:lstStyle/>
          <a:p>
            <a:r>
              <a:rPr kumimoji="1" lang="vi-VN" sz="1200" kern="1200" baseline="0">
                <a:solidFill>
                  <a:schemeClr val="tx1"/>
                </a:solidFill>
                <a:latin typeface="Times New Roman" pitchFamily="-110" charset="0"/>
                <a:ea typeface="+mn-ea"/>
                <a:cs typeface="+mn-cs"/>
              </a:rPr>
              <a:t>Nhưng có những thay đổi khác là tốt. Thế hệ thứ hai chứng kiến sự giới thiệu</a:t>
            </a:r>
          </a:p>
          <a:p>
            <a:r>
              <a:rPr kumimoji="1" lang="vi-VN" sz="1200" kern="1200" baseline="0">
                <a:solidFill>
                  <a:schemeClr val="tx1"/>
                </a:solidFill>
                <a:latin typeface="Times New Roman" pitchFamily="-110" charset="0"/>
                <a:ea typeface="+mn-ea"/>
                <a:cs typeface="+mn-cs"/>
              </a:rPr>
              <a:t>của các đơn vị logic và số học và số học phức tạp hơn, việc sử dụng</a:t>
            </a:r>
          </a:p>
          <a:p>
            <a:r>
              <a:rPr kumimoji="1" lang="vi-VN" sz="1200" kern="1200" baseline="0">
                <a:solidFill>
                  <a:schemeClr val="tx1"/>
                </a:solidFill>
                <a:latin typeface="Times New Roman" pitchFamily="-110" charset="0"/>
                <a:ea typeface="+mn-ea"/>
                <a:cs typeface="+mn-cs"/>
              </a:rPr>
              <a:t>ngôn ngữ lập trình cấp cao và cung cấp phần mềm hệ thống với</a:t>
            </a:r>
          </a:p>
          <a:p>
            <a:r>
              <a:rPr kumimoji="1" lang="vi-VN" sz="1200" kern="1200" baseline="0">
                <a:solidFill>
                  <a:schemeClr val="tx1"/>
                </a:solidFill>
                <a:latin typeface="Times New Roman" pitchFamily="-110" charset="0"/>
                <a:ea typeface="+mn-ea"/>
                <a:cs typeface="+mn-cs"/>
              </a:rPr>
              <a:t>máy vi tính. Theo nghĩa rộng, phần mềm hệ thống cung cấp khả năng tải chương trình,</a:t>
            </a:r>
          </a:p>
          <a:p>
            <a:r>
              <a:rPr kumimoji="1" lang="vi-VN" sz="1200" kern="1200" baseline="0">
                <a:solidFill>
                  <a:schemeClr val="tx1"/>
                </a:solidFill>
                <a:latin typeface="Times New Roman" pitchFamily="-110" charset="0"/>
                <a:ea typeface="+mn-ea"/>
                <a:cs typeface="+mn-cs"/>
              </a:rPr>
              <a:t>di chuyển dữ liệu đến các thiết bị ngoại vi và thư viện để thực hiện các tính toán chung, tương tự</a:t>
            </a:r>
          </a:p>
          <a:p>
            <a:r>
              <a:rPr kumimoji="1" lang="vi-VN" sz="1200" kern="1200" baseline="0">
                <a:solidFill>
                  <a:schemeClr val="tx1"/>
                </a:solidFill>
                <a:latin typeface="Times New Roman" pitchFamily="-110" charset="0"/>
                <a:ea typeface="+mn-ea"/>
                <a:cs typeface="+mn-cs"/>
              </a:rPr>
              <a:t>theo những gì các hệ điều hành hiện đại như Windows và Linux làm.</a:t>
            </a:r>
          </a:p>
          <a:p>
            <a:endParaRPr kumimoji="1" lang="vi-VN" sz="1200" kern="1200" baseline="0">
              <a:solidFill>
                <a:schemeClr val="tx1"/>
              </a:solidFill>
              <a:latin typeface="Times New Roman" pitchFamily="-110" charset="0"/>
              <a:ea typeface="+mn-ea"/>
              <a:cs typeface="+mn-cs"/>
            </a:endParaRPr>
          </a:p>
          <a:p>
            <a:r>
              <a:rPr kumimoji="1" lang="vi-VN" sz="1200" kern="1200" baseline="0">
                <a:solidFill>
                  <a:schemeClr val="tx1"/>
                </a:solidFill>
                <a:latin typeface="Times New Roman" pitchFamily="-110" charset="0"/>
                <a:ea typeface="+mn-ea"/>
                <a:cs typeface="+mn-cs"/>
              </a:rPr>
              <a:t>Thế hệ thứ hai cũng đáng chú ý vì sự xuất hiện của Digital</a:t>
            </a:r>
          </a:p>
          <a:p>
            <a:r>
              <a:rPr kumimoji="1" lang="vi-VN" sz="1200" kern="1200" baseline="0">
                <a:solidFill>
                  <a:schemeClr val="tx1"/>
                </a:solidFill>
                <a:latin typeface="Times New Roman" pitchFamily="-110" charset="0"/>
                <a:ea typeface="+mn-ea"/>
                <a:cs typeface="+mn-cs"/>
              </a:rPr>
              <a:t>Tổng công ty Thiết bị (DEC). DEC được thành lập vào năm 1957 và trong năm đó, đã được chuyển giao</a:t>
            </a:r>
          </a:p>
          <a:p>
            <a:r>
              <a:rPr kumimoji="1" lang="vi-VN" sz="1200" kern="1200" baseline="0">
                <a:solidFill>
                  <a:schemeClr val="tx1"/>
                </a:solidFill>
                <a:latin typeface="Times New Roman" pitchFamily="-110" charset="0"/>
                <a:ea typeface="+mn-ea"/>
                <a:cs typeface="+mn-cs"/>
              </a:rPr>
              <a:t>máy tính đầu tiên của nó, PDP-1. Máy tính này và công ty này đã bắt đầu máy tính mini</a:t>
            </a:r>
          </a:p>
          <a:p>
            <a:r>
              <a:rPr kumimoji="1" lang="vi-VN" sz="1200" kern="1200" baseline="0">
                <a:solidFill>
                  <a:schemeClr val="tx1"/>
                </a:solidFill>
                <a:latin typeface="Times New Roman" pitchFamily="-110" charset="0"/>
                <a:ea typeface="+mn-ea"/>
                <a:cs typeface="+mn-cs"/>
              </a:rPr>
              <a:t>hiện tượng đó sẽ trở nên rất nổi bật trong thế hệ thứ ba.</a:t>
            </a:r>
            <a:endParaRPr kumimoji="1" lang="en-US" sz="1200" kern="1200" baseline="0">
              <a:solidFill>
                <a:schemeClr val="tx1"/>
              </a:solidFill>
              <a:latin typeface="Times New Roman" pitchFamily="-110" charset="0"/>
              <a:ea typeface="+mn-ea"/>
              <a:cs typeface="+mn-cs"/>
            </a:endParaRPr>
          </a:p>
          <a:p>
            <a:r>
              <a:rPr kumimoji="1" lang="en-US" sz="1200" kern="1200" baseline="0">
                <a:solidFill>
                  <a:schemeClr val="tx1"/>
                </a:solidFill>
                <a:latin typeface="Times New Roman" pitchFamily="-110" charset="0"/>
                <a:ea typeface="+mn-ea"/>
                <a:cs typeface="+mn-cs"/>
              </a:rPr>
              <a:t>But </a:t>
            </a:r>
            <a:r>
              <a:rPr kumimoji="1" lang="en-US" sz="1200" kern="1200" baseline="0" dirty="0">
                <a:solidFill>
                  <a:schemeClr val="tx1"/>
                </a:solidFill>
                <a:latin typeface="Times New Roman" pitchFamily="-110" charset="0"/>
                <a:ea typeface="+mn-ea"/>
                <a:cs typeface="+mn-cs"/>
              </a:rPr>
              <a:t>there are other changes as well. The second generation saw the introduction</a:t>
            </a:r>
          </a:p>
          <a:p>
            <a:r>
              <a:rPr kumimoji="1" lang="en-US" sz="1200" kern="1200" baseline="0" dirty="0">
                <a:solidFill>
                  <a:schemeClr val="tx1"/>
                </a:solidFill>
                <a:latin typeface="Times New Roman" pitchFamily="-110" charset="0"/>
                <a:ea typeface="+mn-ea"/>
                <a:cs typeface="+mn-cs"/>
              </a:rPr>
              <a:t>of more complex arithmetic and logic units and control units, the use of</a:t>
            </a:r>
          </a:p>
          <a:p>
            <a:r>
              <a:rPr kumimoji="1" lang="en-US" sz="1200" kern="1200" baseline="0" dirty="0">
                <a:solidFill>
                  <a:schemeClr val="tx1"/>
                </a:solidFill>
                <a:latin typeface="Times New Roman" pitchFamily="-110" charset="0"/>
                <a:ea typeface="+mn-ea"/>
                <a:cs typeface="+mn-cs"/>
              </a:rPr>
              <a:t>high-level programming languages, and the provision of </a:t>
            </a:r>
            <a:r>
              <a:rPr kumimoji="1" lang="en-US" sz="1200" i="1" kern="1200" baseline="0" dirty="0">
                <a:solidFill>
                  <a:schemeClr val="tx1"/>
                </a:solidFill>
                <a:latin typeface="Times New Roman" pitchFamily="-110" charset="0"/>
                <a:ea typeface="+mn-ea"/>
                <a:cs typeface="+mn-cs"/>
              </a:rPr>
              <a:t>system software </a:t>
            </a:r>
            <a:r>
              <a:rPr kumimoji="1" lang="en-US" sz="1200" i="0" kern="1200" baseline="0" dirty="0">
                <a:solidFill>
                  <a:schemeClr val="tx1"/>
                </a:solidFill>
                <a:latin typeface="Times New Roman" pitchFamily="-110" charset="0"/>
                <a:ea typeface="+mn-ea"/>
                <a:cs typeface="+mn-cs"/>
              </a:rPr>
              <a:t>with the</a:t>
            </a:r>
          </a:p>
          <a:p>
            <a:r>
              <a:rPr kumimoji="1" lang="en-US" sz="1200" kern="1200" baseline="0" dirty="0">
                <a:solidFill>
                  <a:schemeClr val="tx1"/>
                </a:solidFill>
                <a:latin typeface="Times New Roman" pitchFamily="-110" charset="0"/>
                <a:ea typeface="+mn-ea"/>
                <a:cs typeface="+mn-cs"/>
              </a:rPr>
              <a:t>computer. In broad terms, system software provided the ability to load programs,</a:t>
            </a:r>
          </a:p>
          <a:p>
            <a:r>
              <a:rPr kumimoji="1" lang="en-US" sz="1200" kern="1200" baseline="0" dirty="0">
                <a:solidFill>
                  <a:schemeClr val="tx1"/>
                </a:solidFill>
                <a:latin typeface="Times New Roman" pitchFamily="-110" charset="0"/>
                <a:ea typeface="+mn-ea"/>
                <a:cs typeface="+mn-cs"/>
              </a:rPr>
              <a:t>move data to peripherals, and libraries to perform common computations, similar</a:t>
            </a:r>
          </a:p>
          <a:p>
            <a:r>
              <a:rPr kumimoji="1" lang="en-US" sz="1200" kern="1200" baseline="0" dirty="0">
                <a:solidFill>
                  <a:schemeClr val="tx1"/>
                </a:solidFill>
                <a:latin typeface="Times New Roman" pitchFamily="-110" charset="0"/>
                <a:ea typeface="+mn-ea"/>
                <a:cs typeface="+mn-cs"/>
              </a:rPr>
              <a:t>to what modern OSes like Windows and Linux do.</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The second generation is noteworthy also for the appearance of the Digital</a:t>
            </a:r>
          </a:p>
          <a:p>
            <a:r>
              <a:rPr kumimoji="1" lang="en-US" sz="1200" kern="1200" baseline="0" dirty="0">
                <a:solidFill>
                  <a:schemeClr val="tx1"/>
                </a:solidFill>
                <a:latin typeface="Times New Roman" pitchFamily="-110" charset="0"/>
                <a:ea typeface="+mn-ea"/>
                <a:cs typeface="+mn-cs"/>
              </a:rPr>
              <a:t>Equipment Corporation (DEC). DEC was founded in 1957 and, in that year, delivered</a:t>
            </a:r>
          </a:p>
          <a:p>
            <a:r>
              <a:rPr kumimoji="1" lang="en-US" sz="1200" kern="1200" baseline="0" dirty="0">
                <a:solidFill>
                  <a:schemeClr val="tx1"/>
                </a:solidFill>
                <a:latin typeface="Times New Roman" pitchFamily="-110" charset="0"/>
                <a:ea typeface="+mn-ea"/>
                <a:cs typeface="+mn-cs"/>
              </a:rPr>
              <a:t>its first computer, the PDP-1. This computer and this company began the minicomputer</a:t>
            </a:r>
          </a:p>
          <a:p>
            <a:r>
              <a:rPr kumimoji="1" lang="en-US" sz="1200" kern="1200" baseline="0" dirty="0">
                <a:solidFill>
                  <a:schemeClr val="tx1"/>
                </a:solidFill>
                <a:latin typeface="Times New Roman" pitchFamily="-110" charset="0"/>
                <a:ea typeface="+mn-ea"/>
                <a:cs typeface="+mn-cs"/>
              </a:rPr>
              <a:t>phenomenon that would become so prominent in the third generation.</a:t>
            </a:r>
            <a:endParaRPr lang="en-GB"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0000" lnSpcReduction="20000"/>
          </a:bodyPr>
          <a:lstStyle/>
          <a:p>
            <a:r>
              <a:rPr kumimoji="1" lang="vi-VN" sz="1200" kern="1200" baseline="0">
                <a:solidFill>
                  <a:schemeClr val="tx1"/>
                </a:solidFill>
                <a:latin typeface="Times New Roman" pitchFamily="-110" charset="0"/>
                <a:ea typeface="+mn-ea"/>
                <a:cs typeface="+mn-cs"/>
              </a:rPr>
              <a:t>Từ việc giới thiệu loạt 700 vào năm 1952 đến khi giới thiệu</a:t>
            </a:r>
          </a:p>
          <a:p>
            <a:r>
              <a:rPr kumimoji="1" lang="vi-VN" sz="1200" kern="1200" baseline="0">
                <a:solidFill>
                  <a:schemeClr val="tx1"/>
                </a:solidFill>
                <a:latin typeface="Times New Roman" pitchFamily="-110" charset="0"/>
                <a:ea typeface="+mn-ea"/>
                <a:cs typeface="+mn-cs"/>
              </a:rPr>
              <a:t>của thành viên cuối cùng của loạt 7000 vào năm 1964, dòng sản phẩm này của IBM đã trải qua một</a:t>
            </a:r>
          </a:p>
          <a:p>
            <a:r>
              <a:rPr kumimoji="1" lang="vi-VN" sz="1200" kern="1200" baseline="0">
                <a:solidFill>
                  <a:schemeClr val="tx1"/>
                </a:solidFill>
                <a:latin typeface="Times New Roman" pitchFamily="-110" charset="0"/>
                <a:ea typeface="+mn-ea"/>
                <a:cs typeface="+mn-cs"/>
              </a:rPr>
              <a:t>tiến hóa đó là điển hình của các sản phẩm máy tính. Thành viên liên tiếp của sản phẩm</a:t>
            </a:r>
          </a:p>
          <a:p>
            <a:r>
              <a:rPr kumimoji="1" lang="vi-VN" sz="1200" kern="1200" baseline="0">
                <a:solidFill>
                  <a:schemeClr val="tx1"/>
                </a:solidFill>
                <a:latin typeface="Times New Roman" pitchFamily="-110" charset="0"/>
                <a:ea typeface="+mn-ea"/>
                <a:cs typeface="+mn-cs"/>
              </a:rPr>
              <a:t>dòng hiển thị hiệu suất tăng, công suất tăng và / hoặc chi phí thấp hơn.</a:t>
            </a:r>
          </a:p>
          <a:p>
            <a:endParaRPr kumimoji="1" lang="vi-VN" sz="1200" kern="1200" baseline="0">
              <a:solidFill>
                <a:schemeClr val="tx1"/>
              </a:solidFill>
              <a:latin typeface="Times New Roman" pitchFamily="-110" charset="0"/>
              <a:ea typeface="+mn-ea"/>
              <a:cs typeface="+mn-cs"/>
            </a:endParaRPr>
          </a:p>
          <a:p>
            <a:r>
              <a:rPr kumimoji="1" lang="vi-VN" sz="1200" kern="1200" baseline="0">
                <a:solidFill>
                  <a:schemeClr val="tx1"/>
                </a:solidFill>
                <a:latin typeface="Times New Roman" pitchFamily="-110" charset="0"/>
                <a:ea typeface="+mn-ea"/>
                <a:cs typeface="+mn-cs"/>
              </a:rPr>
              <a:t>Bảng 2.3 minh họa xu hướng này. Kích thước của bộ nhớ chính, tính bằng bội số của 210</a:t>
            </a:r>
          </a:p>
          <a:p>
            <a:r>
              <a:rPr kumimoji="1" lang="vi-VN" sz="1200" kern="1200" baseline="0">
                <a:solidFill>
                  <a:schemeClr val="tx1"/>
                </a:solidFill>
                <a:latin typeface="Times New Roman" pitchFamily="-110" charset="0"/>
                <a:ea typeface="+mn-ea"/>
                <a:cs typeface="+mn-cs"/>
              </a:rPr>
              <a:t>Các từ 36 bit, tăng từ 2K (1K = 210) lên 32K từ, trong khi thời gian để truy cập một từ</a:t>
            </a:r>
          </a:p>
          <a:p>
            <a:r>
              <a:rPr kumimoji="1" lang="vi-VN" sz="1200" kern="1200" baseline="0">
                <a:solidFill>
                  <a:schemeClr val="tx1"/>
                </a:solidFill>
                <a:latin typeface="Times New Roman" pitchFamily="-110" charset="0"/>
                <a:ea typeface="+mn-ea"/>
                <a:cs typeface="+mn-cs"/>
              </a:rPr>
              <a:t>từ bộ nhớ, thời gian chu kỳ bộ nhớ, giảm từ 30 tos xuống 1,4 </a:t>
            </a:r>
            <a:r>
              <a:rPr kumimoji="1" lang="el-GR" sz="1200" kern="1200" baseline="0">
                <a:solidFill>
                  <a:schemeClr val="tx1"/>
                </a:solidFill>
                <a:latin typeface="Times New Roman" pitchFamily="-110" charset="0"/>
                <a:ea typeface="+mn-ea"/>
                <a:cs typeface="+mn-cs"/>
              </a:rPr>
              <a:t>μ</a:t>
            </a:r>
            <a:r>
              <a:rPr kumimoji="1" lang="vi-VN" sz="1200" kern="1200" baseline="0">
                <a:solidFill>
                  <a:schemeClr val="tx1"/>
                </a:solidFill>
                <a:latin typeface="Times New Roman" pitchFamily="-110" charset="0"/>
                <a:ea typeface="+mn-ea"/>
                <a:cs typeface="+mn-cs"/>
              </a:rPr>
              <a:t>s. Số lượng</a:t>
            </a:r>
          </a:p>
          <a:p>
            <a:r>
              <a:rPr kumimoji="1" lang="vi-VN" sz="1200" kern="1200" baseline="0">
                <a:solidFill>
                  <a:schemeClr val="tx1"/>
                </a:solidFill>
                <a:latin typeface="Times New Roman" pitchFamily="-110" charset="0"/>
                <a:ea typeface="+mn-ea"/>
                <a:cs typeface="+mn-cs"/>
              </a:rPr>
              <a:t>opcodes tăng từ 24 đến 185 khiêm tốn.</a:t>
            </a:r>
          </a:p>
          <a:p>
            <a:endParaRPr kumimoji="1" lang="vi-VN" sz="1200" kern="1200" baseline="0">
              <a:solidFill>
                <a:schemeClr val="tx1"/>
              </a:solidFill>
              <a:latin typeface="Times New Roman" pitchFamily="-110" charset="0"/>
              <a:ea typeface="+mn-ea"/>
              <a:cs typeface="+mn-cs"/>
            </a:endParaRPr>
          </a:p>
          <a:p>
            <a:r>
              <a:rPr kumimoji="1" lang="vi-VN" sz="1200" kern="1200" baseline="0">
                <a:solidFill>
                  <a:schemeClr val="tx1"/>
                </a:solidFill>
                <a:latin typeface="Times New Roman" pitchFamily="-110" charset="0"/>
                <a:ea typeface="+mn-ea"/>
                <a:cs typeface="+mn-cs"/>
              </a:rPr>
              <a:t>Cột cuối cùng cho biết tốc độ thực hiện tương đối của xử lý trung tâm</a:t>
            </a:r>
          </a:p>
          <a:p>
            <a:r>
              <a:rPr kumimoji="1" lang="vi-VN" sz="1200" kern="1200" baseline="0">
                <a:solidFill>
                  <a:schemeClr val="tx1"/>
                </a:solidFill>
                <a:latin typeface="Times New Roman" pitchFamily="-110" charset="0"/>
                <a:ea typeface="+mn-ea"/>
                <a:cs typeface="+mn-cs"/>
              </a:rPr>
              <a:t>đơn vị (CPU). Cải thiện tốc độ đạt được bằng các thiết bị điện tử được cải tiến (ví dụ:</a:t>
            </a:r>
          </a:p>
          <a:p>
            <a:r>
              <a:rPr kumimoji="1" lang="vi-VN" sz="1200" kern="1200" baseline="0">
                <a:solidFill>
                  <a:schemeClr val="tx1"/>
                </a:solidFill>
                <a:latin typeface="Times New Roman" pitchFamily="-110" charset="0"/>
                <a:ea typeface="+mn-ea"/>
                <a:cs typeface="+mn-cs"/>
              </a:rPr>
              <a:t>thực hiện bóng bán dẫn nhanh hơn so với thực hiện ống chân không) và nhiều hơn nữa</a:t>
            </a:r>
          </a:p>
          <a:p>
            <a:r>
              <a:rPr kumimoji="1" lang="vi-VN" sz="1200" kern="1200" baseline="0">
                <a:solidFill>
                  <a:schemeClr val="tx1"/>
                </a:solidFill>
                <a:latin typeface="Times New Roman" pitchFamily="-110" charset="0"/>
                <a:ea typeface="+mn-ea"/>
                <a:cs typeface="+mn-cs"/>
              </a:rPr>
              <a:t>mạch phức tạp. Ví dụ, IBM 7094 bao gồm Sao lưu chỉ dẫn</a:t>
            </a:r>
          </a:p>
          <a:p>
            <a:r>
              <a:rPr kumimoji="1" lang="vi-VN" sz="1200" kern="1200" baseline="0">
                <a:solidFill>
                  <a:schemeClr val="tx1"/>
                </a:solidFill>
                <a:latin typeface="Times New Roman" pitchFamily="-110" charset="0"/>
                <a:ea typeface="+mn-ea"/>
                <a:cs typeface="+mn-cs"/>
              </a:rPr>
              <a:t>Đăng ký, được sử dụng để đệm các hướng dẫn tiếp theo. Bộ điều khiển tìm nạp hai liền kề</a:t>
            </a:r>
          </a:p>
          <a:p>
            <a:r>
              <a:rPr kumimoji="1" lang="vi-VN" sz="1200" kern="1200" baseline="0">
                <a:solidFill>
                  <a:schemeClr val="tx1"/>
                </a:solidFill>
                <a:latin typeface="Times New Roman" pitchFamily="-110" charset="0"/>
                <a:ea typeface="+mn-ea"/>
                <a:cs typeface="+mn-cs"/>
              </a:rPr>
              <a:t>từ từ bộ nhớ cho một lệnh tìm nạp. Ngoại trừ sự xuất hiện của một nhánh</a:t>
            </a:r>
          </a:p>
          <a:p>
            <a:r>
              <a:rPr kumimoji="1" lang="vi-VN" sz="1200" kern="1200" baseline="0">
                <a:solidFill>
                  <a:schemeClr val="tx1"/>
                </a:solidFill>
                <a:latin typeface="Times New Roman" pitchFamily="-110" charset="0"/>
                <a:ea typeface="+mn-ea"/>
                <a:cs typeface="+mn-cs"/>
              </a:rPr>
              <a:t>hướng dẫn, tương đối không thường xuyên (có thể 10 đến 15%), điều này có nghĩa là</a:t>
            </a:r>
          </a:p>
          <a:p>
            <a:r>
              <a:rPr kumimoji="1" lang="vi-VN" sz="1200" kern="1200" baseline="0">
                <a:solidFill>
                  <a:schemeClr val="tx1"/>
                </a:solidFill>
                <a:latin typeface="Times New Roman" pitchFamily="-110" charset="0"/>
                <a:ea typeface="+mn-ea"/>
                <a:cs typeface="+mn-cs"/>
              </a:rPr>
              <a:t>bộ điều khiển phải truy cập bộ nhớ cho một lệnh chỉ bằng một nửa lệnh</a:t>
            </a:r>
          </a:p>
          <a:p>
            <a:r>
              <a:rPr kumimoji="1" lang="vi-VN" sz="1200" kern="1200" baseline="0">
                <a:solidFill>
                  <a:schemeClr val="tx1"/>
                </a:solidFill>
                <a:latin typeface="Times New Roman" pitchFamily="-110" charset="0"/>
                <a:ea typeface="+mn-ea"/>
                <a:cs typeface="+mn-cs"/>
              </a:rPr>
              <a:t>chu kỳ. Việc tìm nạp trước này làm giảm đáng kể thời gian chu kỳ hướng dẫn trung bình.</a:t>
            </a:r>
          </a:p>
          <a:p>
            <a:endParaRPr kumimoji="1" lang="vi-VN" sz="1200" kern="1200" baseline="0">
              <a:solidFill>
                <a:schemeClr val="tx1"/>
              </a:solidFill>
              <a:latin typeface="Times New Roman" pitchFamily="-110" charset="0"/>
              <a:ea typeface="+mn-ea"/>
              <a:cs typeface="+mn-cs"/>
            </a:endParaRPr>
          </a:p>
          <a:p>
            <a:r>
              <a:rPr kumimoji="1" lang="vi-VN" sz="1200" kern="1200" baseline="0">
                <a:solidFill>
                  <a:schemeClr val="tx1"/>
                </a:solidFill>
                <a:latin typeface="Times New Roman" pitchFamily="-110" charset="0"/>
                <a:ea typeface="+mn-ea"/>
                <a:cs typeface="+mn-cs"/>
              </a:rPr>
              <a:t>Phần còn lại của các cột trong Bảng 2.3 sẽ trở nên rõ ràng dưới dạng văn bản</a:t>
            </a:r>
          </a:p>
          <a:p>
            <a:r>
              <a:rPr kumimoji="1" lang="vi-VN" sz="1200" kern="1200" baseline="0">
                <a:solidFill>
                  <a:schemeClr val="tx1"/>
                </a:solidFill>
                <a:latin typeface="Times New Roman" pitchFamily="-110" charset="0"/>
                <a:ea typeface="+mn-ea"/>
                <a:cs typeface="+mn-cs"/>
              </a:rPr>
              <a:t>tiền thu được.</a:t>
            </a:r>
            <a:endParaRPr kumimoji="1" lang="en-US" sz="1200" kern="1200" baseline="0">
              <a:solidFill>
                <a:schemeClr val="tx1"/>
              </a:solidFill>
              <a:latin typeface="Times New Roman" pitchFamily="-110" charset="0"/>
              <a:ea typeface="+mn-ea"/>
              <a:cs typeface="+mn-cs"/>
            </a:endParaRPr>
          </a:p>
          <a:p>
            <a:r>
              <a:rPr kumimoji="1" lang="en-US" sz="1200" kern="1200" baseline="0">
                <a:solidFill>
                  <a:schemeClr val="tx1"/>
                </a:solidFill>
                <a:latin typeface="Times New Roman" pitchFamily="-110" charset="0"/>
                <a:ea typeface="+mn-ea"/>
                <a:cs typeface="+mn-cs"/>
              </a:rPr>
              <a:t>From </a:t>
            </a:r>
            <a:r>
              <a:rPr kumimoji="1" lang="en-US" sz="1200" kern="1200" baseline="0" dirty="0">
                <a:solidFill>
                  <a:schemeClr val="tx1"/>
                </a:solidFill>
                <a:latin typeface="Times New Roman" pitchFamily="-110" charset="0"/>
                <a:ea typeface="+mn-ea"/>
                <a:cs typeface="+mn-cs"/>
              </a:rPr>
              <a:t>the introduction of the 700 series in 1952 to the introduction</a:t>
            </a:r>
          </a:p>
          <a:p>
            <a:r>
              <a:rPr kumimoji="1" lang="en-US" sz="1200" kern="1200" baseline="0" dirty="0">
                <a:solidFill>
                  <a:schemeClr val="tx1"/>
                </a:solidFill>
                <a:latin typeface="Times New Roman" pitchFamily="-110" charset="0"/>
                <a:ea typeface="+mn-ea"/>
                <a:cs typeface="+mn-cs"/>
              </a:rPr>
              <a:t>of the last member of the 7000 series in 1964, this IBM product line underwent an</a:t>
            </a:r>
          </a:p>
          <a:p>
            <a:r>
              <a:rPr kumimoji="1" lang="en-US" sz="1200" kern="1200" baseline="0" dirty="0">
                <a:solidFill>
                  <a:schemeClr val="tx1"/>
                </a:solidFill>
                <a:latin typeface="Times New Roman" pitchFamily="-110" charset="0"/>
                <a:ea typeface="+mn-ea"/>
                <a:cs typeface="+mn-cs"/>
              </a:rPr>
              <a:t>evolution that is typical of computer products. Successive members of the product</a:t>
            </a:r>
          </a:p>
          <a:p>
            <a:r>
              <a:rPr kumimoji="1" lang="en-US" sz="1200" kern="1200" baseline="0" dirty="0">
                <a:solidFill>
                  <a:schemeClr val="tx1"/>
                </a:solidFill>
                <a:latin typeface="Times New Roman" pitchFamily="-110" charset="0"/>
                <a:ea typeface="+mn-ea"/>
                <a:cs typeface="+mn-cs"/>
              </a:rPr>
              <a:t>line show increased performance, increased capacity, and/or lower cost.</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Table 2.3 illustrates this trend. The size of main memory, in multiples of 2</a:t>
            </a:r>
            <a:r>
              <a:rPr kumimoji="1" lang="en-US" sz="1200" kern="1200" baseline="30000" dirty="0">
                <a:solidFill>
                  <a:schemeClr val="tx1"/>
                </a:solidFill>
                <a:latin typeface="Times New Roman" pitchFamily="-110" charset="0"/>
                <a:ea typeface="+mn-ea"/>
                <a:cs typeface="+mn-cs"/>
              </a:rPr>
              <a:t>10</a:t>
            </a:r>
          </a:p>
          <a:p>
            <a:r>
              <a:rPr kumimoji="1" lang="en-US" sz="1200" kern="1200" baseline="0" dirty="0">
                <a:solidFill>
                  <a:schemeClr val="tx1"/>
                </a:solidFill>
                <a:latin typeface="Times New Roman" pitchFamily="-110" charset="0"/>
                <a:ea typeface="+mn-ea"/>
                <a:cs typeface="+mn-cs"/>
              </a:rPr>
              <a:t>36-bit words, grew from 2K (1K = 2</a:t>
            </a:r>
            <a:r>
              <a:rPr kumimoji="1" lang="en-US" sz="1200" kern="1200" baseline="30000" dirty="0">
                <a:solidFill>
                  <a:schemeClr val="tx1"/>
                </a:solidFill>
                <a:latin typeface="Times New Roman" pitchFamily="-110" charset="0"/>
                <a:ea typeface="+mn-ea"/>
                <a:cs typeface="+mn-cs"/>
              </a:rPr>
              <a:t>10</a:t>
            </a:r>
            <a:r>
              <a:rPr kumimoji="1" lang="en-US" sz="1200" kern="1200" baseline="0" dirty="0">
                <a:solidFill>
                  <a:schemeClr val="tx1"/>
                </a:solidFill>
                <a:latin typeface="Times New Roman" pitchFamily="-110" charset="0"/>
                <a:ea typeface="+mn-ea"/>
                <a:cs typeface="+mn-cs"/>
              </a:rPr>
              <a:t>) to 32K words, while the time to access one</a:t>
            </a:r>
          </a:p>
          <a:p>
            <a:r>
              <a:rPr kumimoji="1" lang="en-US" sz="1200" kern="1200" baseline="0" dirty="0">
                <a:solidFill>
                  <a:schemeClr val="tx1"/>
                </a:solidFill>
                <a:latin typeface="Times New Roman" pitchFamily="-110" charset="0"/>
                <a:ea typeface="+mn-ea"/>
                <a:cs typeface="+mn-cs"/>
              </a:rPr>
              <a:t>word of memory, the </a:t>
            </a:r>
            <a:r>
              <a:rPr kumimoji="1" lang="en-US" sz="1200" i="1" kern="1200" baseline="0" dirty="0">
                <a:solidFill>
                  <a:schemeClr val="tx1"/>
                </a:solidFill>
                <a:latin typeface="Times New Roman" pitchFamily="-110" charset="0"/>
                <a:ea typeface="+mn-ea"/>
                <a:cs typeface="+mn-cs"/>
              </a:rPr>
              <a:t>memory cycle time, fell from 30 μs to 1.4 μs. </a:t>
            </a:r>
            <a:r>
              <a:rPr kumimoji="1" lang="en-US" sz="1200" b="0" i="0" kern="1200" baseline="0" dirty="0">
                <a:solidFill>
                  <a:schemeClr val="tx1"/>
                </a:solidFill>
                <a:latin typeface="Times New Roman" pitchFamily="-110" charset="0"/>
                <a:ea typeface="+mn-ea"/>
                <a:cs typeface="+mn-cs"/>
              </a:rPr>
              <a:t>The number of</a:t>
            </a:r>
          </a:p>
          <a:p>
            <a:r>
              <a:rPr kumimoji="1" lang="en-US" sz="1200" kern="1200" baseline="0" dirty="0">
                <a:solidFill>
                  <a:schemeClr val="tx1"/>
                </a:solidFill>
                <a:latin typeface="Times New Roman" pitchFamily="-110" charset="0"/>
                <a:ea typeface="+mn-ea"/>
                <a:cs typeface="+mn-cs"/>
              </a:rPr>
              <a:t>opcodes grew from a modest 24 to 185.</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The final column indicates the relative execution speed of the central processing</a:t>
            </a:r>
          </a:p>
          <a:p>
            <a:r>
              <a:rPr kumimoji="1" lang="en-US" sz="1200" kern="1200" baseline="0" dirty="0">
                <a:solidFill>
                  <a:schemeClr val="tx1"/>
                </a:solidFill>
                <a:latin typeface="Times New Roman" pitchFamily="-110" charset="0"/>
                <a:ea typeface="+mn-ea"/>
                <a:cs typeface="+mn-cs"/>
              </a:rPr>
              <a:t>unit (CPU). Speed improvements are achieved by improved electronics (e.g., a</a:t>
            </a:r>
          </a:p>
          <a:p>
            <a:r>
              <a:rPr kumimoji="1" lang="en-US" sz="1200" kern="1200" baseline="0" dirty="0">
                <a:solidFill>
                  <a:schemeClr val="tx1"/>
                </a:solidFill>
                <a:latin typeface="Times New Roman" pitchFamily="-110" charset="0"/>
                <a:ea typeface="+mn-ea"/>
                <a:cs typeface="+mn-cs"/>
              </a:rPr>
              <a:t>transistor implementation is faster than a vacuum tube implementation) and more</a:t>
            </a:r>
          </a:p>
          <a:p>
            <a:r>
              <a:rPr kumimoji="1" lang="en-US" sz="1200" kern="1200" baseline="0" dirty="0">
                <a:solidFill>
                  <a:schemeClr val="tx1"/>
                </a:solidFill>
                <a:latin typeface="Times New Roman" pitchFamily="-110" charset="0"/>
                <a:ea typeface="+mn-ea"/>
                <a:cs typeface="+mn-cs"/>
              </a:rPr>
              <a:t>complex circuitry. For example, the IBM 7094 includes an Instruction Backup</a:t>
            </a:r>
          </a:p>
          <a:p>
            <a:r>
              <a:rPr kumimoji="1" lang="en-US" sz="1200" kern="1200" baseline="0" dirty="0">
                <a:solidFill>
                  <a:schemeClr val="tx1"/>
                </a:solidFill>
                <a:latin typeface="Times New Roman" pitchFamily="-110" charset="0"/>
                <a:ea typeface="+mn-ea"/>
                <a:cs typeface="+mn-cs"/>
              </a:rPr>
              <a:t>Register, used to buffer the next instruction. The control unit fetches two adjacent</a:t>
            </a:r>
          </a:p>
          <a:p>
            <a:r>
              <a:rPr kumimoji="1" lang="en-US" sz="1200" kern="1200" baseline="0" dirty="0">
                <a:solidFill>
                  <a:schemeClr val="tx1"/>
                </a:solidFill>
                <a:latin typeface="Times New Roman" pitchFamily="-110" charset="0"/>
                <a:ea typeface="+mn-ea"/>
                <a:cs typeface="+mn-cs"/>
              </a:rPr>
              <a:t>words from memory for an instruction fetch. Except for the occurrence of a branching</a:t>
            </a:r>
          </a:p>
          <a:p>
            <a:r>
              <a:rPr kumimoji="1" lang="en-US" sz="1200" kern="1200" baseline="0" dirty="0">
                <a:solidFill>
                  <a:schemeClr val="tx1"/>
                </a:solidFill>
                <a:latin typeface="Times New Roman" pitchFamily="-110" charset="0"/>
                <a:ea typeface="+mn-ea"/>
                <a:cs typeface="+mn-cs"/>
              </a:rPr>
              <a:t>instruction, which is relatively infrequent (perhaps 10 to 15%), this means that</a:t>
            </a:r>
          </a:p>
          <a:p>
            <a:r>
              <a:rPr kumimoji="1" lang="en-US" sz="1200" kern="1200" baseline="0" dirty="0">
                <a:solidFill>
                  <a:schemeClr val="tx1"/>
                </a:solidFill>
                <a:latin typeface="Times New Roman" pitchFamily="-110" charset="0"/>
                <a:ea typeface="+mn-ea"/>
                <a:cs typeface="+mn-cs"/>
              </a:rPr>
              <a:t>the control unit has to access memory for an instruction on only half the instruction</a:t>
            </a:r>
          </a:p>
          <a:p>
            <a:r>
              <a:rPr kumimoji="1" lang="en-US" sz="1200" kern="1200" baseline="0" dirty="0">
                <a:solidFill>
                  <a:schemeClr val="tx1"/>
                </a:solidFill>
                <a:latin typeface="Times New Roman" pitchFamily="-110" charset="0"/>
                <a:ea typeface="+mn-ea"/>
                <a:cs typeface="+mn-cs"/>
              </a:rPr>
              <a:t>cycles. This prefetching significantly reduces the average instruction cycle time.</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The remainder of the columns of Table 2.3 will become clear as the text</a:t>
            </a:r>
          </a:p>
          <a:p>
            <a:r>
              <a:rPr kumimoji="1" lang="en-US" sz="1200" kern="1200" baseline="0" dirty="0">
                <a:solidFill>
                  <a:schemeClr val="tx1"/>
                </a:solidFill>
                <a:latin typeface="Times New Roman" pitchFamily="-110" charset="0"/>
                <a:ea typeface="+mn-ea"/>
                <a:cs typeface="+mn-cs"/>
              </a:rPr>
              <a:t>proceeds.</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25</a:t>
            </a:fld>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r>
              <a:rPr kumimoji="1" lang="en-US" sz="1200" kern="1200" baseline="0" dirty="0">
                <a:solidFill>
                  <a:schemeClr val="tx1"/>
                </a:solidFill>
                <a:latin typeface="Times New Roman" pitchFamily="-110" charset="0"/>
                <a:ea typeface="+mn-ea"/>
                <a:cs typeface="+mn-cs"/>
              </a:rPr>
              <a:t>Card punch: </a:t>
            </a:r>
            <a:r>
              <a:rPr kumimoji="1" lang="en-US" sz="1200" kern="1200" baseline="0" dirty="0" err="1">
                <a:solidFill>
                  <a:schemeClr val="tx1"/>
                </a:solidFill>
                <a:latin typeface="Times New Roman" pitchFamily="-110" charset="0"/>
                <a:ea typeface="+mn-ea"/>
                <a:cs typeface="+mn-cs"/>
              </a:rPr>
              <a:t>thẻ</a:t>
            </a:r>
            <a:r>
              <a:rPr kumimoji="1" lang="en-US" sz="1200" kern="1200" baseline="0" dirty="0">
                <a:solidFill>
                  <a:schemeClr val="tx1"/>
                </a:solidFill>
                <a:latin typeface="Times New Roman" pitchFamily="-110" charset="0"/>
                <a:ea typeface="+mn-ea"/>
                <a:cs typeface="+mn-cs"/>
              </a:rPr>
              <a:t> </a:t>
            </a:r>
            <a:r>
              <a:rPr kumimoji="1" lang="en-US" sz="1200" kern="1200" baseline="0" dirty="0" err="1">
                <a:solidFill>
                  <a:schemeClr val="tx1"/>
                </a:solidFill>
                <a:latin typeface="Times New Roman" pitchFamily="-110" charset="0"/>
                <a:ea typeface="+mn-ea"/>
                <a:cs typeface="+mn-cs"/>
              </a:rPr>
              <a:t>đục</a:t>
            </a:r>
            <a:r>
              <a:rPr kumimoji="1" lang="en-US" sz="1200" kern="1200" baseline="0" dirty="0">
                <a:solidFill>
                  <a:schemeClr val="tx1"/>
                </a:solidFill>
                <a:latin typeface="Times New Roman" pitchFamily="-110" charset="0"/>
                <a:ea typeface="+mn-ea"/>
                <a:cs typeface="+mn-cs"/>
              </a:rPr>
              <a:t> </a:t>
            </a:r>
            <a:r>
              <a:rPr kumimoji="1" lang="en-US" sz="1200" kern="1200" baseline="0" dirty="0" err="1">
                <a:solidFill>
                  <a:schemeClr val="tx1"/>
                </a:solidFill>
                <a:latin typeface="Times New Roman" pitchFamily="-110" charset="0"/>
                <a:ea typeface="+mn-ea"/>
                <a:cs typeface="+mn-cs"/>
              </a:rPr>
              <a:t>lổ</a:t>
            </a:r>
            <a:endParaRPr kumimoji="1" lang="en-US" sz="1200" kern="1200" baseline="0" dirty="0">
              <a:solidFill>
                <a:schemeClr val="tx1"/>
              </a:solidFill>
              <a:latin typeface="Times New Roman" pitchFamily="-110" charset="0"/>
              <a:ea typeface="+mn-ea"/>
              <a:cs typeface="+mn-cs"/>
            </a:endParaRPr>
          </a:p>
          <a:p>
            <a:endParaRPr kumimoji="1" lang="en-US" sz="1200" kern="1200" baseline="0" dirty="0">
              <a:solidFill>
                <a:schemeClr val="tx1"/>
              </a:solidFill>
              <a:latin typeface="Times New Roman" pitchFamily="-110" charset="0"/>
              <a:ea typeface="+mn-ea"/>
              <a:cs typeface="+mn-cs"/>
            </a:endParaRPr>
          </a:p>
          <a:p>
            <a:r>
              <a:rPr kumimoji="1" lang="vi-VN" sz="1200" kern="1200" baseline="0" dirty="0">
                <a:solidFill>
                  <a:schemeClr val="tx1"/>
                </a:solidFill>
                <a:latin typeface="Times New Roman" pitchFamily="-110" charset="0"/>
                <a:ea typeface="+mn-ea"/>
                <a:cs typeface="+mn-cs"/>
              </a:rPr>
              <a:t>Hình 2.5 cho thấy một cấu hình lớn (nhiều thiết bị ngoại vi) cho IBM 7094,</a:t>
            </a:r>
          </a:p>
          <a:p>
            <a:r>
              <a:rPr kumimoji="1" lang="vi-VN" sz="1200" kern="1200" baseline="0" dirty="0">
                <a:solidFill>
                  <a:schemeClr val="tx1"/>
                </a:solidFill>
                <a:latin typeface="Times New Roman" pitchFamily="-110" charset="0"/>
                <a:ea typeface="+mn-ea"/>
                <a:cs typeface="+mn-cs"/>
              </a:rPr>
              <a:t>đó là đại diện của máy tính thế hệ thứ hai [BELL71]. Một số khác biệt</a:t>
            </a:r>
          </a:p>
          <a:p>
            <a:r>
              <a:rPr kumimoji="1" lang="vi-VN" sz="1200" kern="1200" baseline="0" dirty="0">
                <a:solidFill>
                  <a:schemeClr val="tx1"/>
                </a:solidFill>
                <a:latin typeface="Times New Roman" pitchFamily="-110" charset="0"/>
                <a:ea typeface="+mn-ea"/>
                <a:cs typeface="+mn-cs"/>
              </a:rPr>
              <a:t>từ máy tính IAS đáng chú ý. Điều quan trọng nhất trong số này là</a:t>
            </a:r>
          </a:p>
          <a:p>
            <a:r>
              <a:rPr kumimoji="1" lang="vi-VN" sz="1200" kern="1200" baseline="0" dirty="0">
                <a:solidFill>
                  <a:schemeClr val="tx1"/>
                </a:solidFill>
                <a:latin typeface="Times New Roman" pitchFamily="-110" charset="0"/>
                <a:ea typeface="+mn-ea"/>
                <a:cs typeface="+mn-cs"/>
              </a:rPr>
              <a:t>sử dụng các kênh dữ liệu. Kênh dữ liệu là một mô-đun I / O độc lập với riêng mô-đun</a:t>
            </a:r>
          </a:p>
          <a:p>
            <a:r>
              <a:rPr kumimoji="1" lang="vi-VN" sz="1200" kern="1200" baseline="0" dirty="0">
                <a:solidFill>
                  <a:schemeClr val="tx1"/>
                </a:solidFill>
                <a:latin typeface="Times New Roman" pitchFamily="-110" charset="0"/>
                <a:ea typeface="+mn-ea"/>
                <a:cs typeface="+mn-cs"/>
              </a:rPr>
              <a:t>bộ xử lý và tập lệnh. Trong một hệ thống máy tính có các thiết bị như vậy, CPU</a:t>
            </a:r>
          </a:p>
          <a:p>
            <a:r>
              <a:rPr kumimoji="1" lang="vi-VN" sz="1200" kern="1200" baseline="0" dirty="0">
                <a:solidFill>
                  <a:schemeClr val="tx1"/>
                </a:solidFill>
                <a:latin typeface="Times New Roman" pitchFamily="-110" charset="0"/>
                <a:ea typeface="+mn-ea"/>
                <a:cs typeface="+mn-cs"/>
              </a:rPr>
              <a:t>không thực hiện các hướng dẫn I / O chi tiết. Hướng dẫn như vậy được lưu trữ trong một chính</a:t>
            </a:r>
          </a:p>
          <a:p>
            <a:r>
              <a:rPr kumimoji="1" lang="vi-VN" sz="1200" kern="1200" baseline="0" dirty="0">
                <a:solidFill>
                  <a:schemeClr val="tx1"/>
                </a:solidFill>
                <a:latin typeface="Times New Roman" pitchFamily="-110" charset="0"/>
                <a:ea typeface="+mn-ea"/>
                <a:cs typeface="+mn-cs"/>
              </a:rPr>
              <a:t>bộ nhớ được thực thi bởi bộ xử lý chuyên dụng trong chính kênh dữ liệu.</a:t>
            </a:r>
          </a:p>
          <a:p>
            <a:r>
              <a:rPr kumimoji="1" lang="vi-VN" sz="1200" kern="1200" baseline="0" dirty="0">
                <a:solidFill>
                  <a:schemeClr val="tx1"/>
                </a:solidFill>
                <a:latin typeface="Times New Roman" pitchFamily="-110" charset="0"/>
                <a:ea typeface="+mn-ea"/>
                <a:cs typeface="+mn-cs"/>
              </a:rPr>
              <a:t>CPU bắt đầu truyền I / O bằng cách gửi tín hiệu điều khiển đến kênh dữ liệu,</a:t>
            </a:r>
          </a:p>
          <a:p>
            <a:r>
              <a:rPr kumimoji="1" lang="vi-VN" sz="1200" kern="1200" baseline="0" dirty="0">
                <a:solidFill>
                  <a:schemeClr val="tx1"/>
                </a:solidFill>
                <a:latin typeface="Times New Roman" pitchFamily="-110" charset="0"/>
                <a:ea typeface="+mn-ea"/>
                <a:cs typeface="+mn-cs"/>
              </a:rPr>
              <a:t>hướng dẫn nó thực hiện một chuỗi các hướng dẫn trong bộ nhớ. Kênh dữ liệu</a:t>
            </a:r>
          </a:p>
          <a:p>
            <a:r>
              <a:rPr kumimoji="1" lang="vi-VN" sz="1200" kern="1200" baseline="0" dirty="0">
                <a:solidFill>
                  <a:schemeClr val="tx1"/>
                </a:solidFill>
                <a:latin typeface="Times New Roman" pitchFamily="-110" charset="0"/>
                <a:ea typeface="+mn-ea"/>
                <a:cs typeface="+mn-cs"/>
              </a:rPr>
              <a:t>thực hiện nhiệm vụ độc lập với CPU và báo hiệu cho CPU khi hoạt động</a:t>
            </a:r>
          </a:p>
          <a:p>
            <a:r>
              <a:rPr kumimoji="1" lang="vi-VN" sz="1200" kern="1200" baseline="0" dirty="0">
                <a:solidFill>
                  <a:schemeClr val="tx1"/>
                </a:solidFill>
                <a:latin typeface="Times New Roman" pitchFamily="-110" charset="0"/>
                <a:ea typeface="+mn-ea"/>
                <a:cs typeface="+mn-cs"/>
              </a:rPr>
              <a:t>hoàn tất. Sự sắp xếp này làm giảm CPU của một quá trình xử lý đáng kể</a:t>
            </a:r>
          </a:p>
          <a:p>
            <a:r>
              <a:rPr kumimoji="1" lang="vi-VN" sz="1200" kern="1200" baseline="0" dirty="0">
                <a:solidFill>
                  <a:schemeClr val="tx1"/>
                </a:solidFill>
                <a:latin typeface="Times New Roman" pitchFamily="-110" charset="0"/>
                <a:ea typeface="+mn-ea"/>
                <a:cs typeface="+mn-cs"/>
              </a:rPr>
              <a:t>gánh nặng.</a:t>
            </a:r>
          </a:p>
          <a:p>
            <a:endParaRPr kumimoji="1" lang="vi-VN" sz="1200" kern="1200" baseline="0" dirty="0">
              <a:solidFill>
                <a:schemeClr val="tx1"/>
              </a:solidFill>
              <a:latin typeface="Times New Roman" pitchFamily="-110" charset="0"/>
              <a:ea typeface="+mn-ea"/>
              <a:cs typeface="+mn-cs"/>
            </a:endParaRPr>
          </a:p>
          <a:p>
            <a:r>
              <a:rPr kumimoji="1" lang="vi-VN" sz="1200" kern="1200" baseline="0" dirty="0">
                <a:solidFill>
                  <a:schemeClr val="tx1"/>
                </a:solidFill>
                <a:latin typeface="Times New Roman" pitchFamily="-110" charset="0"/>
                <a:ea typeface="+mn-ea"/>
                <a:cs typeface="+mn-cs"/>
              </a:rPr>
              <a:t>Một tính năng mới khác là bộ ghép kênh, đó là sự kết thúc trung tâm</a:t>
            </a:r>
          </a:p>
          <a:p>
            <a:r>
              <a:rPr kumimoji="1" lang="vi-VN" sz="1200" kern="1200" baseline="0" dirty="0">
                <a:solidFill>
                  <a:schemeClr val="tx1"/>
                </a:solidFill>
                <a:latin typeface="Times New Roman" pitchFamily="-110" charset="0"/>
                <a:ea typeface="+mn-ea"/>
                <a:cs typeface="+mn-cs"/>
              </a:rPr>
              <a:t>điểm cho các kênh dữ liệu, CPU và bộ nhớ. Truy cập lịch trình ghép kênh</a:t>
            </a:r>
          </a:p>
          <a:p>
            <a:r>
              <a:rPr kumimoji="1" lang="vi-VN" sz="1200" kern="1200" baseline="0" dirty="0">
                <a:solidFill>
                  <a:schemeClr val="tx1"/>
                </a:solidFill>
                <a:latin typeface="Times New Roman" pitchFamily="-110" charset="0"/>
                <a:ea typeface="+mn-ea"/>
                <a:cs typeface="+mn-cs"/>
              </a:rPr>
              <a:t>đến bộ nhớ từ CPU và các kênh dữ liệu, cho phép các thiết bị này hoạt động</a:t>
            </a:r>
          </a:p>
          <a:p>
            <a:r>
              <a:rPr kumimoji="1" lang="vi-VN" sz="1200" kern="1200" baseline="0" dirty="0">
                <a:solidFill>
                  <a:schemeClr val="tx1"/>
                </a:solidFill>
                <a:latin typeface="Times New Roman" pitchFamily="-110" charset="0"/>
                <a:ea typeface="+mn-ea"/>
                <a:cs typeface="+mn-cs"/>
              </a:rPr>
              <a:t>độc lập.</a:t>
            </a:r>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Figure 2.5 shows a large (many peripherals) configuration for an IBM 7094,</a:t>
            </a:r>
          </a:p>
          <a:p>
            <a:r>
              <a:rPr kumimoji="1" lang="en-US" sz="1200" kern="1200" baseline="0" dirty="0">
                <a:solidFill>
                  <a:schemeClr val="tx1"/>
                </a:solidFill>
                <a:latin typeface="Times New Roman" pitchFamily="-110" charset="0"/>
                <a:ea typeface="+mn-ea"/>
                <a:cs typeface="+mn-cs"/>
              </a:rPr>
              <a:t>which is representative of second-generation computers [BELL71]. Several differences</a:t>
            </a:r>
          </a:p>
          <a:p>
            <a:r>
              <a:rPr kumimoji="1" lang="en-US" sz="1200" kern="1200" baseline="0" dirty="0">
                <a:solidFill>
                  <a:schemeClr val="tx1"/>
                </a:solidFill>
                <a:latin typeface="Times New Roman" pitchFamily="-110" charset="0"/>
                <a:ea typeface="+mn-ea"/>
                <a:cs typeface="+mn-cs"/>
              </a:rPr>
              <a:t>from the IAS computer are worth noting. The most important of these is the</a:t>
            </a:r>
          </a:p>
          <a:p>
            <a:r>
              <a:rPr kumimoji="1" lang="en-US" sz="1200" kern="1200" baseline="0" dirty="0">
                <a:solidFill>
                  <a:schemeClr val="tx1"/>
                </a:solidFill>
                <a:latin typeface="Times New Roman" pitchFamily="-110" charset="0"/>
                <a:ea typeface="+mn-ea"/>
                <a:cs typeface="+mn-cs"/>
              </a:rPr>
              <a:t>use of </a:t>
            </a:r>
            <a:r>
              <a:rPr kumimoji="1" lang="en-US" sz="1200" b="0" kern="1200" baseline="0" dirty="0">
                <a:solidFill>
                  <a:schemeClr val="tx1"/>
                </a:solidFill>
                <a:latin typeface="Times New Roman" pitchFamily="-110" charset="0"/>
                <a:ea typeface="+mn-ea"/>
                <a:cs typeface="+mn-cs"/>
              </a:rPr>
              <a:t>data channels</a:t>
            </a:r>
            <a:r>
              <a:rPr kumimoji="1" lang="en-US" sz="1200" b="1" kern="1200" baseline="0" dirty="0">
                <a:solidFill>
                  <a:schemeClr val="tx1"/>
                </a:solidFill>
                <a:latin typeface="Times New Roman" pitchFamily="-110" charset="0"/>
                <a:ea typeface="+mn-ea"/>
                <a:cs typeface="+mn-cs"/>
              </a:rPr>
              <a:t>. </a:t>
            </a:r>
            <a:r>
              <a:rPr kumimoji="1" lang="en-US" sz="1200" b="0" kern="1200" baseline="0" dirty="0">
                <a:solidFill>
                  <a:schemeClr val="tx1"/>
                </a:solidFill>
                <a:latin typeface="Times New Roman" pitchFamily="-110" charset="0"/>
                <a:ea typeface="+mn-ea"/>
                <a:cs typeface="+mn-cs"/>
              </a:rPr>
              <a:t>A</a:t>
            </a:r>
            <a:r>
              <a:rPr kumimoji="1" lang="en-US" sz="1200" b="1" kern="1200" baseline="0" dirty="0">
                <a:solidFill>
                  <a:schemeClr val="tx1"/>
                </a:solidFill>
                <a:latin typeface="Times New Roman" pitchFamily="-110" charset="0"/>
                <a:ea typeface="+mn-ea"/>
                <a:cs typeface="+mn-cs"/>
              </a:rPr>
              <a:t> data channel </a:t>
            </a:r>
            <a:r>
              <a:rPr kumimoji="1" lang="en-US" sz="1200" b="0" kern="1200" baseline="0" dirty="0">
                <a:solidFill>
                  <a:schemeClr val="tx1"/>
                </a:solidFill>
                <a:latin typeface="Times New Roman" pitchFamily="-110" charset="0"/>
                <a:ea typeface="+mn-ea"/>
                <a:cs typeface="+mn-cs"/>
              </a:rPr>
              <a:t>is an independent I/O module with its own</a:t>
            </a:r>
          </a:p>
          <a:p>
            <a:r>
              <a:rPr kumimoji="1" lang="en-US" sz="1200" kern="1200" baseline="0" dirty="0">
                <a:solidFill>
                  <a:schemeClr val="tx1"/>
                </a:solidFill>
                <a:latin typeface="Times New Roman" pitchFamily="-110" charset="0"/>
                <a:ea typeface="+mn-ea"/>
                <a:cs typeface="+mn-cs"/>
              </a:rPr>
              <a:t>processor and instruction set. In a computer system with such devices, the CPU</a:t>
            </a:r>
          </a:p>
          <a:p>
            <a:r>
              <a:rPr kumimoji="1" lang="en-US" sz="1200" kern="1200" baseline="0" dirty="0">
                <a:solidFill>
                  <a:schemeClr val="tx1"/>
                </a:solidFill>
                <a:latin typeface="Times New Roman" pitchFamily="-110" charset="0"/>
                <a:ea typeface="+mn-ea"/>
                <a:cs typeface="+mn-cs"/>
              </a:rPr>
              <a:t>does not execute detailed I/O instructions. Such instructions are stored in a main</a:t>
            </a:r>
          </a:p>
          <a:p>
            <a:r>
              <a:rPr kumimoji="1" lang="en-US" sz="1200" kern="1200" baseline="0" dirty="0">
                <a:solidFill>
                  <a:schemeClr val="tx1"/>
                </a:solidFill>
                <a:latin typeface="Times New Roman" pitchFamily="-110" charset="0"/>
                <a:ea typeface="+mn-ea"/>
                <a:cs typeface="+mn-cs"/>
              </a:rPr>
              <a:t>memory to be executed by a special-purpose processor in the data channel itself.</a:t>
            </a:r>
          </a:p>
          <a:p>
            <a:r>
              <a:rPr kumimoji="1" lang="en-US" sz="1200" kern="1200" baseline="0" dirty="0">
                <a:solidFill>
                  <a:schemeClr val="tx1"/>
                </a:solidFill>
                <a:latin typeface="Times New Roman" pitchFamily="-110" charset="0"/>
                <a:ea typeface="+mn-ea"/>
                <a:cs typeface="+mn-cs"/>
              </a:rPr>
              <a:t>The CPU initiates an I/O transfer by sending a control signal to the data channel,</a:t>
            </a:r>
          </a:p>
          <a:p>
            <a:r>
              <a:rPr kumimoji="1" lang="en-US" sz="1200" kern="1200" baseline="0" dirty="0">
                <a:solidFill>
                  <a:schemeClr val="tx1"/>
                </a:solidFill>
                <a:latin typeface="Times New Roman" pitchFamily="-110" charset="0"/>
                <a:ea typeface="+mn-ea"/>
                <a:cs typeface="+mn-cs"/>
              </a:rPr>
              <a:t>instructing it to execute a sequence of instructions in memory. The data channel</a:t>
            </a:r>
          </a:p>
          <a:p>
            <a:r>
              <a:rPr kumimoji="1" lang="en-US" sz="1200" kern="1200" baseline="0" dirty="0">
                <a:solidFill>
                  <a:schemeClr val="tx1"/>
                </a:solidFill>
                <a:latin typeface="Times New Roman" pitchFamily="-110" charset="0"/>
                <a:ea typeface="+mn-ea"/>
                <a:cs typeface="+mn-cs"/>
              </a:rPr>
              <a:t>performs its task independently of the CPU and signals the CPU when the operation</a:t>
            </a:r>
          </a:p>
          <a:p>
            <a:r>
              <a:rPr kumimoji="1" lang="en-US" sz="1200" kern="1200" baseline="0" dirty="0">
                <a:solidFill>
                  <a:schemeClr val="tx1"/>
                </a:solidFill>
                <a:latin typeface="Times New Roman" pitchFamily="-110" charset="0"/>
                <a:ea typeface="+mn-ea"/>
                <a:cs typeface="+mn-cs"/>
              </a:rPr>
              <a:t>is complete. This arrangement relieves the CPU of a considerable processing</a:t>
            </a:r>
          </a:p>
          <a:p>
            <a:r>
              <a:rPr kumimoji="1" lang="en-US" sz="1200" kern="1200" baseline="0" dirty="0">
                <a:solidFill>
                  <a:schemeClr val="tx1"/>
                </a:solidFill>
                <a:latin typeface="Times New Roman" pitchFamily="-110" charset="0"/>
                <a:ea typeface="+mn-ea"/>
                <a:cs typeface="+mn-cs"/>
              </a:rPr>
              <a:t>burden.</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Another new feature is the </a:t>
            </a:r>
            <a:r>
              <a:rPr kumimoji="1" lang="en-US" sz="1200" b="1" kern="1200" baseline="0" dirty="0">
                <a:solidFill>
                  <a:schemeClr val="tx1"/>
                </a:solidFill>
                <a:latin typeface="Times New Roman" pitchFamily="-110" charset="0"/>
                <a:ea typeface="+mn-ea"/>
                <a:cs typeface="+mn-cs"/>
              </a:rPr>
              <a:t>multiplexor, </a:t>
            </a:r>
            <a:r>
              <a:rPr kumimoji="1" lang="en-US" sz="1200" b="0" kern="1200" baseline="0" dirty="0">
                <a:solidFill>
                  <a:schemeClr val="tx1"/>
                </a:solidFill>
                <a:latin typeface="Times New Roman" pitchFamily="-110" charset="0"/>
                <a:ea typeface="+mn-ea"/>
                <a:cs typeface="+mn-cs"/>
              </a:rPr>
              <a:t>which is the central termination</a:t>
            </a:r>
          </a:p>
          <a:p>
            <a:r>
              <a:rPr kumimoji="1" lang="en-US" sz="1200" kern="1200" baseline="0" dirty="0">
                <a:solidFill>
                  <a:schemeClr val="tx1"/>
                </a:solidFill>
                <a:latin typeface="Times New Roman" pitchFamily="-110" charset="0"/>
                <a:ea typeface="+mn-ea"/>
                <a:cs typeface="+mn-cs"/>
              </a:rPr>
              <a:t>point for data channels, the CPU, and memory. The multiplexor schedules access</a:t>
            </a:r>
          </a:p>
          <a:p>
            <a:r>
              <a:rPr kumimoji="1" lang="en-US" sz="1200" kern="1200" baseline="0" dirty="0">
                <a:solidFill>
                  <a:schemeClr val="tx1"/>
                </a:solidFill>
                <a:latin typeface="Times New Roman" pitchFamily="-110" charset="0"/>
                <a:ea typeface="+mn-ea"/>
                <a:cs typeface="+mn-cs"/>
              </a:rPr>
              <a:t>to the memory from the CPU and data channels, allowing these devices to act</a:t>
            </a:r>
          </a:p>
          <a:p>
            <a:r>
              <a:rPr kumimoji="1" lang="en-US" sz="1200" kern="1200" baseline="0" dirty="0">
                <a:solidFill>
                  <a:schemeClr val="tx1"/>
                </a:solidFill>
                <a:latin typeface="Times New Roman" pitchFamily="-110" charset="0"/>
                <a:ea typeface="+mn-ea"/>
                <a:cs typeface="+mn-cs"/>
              </a:rPr>
              <a:t>independently.</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26</a:t>
            </a:fld>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302DEA2-F8D7-C549-B179-963DC37A15CB}" type="slidenum">
              <a:rPr lang="en-US"/>
              <a:pPr/>
              <a:t>27</a:t>
            </a:fld>
            <a:endParaRPr lang="en-US" dirty="0"/>
          </a:p>
        </p:txBody>
      </p:sp>
      <p:sp>
        <p:nvSpPr>
          <p:cNvPr id="61442" name="Rectangle 2"/>
          <p:cNvSpPr>
            <a:spLocks noGrp="1" noRot="1" noChangeAspect="1" noChangeArrowheads="1" noTextEdit="1"/>
          </p:cNvSpPr>
          <p:nvPr>
            <p:ph type="sldImg"/>
          </p:nvPr>
        </p:nvSpPr>
        <p:spPr>
          <a:ln/>
        </p:spPr>
      </p:sp>
      <p:sp>
        <p:nvSpPr>
          <p:cNvPr id="61443"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110" charset="0"/>
                <a:ea typeface="+mn-ea"/>
                <a:cs typeface="+mn-cs"/>
              </a:rPr>
              <a:t>Solder: </a:t>
            </a:r>
            <a:r>
              <a:rPr kumimoji="1" lang="en-US" sz="1200" kern="1200" baseline="0" dirty="0" err="1">
                <a:solidFill>
                  <a:schemeClr val="tx1"/>
                </a:solidFill>
                <a:latin typeface="Times New Roman" pitchFamily="-110" charset="0"/>
                <a:ea typeface="+mn-ea"/>
                <a:cs typeface="+mn-cs"/>
              </a:rPr>
              <a:t>hàn</a:t>
            </a:r>
            <a:r>
              <a:rPr kumimoji="1" lang="en-US" sz="1200" kern="1200" baseline="0" dirty="0">
                <a:solidFill>
                  <a:schemeClr val="tx1"/>
                </a:solidFill>
                <a:latin typeface="Times New Roman" pitchFamily="-110" charset="0"/>
                <a:ea typeface="+mn-ea"/>
                <a:cs typeface="+mn-cs"/>
              </a:rPr>
              <a:t> </a:t>
            </a:r>
          </a:p>
          <a:p>
            <a:r>
              <a:rPr kumimoji="1" lang="en-US" sz="1200" kern="1200" baseline="0" dirty="0">
                <a:solidFill>
                  <a:schemeClr val="tx1"/>
                </a:solidFill>
                <a:latin typeface="Times New Roman" pitchFamily="-110" charset="0"/>
                <a:ea typeface="+mn-ea"/>
                <a:cs typeface="+mn-cs"/>
              </a:rPr>
              <a:t>Cumbersome: </a:t>
            </a:r>
            <a:r>
              <a:rPr kumimoji="1" lang="en-US" sz="1200" kern="1200" baseline="0" dirty="0" err="1">
                <a:solidFill>
                  <a:schemeClr val="tx1"/>
                </a:solidFill>
                <a:latin typeface="Times New Roman" pitchFamily="-110" charset="0"/>
                <a:ea typeface="+mn-ea"/>
                <a:cs typeface="+mn-cs"/>
              </a:rPr>
              <a:t>cồng</a:t>
            </a:r>
            <a:r>
              <a:rPr kumimoji="1" lang="en-US" sz="1200" kern="1200" baseline="0" dirty="0">
                <a:solidFill>
                  <a:schemeClr val="tx1"/>
                </a:solidFill>
                <a:latin typeface="Times New Roman" pitchFamily="-110" charset="0"/>
                <a:ea typeface="+mn-ea"/>
                <a:cs typeface="+mn-cs"/>
              </a:rPr>
              <a:t> </a:t>
            </a:r>
            <a:r>
              <a:rPr kumimoji="1" lang="en-US" sz="1200" kern="1200" baseline="0" dirty="0" err="1">
                <a:solidFill>
                  <a:schemeClr val="tx1"/>
                </a:solidFill>
                <a:latin typeface="Times New Roman" pitchFamily="-110" charset="0"/>
                <a:ea typeface="+mn-ea"/>
                <a:cs typeface="+mn-cs"/>
              </a:rPr>
              <a:t>kềnh</a:t>
            </a:r>
            <a:r>
              <a:rPr kumimoji="1" lang="en-US" sz="1200" kern="1200" baseline="0" dirty="0">
                <a:solidFill>
                  <a:schemeClr val="tx1"/>
                </a:solidFill>
                <a:latin typeface="Times New Roman" pitchFamily="-110" charset="0"/>
                <a:ea typeface="+mn-ea"/>
                <a:cs typeface="+mn-cs"/>
              </a:rPr>
              <a:t>, </a:t>
            </a:r>
            <a:r>
              <a:rPr kumimoji="1" lang="en-US" sz="1200" kern="1200" baseline="0" dirty="0" err="1">
                <a:solidFill>
                  <a:schemeClr val="tx1"/>
                </a:solidFill>
                <a:latin typeface="Times New Roman" pitchFamily="-110" charset="0"/>
                <a:ea typeface="+mn-ea"/>
                <a:cs typeface="+mn-cs"/>
              </a:rPr>
              <a:t>vưới</a:t>
            </a:r>
            <a:r>
              <a:rPr kumimoji="1" lang="en-US" sz="1200" kern="1200" baseline="0" dirty="0">
                <a:solidFill>
                  <a:schemeClr val="tx1"/>
                </a:solidFill>
                <a:latin typeface="Times New Roman" pitchFamily="-110" charset="0"/>
                <a:ea typeface="+mn-ea"/>
                <a:cs typeface="+mn-cs"/>
              </a:rPr>
              <a:t> </a:t>
            </a:r>
            <a:r>
              <a:rPr kumimoji="1" lang="en-US" sz="1200" kern="1200" baseline="0" dirty="0" err="1">
                <a:solidFill>
                  <a:schemeClr val="tx1"/>
                </a:solidFill>
                <a:latin typeface="Times New Roman" pitchFamily="-110" charset="0"/>
                <a:ea typeface="+mn-ea"/>
                <a:cs typeface="+mn-cs"/>
              </a:rPr>
              <a:t>víu</a:t>
            </a:r>
            <a:endParaRPr kumimoji="1" lang="en-US" sz="1200" kern="1200" baseline="0" dirty="0">
              <a:solidFill>
                <a:schemeClr val="tx1"/>
              </a:solidFill>
              <a:latin typeface="Times New Roman" pitchFamily="-110" charset="0"/>
              <a:ea typeface="+mn-ea"/>
              <a:cs typeface="+mn-cs"/>
            </a:endParaRP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A single, self-contained transistor is called a </a:t>
            </a:r>
            <a:r>
              <a:rPr kumimoji="1" lang="en-US" sz="1200" i="1" kern="1200" baseline="0" dirty="0">
                <a:solidFill>
                  <a:schemeClr val="tx1"/>
                </a:solidFill>
                <a:latin typeface="Times New Roman" pitchFamily="-110" charset="0"/>
                <a:ea typeface="+mn-ea"/>
                <a:cs typeface="+mn-cs"/>
              </a:rPr>
              <a:t>discrete component. </a:t>
            </a:r>
            <a:r>
              <a:rPr kumimoji="1" lang="en-US" sz="1200" i="0" kern="1200" baseline="0" dirty="0">
                <a:solidFill>
                  <a:schemeClr val="tx1"/>
                </a:solidFill>
                <a:latin typeface="Times New Roman" pitchFamily="-110" charset="0"/>
                <a:ea typeface="+mn-ea"/>
                <a:cs typeface="+mn-cs"/>
              </a:rPr>
              <a:t>Throughout the</a:t>
            </a:r>
          </a:p>
          <a:p>
            <a:r>
              <a:rPr kumimoji="1" lang="en-US" sz="1200" kern="1200" baseline="0" dirty="0">
                <a:solidFill>
                  <a:schemeClr val="tx1"/>
                </a:solidFill>
                <a:latin typeface="Times New Roman" pitchFamily="-110" charset="0"/>
                <a:ea typeface="+mn-ea"/>
                <a:cs typeface="+mn-cs"/>
              </a:rPr>
              <a:t>1950s and early 1960s, electronic equipment was composed largely of discrete components—</a:t>
            </a:r>
          </a:p>
          <a:p>
            <a:r>
              <a:rPr kumimoji="1" lang="en-US" sz="1200" kern="1200" baseline="0" dirty="0">
                <a:solidFill>
                  <a:schemeClr val="tx1"/>
                </a:solidFill>
                <a:latin typeface="Times New Roman" pitchFamily="-110" charset="0"/>
                <a:ea typeface="+mn-ea"/>
                <a:cs typeface="+mn-cs"/>
              </a:rPr>
              <a:t>transistors, resistors, capacitors, and so on. Discrete components were</a:t>
            </a:r>
          </a:p>
          <a:p>
            <a:r>
              <a:rPr kumimoji="1" lang="en-US" sz="1200" kern="1200" baseline="0" dirty="0">
                <a:solidFill>
                  <a:schemeClr val="tx1"/>
                </a:solidFill>
                <a:latin typeface="Times New Roman" pitchFamily="-110" charset="0"/>
                <a:ea typeface="+mn-ea"/>
                <a:cs typeface="+mn-cs"/>
              </a:rPr>
              <a:t>manufactured separately, packaged in their own containers, and soldered or wired</a:t>
            </a:r>
          </a:p>
          <a:p>
            <a:r>
              <a:rPr kumimoji="1" lang="en-US" sz="1200" kern="1200" baseline="0" dirty="0">
                <a:solidFill>
                  <a:schemeClr val="tx1"/>
                </a:solidFill>
                <a:latin typeface="Times New Roman" pitchFamily="-110" charset="0"/>
                <a:ea typeface="+mn-ea"/>
                <a:cs typeface="+mn-cs"/>
              </a:rPr>
              <a:t>together onto masonite-like circuit boards, which were then installed in computers,</a:t>
            </a:r>
          </a:p>
          <a:p>
            <a:r>
              <a:rPr kumimoji="1" lang="en-US" sz="1200" kern="1200" baseline="0" dirty="0">
                <a:solidFill>
                  <a:schemeClr val="tx1"/>
                </a:solidFill>
                <a:latin typeface="Times New Roman" pitchFamily="-110" charset="0"/>
                <a:ea typeface="+mn-ea"/>
                <a:cs typeface="+mn-cs"/>
              </a:rPr>
              <a:t>oscilloscopes, and other electronic equipment. Whenever an electronic device called</a:t>
            </a:r>
          </a:p>
          <a:p>
            <a:r>
              <a:rPr kumimoji="1" lang="en-US" sz="1200" kern="1200" baseline="0" dirty="0">
                <a:solidFill>
                  <a:schemeClr val="tx1"/>
                </a:solidFill>
                <a:latin typeface="Times New Roman" pitchFamily="-110" charset="0"/>
                <a:ea typeface="+mn-ea"/>
                <a:cs typeface="+mn-cs"/>
              </a:rPr>
              <a:t>for a transistor, a little tube of metal containing a pinhead-sized piece of silicon</a:t>
            </a:r>
          </a:p>
          <a:p>
            <a:r>
              <a:rPr kumimoji="1" lang="en-US" sz="1200" kern="1200" baseline="0" dirty="0">
                <a:solidFill>
                  <a:schemeClr val="tx1"/>
                </a:solidFill>
                <a:latin typeface="Times New Roman" pitchFamily="-110" charset="0"/>
                <a:ea typeface="+mn-ea"/>
                <a:cs typeface="+mn-cs"/>
              </a:rPr>
              <a:t>had to be soldered to a circuit board. The entire manufacturing process, from transistor</a:t>
            </a:r>
          </a:p>
          <a:p>
            <a:r>
              <a:rPr kumimoji="1" lang="en-US" sz="1200" kern="1200" baseline="0" dirty="0">
                <a:solidFill>
                  <a:schemeClr val="tx1"/>
                </a:solidFill>
                <a:latin typeface="Times New Roman" pitchFamily="-110" charset="0"/>
                <a:ea typeface="+mn-ea"/>
                <a:cs typeface="+mn-cs"/>
              </a:rPr>
              <a:t>to circuit board, was expensive and cumbersome.</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These facts of life were beginning to create problems in the computer industry.</a:t>
            </a:r>
          </a:p>
          <a:p>
            <a:r>
              <a:rPr kumimoji="1" lang="en-US" sz="1200" kern="1200" baseline="0" dirty="0">
                <a:solidFill>
                  <a:schemeClr val="tx1"/>
                </a:solidFill>
                <a:latin typeface="Times New Roman" pitchFamily="-110" charset="0"/>
                <a:ea typeface="+mn-ea"/>
                <a:cs typeface="+mn-cs"/>
              </a:rPr>
              <a:t>Early second-generation computers contained about 10,000 transistors. This</a:t>
            </a:r>
          </a:p>
          <a:p>
            <a:r>
              <a:rPr kumimoji="1" lang="en-US" sz="1200" kern="1200" baseline="0" dirty="0">
                <a:solidFill>
                  <a:schemeClr val="tx1"/>
                </a:solidFill>
                <a:latin typeface="Times New Roman" pitchFamily="-110" charset="0"/>
                <a:ea typeface="+mn-ea"/>
                <a:cs typeface="+mn-cs"/>
              </a:rPr>
              <a:t>figure grew to the hundreds of thousands, making the manufacture of newer, more</a:t>
            </a:r>
          </a:p>
          <a:p>
            <a:r>
              <a:rPr kumimoji="1" lang="en-US" sz="1200" kern="1200" baseline="0" dirty="0">
                <a:solidFill>
                  <a:schemeClr val="tx1"/>
                </a:solidFill>
                <a:latin typeface="Times New Roman" pitchFamily="-110" charset="0"/>
                <a:ea typeface="+mn-ea"/>
                <a:cs typeface="+mn-cs"/>
              </a:rPr>
              <a:t>powerful machines increasingly difficult.</a:t>
            </a:r>
          </a:p>
          <a:p>
            <a:endParaRPr kumimoji="1" lang="en-US" sz="1200" kern="1200" baseline="0" dirty="0">
              <a:solidFill>
                <a:schemeClr val="tx1"/>
              </a:solidFill>
              <a:latin typeface="Times New Roman" pitchFamily="-110" charset="0"/>
              <a:ea typeface="+mn-ea"/>
              <a:cs typeface="+mn-cs"/>
            </a:endParaRPr>
          </a:p>
          <a:p>
            <a:r>
              <a:rPr kumimoji="1" lang="vi-VN" sz="1200" kern="1200" baseline="0" dirty="0">
                <a:solidFill>
                  <a:schemeClr val="tx1"/>
                </a:solidFill>
                <a:latin typeface="Times New Roman" pitchFamily="-110" charset="0"/>
                <a:ea typeface="+mn-ea"/>
                <a:cs typeface="+mn-cs"/>
              </a:rPr>
              <a:t>Một bóng bán dẫn độc lập, được gọi là một thành phần riêng biệt. Xuyên suốt</a:t>
            </a:r>
          </a:p>
          <a:p>
            <a:r>
              <a:rPr kumimoji="1" lang="vi-VN" sz="1200" kern="1200" baseline="0" dirty="0">
                <a:solidFill>
                  <a:schemeClr val="tx1"/>
                </a:solidFill>
                <a:latin typeface="Times New Roman" pitchFamily="-110" charset="0"/>
                <a:ea typeface="+mn-ea"/>
                <a:cs typeface="+mn-cs"/>
              </a:rPr>
              <a:t>Những năm 1950 và đầu những năm 1960, thiết bị điện tử bao gồm phần lớn các thành phần rời rạc</a:t>
            </a:r>
          </a:p>
          <a:p>
            <a:r>
              <a:rPr kumimoji="1" lang="vi-VN" sz="1200" kern="1200" baseline="0" dirty="0">
                <a:solidFill>
                  <a:schemeClr val="tx1"/>
                </a:solidFill>
                <a:latin typeface="Times New Roman" pitchFamily="-110" charset="0"/>
                <a:ea typeface="+mn-ea"/>
                <a:cs typeface="+mn-cs"/>
              </a:rPr>
              <a:t>bóng bán dẫn, điện trở, tụ điện, và như vậy. Các thành phần riêng biệt là</a:t>
            </a:r>
          </a:p>
          <a:p>
            <a:r>
              <a:rPr kumimoji="1" lang="vi-VN" sz="1200" kern="1200" baseline="0" dirty="0">
                <a:solidFill>
                  <a:schemeClr val="tx1"/>
                </a:solidFill>
                <a:latin typeface="Times New Roman" pitchFamily="-110" charset="0"/>
                <a:ea typeface="+mn-ea"/>
                <a:cs typeface="+mn-cs"/>
              </a:rPr>
              <a:t>được sản xuất riêng biệt, được đóng gói trong các thùng chứa riêng của họ, và hàn hoặc có dây</a:t>
            </a:r>
          </a:p>
          <a:p>
            <a:r>
              <a:rPr kumimoji="1" lang="vi-VN" sz="1200" kern="1200" baseline="0" dirty="0">
                <a:solidFill>
                  <a:schemeClr val="tx1"/>
                </a:solidFill>
                <a:latin typeface="Times New Roman" pitchFamily="-110" charset="0"/>
                <a:ea typeface="+mn-ea"/>
                <a:cs typeface="+mn-cs"/>
              </a:rPr>
              <a:t>cùng nhau lên các bảng mạch giống như masonite, sau đó được cài đặt trong máy tính,</a:t>
            </a:r>
          </a:p>
          <a:p>
            <a:r>
              <a:rPr kumimoji="1" lang="vi-VN" sz="1200" kern="1200" baseline="0" dirty="0">
                <a:solidFill>
                  <a:schemeClr val="tx1"/>
                </a:solidFill>
                <a:latin typeface="Times New Roman" pitchFamily="-110" charset="0"/>
                <a:ea typeface="+mn-ea"/>
                <a:cs typeface="+mn-cs"/>
              </a:rPr>
              <a:t>máy hiện sóng và các thiết bị điện tử khác. Bất cứ khi nào một thiết bị điện tử được gọi là</a:t>
            </a:r>
          </a:p>
          <a:p>
            <a:r>
              <a:rPr kumimoji="1" lang="vi-VN" sz="1200" kern="1200" baseline="0" dirty="0">
                <a:solidFill>
                  <a:schemeClr val="tx1"/>
                </a:solidFill>
                <a:latin typeface="Times New Roman" pitchFamily="-110" charset="0"/>
                <a:ea typeface="+mn-ea"/>
                <a:cs typeface="+mn-cs"/>
              </a:rPr>
              <a:t>đối với một bóng bán dẫn, một ống kim loại nhỏ chứa một miếng silicon cỡ đầu ngón tay</a:t>
            </a:r>
          </a:p>
          <a:p>
            <a:r>
              <a:rPr kumimoji="1" lang="vi-VN" sz="1200" kern="1200" baseline="0" dirty="0">
                <a:solidFill>
                  <a:schemeClr val="tx1"/>
                </a:solidFill>
                <a:latin typeface="Times New Roman" pitchFamily="-110" charset="0"/>
                <a:ea typeface="+mn-ea"/>
                <a:cs typeface="+mn-cs"/>
              </a:rPr>
              <a:t>đã được hàn vào một bảng mạch. Toàn bộ quá trình sản xuất, từ bóng bán dẫn</a:t>
            </a:r>
          </a:p>
          <a:p>
            <a:r>
              <a:rPr kumimoji="1" lang="vi-VN" sz="1200" kern="1200" baseline="0" dirty="0">
                <a:solidFill>
                  <a:schemeClr val="tx1"/>
                </a:solidFill>
                <a:latin typeface="Times New Roman" pitchFamily="-110" charset="0"/>
                <a:ea typeface="+mn-ea"/>
                <a:cs typeface="+mn-cs"/>
              </a:rPr>
              <a:t>để bảng mạch, là đắt tiền và cồng kềnh.</a:t>
            </a:r>
          </a:p>
          <a:p>
            <a:endParaRPr kumimoji="1" lang="vi-VN" sz="1200" kern="1200" baseline="0" dirty="0">
              <a:solidFill>
                <a:schemeClr val="tx1"/>
              </a:solidFill>
              <a:latin typeface="Times New Roman" pitchFamily="-110" charset="0"/>
              <a:ea typeface="+mn-ea"/>
              <a:cs typeface="+mn-cs"/>
            </a:endParaRPr>
          </a:p>
          <a:p>
            <a:r>
              <a:rPr kumimoji="1" lang="vi-VN" sz="1200" kern="1200" baseline="0" dirty="0">
                <a:solidFill>
                  <a:schemeClr val="tx1"/>
                </a:solidFill>
                <a:latin typeface="Times New Roman" pitchFamily="-110" charset="0"/>
                <a:ea typeface="+mn-ea"/>
                <a:cs typeface="+mn-cs"/>
              </a:rPr>
              <a:t>Những sự thật của cuộc sống đã bắt đầu tạo ra các vấn đề trong ngành công nghiệp máy tính.</a:t>
            </a:r>
          </a:p>
          <a:p>
            <a:r>
              <a:rPr kumimoji="1" lang="vi-VN" sz="1200" kern="1200" baseline="0" dirty="0">
                <a:solidFill>
                  <a:schemeClr val="tx1"/>
                </a:solidFill>
                <a:latin typeface="Times New Roman" pitchFamily="-110" charset="0"/>
                <a:ea typeface="+mn-ea"/>
                <a:cs typeface="+mn-cs"/>
              </a:rPr>
              <a:t>Máy tính thế hệ thứ hai đầu tiên chứa khoảng 10.000 bóng bán dẫn. Điều này</a:t>
            </a:r>
          </a:p>
          <a:p>
            <a:r>
              <a:rPr kumimoji="1" lang="vi-VN" sz="1200" kern="1200" baseline="0" dirty="0">
                <a:solidFill>
                  <a:schemeClr val="tx1"/>
                </a:solidFill>
                <a:latin typeface="Times New Roman" pitchFamily="-110" charset="0"/>
                <a:ea typeface="+mn-ea"/>
                <a:cs typeface="+mn-cs"/>
              </a:rPr>
              <a:t>Con số tăng lên hàng trăm ngàn, làm cho sản xuất mới hơn, nhiều hơn</a:t>
            </a:r>
          </a:p>
          <a:p>
            <a:r>
              <a:rPr kumimoji="1" lang="vi-VN" sz="1200" kern="1200" baseline="0" dirty="0">
                <a:solidFill>
                  <a:schemeClr val="tx1"/>
                </a:solidFill>
                <a:latin typeface="Times New Roman" pitchFamily="-110" charset="0"/>
                <a:ea typeface="+mn-ea"/>
                <a:cs typeface="+mn-cs"/>
              </a:rPr>
              <a:t>Máy móc ngày càng khó khăn.</a:t>
            </a:r>
          </a:p>
          <a:p>
            <a:endParaRPr kumimoji="1" lang="vi-VN" sz="1200" kern="1200" baseline="0" dirty="0">
              <a:solidFill>
                <a:schemeClr val="tx1"/>
              </a:solidFill>
              <a:latin typeface="Times New Roman" pitchFamily="-110" charset="0"/>
              <a:ea typeface="+mn-ea"/>
              <a:cs typeface="+mn-cs"/>
            </a:endParaRPr>
          </a:p>
          <a:p>
            <a:r>
              <a:rPr kumimoji="1" lang="vi-VN" sz="1200" kern="1200" baseline="0" dirty="0">
                <a:solidFill>
                  <a:schemeClr val="tx1"/>
                </a:solidFill>
                <a:latin typeface="Times New Roman" pitchFamily="-110" charset="0"/>
                <a:ea typeface="+mn-ea"/>
                <a:cs typeface="+mn-cs"/>
              </a:rPr>
              <a:t>Năm 1958 đã đạt được thành tựu cách mạng điện tử và bắt đầu</a:t>
            </a:r>
          </a:p>
          <a:p>
            <a:r>
              <a:rPr kumimoji="1" lang="vi-VN" sz="1200" kern="1200" baseline="0" dirty="0">
                <a:solidFill>
                  <a:schemeClr val="tx1"/>
                </a:solidFill>
                <a:latin typeface="Times New Roman" pitchFamily="-110" charset="0"/>
                <a:ea typeface="+mn-ea"/>
                <a:cs typeface="+mn-cs"/>
              </a:rPr>
              <a:t>kỷ nguyên của vi điện tử: phát minh ra mạch tích hợp. Nó là tích hợp</a:t>
            </a:r>
          </a:p>
          <a:p>
            <a:r>
              <a:rPr kumimoji="1" lang="vi-VN" sz="1200" kern="1200" baseline="0" dirty="0">
                <a:solidFill>
                  <a:schemeClr val="tx1"/>
                </a:solidFill>
                <a:latin typeface="Times New Roman" pitchFamily="-110" charset="0"/>
                <a:ea typeface="+mn-ea"/>
                <a:cs typeface="+mn-cs"/>
              </a:rPr>
              <a:t>mạch xác định thế hệ thứ ba của máy tính. Trong phần này, chúng tôi cung cấp một</a:t>
            </a:r>
          </a:p>
          <a:p>
            <a:r>
              <a:rPr kumimoji="1" lang="vi-VN" sz="1200" kern="1200" baseline="0" dirty="0">
                <a:solidFill>
                  <a:schemeClr val="tx1"/>
                </a:solidFill>
                <a:latin typeface="Times New Roman" pitchFamily="-110" charset="0"/>
                <a:ea typeface="+mn-ea"/>
                <a:cs typeface="+mn-cs"/>
              </a:rPr>
              <a:t>giới thiệu ngắn gọn về công nghệ của các mạch tích hợp. Sau đó, chúng tôi nhìn vào có lẽ</a:t>
            </a:r>
          </a:p>
          <a:p>
            <a:r>
              <a:rPr kumimoji="1" lang="vi-VN" sz="1200" kern="1200" baseline="0" dirty="0">
                <a:solidFill>
                  <a:schemeClr val="tx1"/>
                </a:solidFill>
                <a:latin typeface="Times New Roman" pitchFamily="-110" charset="0"/>
                <a:ea typeface="+mn-ea"/>
                <a:cs typeface="+mn-cs"/>
              </a:rPr>
              <a:t>Hai thành viên quan trọng nhất của thế hệ thứ ba, cả hai đều được giới thiệu</a:t>
            </a:r>
          </a:p>
          <a:p>
            <a:r>
              <a:rPr kumimoji="1" lang="vi-VN" sz="1200" kern="1200" baseline="0" dirty="0">
                <a:solidFill>
                  <a:schemeClr val="tx1"/>
                </a:solidFill>
                <a:latin typeface="Times New Roman" pitchFamily="-110" charset="0"/>
                <a:ea typeface="+mn-ea"/>
                <a:cs typeface="+mn-cs"/>
              </a:rPr>
              <a:t>vào đầu kỷ nguyên đó: Hệ thống IBM / 360 và DEC PDP-8.</a:t>
            </a:r>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In 1958 came the achievement that revolutionized electronics and started the</a:t>
            </a:r>
          </a:p>
          <a:p>
            <a:r>
              <a:rPr kumimoji="1" lang="en-US" sz="1200" kern="1200" baseline="0" dirty="0">
                <a:solidFill>
                  <a:schemeClr val="tx1"/>
                </a:solidFill>
                <a:latin typeface="Times New Roman" pitchFamily="-110" charset="0"/>
                <a:ea typeface="+mn-ea"/>
                <a:cs typeface="+mn-cs"/>
              </a:rPr>
              <a:t>era of microelectronics: the invention of the integrated circuit. It is the </a:t>
            </a:r>
            <a:r>
              <a:rPr kumimoji="1" lang="en-US" sz="1200" b="1" kern="1200" baseline="0" dirty="0">
                <a:solidFill>
                  <a:schemeClr val="tx1"/>
                </a:solidFill>
                <a:latin typeface="Times New Roman" pitchFamily="-110" charset="0"/>
                <a:ea typeface="+mn-ea"/>
                <a:cs typeface="+mn-cs"/>
              </a:rPr>
              <a:t>integrated</a:t>
            </a:r>
          </a:p>
          <a:p>
            <a:r>
              <a:rPr kumimoji="1" lang="en-US" sz="1200" b="1" kern="1200" baseline="0" dirty="0">
                <a:solidFill>
                  <a:schemeClr val="tx1"/>
                </a:solidFill>
                <a:latin typeface="Times New Roman" pitchFamily="-110" charset="0"/>
                <a:ea typeface="+mn-ea"/>
                <a:cs typeface="+mn-cs"/>
              </a:rPr>
              <a:t>circuit </a:t>
            </a:r>
            <a:r>
              <a:rPr kumimoji="1" lang="en-US" sz="1200" b="0" kern="1200" baseline="0" dirty="0">
                <a:solidFill>
                  <a:schemeClr val="tx1"/>
                </a:solidFill>
                <a:latin typeface="Times New Roman" pitchFamily="-110" charset="0"/>
                <a:ea typeface="+mn-ea"/>
                <a:cs typeface="+mn-cs"/>
              </a:rPr>
              <a:t>that defines the third generation of computers. In this section, we provide a</a:t>
            </a:r>
          </a:p>
          <a:p>
            <a:r>
              <a:rPr kumimoji="1" lang="en-US" sz="1200" kern="1200" baseline="0" dirty="0">
                <a:solidFill>
                  <a:schemeClr val="tx1"/>
                </a:solidFill>
                <a:latin typeface="Times New Roman" pitchFamily="-110" charset="0"/>
                <a:ea typeface="+mn-ea"/>
                <a:cs typeface="+mn-cs"/>
              </a:rPr>
              <a:t>brief introduction to the technology of integrated circuits. Then we look at perhaps</a:t>
            </a:r>
          </a:p>
          <a:p>
            <a:r>
              <a:rPr kumimoji="1" lang="en-US" sz="1200" kern="1200" baseline="0" dirty="0">
                <a:solidFill>
                  <a:schemeClr val="tx1"/>
                </a:solidFill>
                <a:latin typeface="Times New Roman" pitchFamily="-110" charset="0"/>
                <a:ea typeface="+mn-ea"/>
                <a:cs typeface="+mn-cs"/>
              </a:rPr>
              <a:t>the two most important members of the third generation, both of which were introduced</a:t>
            </a:r>
          </a:p>
          <a:p>
            <a:r>
              <a:rPr kumimoji="1" lang="en-US" sz="1200" kern="1200" baseline="0" dirty="0">
                <a:solidFill>
                  <a:schemeClr val="tx1"/>
                </a:solidFill>
                <a:latin typeface="Times New Roman" pitchFamily="-110" charset="0"/>
                <a:ea typeface="+mn-ea"/>
                <a:cs typeface="+mn-cs"/>
              </a:rPr>
              <a:t>at the beginning of that era: the IBM System/360 and the DEC PDP-8.</a:t>
            </a:r>
            <a:endParaRPr lang="en-GB"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B8B031C-88DC-764F-B5BB-6ABD6943D909}" type="slidenum">
              <a:rPr lang="en-US"/>
              <a:pPr/>
              <a:t>28</a:t>
            </a:fld>
            <a:endParaRPr lang="en-US" dirty="0"/>
          </a:p>
        </p:txBody>
      </p:sp>
      <p:sp>
        <p:nvSpPr>
          <p:cNvPr id="71682" name="Rectangle 2"/>
          <p:cNvSpPr>
            <a:spLocks noGrp="1" noRot="1" noChangeAspect="1" noChangeArrowheads="1" noTextEdit="1"/>
          </p:cNvSpPr>
          <p:nvPr>
            <p:ph type="sldImg"/>
          </p:nvPr>
        </p:nvSpPr>
        <p:spPr>
          <a:ln/>
        </p:spPr>
      </p:sp>
      <p:sp>
        <p:nvSpPr>
          <p:cNvPr id="71683" name="Rectangle 3"/>
          <p:cNvSpPr>
            <a:spLocks noGrp="1" noChangeArrowheads="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vi-VN">
                <a:effectLst/>
                <a:latin typeface="Segoe UI Web (Vietnamese)"/>
              </a:rPr>
              <a:t>Vi điện tử có nghĩa là, theo nghĩa đen, "thiết bị điện tử nhỏ". </a:t>
            </a:r>
            <a:endParaRPr kumimoji="1" lang="en-US" sz="1200" kern="1200" baseline="0">
              <a:solidFill>
                <a:schemeClr val="tx1"/>
              </a:solidFill>
              <a:latin typeface="Times New Roman" pitchFamily="-110"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vi-VN">
                <a:effectLst/>
                <a:latin typeface="Segoe UI Web (Vietnamese)"/>
              </a:rPr>
              <a:t>(Hình 2.6): cổng và ô bộ nhớ. Cổng là một thiết bị mà thực hiện một hàm Boolean hoặc logic đơn giản, chẳng hạn như IF A VÀ B LÀ ĐÚNG SAU ĐÓ, C LÀ ĐÚNG (VÀ CỔNG). Các thiết bị như vậy được gọi là cổng vì chúng điều khiển lưu lượng dữ liệu giống như cách các cổng kênh kiểm soát dòng chảy của nước. The tế bào bộ nhớ là một thiết bị có thể lưu trữ một bit dữ liệu; Đó là, thiết bị có thể ở trong Một trong hai quốc gia ổn định bất cứ lúc nào. Bằng cách kết nối một số lượng lớn trong số này Các thiết bị cơ bản, chúng ta có thể xây dựng một máy tính.</a:t>
            </a:r>
          </a:p>
          <a:p>
            <a:endParaRPr kumimoji="1" lang="en-US" sz="1200" kern="1200" baseline="0" dirty="0">
              <a:solidFill>
                <a:schemeClr val="tx1"/>
              </a:solidFill>
              <a:latin typeface="Times New Roman" pitchFamily="-110" charset="0"/>
              <a:ea typeface="+mn-ea"/>
              <a:cs typeface="+mn-cs"/>
            </a:endParaRP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The basic elements of a digital computer, as we know, must perform storage,</a:t>
            </a:r>
          </a:p>
          <a:p>
            <a:r>
              <a:rPr kumimoji="1" lang="en-US" sz="1200" kern="1200" baseline="0" dirty="0">
                <a:solidFill>
                  <a:schemeClr val="tx1"/>
                </a:solidFill>
                <a:latin typeface="Times New Roman" pitchFamily="-110" charset="0"/>
                <a:ea typeface="+mn-ea"/>
                <a:cs typeface="+mn-cs"/>
              </a:rPr>
              <a:t>movement, processing, and control functions. Only two fundamental types of components</a:t>
            </a:r>
          </a:p>
          <a:p>
            <a:r>
              <a:rPr kumimoji="1" lang="en-US" sz="1200" kern="1200" baseline="0" dirty="0">
                <a:solidFill>
                  <a:schemeClr val="tx1"/>
                </a:solidFill>
                <a:latin typeface="Times New Roman" pitchFamily="-110" charset="0"/>
                <a:ea typeface="+mn-ea"/>
                <a:cs typeface="+mn-cs"/>
              </a:rPr>
              <a:t>are required (Figure 2.6): gates and memory cells. A gate is a device that</a:t>
            </a:r>
          </a:p>
          <a:p>
            <a:r>
              <a:rPr kumimoji="1" lang="en-US" sz="1200" kern="1200" baseline="0" dirty="0">
                <a:solidFill>
                  <a:schemeClr val="tx1"/>
                </a:solidFill>
                <a:latin typeface="Times New Roman" pitchFamily="-110" charset="0"/>
                <a:ea typeface="+mn-ea"/>
                <a:cs typeface="+mn-cs"/>
              </a:rPr>
              <a:t>implements a simple Boolean or logical function, such as IF </a:t>
            </a:r>
            <a:r>
              <a:rPr kumimoji="1" lang="en-US" sz="1200" i="1" kern="1200" baseline="0" dirty="0">
                <a:solidFill>
                  <a:schemeClr val="tx1"/>
                </a:solidFill>
                <a:latin typeface="Times New Roman" pitchFamily="-110" charset="0"/>
                <a:ea typeface="+mn-ea"/>
                <a:cs typeface="+mn-cs"/>
              </a:rPr>
              <a:t>A AND B ARE TRUE</a:t>
            </a:r>
          </a:p>
          <a:p>
            <a:r>
              <a:rPr kumimoji="1" lang="en-US" sz="1200" kern="1200" baseline="0" dirty="0">
                <a:solidFill>
                  <a:schemeClr val="tx1"/>
                </a:solidFill>
                <a:latin typeface="Times New Roman" pitchFamily="-110" charset="0"/>
                <a:ea typeface="+mn-ea"/>
                <a:cs typeface="+mn-cs"/>
              </a:rPr>
              <a:t>THEN </a:t>
            </a:r>
            <a:r>
              <a:rPr kumimoji="1" lang="en-US" sz="1200" i="1" kern="1200" baseline="0" dirty="0">
                <a:solidFill>
                  <a:schemeClr val="tx1"/>
                </a:solidFill>
                <a:latin typeface="Times New Roman" pitchFamily="-110" charset="0"/>
                <a:ea typeface="+mn-ea"/>
                <a:cs typeface="+mn-cs"/>
              </a:rPr>
              <a:t>C IS TRUE (AND gate). Such devices are called gates because they control</a:t>
            </a:r>
          </a:p>
          <a:p>
            <a:r>
              <a:rPr kumimoji="1" lang="en-US" sz="1200" kern="1200" baseline="0" dirty="0">
                <a:solidFill>
                  <a:schemeClr val="tx1"/>
                </a:solidFill>
                <a:latin typeface="Times New Roman" pitchFamily="-110" charset="0"/>
                <a:ea typeface="+mn-ea"/>
                <a:cs typeface="+mn-cs"/>
              </a:rPr>
              <a:t>data flow in much the same way that canal gates control the flow of water. The</a:t>
            </a:r>
          </a:p>
          <a:p>
            <a:r>
              <a:rPr kumimoji="1" lang="en-US" sz="1200" kern="1200" baseline="0" dirty="0">
                <a:solidFill>
                  <a:schemeClr val="tx1"/>
                </a:solidFill>
                <a:latin typeface="Times New Roman" pitchFamily="-110" charset="0"/>
                <a:ea typeface="+mn-ea"/>
                <a:cs typeface="+mn-cs"/>
              </a:rPr>
              <a:t>memory cell is a device that can store one bit of data; that is, the device can be in</a:t>
            </a:r>
          </a:p>
          <a:p>
            <a:r>
              <a:rPr kumimoji="1" lang="en-US" sz="1200" kern="1200" baseline="0" dirty="0">
                <a:solidFill>
                  <a:schemeClr val="tx1"/>
                </a:solidFill>
                <a:latin typeface="Times New Roman" pitchFamily="-110" charset="0"/>
                <a:ea typeface="+mn-ea"/>
                <a:cs typeface="+mn-cs"/>
              </a:rPr>
              <a:t>one of two stable states at any time. By interconnecting large numbers of these</a:t>
            </a:r>
          </a:p>
          <a:p>
            <a:r>
              <a:rPr kumimoji="1" lang="en-US" sz="1200" kern="1200" baseline="0" dirty="0">
                <a:solidFill>
                  <a:schemeClr val="tx1"/>
                </a:solidFill>
                <a:latin typeface="Times New Roman" pitchFamily="-110" charset="0"/>
                <a:ea typeface="+mn-ea"/>
                <a:cs typeface="+mn-cs"/>
              </a:rPr>
              <a:t>fundamental devices, we can construct a computer.</a:t>
            </a:r>
            <a:endParaRPr lang="en-GB"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32500" lnSpcReduction="20000"/>
          </a:bodyPr>
          <a:lstStyle/>
          <a:p>
            <a:r>
              <a:rPr kumimoji="1" lang="en-US" sz="1200" kern="1200" baseline="0" dirty="0">
                <a:solidFill>
                  <a:schemeClr val="tx1"/>
                </a:solidFill>
                <a:latin typeface="Times New Roman" pitchFamily="-110" charset="0"/>
                <a:ea typeface="+mn-ea"/>
                <a:cs typeface="+mn-cs"/>
              </a:rPr>
              <a:t>Exploits: </a:t>
            </a:r>
            <a:r>
              <a:rPr kumimoji="1" lang="en-US" sz="1200" kern="1200" baseline="0" dirty="0" err="1">
                <a:solidFill>
                  <a:schemeClr val="tx1"/>
                </a:solidFill>
                <a:latin typeface="Times New Roman" pitchFamily="-110" charset="0"/>
                <a:ea typeface="+mn-ea"/>
                <a:cs typeface="+mn-cs"/>
              </a:rPr>
              <a:t>khai</a:t>
            </a:r>
            <a:r>
              <a:rPr kumimoji="1" lang="en-US" sz="1200" kern="1200" baseline="0" dirty="0">
                <a:solidFill>
                  <a:schemeClr val="tx1"/>
                </a:solidFill>
                <a:latin typeface="Times New Roman" pitchFamily="-110" charset="0"/>
                <a:ea typeface="+mn-ea"/>
                <a:cs typeface="+mn-cs"/>
              </a:rPr>
              <a:t> </a:t>
            </a:r>
            <a:r>
              <a:rPr kumimoji="1" lang="en-US" sz="1200" kern="1200" baseline="0" dirty="0" err="1">
                <a:solidFill>
                  <a:schemeClr val="tx1"/>
                </a:solidFill>
                <a:latin typeface="Times New Roman" pitchFamily="-110" charset="0"/>
                <a:ea typeface="+mn-ea"/>
                <a:cs typeface="+mn-cs"/>
              </a:rPr>
              <a:t>thác</a:t>
            </a:r>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transistors, resistors, and conductors: </a:t>
            </a:r>
            <a:r>
              <a:rPr kumimoji="1" lang="en-US" sz="1200" kern="1200" baseline="0" dirty="0" err="1">
                <a:solidFill>
                  <a:schemeClr val="tx1"/>
                </a:solidFill>
                <a:latin typeface="Times New Roman" pitchFamily="-110" charset="0"/>
                <a:ea typeface="+mn-ea"/>
                <a:cs typeface="+mn-cs"/>
              </a:rPr>
              <a:t>bóng</a:t>
            </a:r>
            <a:r>
              <a:rPr kumimoji="1" lang="en-US" sz="1200" kern="1200" baseline="0" dirty="0">
                <a:solidFill>
                  <a:schemeClr val="tx1"/>
                </a:solidFill>
                <a:latin typeface="Times New Roman" pitchFamily="-110" charset="0"/>
                <a:ea typeface="+mn-ea"/>
                <a:cs typeface="+mn-cs"/>
              </a:rPr>
              <a:t> </a:t>
            </a:r>
            <a:r>
              <a:rPr kumimoji="1" lang="en-US" sz="1200" kern="1200" baseline="0" dirty="0" err="1">
                <a:solidFill>
                  <a:schemeClr val="tx1"/>
                </a:solidFill>
                <a:latin typeface="Times New Roman" pitchFamily="-110" charset="0"/>
                <a:ea typeface="+mn-ea"/>
                <a:cs typeface="+mn-cs"/>
              </a:rPr>
              <a:t>bán</a:t>
            </a:r>
            <a:r>
              <a:rPr kumimoji="1" lang="en-US" sz="1200" kern="1200" baseline="0" dirty="0">
                <a:solidFill>
                  <a:schemeClr val="tx1"/>
                </a:solidFill>
                <a:latin typeface="Times New Roman" pitchFamily="-110" charset="0"/>
                <a:ea typeface="+mn-ea"/>
                <a:cs typeface="+mn-cs"/>
              </a:rPr>
              <a:t> </a:t>
            </a:r>
            <a:r>
              <a:rPr kumimoji="1" lang="en-US" sz="1200" kern="1200" baseline="0" dirty="0" err="1">
                <a:solidFill>
                  <a:schemeClr val="tx1"/>
                </a:solidFill>
                <a:latin typeface="Times New Roman" pitchFamily="-110" charset="0"/>
                <a:ea typeface="+mn-ea"/>
                <a:cs typeface="+mn-cs"/>
              </a:rPr>
              <a:t>dẫn</a:t>
            </a:r>
            <a:r>
              <a:rPr kumimoji="1" lang="en-US" sz="1200" kern="1200" baseline="0" dirty="0">
                <a:solidFill>
                  <a:schemeClr val="tx1"/>
                </a:solidFill>
                <a:latin typeface="Times New Roman" pitchFamily="-110" charset="0"/>
                <a:ea typeface="+mn-ea"/>
                <a:cs typeface="+mn-cs"/>
              </a:rPr>
              <a:t>, </a:t>
            </a:r>
            <a:r>
              <a:rPr kumimoji="1" lang="en-US" sz="1200" kern="1200" baseline="0" dirty="0" err="1">
                <a:solidFill>
                  <a:schemeClr val="tx1"/>
                </a:solidFill>
                <a:latin typeface="Times New Roman" pitchFamily="-110" charset="0"/>
                <a:ea typeface="+mn-ea"/>
                <a:cs typeface="+mn-cs"/>
              </a:rPr>
              <a:t>điện</a:t>
            </a:r>
            <a:r>
              <a:rPr kumimoji="1" lang="en-US" sz="1200" kern="1200" baseline="0" dirty="0">
                <a:solidFill>
                  <a:schemeClr val="tx1"/>
                </a:solidFill>
                <a:latin typeface="Times New Roman" pitchFamily="-110" charset="0"/>
                <a:ea typeface="+mn-ea"/>
                <a:cs typeface="+mn-cs"/>
              </a:rPr>
              <a:t> </a:t>
            </a:r>
            <a:r>
              <a:rPr kumimoji="1" lang="en-US" sz="1200" kern="1200" baseline="0" dirty="0" err="1">
                <a:solidFill>
                  <a:schemeClr val="tx1"/>
                </a:solidFill>
                <a:latin typeface="Times New Roman" pitchFamily="-110" charset="0"/>
                <a:ea typeface="+mn-ea"/>
                <a:cs typeface="+mn-cs"/>
              </a:rPr>
              <a:t>trỡ</a:t>
            </a:r>
            <a:r>
              <a:rPr kumimoji="1" lang="en-US" sz="1200" kern="1200" baseline="0" dirty="0">
                <a:solidFill>
                  <a:schemeClr val="tx1"/>
                </a:solidFill>
                <a:latin typeface="Times New Roman" pitchFamily="-110" charset="0"/>
                <a:ea typeface="+mn-ea"/>
                <a:cs typeface="+mn-cs"/>
              </a:rPr>
              <a:t>, chat </a:t>
            </a:r>
            <a:r>
              <a:rPr kumimoji="1" lang="en-US" sz="1200" kern="1200" baseline="0" dirty="0" err="1">
                <a:solidFill>
                  <a:schemeClr val="tx1"/>
                </a:solidFill>
                <a:latin typeface="Times New Roman" pitchFamily="-110" charset="0"/>
                <a:ea typeface="+mn-ea"/>
                <a:cs typeface="+mn-cs"/>
              </a:rPr>
              <a:t>dẫn</a:t>
            </a:r>
            <a:r>
              <a:rPr kumimoji="1" lang="en-US" sz="1200" kern="1200" baseline="0" dirty="0">
                <a:solidFill>
                  <a:schemeClr val="tx1"/>
                </a:solidFill>
                <a:latin typeface="Times New Roman" pitchFamily="-110" charset="0"/>
                <a:ea typeface="+mn-ea"/>
                <a:cs typeface="+mn-cs"/>
              </a:rPr>
              <a:t> </a:t>
            </a:r>
            <a:r>
              <a:rPr kumimoji="1" lang="en-US" sz="1200" kern="1200" baseline="0" dirty="0" err="1">
                <a:solidFill>
                  <a:schemeClr val="tx1"/>
                </a:solidFill>
                <a:latin typeface="Times New Roman" pitchFamily="-110" charset="0"/>
                <a:ea typeface="+mn-ea"/>
                <a:cs typeface="+mn-cs"/>
              </a:rPr>
              <a:t>điện</a:t>
            </a:r>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Fabricated: </a:t>
            </a:r>
            <a:r>
              <a:rPr kumimoji="1" lang="en-US" sz="1200" kern="1200" baseline="0" dirty="0" err="1">
                <a:solidFill>
                  <a:schemeClr val="tx1"/>
                </a:solidFill>
                <a:latin typeface="Times New Roman" pitchFamily="-110" charset="0"/>
                <a:ea typeface="+mn-ea"/>
                <a:cs typeface="+mn-cs"/>
              </a:rPr>
              <a:t>giả</a:t>
            </a:r>
            <a:r>
              <a:rPr kumimoji="1" lang="en-US" sz="1200" kern="1200" baseline="0" dirty="0">
                <a:solidFill>
                  <a:schemeClr val="tx1"/>
                </a:solidFill>
                <a:latin typeface="Times New Roman" pitchFamily="-110" charset="0"/>
                <a:ea typeface="+mn-ea"/>
                <a:cs typeface="+mn-cs"/>
              </a:rPr>
              <a:t> </a:t>
            </a:r>
            <a:r>
              <a:rPr kumimoji="1" lang="en-US" sz="1200" kern="1200" baseline="0" dirty="0" err="1">
                <a:solidFill>
                  <a:schemeClr val="tx1"/>
                </a:solidFill>
                <a:latin typeface="Times New Roman" pitchFamily="-110" charset="0"/>
                <a:ea typeface="+mn-ea"/>
                <a:cs typeface="+mn-cs"/>
              </a:rPr>
              <a:t>mạo</a:t>
            </a:r>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Semiconductor: </a:t>
            </a:r>
            <a:r>
              <a:rPr kumimoji="1" lang="en-US" sz="1200" kern="1200" baseline="0" dirty="0" err="1">
                <a:solidFill>
                  <a:schemeClr val="tx1"/>
                </a:solidFill>
                <a:latin typeface="Times New Roman" pitchFamily="-110" charset="0"/>
                <a:ea typeface="+mn-ea"/>
                <a:cs typeface="+mn-cs"/>
              </a:rPr>
              <a:t>chất</a:t>
            </a:r>
            <a:r>
              <a:rPr kumimoji="1" lang="en-US" sz="1200" kern="1200" baseline="0" dirty="0">
                <a:solidFill>
                  <a:schemeClr val="tx1"/>
                </a:solidFill>
                <a:latin typeface="Times New Roman" pitchFamily="-110" charset="0"/>
                <a:ea typeface="+mn-ea"/>
                <a:cs typeface="+mn-cs"/>
              </a:rPr>
              <a:t> </a:t>
            </a:r>
            <a:r>
              <a:rPr kumimoji="1" lang="en-US" sz="1200" kern="1200" baseline="0" dirty="0" err="1">
                <a:solidFill>
                  <a:schemeClr val="tx1"/>
                </a:solidFill>
                <a:latin typeface="Times New Roman" pitchFamily="-110" charset="0"/>
                <a:ea typeface="+mn-ea"/>
                <a:cs typeface="+mn-cs"/>
              </a:rPr>
              <a:t>bán</a:t>
            </a:r>
            <a:r>
              <a:rPr kumimoji="1" lang="en-US" sz="1200" kern="1200" baseline="0" dirty="0">
                <a:solidFill>
                  <a:schemeClr val="tx1"/>
                </a:solidFill>
                <a:latin typeface="Times New Roman" pitchFamily="-110" charset="0"/>
                <a:ea typeface="+mn-ea"/>
                <a:cs typeface="+mn-cs"/>
              </a:rPr>
              <a:t> </a:t>
            </a:r>
            <a:r>
              <a:rPr kumimoji="1" lang="en-US" sz="1200" kern="1200" baseline="0" dirty="0" err="1">
                <a:solidFill>
                  <a:schemeClr val="tx1"/>
                </a:solidFill>
                <a:latin typeface="Times New Roman" pitchFamily="-110" charset="0"/>
                <a:ea typeface="+mn-ea"/>
                <a:cs typeface="+mn-cs"/>
              </a:rPr>
              <a:t>dẫn</a:t>
            </a:r>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Wafer : very thin</a:t>
            </a:r>
          </a:p>
          <a:p>
            <a:endParaRPr kumimoji="1" lang="en-US" sz="1200" kern="1200" baseline="0" dirty="0">
              <a:solidFill>
                <a:schemeClr val="tx1"/>
              </a:solidFill>
              <a:latin typeface="Times New Roman" pitchFamily="-110" charset="0"/>
              <a:ea typeface="+mn-ea"/>
              <a:cs typeface="+mn-cs"/>
            </a:endParaRPr>
          </a:p>
          <a:p>
            <a:endParaRPr kumimoji="1" lang="en-US" sz="1200" kern="1200" baseline="0" dirty="0">
              <a:solidFill>
                <a:schemeClr val="tx1"/>
              </a:solidFill>
              <a:latin typeface="Times New Roman" pitchFamily="-110" charset="0"/>
              <a:ea typeface="+mn-ea"/>
              <a:cs typeface="+mn-cs"/>
            </a:endParaRPr>
          </a:p>
          <a:p>
            <a:r>
              <a:rPr kumimoji="1" lang="vi-VN" sz="1200" kern="1200" baseline="0" dirty="0">
                <a:solidFill>
                  <a:schemeClr val="tx1"/>
                </a:solidFill>
                <a:latin typeface="Times New Roman" pitchFamily="-110" charset="0"/>
                <a:ea typeface="+mn-ea"/>
                <a:cs typeface="+mn-cs"/>
              </a:rPr>
              <a:t>Chúng ta có thể liên hệ điều này với bốn</a:t>
            </a:r>
            <a:r>
              <a:rPr kumimoji="1" lang="en-US" sz="1200" kern="1200" baseline="0" dirty="0">
                <a:solidFill>
                  <a:schemeClr val="tx1"/>
                </a:solidFill>
                <a:latin typeface="Times New Roman" pitchFamily="-110" charset="0"/>
                <a:ea typeface="+mn-ea"/>
                <a:cs typeface="+mn-cs"/>
              </a:rPr>
              <a:t> </a:t>
            </a:r>
            <a:r>
              <a:rPr kumimoji="1" lang="vi-VN" sz="1200" kern="1200" baseline="0" dirty="0">
                <a:solidFill>
                  <a:schemeClr val="tx1"/>
                </a:solidFill>
                <a:latin typeface="Times New Roman" pitchFamily="-110" charset="0"/>
                <a:ea typeface="+mn-ea"/>
                <a:cs typeface="+mn-cs"/>
              </a:rPr>
              <a:t>các chức năng cơ bản như sau:</a:t>
            </a:r>
          </a:p>
          <a:p>
            <a:r>
              <a:rPr kumimoji="1" lang="vi-VN" sz="1200" kern="1200" baseline="0" dirty="0">
                <a:solidFill>
                  <a:schemeClr val="tx1"/>
                </a:solidFill>
                <a:latin typeface="Times New Roman" pitchFamily="-110" charset="0"/>
                <a:ea typeface="+mn-ea"/>
                <a:cs typeface="+mn-cs"/>
              </a:rPr>
              <a:t>• Lưu trữ dữ liệu: Được cung cấp bởi các ô nhớ.</a:t>
            </a:r>
            <a:r>
              <a:rPr kumimoji="1" lang="en-US" sz="1200" kern="1200" baseline="0" dirty="0">
                <a:solidFill>
                  <a:schemeClr val="tx1"/>
                </a:solidFill>
                <a:latin typeface="Times New Roman" pitchFamily="-110" charset="0"/>
                <a:ea typeface="+mn-ea"/>
                <a:cs typeface="+mn-cs"/>
              </a:rPr>
              <a:t> </a:t>
            </a:r>
            <a:r>
              <a:rPr kumimoji="1" lang="vi-VN" sz="1200" kern="1200" baseline="0" dirty="0">
                <a:solidFill>
                  <a:schemeClr val="tx1"/>
                </a:solidFill>
                <a:latin typeface="Times New Roman" pitchFamily="-110" charset="0"/>
                <a:ea typeface="+mn-ea"/>
                <a:cs typeface="+mn-cs"/>
              </a:rPr>
              <a:t>• Xử lý dữ liệu: Được cung cấp bởi các cổng.</a:t>
            </a:r>
            <a:r>
              <a:rPr kumimoji="1" lang="en-US" sz="1200" kern="1200" baseline="0" dirty="0">
                <a:solidFill>
                  <a:schemeClr val="tx1"/>
                </a:solidFill>
                <a:latin typeface="Times New Roman" pitchFamily="-110" charset="0"/>
                <a:ea typeface="+mn-ea"/>
                <a:cs typeface="+mn-cs"/>
              </a:rPr>
              <a:t> </a:t>
            </a:r>
            <a:r>
              <a:rPr kumimoji="1" lang="vi-VN" sz="1200" kern="1200" baseline="0" dirty="0">
                <a:solidFill>
                  <a:schemeClr val="tx1"/>
                </a:solidFill>
                <a:latin typeface="Times New Roman" pitchFamily="-110" charset="0"/>
                <a:ea typeface="+mn-ea"/>
                <a:cs typeface="+mn-cs"/>
              </a:rPr>
              <a:t>• Di chuyển dữ liệu: Đường dẫn giữa các thành phần được sử dụng để di chuyển dữ liệu từ</a:t>
            </a:r>
            <a:r>
              <a:rPr kumimoji="1" lang="en-US" sz="1200" kern="1200" baseline="0" dirty="0">
                <a:solidFill>
                  <a:schemeClr val="tx1"/>
                </a:solidFill>
                <a:latin typeface="Times New Roman" pitchFamily="-110" charset="0"/>
                <a:ea typeface="+mn-ea"/>
                <a:cs typeface="+mn-cs"/>
              </a:rPr>
              <a:t> </a:t>
            </a:r>
            <a:r>
              <a:rPr kumimoji="1" lang="vi-VN" sz="1200" kern="1200" baseline="0" dirty="0">
                <a:solidFill>
                  <a:schemeClr val="tx1"/>
                </a:solidFill>
                <a:latin typeface="Times New Roman" pitchFamily="-110" charset="0"/>
                <a:ea typeface="+mn-ea"/>
                <a:cs typeface="+mn-cs"/>
              </a:rPr>
              <a:t>bộ nhớ đến bộ nhớ và từ bộ nhớ thông qua cổng vào bộ nhớ.</a:t>
            </a:r>
            <a:r>
              <a:rPr kumimoji="1" lang="en-US" sz="1200" kern="1200" baseline="0" dirty="0">
                <a:solidFill>
                  <a:schemeClr val="tx1"/>
                </a:solidFill>
                <a:latin typeface="Times New Roman" pitchFamily="-110" charset="0"/>
                <a:ea typeface="+mn-ea"/>
                <a:cs typeface="+mn-cs"/>
              </a:rPr>
              <a:t> </a:t>
            </a:r>
            <a:r>
              <a:rPr kumimoji="1" lang="vi-VN" sz="1200" kern="1200" baseline="0" dirty="0">
                <a:solidFill>
                  <a:schemeClr val="tx1"/>
                </a:solidFill>
                <a:latin typeface="Times New Roman" pitchFamily="-110" charset="0"/>
                <a:ea typeface="+mn-ea"/>
                <a:cs typeface="+mn-cs"/>
              </a:rPr>
              <a:t>• Điều khiển: Các đường dẫn giữa các thành phần có thể mang tín hiệu điều khiển.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effectLst/>
                <a:latin typeface="Segoe UI Web (Vietnamese)"/>
              </a:rPr>
              <a:t>- </a:t>
            </a:r>
            <a:r>
              <a:rPr lang="vi-VN" dirty="0">
                <a:effectLst/>
                <a:latin typeface="Segoe UI Web (Vietnamese)"/>
              </a:rPr>
              <a:t>Một máy tính bao gồm các cổng, tế bào bộ nhớ và kết nối giữa các yếu tố này. </a:t>
            </a:r>
            <a:endParaRPr lang="en-US" dirty="0">
              <a:effectLst/>
              <a:latin typeface="Segoe UI Web (Vietnamese)"/>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effectLst/>
                <a:latin typeface="Segoe UI Web (Vietnamese)"/>
              </a:rPr>
              <a:t>-</a:t>
            </a:r>
            <a:r>
              <a:rPr lang="vi-VN" dirty="0">
                <a:effectLst/>
                <a:latin typeface="Segoe UI Web (Vietnamese)"/>
              </a:rPr>
              <a:t>Các cổng và tế bào bộ nhớ được xây dựng bằng các thành phần điện tử kỹ thuật số đơn giản</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effectLst/>
                <a:latin typeface="Segoe UI Web (Vietnamese)"/>
              </a:rPr>
              <a:t>-</a:t>
            </a:r>
            <a:r>
              <a:rPr lang="vi-VN" dirty="0">
                <a:effectLst/>
                <a:latin typeface="Segoe UI Web (Vietnamese)"/>
              </a:rPr>
              <a:t>Khai thác thực tế là các thành phần như bóng bán dẫn, điện trở và dây dẫn có thể được chế tạo từ chất bán dẫn như silicon </a:t>
            </a:r>
            <a:endParaRPr lang="en-US" dirty="0">
              <a:effectLst/>
              <a:latin typeface="Segoe UI Web (Vietnamese)"/>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effectLst/>
                <a:latin typeface="Segoe UI Web (Vietnamese)"/>
              </a:rPr>
              <a:t>-</a:t>
            </a:r>
            <a:r>
              <a:rPr lang="vi-VN" dirty="0">
                <a:effectLst/>
                <a:latin typeface="Segoe UI Web (Vietnamese)"/>
              </a:rPr>
              <a:t>Nhiều bóng bán dẫn có thể được sản xuất cùng một lúc trên một tấm silicon (mảnh mỏng) duy nhất </a:t>
            </a:r>
            <a:endParaRPr lang="en-US" dirty="0">
              <a:effectLst/>
              <a:latin typeface="Segoe UI Web (Vietnamese)"/>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effectLst/>
                <a:latin typeface="Segoe UI Web (Vietnamese)"/>
              </a:rPr>
              <a:t>-</a:t>
            </a:r>
            <a:r>
              <a:rPr lang="vi-VN" dirty="0">
                <a:effectLst/>
                <a:latin typeface="Segoe UI Web (Vietnamese)"/>
              </a:rPr>
              <a:t>Bóng bán dẫn có thể được kết nối với bộ xử lý kim loại (bao gồm bằng kim loại) để tạo thành mạch</a:t>
            </a:r>
          </a:p>
          <a:p>
            <a:endParaRPr kumimoji="1" lang="vi-VN" sz="1200" kern="1200" baseline="0" dirty="0">
              <a:solidFill>
                <a:schemeClr val="tx1"/>
              </a:solidFill>
              <a:latin typeface="Times New Roman" pitchFamily="-110" charset="0"/>
              <a:ea typeface="+mn-ea"/>
              <a:cs typeface="+mn-cs"/>
            </a:endParaRPr>
          </a:p>
        </p:txBody>
      </p:sp>
      <p:sp>
        <p:nvSpPr>
          <p:cNvPr id="4" name="Slide Number Placeholder 3"/>
          <p:cNvSpPr>
            <a:spLocks noGrp="1"/>
          </p:cNvSpPr>
          <p:nvPr>
            <p:ph type="sldNum" sz="quarter" idx="10"/>
          </p:nvPr>
        </p:nvSpPr>
        <p:spPr/>
        <p:txBody>
          <a:bodyPr/>
          <a:lstStyle/>
          <a:p>
            <a:fld id="{FDEEBCE0-4A34-3647-9307-E59F6D6CD745}" type="slidenum">
              <a:rPr lang="en-US" smtClean="0"/>
              <a:pPr/>
              <a:t>29</a:t>
            </a:fld>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vi-VN" sz="1200" kern="1200" baseline="0">
                <a:solidFill>
                  <a:schemeClr val="tx1"/>
                </a:solidFill>
                <a:latin typeface="Times New Roman" pitchFamily="-110" charset="0"/>
                <a:ea typeface="+mn-ea"/>
                <a:cs typeface="+mn-cs"/>
              </a:rPr>
              <a:t>Hình 2.7 mô tả các khái niệm chính trong một mạch tích hợp. Một miếng mỏng</a:t>
            </a:r>
          </a:p>
          <a:p>
            <a:r>
              <a:rPr kumimoji="1" lang="vi-VN" sz="1200" kern="1200" baseline="0">
                <a:solidFill>
                  <a:schemeClr val="tx1"/>
                </a:solidFill>
                <a:latin typeface="Times New Roman" pitchFamily="-110" charset="0"/>
                <a:ea typeface="+mn-ea"/>
                <a:cs typeface="+mn-cs"/>
              </a:rPr>
              <a:t>silicon được chia thành một ma trận gồm các khu vực nhỏ, mỗi diện tích vài mm vuông. Các</a:t>
            </a:r>
          </a:p>
          <a:p>
            <a:r>
              <a:rPr kumimoji="1" lang="vi-VN" sz="1200" kern="1200" baseline="0">
                <a:solidFill>
                  <a:schemeClr val="tx1"/>
                </a:solidFill>
                <a:latin typeface="Times New Roman" pitchFamily="-110" charset="0"/>
                <a:ea typeface="+mn-ea"/>
                <a:cs typeface="+mn-cs"/>
              </a:rPr>
              <a:t>mô hình mạch giống hệt nhau được chế tạo ở mỗi khu vực, và wafer được chia thành</a:t>
            </a:r>
          </a:p>
          <a:p>
            <a:r>
              <a:rPr kumimoji="1" lang="vi-VN" sz="1200" kern="1200" baseline="0">
                <a:solidFill>
                  <a:schemeClr val="tx1"/>
                </a:solidFill>
                <a:latin typeface="Times New Roman" pitchFamily="-110" charset="0"/>
                <a:ea typeface="+mn-ea"/>
                <a:cs typeface="+mn-cs"/>
              </a:rPr>
              <a:t>khoai tây chiên. Mỗi chip bao gồm nhiều cổng và / hoặc ô nhớ cộng với một số đầu vào</a:t>
            </a:r>
          </a:p>
          <a:p>
            <a:r>
              <a:rPr kumimoji="1" lang="vi-VN" sz="1200" kern="1200" baseline="0">
                <a:solidFill>
                  <a:schemeClr val="tx1"/>
                </a:solidFill>
                <a:latin typeface="Times New Roman" pitchFamily="-110" charset="0"/>
                <a:ea typeface="+mn-ea"/>
                <a:cs typeface="+mn-cs"/>
              </a:rPr>
              <a:t>và các điểm đính kèm đầu ra. Con chip này sau đó được đóng gói trong vỏ bảo vệ</a:t>
            </a:r>
          </a:p>
          <a:p>
            <a:r>
              <a:rPr kumimoji="1" lang="vi-VN" sz="1200" kern="1200" baseline="0">
                <a:solidFill>
                  <a:schemeClr val="tx1"/>
                </a:solidFill>
                <a:latin typeface="Times New Roman" pitchFamily="-110" charset="0"/>
                <a:ea typeface="+mn-ea"/>
                <a:cs typeface="+mn-cs"/>
              </a:rPr>
              <a:t>nó và cung cấp chân để gắn vào các thiết bị ngoài chip. Một số trong số này</a:t>
            </a:r>
          </a:p>
          <a:p>
            <a:r>
              <a:rPr kumimoji="1" lang="vi-VN" sz="1200" kern="1200" baseline="0">
                <a:solidFill>
                  <a:schemeClr val="tx1"/>
                </a:solidFill>
                <a:latin typeface="Times New Roman" pitchFamily="-110" charset="0"/>
                <a:ea typeface="+mn-ea"/>
                <a:cs typeface="+mn-cs"/>
              </a:rPr>
              <a:t>các gói sau đó có thể được kết nối với nhau trên bảng mạch in để sản xuất lớn hơn</a:t>
            </a:r>
          </a:p>
          <a:p>
            <a:r>
              <a:rPr kumimoji="1" lang="vi-VN" sz="1200" kern="1200" baseline="0">
                <a:solidFill>
                  <a:schemeClr val="tx1"/>
                </a:solidFill>
                <a:latin typeface="Times New Roman" pitchFamily="-110" charset="0"/>
                <a:ea typeface="+mn-ea"/>
                <a:cs typeface="+mn-cs"/>
              </a:rPr>
              <a:t>và các mạch phức tạp hơn.</a:t>
            </a:r>
            <a:endParaRPr kumimoji="1" lang="en-US" sz="1200" kern="1200" baseline="0">
              <a:solidFill>
                <a:schemeClr val="tx1"/>
              </a:solidFill>
              <a:latin typeface="Times New Roman" pitchFamily="-110" charset="0"/>
              <a:ea typeface="+mn-ea"/>
              <a:cs typeface="+mn-cs"/>
            </a:endParaRPr>
          </a:p>
          <a:p>
            <a:r>
              <a:rPr kumimoji="1" lang="en-US" sz="1200" kern="1200" baseline="0">
                <a:solidFill>
                  <a:schemeClr val="tx1"/>
                </a:solidFill>
                <a:latin typeface="Times New Roman" pitchFamily="-110" charset="0"/>
                <a:ea typeface="+mn-ea"/>
                <a:cs typeface="+mn-cs"/>
              </a:rPr>
              <a:t>Figure </a:t>
            </a:r>
            <a:r>
              <a:rPr kumimoji="1" lang="en-US" sz="1200" kern="1200" baseline="0" dirty="0">
                <a:solidFill>
                  <a:schemeClr val="tx1"/>
                </a:solidFill>
                <a:latin typeface="Times New Roman" pitchFamily="-110" charset="0"/>
                <a:ea typeface="+mn-ea"/>
                <a:cs typeface="+mn-cs"/>
              </a:rPr>
              <a:t>2.7 depicts the key concepts in an integrated circuit. A thin </a:t>
            </a:r>
            <a:r>
              <a:rPr kumimoji="1" lang="en-US" sz="1200" b="1" kern="1200" baseline="0" dirty="0">
                <a:solidFill>
                  <a:schemeClr val="tx1"/>
                </a:solidFill>
                <a:latin typeface="Times New Roman" pitchFamily="-110" charset="0"/>
                <a:ea typeface="+mn-ea"/>
                <a:cs typeface="+mn-cs"/>
              </a:rPr>
              <a:t>wafer </a:t>
            </a:r>
            <a:r>
              <a:rPr kumimoji="1" lang="en-US" sz="1200" b="0" kern="1200" baseline="0" dirty="0">
                <a:solidFill>
                  <a:schemeClr val="tx1"/>
                </a:solidFill>
                <a:latin typeface="Times New Roman" pitchFamily="-110" charset="0"/>
                <a:ea typeface="+mn-ea"/>
                <a:cs typeface="+mn-cs"/>
              </a:rPr>
              <a:t>of</a:t>
            </a:r>
          </a:p>
          <a:p>
            <a:endParaRPr kumimoji="1" lang="en-US" sz="1200" kern="1200" baseline="0">
              <a:solidFill>
                <a:schemeClr val="tx1"/>
              </a:solidFill>
              <a:latin typeface="Times New Roman" pitchFamily="-110" charset="0"/>
              <a:ea typeface="+mn-ea"/>
              <a:cs typeface="+mn-cs"/>
            </a:endParaRPr>
          </a:p>
          <a:p>
            <a:r>
              <a:rPr kumimoji="1" lang="en-US" sz="1200" kern="1200" baseline="0">
                <a:solidFill>
                  <a:schemeClr val="tx1"/>
                </a:solidFill>
                <a:latin typeface="Times New Roman" pitchFamily="-110" charset="0"/>
                <a:ea typeface="+mn-ea"/>
                <a:cs typeface="+mn-cs"/>
              </a:rPr>
              <a:t>silicon </a:t>
            </a:r>
            <a:r>
              <a:rPr kumimoji="1" lang="en-US" sz="1200" kern="1200" baseline="0" dirty="0">
                <a:solidFill>
                  <a:schemeClr val="tx1"/>
                </a:solidFill>
                <a:latin typeface="Times New Roman" pitchFamily="-110" charset="0"/>
                <a:ea typeface="+mn-ea"/>
                <a:cs typeface="+mn-cs"/>
              </a:rPr>
              <a:t>is divided into a matrix of small areas, each a few millimeters square. The</a:t>
            </a:r>
          </a:p>
          <a:p>
            <a:r>
              <a:rPr kumimoji="1" lang="en-US" sz="1200" kern="1200" baseline="0" dirty="0">
                <a:solidFill>
                  <a:schemeClr val="tx1"/>
                </a:solidFill>
                <a:latin typeface="Times New Roman" pitchFamily="-110" charset="0"/>
                <a:ea typeface="+mn-ea"/>
                <a:cs typeface="+mn-cs"/>
              </a:rPr>
              <a:t>identical circuit pattern is fabricated in each area, and the wafer is broken up into</a:t>
            </a:r>
          </a:p>
          <a:p>
            <a:r>
              <a:rPr kumimoji="1" lang="en-US" sz="1200" b="1" kern="1200" baseline="0" dirty="0">
                <a:solidFill>
                  <a:schemeClr val="tx1"/>
                </a:solidFill>
                <a:latin typeface="Times New Roman" pitchFamily="-110" charset="0"/>
                <a:ea typeface="+mn-ea"/>
                <a:cs typeface="+mn-cs"/>
              </a:rPr>
              <a:t>chips. </a:t>
            </a:r>
            <a:r>
              <a:rPr kumimoji="1" lang="en-US" sz="1200" b="0" kern="1200" baseline="0" dirty="0">
                <a:solidFill>
                  <a:schemeClr val="tx1"/>
                </a:solidFill>
                <a:latin typeface="Times New Roman" pitchFamily="-110" charset="0"/>
                <a:ea typeface="+mn-ea"/>
                <a:cs typeface="+mn-cs"/>
              </a:rPr>
              <a:t>Each chip consists of many gates and/or memory cells plus a number of input</a:t>
            </a:r>
          </a:p>
          <a:p>
            <a:r>
              <a:rPr kumimoji="1" lang="en-US" sz="1200" kern="1200" baseline="0" dirty="0">
                <a:solidFill>
                  <a:schemeClr val="tx1"/>
                </a:solidFill>
                <a:latin typeface="Times New Roman" pitchFamily="-110" charset="0"/>
                <a:ea typeface="+mn-ea"/>
                <a:cs typeface="+mn-cs"/>
              </a:rPr>
              <a:t>and output attachment points. This chip is then packaged in housing that protects</a:t>
            </a:r>
          </a:p>
          <a:p>
            <a:r>
              <a:rPr kumimoji="1" lang="en-US" sz="1200" kern="1200" baseline="0" dirty="0">
                <a:solidFill>
                  <a:schemeClr val="tx1"/>
                </a:solidFill>
                <a:latin typeface="Times New Roman" pitchFamily="-110" charset="0"/>
                <a:ea typeface="+mn-ea"/>
                <a:cs typeface="+mn-cs"/>
              </a:rPr>
              <a:t>it and provides pins for attachment to devices beyond the chip. A number of these</a:t>
            </a:r>
          </a:p>
          <a:p>
            <a:r>
              <a:rPr kumimoji="1" lang="en-US" sz="1200" kern="1200" baseline="0" dirty="0">
                <a:solidFill>
                  <a:schemeClr val="tx1"/>
                </a:solidFill>
                <a:latin typeface="Times New Roman" pitchFamily="-110" charset="0"/>
                <a:ea typeface="+mn-ea"/>
                <a:cs typeface="+mn-cs"/>
              </a:rPr>
              <a:t>packages can then be interconnected on a printed circuit board to produce larger</a:t>
            </a:r>
          </a:p>
          <a:p>
            <a:r>
              <a:rPr kumimoji="1" lang="en-US" sz="1200" kern="1200" baseline="0" dirty="0">
                <a:solidFill>
                  <a:schemeClr val="tx1"/>
                </a:solidFill>
                <a:latin typeface="Times New Roman" pitchFamily="-110" charset="0"/>
                <a:ea typeface="+mn-ea"/>
                <a:cs typeface="+mn-cs"/>
              </a:rPr>
              <a:t>and more complex circuits.</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30</a:t>
            </a:fld>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vi-VN" sz="1200" kern="1200" baseline="0">
                <a:solidFill>
                  <a:schemeClr val="tx1"/>
                </a:solidFill>
                <a:latin typeface="Times New Roman" pitchFamily="-110" charset="0"/>
                <a:ea typeface="+mn-ea"/>
                <a:cs typeface="+mn-cs"/>
              </a:rPr>
              <a:t>Ban hành: phá »• biáº¿n, cÃngng bá» ‘Ban đầu, chỉ có một vài cổng hoặc ô nhớ có thể được sản xuất một cách đáng tin cậy</a:t>
            </a:r>
          </a:p>
          <a:p>
            <a:r>
              <a:rPr kumimoji="1" lang="vi-VN" sz="1200" kern="1200" baseline="0">
                <a:solidFill>
                  <a:schemeClr val="tx1"/>
                </a:solidFill>
                <a:latin typeface="Times New Roman" pitchFamily="-110" charset="0"/>
                <a:ea typeface="+mn-ea"/>
                <a:cs typeface="+mn-cs"/>
              </a:rPr>
              <a:t>và đóng gói cùng nhau. Những mạch tích hợp sớm này được gọi là quy mô nhỏ</a:t>
            </a:r>
          </a:p>
          <a:p>
            <a:r>
              <a:rPr kumimoji="1" lang="vi-VN" sz="1200" kern="1200" baseline="0">
                <a:solidFill>
                  <a:schemeClr val="tx1"/>
                </a:solidFill>
                <a:latin typeface="Times New Roman" pitchFamily="-110" charset="0"/>
                <a:ea typeface="+mn-ea"/>
                <a:cs typeface="+mn-cs"/>
              </a:rPr>
              <a:t>Tích hợp (SSI). Thời gian trôi qua, nó trở nên có thể đóng gói ngày càng nhiều</a:t>
            </a:r>
          </a:p>
          <a:p>
            <a:r>
              <a:rPr kumimoji="1" lang="vi-VN" sz="1200" kern="1200" baseline="0">
                <a:solidFill>
                  <a:schemeClr val="tx1"/>
                </a:solidFill>
                <a:latin typeface="Times New Roman" pitchFamily="-110" charset="0"/>
                <a:ea typeface="+mn-ea"/>
                <a:cs typeface="+mn-cs"/>
              </a:rPr>
              <a:t>Các thành phần trên cùng một chip. Sự tăng trưởng về mật độ này được minh họa trong Hình 2.8; nó là</a:t>
            </a:r>
          </a:p>
          <a:p>
            <a:r>
              <a:rPr kumimoji="1" lang="vi-VN" sz="1200" kern="1200" baseline="0">
                <a:solidFill>
                  <a:schemeClr val="tx1"/>
                </a:solidFill>
                <a:latin typeface="Times New Roman" pitchFamily="-110" charset="0"/>
                <a:ea typeface="+mn-ea"/>
                <a:cs typeface="+mn-cs"/>
              </a:rPr>
              <a:t>một trong những xu hướng công nghệ đáng chú ý nhất từng được ghi nhận.</a:t>
            </a:r>
            <a:endParaRPr kumimoji="1" lang="en-US" sz="1200" kern="1200" baseline="0">
              <a:solidFill>
                <a:schemeClr val="tx1"/>
              </a:solidFill>
              <a:latin typeface="Times New Roman" pitchFamily="-110" charset="0"/>
              <a:ea typeface="+mn-ea"/>
              <a:cs typeface="+mn-cs"/>
            </a:endParaRPr>
          </a:p>
          <a:p>
            <a:r>
              <a:rPr kumimoji="1" lang="en-US" sz="1200" kern="1200" baseline="0">
                <a:solidFill>
                  <a:schemeClr val="tx1"/>
                </a:solidFill>
                <a:latin typeface="Times New Roman" pitchFamily="-110" charset="0"/>
                <a:ea typeface="+mn-ea"/>
                <a:cs typeface="+mn-cs"/>
              </a:rPr>
              <a:t>Promulgate</a:t>
            </a:r>
            <a:r>
              <a:rPr kumimoji="1" lang="en-US" sz="1200" kern="1200" baseline="0" dirty="0">
                <a:solidFill>
                  <a:schemeClr val="tx1"/>
                </a:solidFill>
                <a:latin typeface="Times New Roman" pitchFamily="-110" charset="0"/>
                <a:ea typeface="+mn-ea"/>
                <a:cs typeface="+mn-cs"/>
              </a:rPr>
              <a:t>: phổ biến, công bố</a:t>
            </a:r>
            <a:br>
              <a:rPr kumimoji="1" lang="en-US" sz="1200" kern="1200" baseline="0" dirty="0">
                <a:solidFill>
                  <a:schemeClr val="tx1"/>
                </a:solidFill>
                <a:latin typeface="Times New Roman" pitchFamily="-110" charset="0"/>
                <a:ea typeface="+mn-ea"/>
                <a:cs typeface="+mn-cs"/>
              </a:rPr>
            </a:br>
            <a:r>
              <a:rPr kumimoji="1" lang="en-US" sz="1200" kern="1200" baseline="0" dirty="0">
                <a:solidFill>
                  <a:schemeClr val="tx1"/>
                </a:solidFill>
                <a:latin typeface="Times New Roman" pitchFamily="-110" charset="0"/>
                <a:ea typeface="+mn-ea"/>
                <a:cs typeface="+mn-cs"/>
              </a:rPr>
              <a:t>Initially, only a few gates or memory cells could be reliably manufactured</a:t>
            </a:r>
          </a:p>
          <a:p>
            <a:r>
              <a:rPr kumimoji="1" lang="en-US" sz="1200" kern="1200" baseline="0" dirty="0">
                <a:solidFill>
                  <a:schemeClr val="tx1"/>
                </a:solidFill>
                <a:latin typeface="Times New Roman" pitchFamily="-110" charset="0"/>
                <a:ea typeface="+mn-ea"/>
                <a:cs typeface="+mn-cs"/>
              </a:rPr>
              <a:t>and packaged together. These early integrated circuits are referred to as </a:t>
            </a:r>
            <a:r>
              <a:rPr kumimoji="1" lang="en-US" sz="1200" i="1" kern="1200" baseline="0" dirty="0">
                <a:solidFill>
                  <a:schemeClr val="tx1"/>
                </a:solidFill>
                <a:latin typeface="Times New Roman" pitchFamily="-110" charset="0"/>
                <a:ea typeface="+mn-ea"/>
                <a:cs typeface="+mn-cs"/>
              </a:rPr>
              <a:t>small scale</a:t>
            </a:r>
          </a:p>
          <a:p>
            <a:r>
              <a:rPr kumimoji="1" lang="en-US" sz="1200" i="1" kern="1200" baseline="0" dirty="0">
                <a:solidFill>
                  <a:schemeClr val="tx1"/>
                </a:solidFill>
                <a:latin typeface="Times New Roman" pitchFamily="-110" charset="0"/>
                <a:ea typeface="+mn-ea"/>
                <a:cs typeface="+mn-cs"/>
              </a:rPr>
              <a:t>Integration </a:t>
            </a:r>
            <a:r>
              <a:rPr kumimoji="1" lang="en-US" sz="1200" kern="1200" baseline="0" dirty="0">
                <a:solidFill>
                  <a:schemeClr val="tx1"/>
                </a:solidFill>
                <a:latin typeface="Times New Roman" pitchFamily="-110" charset="0"/>
                <a:ea typeface="+mn-ea"/>
                <a:cs typeface="+mn-cs"/>
              </a:rPr>
              <a:t>(SSI). As time went on, it became possible to pack more and more</a:t>
            </a:r>
          </a:p>
          <a:p>
            <a:r>
              <a:rPr kumimoji="1" lang="en-US" sz="1200" kern="1200" baseline="0" dirty="0">
                <a:solidFill>
                  <a:schemeClr val="tx1"/>
                </a:solidFill>
                <a:latin typeface="Times New Roman" pitchFamily="-110" charset="0"/>
                <a:ea typeface="+mn-ea"/>
                <a:cs typeface="+mn-cs"/>
              </a:rPr>
              <a:t>Components on the same chip. This growth in density is illustrated in Figure 2.8; it is</a:t>
            </a:r>
          </a:p>
          <a:p>
            <a:r>
              <a:rPr kumimoji="1" lang="en-US" sz="1200" kern="1200" baseline="0" dirty="0">
                <a:solidFill>
                  <a:schemeClr val="tx1"/>
                </a:solidFill>
                <a:latin typeface="Times New Roman" pitchFamily="-110" charset="0"/>
                <a:ea typeface="+mn-ea"/>
                <a:cs typeface="+mn-cs"/>
              </a:rPr>
              <a:t>one of the most remarkable technological trends ever recorded. </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31</a:t>
            </a:fld>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C560E96-BBD6-D646-9A0C-7A699AC6A9BD}" type="slidenum">
              <a:rPr lang="en-US"/>
              <a:pPr/>
              <a:t>32</a:t>
            </a:fld>
            <a:endParaRPr lang="en-US" dirty="0"/>
          </a:p>
        </p:txBody>
      </p:sp>
      <p:sp>
        <p:nvSpPr>
          <p:cNvPr id="73730" name="Rectangle 2"/>
          <p:cNvSpPr>
            <a:spLocks noGrp="1" noRot="1" noChangeAspect="1" noChangeArrowheads="1" noTextEdit="1"/>
          </p:cNvSpPr>
          <p:nvPr>
            <p:ph type="sldImg"/>
          </p:nvPr>
        </p:nvSpPr>
        <p:spPr>
          <a:ln/>
        </p:spPr>
      </p:sp>
      <p:sp>
        <p:nvSpPr>
          <p:cNvPr id="73731"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110" charset="0"/>
                <a:ea typeface="+mn-ea"/>
                <a:cs typeface="+mn-cs"/>
              </a:rPr>
              <a:t>Pace: </a:t>
            </a:r>
            <a:r>
              <a:rPr kumimoji="1" lang="en-US" sz="1200" kern="1200" baseline="0" dirty="0" err="1">
                <a:solidFill>
                  <a:schemeClr val="tx1"/>
                </a:solidFill>
                <a:latin typeface="Times New Roman" pitchFamily="-110" charset="0"/>
                <a:ea typeface="+mn-ea"/>
                <a:cs typeface="+mn-cs"/>
              </a:rPr>
              <a:t>nhịp</a:t>
            </a:r>
            <a:r>
              <a:rPr kumimoji="1" lang="en-US" sz="1200" kern="1200" baseline="0" dirty="0">
                <a:solidFill>
                  <a:schemeClr val="tx1"/>
                </a:solidFill>
                <a:latin typeface="Times New Roman" pitchFamily="-110" charset="0"/>
                <a:ea typeface="+mn-ea"/>
                <a:cs typeface="+mn-cs"/>
              </a:rPr>
              <a:t> </a:t>
            </a:r>
            <a:r>
              <a:rPr kumimoji="1" lang="en-US" sz="1200" kern="1200" baseline="0" dirty="0" err="1">
                <a:solidFill>
                  <a:schemeClr val="tx1"/>
                </a:solidFill>
                <a:latin typeface="Times New Roman" pitchFamily="-110" charset="0"/>
                <a:ea typeface="+mn-ea"/>
                <a:cs typeface="+mn-cs"/>
              </a:rPr>
              <a:t>độ</a:t>
            </a:r>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Slowed: </a:t>
            </a:r>
            <a:r>
              <a:rPr kumimoji="1" lang="en-US" sz="1200" kern="1200" baseline="0" dirty="0" err="1">
                <a:solidFill>
                  <a:schemeClr val="tx1"/>
                </a:solidFill>
                <a:latin typeface="Times New Roman" pitchFamily="-110" charset="0"/>
                <a:ea typeface="+mn-ea"/>
                <a:cs typeface="+mn-cs"/>
              </a:rPr>
              <a:t>chậm</a:t>
            </a:r>
            <a:r>
              <a:rPr kumimoji="1" lang="en-US" sz="1200" kern="1200" baseline="0" dirty="0">
                <a:solidFill>
                  <a:schemeClr val="tx1"/>
                </a:solidFill>
                <a:latin typeface="Times New Roman" pitchFamily="-110" charset="0"/>
                <a:ea typeface="+mn-ea"/>
                <a:cs typeface="+mn-cs"/>
              </a:rPr>
              <a:t> </a:t>
            </a:r>
            <a:r>
              <a:rPr kumimoji="1" lang="en-US" sz="1200" kern="1200" baseline="0" dirty="0" err="1">
                <a:solidFill>
                  <a:schemeClr val="tx1"/>
                </a:solidFill>
                <a:latin typeface="Times New Roman" pitchFamily="-110" charset="0"/>
                <a:ea typeface="+mn-ea"/>
                <a:cs typeface="+mn-cs"/>
              </a:rPr>
              <a:t>lại</a:t>
            </a:r>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Sustained: </a:t>
            </a:r>
            <a:r>
              <a:rPr kumimoji="1" lang="en-US" sz="1200" kern="1200" baseline="0" dirty="0" err="1">
                <a:solidFill>
                  <a:schemeClr val="tx1"/>
                </a:solidFill>
                <a:latin typeface="Times New Roman" pitchFamily="-110" charset="0"/>
                <a:ea typeface="+mn-ea"/>
                <a:cs typeface="+mn-cs"/>
              </a:rPr>
              <a:t>duy</a:t>
            </a:r>
            <a:r>
              <a:rPr kumimoji="1" lang="en-US" sz="1200" kern="1200" baseline="0" dirty="0">
                <a:solidFill>
                  <a:schemeClr val="tx1"/>
                </a:solidFill>
                <a:latin typeface="Times New Roman" pitchFamily="-110" charset="0"/>
                <a:ea typeface="+mn-ea"/>
                <a:cs typeface="+mn-cs"/>
              </a:rPr>
              <a:t> </a:t>
            </a:r>
            <a:r>
              <a:rPr kumimoji="1" lang="en-US" sz="1200" kern="1200" baseline="0" dirty="0" err="1">
                <a:solidFill>
                  <a:schemeClr val="tx1"/>
                </a:solidFill>
                <a:latin typeface="Times New Roman" pitchFamily="-110" charset="0"/>
                <a:ea typeface="+mn-ea"/>
                <a:cs typeface="+mn-cs"/>
              </a:rPr>
              <a:t>trì</a:t>
            </a:r>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Dramatic: </a:t>
            </a:r>
            <a:r>
              <a:rPr kumimoji="1" lang="en-US" sz="1200" kern="1200" baseline="0" dirty="0" err="1">
                <a:solidFill>
                  <a:schemeClr val="tx1"/>
                </a:solidFill>
                <a:latin typeface="Times New Roman" pitchFamily="-110" charset="0"/>
                <a:ea typeface="+mn-ea"/>
                <a:cs typeface="+mn-cs"/>
              </a:rPr>
              <a:t>đàng</a:t>
            </a:r>
            <a:r>
              <a:rPr kumimoji="1" lang="en-US" sz="1200" kern="1200" baseline="0" dirty="0">
                <a:solidFill>
                  <a:schemeClr val="tx1"/>
                </a:solidFill>
                <a:latin typeface="Times New Roman" pitchFamily="-110" charset="0"/>
                <a:ea typeface="+mn-ea"/>
                <a:cs typeface="+mn-cs"/>
              </a:rPr>
              <a:t> </a:t>
            </a:r>
            <a:r>
              <a:rPr kumimoji="1" lang="en-US" sz="1200" kern="1200" baseline="0" dirty="0" err="1">
                <a:solidFill>
                  <a:schemeClr val="tx1"/>
                </a:solidFill>
                <a:latin typeface="Times New Roman" pitchFamily="-110" charset="0"/>
                <a:ea typeface="+mn-ea"/>
                <a:cs typeface="+mn-cs"/>
              </a:rPr>
              <a:t>kể</a:t>
            </a:r>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Consequences: </a:t>
            </a:r>
            <a:r>
              <a:rPr kumimoji="1" lang="en-US" sz="1200" kern="1200" baseline="0" dirty="0" err="1">
                <a:solidFill>
                  <a:schemeClr val="tx1"/>
                </a:solidFill>
                <a:latin typeface="Times New Roman" pitchFamily="-110" charset="0"/>
                <a:ea typeface="+mn-ea"/>
                <a:cs typeface="+mn-cs"/>
              </a:rPr>
              <a:t>kết</a:t>
            </a:r>
            <a:r>
              <a:rPr kumimoji="1" lang="en-US" sz="1200" kern="1200" baseline="0" dirty="0">
                <a:solidFill>
                  <a:schemeClr val="tx1"/>
                </a:solidFill>
                <a:latin typeface="Times New Roman" pitchFamily="-110" charset="0"/>
                <a:ea typeface="+mn-ea"/>
                <a:cs typeface="+mn-cs"/>
              </a:rPr>
              <a:t> </a:t>
            </a:r>
            <a:r>
              <a:rPr kumimoji="1" lang="en-US" sz="1200" kern="1200" baseline="0" dirty="0" err="1">
                <a:solidFill>
                  <a:schemeClr val="tx1"/>
                </a:solidFill>
                <a:latin typeface="Times New Roman" pitchFamily="-110" charset="0"/>
                <a:ea typeface="+mn-ea"/>
                <a:cs typeface="+mn-cs"/>
              </a:rPr>
              <a:t>quả</a:t>
            </a:r>
            <a:endParaRPr kumimoji="1" lang="en-US" sz="1200" kern="1200" baseline="0" dirty="0">
              <a:solidFill>
                <a:schemeClr val="tx1"/>
              </a:solidFill>
              <a:latin typeface="Times New Roman" pitchFamily="-110" charset="0"/>
              <a:ea typeface="+mn-ea"/>
              <a:cs typeface="+mn-cs"/>
            </a:endParaRPr>
          </a:p>
          <a:p>
            <a:r>
              <a:rPr kumimoji="1" lang="vi-VN" sz="1200" kern="1200" baseline="0" dirty="0">
                <a:solidFill>
                  <a:schemeClr val="tx1"/>
                </a:solidFill>
                <a:latin typeface="Times New Roman" pitchFamily="-110" charset="0"/>
                <a:ea typeface="+mn-ea"/>
                <a:cs typeface="+mn-cs"/>
              </a:rPr>
              <a:t>Ban hành: phá »• biáº¿n, cÃngng bá» ‘Ban đầu, chỉ có một phần của chúng</a:t>
            </a:r>
          </a:p>
          <a:p>
            <a:r>
              <a:rPr kumimoji="1" lang="vi-VN" sz="1200" kern="1200" baseline="0" dirty="0">
                <a:solidFill>
                  <a:schemeClr val="tx1"/>
                </a:solidFill>
                <a:latin typeface="Times New Roman" pitchFamily="-110" charset="0"/>
                <a:ea typeface="+mn-ea"/>
                <a:cs typeface="+mn-cs"/>
              </a:rPr>
              <a:t>và cùng nhau Phần còn lại</a:t>
            </a:r>
          </a:p>
          <a:p>
            <a:r>
              <a:rPr kumimoji="1" lang="vi-VN" sz="1200" kern="1200" baseline="0" dirty="0">
                <a:solidFill>
                  <a:schemeClr val="tx1"/>
                </a:solidFill>
                <a:latin typeface="Times New Roman" pitchFamily="-110" charset="0"/>
                <a:ea typeface="+mn-ea"/>
                <a:cs typeface="+mn-cs"/>
              </a:rPr>
              <a:t>Tổng hợp (SSI). Thời gian qua, nó có thể có</a:t>
            </a:r>
          </a:p>
          <a:p>
            <a:r>
              <a:rPr kumimoji="1" lang="vi-VN" sz="1200" kern="1200" baseline="0" dirty="0">
                <a:solidFill>
                  <a:schemeClr val="tx1"/>
                </a:solidFill>
                <a:latin typeface="Times New Roman" pitchFamily="-110" charset="0"/>
                <a:ea typeface="+mn-ea"/>
                <a:cs typeface="+mn-cs"/>
              </a:rPr>
              <a:t>Các thành phần mềm và chip chip. Phần còn lại của chúng tôi nó là</a:t>
            </a:r>
          </a:p>
          <a:p>
            <a:r>
              <a:rPr kumimoji="1" lang="vi-VN" sz="1200" kern="1200" baseline="0" dirty="0">
                <a:solidFill>
                  <a:schemeClr val="tx1"/>
                </a:solidFill>
                <a:latin typeface="Times New Roman" pitchFamily="-110" charset="0"/>
                <a:ea typeface="+mn-ea"/>
                <a:cs typeface="+mn-cs"/>
              </a:rPr>
              <a:t>một trong những xu hướng của chúng tôi</a:t>
            </a:r>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Figure 2.8 reflects the famous Moore’s law, which was propounded (đề </a:t>
            </a:r>
            <a:r>
              <a:rPr kumimoji="1" lang="en-US" sz="1200" kern="1200" baseline="0" dirty="0" err="1">
                <a:solidFill>
                  <a:schemeClr val="tx1"/>
                </a:solidFill>
                <a:latin typeface="Times New Roman" pitchFamily="-110" charset="0"/>
                <a:ea typeface="+mn-ea"/>
                <a:cs typeface="+mn-cs"/>
              </a:rPr>
              <a:t>xuất</a:t>
            </a:r>
            <a:r>
              <a:rPr kumimoji="1" lang="en-US" sz="1200" kern="1200" baseline="0" dirty="0">
                <a:solidFill>
                  <a:schemeClr val="tx1"/>
                </a:solidFill>
                <a:latin typeface="Times New Roman" pitchFamily="-110" charset="0"/>
                <a:ea typeface="+mn-ea"/>
                <a:cs typeface="+mn-cs"/>
              </a:rPr>
              <a:t>) by Gordon Moore, cofounder of</a:t>
            </a:r>
          </a:p>
          <a:p>
            <a:r>
              <a:rPr kumimoji="1" lang="en-US" sz="1200" kern="1200" baseline="0" dirty="0">
                <a:solidFill>
                  <a:schemeClr val="tx1"/>
                </a:solidFill>
                <a:latin typeface="Times New Roman" pitchFamily="-110" charset="0"/>
                <a:ea typeface="+mn-ea"/>
                <a:cs typeface="+mn-cs"/>
              </a:rPr>
              <a:t>Intel, in 1965 [MOOR65]. Moore observed that the number of transistors that could</a:t>
            </a:r>
          </a:p>
          <a:p>
            <a:r>
              <a:rPr kumimoji="1" lang="en-US" sz="1200" kern="1200" baseline="0" dirty="0">
                <a:solidFill>
                  <a:schemeClr val="tx1"/>
                </a:solidFill>
                <a:latin typeface="Times New Roman" pitchFamily="-110" charset="0"/>
                <a:ea typeface="+mn-ea"/>
                <a:cs typeface="+mn-cs"/>
              </a:rPr>
              <a:t>be put on a single chip was doubling every year and correctly predicted that this</a:t>
            </a:r>
          </a:p>
          <a:p>
            <a:r>
              <a:rPr kumimoji="1" lang="en-US" sz="1200" kern="1200" baseline="0" dirty="0">
                <a:solidFill>
                  <a:schemeClr val="tx1"/>
                </a:solidFill>
                <a:latin typeface="Times New Roman" pitchFamily="-110" charset="0"/>
                <a:ea typeface="+mn-ea"/>
                <a:cs typeface="+mn-cs"/>
              </a:rPr>
              <a:t>Pace (</a:t>
            </a:r>
            <a:r>
              <a:rPr kumimoji="1" lang="en-US" sz="1200" kern="1200" baseline="0" dirty="0" err="1">
                <a:solidFill>
                  <a:schemeClr val="tx1"/>
                </a:solidFill>
                <a:latin typeface="Times New Roman" pitchFamily="-110" charset="0"/>
                <a:ea typeface="+mn-ea"/>
                <a:cs typeface="+mn-cs"/>
              </a:rPr>
              <a:t>bước</a:t>
            </a:r>
            <a:r>
              <a:rPr kumimoji="1" lang="en-US" sz="1200" kern="1200" baseline="0" dirty="0">
                <a:solidFill>
                  <a:schemeClr val="tx1"/>
                </a:solidFill>
                <a:latin typeface="Times New Roman" pitchFamily="-110" charset="0"/>
                <a:ea typeface="+mn-ea"/>
                <a:cs typeface="+mn-cs"/>
              </a:rPr>
              <a:t> </a:t>
            </a:r>
            <a:r>
              <a:rPr kumimoji="1" lang="en-US" sz="1200" kern="1200" baseline="0" dirty="0" err="1">
                <a:solidFill>
                  <a:schemeClr val="tx1"/>
                </a:solidFill>
                <a:latin typeface="Times New Roman" pitchFamily="-110" charset="0"/>
                <a:ea typeface="+mn-ea"/>
                <a:cs typeface="+mn-cs"/>
              </a:rPr>
              <a:t>đi</a:t>
            </a:r>
            <a:r>
              <a:rPr kumimoji="1" lang="en-US" sz="1200" kern="1200" baseline="0" dirty="0">
                <a:solidFill>
                  <a:schemeClr val="tx1"/>
                </a:solidFill>
                <a:latin typeface="Times New Roman" pitchFamily="-110" charset="0"/>
                <a:ea typeface="+mn-ea"/>
                <a:cs typeface="+mn-cs"/>
              </a:rPr>
              <a:t>) would continue into the near future. To the surprise of many, including Moore,</a:t>
            </a:r>
          </a:p>
          <a:p>
            <a:r>
              <a:rPr kumimoji="1" lang="en-US" sz="1200" kern="1200" baseline="0" dirty="0">
                <a:solidFill>
                  <a:schemeClr val="tx1"/>
                </a:solidFill>
                <a:latin typeface="Times New Roman" pitchFamily="-110" charset="0"/>
                <a:ea typeface="+mn-ea"/>
                <a:cs typeface="+mn-cs"/>
              </a:rPr>
              <a:t>the pace continued year after year and decade after decade. The pace slowed to a</a:t>
            </a:r>
          </a:p>
          <a:p>
            <a:r>
              <a:rPr kumimoji="1" lang="en-US" sz="1200" kern="1200" baseline="0" dirty="0">
                <a:solidFill>
                  <a:schemeClr val="tx1"/>
                </a:solidFill>
                <a:latin typeface="Times New Roman" pitchFamily="-110" charset="0"/>
                <a:ea typeface="+mn-ea"/>
                <a:cs typeface="+mn-cs"/>
              </a:rPr>
              <a:t>doubling every 18 months in the 1970s but has sustained that rate ever since.</a:t>
            </a:r>
            <a:endParaRPr lang="en-US" dirty="0"/>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The consequences of Moore’s law are profound:</a:t>
            </a:r>
          </a:p>
          <a:p>
            <a:endParaRPr kumimoji="1" lang="en-US" sz="1200" kern="1200" baseline="0" dirty="0">
              <a:solidFill>
                <a:schemeClr val="tx1"/>
              </a:solidFill>
              <a:latin typeface="Times New Roman" pitchFamily="-110" charset="0"/>
              <a:ea typeface="+mn-ea"/>
              <a:cs typeface="+mn-cs"/>
            </a:endParaRPr>
          </a:p>
          <a:p>
            <a:r>
              <a:rPr kumimoji="1" lang="en-US" sz="1200" b="0" kern="1200" baseline="0" dirty="0">
                <a:solidFill>
                  <a:schemeClr val="tx1"/>
                </a:solidFill>
                <a:latin typeface="Times New Roman" pitchFamily="-110" charset="0"/>
                <a:ea typeface="+mn-ea"/>
                <a:cs typeface="+mn-cs"/>
              </a:rPr>
              <a:t>1. The cost of a chip has remained virtually unchanged during this period of</a:t>
            </a:r>
          </a:p>
          <a:p>
            <a:r>
              <a:rPr kumimoji="1" lang="en-US" sz="1200" kern="1200" baseline="0" dirty="0">
                <a:solidFill>
                  <a:schemeClr val="tx1"/>
                </a:solidFill>
                <a:latin typeface="Times New Roman" pitchFamily="-110" charset="0"/>
                <a:ea typeface="+mn-ea"/>
                <a:cs typeface="+mn-cs"/>
              </a:rPr>
              <a:t>rapid growth in density. This means that the cost of computer logic and memory</a:t>
            </a:r>
          </a:p>
          <a:p>
            <a:r>
              <a:rPr kumimoji="1" lang="en-US" sz="1200" kern="1200" baseline="0" dirty="0">
                <a:solidFill>
                  <a:schemeClr val="tx1"/>
                </a:solidFill>
                <a:latin typeface="Times New Roman" pitchFamily="-110" charset="0"/>
                <a:ea typeface="+mn-ea"/>
                <a:cs typeface="+mn-cs"/>
              </a:rPr>
              <a:t>circuitry has fallen at a dramatic rate.</a:t>
            </a:r>
          </a:p>
          <a:p>
            <a:endParaRPr kumimoji="1" lang="en-US" sz="1200" b="1" kern="1200" baseline="0" dirty="0">
              <a:solidFill>
                <a:schemeClr val="tx1"/>
              </a:solidFill>
              <a:latin typeface="Times New Roman" pitchFamily="-110" charset="0"/>
              <a:ea typeface="+mn-ea"/>
              <a:cs typeface="+mn-cs"/>
            </a:endParaRPr>
          </a:p>
          <a:p>
            <a:r>
              <a:rPr kumimoji="1" lang="en-US" sz="1200" b="0" kern="1200" baseline="0" dirty="0">
                <a:solidFill>
                  <a:schemeClr val="tx1"/>
                </a:solidFill>
                <a:latin typeface="Times New Roman" pitchFamily="-110" charset="0"/>
                <a:ea typeface="+mn-ea"/>
                <a:cs typeface="+mn-cs"/>
              </a:rPr>
              <a:t>2. Because logic and memory elements are placed closer together on more</a:t>
            </a:r>
          </a:p>
          <a:p>
            <a:r>
              <a:rPr kumimoji="1" lang="en-US" sz="1200" kern="1200" baseline="0" dirty="0">
                <a:solidFill>
                  <a:schemeClr val="tx1"/>
                </a:solidFill>
                <a:latin typeface="Times New Roman" pitchFamily="-110" charset="0"/>
                <a:ea typeface="+mn-ea"/>
                <a:cs typeface="+mn-cs"/>
              </a:rPr>
              <a:t>densely packed chips, the electrical path length is shortened, increasing</a:t>
            </a:r>
          </a:p>
          <a:p>
            <a:r>
              <a:rPr kumimoji="1" lang="en-US" sz="1200" kern="1200" baseline="0" dirty="0">
                <a:solidFill>
                  <a:schemeClr val="tx1"/>
                </a:solidFill>
                <a:latin typeface="Times New Roman" pitchFamily="-110" charset="0"/>
                <a:ea typeface="+mn-ea"/>
                <a:cs typeface="+mn-cs"/>
              </a:rPr>
              <a:t>operating speed.</a:t>
            </a:r>
          </a:p>
          <a:p>
            <a:endParaRPr kumimoji="1" lang="en-US" sz="1200" kern="1200" baseline="0" dirty="0">
              <a:solidFill>
                <a:schemeClr val="tx1"/>
              </a:solidFill>
              <a:latin typeface="Times New Roman" pitchFamily="-110" charset="0"/>
              <a:ea typeface="+mn-ea"/>
              <a:cs typeface="+mn-cs"/>
            </a:endParaRPr>
          </a:p>
          <a:p>
            <a:r>
              <a:rPr kumimoji="1" lang="en-US" sz="1200" b="0" kern="1200" baseline="0" dirty="0">
                <a:solidFill>
                  <a:schemeClr val="tx1"/>
                </a:solidFill>
                <a:latin typeface="Times New Roman" pitchFamily="-110" charset="0"/>
                <a:ea typeface="+mn-ea"/>
                <a:cs typeface="+mn-cs"/>
              </a:rPr>
              <a:t>3. The computer becomes smaller, making it more convenient to place in a</a:t>
            </a:r>
          </a:p>
          <a:p>
            <a:r>
              <a:rPr kumimoji="1" lang="en-US" sz="1200" kern="1200" baseline="0" dirty="0">
                <a:solidFill>
                  <a:schemeClr val="tx1"/>
                </a:solidFill>
                <a:latin typeface="Times New Roman" pitchFamily="-110" charset="0"/>
                <a:ea typeface="+mn-ea"/>
                <a:cs typeface="+mn-cs"/>
              </a:rPr>
              <a:t>variety of environments.</a:t>
            </a:r>
          </a:p>
          <a:p>
            <a:endParaRPr kumimoji="1" lang="en-US" sz="1200" kern="1200" baseline="0" dirty="0">
              <a:solidFill>
                <a:schemeClr val="tx1"/>
              </a:solidFill>
              <a:latin typeface="Times New Roman" pitchFamily="-110" charset="0"/>
              <a:ea typeface="+mn-ea"/>
              <a:cs typeface="+mn-cs"/>
            </a:endParaRPr>
          </a:p>
          <a:p>
            <a:r>
              <a:rPr kumimoji="1" lang="en-US" sz="1200" b="0" kern="1200" baseline="0" dirty="0">
                <a:solidFill>
                  <a:schemeClr val="tx1"/>
                </a:solidFill>
                <a:latin typeface="Times New Roman" pitchFamily="-110" charset="0"/>
                <a:ea typeface="+mn-ea"/>
                <a:cs typeface="+mn-cs"/>
              </a:rPr>
              <a:t>4. There is a reduction in power and cooling requirements.</a:t>
            </a:r>
          </a:p>
          <a:p>
            <a:endParaRPr kumimoji="1" lang="en-US" sz="1200" b="0" kern="1200" baseline="0" dirty="0">
              <a:solidFill>
                <a:schemeClr val="tx1"/>
              </a:solidFill>
              <a:latin typeface="Times New Roman" pitchFamily="-110" charset="0"/>
              <a:ea typeface="+mn-ea"/>
              <a:cs typeface="+mn-cs"/>
            </a:endParaRPr>
          </a:p>
          <a:p>
            <a:r>
              <a:rPr kumimoji="1" lang="en-US" sz="1200" b="0" kern="1200" baseline="0" dirty="0">
                <a:solidFill>
                  <a:schemeClr val="tx1"/>
                </a:solidFill>
                <a:latin typeface="Times New Roman" pitchFamily="-110" charset="0"/>
                <a:ea typeface="+mn-ea"/>
                <a:cs typeface="+mn-cs"/>
              </a:rPr>
              <a:t>5. The interconnections on the integrated circuit are much more reliable than</a:t>
            </a:r>
          </a:p>
          <a:p>
            <a:r>
              <a:rPr kumimoji="1" lang="en-US" sz="1200" kern="1200" baseline="0" dirty="0">
                <a:solidFill>
                  <a:schemeClr val="tx1"/>
                </a:solidFill>
                <a:latin typeface="Times New Roman" pitchFamily="-110" charset="0"/>
                <a:ea typeface="+mn-ea"/>
                <a:cs typeface="+mn-cs"/>
              </a:rPr>
              <a:t>solder connections. With more circuitry on each chip, there are fewer interchip</a:t>
            </a:r>
          </a:p>
          <a:p>
            <a:r>
              <a:rPr kumimoji="1" lang="en-US" sz="1200" kern="1200" baseline="0" dirty="0">
                <a:solidFill>
                  <a:schemeClr val="tx1"/>
                </a:solidFill>
                <a:latin typeface="Times New Roman" pitchFamily="-110" charset="0"/>
                <a:ea typeface="+mn-ea"/>
                <a:cs typeface="+mn-cs"/>
              </a:rPr>
              <a:t>connections.</a:t>
            </a:r>
            <a:endParaRPr lang="en-GB"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r>
              <a:rPr kumimoji="1" lang="en-US" sz="1200" kern="1200" baseline="0" dirty="0" err="1">
                <a:solidFill>
                  <a:schemeClr val="tx1"/>
                </a:solidFill>
                <a:latin typeface="Times New Roman" pitchFamily="-110" charset="0"/>
                <a:ea typeface="+mn-ea"/>
                <a:cs typeface="+mn-cs"/>
              </a:rPr>
              <a:t>Sencond</a:t>
            </a:r>
            <a:r>
              <a:rPr kumimoji="1" lang="en-US" sz="1200" kern="1200" baseline="0" dirty="0">
                <a:solidFill>
                  <a:schemeClr val="tx1"/>
                </a:solidFill>
                <a:latin typeface="Times New Roman" pitchFamily="-110" charset="0"/>
                <a:ea typeface="+mn-ea"/>
                <a:cs typeface="+mn-cs"/>
              </a:rPr>
              <a:t>=1000milisecond=1tr microsecond=1ty nanosecond</a:t>
            </a:r>
          </a:p>
          <a:p>
            <a:endParaRPr kumimoji="1" lang="en-US" sz="1200" kern="1200" baseline="0" dirty="0">
              <a:solidFill>
                <a:schemeClr val="tx1"/>
              </a:solidFill>
              <a:latin typeface="Times New Roman" pitchFamily="-110" charset="0"/>
              <a:ea typeface="+mn-ea"/>
              <a:cs typeface="+mn-cs"/>
            </a:endParaRPr>
          </a:p>
          <a:p>
            <a:r>
              <a:rPr kumimoji="1" lang="vi-VN" sz="1200" kern="1200" baseline="0" dirty="0">
                <a:solidFill>
                  <a:schemeClr val="tx1"/>
                </a:solidFill>
                <a:latin typeface="Times New Roman" pitchFamily="-110" charset="0"/>
                <a:ea typeface="+mn-ea"/>
                <a:cs typeface="+mn-cs"/>
              </a:rPr>
              <a:t>Đến năm 1964, IBM đã nắm vững thị trường máy tính với</a:t>
            </a:r>
          </a:p>
          <a:p>
            <a:r>
              <a:rPr kumimoji="1" lang="vi-VN" sz="1200" kern="1200" baseline="0" dirty="0">
                <a:solidFill>
                  <a:schemeClr val="tx1"/>
                </a:solidFill>
                <a:latin typeface="Times New Roman" pitchFamily="-110" charset="0"/>
                <a:ea typeface="+mn-ea"/>
                <a:cs typeface="+mn-cs"/>
              </a:rPr>
              <a:t>7000 máy của nó. Vào năm đó, IBM đã công bố System / 360, một cái mới</a:t>
            </a:r>
          </a:p>
          <a:p>
            <a:r>
              <a:rPr kumimoji="1" lang="vi-VN" sz="1200" kern="1200" baseline="0" dirty="0">
                <a:solidFill>
                  <a:schemeClr val="tx1"/>
                </a:solidFill>
                <a:latin typeface="Times New Roman" pitchFamily="-110" charset="0"/>
                <a:ea typeface="+mn-ea"/>
                <a:cs typeface="+mn-cs"/>
              </a:rPr>
              <a:t>gia đình sản phẩm máy tính. Mặc dù thông báo không có gì bất ngờ, nhưng nó</a:t>
            </a:r>
          </a:p>
          <a:p>
            <a:r>
              <a:rPr kumimoji="1" lang="vi-VN" sz="1200" kern="1200" baseline="0" dirty="0">
                <a:solidFill>
                  <a:schemeClr val="tx1"/>
                </a:solidFill>
                <a:latin typeface="Times New Roman" pitchFamily="-110" charset="0"/>
                <a:ea typeface="+mn-ea"/>
                <a:cs typeface="+mn-cs"/>
              </a:rPr>
              <a:t>chứa một số tin tức khó chịu cho các khách hàng hiện tại của IBM: dòng sản phẩm 360</a:t>
            </a:r>
          </a:p>
          <a:p>
            <a:r>
              <a:rPr kumimoji="1" lang="vi-VN" sz="1200" kern="1200" baseline="0" dirty="0">
                <a:solidFill>
                  <a:schemeClr val="tx1"/>
                </a:solidFill>
                <a:latin typeface="Times New Roman" pitchFamily="-110" charset="0"/>
                <a:ea typeface="+mn-ea"/>
                <a:cs typeface="+mn-cs"/>
              </a:rPr>
              <a:t>không tương thích với các máy IBM cũ. Do đó, quá trình chuyển đổi sang 360 sẽ là</a:t>
            </a:r>
          </a:p>
          <a:p>
            <a:r>
              <a:rPr kumimoji="1" lang="vi-VN" sz="1200" kern="1200" baseline="0" dirty="0">
                <a:solidFill>
                  <a:schemeClr val="tx1"/>
                </a:solidFill>
                <a:latin typeface="Times New Roman" pitchFamily="-110" charset="0"/>
                <a:ea typeface="+mn-ea"/>
                <a:cs typeface="+mn-cs"/>
              </a:rPr>
              <a:t>khó khăn cho cơ sở khách hàng hiện tại. Đây là một bước đi táo bạo của IBM, nhưng một IBM cảm thấy</a:t>
            </a:r>
          </a:p>
          <a:p>
            <a:r>
              <a:rPr kumimoji="1" lang="vi-VN" sz="1200" kern="1200" baseline="0" dirty="0">
                <a:solidFill>
                  <a:schemeClr val="tx1"/>
                </a:solidFill>
                <a:latin typeface="Times New Roman" pitchFamily="-110" charset="0"/>
                <a:ea typeface="+mn-ea"/>
                <a:cs typeface="+mn-cs"/>
              </a:rPr>
              <a:t>là cần thiết để thoát ra khỏi một số hạn chế của kiến trúc 7000 và</a:t>
            </a:r>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By 1964, IBM had a firm grip on the computer market with</a:t>
            </a:r>
          </a:p>
          <a:p>
            <a:r>
              <a:rPr kumimoji="1" lang="en-US" sz="1200" kern="1200" baseline="0" dirty="0">
                <a:solidFill>
                  <a:schemeClr val="tx1"/>
                </a:solidFill>
                <a:latin typeface="Times New Roman" pitchFamily="-110" charset="0"/>
                <a:ea typeface="+mn-ea"/>
                <a:cs typeface="+mn-cs"/>
              </a:rPr>
              <a:t>its 7000 series of machines. In that year, IBM announced the System/360, a new</a:t>
            </a:r>
          </a:p>
          <a:p>
            <a:r>
              <a:rPr kumimoji="1" lang="en-US" sz="1200" kern="1200" baseline="0" dirty="0">
                <a:solidFill>
                  <a:schemeClr val="tx1"/>
                </a:solidFill>
                <a:latin typeface="Times New Roman" pitchFamily="-110" charset="0"/>
                <a:ea typeface="+mn-ea"/>
                <a:cs typeface="+mn-cs"/>
              </a:rPr>
              <a:t>family of computer products. Although the announcement itself was no surprise, it</a:t>
            </a:r>
          </a:p>
          <a:p>
            <a:r>
              <a:rPr kumimoji="1" lang="en-US" sz="1200" kern="1200" baseline="0" dirty="0">
                <a:solidFill>
                  <a:schemeClr val="tx1"/>
                </a:solidFill>
                <a:latin typeface="Times New Roman" pitchFamily="-110" charset="0"/>
                <a:ea typeface="+mn-ea"/>
                <a:cs typeface="+mn-cs"/>
              </a:rPr>
              <a:t>contained some unpleasant news for current IBM customers: the 360 product line</a:t>
            </a:r>
          </a:p>
          <a:p>
            <a:r>
              <a:rPr kumimoji="1" lang="en-US" sz="1200" kern="1200" baseline="0" dirty="0">
                <a:solidFill>
                  <a:schemeClr val="tx1"/>
                </a:solidFill>
                <a:latin typeface="Times New Roman" pitchFamily="-110" charset="0"/>
                <a:ea typeface="+mn-ea"/>
                <a:cs typeface="+mn-cs"/>
              </a:rPr>
              <a:t>was incompatible with older IBM machines. Thus, the transition to the 360 would be</a:t>
            </a:r>
          </a:p>
          <a:p>
            <a:r>
              <a:rPr kumimoji="1" lang="en-US" sz="1200" kern="1200" baseline="0" dirty="0">
                <a:solidFill>
                  <a:schemeClr val="tx1"/>
                </a:solidFill>
                <a:latin typeface="Times New Roman" pitchFamily="-110" charset="0"/>
                <a:ea typeface="+mn-ea"/>
                <a:cs typeface="+mn-cs"/>
              </a:rPr>
              <a:t>difficult for the current customer base. This was a bold step by IBM, but one IBM felt</a:t>
            </a:r>
          </a:p>
          <a:p>
            <a:r>
              <a:rPr kumimoji="1" lang="en-US" sz="1200" kern="1200" baseline="0" dirty="0">
                <a:solidFill>
                  <a:schemeClr val="tx1"/>
                </a:solidFill>
                <a:latin typeface="Times New Roman" pitchFamily="-110" charset="0"/>
                <a:ea typeface="+mn-ea"/>
                <a:cs typeface="+mn-cs"/>
              </a:rPr>
              <a:t>was necessary to break out of some of the constraints of the 7000 architecture and</a:t>
            </a:r>
          </a:p>
          <a:p>
            <a:r>
              <a:rPr kumimoji="1" lang="en-US" sz="1200" kern="1200" baseline="0" dirty="0">
                <a:solidFill>
                  <a:schemeClr val="tx1"/>
                </a:solidFill>
                <a:latin typeface="Times New Roman" pitchFamily="-110" charset="0"/>
                <a:ea typeface="+mn-ea"/>
                <a:cs typeface="+mn-cs"/>
              </a:rPr>
              <a:t>to produce a system capable of evolving with the new integrated circuit technology</a:t>
            </a:r>
          </a:p>
          <a:p>
            <a:r>
              <a:rPr kumimoji="1" lang="en-US" sz="1200" kern="1200" baseline="0" dirty="0">
                <a:solidFill>
                  <a:schemeClr val="tx1"/>
                </a:solidFill>
                <a:latin typeface="Times New Roman" pitchFamily="-110" charset="0"/>
                <a:ea typeface="+mn-ea"/>
                <a:cs typeface="+mn-cs"/>
              </a:rPr>
              <a:t>[PADE81, GIFF87]. The strategy paid off both financially and technically. The 360</a:t>
            </a:r>
          </a:p>
          <a:p>
            <a:r>
              <a:rPr kumimoji="1" lang="en-US" sz="1200" kern="1200" baseline="0" dirty="0">
                <a:solidFill>
                  <a:schemeClr val="tx1"/>
                </a:solidFill>
                <a:latin typeface="Times New Roman" pitchFamily="-110" charset="0"/>
                <a:ea typeface="+mn-ea"/>
                <a:cs typeface="+mn-cs"/>
              </a:rPr>
              <a:t>was the success of the decade and cemented IBM as the overwhelmingly dominant</a:t>
            </a:r>
          </a:p>
          <a:p>
            <a:r>
              <a:rPr kumimoji="1" lang="en-US" sz="1200" kern="1200" baseline="0" dirty="0">
                <a:solidFill>
                  <a:schemeClr val="tx1"/>
                </a:solidFill>
                <a:latin typeface="Times New Roman" pitchFamily="-110" charset="0"/>
                <a:ea typeface="+mn-ea"/>
                <a:cs typeface="+mn-cs"/>
              </a:rPr>
              <a:t>computer vendor, with a market share above 70%. And, with some modifications</a:t>
            </a:r>
          </a:p>
          <a:p>
            <a:r>
              <a:rPr kumimoji="1" lang="en-US" sz="1200" kern="1200" baseline="0" dirty="0">
                <a:solidFill>
                  <a:schemeClr val="tx1"/>
                </a:solidFill>
                <a:latin typeface="Times New Roman" pitchFamily="-110" charset="0"/>
                <a:ea typeface="+mn-ea"/>
                <a:cs typeface="+mn-cs"/>
              </a:rPr>
              <a:t>and extensions, the architecture of the 360 remains to this day the architecture</a:t>
            </a:r>
          </a:p>
          <a:p>
            <a:r>
              <a:rPr kumimoji="1" lang="en-US" sz="1200" kern="1200" baseline="0" dirty="0">
                <a:solidFill>
                  <a:schemeClr val="tx1"/>
                </a:solidFill>
                <a:latin typeface="Times New Roman" pitchFamily="-110" charset="0"/>
                <a:ea typeface="+mn-ea"/>
                <a:cs typeface="+mn-cs"/>
              </a:rPr>
              <a:t>of IBM’s mainframe computers. Examples using this architecture can be found</a:t>
            </a:r>
          </a:p>
          <a:p>
            <a:r>
              <a:rPr kumimoji="1" lang="en-US" sz="1200" kern="1200" baseline="0" dirty="0">
                <a:solidFill>
                  <a:schemeClr val="tx1"/>
                </a:solidFill>
                <a:latin typeface="Times New Roman" pitchFamily="-110" charset="0"/>
                <a:ea typeface="+mn-ea"/>
                <a:cs typeface="+mn-cs"/>
              </a:rPr>
              <a:t>throughout this text.</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The System/360 was the industry’s first planned family of computers. The</a:t>
            </a:r>
          </a:p>
          <a:p>
            <a:r>
              <a:rPr kumimoji="1" lang="en-US" sz="1200" kern="1200" baseline="0" dirty="0">
                <a:solidFill>
                  <a:schemeClr val="tx1"/>
                </a:solidFill>
                <a:latin typeface="Times New Roman" pitchFamily="-110" charset="0"/>
                <a:ea typeface="+mn-ea"/>
                <a:cs typeface="+mn-cs"/>
              </a:rPr>
              <a:t>family covered a wide range of performance and cost. Table 2.4 indicates some of</a:t>
            </a:r>
          </a:p>
          <a:p>
            <a:r>
              <a:rPr kumimoji="1" lang="en-US" sz="1200" kern="1200" baseline="0" dirty="0">
                <a:solidFill>
                  <a:schemeClr val="tx1"/>
                </a:solidFill>
                <a:latin typeface="Times New Roman" pitchFamily="-110" charset="0"/>
                <a:ea typeface="+mn-ea"/>
                <a:cs typeface="+mn-cs"/>
              </a:rPr>
              <a:t>the key characteristics of the various models in 1965 (each member of the family is</a:t>
            </a:r>
          </a:p>
          <a:p>
            <a:r>
              <a:rPr kumimoji="1" lang="en-US" sz="1200" kern="1200" baseline="0" dirty="0">
                <a:solidFill>
                  <a:schemeClr val="tx1"/>
                </a:solidFill>
                <a:latin typeface="Times New Roman" pitchFamily="-110" charset="0"/>
                <a:ea typeface="+mn-ea"/>
                <a:cs typeface="+mn-cs"/>
              </a:rPr>
              <a:t>distinguished by a model number). The models were compatible in the sense that</a:t>
            </a:r>
          </a:p>
          <a:p>
            <a:r>
              <a:rPr kumimoji="1" lang="en-US" sz="1200" kern="1200" baseline="0" dirty="0">
                <a:solidFill>
                  <a:schemeClr val="tx1"/>
                </a:solidFill>
                <a:latin typeface="Times New Roman" pitchFamily="-110" charset="0"/>
                <a:ea typeface="+mn-ea"/>
                <a:cs typeface="+mn-cs"/>
              </a:rPr>
              <a:t>a program written for one model should be capable of being executed by another</a:t>
            </a:r>
          </a:p>
          <a:p>
            <a:r>
              <a:rPr kumimoji="1" lang="en-US" sz="1200" kern="1200" baseline="0" dirty="0">
                <a:solidFill>
                  <a:schemeClr val="tx1"/>
                </a:solidFill>
                <a:latin typeface="Times New Roman" pitchFamily="-110" charset="0"/>
                <a:ea typeface="+mn-ea"/>
                <a:cs typeface="+mn-cs"/>
              </a:rPr>
              <a:t>model in the series, with only a difference in the time it takes to execute.</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The concept of a family of compatible computers was both novel and</a:t>
            </a:r>
          </a:p>
          <a:p>
            <a:r>
              <a:rPr kumimoji="1" lang="en-US" sz="1200" kern="1200" baseline="0" dirty="0">
                <a:solidFill>
                  <a:schemeClr val="tx1"/>
                </a:solidFill>
                <a:latin typeface="Times New Roman" pitchFamily="-110" charset="0"/>
                <a:ea typeface="+mn-ea"/>
                <a:cs typeface="+mn-cs"/>
              </a:rPr>
              <a:t>extremely successful. A customer with modest requirements and a budget to match</a:t>
            </a:r>
          </a:p>
          <a:p>
            <a:r>
              <a:rPr kumimoji="1" lang="en-US" sz="1200" kern="1200" baseline="0" dirty="0">
                <a:solidFill>
                  <a:schemeClr val="tx1"/>
                </a:solidFill>
                <a:latin typeface="Times New Roman" pitchFamily="-110" charset="0"/>
                <a:ea typeface="+mn-ea"/>
                <a:cs typeface="+mn-cs"/>
              </a:rPr>
              <a:t>could start with the relatively inexpensive Model 30. Later, if the customer’s needs</a:t>
            </a:r>
          </a:p>
          <a:p>
            <a:r>
              <a:rPr kumimoji="1" lang="en-US" sz="1200" kern="1200" baseline="0" dirty="0">
                <a:solidFill>
                  <a:schemeClr val="tx1"/>
                </a:solidFill>
                <a:latin typeface="Times New Roman" pitchFamily="-110" charset="0"/>
                <a:ea typeface="+mn-ea"/>
                <a:cs typeface="+mn-cs"/>
              </a:rPr>
              <a:t>grew, it was possible to upgrade to a faster machine with more memory without</a:t>
            </a:r>
          </a:p>
          <a:p>
            <a:r>
              <a:rPr kumimoji="1" lang="en-US" sz="1200" kern="1200" baseline="0" dirty="0">
                <a:solidFill>
                  <a:schemeClr val="tx1"/>
                </a:solidFill>
                <a:latin typeface="Times New Roman" pitchFamily="-110" charset="0"/>
                <a:ea typeface="+mn-ea"/>
                <a:cs typeface="+mn-cs"/>
              </a:rPr>
              <a:t>sacrificing the investment in already-developed software. The characteristics of a</a:t>
            </a:r>
          </a:p>
          <a:p>
            <a:r>
              <a:rPr kumimoji="1" lang="en-US" sz="1200" kern="1200" baseline="0" dirty="0">
                <a:solidFill>
                  <a:schemeClr val="tx1"/>
                </a:solidFill>
                <a:latin typeface="Times New Roman" pitchFamily="-110" charset="0"/>
                <a:ea typeface="+mn-ea"/>
                <a:cs typeface="+mn-cs"/>
              </a:rPr>
              <a:t>family are as follows:</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a:t>
            </a:r>
            <a:r>
              <a:rPr kumimoji="1" lang="en-US" sz="1200" b="1" kern="1200" baseline="0" dirty="0">
                <a:solidFill>
                  <a:schemeClr val="tx1"/>
                </a:solidFill>
                <a:latin typeface="Times New Roman" pitchFamily="-110" charset="0"/>
                <a:ea typeface="+mn-ea"/>
                <a:cs typeface="+mn-cs"/>
              </a:rPr>
              <a:t>Similar or identical instruction set: </a:t>
            </a:r>
            <a:r>
              <a:rPr kumimoji="1" lang="en-US" sz="1200" b="0" kern="1200" baseline="0" dirty="0">
                <a:solidFill>
                  <a:schemeClr val="tx1"/>
                </a:solidFill>
                <a:latin typeface="Times New Roman" pitchFamily="-110" charset="0"/>
                <a:ea typeface="+mn-ea"/>
                <a:cs typeface="+mn-cs"/>
              </a:rPr>
              <a:t>In many cases, the exact same set of machine</a:t>
            </a:r>
          </a:p>
          <a:p>
            <a:r>
              <a:rPr kumimoji="1" lang="en-US" sz="1200" kern="1200" baseline="0" dirty="0">
                <a:solidFill>
                  <a:schemeClr val="tx1"/>
                </a:solidFill>
                <a:latin typeface="Times New Roman" pitchFamily="-110" charset="0"/>
                <a:ea typeface="+mn-ea"/>
                <a:cs typeface="+mn-cs"/>
              </a:rPr>
              <a:t>instructions is supported on all members of the family. Thus, a program that</a:t>
            </a:r>
          </a:p>
          <a:p>
            <a:r>
              <a:rPr kumimoji="1" lang="en-US" sz="1200" kern="1200" baseline="0" dirty="0">
                <a:solidFill>
                  <a:schemeClr val="tx1"/>
                </a:solidFill>
                <a:latin typeface="Times New Roman" pitchFamily="-110" charset="0"/>
                <a:ea typeface="+mn-ea"/>
                <a:cs typeface="+mn-cs"/>
              </a:rPr>
              <a:t>executes on one machine will also execute on any other. In some cases, the</a:t>
            </a:r>
          </a:p>
          <a:p>
            <a:r>
              <a:rPr kumimoji="1" lang="en-US" sz="1200" kern="1200" baseline="0" dirty="0">
                <a:solidFill>
                  <a:schemeClr val="tx1"/>
                </a:solidFill>
                <a:latin typeface="Times New Roman" pitchFamily="-110" charset="0"/>
                <a:ea typeface="+mn-ea"/>
                <a:cs typeface="+mn-cs"/>
              </a:rPr>
              <a:t>lower end of the family has an instruction set that is a subset of that of the top</a:t>
            </a:r>
          </a:p>
          <a:p>
            <a:r>
              <a:rPr kumimoji="1" lang="en-US" sz="1200" kern="1200" baseline="0" dirty="0">
                <a:solidFill>
                  <a:schemeClr val="tx1"/>
                </a:solidFill>
                <a:latin typeface="Times New Roman" pitchFamily="-110" charset="0"/>
                <a:ea typeface="+mn-ea"/>
                <a:cs typeface="+mn-cs"/>
              </a:rPr>
              <a:t>end of the family. This means that programs can move up but not down.</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a:t>
            </a:r>
            <a:r>
              <a:rPr kumimoji="1" lang="en-US" sz="1200" b="1" kern="1200" baseline="0" dirty="0">
                <a:solidFill>
                  <a:schemeClr val="tx1"/>
                </a:solidFill>
                <a:latin typeface="Times New Roman" pitchFamily="-110" charset="0"/>
                <a:ea typeface="+mn-ea"/>
                <a:cs typeface="+mn-cs"/>
              </a:rPr>
              <a:t>Similar or identical operating system: </a:t>
            </a:r>
            <a:r>
              <a:rPr kumimoji="1" lang="en-US" sz="1200" b="0" kern="1200" baseline="0" dirty="0">
                <a:solidFill>
                  <a:schemeClr val="tx1"/>
                </a:solidFill>
                <a:latin typeface="Times New Roman" pitchFamily="-110" charset="0"/>
                <a:ea typeface="+mn-ea"/>
                <a:cs typeface="+mn-cs"/>
              </a:rPr>
              <a:t>The same basic operating system is</a:t>
            </a:r>
          </a:p>
          <a:p>
            <a:r>
              <a:rPr kumimoji="1" lang="en-US" sz="1200" b="0" kern="1200" baseline="0" dirty="0">
                <a:solidFill>
                  <a:schemeClr val="tx1"/>
                </a:solidFill>
                <a:latin typeface="Times New Roman" pitchFamily="-110" charset="0"/>
                <a:ea typeface="+mn-ea"/>
                <a:cs typeface="+mn-cs"/>
              </a:rPr>
              <a:t>available for all family members. In some cases, additional features are added</a:t>
            </a:r>
          </a:p>
          <a:p>
            <a:r>
              <a:rPr kumimoji="1" lang="en-US" sz="1200" kern="1200" baseline="0" dirty="0">
                <a:solidFill>
                  <a:schemeClr val="tx1"/>
                </a:solidFill>
                <a:latin typeface="Times New Roman" pitchFamily="-110" charset="0"/>
                <a:ea typeface="+mn-ea"/>
                <a:cs typeface="+mn-cs"/>
              </a:rPr>
              <a:t>to the higher-end members.</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a:t>
            </a:r>
            <a:r>
              <a:rPr kumimoji="1" lang="en-US" sz="1200" b="1" kern="1200" baseline="0" dirty="0">
                <a:solidFill>
                  <a:schemeClr val="tx1"/>
                </a:solidFill>
                <a:latin typeface="Times New Roman" pitchFamily="-110" charset="0"/>
                <a:ea typeface="+mn-ea"/>
                <a:cs typeface="+mn-cs"/>
              </a:rPr>
              <a:t>Increasing speed: </a:t>
            </a:r>
            <a:r>
              <a:rPr kumimoji="1" lang="en-US" sz="1200" b="0" kern="1200" baseline="0" dirty="0">
                <a:solidFill>
                  <a:schemeClr val="tx1"/>
                </a:solidFill>
                <a:latin typeface="Times New Roman" pitchFamily="-110" charset="0"/>
                <a:ea typeface="+mn-ea"/>
                <a:cs typeface="+mn-cs"/>
              </a:rPr>
              <a:t>The rate of instruction execution increases in going from</a:t>
            </a:r>
          </a:p>
          <a:p>
            <a:r>
              <a:rPr kumimoji="1" lang="en-US" sz="1200" b="0" kern="1200" baseline="0" dirty="0">
                <a:solidFill>
                  <a:schemeClr val="tx1"/>
                </a:solidFill>
                <a:latin typeface="Times New Roman" pitchFamily="-110" charset="0"/>
                <a:ea typeface="+mn-ea"/>
                <a:cs typeface="+mn-cs"/>
              </a:rPr>
              <a:t>lower to higher family members.</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a:t>
            </a:r>
            <a:r>
              <a:rPr kumimoji="1" lang="en-US" sz="1200" b="1" kern="1200" baseline="0" dirty="0">
                <a:solidFill>
                  <a:schemeClr val="tx1"/>
                </a:solidFill>
                <a:latin typeface="Times New Roman" pitchFamily="-110" charset="0"/>
                <a:ea typeface="+mn-ea"/>
                <a:cs typeface="+mn-cs"/>
              </a:rPr>
              <a:t>Increasing number of I /O ports: </a:t>
            </a:r>
            <a:r>
              <a:rPr kumimoji="1" lang="en-US" sz="1200" b="0" kern="1200" baseline="0" dirty="0">
                <a:solidFill>
                  <a:schemeClr val="tx1"/>
                </a:solidFill>
                <a:latin typeface="Times New Roman" pitchFamily="-110" charset="0"/>
                <a:ea typeface="+mn-ea"/>
                <a:cs typeface="+mn-cs"/>
              </a:rPr>
              <a:t>The number of I/O ports increases in going</a:t>
            </a:r>
          </a:p>
          <a:p>
            <a:r>
              <a:rPr kumimoji="1" lang="en-US" sz="1200" b="0" kern="1200" baseline="0" dirty="0">
                <a:solidFill>
                  <a:schemeClr val="tx1"/>
                </a:solidFill>
                <a:latin typeface="Times New Roman" pitchFamily="-110" charset="0"/>
                <a:ea typeface="+mn-ea"/>
                <a:cs typeface="+mn-cs"/>
              </a:rPr>
              <a:t>from lower to higher family members.</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a:t>
            </a:r>
            <a:r>
              <a:rPr kumimoji="1" lang="en-US" sz="1200" b="1" kern="1200" baseline="0" dirty="0">
                <a:solidFill>
                  <a:schemeClr val="tx1"/>
                </a:solidFill>
                <a:latin typeface="Times New Roman" pitchFamily="-110" charset="0"/>
                <a:ea typeface="+mn-ea"/>
                <a:cs typeface="+mn-cs"/>
              </a:rPr>
              <a:t>Increasing memory size: </a:t>
            </a:r>
            <a:r>
              <a:rPr kumimoji="1" lang="en-US" sz="1200" b="0" kern="1200" baseline="0" dirty="0">
                <a:solidFill>
                  <a:schemeClr val="tx1"/>
                </a:solidFill>
                <a:latin typeface="Times New Roman" pitchFamily="-110" charset="0"/>
                <a:ea typeface="+mn-ea"/>
                <a:cs typeface="+mn-cs"/>
              </a:rPr>
              <a:t>The size of main memory increases in going from</a:t>
            </a:r>
          </a:p>
          <a:p>
            <a:r>
              <a:rPr kumimoji="1" lang="en-US" sz="1200" b="0" kern="1200" baseline="0" dirty="0">
                <a:solidFill>
                  <a:schemeClr val="tx1"/>
                </a:solidFill>
                <a:latin typeface="Times New Roman" pitchFamily="-110" charset="0"/>
                <a:ea typeface="+mn-ea"/>
                <a:cs typeface="+mn-cs"/>
              </a:rPr>
              <a:t>lower to higher family members.</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a:t>
            </a:r>
            <a:r>
              <a:rPr kumimoji="1" lang="en-US" sz="1200" b="1" kern="1200" baseline="0" dirty="0">
                <a:solidFill>
                  <a:schemeClr val="tx1"/>
                </a:solidFill>
                <a:latin typeface="Times New Roman" pitchFamily="-110" charset="0"/>
                <a:ea typeface="+mn-ea"/>
                <a:cs typeface="+mn-cs"/>
              </a:rPr>
              <a:t>Increasing cost: </a:t>
            </a:r>
            <a:r>
              <a:rPr kumimoji="1" lang="en-US" sz="1200" b="0" kern="1200" baseline="0" dirty="0">
                <a:solidFill>
                  <a:schemeClr val="tx1"/>
                </a:solidFill>
                <a:latin typeface="Times New Roman" pitchFamily="-110" charset="0"/>
                <a:ea typeface="+mn-ea"/>
                <a:cs typeface="+mn-cs"/>
              </a:rPr>
              <a:t>At a given point in time, the cost of a system increases in going</a:t>
            </a:r>
          </a:p>
          <a:p>
            <a:r>
              <a:rPr kumimoji="1" lang="en-US" sz="1200" b="0" kern="1200" baseline="0" dirty="0">
                <a:solidFill>
                  <a:schemeClr val="tx1"/>
                </a:solidFill>
                <a:latin typeface="Times New Roman" pitchFamily="-110" charset="0"/>
                <a:ea typeface="+mn-ea"/>
                <a:cs typeface="+mn-cs"/>
              </a:rPr>
              <a:t>from lower to higher family members.</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How could such a family concept be implemented? Differences were achieved</a:t>
            </a:r>
          </a:p>
          <a:p>
            <a:r>
              <a:rPr kumimoji="1" lang="en-US" sz="1200" kern="1200" baseline="0" dirty="0">
                <a:solidFill>
                  <a:schemeClr val="tx1"/>
                </a:solidFill>
                <a:latin typeface="Times New Roman" pitchFamily="-110" charset="0"/>
                <a:ea typeface="+mn-ea"/>
                <a:cs typeface="+mn-cs"/>
              </a:rPr>
              <a:t>based on three factors: basic speed, size, and degree of simultaneity [STEV64]. For</a:t>
            </a:r>
          </a:p>
          <a:p>
            <a:r>
              <a:rPr kumimoji="1" lang="en-US" sz="1200" kern="1200" baseline="0" dirty="0">
                <a:solidFill>
                  <a:schemeClr val="tx1"/>
                </a:solidFill>
                <a:latin typeface="Times New Roman" pitchFamily="-110" charset="0"/>
                <a:ea typeface="+mn-ea"/>
                <a:cs typeface="+mn-cs"/>
              </a:rPr>
              <a:t>example, greater speed in the execution of a given instruction could be gained by</a:t>
            </a:r>
          </a:p>
          <a:p>
            <a:r>
              <a:rPr kumimoji="1" lang="en-US" sz="1200" kern="1200" baseline="0" dirty="0">
                <a:solidFill>
                  <a:schemeClr val="tx1"/>
                </a:solidFill>
                <a:latin typeface="Times New Roman" pitchFamily="-110" charset="0"/>
                <a:ea typeface="+mn-ea"/>
                <a:cs typeface="+mn-cs"/>
              </a:rPr>
              <a:t>the use of more complex circuitry in the ALU, allowing suboperations to be carried</a:t>
            </a:r>
          </a:p>
          <a:p>
            <a:r>
              <a:rPr kumimoji="1" lang="en-US" sz="1200" kern="1200" baseline="0" dirty="0">
                <a:solidFill>
                  <a:schemeClr val="tx1"/>
                </a:solidFill>
                <a:latin typeface="Times New Roman" pitchFamily="-110" charset="0"/>
                <a:ea typeface="+mn-ea"/>
                <a:cs typeface="+mn-cs"/>
              </a:rPr>
              <a:t>out in parallel. Another way of increasing speed was to increase the width of the</a:t>
            </a:r>
          </a:p>
          <a:p>
            <a:r>
              <a:rPr kumimoji="1" lang="en-US" sz="1200" kern="1200" baseline="0" dirty="0">
                <a:solidFill>
                  <a:schemeClr val="tx1"/>
                </a:solidFill>
                <a:latin typeface="Times New Roman" pitchFamily="-110" charset="0"/>
                <a:ea typeface="+mn-ea"/>
                <a:cs typeface="+mn-cs"/>
              </a:rPr>
              <a:t>data path between main memory and the CPU. On the Model 30, only 1 byte (8 bits)</a:t>
            </a:r>
          </a:p>
          <a:p>
            <a:r>
              <a:rPr kumimoji="1" lang="en-US" sz="1200" kern="1200" baseline="0" dirty="0">
                <a:solidFill>
                  <a:schemeClr val="tx1"/>
                </a:solidFill>
                <a:latin typeface="Times New Roman" pitchFamily="-110" charset="0"/>
                <a:ea typeface="+mn-ea"/>
                <a:cs typeface="+mn-cs"/>
              </a:rPr>
              <a:t>could be fetched from main memory at a time, whereas 8 bytes could be fetched at</a:t>
            </a:r>
          </a:p>
          <a:p>
            <a:r>
              <a:rPr kumimoji="1" lang="en-US" sz="1200" kern="1200" baseline="0" dirty="0">
                <a:solidFill>
                  <a:schemeClr val="tx1"/>
                </a:solidFill>
                <a:latin typeface="Times New Roman" pitchFamily="-110" charset="0"/>
                <a:ea typeface="+mn-ea"/>
                <a:cs typeface="+mn-cs"/>
              </a:rPr>
              <a:t>a time on the Model 75.</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The System/360 not only dictated the future course of IBM but also had a</a:t>
            </a:r>
          </a:p>
          <a:p>
            <a:r>
              <a:rPr kumimoji="1" lang="en-US" sz="1200" kern="1200" baseline="0" dirty="0">
                <a:solidFill>
                  <a:schemeClr val="tx1"/>
                </a:solidFill>
                <a:latin typeface="Times New Roman" pitchFamily="-110" charset="0"/>
                <a:ea typeface="+mn-ea"/>
                <a:cs typeface="+mn-cs"/>
              </a:rPr>
              <a:t>profound impact on the entire industry. Many of its features have become standard</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33</a:t>
            </a:fld>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kumimoji="1" lang="en-US" sz="1200" kern="1200" baseline="0" dirty="0">
                <a:solidFill>
                  <a:schemeClr val="tx1"/>
                </a:solidFill>
                <a:latin typeface="Times New Roman" pitchFamily="-110" charset="0"/>
                <a:ea typeface="+mn-ea"/>
                <a:cs typeface="+mn-cs"/>
              </a:rPr>
              <a:t>In the same year that IBM shipped its first System/360,</a:t>
            </a:r>
          </a:p>
          <a:p>
            <a:r>
              <a:rPr kumimoji="1" lang="en-US" sz="1200" kern="1200" baseline="0" dirty="0">
                <a:solidFill>
                  <a:schemeClr val="tx1"/>
                </a:solidFill>
                <a:latin typeface="Times New Roman" pitchFamily="-110" charset="0"/>
                <a:ea typeface="+mn-ea"/>
                <a:cs typeface="+mn-cs"/>
              </a:rPr>
              <a:t>another momentous first shipment occurred: PDP-8 from Digital Equipment</a:t>
            </a:r>
          </a:p>
          <a:p>
            <a:r>
              <a:rPr kumimoji="1" lang="en-US" sz="1200" kern="1200" baseline="0" dirty="0">
                <a:solidFill>
                  <a:schemeClr val="tx1"/>
                </a:solidFill>
                <a:latin typeface="Times New Roman" pitchFamily="-110" charset="0"/>
                <a:ea typeface="+mn-ea"/>
                <a:cs typeface="+mn-cs"/>
              </a:rPr>
              <a:t>Corporation (DEC). At a time when the average computer required an air conditioned</a:t>
            </a:r>
          </a:p>
          <a:p>
            <a:r>
              <a:rPr kumimoji="1" lang="en-US" sz="1200" kern="1200" baseline="0" dirty="0">
                <a:solidFill>
                  <a:schemeClr val="tx1"/>
                </a:solidFill>
                <a:latin typeface="Times New Roman" pitchFamily="-110" charset="0"/>
                <a:ea typeface="+mn-ea"/>
                <a:cs typeface="+mn-cs"/>
              </a:rPr>
              <a:t>room, the PDP-8 (dubbed-phong tước- a minicomputer by the industry, after the</a:t>
            </a:r>
          </a:p>
          <a:p>
            <a:r>
              <a:rPr kumimoji="1" lang="en-US" sz="1200" kern="1200" baseline="0" dirty="0">
                <a:solidFill>
                  <a:schemeClr val="tx1"/>
                </a:solidFill>
                <a:latin typeface="Times New Roman" pitchFamily="-110" charset="0"/>
                <a:ea typeface="+mn-ea"/>
                <a:cs typeface="+mn-cs"/>
              </a:rPr>
              <a:t>Miniskirt-váy ngắn- of the day) was small enough that it could be placed on top of a lab</a:t>
            </a:r>
          </a:p>
          <a:p>
            <a:r>
              <a:rPr kumimoji="1" lang="en-US" sz="1200" kern="1200" baseline="0" dirty="0">
                <a:solidFill>
                  <a:schemeClr val="tx1"/>
                </a:solidFill>
                <a:latin typeface="Times New Roman" pitchFamily="-110" charset="0"/>
                <a:ea typeface="+mn-ea"/>
                <a:cs typeface="+mn-cs"/>
              </a:rPr>
              <a:t>bench or be built into other equipment. It could not do everything the mainframe</a:t>
            </a:r>
          </a:p>
          <a:p>
            <a:r>
              <a:rPr kumimoji="1" lang="en-US" sz="1200" kern="1200" baseline="0" dirty="0">
                <a:solidFill>
                  <a:schemeClr val="tx1"/>
                </a:solidFill>
                <a:latin typeface="Times New Roman" pitchFamily="-110" charset="0"/>
                <a:ea typeface="+mn-ea"/>
                <a:cs typeface="+mn-cs"/>
              </a:rPr>
              <a:t>could, but at $16,000, it was cheap enough for each lab technician to have one.</a:t>
            </a:r>
          </a:p>
          <a:p>
            <a:r>
              <a:rPr kumimoji="1" lang="en-US" sz="1200" kern="1200" baseline="0" dirty="0">
                <a:solidFill>
                  <a:schemeClr val="tx1"/>
                </a:solidFill>
                <a:latin typeface="Times New Roman" pitchFamily="-110" charset="0"/>
                <a:ea typeface="+mn-ea"/>
                <a:cs typeface="+mn-cs"/>
              </a:rPr>
              <a:t>In contrast, the System/360 series of mainframe computers introduced just a few</a:t>
            </a:r>
          </a:p>
          <a:p>
            <a:r>
              <a:rPr kumimoji="1" lang="en-US" sz="1200" kern="1200" baseline="0" dirty="0">
                <a:solidFill>
                  <a:schemeClr val="tx1"/>
                </a:solidFill>
                <a:latin typeface="Times New Roman" pitchFamily="-110" charset="0"/>
                <a:ea typeface="+mn-ea"/>
                <a:cs typeface="+mn-cs"/>
              </a:rPr>
              <a:t>months before cost hundreds of thousands of dollars.</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The low cost and small size of the PDP-8 enabled another manufacturer to</a:t>
            </a:r>
          </a:p>
          <a:p>
            <a:r>
              <a:rPr kumimoji="1" lang="en-US" sz="1200" kern="1200" baseline="0" dirty="0">
                <a:solidFill>
                  <a:schemeClr val="tx1"/>
                </a:solidFill>
                <a:latin typeface="Times New Roman" pitchFamily="-110" charset="0"/>
                <a:ea typeface="+mn-ea"/>
                <a:cs typeface="+mn-cs"/>
              </a:rPr>
              <a:t>purchase a PDP-8 and integrate it into a total system for resale. These other manufacturers</a:t>
            </a:r>
          </a:p>
          <a:p>
            <a:r>
              <a:rPr kumimoji="1" lang="en-US" sz="1200" kern="1200" baseline="0" dirty="0">
                <a:solidFill>
                  <a:schemeClr val="tx1"/>
                </a:solidFill>
                <a:latin typeface="Times New Roman" pitchFamily="-110" charset="0"/>
                <a:ea typeface="+mn-ea"/>
                <a:cs typeface="+mn-cs"/>
              </a:rPr>
              <a:t>came to be known as </a:t>
            </a:r>
            <a:r>
              <a:rPr kumimoji="1" lang="en-US" sz="1200" b="1" kern="1200" baseline="0" dirty="0">
                <a:solidFill>
                  <a:schemeClr val="tx1"/>
                </a:solidFill>
                <a:latin typeface="Times New Roman" pitchFamily="-110" charset="0"/>
                <a:ea typeface="+mn-ea"/>
                <a:cs typeface="+mn-cs"/>
              </a:rPr>
              <a:t>original equipment manufacturers (OEMs), </a:t>
            </a:r>
            <a:r>
              <a:rPr kumimoji="1" lang="en-US" sz="1200" b="0" kern="1200" baseline="0" dirty="0">
                <a:solidFill>
                  <a:schemeClr val="tx1"/>
                </a:solidFill>
                <a:latin typeface="Times New Roman" pitchFamily="-110" charset="0"/>
                <a:ea typeface="+mn-ea"/>
                <a:cs typeface="+mn-cs"/>
              </a:rPr>
              <a:t>and the</a:t>
            </a:r>
          </a:p>
          <a:p>
            <a:r>
              <a:rPr kumimoji="1" lang="en-US" sz="1200" kern="1200" baseline="0" dirty="0">
                <a:solidFill>
                  <a:schemeClr val="tx1"/>
                </a:solidFill>
                <a:latin typeface="Times New Roman" pitchFamily="-110" charset="0"/>
                <a:ea typeface="+mn-ea"/>
                <a:cs typeface="+mn-cs"/>
              </a:rPr>
              <a:t>OEM market became and remains a major segment of the computer marketplace.</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The PDP-8 was an immediate hit and made DEC’s fortune. This machine</a:t>
            </a:r>
          </a:p>
          <a:p>
            <a:r>
              <a:rPr kumimoji="1" lang="en-US" sz="1200" kern="1200" baseline="0" dirty="0">
                <a:solidFill>
                  <a:schemeClr val="tx1"/>
                </a:solidFill>
                <a:latin typeface="Times New Roman" pitchFamily="-110" charset="0"/>
                <a:ea typeface="+mn-ea"/>
                <a:cs typeface="+mn-cs"/>
              </a:rPr>
              <a:t>and other members of the PDP-8 family that followed it (see Table 2.5) achieved</a:t>
            </a:r>
          </a:p>
          <a:p>
            <a:r>
              <a:rPr kumimoji="1" lang="en-US" sz="1200" kern="1200" baseline="0" dirty="0">
                <a:solidFill>
                  <a:schemeClr val="tx1"/>
                </a:solidFill>
                <a:latin typeface="Times New Roman" pitchFamily="-110" charset="0"/>
                <a:ea typeface="+mn-ea"/>
                <a:cs typeface="+mn-cs"/>
              </a:rPr>
              <a:t>a production status formerly reserved for IBM computers, with about 50,000</a:t>
            </a:r>
          </a:p>
          <a:p>
            <a:r>
              <a:rPr kumimoji="1" lang="en-US" sz="1200" kern="1200" baseline="0" dirty="0">
                <a:solidFill>
                  <a:schemeClr val="tx1"/>
                </a:solidFill>
                <a:latin typeface="Times New Roman" pitchFamily="-110" charset="0"/>
                <a:ea typeface="+mn-ea"/>
                <a:cs typeface="+mn-cs"/>
              </a:rPr>
              <a:t>machines sold over the next dozen years. As DEC’s official history puts it, the</a:t>
            </a:r>
          </a:p>
          <a:p>
            <a:r>
              <a:rPr kumimoji="1" lang="en-US" sz="1200" kern="1200" baseline="0" dirty="0">
                <a:solidFill>
                  <a:schemeClr val="tx1"/>
                </a:solidFill>
                <a:latin typeface="Times New Roman" pitchFamily="-110" charset="0"/>
                <a:ea typeface="+mn-ea"/>
                <a:cs typeface="+mn-cs"/>
              </a:rPr>
              <a:t>PDP-8 “ established the concept of minicomputers, leading the way to a multibillion</a:t>
            </a:r>
          </a:p>
          <a:p>
            <a:r>
              <a:rPr kumimoji="1" lang="en-US" sz="1200" kern="1200" baseline="0" dirty="0">
                <a:solidFill>
                  <a:schemeClr val="tx1"/>
                </a:solidFill>
                <a:latin typeface="Times New Roman" pitchFamily="-110" charset="0"/>
                <a:ea typeface="+mn-ea"/>
                <a:cs typeface="+mn-cs"/>
              </a:rPr>
              <a:t>dollar industry.” It also established DEC as the number one minicomputer vendor,</a:t>
            </a:r>
          </a:p>
          <a:p>
            <a:r>
              <a:rPr kumimoji="1" lang="en-US" sz="1200" kern="1200" baseline="0" dirty="0">
                <a:solidFill>
                  <a:schemeClr val="tx1"/>
                </a:solidFill>
                <a:latin typeface="Times New Roman" pitchFamily="-110" charset="0"/>
                <a:ea typeface="+mn-ea"/>
                <a:cs typeface="+mn-cs"/>
              </a:rPr>
              <a:t>and, by the time the PDP-8 had reached the end of its useful life, DEC was the</a:t>
            </a:r>
          </a:p>
          <a:p>
            <a:r>
              <a:rPr kumimoji="1" lang="en-US" sz="1200" kern="1200" baseline="0" dirty="0">
                <a:solidFill>
                  <a:schemeClr val="tx1"/>
                </a:solidFill>
                <a:latin typeface="Times New Roman" pitchFamily="-110" charset="0"/>
                <a:ea typeface="+mn-ea"/>
                <a:cs typeface="+mn-cs"/>
              </a:rPr>
              <a:t>number two computer manufacturer, behind IBM.</a:t>
            </a:r>
          </a:p>
          <a:p>
            <a:endParaRPr kumimoji="1" lang="en-US" sz="1200" kern="1200" baseline="0" dirty="0">
              <a:solidFill>
                <a:schemeClr val="tx1"/>
              </a:solidFill>
              <a:latin typeface="Times New Roman" pitchFamily="-110" charset="0"/>
              <a:ea typeface="+mn-ea"/>
              <a:cs typeface="+mn-cs"/>
            </a:endParaRPr>
          </a:p>
          <a:p>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34</a:t>
            </a:fld>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E6CBC27-C47F-FE4C-AAB2-D4E8A3D6C6BF}" type="slidenum">
              <a:rPr lang="en-US"/>
              <a:pPr/>
              <a:t>35</a:t>
            </a:fld>
            <a:endParaRPr lang="en-US" dirty="0"/>
          </a:p>
        </p:txBody>
      </p:sp>
      <p:sp>
        <p:nvSpPr>
          <p:cNvPr id="77826" name="Rectangle 2"/>
          <p:cNvSpPr>
            <a:spLocks noGrp="1" noRot="1" noChangeAspect="1" noChangeArrowheads="1" noTextEdit="1"/>
          </p:cNvSpPr>
          <p:nvPr>
            <p:ph type="sldImg"/>
          </p:nvPr>
        </p:nvSpPr>
        <p:spPr>
          <a:ln/>
        </p:spPr>
      </p:sp>
      <p:sp>
        <p:nvSpPr>
          <p:cNvPr id="77827"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110" charset="0"/>
                <a:ea typeface="+mn-ea"/>
                <a:cs typeface="+mn-cs"/>
              </a:rPr>
              <a:t>In contrast to the central-switched architecture (Figure 2.5) used by IBM on</a:t>
            </a:r>
          </a:p>
          <a:p>
            <a:r>
              <a:rPr kumimoji="1" lang="vi-VN" sz="1200" kern="1200" baseline="0">
                <a:solidFill>
                  <a:schemeClr val="tx1"/>
                </a:solidFill>
                <a:latin typeface="Times New Roman" pitchFamily="-110" charset="0"/>
                <a:ea typeface="+mn-ea"/>
                <a:cs typeface="+mn-cs"/>
              </a:rPr>
              <a:t>Trái ngược với kiến trúc chuyển mạch trung tâm (Hình 2.5) được IBM sử dụng trên</a:t>
            </a:r>
          </a:p>
          <a:p>
            <a:r>
              <a:rPr kumimoji="1" lang="vi-VN" sz="1200" kern="1200" baseline="0">
                <a:solidFill>
                  <a:schemeClr val="tx1"/>
                </a:solidFill>
                <a:latin typeface="Times New Roman" pitchFamily="-110" charset="0"/>
                <a:ea typeface="+mn-ea"/>
                <a:cs typeface="+mn-cs"/>
              </a:rPr>
              <a:t>Các hệ thống 700/7000 và 360 của nó, các mẫu PDP-8 sau này đã sử dụng cấu trúc đó là</a:t>
            </a:r>
          </a:p>
          <a:p>
            <a:r>
              <a:rPr kumimoji="1" lang="vi-VN" sz="1200" kern="1200" baseline="0">
                <a:solidFill>
                  <a:schemeClr val="tx1"/>
                </a:solidFill>
                <a:latin typeface="Times New Roman" pitchFamily="-110" charset="0"/>
                <a:ea typeface="+mn-ea"/>
                <a:cs typeface="+mn-cs"/>
              </a:rPr>
              <a:t>bây giờ hầu như phổ biến cho các máy vi tính: cấu trúc xe buýt. Điều này được minh họa</a:t>
            </a:r>
          </a:p>
          <a:p>
            <a:r>
              <a:rPr kumimoji="1" lang="vi-VN" sz="1200" kern="1200" baseline="0">
                <a:solidFill>
                  <a:schemeClr val="tx1"/>
                </a:solidFill>
                <a:latin typeface="Times New Roman" pitchFamily="-110" charset="0"/>
                <a:ea typeface="+mn-ea"/>
                <a:cs typeface="+mn-cs"/>
              </a:rPr>
              <a:t>trong hình 2.9. Xe buýt PDP-8, được gọi là Omnibus, bao gồm 96 tín hiệu riêng biệt</a:t>
            </a:r>
          </a:p>
          <a:p>
            <a:r>
              <a:rPr kumimoji="1" lang="vi-VN" sz="1200" kern="1200" baseline="0">
                <a:solidFill>
                  <a:schemeClr val="tx1"/>
                </a:solidFill>
                <a:latin typeface="Times New Roman" pitchFamily="-110" charset="0"/>
                <a:ea typeface="+mn-ea"/>
                <a:cs typeface="+mn-cs"/>
              </a:rPr>
              <a:t>đường dẫn, được sử dụng để mang tín hiệu điều khiển, địa chỉ và dữ liệu. Bởi vì tất cả các thành phần hệ thống</a:t>
            </a:r>
          </a:p>
          <a:p>
            <a:r>
              <a:rPr kumimoji="1" lang="vi-VN" sz="1200" kern="1200" baseline="0">
                <a:solidFill>
                  <a:schemeClr val="tx1"/>
                </a:solidFill>
                <a:latin typeface="Times New Roman" pitchFamily="-110" charset="0"/>
                <a:ea typeface="+mn-ea"/>
                <a:cs typeface="+mn-cs"/>
              </a:rPr>
              <a:t>chia sẻ một tập hợp các đường dẫn tín hiệu chung, việc sử dụng chúng có thể được điều khiển bởi CPU.</a:t>
            </a:r>
          </a:p>
          <a:p>
            <a:r>
              <a:rPr kumimoji="1" lang="vi-VN" sz="1200" kern="1200" baseline="0">
                <a:solidFill>
                  <a:schemeClr val="tx1"/>
                </a:solidFill>
                <a:latin typeface="Times New Roman" pitchFamily="-110" charset="0"/>
                <a:ea typeface="+mn-ea"/>
                <a:cs typeface="+mn-cs"/>
              </a:rPr>
              <a:t>Kiến trúc này rất linh hoạt, cho phép các mô-đun được cắm vào xe buýt để</a:t>
            </a:r>
          </a:p>
          <a:p>
            <a:r>
              <a:rPr kumimoji="1" lang="vi-VN" sz="1200" kern="1200" baseline="0">
                <a:solidFill>
                  <a:schemeClr val="tx1"/>
                </a:solidFill>
                <a:latin typeface="Times New Roman" pitchFamily="-110" charset="0"/>
                <a:ea typeface="+mn-ea"/>
                <a:cs typeface="+mn-cs"/>
              </a:rPr>
              <a:t>tạo cấu hình khác nhau.</a:t>
            </a:r>
            <a:endParaRPr kumimoji="1" lang="en-US" sz="1200" kern="1200" baseline="0">
              <a:solidFill>
                <a:schemeClr val="tx1"/>
              </a:solidFill>
              <a:latin typeface="Times New Roman" pitchFamily="-110" charset="0"/>
              <a:ea typeface="+mn-ea"/>
              <a:cs typeface="+mn-cs"/>
            </a:endParaRPr>
          </a:p>
          <a:p>
            <a:r>
              <a:rPr kumimoji="1" lang="en-US" sz="1200" kern="1200" baseline="0">
                <a:solidFill>
                  <a:schemeClr val="tx1"/>
                </a:solidFill>
                <a:latin typeface="Times New Roman" pitchFamily="-110" charset="0"/>
                <a:ea typeface="+mn-ea"/>
                <a:cs typeface="+mn-cs"/>
              </a:rPr>
              <a:t>its </a:t>
            </a:r>
            <a:r>
              <a:rPr kumimoji="1" lang="en-US" sz="1200" kern="1200" baseline="0" dirty="0">
                <a:solidFill>
                  <a:schemeClr val="tx1"/>
                </a:solidFill>
                <a:latin typeface="Times New Roman" pitchFamily="-110" charset="0"/>
                <a:ea typeface="+mn-ea"/>
                <a:cs typeface="+mn-cs"/>
              </a:rPr>
              <a:t>700/7000 and 360 systems, later models of the PDP-8 used a structure that is</a:t>
            </a:r>
          </a:p>
          <a:p>
            <a:r>
              <a:rPr kumimoji="1" lang="en-US" sz="1200" kern="1200" baseline="0" dirty="0">
                <a:solidFill>
                  <a:schemeClr val="tx1"/>
                </a:solidFill>
                <a:latin typeface="Times New Roman" pitchFamily="-110" charset="0"/>
                <a:ea typeface="+mn-ea"/>
                <a:cs typeface="+mn-cs"/>
              </a:rPr>
              <a:t>now virtually universal for microcomputers: the bus structure. This is illustrated</a:t>
            </a:r>
          </a:p>
          <a:p>
            <a:r>
              <a:rPr kumimoji="1" lang="en-US" sz="1200" kern="1200" baseline="0" dirty="0">
                <a:solidFill>
                  <a:schemeClr val="tx1"/>
                </a:solidFill>
                <a:latin typeface="Times New Roman" pitchFamily="-110" charset="0"/>
                <a:ea typeface="+mn-ea"/>
                <a:cs typeface="+mn-cs"/>
              </a:rPr>
              <a:t>in Figure 2.9. The PDP-8 bus, called the Omnibus, consists of 96 separate signal</a:t>
            </a:r>
          </a:p>
          <a:p>
            <a:r>
              <a:rPr kumimoji="1" lang="en-US" sz="1200" kern="1200" baseline="0" dirty="0">
                <a:solidFill>
                  <a:schemeClr val="tx1"/>
                </a:solidFill>
                <a:latin typeface="Times New Roman" pitchFamily="-110" charset="0"/>
                <a:ea typeface="+mn-ea"/>
                <a:cs typeface="+mn-cs"/>
              </a:rPr>
              <a:t>paths, used to carry control, address, and data signals. Because all system components</a:t>
            </a:r>
          </a:p>
          <a:p>
            <a:r>
              <a:rPr kumimoji="1" lang="en-US" sz="1200" kern="1200" baseline="0" dirty="0">
                <a:solidFill>
                  <a:schemeClr val="tx1"/>
                </a:solidFill>
                <a:latin typeface="Times New Roman" pitchFamily="-110" charset="0"/>
                <a:ea typeface="+mn-ea"/>
                <a:cs typeface="+mn-cs"/>
              </a:rPr>
              <a:t>share a common set of signal paths, their use can be controlled by the CPU.</a:t>
            </a:r>
          </a:p>
          <a:p>
            <a:r>
              <a:rPr kumimoji="1" lang="en-US" sz="1200" kern="1200" baseline="0" dirty="0">
                <a:solidFill>
                  <a:schemeClr val="tx1"/>
                </a:solidFill>
                <a:latin typeface="Times New Roman" pitchFamily="-110" charset="0"/>
                <a:ea typeface="+mn-ea"/>
                <a:cs typeface="+mn-cs"/>
              </a:rPr>
              <a:t>This architecture is highly flexible, allowing modules to be plugged into the bus to</a:t>
            </a:r>
          </a:p>
          <a:p>
            <a:r>
              <a:rPr kumimoji="1" lang="en-US" sz="1200" kern="1200" baseline="0" dirty="0">
                <a:solidFill>
                  <a:schemeClr val="tx1"/>
                </a:solidFill>
                <a:latin typeface="Times New Roman" pitchFamily="-110" charset="0"/>
                <a:ea typeface="+mn-ea"/>
                <a:cs typeface="+mn-cs"/>
              </a:rPr>
              <a:t>create various configurations.</a:t>
            </a:r>
            <a:endParaRPr lang="en-GB"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kumimoji="1" lang="vi-VN" sz="1200" kern="1200" baseline="0">
                <a:solidFill>
                  <a:schemeClr val="tx1"/>
                </a:solidFill>
                <a:latin typeface="Times New Roman" pitchFamily="-110" charset="0"/>
                <a:ea typeface="+mn-ea"/>
                <a:cs typeface="+mn-cs"/>
              </a:rPr>
              <a:t>Ngoài thế hệ thứ ba, có ít thỏa thuận chung hơn về việc xác định các thế hệ</a:t>
            </a:r>
          </a:p>
          <a:p>
            <a:r>
              <a:rPr kumimoji="1" lang="vi-VN" sz="1200" kern="1200" baseline="0">
                <a:solidFill>
                  <a:schemeClr val="tx1"/>
                </a:solidFill>
                <a:latin typeface="Times New Roman" pitchFamily="-110" charset="0"/>
                <a:ea typeface="+mn-ea"/>
                <a:cs typeface="+mn-cs"/>
              </a:rPr>
              <a:t>của máy tính. Bảng 2.2 cho thấy đã có một số thế hệ sau này,</a:t>
            </a:r>
          </a:p>
          <a:p>
            <a:r>
              <a:rPr kumimoji="1" lang="vi-VN" sz="1200" kern="1200" baseline="0">
                <a:solidFill>
                  <a:schemeClr val="tx1"/>
                </a:solidFill>
                <a:latin typeface="Times New Roman" pitchFamily="-110" charset="0"/>
                <a:ea typeface="+mn-ea"/>
                <a:cs typeface="+mn-cs"/>
              </a:rPr>
              <a:t>dựa trên những tiến bộ trong công nghệ mạch tích hợp. Với phần giới thiệu</a:t>
            </a:r>
          </a:p>
          <a:p>
            <a:r>
              <a:rPr kumimoji="1" lang="vi-VN" sz="1200" kern="1200" baseline="0">
                <a:solidFill>
                  <a:schemeClr val="tx1"/>
                </a:solidFill>
                <a:latin typeface="Times New Roman" pitchFamily="-110" charset="0"/>
                <a:ea typeface="+mn-ea"/>
                <a:cs typeface="+mn-cs"/>
              </a:rPr>
              <a:t>tích hợp quy mô lớn (LSI), hơn 1000 thành phần có thể được đặt trên một</a:t>
            </a:r>
          </a:p>
          <a:p>
            <a:r>
              <a:rPr kumimoji="1" lang="vi-VN" sz="1200" kern="1200" baseline="0">
                <a:solidFill>
                  <a:schemeClr val="tx1"/>
                </a:solidFill>
                <a:latin typeface="Times New Roman" pitchFamily="-110" charset="0"/>
                <a:ea typeface="+mn-ea"/>
                <a:cs typeface="+mn-cs"/>
              </a:rPr>
              <a:t>chip mạch tích hợp đơn. Tích hợp quy mô rất lớn (VLSI) đạt được nhiều hơn</a:t>
            </a:r>
          </a:p>
          <a:p>
            <a:r>
              <a:rPr kumimoji="1" lang="vi-VN" sz="1200" kern="1200" baseline="0">
                <a:solidFill>
                  <a:schemeClr val="tx1"/>
                </a:solidFill>
                <a:latin typeface="Times New Roman" pitchFamily="-110" charset="0"/>
                <a:ea typeface="+mn-ea"/>
                <a:cs typeface="+mn-cs"/>
              </a:rPr>
              <a:t>hơn 10.000 thành phần trên mỗi chip, trong khi tích hợp quy mô cực lớn hiện nay (ULSI)</a:t>
            </a:r>
          </a:p>
          <a:p>
            <a:r>
              <a:rPr kumimoji="1" lang="vi-VN" sz="1200" kern="1200" baseline="0">
                <a:solidFill>
                  <a:schemeClr val="tx1"/>
                </a:solidFill>
                <a:latin typeface="Times New Roman" pitchFamily="-110" charset="0"/>
                <a:ea typeface="+mn-ea"/>
                <a:cs typeface="+mn-cs"/>
              </a:rPr>
              <a:t>chip có thể chứa hơn một tỷ thành phần.</a:t>
            </a:r>
          </a:p>
          <a:p>
            <a:endParaRPr kumimoji="1" lang="vi-VN" sz="1200" kern="1200" baseline="0">
              <a:solidFill>
                <a:schemeClr val="tx1"/>
              </a:solidFill>
              <a:latin typeface="Times New Roman" pitchFamily="-110" charset="0"/>
              <a:ea typeface="+mn-ea"/>
              <a:cs typeface="+mn-cs"/>
            </a:endParaRPr>
          </a:p>
          <a:p>
            <a:r>
              <a:rPr kumimoji="1" lang="vi-VN" sz="1200" kern="1200" baseline="0">
                <a:solidFill>
                  <a:schemeClr val="tx1"/>
                </a:solidFill>
                <a:latin typeface="Times New Roman" pitchFamily="-110" charset="0"/>
                <a:ea typeface="+mn-ea"/>
                <a:cs typeface="+mn-cs"/>
              </a:rPr>
              <a:t>Với tốc độ phát triển nhanh chóng của công nghệ, tỷ lệ giới thiệu sản phẩm mới cao,</a:t>
            </a:r>
          </a:p>
          <a:p>
            <a:r>
              <a:rPr kumimoji="1" lang="vi-VN" sz="1200" kern="1200" baseline="0">
                <a:solidFill>
                  <a:schemeClr val="tx1"/>
                </a:solidFill>
                <a:latin typeface="Times New Roman" pitchFamily="-110" charset="0"/>
                <a:ea typeface="+mn-ea"/>
                <a:cs typeface="+mn-cs"/>
              </a:rPr>
              <a:t>và tầm quan trọng của phần mềm và truyền thông cũng như phần cứng,</a:t>
            </a:r>
          </a:p>
          <a:p>
            <a:r>
              <a:rPr kumimoji="1" lang="vi-VN" sz="1200" kern="1200" baseline="0">
                <a:solidFill>
                  <a:schemeClr val="tx1"/>
                </a:solidFill>
                <a:latin typeface="Times New Roman" pitchFamily="-110" charset="0"/>
                <a:ea typeface="+mn-ea"/>
                <a:cs typeface="+mn-cs"/>
              </a:rPr>
              <a:t>phân loại theo thế hệ trở nên ít rõ ràng và ít ý nghĩa hơn. Nó có thể được nói là</a:t>
            </a:r>
          </a:p>
          <a:p>
            <a:r>
              <a:rPr kumimoji="1" lang="vi-VN" sz="1200" kern="1200" baseline="0">
                <a:solidFill>
                  <a:schemeClr val="tx1"/>
                </a:solidFill>
                <a:latin typeface="Times New Roman" pitchFamily="-110" charset="0"/>
                <a:ea typeface="+mn-ea"/>
                <a:cs typeface="+mn-cs"/>
              </a:rPr>
              <a:t>ứng dụng thương mại của những phát triển mới dẫn đến một sự thay đổi lớn trong</a:t>
            </a:r>
          </a:p>
          <a:p>
            <a:r>
              <a:rPr kumimoji="1" lang="vi-VN" sz="1200" kern="1200" baseline="0">
                <a:solidFill>
                  <a:schemeClr val="tx1"/>
                </a:solidFill>
                <a:latin typeface="Times New Roman" pitchFamily="-110" charset="0"/>
                <a:ea typeface="+mn-ea"/>
                <a:cs typeface="+mn-cs"/>
              </a:rPr>
              <a:t>đầu những năm 1970 và kết quả của những thay đổi này vẫn đang được thực hiện. Trong</a:t>
            </a:r>
          </a:p>
          <a:p>
            <a:r>
              <a:rPr kumimoji="1" lang="vi-VN" sz="1200" kern="1200" baseline="0">
                <a:solidFill>
                  <a:schemeClr val="tx1"/>
                </a:solidFill>
                <a:latin typeface="Times New Roman" pitchFamily="-110" charset="0"/>
                <a:ea typeface="+mn-ea"/>
                <a:cs typeface="+mn-cs"/>
              </a:rPr>
              <a:t>phần này, chúng tôi đề cập đến hai trong số những kết quả quan trọng nhất.</a:t>
            </a:r>
            <a:endParaRPr kumimoji="1" lang="en-US" sz="1200" kern="1200" baseline="0">
              <a:solidFill>
                <a:schemeClr val="tx1"/>
              </a:solidFill>
              <a:latin typeface="Times New Roman" pitchFamily="-110" charset="0"/>
              <a:ea typeface="+mn-ea"/>
              <a:cs typeface="+mn-cs"/>
            </a:endParaRPr>
          </a:p>
          <a:p>
            <a:r>
              <a:rPr kumimoji="1" lang="en-US" sz="1200" kern="1200" baseline="0">
                <a:solidFill>
                  <a:schemeClr val="tx1"/>
                </a:solidFill>
                <a:latin typeface="Times New Roman" pitchFamily="-110" charset="0"/>
                <a:ea typeface="+mn-ea"/>
                <a:cs typeface="+mn-cs"/>
              </a:rPr>
              <a:t>Beyond </a:t>
            </a:r>
            <a:r>
              <a:rPr kumimoji="1" lang="en-US" sz="1200" kern="1200" baseline="0" dirty="0">
                <a:solidFill>
                  <a:schemeClr val="tx1"/>
                </a:solidFill>
                <a:latin typeface="Times New Roman" pitchFamily="-110" charset="0"/>
                <a:ea typeface="+mn-ea"/>
                <a:cs typeface="+mn-cs"/>
              </a:rPr>
              <a:t>the third generation there is less general agreement on defining generations</a:t>
            </a:r>
          </a:p>
          <a:p>
            <a:r>
              <a:rPr kumimoji="1" lang="en-US" sz="1200" kern="1200" baseline="0" dirty="0">
                <a:solidFill>
                  <a:schemeClr val="tx1"/>
                </a:solidFill>
                <a:latin typeface="Times New Roman" pitchFamily="-110" charset="0"/>
                <a:ea typeface="+mn-ea"/>
                <a:cs typeface="+mn-cs"/>
              </a:rPr>
              <a:t>of computers. Table 2.2 suggests that there have been a number of later generations,</a:t>
            </a:r>
          </a:p>
          <a:p>
            <a:r>
              <a:rPr kumimoji="1" lang="en-US" sz="1200" kern="1200" baseline="0" dirty="0">
                <a:solidFill>
                  <a:schemeClr val="tx1"/>
                </a:solidFill>
                <a:latin typeface="Times New Roman" pitchFamily="-110" charset="0"/>
                <a:ea typeface="+mn-ea"/>
                <a:cs typeface="+mn-cs"/>
              </a:rPr>
              <a:t>based on advances in integrated circuit technology. With the introduction</a:t>
            </a:r>
          </a:p>
          <a:p>
            <a:r>
              <a:rPr kumimoji="1" lang="en-US" sz="1200" kern="1200" baseline="0" dirty="0">
                <a:solidFill>
                  <a:schemeClr val="tx1"/>
                </a:solidFill>
                <a:latin typeface="Times New Roman" pitchFamily="-110" charset="0"/>
                <a:ea typeface="+mn-ea"/>
                <a:cs typeface="+mn-cs"/>
              </a:rPr>
              <a:t>of large-scale integration (LSI), more than 1000 components can be placed on a</a:t>
            </a:r>
          </a:p>
          <a:p>
            <a:r>
              <a:rPr kumimoji="1" lang="en-US" sz="1200" kern="1200" baseline="0" dirty="0">
                <a:solidFill>
                  <a:schemeClr val="tx1"/>
                </a:solidFill>
                <a:latin typeface="Times New Roman" pitchFamily="-110" charset="0"/>
                <a:ea typeface="+mn-ea"/>
                <a:cs typeface="+mn-cs"/>
              </a:rPr>
              <a:t>single integrated circuit chip. Very-large-scale integration (VLSI) achieved more</a:t>
            </a:r>
          </a:p>
          <a:p>
            <a:r>
              <a:rPr kumimoji="1" lang="en-US" sz="1200" kern="1200" baseline="0" dirty="0">
                <a:solidFill>
                  <a:schemeClr val="tx1"/>
                </a:solidFill>
                <a:latin typeface="Times New Roman" pitchFamily="-110" charset="0"/>
                <a:ea typeface="+mn-ea"/>
                <a:cs typeface="+mn-cs"/>
              </a:rPr>
              <a:t>than 10,000 components per chip, while current ultra-large-scale integration (ULSI)</a:t>
            </a:r>
          </a:p>
          <a:p>
            <a:r>
              <a:rPr kumimoji="1" lang="en-US" sz="1200" kern="1200" baseline="0" dirty="0">
                <a:solidFill>
                  <a:schemeClr val="tx1"/>
                </a:solidFill>
                <a:latin typeface="Times New Roman" pitchFamily="-110" charset="0"/>
                <a:ea typeface="+mn-ea"/>
                <a:cs typeface="+mn-cs"/>
              </a:rPr>
              <a:t>chips can contain more than one billion components.</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With the rapid pace of technology, the high rate of introduction of new products,</a:t>
            </a:r>
          </a:p>
          <a:p>
            <a:r>
              <a:rPr kumimoji="1" lang="en-US" sz="1200" kern="1200" baseline="0" dirty="0">
                <a:solidFill>
                  <a:schemeClr val="tx1"/>
                </a:solidFill>
                <a:latin typeface="Times New Roman" pitchFamily="-110" charset="0"/>
                <a:ea typeface="+mn-ea"/>
                <a:cs typeface="+mn-cs"/>
              </a:rPr>
              <a:t>and the importance of software and communications as well as hardware, the</a:t>
            </a:r>
          </a:p>
          <a:p>
            <a:r>
              <a:rPr kumimoji="1" lang="en-US" sz="1200" kern="1200" baseline="0" dirty="0">
                <a:solidFill>
                  <a:schemeClr val="tx1"/>
                </a:solidFill>
                <a:latin typeface="Times New Roman" pitchFamily="-110" charset="0"/>
                <a:ea typeface="+mn-ea"/>
                <a:cs typeface="+mn-cs"/>
              </a:rPr>
              <a:t>classification by generation becomes less clear and less meaningful. It could be said</a:t>
            </a:r>
          </a:p>
          <a:p>
            <a:r>
              <a:rPr kumimoji="1" lang="en-US" sz="1200" kern="1200" baseline="0" dirty="0">
                <a:solidFill>
                  <a:schemeClr val="tx1"/>
                </a:solidFill>
                <a:latin typeface="Times New Roman" pitchFamily="-110" charset="0"/>
                <a:ea typeface="+mn-ea"/>
                <a:cs typeface="+mn-cs"/>
              </a:rPr>
              <a:t>that the commercial application of new developments resulted in a major change in</a:t>
            </a:r>
          </a:p>
          <a:p>
            <a:r>
              <a:rPr kumimoji="1" lang="en-US" sz="1200" kern="1200" baseline="0" dirty="0">
                <a:solidFill>
                  <a:schemeClr val="tx1"/>
                </a:solidFill>
                <a:latin typeface="Times New Roman" pitchFamily="-110" charset="0"/>
                <a:ea typeface="+mn-ea"/>
                <a:cs typeface="+mn-cs"/>
              </a:rPr>
              <a:t>the early 1970s and that the results of these changes are still being worked out. In</a:t>
            </a:r>
          </a:p>
          <a:p>
            <a:r>
              <a:rPr kumimoji="1" lang="en-US" sz="1200" kern="1200" baseline="0" dirty="0">
                <a:solidFill>
                  <a:schemeClr val="tx1"/>
                </a:solidFill>
                <a:latin typeface="Times New Roman" pitchFamily="-110" charset="0"/>
                <a:ea typeface="+mn-ea"/>
                <a:cs typeface="+mn-cs"/>
              </a:rPr>
              <a:t>this section, we mention two of the most important of these results.</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36</a:t>
            </a:fld>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B775837-BA97-264F-BC10-02C45904A722}" type="slidenum">
              <a:rPr lang="en-US"/>
              <a:pPr/>
              <a:t>37</a:t>
            </a:fld>
            <a:endParaRPr lang="en-US" dirty="0"/>
          </a:p>
        </p:txBody>
      </p:sp>
      <p:sp>
        <p:nvSpPr>
          <p:cNvPr id="78850" name="Rectangle 2"/>
          <p:cNvSpPr>
            <a:spLocks noGrp="1" noRot="1" noChangeAspect="1" noChangeArrowheads="1" noTextEdit="1"/>
          </p:cNvSpPr>
          <p:nvPr>
            <p:ph type="sldImg"/>
          </p:nvPr>
        </p:nvSpPr>
        <p:spPr>
          <a:ln/>
        </p:spPr>
      </p:sp>
      <p:sp>
        <p:nvSpPr>
          <p:cNvPr id="78851"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110" charset="0"/>
                <a:ea typeface="+mn-ea"/>
                <a:cs typeface="+mn-cs"/>
              </a:rPr>
              <a:t>Semiconductor memory: </a:t>
            </a:r>
            <a:r>
              <a:rPr kumimoji="1" lang="en-US" sz="1200" kern="1200" baseline="0" dirty="0" err="1">
                <a:solidFill>
                  <a:schemeClr val="tx1"/>
                </a:solidFill>
                <a:latin typeface="Times New Roman" pitchFamily="-110" charset="0"/>
                <a:ea typeface="+mn-ea"/>
                <a:cs typeface="+mn-cs"/>
              </a:rPr>
              <a:t>bộ</a:t>
            </a:r>
            <a:r>
              <a:rPr kumimoji="1" lang="en-US" sz="1200" kern="1200" baseline="0" dirty="0">
                <a:solidFill>
                  <a:schemeClr val="tx1"/>
                </a:solidFill>
                <a:latin typeface="Times New Roman" pitchFamily="-110" charset="0"/>
                <a:ea typeface="+mn-ea"/>
                <a:cs typeface="+mn-cs"/>
              </a:rPr>
              <a:t> </a:t>
            </a:r>
            <a:r>
              <a:rPr kumimoji="1" lang="en-US" sz="1200" kern="1200" baseline="0" dirty="0" err="1">
                <a:solidFill>
                  <a:schemeClr val="tx1"/>
                </a:solidFill>
                <a:latin typeface="Times New Roman" pitchFamily="-110" charset="0"/>
                <a:ea typeface="+mn-ea"/>
                <a:cs typeface="+mn-cs"/>
              </a:rPr>
              <a:t>nhớ</a:t>
            </a:r>
            <a:r>
              <a:rPr kumimoji="1" lang="en-US" sz="1200" kern="1200" baseline="0" dirty="0">
                <a:solidFill>
                  <a:schemeClr val="tx1"/>
                </a:solidFill>
                <a:latin typeface="Times New Roman" pitchFamily="-110" charset="0"/>
                <a:ea typeface="+mn-ea"/>
                <a:cs typeface="+mn-cs"/>
              </a:rPr>
              <a:t> </a:t>
            </a:r>
            <a:r>
              <a:rPr kumimoji="1" lang="en-US" sz="1200" kern="1200" baseline="0" dirty="0" err="1">
                <a:solidFill>
                  <a:schemeClr val="tx1"/>
                </a:solidFill>
                <a:latin typeface="Times New Roman" pitchFamily="-110" charset="0"/>
                <a:ea typeface="+mn-ea"/>
                <a:cs typeface="+mn-cs"/>
              </a:rPr>
              <a:t>bán</a:t>
            </a:r>
            <a:r>
              <a:rPr kumimoji="1" lang="en-US" sz="1200" kern="1200" baseline="0" dirty="0">
                <a:solidFill>
                  <a:schemeClr val="tx1"/>
                </a:solidFill>
                <a:latin typeface="Times New Roman" pitchFamily="-110" charset="0"/>
                <a:ea typeface="+mn-ea"/>
                <a:cs typeface="+mn-cs"/>
              </a:rPr>
              <a:t> </a:t>
            </a:r>
            <a:r>
              <a:rPr kumimoji="1" lang="en-US" sz="1200" kern="1200" baseline="0" dirty="0" err="1">
                <a:solidFill>
                  <a:schemeClr val="tx1"/>
                </a:solidFill>
                <a:latin typeface="Times New Roman" pitchFamily="-110" charset="0"/>
                <a:ea typeface="+mn-ea"/>
                <a:cs typeface="+mn-cs"/>
              </a:rPr>
              <a:t>dẫn</a:t>
            </a:r>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Non-destructive: </a:t>
            </a:r>
            <a:r>
              <a:rPr kumimoji="1" lang="en-US" sz="1200" kern="1200" baseline="0" dirty="0" err="1">
                <a:solidFill>
                  <a:schemeClr val="tx1"/>
                </a:solidFill>
                <a:latin typeface="Times New Roman" pitchFamily="-110" charset="0"/>
                <a:ea typeface="+mn-ea"/>
                <a:cs typeface="+mn-cs"/>
              </a:rPr>
              <a:t>không</a:t>
            </a:r>
            <a:r>
              <a:rPr kumimoji="1" lang="en-US" sz="1200" kern="1200" baseline="0" dirty="0">
                <a:solidFill>
                  <a:schemeClr val="tx1"/>
                </a:solidFill>
                <a:latin typeface="Times New Roman" pitchFamily="-110" charset="0"/>
                <a:ea typeface="+mn-ea"/>
                <a:cs typeface="+mn-cs"/>
              </a:rPr>
              <a:t> </a:t>
            </a:r>
            <a:r>
              <a:rPr kumimoji="1" lang="en-US" sz="1200" kern="1200" baseline="0" dirty="0" err="1">
                <a:solidFill>
                  <a:schemeClr val="tx1"/>
                </a:solidFill>
                <a:latin typeface="Times New Roman" pitchFamily="-110" charset="0"/>
                <a:ea typeface="+mn-ea"/>
                <a:cs typeface="+mn-cs"/>
              </a:rPr>
              <a:t>phá</a:t>
            </a:r>
            <a:r>
              <a:rPr kumimoji="1" lang="en-US" sz="1200" kern="1200" baseline="0" dirty="0">
                <a:solidFill>
                  <a:schemeClr val="tx1"/>
                </a:solidFill>
                <a:latin typeface="Times New Roman" pitchFamily="-110" charset="0"/>
                <a:ea typeface="+mn-ea"/>
                <a:cs typeface="+mn-cs"/>
              </a:rPr>
              <a:t> </a:t>
            </a:r>
            <a:r>
              <a:rPr kumimoji="1" lang="en-US" sz="1200" kern="1200" baseline="0" dirty="0" err="1">
                <a:solidFill>
                  <a:schemeClr val="tx1"/>
                </a:solidFill>
                <a:latin typeface="Times New Roman" pitchFamily="-110" charset="0"/>
                <a:ea typeface="+mn-ea"/>
                <a:cs typeface="+mn-cs"/>
              </a:rPr>
              <a:t>hủy</a:t>
            </a:r>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Capacious : </a:t>
            </a:r>
            <a:r>
              <a:rPr kumimoji="1" lang="en-US" sz="1200" kern="1200" baseline="0" dirty="0" err="1">
                <a:solidFill>
                  <a:schemeClr val="tx1"/>
                </a:solidFill>
                <a:latin typeface="Times New Roman" pitchFamily="-110" charset="0"/>
                <a:ea typeface="+mn-ea"/>
                <a:cs typeface="+mn-cs"/>
              </a:rPr>
              <a:t>rộng</a:t>
            </a:r>
            <a:r>
              <a:rPr kumimoji="1" lang="en-US" sz="1200" kern="1200" baseline="0" dirty="0">
                <a:solidFill>
                  <a:schemeClr val="tx1"/>
                </a:solidFill>
                <a:latin typeface="Times New Roman" pitchFamily="-110" charset="0"/>
                <a:ea typeface="+mn-ea"/>
                <a:cs typeface="+mn-cs"/>
              </a:rPr>
              <a:t>, </a:t>
            </a:r>
            <a:r>
              <a:rPr kumimoji="1" lang="en-US" sz="1200" kern="1200" baseline="0" dirty="0" err="1">
                <a:solidFill>
                  <a:schemeClr val="tx1"/>
                </a:solidFill>
                <a:latin typeface="Times New Roman" pitchFamily="-110" charset="0"/>
                <a:ea typeface="+mn-ea"/>
                <a:cs typeface="+mn-cs"/>
              </a:rPr>
              <a:t>rộng</a:t>
            </a:r>
            <a:r>
              <a:rPr kumimoji="1" lang="en-US" sz="1200" kern="1200" baseline="0" dirty="0">
                <a:solidFill>
                  <a:schemeClr val="tx1"/>
                </a:solidFill>
                <a:latin typeface="Times New Roman" pitchFamily="-110" charset="0"/>
                <a:ea typeface="+mn-ea"/>
                <a:cs typeface="+mn-cs"/>
              </a:rPr>
              <a:t> </a:t>
            </a:r>
            <a:r>
              <a:rPr kumimoji="1" lang="en-US" sz="1200" kern="1200" baseline="0" dirty="0" err="1">
                <a:solidFill>
                  <a:schemeClr val="tx1"/>
                </a:solidFill>
                <a:latin typeface="Times New Roman" pitchFamily="-110" charset="0"/>
                <a:ea typeface="+mn-ea"/>
                <a:cs typeface="+mn-cs"/>
              </a:rPr>
              <a:t>rãi</a:t>
            </a:r>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Relatively: </a:t>
            </a:r>
            <a:r>
              <a:rPr kumimoji="1" lang="en-US" sz="1200" kern="1200" baseline="0" dirty="0" err="1">
                <a:solidFill>
                  <a:schemeClr val="tx1"/>
                </a:solidFill>
                <a:latin typeface="Times New Roman" pitchFamily="-110" charset="0"/>
                <a:ea typeface="+mn-ea"/>
                <a:cs typeface="+mn-cs"/>
              </a:rPr>
              <a:t>tương</a:t>
            </a:r>
            <a:r>
              <a:rPr kumimoji="1" lang="en-US" sz="1200" kern="1200" baseline="0" dirty="0">
                <a:solidFill>
                  <a:schemeClr val="tx1"/>
                </a:solidFill>
                <a:latin typeface="Times New Roman" pitchFamily="-110" charset="0"/>
                <a:ea typeface="+mn-ea"/>
                <a:cs typeface="+mn-cs"/>
              </a:rPr>
              <a:t> </a:t>
            </a:r>
            <a:r>
              <a:rPr kumimoji="1" lang="en-US" sz="1200" kern="1200" baseline="0" dirty="0" err="1">
                <a:solidFill>
                  <a:schemeClr val="tx1"/>
                </a:solidFill>
                <a:latin typeface="Times New Roman" pitchFamily="-110" charset="0"/>
                <a:ea typeface="+mn-ea"/>
                <a:cs typeface="+mn-cs"/>
              </a:rPr>
              <a:t>đối</a:t>
            </a:r>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Decline : </a:t>
            </a:r>
            <a:r>
              <a:rPr kumimoji="1" lang="en-US" sz="1200" kern="1200" baseline="0" dirty="0" err="1">
                <a:solidFill>
                  <a:schemeClr val="tx1"/>
                </a:solidFill>
                <a:latin typeface="Times New Roman" pitchFamily="-110" charset="0"/>
                <a:ea typeface="+mn-ea"/>
                <a:cs typeface="+mn-cs"/>
              </a:rPr>
              <a:t>suy</a:t>
            </a:r>
            <a:r>
              <a:rPr kumimoji="1" lang="en-US" sz="1200" kern="1200" baseline="0" dirty="0">
                <a:solidFill>
                  <a:schemeClr val="tx1"/>
                </a:solidFill>
                <a:latin typeface="Times New Roman" pitchFamily="-110" charset="0"/>
                <a:ea typeface="+mn-ea"/>
                <a:cs typeface="+mn-cs"/>
              </a:rPr>
              <a:t> </a:t>
            </a:r>
            <a:r>
              <a:rPr kumimoji="1" lang="en-US" sz="1200" kern="1200" baseline="0" dirty="0" err="1">
                <a:solidFill>
                  <a:schemeClr val="tx1"/>
                </a:solidFill>
                <a:latin typeface="Times New Roman" pitchFamily="-110" charset="0"/>
                <a:ea typeface="+mn-ea"/>
                <a:cs typeface="+mn-cs"/>
              </a:rPr>
              <a:t>giảm</a:t>
            </a:r>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Accompanied : </a:t>
            </a:r>
            <a:r>
              <a:rPr kumimoji="1" lang="en-US" sz="1200" kern="1200" baseline="0" dirty="0" err="1">
                <a:solidFill>
                  <a:schemeClr val="tx1"/>
                </a:solidFill>
                <a:latin typeface="Times New Roman" pitchFamily="-110" charset="0"/>
                <a:ea typeface="+mn-ea"/>
                <a:cs typeface="+mn-cs"/>
              </a:rPr>
              <a:t>đi</a:t>
            </a:r>
            <a:r>
              <a:rPr kumimoji="1" lang="en-US" sz="1200" kern="1200" baseline="0" dirty="0">
                <a:solidFill>
                  <a:schemeClr val="tx1"/>
                </a:solidFill>
                <a:latin typeface="Times New Roman" pitchFamily="-110" charset="0"/>
                <a:ea typeface="+mn-ea"/>
                <a:cs typeface="+mn-cs"/>
              </a:rPr>
              <a:t> </a:t>
            </a:r>
            <a:r>
              <a:rPr kumimoji="1" lang="en-US" sz="1200" kern="1200" baseline="0" dirty="0" err="1">
                <a:solidFill>
                  <a:schemeClr val="tx1"/>
                </a:solidFill>
                <a:latin typeface="Times New Roman" pitchFamily="-110" charset="0"/>
                <a:ea typeface="+mn-ea"/>
                <a:cs typeface="+mn-cs"/>
              </a:rPr>
              <a:t>cùng</a:t>
            </a:r>
            <a:r>
              <a:rPr kumimoji="1" lang="en-US" sz="1200" kern="1200" baseline="0" dirty="0">
                <a:solidFill>
                  <a:schemeClr val="tx1"/>
                </a:solidFill>
                <a:latin typeface="Times New Roman" pitchFamily="-110" charset="0"/>
                <a:ea typeface="+mn-ea"/>
                <a:cs typeface="+mn-cs"/>
              </a:rPr>
              <a:t> </a:t>
            </a:r>
            <a:r>
              <a:rPr kumimoji="1" lang="en-US" sz="1200" kern="1200" baseline="0" dirty="0" err="1">
                <a:solidFill>
                  <a:schemeClr val="tx1"/>
                </a:solidFill>
                <a:latin typeface="Times New Roman" pitchFamily="-110" charset="0"/>
                <a:ea typeface="+mn-ea"/>
                <a:cs typeface="+mn-cs"/>
              </a:rPr>
              <a:t>với</a:t>
            </a:r>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Density: ty </a:t>
            </a:r>
            <a:r>
              <a:rPr kumimoji="1" lang="en-US" sz="1200" kern="1200" baseline="0" dirty="0" err="1">
                <a:solidFill>
                  <a:schemeClr val="tx1"/>
                </a:solidFill>
                <a:latin typeface="Times New Roman" pitchFamily="-110" charset="0"/>
                <a:ea typeface="+mn-ea"/>
                <a:cs typeface="+mn-cs"/>
              </a:rPr>
              <a:t>trọng,mật</a:t>
            </a:r>
            <a:r>
              <a:rPr kumimoji="1" lang="en-US" sz="1200" kern="1200" baseline="0" dirty="0">
                <a:solidFill>
                  <a:schemeClr val="tx1"/>
                </a:solidFill>
                <a:latin typeface="Times New Roman" pitchFamily="-110" charset="0"/>
                <a:ea typeface="+mn-ea"/>
                <a:cs typeface="+mn-cs"/>
              </a:rPr>
              <a:t> </a:t>
            </a:r>
            <a:r>
              <a:rPr kumimoji="1" lang="en-US" sz="1200" kern="1200" baseline="0" dirty="0" err="1">
                <a:solidFill>
                  <a:schemeClr val="tx1"/>
                </a:solidFill>
                <a:latin typeface="Times New Roman" pitchFamily="-110" charset="0"/>
                <a:ea typeface="+mn-ea"/>
                <a:cs typeface="+mn-cs"/>
              </a:rPr>
              <a:t>độ</a:t>
            </a:r>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Corresponding: </a:t>
            </a:r>
            <a:r>
              <a:rPr kumimoji="1" lang="en-US" sz="1200" kern="1200" baseline="0" dirty="0" err="1">
                <a:solidFill>
                  <a:schemeClr val="tx1"/>
                </a:solidFill>
                <a:latin typeface="Times New Roman" pitchFamily="-110" charset="0"/>
                <a:ea typeface="+mn-ea"/>
                <a:cs typeface="+mn-cs"/>
              </a:rPr>
              <a:t>tương</a:t>
            </a:r>
            <a:r>
              <a:rPr kumimoji="1" lang="en-US" sz="1200" kern="1200" baseline="0" dirty="0">
                <a:solidFill>
                  <a:schemeClr val="tx1"/>
                </a:solidFill>
                <a:latin typeface="Times New Roman" pitchFamily="-110" charset="0"/>
                <a:ea typeface="+mn-ea"/>
                <a:cs typeface="+mn-cs"/>
              </a:rPr>
              <a:t> </a:t>
            </a:r>
            <a:r>
              <a:rPr kumimoji="1" lang="en-US" sz="1200" kern="1200" baseline="0" dirty="0" err="1">
                <a:solidFill>
                  <a:schemeClr val="tx1"/>
                </a:solidFill>
                <a:latin typeface="Times New Roman" pitchFamily="-110" charset="0"/>
                <a:ea typeface="+mn-ea"/>
                <a:cs typeface="+mn-cs"/>
              </a:rPr>
              <a:t>ứng</a:t>
            </a:r>
            <a:endParaRPr kumimoji="1" lang="en-US" sz="1200" kern="1200" baseline="0" dirty="0">
              <a:solidFill>
                <a:schemeClr val="tx1"/>
              </a:solidFill>
              <a:latin typeface="Times New Roman" pitchFamily="-110" charset="0"/>
              <a:ea typeface="+mn-ea"/>
              <a:cs typeface="+mn-cs"/>
            </a:endParaRPr>
          </a:p>
          <a:p>
            <a:r>
              <a:rPr kumimoji="1" lang="vi-VN" sz="1200" kern="1200" baseline="0" dirty="0">
                <a:solidFill>
                  <a:schemeClr val="tx1"/>
                </a:solidFill>
                <a:latin typeface="Times New Roman" pitchFamily="-110" charset="0"/>
                <a:ea typeface="+mn-ea"/>
                <a:cs typeface="+mn-cs"/>
              </a:rPr>
              <a:t>Ứng dụng đầu tiên của công nghệ mạch tích hợp</a:t>
            </a:r>
          </a:p>
          <a:p>
            <a:r>
              <a:rPr kumimoji="1" lang="vi-VN" sz="1200" kern="1200" baseline="0" dirty="0">
                <a:solidFill>
                  <a:schemeClr val="tx1"/>
                </a:solidFill>
                <a:latin typeface="Times New Roman" pitchFamily="-110" charset="0"/>
                <a:ea typeface="+mn-ea"/>
                <a:cs typeface="+mn-cs"/>
              </a:rPr>
              <a:t>đến máy tính là việc xây dựng bộ xử lý (đơn vị điều khiển và số học</a:t>
            </a:r>
          </a:p>
          <a:p>
            <a:r>
              <a:rPr kumimoji="1" lang="vi-VN" sz="1200" kern="1200" baseline="0" dirty="0">
                <a:solidFill>
                  <a:schemeClr val="tx1"/>
                </a:solidFill>
                <a:latin typeface="Times New Roman" pitchFamily="-110" charset="0"/>
                <a:ea typeface="+mn-ea"/>
                <a:cs typeface="+mn-cs"/>
              </a:rPr>
              <a:t>và đơn vị logic) ra khỏi chip mạch tích hợp. Nhưng nó cũng được tìm thấy rằng điều này tương tự</a:t>
            </a:r>
          </a:p>
          <a:p>
            <a:r>
              <a:rPr kumimoji="1" lang="vi-VN" sz="1200" kern="1200" baseline="0" dirty="0">
                <a:solidFill>
                  <a:schemeClr val="tx1"/>
                </a:solidFill>
                <a:latin typeface="Times New Roman" pitchFamily="-110" charset="0"/>
                <a:ea typeface="+mn-ea"/>
                <a:cs typeface="+mn-cs"/>
              </a:rPr>
              <a:t>công nghệ có thể được sử dụng để xây dựng ký ức.</a:t>
            </a:r>
          </a:p>
          <a:p>
            <a:endParaRPr kumimoji="1" lang="vi-VN" sz="1200" kern="1200" baseline="0" dirty="0">
              <a:solidFill>
                <a:schemeClr val="tx1"/>
              </a:solidFill>
              <a:latin typeface="Times New Roman" pitchFamily="-110" charset="0"/>
              <a:ea typeface="+mn-ea"/>
              <a:cs typeface="+mn-cs"/>
            </a:endParaRPr>
          </a:p>
          <a:p>
            <a:r>
              <a:rPr kumimoji="1" lang="vi-VN" sz="1200" kern="1200" baseline="0" dirty="0">
                <a:solidFill>
                  <a:schemeClr val="tx1"/>
                </a:solidFill>
                <a:latin typeface="Times New Roman" pitchFamily="-110" charset="0"/>
                <a:ea typeface="+mn-ea"/>
                <a:cs typeface="+mn-cs"/>
              </a:rPr>
              <a:t>Trong những năm 1950 và 1960, hầu hết bộ nhớ máy tính được xây dựng từ nhỏ</a:t>
            </a:r>
          </a:p>
          <a:p>
            <a:r>
              <a:rPr kumimoji="1" lang="vi-VN" sz="1200" kern="1200" baseline="0" dirty="0">
                <a:solidFill>
                  <a:schemeClr val="tx1"/>
                </a:solidFill>
                <a:latin typeface="Times New Roman" pitchFamily="-110" charset="0"/>
                <a:ea typeface="+mn-ea"/>
                <a:cs typeface="+mn-cs"/>
              </a:rPr>
              <a:t>các vòng vật liệu sắt từ, mỗi vòng có đường kính khoảng một phần mười sáu inch. Những</a:t>
            </a:r>
          </a:p>
          <a:p>
            <a:r>
              <a:rPr kumimoji="1" lang="vi-VN" sz="1200" kern="1200" baseline="0" dirty="0">
                <a:solidFill>
                  <a:schemeClr val="tx1"/>
                </a:solidFill>
                <a:latin typeface="Times New Roman" pitchFamily="-110" charset="0"/>
                <a:ea typeface="+mn-ea"/>
                <a:cs typeface="+mn-cs"/>
              </a:rPr>
              <a:t>những chiếc nhẫn được xâu thành chuỗi trên những sợi dây mảnh được treo trên màn hình nhỏ bên trong</a:t>
            </a:r>
          </a:p>
          <a:p>
            <a:r>
              <a:rPr kumimoji="1" lang="vi-VN" sz="1200" kern="1200" baseline="0" dirty="0">
                <a:solidFill>
                  <a:schemeClr val="tx1"/>
                </a:solidFill>
                <a:latin typeface="Times New Roman" pitchFamily="-110" charset="0"/>
                <a:ea typeface="+mn-ea"/>
                <a:cs typeface="+mn-cs"/>
              </a:rPr>
              <a:t>máy vi tính. Từ hóa một chiều, một vòng (được gọi là lõi) đại diện cho một; từ hóa</a:t>
            </a:r>
          </a:p>
          <a:p>
            <a:r>
              <a:rPr kumimoji="1" lang="vi-VN" sz="1200" kern="1200" baseline="0" dirty="0">
                <a:solidFill>
                  <a:schemeClr val="tx1"/>
                </a:solidFill>
                <a:latin typeface="Times New Roman" pitchFamily="-110" charset="0"/>
                <a:ea typeface="+mn-ea"/>
                <a:cs typeface="+mn-cs"/>
              </a:rPr>
              <a:t>cách khác, nó là số không. Bộ nhớ lõi từ khá nhanh; nó đã như</a:t>
            </a:r>
          </a:p>
          <a:p>
            <a:r>
              <a:rPr kumimoji="1" lang="vi-VN" sz="1200" kern="1200" baseline="0" dirty="0">
                <a:solidFill>
                  <a:schemeClr val="tx1"/>
                </a:solidFill>
                <a:latin typeface="Times New Roman" pitchFamily="-110" charset="0"/>
                <a:ea typeface="+mn-ea"/>
                <a:cs typeface="+mn-cs"/>
              </a:rPr>
              <a:t>chỉ là một phần triệu giây để đọc một chút được lưu trữ trong bộ nhớ. Nhưng nó đắt</a:t>
            </a:r>
          </a:p>
          <a:p>
            <a:r>
              <a:rPr kumimoji="1" lang="vi-VN" sz="1200" kern="1200" baseline="0" dirty="0">
                <a:solidFill>
                  <a:schemeClr val="tx1"/>
                </a:solidFill>
                <a:latin typeface="Times New Roman" pitchFamily="-110" charset="0"/>
                <a:ea typeface="+mn-ea"/>
                <a:cs typeface="+mn-cs"/>
              </a:rPr>
              <a:t>cồng kềnh và được sử dụng đọc phá hủy: Hành động đơn giản là đọc lõi đã xóa dữ liệu</a:t>
            </a:r>
          </a:p>
          <a:p>
            <a:r>
              <a:rPr kumimoji="1" lang="vi-VN" sz="1200" kern="1200" baseline="0" dirty="0">
                <a:solidFill>
                  <a:schemeClr val="tx1"/>
                </a:solidFill>
                <a:latin typeface="Times New Roman" pitchFamily="-110" charset="0"/>
                <a:ea typeface="+mn-ea"/>
                <a:cs typeface="+mn-cs"/>
              </a:rPr>
              <a:t>lưu trữ trong đó. Do đó, cần phải cài đặt các mạch để khôi phục dữ liệu ngay sau đó</a:t>
            </a:r>
          </a:p>
          <a:p>
            <a:r>
              <a:rPr kumimoji="1" lang="vi-VN" sz="1200" kern="1200" baseline="0" dirty="0">
                <a:solidFill>
                  <a:schemeClr val="tx1"/>
                </a:solidFill>
                <a:latin typeface="Times New Roman" pitchFamily="-110" charset="0"/>
                <a:ea typeface="+mn-ea"/>
                <a:cs typeface="+mn-cs"/>
              </a:rPr>
              <a:t>như nó đã được trích xuất</a:t>
            </a:r>
          </a:p>
          <a:p>
            <a:endParaRPr kumimoji="1" lang="vi-VN" sz="1200" kern="1200" baseline="0" dirty="0">
              <a:solidFill>
                <a:schemeClr val="tx1"/>
              </a:solidFill>
              <a:latin typeface="Times New Roman" pitchFamily="-110" charset="0"/>
              <a:ea typeface="+mn-ea"/>
              <a:cs typeface="+mn-cs"/>
            </a:endParaRPr>
          </a:p>
          <a:p>
            <a:r>
              <a:rPr kumimoji="1" lang="vi-VN" sz="1200" kern="1200" baseline="0" dirty="0">
                <a:solidFill>
                  <a:schemeClr val="tx1"/>
                </a:solidFill>
                <a:latin typeface="Times New Roman" pitchFamily="-110" charset="0"/>
                <a:ea typeface="+mn-ea"/>
                <a:cs typeface="+mn-cs"/>
              </a:rPr>
              <a:t>Sau đó, vào năm 1970, Fairchild đã sản xuất chất bán dẫn tương đối mạnh mẽ (có thể có)</a:t>
            </a:r>
          </a:p>
          <a:p>
            <a:r>
              <a:rPr kumimoji="1" lang="vi-VN" sz="1200" kern="1200" baseline="0" dirty="0">
                <a:solidFill>
                  <a:schemeClr val="tx1"/>
                </a:solidFill>
                <a:latin typeface="Times New Roman" pitchFamily="-110" charset="0"/>
                <a:ea typeface="+mn-ea"/>
                <a:cs typeface="+mn-cs"/>
              </a:rPr>
              <a:t>ký ức. Con chip này, có kích thước bằng một lõi đơn, có thể chứa 256 bit bộ nhớ. Nó</a:t>
            </a:r>
          </a:p>
          <a:p>
            <a:r>
              <a:rPr kumimoji="1" lang="vi-VN" sz="1200" kern="1200" baseline="0" dirty="0">
                <a:solidFill>
                  <a:schemeClr val="tx1"/>
                </a:solidFill>
                <a:latin typeface="Times New Roman" pitchFamily="-110" charset="0"/>
                <a:ea typeface="+mn-ea"/>
                <a:cs typeface="+mn-cs"/>
              </a:rPr>
              <a:t>là không phá hủy và nhanh hơn nhiều so với cốt lõi. Chỉ mất 70 phần tỷ của một giây</a:t>
            </a:r>
          </a:p>
          <a:p>
            <a:r>
              <a:rPr kumimoji="1" lang="vi-VN" sz="1200" kern="1200" baseline="0" dirty="0">
                <a:solidFill>
                  <a:schemeClr val="tx1"/>
                </a:solidFill>
                <a:latin typeface="Times New Roman" pitchFamily="-110" charset="0"/>
                <a:ea typeface="+mn-ea"/>
                <a:cs typeface="+mn-cs"/>
              </a:rPr>
              <a:t>để đọc một chút Tuy nhiên, chi phí cho mỗi bit cao hơn so với lõi.</a:t>
            </a:r>
          </a:p>
          <a:p>
            <a:endParaRPr kumimoji="1" lang="vi-VN" sz="1200" kern="1200" baseline="0" dirty="0">
              <a:solidFill>
                <a:schemeClr val="tx1"/>
              </a:solidFill>
              <a:latin typeface="Times New Roman" pitchFamily="-110" charset="0"/>
              <a:ea typeface="+mn-ea"/>
              <a:cs typeface="+mn-cs"/>
            </a:endParaRPr>
          </a:p>
          <a:p>
            <a:r>
              <a:rPr kumimoji="1" lang="vi-VN" sz="1200" kern="1200" baseline="0" dirty="0">
                <a:solidFill>
                  <a:schemeClr val="tx1"/>
                </a:solidFill>
                <a:latin typeface="Times New Roman" pitchFamily="-110" charset="0"/>
                <a:ea typeface="+mn-ea"/>
                <a:cs typeface="+mn-cs"/>
              </a:rPr>
              <a:t>Vào năm 1974, một sự kiện bán kết đã xảy ra: Giá mỗi bit của bộ nhớ bán dẫn</a:t>
            </a:r>
          </a:p>
          <a:p>
            <a:r>
              <a:rPr kumimoji="1" lang="vi-VN" sz="1200" kern="1200" baseline="0" dirty="0">
                <a:solidFill>
                  <a:schemeClr val="tx1"/>
                </a:solidFill>
                <a:latin typeface="Times New Roman" pitchFamily="-110" charset="0"/>
                <a:ea typeface="+mn-ea"/>
                <a:cs typeface="+mn-cs"/>
              </a:rPr>
              <a:t>giảm xuống dưới giá mỗi bit của bộ nhớ lõi. Sau đó, đã có một tiếp tục</a:t>
            </a:r>
          </a:p>
          <a:p>
            <a:r>
              <a:rPr kumimoji="1" lang="vi-VN" sz="1200" kern="1200" baseline="0" dirty="0">
                <a:solidFill>
                  <a:schemeClr val="tx1"/>
                </a:solidFill>
                <a:latin typeface="Times New Roman" pitchFamily="-110" charset="0"/>
                <a:ea typeface="+mn-ea"/>
                <a:cs typeface="+mn-cs"/>
              </a:rPr>
              <a:t>và giảm nhanh chi phí bộ nhớ kèm theo sự gia tăng tương ứng</a:t>
            </a:r>
          </a:p>
          <a:p>
            <a:r>
              <a:rPr kumimoji="1" lang="vi-VN" sz="1200" kern="1200" baseline="0" dirty="0">
                <a:solidFill>
                  <a:schemeClr val="tx1"/>
                </a:solidFill>
                <a:latin typeface="Times New Roman" pitchFamily="-110" charset="0"/>
                <a:ea typeface="+mn-ea"/>
                <a:cs typeface="+mn-cs"/>
              </a:rPr>
              <a:t>trong mật độ bộ nhớ vật lý. Điều này đã dẫn đường đến các máy nhỏ hơn, nhanh hơn với</a:t>
            </a:r>
          </a:p>
          <a:p>
            <a:r>
              <a:rPr kumimoji="1" lang="vi-VN" sz="1200" kern="1200" baseline="0" dirty="0">
                <a:solidFill>
                  <a:schemeClr val="tx1"/>
                </a:solidFill>
                <a:latin typeface="Times New Roman" pitchFamily="-110" charset="0"/>
                <a:ea typeface="+mn-ea"/>
                <a:cs typeface="+mn-cs"/>
              </a:rPr>
              <a:t>kích thước bộ nhớ của các máy lớn hơn và đắt tiền hơn chỉ từ một vài năm trước.</a:t>
            </a:r>
          </a:p>
          <a:p>
            <a:r>
              <a:rPr kumimoji="1" lang="vi-VN" sz="1200" kern="1200" baseline="0" dirty="0">
                <a:solidFill>
                  <a:schemeClr val="tx1"/>
                </a:solidFill>
                <a:latin typeface="Times New Roman" pitchFamily="-110" charset="0"/>
                <a:ea typeface="+mn-ea"/>
                <a:cs typeface="+mn-cs"/>
              </a:rPr>
              <a:t>Sự phát triển trong công nghệ bộ nhớ, cùng với sự phát triển trong công nghệ bộ xử lý</a:t>
            </a:r>
          </a:p>
          <a:p>
            <a:r>
              <a:rPr kumimoji="1" lang="vi-VN" sz="1200" kern="1200" baseline="0" dirty="0">
                <a:solidFill>
                  <a:schemeClr val="tx1"/>
                </a:solidFill>
                <a:latin typeface="Times New Roman" pitchFamily="-110" charset="0"/>
                <a:ea typeface="+mn-ea"/>
                <a:cs typeface="+mn-cs"/>
              </a:rPr>
              <a:t>sẽ được thảo luận tiếp theo, thay đổi bản chất của máy tính trong chưa đầy một thập kỷ.</a:t>
            </a:r>
          </a:p>
          <a:p>
            <a:r>
              <a:rPr kumimoji="1" lang="vi-VN" sz="1200" kern="1200" baseline="0" dirty="0">
                <a:solidFill>
                  <a:schemeClr val="tx1"/>
                </a:solidFill>
                <a:latin typeface="Times New Roman" pitchFamily="-110" charset="0"/>
                <a:ea typeface="+mn-ea"/>
                <a:cs typeface="+mn-cs"/>
              </a:rPr>
              <a:t>Mặc dù cồng kềnh, máy tính đắt tiền vẫn là một phần của cảnh quan, máy tính có</a:t>
            </a:r>
          </a:p>
          <a:p>
            <a:r>
              <a:rPr kumimoji="1" lang="vi-VN" sz="1200" kern="1200" baseline="0" dirty="0">
                <a:solidFill>
                  <a:schemeClr val="tx1"/>
                </a:solidFill>
                <a:latin typeface="Times New Roman" pitchFamily="-110" charset="0"/>
                <a:ea typeface="+mn-ea"/>
                <a:cs typeface="+mn-cs"/>
              </a:rPr>
              <a:t>cũng đã được đưa ra cho người dùng cuối, các máy văn phòng và máy tính cá nhân.</a:t>
            </a:r>
          </a:p>
          <a:p>
            <a:r>
              <a:rPr kumimoji="1" lang="vi-VN" sz="1200" kern="1200" baseline="0" dirty="0">
                <a:solidFill>
                  <a:schemeClr val="tx1"/>
                </a:solidFill>
                <a:latin typeface="Times New Roman" pitchFamily="-110" charset="0"/>
                <a:ea typeface="+mn-ea"/>
                <a:cs typeface="+mn-cs"/>
              </a:rPr>
              <a:t>Từ năm 1970, bộ nhớ bán dẫn đã trải qua 13 thế hệ: 1K, 4K,</a:t>
            </a:r>
          </a:p>
          <a:p>
            <a:r>
              <a:rPr kumimoji="1" lang="vi-VN" sz="1200" kern="1200" baseline="0" dirty="0">
                <a:solidFill>
                  <a:schemeClr val="tx1"/>
                </a:solidFill>
                <a:latin typeface="Times New Roman" pitchFamily="-110" charset="0"/>
                <a:ea typeface="+mn-ea"/>
                <a:cs typeface="+mn-cs"/>
              </a:rPr>
              <a:t>16K, 64K, 256K, 1M, 4M, 16M, 64M, 256M, 1G, 4G và, như bài viết này, 16 Gbits</a:t>
            </a:r>
          </a:p>
          <a:p>
            <a:r>
              <a:rPr kumimoji="1" lang="vi-VN" sz="1200" kern="1200" baseline="0" dirty="0">
                <a:solidFill>
                  <a:schemeClr val="tx1"/>
                </a:solidFill>
                <a:latin typeface="Times New Roman" pitchFamily="-110" charset="0"/>
                <a:ea typeface="+mn-ea"/>
                <a:cs typeface="+mn-cs"/>
              </a:rPr>
              <a:t>trên một chip đơn (1K = 210, 1M = 220, 1G = 230). Mỗi thế hệ đã cung cấp bốn</a:t>
            </a:r>
          </a:p>
          <a:p>
            <a:r>
              <a:rPr kumimoji="1" lang="vi-VN" sz="1200" kern="1200" baseline="0" dirty="0">
                <a:solidFill>
                  <a:schemeClr val="tx1"/>
                </a:solidFill>
                <a:latin typeface="Times New Roman" pitchFamily="-110" charset="0"/>
                <a:ea typeface="+mn-ea"/>
                <a:cs typeface="+mn-cs"/>
              </a:rPr>
              <a:t>nhân với mật độ lưu trữ của thế hệ trước, kèm theo chi phí giảm</a:t>
            </a:r>
          </a:p>
          <a:p>
            <a:r>
              <a:rPr kumimoji="1" lang="vi-VN" sz="1200" kern="1200" baseline="0" dirty="0">
                <a:solidFill>
                  <a:schemeClr val="tx1"/>
                </a:solidFill>
                <a:latin typeface="Times New Roman" pitchFamily="-110" charset="0"/>
                <a:ea typeface="+mn-ea"/>
                <a:cs typeface="+mn-cs"/>
              </a:rPr>
              <a:t>mỗi bit và thời gian truy cập giảm dần.</a:t>
            </a:r>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The first application of integrated circuit technology</a:t>
            </a:r>
          </a:p>
          <a:p>
            <a:r>
              <a:rPr kumimoji="1" lang="en-US" sz="1200" kern="1200" baseline="0" dirty="0">
                <a:solidFill>
                  <a:schemeClr val="tx1"/>
                </a:solidFill>
                <a:latin typeface="Times New Roman" pitchFamily="-110" charset="0"/>
                <a:ea typeface="+mn-ea"/>
                <a:cs typeface="+mn-cs"/>
              </a:rPr>
              <a:t>to computers was construction of the processor (the control unit and the arithmetic</a:t>
            </a:r>
          </a:p>
          <a:p>
            <a:r>
              <a:rPr kumimoji="1" lang="en-US" sz="1200" kern="1200" baseline="0" dirty="0">
                <a:solidFill>
                  <a:schemeClr val="tx1"/>
                </a:solidFill>
                <a:latin typeface="Times New Roman" pitchFamily="-110" charset="0"/>
                <a:ea typeface="+mn-ea"/>
                <a:cs typeface="+mn-cs"/>
              </a:rPr>
              <a:t>and logic unit) out of integrated circuit chips. But it was also found that this same</a:t>
            </a:r>
          </a:p>
          <a:p>
            <a:r>
              <a:rPr kumimoji="1" lang="en-US" sz="1200" kern="1200" baseline="0" dirty="0">
                <a:solidFill>
                  <a:schemeClr val="tx1"/>
                </a:solidFill>
                <a:latin typeface="Times New Roman" pitchFamily="-110" charset="0"/>
                <a:ea typeface="+mn-ea"/>
                <a:cs typeface="+mn-cs"/>
              </a:rPr>
              <a:t>technology could be used to construct memories.</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In the 1950s and 1960s, most computer memory was constructed from tiny</a:t>
            </a:r>
          </a:p>
          <a:p>
            <a:r>
              <a:rPr kumimoji="1" lang="en-US" sz="1200" kern="1200" baseline="0" dirty="0">
                <a:solidFill>
                  <a:schemeClr val="tx1"/>
                </a:solidFill>
                <a:latin typeface="Times New Roman" pitchFamily="-110" charset="0"/>
                <a:ea typeface="+mn-ea"/>
                <a:cs typeface="+mn-cs"/>
              </a:rPr>
              <a:t>rings of ferromagnetic material, each about a sixteenth of an inch in diameter. These</a:t>
            </a:r>
          </a:p>
          <a:p>
            <a:r>
              <a:rPr kumimoji="1" lang="en-US" sz="1200" kern="1200" baseline="0" dirty="0">
                <a:solidFill>
                  <a:schemeClr val="tx1"/>
                </a:solidFill>
                <a:latin typeface="Times New Roman" pitchFamily="-110" charset="0"/>
                <a:ea typeface="+mn-ea"/>
                <a:cs typeface="+mn-cs"/>
              </a:rPr>
              <a:t>rings were strung up on grids of fine wires suspended on small screens inside the</a:t>
            </a:r>
          </a:p>
          <a:p>
            <a:r>
              <a:rPr kumimoji="1" lang="en-US" sz="1200" kern="1200" baseline="0" dirty="0">
                <a:solidFill>
                  <a:schemeClr val="tx1"/>
                </a:solidFill>
                <a:latin typeface="Times New Roman" pitchFamily="-110" charset="0"/>
                <a:ea typeface="+mn-ea"/>
                <a:cs typeface="+mn-cs"/>
              </a:rPr>
              <a:t>computer. Magnetized one way, a ring (called a </a:t>
            </a:r>
            <a:r>
              <a:rPr kumimoji="1" lang="en-US" sz="1200" i="1" kern="1200" baseline="0" dirty="0">
                <a:solidFill>
                  <a:schemeClr val="tx1"/>
                </a:solidFill>
                <a:latin typeface="Times New Roman" pitchFamily="-110" charset="0"/>
                <a:ea typeface="+mn-ea"/>
                <a:cs typeface="+mn-cs"/>
              </a:rPr>
              <a:t>core) represented a one; magnetized</a:t>
            </a:r>
          </a:p>
          <a:p>
            <a:r>
              <a:rPr kumimoji="1" lang="en-US" sz="1200" kern="1200" baseline="0" dirty="0">
                <a:solidFill>
                  <a:schemeClr val="tx1"/>
                </a:solidFill>
                <a:latin typeface="Times New Roman" pitchFamily="-110" charset="0"/>
                <a:ea typeface="+mn-ea"/>
                <a:cs typeface="+mn-cs"/>
              </a:rPr>
              <a:t>the other way, it stood for a zero. Magnetic-core memory was rather fast; it took as</a:t>
            </a:r>
          </a:p>
          <a:p>
            <a:r>
              <a:rPr kumimoji="1" lang="en-US" sz="1200" kern="1200" baseline="0" dirty="0">
                <a:solidFill>
                  <a:schemeClr val="tx1"/>
                </a:solidFill>
                <a:latin typeface="Times New Roman" pitchFamily="-110" charset="0"/>
                <a:ea typeface="+mn-ea"/>
                <a:cs typeface="+mn-cs"/>
              </a:rPr>
              <a:t>little as a millionth of a second to read a bit stored in memory. But it was expensive,</a:t>
            </a:r>
          </a:p>
          <a:p>
            <a:r>
              <a:rPr kumimoji="1" lang="en-US" sz="1200" kern="1200" baseline="0" dirty="0">
                <a:solidFill>
                  <a:schemeClr val="tx1"/>
                </a:solidFill>
                <a:latin typeface="Times New Roman" pitchFamily="-110" charset="0"/>
                <a:ea typeface="+mn-ea"/>
                <a:cs typeface="+mn-cs"/>
              </a:rPr>
              <a:t>bulky, and used destructive readout: The simple act of reading a core erased the data</a:t>
            </a:r>
          </a:p>
          <a:p>
            <a:r>
              <a:rPr kumimoji="1" lang="en-US" sz="1200" kern="1200" baseline="0" dirty="0">
                <a:solidFill>
                  <a:schemeClr val="tx1"/>
                </a:solidFill>
                <a:latin typeface="Times New Roman" pitchFamily="-110" charset="0"/>
                <a:ea typeface="+mn-ea"/>
                <a:cs typeface="+mn-cs"/>
              </a:rPr>
              <a:t>stored in it. It was therefore necessary to install circuits to restore the data as soon</a:t>
            </a:r>
          </a:p>
          <a:p>
            <a:r>
              <a:rPr kumimoji="1" lang="en-US" sz="1200" kern="1200" baseline="0" dirty="0">
                <a:solidFill>
                  <a:schemeClr val="tx1"/>
                </a:solidFill>
                <a:latin typeface="Times New Roman" pitchFamily="-110" charset="0"/>
                <a:ea typeface="+mn-ea"/>
                <a:cs typeface="+mn-cs"/>
              </a:rPr>
              <a:t>as it had been extracted.</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Then, in 1970, Fairchild produced the first relatively capacious (</a:t>
            </a:r>
            <a:r>
              <a:rPr kumimoji="1" lang="en-US" sz="1200" kern="1200" baseline="0" dirty="0" err="1">
                <a:solidFill>
                  <a:schemeClr val="tx1"/>
                </a:solidFill>
                <a:latin typeface="Times New Roman" pitchFamily="-110" charset="0"/>
                <a:ea typeface="+mn-ea"/>
                <a:cs typeface="+mn-cs"/>
              </a:rPr>
              <a:t>có</a:t>
            </a:r>
            <a:r>
              <a:rPr kumimoji="1" lang="en-US" sz="1200" kern="1200" baseline="0" dirty="0">
                <a:solidFill>
                  <a:schemeClr val="tx1"/>
                </a:solidFill>
                <a:latin typeface="Times New Roman" pitchFamily="-110" charset="0"/>
                <a:ea typeface="+mn-ea"/>
                <a:cs typeface="+mn-cs"/>
              </a:rPr>
              <a:t> </a:t>
            </a:r>
            <a:r>
              <a:rPr kumimoji="1" lang="en-US" sz="1200" kern="1200" baseline="0" dirty="0" err="1">
                <a:solidFill>
                  <a:schemeClr val="tx1"/>
                </a:solidFill>
                <a:latin typeface="Times New Roman" pitchFamily="-110" charset="0"/>
                <a:ea typeface="+mn-ea"/>
                <a:cs typeface="+mn-cs"/>
              </a:rPr>
              <a:t>thể</a:t>
            </a:r>
            <a:r>
              <a:rPr kumimoji="1" lang="en-US" sz="1200" kern="1200" baseline="0" dirty="0">
                <a:solidFill>
                  <a:schemeClr val="tx1"/>
                </a:solidFill>
                <a:latin typeface="Times New Roman" pitchFamily="-110" charset="0"/>
                <a:ea typeface="+mn-ea"/>
                <a:cs typeface="+mn-cs"/>
              </a:rPr>
              <a:t> </a:t>
            </a:r>
            <a:r>
              <a:rPr kumimoji="1" lang="en-US" sz="1200" kern="1200" baseline="0" dirty="0" err="1">
                <a:solidFill>
                  <a:schemeClr val="tx1"/>
                </a:solidFill>
                <a:latin typeface="Times New Roman" pitchFamily="-110" charset="0"/>
                <a:ea typeface="+mn-ea"/>
                <a:cs typeface="+mn-cs"/>
              </a:rPr>
              <a:t>chứa</a:t>
            </a:r>
            <a:r>
              <a:rPr kumimoji="1" lang="en-US" sz="1200" kern="1200" baseline="0" dirty="0">
                <a:solidFill>
                  <a:schemeClr val="tx1"/>
                </a:solidFill>
                <a:latin typeface="Times New Roman" pitchFamily="-110" charset="0"/>
                <a:ea typeface="+mn-ea"/>
                <a:cs typeface="+mn-cs"/>
              </a:rPr>
              <a:t> </a:t>
            </a:r>
            <a:r>
              <a:rPr kumimoji="1" lang="en-US" sz="1200" kern="1200" baseline="0" dirty="0" err="1">
                <a:solidFill>
                  <a:schemeClr val="tx1"/>
                </a:solidFill>
                <a:latin typeface="Times New Roman" pitchFamily="-110" charset="0"/>
                <a:ea typeface="+mn-ea"/>
                <a:cs typeface="+mn-cs"/>
              </a:rPr>
              <a:t>nhiều</a:t>
            </a:r>
            <a:r>
              <a:rPr kumimoji="1" lang="en-US" sz="1200" kern="1200" baseline="0" dirty="0">
                <a:solidFill>
                  <a:schemeClr val="tx1"/>
                </a:solidFill>
                <a:latin typeface="Times New Roman" pitchFamily="-110" charset="0"/>
                <a:ea typeface="+mn-ea"/>
                <a:cs typeface="+mn-cs"/>
              </a:rPr>
              <a:t>) semiconductor</a:t>
            </a:r>
          </a:p>
          <a:p>
            <a:r>
              <a:rPr kumimoji="1" lang="en-US" sz="1200" kern="1200" baseline="0" dirty="0">
                <a:solidFill>
                  <a:schemeClr val="tx1"/>
                </a:solidFill>
                <a:latin typeface="Times New Roman" pitchFamily="-110" charset="0"/>
                <a:ea typeface="+mn-ea"/>
                <a:cs typeface="+mn-cs"/>
              </a:rPr>
              <a:t>memory. This chip, about the size of a single core, could hold 256 bits of memory. It</a:t>
            </a:r>
          </a:p>
          <a:p>
            <a:r>
              <a:rPr kumimoji="1" lang="en-US" sz="1200" kern="1200" baseline="0" dirty="0">
                <a:solidFill>
                  <a:schemeClr val="tx1"/>
                </a:solidFill>
                <a:latin typeface="Times New Roman" pitchFamily="-110" charset="0"/>
                <a:ea typeface="+mn-ea"/>
                <a:cs typeface="+mn-cs"/>
              </a:rPr>
              <a:t>was nondestructive and much faster than core. It took only 70 billionths of a second</a:t>
            </a:r>
          </a:p>
          <a:p>
            <a:r>
              <a:rPr kumimoji="1" lang="en-US" sz="1200" kern="1200" baseline="0" dirty="0">
                <a:solidFill>
                  <a:schemeClr val="tx1"/>
                </a:solidFill>
                <a:latin typeface="Times New Roman" pitchFamily="-110" charset="0"/>
                <a:ea typeface="+mn-ea"/>
                <a:cs typeface="+mn-cs"/>
              </a:rPr>
              <a:t>to read a bit. However, the cost per bit was higher than for that of core.</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In 1974, a seminal event occurred: The price per bit of semiconductor memory</a:t>
            </a:r>
          </a:p>
          <a:p>
            <a:r>
              <a:rPr kumimoji="1" lang="en-US" sz="1200" kern="1200" baseline="0" dirty="0">
                <a:solidFill>
                  <a:schemeClr val="tx1"/>
                </a:solidFill>
                <a:latin typeface="Times New Roman" pitchFamily="-110" charset="0"/>
                <a:ea typeface="+mn-ea"/>
                <a:cs typeface="+mn-cs"/>
              </a:rPr>
              <a:t>dropped below the price per bit of core memory. Following this, there has been a continuing</a:t>
            </a:r>
          </a:p>
          <a:p>
            <a:r>
              <a:rPr kumimoji="1" lang="en-US" sz="1200" kern="1200" baseline="0" dirty="0">
                <a:solidFill>
                  <a:schemeClr val="tx1"/>
                </a:solidFill>
                <a:latin typeface="Times New Roman" pitchFamily="-110" charset="0"/>
                <a:ea typeface="+mn-ea"/>
                <a:cs typeface="+mn-cs"/>
              </a:rPr>
              <a:t>and rapid decline in memory cost accompanied by a corresponding increase</a:t>
            </a:r>
          </a:p>
          <a:p>
            <a:r>
              <a:rPr kumimoji="1" lang="en-US" sz="1200" kern="1200" baseline="0" dirty="0">
                <a:solidFill>
                  <a:schemeClr val="tx1"/>
                </a:solidFill>
                <a:latin typeface="Times New Roman" pitchFamily="-110" charset="0"/>
                <a:ea typeface="+mn-ea"/>
                <a:cs typeface="+mn-cs"/>
              </a:rPr>
              <a:t>in physical memory density. This has led the way to smaller, faster machines with</a:t>
            </a:r>
          </a:p>
          <a:p>
            <a:r>
              <a:rPr kumimoji="1" lang="en-US" sz="1200" kern="1200" baseline="0" dirty="0">
                <a:solidFill>
                  <a:schemeClr val="tx1"/>
                </a:solidFill>
                <a:latin typeface="Times New Roman" pitchFamily="-110" charset="0"/>
                <a:ea typeface="+mn-ea"/>
                <a:cs typeface="+mn-cs"/>
              </a:rPr>
              <a:t>memory sizes of larger and more expensive machines from just a few years earlier.</a:t>
            </a:r>
          </a:p>
          <a:p>
            <a:r>
              <a:rPr kumimoji="1" lang="en-US" sz="1200" kern="1200" baseline="0" dirty="0">
                <a:solidFill>
                  <a:schemeClr val="tx1"/>
                </a:solidFill>
                <a:latin typeface="Times New Roman" pitchFamily="-110" charset="0"/>
                <a:ea typeface="+mn-ea"/>
                <a:cs typeface="+mn-cs"/>
              </a:rPr>
              <a:t>Developments in memory technology, together with developments in processor technology</a:t>
            </a:r>
          </a:p>
          <a:p>
            <a:r>
              <a:rPr kumimoji="1" lang="en-US" sz="1200" kern="1200" baseline="0" dirty="0">
                <a:solidFill>
                  <a:schemeClr val="tx1"/>
                </a:solidFill>
                <a:latin typeface="Times New Roman" pitchFamily="-110" charset="0"/>
                <a:ea typeface="+mn-ea"/>
                <a:cs typeface="+mn-cs"/>
              </a:rPr>
              <a:t>to be discussed next, changed the nature of computers in less than a decade.</a:t>
            </a:r>
          </a:p>
          <a:p>
            <a:r>
              <a:rPr kumimoji="1" lang="en-US" sz="1200" kern="1200" baseline="0" dirty="0">
                <a:solidFill>
                  <a:schemeClr val="tx1"/>
                </a:solidFill>
                <a:latin typeface="Times New Roman" pitchFamily="-110" charset="0"/>
                <a:ea typeface="+mn-ea"/>
                <a:cs typeface="+mn-cs"/>
              </a:rPr>
              <a:t>Although bulky, expensive computers remain a part of the landscape, the computer has</a:t>
            </a:r>
          </a:p>
          <a:p>
            <a:r>
              <a:rPr kumimoji="1" lang="en-US" sz="1200" kern="1200" baseline="0" dirty="0">
                <a:solidFill>
                  <a:schemeClr val="tx1"/>
                </a:solidFill>
                <a:latin typeface="Times New Roman" pitchFamily="-110" charset="0"/>
                <a:ea typeface="+mn-ea"/>
                <a:cs typeface="+mn-cs"/>
              </a:rPr>
              <a:t>also been brought out to the “end user,” with office machines and personal computers.</a:t>
            </a:r>
          </a:p>
          <a:p>
            <a:r>
              <a:rPr kumimoji="1" lang="en-US" sz="1200" kern="1200" baseline="0" dirty="0">
                <a:solidFill>
                  <a:schemeClr val="tx1"/>
                </a:solidFill>
                <a:latin typeface="Times New Roman" pitchFamily="-110" charset="0"/>
                <a:ea typeface="+mn-ea"/>
                <a:cs typeface="+mn-cs"/>
              </a:rPr>
              <a:t>Since 1970, semiconductor memory has been through 13 generations: 1K, 4K,</a:t>
            </a:r>
          </a:p>
          <a:p>
            <a:r>
              <a:rPr kumimoji="1" lang="en-US" sz="1200" kern="1200" baseline="0" dirty="0">
                <a:solidFill>
                  <a:schemeClr val="tx1"/>
                </a:solidFill>
                <a:latin typeface="Times New Roman" pitchFamily="-110" charset="0"/>
                <a:ea typeface="+mn-ea"/>
                <a:cs typeface="+mn-cs"/>
              </a:rPr>
              <a:t>16K, 64K, 256K, 1M, 4M, 16M, 64M, 256M, 1G, 4G, and, as of this writing, 16 Gbits</a:t>
            </a:r>
          </a:p>
          <a:p>
            <a:r>
              <a:rPr kumimoji="1" lang="en-US" sz="1200" kern="1200" baseline="0" dirty="0">
                <a:solidFill>
                  <a:schemeClr val="tx1"/>
                </a:solidFill>
                <a:latin typeface="Times New Roman" pitchFamily="-110" charset="0"/>
                <a:ea typeface="+mn-ea"/>
                <a:cs typeface="+mn-cs"/>
              </a:rPr>
              <a:t>on a single chip (1K = 2</a:t>
            </a:r>
            <a:r>
              <a:rPr kumimoji="1" lang="en-US" sz="1200" kern="1200" baseline="30000" dirty="0">
                <a:solidFill>
                  <a:schemeClr val="tx1"/>
                </a:solidFill>
                <a:latin typeface="Times New Roman" pitchFamily="-110" charset="0"/>
                <a:ea typeface="+mn-ea"/>
                <a:cs typeface="+mn-cs"/>
              </a:rPr>
              <a:t>10</a:t>
            </a:r>
            <a:r>
              <a:rPr kumimoji="1" lang="en-US" sz="1200" kern="1200" baseline="0" dirty="0">
                <a:solidFill>
                  <a:schemeClr val="tx1"/>
                </a:solidFill>
                <a:latin typeface="Times New Roman" pitchFamily="-110" charset="0"/>
                <a:ea typeface="+mn-ea"/>
                <a:cs typeface="+mn-cs"/>
              </a:rPr>
              <a:t>, 1M = 2</a:t>
            </a:r>
            <a:r>
              <a:rPr kumimoji="1" lang="en-US" sz="1200" kern="1200" baseline="30000" dirty="0">
                <a:solidFill>
                  <a:schemeClr val="tx1"/>
                </a:solidFill>
                <a:latin typeface="Times New Roman" pitchFamily="-110" charset="0"/>
                <a:ea typeface="+mn-ea"/>
                <a:cs typeface="+mn-cs"/>
              </a:rPr>
              <a:t>20</a:t>
            </a:r>
            <a:r>
              <a:rPr kumimoji="1" lang="en-US" sz="1200" kern="1200" baseline="0" dirty="0">
                <a:solidFill>
                  <a:schemeClr val="tx1"/>
                </a:solidFill>
                <a:latin typeface="Times New Roman" pitchFamily="-110" charset="0"/>
                <a:ea typeface="+mn-ea"/>
                <a:cs typeface="+mn-cs"/>
              </a:rPr>
              <a:t>, 1G = 2</a:t>
            </a:r>
            <a:r>
              <a:rPr kumimoji="1" lang="en-US" sz="1200" kern="1200" baseline="30000" dirty="0">
                <a:solidFill>
                  <a:schemeClr val="tx1"/>
                </a:solidFill>
                <a:latin typeface="Times New Roman" pitchFamily="-110" charset="0"/>
                <a:ea typeface="+mn-ea"/>
                <a:cs typeface="+mn-cs"/>
              </a:rPr>
              <a:t>30</a:t>
            </a:r>
            <a:r>
              <a:rPr kumimoji="1" lang="en-US" sz="1200" kern="1200" baseline="0" dirty="0">
                <a:solidFill>
                  <a:schemeClr val="tx1"/>
                </a:solidFill>
                <a:latin typeface="Times New Roman" pitchFamily="-110" charset="0"/>
                <a:ea typeface="+mn-ea"/>
                <a:cs typeface="+mn-cs"/>
              </a:rPr>
              <a:t>). Each generation has provided four</a:t>
            </a:r>
          </a:p>
          <a:p>
            <a:r>
              <a:rPr kumimoji="1" lang="en-US" sz="1200" kern="1200" baseline="0" dirty="0">
                <a:solidFill>
                  <a:schemeClr val="tx1"/>
                </a:solidFill>
                <a:latin typeface="Times New Roman" pitchFamily="-110" charset="0"/>
                <a:ea typeface="+mn-ea"/>
                <a:cs typeface="+mn-cs"/>
              </a:rPr>
              <a:t>times the storage density of the previous generation, accompanied by declining cost</a:t>
            </a:r>
          </a:p>
          <a:p>
            <a:r>
              <a:rPr kumimoji="1" lang="en-US" sz="1200" kern="1200" baseline="0" dirty="0">
                <a:solidFill>
                  <a:schemeClr val="tx1"/>
                </a:solidFill>
                <a:latin typeface="Times New Roman" pitchFamily="-110" charset="0"/>
                <a:ea typeface="+mn-ea"/>
                <a:cs typeface="+mn-cs"/>
              </a:rPr>
              <a:t>per bit and declining access time.</a:t>
            </a:r>
          </a:p>
          <a:p>
            <a:endParaRPr kumimoji="1" lang="en-US" sz="1200" kern="1200" baseline="0" dirty="0">
              <a:solidFill>
                <a:schemeClr val="tx1"/>
              </a:solidFill>
              <a:latin typeface="Times New Roman" pitchFamily="-110" charset="0"/>
              <a:ea typeface="+mn-ea"/>
              <a:cs typeface="+mn-cs"/>
            </a:endParaRPr>
          </a:p>
          <a:p>
            <a:endParaRPr lang="en-GB"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815914A-FB8D-7040-B9F1-BC6F3DDB3AB8}" type="slidenum">
              <a:rPr lang="en-US"/>
              <a:pPr/>
              <a:t>38</a:t>
            </a:fld>
            <a:endParaRPr lang="en-US" dirty="0"/>
          </a:p>
        </p:txBody>
      </p:sp>
      <p:sp>
        <p:nvSpPr>
          <p:cNvPr id="79874" name="Rectangle 1026"/>
          <p:cNvSpPr>
            <a:spLocks noGrp="1" noRot="1" noChangeAspect="1" noChangeArrowheads="1" noTextEdit="1"/>
          </p:cNvSpPr>
          <p:nvPr>
            <p:ph type="sldImg"/>
          </p:nvPr>
        </p:nvSpPr>
        <p:spPr>
          <a:ln/>
        </p:spPr>
      </p:sp>
      <p:sp>
        <p:nvSpPr>
          <p:cNvPr id="79875" name="Rectangle 1027"/>
          <p:cNvSpPr>
            <a:spLocks noGrp="1" noChangeArrowheads="1"/>
          </p:cNvSpPr>
          <p:nvPr>
            <p:ph type="body" idx="1"/>
          </p:nvPr>
        </p:nvSpPr>
        <p:spPr/>
        <p:txBody>
          <a:bodyPr/>
          <a:lstStyle/>
          <a:p>
            <a:r>
              <a:rPr kumimoji="1" lang="vi-VN" sz="1200" kern="1200" baseline="0">
                <a:solidFill>
                  <a:schemeClr val="tx1"/>
                </a:solidFill>
                <a:latin typeface="Times New Roman" pitchFamily="-110" charset="0"/>
                <a:ea typeface="+mn-ea"/>
                <a:cs typeface="+mn-cs"/>
              </a:rPr>
              <a:t>Giống như mật độ của các phần tử trên chip bộ nhớ đã tiếp tục</a:t>
            </a:r>
          </a:p>
          <a:p>
            <a:r>
              <a:rPr kumimoji="1" lang="vi-VN" sz="1200" kern="1200" baseline="0">
                <a:solidFill>
                  <a:schemeClr val="tx1"/>
                </a:solidFill>
                <a:latin typeface="Times New Roman" pitchFamily="-110" charset="0"/>
                <a:ea typeface="+mn-ea"/>
                <a:cs typeface="+mn-cs"/>
              </a:rPr>
              <a:t>để tăng, do đó, mật độ của các yếu tố trên chip xử lý. Thời gian trôi qua, nhiều hơn</a:t>
            </a:r>
          </a:p>
          <a:p>
            <a:r>
              <a:rPr kumimoji="1" lang="vi-VN" sz="1200" kern="1200" baseline="0">
                <a:solidFill>
                  <a:schemeClr val="tx1"/>
                </a:solidFill>
                <a:latin typeface="Times New Roman" pitchFamily="-110" charset="0"/>
                <a:ea typeface="+mn-ea"/>
                <a:cs typeface="+mn-cs"/>
              </a:rPr>
              <a:t>và nhiều phần tử được đặt trên mỗi chip, do đó càng ngày càng ít chip</a:t>
            </a:r>
          </a:p>
          <a:p>
            <a:r>
              <a:rPr kumimoji="1" lang="vi-VN" sz="1200" kern="1200" baseline="0">
                <a:solidFill>
                  <a:schemeClr val="tx1"/>
                </a:solidFill>
                <a:latin typeface="Times New Roman" pitchFamily="-110" charset="0"/>
                <a:ea typeface="+mn-ea"/>
                <a:cs typeface="+mn-cs"/>
              </a:rPr>
              <a:t>cần thiết để xây dựng một bộ xử lý máy tính.</a:t>
            </a:r>
          </a:p>
          <a:p>
            <a:endParaRPr kumimoji="1" lang="vi-VN" sz="1200" kern="1200" baseline="0">
              <a:solidFill>
                <a:schemeClr val="tx1"/>
              </a:solidFill>
              <a:latin typeface="Times New Roman" pitchFamily="-110" charset="0"/>
              <a:ea typeface="+mn-ea"/>
              <a:cs typeface="+mn-cs"/>
            </a:endParaRPr>
          </a:p>
          <a:p>
            <a:r>
              <a:rPr kumimoji="1" lang="vi-VN" sz="1200" kern="1200" baseline="0">
                <a:solidFill>
                  <a:schemeClr val="tx1"/>
                </a:solidFill>
                <a:latin typeface="Times New Roman" pitchFamily="-110" charset="0"/>
                <a:ea typeface="+mn-ea"/>
                <a:cs typeface="+mn-cs"/>
              </a:rPr>
              <a:t>Một bước đột phá đã đạt được vào năm 1971, khi Intel phát triển 4004.</a:t>
            </a:r>
          </a:p>
          <a:p>
            <a:r>
              <a:rPr kumimoji="1" lang="vi-VN" sz="1200" kern="1200" baseline="0">
                <a:solidFill>
                  <a:schemeClr val="tx1"/>
                </a:solidFill>
                <a:latin typeface="Times New Roman" pitchFamily="-110" charset="0"/>
                <a:ea typeface="+mn-ea"/>
                <a:cs typeface="+mn-cs"/>
              </a:rPr>
              <a:t>4004 là con chip đầu tiên chứa tất cả các thành phần của CPU trên một con chip:</a:t>
            </a:r>
          </a:p>
          <a:p>
            <a:r>
              <a:rPr kumimoji="1" lang="vi-VN" sz="1200" kern="1200" baseline="0">
                <a:solidFill>
                  <a:schemeClr val="tx1"/>
                </a:solidFill>
                <a:latin typeface="Times New Roman" pitchFamily="-110" charset="0"/>
                <a:ea typeface="+mn-ea"/>
                <a:cs typeface="+mn-cs"/>
              </a:rPr>
              <a:t>Bộ vi xử lý đã ra đời.</a:t>
            </a:r>
          </a:p>
          <a:p>
            <a:endParaRPr kumimoji="1" lang="vi-VN" sz="1200" kern="1200" baseline="0">
              <a:solidFill>
                <a:schemeClr val="tx1"/>
              </a:solidFill>
              <a:latin typeface="Times New Roman" pitchFamily="-110" charset="0"/>
              <a:ea typeface="+mn-ea"/>
              <a:cs typeface="+mn-cs"/>
            </a:endParaRPr>
          </a:p>
          <a:p>
            <a:r>
              <a:rPr kumimoji="1" lang="vi-VN" sz="1200" kern="1200" baseline="0">
                <a:solidFill>
                  <a:schemeClr val="tx1"/>
                </a:solidFill>
                <a:latin typeface="Times New Roman" pitchFamily="-110" charset="0"/>
                <a:ea typeface="+mn-ea"/>
                <a:cs typeface="+mn-cs"/>
              </a:rPr>
              <a:t>4004 có thể thêm hai số 4 bit và chỉ có thể nhân với số lần lặp lại.</a:t>
            </a:r>
          </a:p>
          <a:p>
            <a:r>
              <a:rPr kumimoji="1" lang="vi-VN" sz="1200" kern="1200" baseline="0">
                <a:solidFill>
                  <a:schemeClr val="tx1"/>
                </a:solidFill>
                <a:latin typeface="Times New Roman" pitchFamily="-110" charset="0"/>
                <a:ea typeface="+mn-ea"/>
                <a:cs typeface="+mn-cs"/>
              </a:rPr>
              <a:t>Theo tiêu chuẩn của ngày hôm nay, 4004 là vô vọng nguyên thủy, nhưng nó đã đánh dấu sự khởi đầu của</a:t>
            </a:r>
          </a:p>
          <a:p>
            <a:r>
              <a:rPr kumimoji="1" lang="vi-VN" sz="1200" kern="1200" baseline="0">
                <a:solidFill>
                  <a:schemeClr val="tx1"/>
                </a:solidFill>
                <a:latin typeface="Times New Roman" pitchFamily="-110" charset="0"/>
                <a:ea typeface="+mn-ea"/>
                <a:cs typeface="+mn-cs"/>
              </a:rPr>
              <a:t>một sự phát triển liên tục của khả năng và sức mạnh của bộ vi xử lý.</a:t>
            </a:r>
          </a:p>
          <a:p>
            <a:endParaRPr kumimoji="1" lang="vi-VN" sz="1200" kern="1200" baseline="0">
              <a:solidFill>
                <a:schemeClr val="tx1"/>
              </a:solidFill>
              <a:latin typeface="Times New Roman" pitchFamily="-110" charset="0"/>
              <a:ea typeface="+mn-ea"/>
              <a:cs typeface="+mn-cs"/>
            </a:endParaRPr>
          </a:p>
          <a:p>
            <a:r>
              <a:rPr kumimoji="1" lang="vi-VN" sz="1200" kern="1200" baseline="0">
                <a:solidFill>
                  <a:schemeClr val="tx1"/>
                </a:solidFill>
                <a:latin typeface="Times New Roman" pitchFamily="-110" charset="0"/>
                <a:ea typeface="+mn-ea"/>
                <a:cs typeface="+mn-cs"/>
              </a:rPr>
              <a:t>Sự tiến hóa này có thể được nhìn thấy dễ dàng nhất về số lượng bit mà bộ xử lý</a:t>
            </a:r>
          </a:p>
          <a:p>
            <a:r>
              <a:rPr kumimoji="1" lang="vi-VN" sz="1200" kern="1200" baseline="0">
                <a:solidFill>
                  <a:schemeClr val="tx1"/>
                </a:solidFill>
                <a:latin typeface="Times New Roman" pitchFamily="-110" charset="0"/>
                <a:ea typeface="+mn-ea"/>
                <a:cs typeface="+mn-cs"/>
              </a:rPr>
              <a:t>giao dịch tại một thời điểm. Không có biện pháp rõ ràng nào về điều này, nhưng có lẽ là biện pháp tốt nhất</a:t>
            </a:r>
          </a:p>
          <a:p>
            <a:r>
              <a:rPr kumimoji="1" lang="vi-VN" sz="1200" kern="1200" baseline="0">
                <a:solidFill>
                  <a:schemeClr val="tx1"/>
                </a:solidFill>
                <a:latin typeface="Times New Roman" pitchFamily="-110" charset="0"/>
                <a:ea typeface="+mn-ea"/>
                <a:cs typeface="+mn-cs"/>
              </a:rPr>
              <a:t>là chiều rộng bus dữ liệu: số bit dữ liệu có thể được đưa vào hoặc gửi</a:t>
            </a:r>
          </a:p>
          <a:p>
            <a:r>
              <a:rPr kumimoji="1" lang="vi-VN" sz="1200" kern="1200" baseline="0">
                <a:solidFill>
                  <a:schemeClr val="tx1"/>
                </a:solidFill>
                <a:latin typeface="Times New Roman" pitchFamily="-110" charset="0"/>
                <a:ea typeface="+mn-ea"/>
                <a:cs typeface="+mn-cs"/>
              </a:rPr>
              <a:t>ra khỏi bộ xử lý tại một thời điểm Một biện pháp khác là số bit trong bộ tích lũy</a:t>
            </a:r>
          </a:p>
          <a:p>
            <a:r>
              <a:rPr kumimoji="1" lang="vi-VN" sz="1200" kern="1200" baseline="0">
                <a:solidFill>
                  <a:schemeClr val="tx1"/>
                </a:solidFill>
                <a:latin typeface="Times New Roman" pitchFamily="-110" charset="0"/>
                <a:ea typeface="+mn-ea"/>
                <a:cs typeface="+mn-cs"/>
              </a:rPr>
              <a:t>hoặc trong tập hợp các thanh ghi mục đích chung. Thông thường, các biện pháp này trùng khớp, nhưng</a:t>
            </a:r>
          </a:p>
          <a:p>
            <a:r>
              <a:rPr kumimoji="1" lang="vi-VN" sz="1200" kern="1200" baseline="0">
                <a:solidFill>
                  <a:schemeClr val="tx1"/>
                </a:solidFill>
                <a:latin typeface="Times New Roman" pitchFamily="-110" charset="0"/>
                <a:ea typeface="+mn-ea"/>
                <a:cs typeface="+mn-cs"/>
              </a:rPr>
              <a:t>không phải lúc nào Ví dụ, một số bộ vi xử lý đã được phát triển hoạt động</a:t>
            </a:r>
          </a:p>
          <a:p>
            <a:r>
              <a:rPr kumimoji="1" lang="vi-VN" sz="1200" kern="1200" baseline="0">
                <a:solidFill>
                  <a:schemeClr val="tx1"/>
                </a:solidFill>
                <a:latin typeface="Times New Roman" pitchFamily="-110" charset="0"/>
                <a:ea typeface="+mn-ea"/>
                <a:cs typeface="+mn-cs"/>
              </a:rPr>
              <a:t>trên các số 16 bit trong các thanh ghi nhưng chỉ có thể đọc và ghi 8 bit mỗi lần.</a:t>
            </a:r>
          </a:p>
          <a:p>
            <a:endParaRPr kumimoji="1" lang="vi-VN" sz="1200" kern="1200" baseline="0">
              <a:solidFill>
                <a:schemeClr val="tx1"/>
              </a:solidFill>
              <a:latin typeface="Times New Roman" pitchFamily="-110" charset="0"/>
              <a:ea typeface="+mn-ea"/>
              <a:cs typeface="+mn-cs"/>
            </a:endParaRPr>
          </a:p>
          <a:p>
            <a:r>
              <a:rPr kumimoji="1" lang="vi-VN" sz="1200" kern="1200" baseline="0">
                <a:solidFill>
                  <a:schemeClr val="tx1"/>
                </a:solidFill>
                <a:latin typeface="Times New Roman" pitchFamily="-110" charset="0"/>
                <a:ea typeface="+mn-ea"/>
                <a:cs typeface="+mn-cs"/>
              </a:rPr>
              <a:t>Bước quan trọng tiếp theo trong quá trình phát triển của bộ vi xử lý là giới thiệu</a:t>
            </a:r>
          </a:p>
          <a:p>
            <a:r>
              <a:rPr kumimoji="1" lang="vi-VN" sz="1200" kern="1200" baseline="0">
                <a:solidFill>
                  <a:schemeClr val="tx1"/>
                </a:solidFill>
                <a:latin typeface="Times New Roman" pitchFamily="-110" charset="0"/>
                <a:ea typeface="+mn-ea"/>
                <a:cs typeface="+mn-cs"/>
              </a:rPr>
              <a:t>vào năm 1972 của Intel 8008. Đây là bộ vi xử lý 8 bit đầu tiên và gần gấp đôi</a:t>
            </a:r>
          </a:p>
          <a:p>
            <a:r>
              <a:rPr kumimoji="1" lang="vi-VN" sz="1200" kern="1200" baseline="0">
                <a:solidFill>
                  <a:schemeClr val="tx1"/>
                </a:solidFill>
                <a:latin typeface="Times New Roman" pitchFamily="-110" charset="0"/>
                <a:ea typeface="+mn-ea"/>
                <a:cs typeface="+mn-cs"/>
              </a:rPr>
              <a:t>phức tạp như 4004.</a:t>
            </a:r>
          </a:p>
          <a:p>
            <a:endParaRPr kumimoji="1" lang="vi-VN" sz="1200" kern="1200" baseline="0">
              <a:solidFill>
                <a:schemeClr val="tx1"/>
              </a:solidFill>
              <a:latin typeface="Times New Roman" pitchFamily="-110" charset="0"/>
              <a:ea typeface="+mn-ea"/>
              <a:cs typeface="+mn-cs"/>
            </a:endParaRPr>
          </a:p>
          <a:p>
            <a:r>
              <a:rPr kumimoji="1" lang="vi-VN" sz="1200" kern="1200" baseline="0">
                <a:solidFill>
                  <a:schemeClr val="tx1"/>
                </a:solidFill>
                <a:latin typeface="Times New Roman" pitchFamily="-110" charset="0"/>
                <a:ea typeface="+mn-ea"/>
                <a:cs typeface="+mn-cs"/>
              </a:rPr>
              <a:t>Cả hai bước này đều không có tác động của sự kiện lớn tiếp theo: giới thiệu</a:t>
            </a:r>
          </a:p>
          <a:p>
            <a:r>
              <a:rPr kumimoji="1" lang="vi-VN" sz="1200" kern="1200" baseline="0">
                <a:solidFill>
                  <a:schemeClr val="tx1"/>
                </a:solidFill>
                <a:latin typeface="Times New Roman" pitchFamily="-110" charset="0"/>
                <a:ea typeface="+mn-ea"/>
                <a:cs typeface="+mn-cs"/>
              </a:rPr>
              <a:t>vào năm 1974 của Intel 8080. Đây là bộ vi xử lý đa năng đầu tiên.</a:t>
            </a:r>
          </a:p>
          <a:p>
            <a:r>
              <a:rPr kumimoji="1" lang="vi-VN" sz="1200" kern="1200" baseline="0">
                <a:solidFill>
                  <a:schemeClr val="tx1"/>
                </a:solidFill>
                <a:latin typeface="Times New Roman" pitchFamily="-110" charset="0"/>
                <a:ea typeface="+mn-ea"/>
                <a:cs typeface="+mn-cs"/>
              </a:rPr>
              <a:t>Trong khi 4004 và 8008 đã được thiết kế cho các ứng dụng cụ thể, 8080</a:t>
            </a:r>
          </a:p>
          <a:p>
            <a:r>
              <a:rPr kumimoji="1" lang="vi-VN" sz="1200" kern="1200" baseline="0">
                <a:solidFill>
                  <a:schemeClr val="tx1"/>
                </a:solidFill>
                <a:latin typeface="Times New Roman" pitchFamily="-110" charset="0"/>
                <a:ea typeface="+mn-ea"/>
                <a:cs typeface="+mn-cs"/>
              </a:rPr>
              <a:t>được thiết kế để trở thành CPU của một máy vi tính đa năng. Giống như 8008,</a:t>
            </a:r>
          </a:p>
          <a:p>
            <a:r>
              <a:rPr kumimoji="1" lang="vi-VN" sz="1200" kern="1200" baseline="0">
                <a:solidFill>
                  <a:schemeClr val="tx1"/>
                </a:solidFill>
                <a:latin typeface="Times New Roman" pitchFamily="-110" charset="0"/>
                <a:ea typeface="+mn-ea"/>
                <a:cs typeface="+mn-cs"/>
              </a:rPr>
              <a:t>8080 là bộ vi xử lý 8 bit. 8080, tuy nhiên, nhanh hơn, có hướng dẫn phong phú hơn</a:t>
            </a:r>
          </a:p>
          <a:p>
            <a:r>
              <a:rPr kumimoji="1" lang="vi-VN" sz="1200" kern="1200" baseline="0">
                <a:solidFill>
                  <a:schemeClr val="tx1"/>
                </a:solidFill>
                <a:latin typeface="Times New Roman" pitchFamily="-110" charset="0"/>
                <a:ea typeface="+mn-ea"/>
                <a:cs typeface="+mn-cs"/>
              </a:rPr>
              <a:t>thiết lập, và có khả năng đánh địa chỉ lớn.</a:t>
            </a:r>
            <a:endParaRPr kumimoji="1" lang="en-US" sz="1200" kern="1200" baseline="0">
              <a:solidFill>
                <a:schemeClr val="tx1"/>
              </a:solidFill>
              <a:latin typeface="Times New Roman" pitchFamily="-110" charset="0"/>
              <a:ea typeface="+mn-ea"/>
              <a:cs typeface="+mn-cs"/>
            </a:endParaRPr>
          </a:p>
          <a:p>
            <a:r>
              <a:rPr kumimoji="1" lang="en-US" sz="1200" kern="1200" baseline="0">
                <a:solidFill>
                  <a:schemeClr val="tx1"/>
                </a:solidFill>
                <a:latin typeface="Times New Roman" pitchFamily="-110" charset="0"/>
                <a:ea typeface="+mn-ea"/>
                <a:cs typeface="+mn-cs"/>
              </a:rPr>
              <a:t>Just </a:t>
            </a:r>
            <a:r>
              <a:rPr kumimoji="1" lang="en-US" sz="1200" kern="1200" baseline="0" dirty="0">
                <a:solidFill>
                  <a:schemeClr val="tx1"/>
                </a:solidFill>
                <a:latin typeface="Times New Roman" pitchFamily="-110" charset="0"/>
                <a:ea typeface="+mn-ea"/>
                <a:cs typeface="+mn-cs"/>
              </a:rPr>
              <a:t>as the density of elements on memory chips has continued</a:t>
            </a:r>
          </a:p>
          <a:p>
            <a:r>
              <a:rPr kumimoji="1" lang="en-US" sz="1200" kern="1200" baseline="0" dirty="0">
                <a:solidFill>
                  <a:schemeClr val="tx1"/>
                </a:solidFill>
                <a:latin typeface="Times New Roman" pitchFamily="-110" charset="0"/>
                <a:ea typeface="+mn-ea"/>
                <a:cs typeface="+mn-cs"/>
              </a:rPr>
              <a:t>to rise, so has the density of elements on processor chips. As time went on, more</a:t>
            </a:r>
          </a:p>
          <a:p>
            <a:r>
              <a:rPr kumimoji="1" lang="en-US" sz="1200" kern="1200" baseline="0" dirty="0">
                <a:solidFill>
                  <a:schemeClr val="tx1"/>
                </a:solidFill>
                <a:latin typeface="Times New Roman" pitchFamily="-110" charset="0"/>
                <a:ea typeface="+mn-ea"/>
                <a:cs typeface="+mn-cs"/>
              </a:rPr>
              <a:t>and more elements were placed on each chip, so that fewer and fewer chips were</a:t>
            </a:r>
          </a:p>
          <a:p>
            <a:r>
              <a:rPr kumimoji="1" lang="en-US" sz="1200" kern="1200" baseline="0" dirty="0">
                <a:solidFill>
                  <a:schemeClr val="tx1"/>
                </a:solidFill>
                <a:latin typeface="Times New Roman" pitchFamily="-110" charset="0"/>
                <a:ea typeface="+mn-ea"/>
                <a:cs typeface="+mn-cs"/>
              </a:rPr>
              <a:t>needed to construct a single computer processor.</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A breakthrough was achieved in 1971, when Intel developed its 4004. The</a:t>
            </a:r>
          </a:p>
          <a:p>
            <a:r>
              <a:rPr kumimoji="1" lang="en-US" sz="1200" kern="1200" baseline="0" dirty="0">
                <a:solidFill>
                  <a:schemeClr val="tx1"/>
                </a:solidFill>
                <a:latin typeface="Times New Roman" pitchFamily="-110" charset="0"/>
                <a:ea typeface="+mn-ea"/>
                <a:cs typeface="+mn-cs"/>
              </a:rPr>
              <a:t>4004 was the first chip to contain </a:t>
            </a:r>
            <a:r>
              <a:rPr kumimoji="1" lang="en-US" sz="1200" i="1" kern="1200" baseline="0" dirty="0">
                <a:solidFill>
                  <a:schemeClr val="tx1"/>
                </a:solidFill>
                <a:latin typeface="Times New Roman" pitchFamily="-110" charset="0"/>
                <a:ea typeface="+mn-ea"/>
                <a:cs typeface="+mn-cs"/>
              </a:rPr>
              <a:t>all of the components of a CPU on a single chip:</a:t>
            </a:r>
          </a:p>
          <a:p>
            <a:r>
              <a:rPr kumimoji="1" lang="en-US" sz="1200" kern="1200" baseline="0" dirty="0">
                <a:solidFill>
                  <a:schemeClr val="tx1"/>
                </a:solidFill>
                <a:latin typeface="Times New Roman" pitchFamily="-110" charset="0"/>
                <a:ea typeface="+mn-ea"/>
                <a:cs typeface="+mn-cs"/>
              </a:rPr>
              <a:t>The microprocessor was born.</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The 4004 can add two 4-bit numbers and can multiply only by repeated addition.</a:t>
            </a:r>
          </a:p>
          <a:p>
            <a:r>
              <a:rPr kumimoji="1" lang="en-US" sz="1200" kern="1200" baseline="0" dirty="0">
                <a:solidFill>
                  <a:schemeClr val="tx1"/>
                </a:solidFill>
                <a:latin typeface="Times New Roman" pitchFamily="-110" charset="0"/>
                <a:ea typeface="+mn-ea"/>
                <a:cs typeface="+mn-cs"/>
              </a:rPr>
              <a:t>By today’s standards, the 4004 is hopelessly primitive, but it marked the beginning of</a:t>
            </a:r>
          </a:p>
          <a:p>
            <a:r>
              <a:rPr kumimoji="1" lang="en-US" sz="1200" kern="1200" baseline="0" dirty="0">
                <a:solidFill>
                  <a:schemeClr val="tx1"/>
                </a:solidFill>
                <a:latin typeface="Times New Roman" pitchFamily="-110" charset="0"/>
                <a:ea typeface="+mn-ea"/>
                <a:cs typeface="+mn-cs"/>
              </a:rPr>
              <a:t>a continuing evolution of microprocessor capability and power.</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This evolution can be seen most easily in the number of bits that the processor</a:t>
            </a:r>
          </a:p>
          <a:p>
            <a:r>
              <a:rPr kumimoji="1" lang="en-US" sz="1200" kern="1200" baseline="0" dirty="0">
                <a:solidFill>
                  <a:schemeClr val="tx1"/>
                </a:solidFill>
                <a:latin typeface="Times New Roman" pitchFamily="-110" charset="0"/>
                <a:ea typeface="+mn-ea"/>
                <a:cs typeface="+mn-cs"/>
              </a:rPr>
              <a:t>deals with at a time. There is no clear-cut measure of this, but perhaps the best measure</a:t>
            </a:r>
          </a:p>
          <a:p>
            <a:r>
              <a:rPr kumimoji="1" lang="en-US" sz="1200" kern="1200" baseline="0" dirty="0">
                <a:solidFill>
                  <a:schemeClr val="tx1"/>
                </a:solidFill>
                <a:latin typeface="Times New Roman" pitchFamily="-110" charset="0"/>
                <a:ea typeface="+mn-ea"/>
                <a:cs typeface="+mn-cs"/>
              </a:rPr>
              <a:t>is the data bus width: the number of bits of data that can be brought into or sent</a:t>
            </a:r>
          </a:p>
          <a:p>
            <a:r>
              <a:rPr kumimoji="1" lang="en-US" sz="1200" kern="1200" baseline="0" dirty="0">
                <a:solidFill>
                  <a:schemeClr val="tx1"/>
                </a:solidFill>
                <a:latin typeface="Times New Roman" pitchFamily="-110" charset="0"/>
                <a:ea typeface="+mn-ea"/>
                <a:cs typeface="+mn-cs"/>
              </a:rPr>
              <a:t>out of the processor at a time. Another measure is the number of bits in the accumulator</a:t>
            </a:r>
          </a:p>
          <a:p>
            <a:r>
              <a:rPr kumimoji="1" lang="en-US" sz="1200" kern="1200" baseline="0" dirty="0">
                <a:solidFill>
                  <a:schemeClr val="tx1"/>
                </a:solidFill>
                <a:latin typeface="Times New Roman" pitchFamily="-110" charset="0"/>
                <a:ea typeface="+mn-ea"/>
                <a:cs typeface="+mn-cs"/>
              </a:rPr>
              <a:t>or in the set of general-purpose registers. Often, these measures coincide, but</a:t>
            </a:r>
          </a:p>
          <a:p>
            <a:r>
              <a:rPr kumimoji="1" lang="en-US" sz="1200" kern="1200" baseline="0" dirty="0">
                <a:solidFill>
                  <a:schemeClr val="tx1"/>
                </a:solidFill>
                <a:latin typeface="Times New Roman" pitchFamily="-110" charset="0"/>
                <a:ea typeface="+mn-ea"/>
                <a:cs typeface="+mn-cs"/>
              </a:rPr>
              <a:t>not always. For example, a number of microprocessors were developed that operate</a:t>
            </a:r>
          </a:p>
          <a:p>
            <a:r>
              <a:rPr kumimoji="1" lang="en-US" sz="1200" kern="1200" baseline="0" dirty="0">
                <a:solidFill>
                  <a:schemeClr val="tx1"/>
                </a:solidFill>
                <a:latin typeface="Times New Roman" pitchFamily="-110" charset="0"/>
                <a:ea typeface="+mn-ea"/>
                <a:cs typeface="+mn-cs"/>
              </a:rPr>
              <a:t>on 16-bit numbers in registers but can only read and write 8 bits at a time.</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The next major step in the evolution of the microprocessor was the introduction</a:t>
            </a:r>
          </a:p>
          <a:p>
            <a:r>
              <a:rPr kumimoji="1" lang="en-US" sz="1200" kern="1200" baseline="0" dirty="0">
                <a:solidFill>
                  <a:schemeClr val="tx1"/>
                </a:solidFill>
                <a:latin typeface="Times New Roman" pitchFamily="-110" charset="0"/>
                <a:ea typeface="+mn-ea"/>
                <a:cs typeface="+mn-cs"/>
              </a:rPr>
              <a:t>in 1972 of the Intel 8008. This was the first 8-bit microprocessor and was almost twice</a:t>
            </a:r>
          </a:p>
          <a:p>
            <a:r>
              <a:rPr kumimoji="1" lang="en-US" sz="1200" kern="1200" baseline="0" dirty="0">
                <a:solidFill>
                  <a:schemeClr val="tx1"/>
                </a:solidFill>
                <a:latin typeface="Times New Roman" pitchFamily="-110" charset="0"/>
                <a:ea typeface="+mn-ea"/>
                <a:cs typeface="+mn-cs"/>
              </a:rPr>
              <a:t>as complex as the 4004.</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Neither of these steps was to have the impact of the next major event: the introduction</a:t>
            </a:r>
          </a:p>
          <a:p>
            <a:r>
              <a:rPr kumimoji="1" lang="en-US" sz="1200" kern="1200" baseline="0" dirty="0">
                <a:solidFill>
                  <a:schemeClr val="tx1"/>
                </a:solidFill>
                <a:latin typeface="Times New Roman" pitchFamily="-110" charset="0"/>
                <a:ea typeface="+mn-ea"/>
                <a:cs typeface="+mn-cs"/>
              </a:rPr>
              <a:t>in 1974 of the Intel 8080. This was the first general-purpose microprocessor.</a:t>
            </a:r>
          </a:p>
          <a:p>
            <a:r>
              <a:rPr kumimoji="1" lang="en-US" sz="1200" kern="1200" baseline="0" dirty="0">
                <a:solidFill>
                  <a:schemeClr val="tx1"/>
                </a:solidFill>
                <a:latin typeface="Times New Roman" pitchFamily="-110" charset="0"/>
                <a:ea typeface="+mn-ea"/>
                <a:cs typeface="+mn-cs"/>
              </a:rPr>
              <a:t>Whereas the 4004 and the 8008 had been designed for specific applications, the 8080</a:t>
            </a:r>
          </a:p>
          <a:p>
            <a:r>
              <a:rPr kumimoji="1" lang="en-US" sz="1200" kern="1200" baseline="0" dirty="0">
                <a:solidFill>
                  <a:schemeClr val="tx1"/>
                </a:solidFill>
                <a:latin typeface="Times New Roman" pitchFamily="-110" charset="0"/>
                <a:ea typeface="+mn-ea"/>
                <a:cs typeface="+mn-cs"/>
              </a:rPr>
              <a:t>was designed to be the CPU of a general-purpose microcomputer. Like the 8008, the</a:t>
            </a:r>
          </a:p>
          <a:p>
            <a:r>
              <a:rPr kumimoji="1" lang="en-US" sz="1200" kern="1200" baseline="0" dirty="0">
                <a:solidFill>
                  <a:schemeClr val="tx1"/>
                </a:solidFill>
                <a:latin typeface="Times New Roman" pitchFamily="-110" charset="0"/>
                <a:ea typeface="+mn-ea"/>
                <a:cs typeface="+mn-cs"/>
              </a:rPr>
              <a:t>8080 is an 8-bit microprocessor. The 8080, however, is faster, has a richer instruction</a:t>
            </a:r>
          </a:p>
          <a:p>
            <a:r>
              <a:rPr kumimoji="1" lang="en-US" sz="1200" kern="1200" baseline="0" dirty="0">
                <a:solidFill>
                  <a:schemeClr val="tx1"/>
                </a:solidFill>
                <a:latin typeface="Times New Roman" pitchFamily="-110" charset="0"/>
                <a:ea typeface="+mn-ea"/>
                <a:cs typeface="+mn-cs"/>
              </a:rPr>
              <a:t>set, and has a large addressing capability.</a:t>
            </a:r>
            <a:endParaRPr lang="en-GB"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vi-VN" sz="1200" kern="1200" baseline="0">
                <a:solidFill>
                  <a:schemeClr val="tx1"/>
                </a:solidFill>
                <a:latin typeface="Times New Roman" pitchFamily="-110" charset="0"/>
                <a:ea typeface="+mn-ea"/>
                <a:cs typeface="+mn-cs"/>
              </a:rPr>
              <a:t>Đồng thời, bộ vi xử lý 16 bit bắt đầu được phát triển. Tuy nhiên, nó</a:t>
            </a:r>
          </a:p>
          <a:p>
            <a:r>
              <a:rPr kumimoji="1" lang="vi-VN" sz="1200" kern="1200" baseline="0">
                <a:solidFill>
                  <a:schemeClr val="tx1"/>
                </a:solidFill>
                <a:latin typeface="Times New Roman" pitchFamily="-110" charset="0"/>
                <a:ea typeface="+mn-ea"/>
                <a:cs typeface="+mn-cs"/>
              </a:rPr>
              <a:t>mãi đến cuối những năm 1970, bộ vi xử lý 16 bit mạnh mẽ, có mục đích chung</a:t>
            </a:r>
          </a:p>
          <a:p>
            <a:r>
              <a:rPr kumimoji="1" lang="vi-VN" sz="1200" kern="1200" baseline="0">
                <a:solidFill>
                  <a:schemeClr val="tx1"/>
                </a:solidFill>
                <a:latin typeface="Times New Roman" pitchFamily="-110" charset="0"/>
                <a:ea typeface="+mn-ea"/>
                <a:cs typeface="+mn-cs"/>
              </a:rPr>
              <a:t>xuất hiện. Một trong số đó là 8086. Bước tiếp theo trong xu hướng này xảy ra vào năm 1981,</a:t>
            </a:r>
          </a:p>
          <a:p>
            <a:r>
              <a:rPr kumimoji="1" lang="vi-VN" sz="1200" kern="1200" baseline="0">
                <a:solidFill>
                  <a:schemeClr val="tx1"/>
                </a:solidFill>
                <a:latin typeface="Times New Roman" pitchFamily="-110" charset="0"/>
                <a:ea typeface="+mn-ea"/>
                <a:cs typeface="+mn-cs"/>
              </a:rPr>
              <a:t>khi cả Bell Labs và Hewlett-Packard phát triển 32 bit, đơn lẻ</a:t>
            </a:r>
          </a:p>
          <a:p>
            <a:r>
              <a:rPr kumimoji="1" lang="vi-VN" sz="1200" kern="1200" baseline="0">
                <a:solidFill>
                  <a:schemeClr val="tx1"/>
                </a:solidFill>
                <a:latin typeface="Times New Roman" pitchFamily="-110" charset="0"/>
                <a:ea typeface="+mn-ea"/>
                <a:cs typeface="+mn-cs"/>
              </a:rPr>
              <a:t>vi xử lý chip. Intel đã giới thiệu bộ vi xử lý 32 bit của riêng mình, 80386, vào năm 1985 (Bảng 2.6).</a:t>
            </a:r>
            <a:endParaRPr kumimoji="1" lang="en-US" sz="1200" kern="1200" baseline="0">
              <a:solidFill>
                <a:schemeClr val="tx1"/>
              </a:solidFill>
              <a:latin typeface="Times New Roman" pitchFamily="-110" charset="0"/>
              <a:ea typeface="+mn-ea"/>
              <a:cs typeface="+mn-cs"/>
            </a:endParaRPr>
          </a:p>
          <a:p>
            <a:r>
              <a:rPr kumimoji="1" lang="en-US" sz="1200" kern="1200" baseline="0">
                <a:solidFill>
                  <a:schemeClr val="tx1"/>
                </a:solidFill>
                <a:latin typeface="Times New Roman" pitchFamily="-110" charset="0"/>
                <a:ea typeface="+mn-ea"/>
                <a:cs typeface="+mn-cs"/>
              </a:rPr>
              <a:t>About </a:t>
            </a:r>
            <a:r>
              <a:rPr kumimoji="1" lang="en-US" sz="1200" kern="1200" baseline="0" dirty="0">
                <a:solidFill>
                  <a:schemeClr val="tx1"/>
                </a:solidFill>
                <a:latin typeface="Times New Roman" pitchFamily="-110" charset="0"/>
                <a:ea typeface="+mn-ea"/>
                <a:cs typeface="+mn-cs"/>
              </a:rPr>
              <a:t>the same time, 16-bit microprocessors began to be developed. However, it</a:t>
            </a:r>
          </a:p>
          <a:p>
            <a:r>
              <a:rPr kumimoji="1" lang="en-US" sz="1200" kern="1200" baseline="0" dirty="0">
                <a:solidFill>
                  <a:schemeClr val="tx1"/>
                </a:solidFill>
                <a:latin typeface="Times New Roman" pitchFamily="-110" charset="0"/>
                <a:ea typeface="+mn-ea"/>
                <a:cs typeface="+mn-cs"/>
              </a:rPr>
              <a:t>was not until the end of the 1970s that powerful, general-purpose 16-bit microprocessors</a:t>
            </a:r>
          </a:p>
          <a:p>
            <a:r>
              <a:rPr kumimoji="1" lang="en-US" sz="1200" kern="1200" baseline="0" dirty="0">
                <a:solidFill>
                  <a:schemeClr val="tx1"/>
                </a:solidFill>
                <a:latin typeface="Times New Roman" pitchFamily="-110" charset="0"/>
                <a:ea typeface="+mn-ea"/>
                <a:cs typeface="+mn-cs"/>
              </a:rPr>
              <a:t>appeared. One of these was the 8086. The next step in this trend occurred in 1981,</a:t>
            </a:r>
          </a:p>
          <a:p>
            <a:r>
              <a:rPr kumimoji="1" lang="en-US" sz="1200" kern="1200" baseline="0" dirty="0">
                <a:solidFill>
                  <a:schemeClr val="tx1"/>
                </a:solidFill>
                <a:latin typeface="Times New Roman" pitchFamily="-110" charset="0"/>
                <a:ea typeface="+mn-ea"/>
                <a:cs typeface="+mn-cs"/>
              </a:rPr>
              <a:t>when both Bell Labs and Hewlett-Packard developed 32-bit, single-</a:t>
            </a:r>
          </a:p>
          <a:p>
            <a:r>
              <a:rPr kumimoji="1" lang="en-US" sz="1200" kern="1200" baseline="0" dirty="0">
                <a:solidFill>
                  <a:schemeClr val="tx1"/>
                </a:solidFill>
                <a:latin typeface="Times New Roman" pitchFamily="-110" charset="0"/>
                <a:ea typeface="+mn-ea"/>
                <a:cs typeface="+mn-cs"/>
              </a:rPr>
              <a:t>chip microprocessors. Intel introduced its own 32-bit microprocessor, the 80386, in 1985 (Table 2.6).</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39</a:t>
            </a:fld>
            <a:endParaRPr 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Table</a:t>
            </a:r>
            <a:r>
              <a:rPr lang="en-US" baseline="0" dirty="0"/>
              <a:t> 2.6 (continued)</a:t>
            </a:r>
          </a:p>
          <a:p>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40</a:t>
            </a:fld>
            <a:endParaRPr 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Các ứng dụng máy tính để bàn đòi hỏi sức mạnh lớn của các hệ thống dựa trên bộ vi xử lý ngày nay bao gồm</a:t>
            </a:r>
          </a:p>
          <a:p>
            <a:r>
              <a:rPr lang="vi-VN"/>
              <a:t>• Đang xử lý hình ảnh</a:t>
            </a:r>
          </a:p>
          <a:p>
            <a:r>
              <a:rPr lang="vi-VN"/>
              <a:t>• Nhận dạng giọng nói</a:t>
            </a:r>
          </a:p>
          <a:p>
            <a:r>
              <a:rPr lang="vi-VN"/>
              <a:t>• Hội nghị truyền hình</a:t>
            </a:r>
          </a:p>
          <a:p>
            <a:r>
              <a:rPr lang="vi-VN"/>
              <a:t>• Tác giả đa phương tiện</a:t>
            </a:r>
          </a:p>
          <a:p>
            <a:r>
              <a:rPr lang="vi-VN"/>
              <a:t>• Chú thích bằng giọng nói và video của các tập tin</a:t>
            </a:r>
          </a:p>
          <a:p>
            <a:r>
              <a:rPr lang="vi-VN"/>
              <a:t>• Mô hình mô phỏng</a:t>
            </a:r>
            <a:endParaRPr lang="en-US"/>
          </a:p>
        </p:txBody>
      </p:sp>
      <p:sp>
        <p:nvSpPr>
          <p:cNvPr id="4" name="Slide Number Placeholder 3"/>
          <p:cNvSpPr>
            <a:spLocks noGrp="1"/>
          </p:cNvSpPr>
          <p:nvPr>
            <p:ph type="sldNum" sz="quarter" idx="10"/>
          </p:nvPr>
        </p:nvSpPr>
        <p:spPr/>
        <p:txBody>
          <a:bodyPr/>
          <a:lstStyle/>
          <a:p>
            <a:fld id="{FDEEBCE0-4A34-3647-9307-E59F6D6CD745}" type="slidenum">
              <a:rPr lang="en-US" smtClean="0"/>
              <a:pPr/>
              <a:t>41</a:t>
            </a:fld>
            <a:endParaRPr lang="en-US" dirty="0"/>
          </a:p>
        </p:txBody>
      </p:sp>
    </p:spTree>
    <p:extLst>
      <p:ext uri="{BB962C8B-B14F-4D97-AF65-F5344CB8AC3E}">
        <p14:creationId xmlns:p14="http://schemas.microsoft.com/office/powerpoint/2010/main" val="257026475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t>Pipelining </a:t>
            </a:r>
            <a:r>
              <a:rPr lang="en-US">
                <a:effectLst/>
                <a:latin typeface="Segoe UI Web (Vietnamese)"/>
              </a:rPr>
              <a:t>:</a:t>
            </a:r>
            <a:r>
              <a:rPr lang="vi-VN">
                <a:effectLst/>
                <a:latin typeface="Segoe UI Web (Vietnamese)"/>
              </a:rPr>
              <a:t>Bộ xử lý di chuyển dữ liệu hoặc hướng dẫn vào một đường ống khái niệm với tất cả các giai đoạn xử lý đường ống cùng một lúc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t>Branch prediction: </a:t>
            </a:r>
            <a:r>
              <a:rPr lang="vi-VN">
                <a:effectLst/>
                <a:latin typeface="Segoe UI Web (Vietnamese)"/>
              </a:rPr>
              <a:t>Bộ xử lý nhìn về phía trước trong mã hướng dẫn lấy từ bộ nhớ và dự đoán nhánh nào, hoặc nhóm hướng dẫn, có khả năng được xử lý tiếp theo</a:t>
            </a:r>
            <a:r>
              <a:rPr lang="en-US">
                <a:effectLst/>
                <a:latin typeface="Segoe UI Web (Vietnamese)"/>
              </a:rPr>
              <a:t>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t>Data flow analysis </a:t>
            </a:r>
            <a:r>
              <a:rPr lang="en-US">
                <a:effectLst/>
                <a:latin typeface="Segoe UI Web (Vietnamese)"/>
              </a:rPr>
              <a:t> </a:t>
            </a:r>
            <a:r>
              <a:rPr lang="vi-VN">
                <a:effectLst/>
                <a:latin typeface="Segoe UI Web (Vietnamese)"/>
              </a:rPr>
              <a:t>Bộ xử lý phân tích hướng dẫn nào phụ thuộc vào kết quả hoặc dữ liệu của nhau để tạo ra một lịch trình hướng dẫn được tối ưu hóa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Speculative (suy đoán) execution </a:t>
            </a:r>
            <a:r>
              <a:rPr lang="vi-VN">
                <a:effectLst/>
                <a:latin typeface="Segoe UI Web (Vietnamese)"/>
              </a:rPr>
              <a:t>Sử dụng dự đoán chi nhánh và phân tích luồng dữ liệu, một số bộ xử lý đầu cơ thực hiện các hướng dẫn trước khi xuất hiện thực tế của chúng trong việc thực hiện chương trình, giữ kết quả ở các vị trí tạm thời, giữ cho các công cụ thực thi càng bận rộn càng tốt.</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vi-VN">
              <a:effectLst/>
              <a:latin typeface="Segoe UI Web (Vietnamese)"/>
            </a:endParaRPr>
          </a:p>
          <a:p>
            <a:endParaRPr lang="en-US"/>
          </a:p>
        </p:txBody>
      </p:sp>
      <p:sp>
        <p:nvSpPr>
          <p:cNvPr id="4" name="Slide Number Placeholder 3"/>
          <p:cNvSpPr>
            <a:spLocks noGrp="1"/>
          </p:cNvSpPr>
          <p:nvPr>
            <p:ph type="sldNum" sz="quarter" idx="10"/>
          </p:nvPr>
        </p:nvSpPr>
        <p:spPr/>
        <p:txBody>
          <a:bodyPr/>
          <a:lstStyle/>
          <a:p>
            <a:fld id="{FDEEBCE0-4A34-3647-9307-E59F6D6CD745}" type="slidenum">
              <a:rPr lang="en-US" smtClean="0"/>
              <a:pPr/>
              <a:t>42</a:t>
            </a:fld>
            <a:endParaRPr lang="en-US" dirty="0"/>
          </a:p>
        </p:txBody>
      </p:sp>
    </p:spTree>
    <p:extLst>
      <p:ext uri="{BB962C8B-B14F-4D97-AF65-F5344CB8AC3E}">
        <p14:creationId xmlns:p14="http://schemas.microsoft.com/office/powerpoint/2010/main" val="97422394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AF9AE1A-A2AA-6746-A8EE-029791A08435}" type="slidenum">
              <a:rPr lang="en-US"/>
              <a:pPr/>
              <a:t>43</a:t>
            </a:fld>
            <a:endParaRPr lang="en-US" dirty="0"/>
          </a:p>
        </p:txBody>
      </p:sp>
      <p:sp>
        <p:nvSpPr>
          <p:cNvPr id="81922" name="Rectangle 2"/>
          <p:cNvSpPr>
            <a:spLocks noGrp="1" noRot="1" noChangeAspect="1" noChangeArrowheads="1" noTextEdit="1"/>
          </p:cNvSpPr>
          <p:nvPr>
            <p:ph type="sldImg"/>
          </p:nvPr>
        </p:nvSpPr>
        <p:spPr>
          <a:ln/>
        </p:spPr>
      </p:sp>
      <p:sp>
        <p:nvSpPr>
          <p:cNvPr id="81923" name="Rectangle 3"/>
          <p:cNvSpPr>
            <a:spLocks noGrp="1" noChangeArrowheads="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effectLst/>
                <a:latin typeface="Segoe UI Web (Vietnamese)"/>
              </a:rPr>
              <a:t>Compensate: </a:t>
            </a:r>
            <a:r>
              <a:rPr lang="en-US" dirty="0" err="1">
                <a:effectLst/>
                <a:latin typeface="Segoe UI Web (Vietnamese)"/>
              </a:rPr>
              <a:t>bù</a:t>
            </a:r>
            <a:r>
              <a:rPr lang="en-US" dirty="0">
                <a:effectLst/>
                <a:latin typeface="Segoe UI Web (Vietnamese)"/>
              </a:rPr>
              <a:t> </a:t>
            </a:r>
            <a:r>
              <a:rPr lang="en-US" dirty="0" err="1">
                <a:effectLst/>
                <a:latin typeface="Segoe UI Web (Vietnamese)"/>
              </a:rPr>
              <a:t>đấp</a:t>
            </a:r>
            <a:endParaRPr lang="en-US" dirty="0">
              <a:effectLst/>
              <a:latin typeface="Segoe UI Web (Vietnamese)"/>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err="1">
                <a:effectLst/>
                <a:latin typeface="Segoe UI Web (Vietnamese)"/>
              </a:rPr>
              <a:t>Capabilities:khẳ</a:t>
            </a:r>
            <a:r>
              <a:rPr lang="en-US" dirty="0">
                <a:effectLst/>
                <a:latin typeface="Segoe UI Web (Vietnamese)"/>
              </a:rPr>
              <a:t> </a:t>
            </a:r>
            <a:r>
              <a:rPr lang="en-US" dirty="0" err="1">
                <a:effectLst/>
                <a:latin typeface="Segoe UI Web (Vietnamese)"/>
              </a:rPr>
              <a:t>năng</a:t>
            </a:r>
            <a:endParaRPr lang="en-US" dirty="0">
              <a:effectLst/>
              <a:latin typeface="Segoe UI Web (Vietnamese)"/>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effectLst/>
              <a:latin typeface="Segoe UI Web (Vietnamese)"/>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vi-VN" dirty="0">
                <a:effectLst/>
                <a:latin typeface="Segoe UI Web (Vietnamese)"/>
              </a:rPr>
              <a:t>Điều chỉnh tổ chức và kiến trúc để bù đắp Vì sự không phù hợp giữa các khả năng của các khác nhau Linh kiện </a:t>
            </a:r>
            <a:endParaRPr lang="en-US" dirty="0">
              <a:effectLst/>
              <a:latin typeface="Segoe UI Web (Vietnamese)"/>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vi-VN" dirty="0">
                <a:effectLst/>
                <a:latin typeface="Segoe UI Web (Vietnamese)"/>
              </a:rPr>
              <a:t>Tăng số lượng bit được truy xuất cùng một lúc bằng cách làm cho DRAM "rộng hơn" thay vì "sâu hơn" và bằng cách sử dụng đường dẫn dữ liệu xe buýt rộng</a:t>
            </a:r>
            <a:endParaRPr lang="en-US" dirty="0">
              <a:effectLst/>
              <a:latin typeface="Segoe UI Web (Vietnamese)"/>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vi-VN" dirty="0">
                <a:effectLst/>
                <a:latin typeface="Segoe UI Web (Vietnamese)"/>
              </a:rPr>
              <a:t>Giảm tần suất truy cập bộ nhớ bằng cách kết hợp các cấu trúc bộ nhớ cache ngày càng phức tạp và hiệu quả giữa bộ xử lý và bộ nhớ chính.</a:t>
            </a:r>
            <a:endParaRPr lang="en-US" dirty="0">
              <a:effectLst/>
              <a:latin typeface="Segoe UI Web (Vietnamese)"/>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vi-VN" dirty="0">
                <a:effectLst/>
                <a:latin typeface="Segoe UI Web (Vietnamese)"/>
              </a:rPr>
              <a:t>Thay đổi giao diện DRAM để làm cho nó hiệu quả hơn bằng cách bao gồm bộ nhớ cache hoặc sơ đồ đệm khác trên chip DRAM</a:t>
            </a:r>
            <a:endParaRPr lang="en-US" dirty="0">
              <a:effectLst/>
              <a:latin typeface="Segoe UI Web (Vietnamese)"/>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vi-VN" dirty="0">
                <a:effectLst/>
                <a:latin typeface="Segoe UI Web (Vietnamese)"/>
              </a:rPr>
              <a:t>Tăng băng thông kết nối giữa bộ xử lý và bộ nhớ bằng cách sử dụng xe buýt tốc độ cao hơn và hệ thống phân cấp xe buýt để đệm và cấu trúc luồng dữ liệu</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vi-VN" dirty="0">
              <a:effectLst/>
              <a:latin typeface="Segoe UI Web (Vietnamese)"/>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vi-VN" dirty="0">
              <a:effectLst/>
              <a:latin typeface="Segoe UI Web (Vietnamese)"/>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vi-VN" dirty="0">
              <a:effectLst/>
              <a:latin typeface="Segoe UI Web (Vietnamese)"/>
            </a:endParaRPr>
          </a:p>
          <a:p>
            <a:endParaRPr lang="en-GB"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93FB62F-6AC0-424F-BA78-8B6B2E5E00A5}" type="slidenum">
              <a:rPr lang="en-US"/>
              <a:pPr/>
              <a:t>44</a:t>
            </a:fld>
            <a:endParaRPr lang="en-US" dirty="0"/>
          </a:p>
        </p:txBody>
      </p:sp>
      <p:sp>
        <p:nvSpPr>
          <p:cNvPr id="82946" name="Rectangle 2"/>
          <p:cNvSpPr>
            <a:spLocks noGrp="1" noRot="1" noChangeAspect="1" noChangeArrowheads="1" noTextEdit="1"/>
          </p:cNvSpPr>
          <p:nvPr>
            <p:ph type="sldImg"/>
          </p:nvPr>
        </p:nvSpPr>
        <p:spPr>
          <a:ln/>
        </p:spPr>
      </p:sp>
      <p:sp>
        <p:nvSpPr>
          <p:cNvPr id="82947" name="Rectangle 3"/>
          <p:cNvSpPr>
            <a:spLocks noGrp="1" noChangeArrowheads="1"/>
          </p:cNvSpPr>
          <p:nvPr>
            <p:ph type="body" idx="1"/>
          </p:nvPr>
        </p:nvSpPr>
        <p:spPr/>
        <p:txBody>
          <a:bodyPr/>
          <a:lstStyle/>
          <a:p>
            <a:r>
              <a:rPr kumimoji="1" lang="vi-VN" sz="1200" kern="1200" baseline="0">
                <a:solidFill>
                  <a:schemeClr val="tx1"/>
                </a:solidFill>
                <a:latin typeface="Times New Roman" pitchFamily="-110" charset="0"/>
                <a:ea typeface="+mn-ea"/>
                <a:cs typeface="+mn-cs"/>
              </a:rPr>
              <a:t>Wiki: Modem (bộ điều biến-giải điều chế) là một thiết bị phần cứng mạng điều chỉnh một hoặc nhiều tín hiệu kho sóng để mã hóa thông tin kỹ thuật số để truyền và giải điều chế tín hiệu để giải mã thông tin truyền đi.</a:t>
            </a:r>
          </a:p>
          <a:p>
            <a:endParaRPr kumimoji="1" lang="vi-VN" sz="1200" kern="1200" baseline="0">
              <a:solidFill>
                <a:schemeClr val="tx1"/>
              </a:solidFill>
              <a:latin typeface="Times New Roman" pitchFamily="-110" charset="0"/>
              <a:ea typeface="+mn-ea"/>
              <a:cs typeface="+mn-cs"/>
            </a:endParaRPr>
          </a:p>
          <a:p>
            <a:r>
              <a:rPr kumimoji="1" lang="vi-VN" sz="1200" kern="1200" baseline="0">
                <a:solidFill>
                  <a:schemeClr val="tx1"/>
                </a:solidFill>
                <a:latin typeface="Times New Roman" pitchFamily="-110" charset="0"/>
                <a:ea typeface="+mn-ea"/>
                <a:cs typeface="+mn-cs"/>
              </a:rPr>
              <a:t>Một lĩnh vực khác của trọng tâm thiết kế là xử lý các thiết bị I / O. Như máy tính</a:t>
            </a:r>
          </a:p>
          <a:p>
            <a:r>
              <a:rPr kumimoji="1" lang="vi-VN" sz="1200" kern="1200" baseline="0">
                <a:solidFill>
                  <a:schemeClr val="tx1"/>
                </a:solidFill>
                <a:latin typeface="Times New Roman" pitchFamily="-110" charset="0"/>
                <a:ea typeface="+mn-ea"/>
                <a:cs typeface="+mn-cs"/>
              </a:rPr>
              <a:t>trở nên nhanh hơn và có khả năng hơn, các ứng dụng tinh vi hơn được phát triển</a:t>
            </a:r>
          </a:p>
          <a:p>
            <a:r>
              <a:rPr kumimoji="1" lang="vi-VN" sz="1200" kern="1200" baseline="0">
                <a:solidFill>
                  <a:schemeClr val="tx1"/>
                </a:solidFill>
                <a:latin typeface="Times New Roman" pitchFamily="-110" charset="0"/>
                <a:ea typeface="+mn-ea"/>
                <a:cs typeface="+mn-cs"/>
              </a:rPr>
              <a:t>hỗ trợ việc sử dụng các thiết bị ngoại vi với nhu cầu I / O chuyên sâu. Hình 2.10 đưa ra</a:t>
            </a:r>
          </a:p>
          <a:p>
            <a:r>
              <a:rPr kumimoji="1" lang="vi-VN" sz="1200" kern="1200" baseline="0">
                <a:solidFill>
                  <a:schemeClr val="tx1"/>
                </a:solidFill>
                <a:latin typeface="Times New Roman" pitchFamily="-110" charset="0"/>
                <a:ea typeface="+mn-ea"/>
                <a:cs typeface="+mn-cs"/>
              </a:rPr>
              <a:t>một số ví dụ về các thiết bị ngoại vi điển hình được sử dụng trên máy tính cá nhân và</a:t>
            </a:r>
          </a:p>
          <a:p>
            <a:r>
              <a:rPr kumimoji="1" lang="vi-VN" sz="1200" kern="1200" baseline="0">
                <a:solidFill>
                  <a:schemeClr val="tx1"/>
                </a:solidFill>
                <a:latin typeface="Times New Roman" pitchFamily="-110" charset="0"/>
                <a:ea typeface="+mn-ea"/>
                <a:cs typeface="+mn-cs"/>
              </a:rPr>
              <a:t>máy trạm. Những thiết bị này tạo ra nhu cầu thông lượng dữ liệu rất lớn. Trong khi</a:t>
            </a:r>
          </a:p>
          <a:p>
            <a:r>
              <a:rPr kumimoji="1" lang="vi-VN" sz="1200" kern="1200" baseline="0">
                <a:solidFill>
                  <a:schemeClr val="tx1"/>
                </a:solidFill>
                <a:latin typeface="Times New Roman" pitchFamily="-110" charset="0"/>
                <a:ea typeface="+mn-ea"/>
                <a:cs typeface="+mn-cs"/>
              </a:rPr>
              <a:t>thế hệ bộ xử lý hiện tại có thể xử lý dữ liệu được bơm ra bởi</a:t>
            </a:r>
          </a:p>
          <a:p>
            <a:r>
              <a:rPr kumimoji="1" lang="vi-VN" sz="1200" kern="1200" baseline="0">
                <a:solidFill>
                  <a:schemeClr val="tx1"/>
                </a:solidFill>
                <a:latin typeface="Times New Roman" pitchFamily="-110" charset="0"/>
                <a:ea typeface="+mn-ea"/>
                <a:cs typeface="+mn-cs"/>
              </a:rPr>
              <a:t>các thiết bị, vẫn còn vấn đề di chuyển dữ liệu giữa các bộ xử lý</a:t>
            </a:r>
          </a:p>
          <a:p>
            <a:r>
              <a:rPr kumimoji="1" lang="vi-VN" sz="1200" kern="1200" baseline="0">
                <a:solidFill>
                  <a:schemeClr val="tx1"/>
                </a:solidFill>
                <a:latin typeface="Times New Roman" pitchFamily="-110" charset="0"/>
                <a:ea typeface="+mn-ea"/>
                <a:cs typeface="+mn-cs"/>
              </a:rPr>
              <a:t>và ngoại vi. Các chiến lược ở đây bao gồm các bộ đệm và bộ đệm cộng với</a:t>
            </a:r>
          </a:p>
          <a:p>
            <a:r>
              <a:rPr kumimoji="1" lang="vi-VN" sz="1200" kern="1200" baseline="0">
                <a:solidFill>
                  <a:schemeClr val="tx1"/>
                </a:solidFill>
                <a:latin typeface="Times New Roman" pitchFamily="-110" charset="0"/>
                <a:ea typeface="+mn-ea"/>
                <a:cs typeface="+mn-cs"/>
              </a:rPr>
              <a:t>sử dụng xe buýt kết nối tốc độ cao hơn và cấu trúc phức tạp hơn của xe buýt.</a:t>
            </a:r>
          </a:p>
          <a:p>
            <a:r>
              <a:rPr kumimoji="1" lang="vi-VN" sz="1200" kern="1200" baseline="0">
                <a:solidFill>
                  <a:schemeClr val="tx1"/>
                </a:solidFill>
                <a:latin typeface="Times New Roman" pitchFamily="-110" charset="0"/>
                <a:ea typeface="+mn-ea"/>
                <a:cs typeface="+mn-cs"/>
              </a:rPr>
              <a:t>Ngoài ra, việc sử dụng cấu hình nhiều bộ xử lý có thể giúp đáp ứng I / O</a:t>
            </a:r>
          </a:p>
          <a:p>
            <a:r>
              <a:rPr kumimoji="1" lang="vi-VN" sz="1200" kern="1200" baseline="0">
                <a:solidFill>
                  <a:schemeClr val="tx1"/>
                </a:solidFill>
                <a:latin typeface="Times New Roman" pitchFamily="-110" charset="0"/>
                <a:ea typeface="+mn-ea"/>
                <a:cs typeface="+mn-cs"/>
              </a:rPr>
              <a:t>yêu cầu.</a:t>
            </a:r>
          </a:p>
          <a:p>
            <a:endParaRPr kumimoji="1" lang="vi-VN" sz="1200" kern="1200" baseline="0">
              <a:solidFill>
                <a:schemeClr val="tx1"/>
              </a:solidFill>
              <a:latin typeface="Times New Roman" pitchFamily="-110" charset="0"/>
              <a:ea typeface="+mn-ea"/>
              <a:cs typeface="+mn-cs"/>
            </a:endParaRPr>
          </a:p>
          <a:p>
            <a:r>
              <a:rPr kumimoji="1" lang="vi-VN" sz="1200" kern="1200" baseline="0">
                <a:solidFill>
                  <a:schemeClr val="tx1"/>
                </a:solidFill>
                <a:latin typeface="Times New Roman" pitchFamily="-110" charset="0"/>
                <a:ea typeface="+mn-ea"/>
                <a:cs typeface="+mn-cs"/>
              </a:rPr>
              <a:t>Chìa khóa trong tất cả điều này là sự cân bằng. Nhà thiết kế không ngừng nỗ lực để cân bằng</a:t>
            </a:r>
          </a:p>
          <a:p>
            <a:r>
              <a:rPr kumimoji="1" lang="vi-VN" sz="1200" kern="1200" baseline="0">
                <a:solidFill>
                  <a:schemeClr val="tx1"/>
                </a:solidFill>
                <a:latin typeface="Times New Roman" pitchFamily="-110" charset="0"/>
                <a:ea typeface="+mn-ea"/>
                <a:cs typeface="+mn-cs"/>
              </a:rPr>
              <a:t>nhu cầu thông lượng và xử lý của các thành phần bộ xử lý, bộ nhớ chính,</a:t>
            </a:r>
          </a:p>
          <a:p>
            <a:r>
              <a:rPr kumimoji="1" lang="vi-VN" sz="1200" kern="1200" baseline="0">
                <a:solidFill>
                  <a:schemeClr val="tx1"/>
                </a:solidFill>
                <a:latin typeface="Times New Roman" pitchFamily="-110" charset="0"/>
                <a:ea typeface="+mn-ea"/>
                <a:cs typeface="+mn-cs"/>
              </a:rPr>
              <a:t>Các thiết bị I / O và các cấu trúc kết nối. Thiết kế này phải liên tục</a:t>
            </a:r>
          </a:p>
          <a:p>
            <a:r>
              <a:rPr kumimoji="1" lang="vi-VN" sz="1200" kern="1200" baseline="0">
                <a:solidFill>
                  <a:schemeClr val="tx1"/>
                </a:solidFill>
                <a:latin typeface="Times New Roman" pitchFamily="-110" charset="0"/>
                <a:ea typeface="+mn-ea"/>
                <a:cs typeface="+mn-cs"/>
              </a:rPr>
              <a:t>suy nghĩ lại để đối phó với hai yếu tố liên tục phát triển:</a:t>
            </a:r>
          </a:p>
          <a:p>
            <a:endParaRPr kumimoji="1" lang="vi-VN" sz="1200" kern="1200" baseline="0">
              <a:solidFill>
                <a:schemeClr val="tx1"/>
              </a:solidFill>
              <a:latin typeface="Times New Roman" pitchFamily="-110" charset="0"/>
              <a:ea typeface="+mn-ea"/>
              <a:cs typeface="+mn-cs"/>
            </a:endParaRPr>
          </a:p>
          <a:p>
            <a:r>
              <a:rPr kumimoji="1" lang="vi-VN" sz="1200" kern="1200" baseline="0">
                <a:solidFill>
                  <a:schemeClr val="tx1"/>
                </a:solidFill>
                <a:latin typeface="Times New Roman" pitchFamily="-110" charset="0"/>
                <a:ea typeface="+mn-ea"/>
                <a:cs typeface="+mn-cs"/>
              </a:rPr>
              <a:t>• Tốc độ thay đổi hiệu suất trong các lĩnh vực công nghệ khác nhau</a:t>
            </a:r>
          </a:p>
          <a:p>
            <a:r>
              <a:rPr kumimoji="1" lang="vi-VN" sz="1200" kern="1200" baseline="0">
                <a:solidFill>
                  <a:schemeClr val="tx1"/>
                </a:solidFill>
                <a:latin typeface="Times New Roman" pitchFamily="-110" charset="0"/>
                <a:ea typeface="+mn-ea"/>
                <a:cs typeface="+mn-cs"/>
              </a:rPr>
              <a:t>(bộ xử lý, bus, bộ nhớ, thiết bị ngoại vi) khác rất nhiều so với một loại</a:t>
            </a:r>
          </a:p>
          <a:p>
            <a:r>
              <a:rPr kumimoji="1" lang="vi-VN" sz="1200" kern="1200" baseline="0">
                <a:solidFill>
                  <a:schemeClr val="tx1"/>
                </a:solidFill>
                <a:latin typeface="Times New Roman" pitchFamily="-110" charset="0"/>
                <a:ea typeface="+mn-ea"/>
                <a:cs typeface="+mn-cs"/>
              </a:rPr>
              <a:t>thành phần</a:t>
            </a:r>
          </a:p>
          <a:p>
            <a:r>
              <a:rPr kumimoji="1" lang="vi-VN" sz="1200" kern="1200" baseline="0">
                <a:solidFill>
                  <a:schemeClr val="tx1"/>
                </a:solidFill>
                <a:latin typeface="Times New Roman" pitchFamily="-110" charset="0"/>
                <a:ea typeface="+mn-ea"/>
                <a:cs typeface="+mn-cs"/>
              </a:rPr>
              <a:t>cho người khác</a:t>
            </a:r>
          </a:p>
          <a:p>
            <a:endParaRPr kumimoji="1" lang="vi-VN" sz="1200" kern="1200" baseline="0">
              <a:solidFill>
                <a:schemeClr val="tx1"/>
              </a:solidFill>
              <a:latin typeface="Times New Roman" pitchFamily="-110" charset="0"/>
              <a:ea typeface="+mn-ea"/>
              <a:cs typeface="+mn-cs"/>
            </a:endParaRPr>
          </a:p>
          <a:p>
            <a:r>
              <a:rPr kumimoji="1" lang="vi-VN" sz="1200" kern="1200" baseline="0">
                <a:solidFill>
                  <a:schemeClr val="tx1"/>
                </a:solidFill>
                <a:latin typeface="Times New Roman" pitchFamily="-110" charset="0"/>
                <a:ea typeface="+mn-ea"/>
                <a:cs typeface="+mn-cs"/>
              </a:rPr>
              <a:t>• Các ứng dụng mới và thiết bị ngoại vi mới liên tục thay đổi bản chất của</a:t>
            </a:r>
          </a:p>
          <a:p>
            <a:r>
              <a:rPr kumimoji="1" lang="vi-VN" sz="1200" kern="1200" baseline="0">
                <a:solidFill>
                  <a:schemeClr val="tx1"/>
                </a:solidFill>
                <a:latin typeface="Times New Roman" pitchFamily="-110" charset="0"/>
                <a:ea typeface="+mn-ea"/>
                <a:cs typeface="+mn-cs"/>
              </a:rPr>
              <a:t>nhu cầu trên hệ thống về mặt hồ sơ hướng dẫn điển hình và dữ liệu</a:t>
            </a:r>
          </a:p>
          <a:p>
            <a:r>
              <a:rPr kumimoji="1" lang="vi-VN" sz="1200" kern="1200" baseline="0">
                <a:solidFill>
                  <a:schemeClr val="tx1"/>
                </a:solidFill>
                <a:latin typeface="Times New Roman" pitchFamily="-110" charset="0"/>
                <a:ea typeface="+mn-ea"/>
                <a:cs typeface="+mn-cs"/>
              </a:rPr>
              <a:t>mô hình truy cập.</a:t>
            </a:r>
          </a:p>
          <a:p>
            <a:endParaRPr kumimoji="1" lang="vi-VN" sz="1200" kern="1200" baseline="0">
              <a:solidFill>
                <a:schemeClr val="tx1"/>
              </a:solidFill>
              <a:latin typeface="Times New Roman" pitchFamily="-110" charset="0"/>
              <a:ea typeface="+mn-ea"/>
              <a:cs typeface="+mn-cs"/>
            </a:endParaRPr>
          </a:p>
          <a:p>
            <a:r>
              <a:rPr kumimoji="1" lang="vi-VN" sz="1200" kern="1200" baseline="0">
                <a:solidFill>
                  <a:schemeClr val="tx1"/>
                </a:solidFill>
                <a:latin typeface="Times New Roman" pitchFamily="-110" charset="0"/>
                <a:ea typeface="+mn-ea"/>
                <a:cs typeface="+mn-cs"/>
              </a:rPr>
              <a:t>Vì vậy, thiết kế máy tính là một hình thức nghệ thuật không ngừng phát triển. Cuốn sách này cố gắng để</a:t>
            </a:r>
          </a:p>
          <a:p>
            <a:r>
              <a:rPr kumimoji="1" lang="vi-VN" sz="1200" kern="1200" baseline="0">
                <a:solidFill>
                  <a:schemeClr val="tx1"/>
                </a:solidFill>
                <a:latin typeface="Times New Roman" pitchFamily="-110" charset="0"/>
                <a:ea typeface="+mn-ea"/>
                <a:cs typeface="+mn-cs"/>
              </a:rPr>
              <a:t>trình bày các nguyên tắc cơ bản mà loại hình nghệ thuật này dựa trên và để trình bày một cuộc khảo sát về</a:t>
            </a:r>
          </a:p>
          <a:p>
            <a:r>
              <a:rPr kumimoji="1" lang="vi-VN" sz="1200" kern="1200" baseline="0">
                <a:solidFill>
                  <a:schemeClr val="tx1"/>
                </a:solidFill>
                <a:latin typeface="Times New Roman" pitchFamily="-110" charset="0"/>
                <a:ea typeface="+mn-ea"/>
                <a:cs typeface="+mn-cs"/>
              </a:rPr>
              <a:t>hiện trạng của nghệ thuật đó.</a:t>
            </a:r>
            <a:endParaRPr kumimoji="1" lang="en-US" sz="1200" kern="1200" baseline="0">
              <a:solidFill>
                <a:schemeClr val="tx1"/>
              </a:solidFill>
              <a:latin typeface="Times New Roman" pitchFamily="-110" charset="0"/>
              <a:ea typeface="+mn-ea"/>
              <a:cs typeface="+mn-cs"/>
            </a:endParaRPr>
          </a:p>
          <a:p>
            <a:r>
              <a:rPr kumimoji="1" lang="en-US" sz="1200" kern="1200" baseline="0">
                <a:solidFill>
                  <a:schemeClr val="tx1"/>
                </a:solidFill>
                <a:latin typeface="Times New Roman" pitchFamily="-110" charset="0"/>
                <a:ea typeface="+mn-ea"/>
                <a:cs typeface="+mn-cs"/>
              </a:rPr>
              <a:t>Wiki</a:t>
            </a:r>
            <a:r>
              <a:rPr kumimoji="1" lang="en-US" sz="1200" kern="1200" baseline="0" dirty="0">
                <a:solidFill>
                  <a:schemeClr val="tx1"/>
                </a:solidFill>
                <a:latin typeface="Times New Roman" pitchFamily="-110" charset="0"/>
                <a:ea typeface="+mn-ea"/>
                <a:cs typeface="+mn-cs"/>
              </a:rPr>
              <a:t>: </a:t>
            </a:r>
            <a:r>
              <a:rPr kumimoji="1" lang="en-US" sz="1200" b="0" i="0" kern="1200" dirty="0">
                <a:solidFill>
                  <a:schemeClr val="tx1"/>
                </a:solidFill>
                <a:latin typeface="Times New Roman" pitchFamily="-110" charset="0"/>
                <a:ea typeface="+mn-ea"/>
                <a:cs typeface="+mn-cs"/>
              </a:rPr>
              <a:t>A </a:t>
            </a:r>
            <a:r>
              <a:rPr kumimoji="1" lang="en-US" sz="1200" b="1" i="0" kern="1200" dirty="0">
                <a:solidFill>
                  <a:schemeClr val="tx1"/>
                </a:solidFill>
                <a:latin typeface="Times New Roman" pitchFamily="-110" charset="0"/>
                <a:ea typeface="+mn-ea"/>
                <a:cs typeface="+mn-cs"/>
              </a:rPr>
              <a:t>modem</a:t>
            </a:r>
            <a:r>
              <a:rPr kumimoji="1" lang="en-US" sz="1200" b="0" i="0" kern="1200" dirty="0">
                <a:solidFill>
                  <a:schemeClr val="tx1"/>
                </a:solidFill>
                <a:latin typeface="Times New Roman" pitchFamily="-110" charset="0"/>
                <a:ea typeface="+mn-ea"/>
                <a:cs typeface="+mn-cs"/>
              </a:rPr>
              <a:t> (</a:t>
            </a:r>
            <a:r>
              <a:rPr kumimoji="1" lang="en-US" sz="1200" b="1" i="0" kern="1200" dirty="0">
                <a:solidFill>
                  <a:schemeClr val="tx1"/>
                </a:solidFill>
                <a:latin typeface="Times New Roman" pitchFamily="-110" charset="0"/>
                <a:ea typeface="+mn-ea"/>
                <a:cs typeface="+mn-cs"/>
              </a:rPr>
              <a:t>mo</a:t>
            </a:r>
            <a:r>
              <a:rPr kumimoji="1" lang="en-US" sz="1200" b="0" i="0" kern="1200" dirty="0">
                <a:solidFill>
                  <a:schemeClr val="tx1"/>
                </a:solidFill>
                <a:latin typeface="Times New Roman" pitchFamily="-110" charset="0"/>
                <a:ea typeface="+mn-ea"/>
                <a:cs typeface="+mn-cs"/>
              </a:rPr>
              <a:t>dulator-</a:t>
            </a:r>
            <a:r>
              <a:rPr kumimoji="1" lang="en-US" sz="1200" b="1" i="0" kern="1200" dirty="0">
                <a:solidFill>
                  <a:schemeClr val="tx1"/>
                </a:solidFill>
                <a:latin typeface="Times New Roman" pitchFamily="-110" charset="0"/>
                <a:ea typeface="+mn-ea"/>
                <a:cs typeface="+mn-cs"/>
              </a:rPr>
              <a:t>dem</a:t>
            </a:r>
            <a:r>
              <a:rPr kumimoji="1" lang="en-US" sz="1200" b="0" i="0" kern="1200" dirty="0">
                <a:solidFill>
                  <a:schemeClr val="tx1"/>
                </a:solidFill>
                <a:latin typeface="Times New Roman" pitchFamily="-110" charset="0"/>
                <a:ea typeface="+mn-ea"/>
                <a:cs typeface="+mn-cs"/>
              </a:rPr>
              <a:t>odulator) is a network hardware device that modulates one or more carrier ware signals to encode digital information for transmission and demodulates signals to decode the transmitted information.</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Another area of design focus is the handling of I/O devices. As computers</a:t>
            </a:r>
          </a:p>
          <a:p>
            <a:r>
              <a:rPr kumimoji="1" lang="en-US" sz="1200" kern="1200" baseline="0" dirty="0">
                <a:solidFill>
                  <a:schemeClr val="tx1"/>
                </a:solidFill>
                <a:latin typeface="Times New Roman" pitchFamily="-110" charset="0"/>
                <a:ea typeface="+mn-ea"/>
                <a:cs typeface="+mn-cs"/>
              </a:rPr>
              <a:t>become faster and more capable, more sophisticated applications are developed</a:t>
            </a:r>
          </a:p>
          <a:p>
            <a:r>
              <a:rPr kumimoji="1" lang="en-US" sz="1200" kern="1200" baseline="0" dirty="0">
                <a:solidFill>
                  <a:schemeClr val="tx1"/>
                </a:solidFill>
                <a:latin typeface="Times New Roman" pitchFamily="-110" charset="0"/>
                <a:ea typeface="+mn-ea"/>
                <a:cs typeface="+mn-cs"/>
              </a:rPr>
              <a:t>that support the use of peripherals with intensive I/O demands. Figure 2.10 gives</a:t>
            </a:r>
          </a:p>
          <a:p>
            <a:r>
              <a:rPr kumimoji="1" lang="en-US" sz="1200" kern="1200" baseline="0" dirty="0">
                <a:solidFill>
                  <a:schemeClr val="tx1"/>
                </a:solidFill>
                <a:latin typeface="Times New Roman" pitchFamily="-110" charset="0"/>
                <a:ea typeface="+mn-ea"/>
                <a:cs typeface="+mn-cs"/>
              </a:rPr>
              <a:t>some examples of typical peripheral devices in use on personal computers and</a:t>
            </a:r>
          </a:p>
          <a:p>
            <a:r>
              <a:rPr kumimoji="1" lang="en-US" sz="1200" kern="1200" baseline="0" dirty="0">
                <a:solidFill>
                  <a:schemeClr val="tx1"/>
                </a:solidFill>
                <a:latin typeface="Times New Roman" pitchFamily="-110" charset="0"/>
                <a:ea typeface="+mn-ea"/>
                <a:cs typeface="+mn-cs"/>
              </a:rPr>
              <a:t>workstations. These devices create tremendous data throughput demands. While</a:t>
            </a:r>
          </a:p>
          <a:p>
            <a:r>
              <a:rPr kumimoji="1" lang="en-US" sz="1200" kern="1200" baseline="0" dirty="0">
                <a:solidFill>
                  <a:schemeClr val="tx1"/>
                </a:solidFill>
                <a:latin typeface="Times New Roman" pitchFamily="-110" charset="0"/>
                <a:ea typeface="+mn-ea"/>
                <a:cs typeface="+mn-cs"/>
              </a:rPr>
              <a:t>the current generation of processors can handle the data pumped out by these</a:t>
            </a:r>
          </a:p>
          <a:p>
            <a:r>
              <a:rPr kumimoji="1" lang="en-US" sz="1200" kern="1200" baseline="0" dirty="0">
                <a:solidFill>
                  <a:schemeClr val="tx1"/>
                </a:solidFill>
                <a:latin typeface="Times New Roman" pitchFamily="-110" charset="0"/>
                <a:ea typeface="+mn-ea"/>
                <a:cs typeface="+mn-cs"/>
              </a:rPr>
              <a:t>devices, there remains the problem of getting that data moved between processor</a:t>
            </a:r>
          </a:p>
          <a:p>
            <a:r>
              <a:rPr kumimoji="1" lang="en-US" sz="1200" kern="1200" baseline="0" dirty="0">
                <a:solidFill>
                  <a:schemeClr val="tx1"/>
                </a:solidFill>
                <a:latin typeface="Times New Roman" pitchFamily="-110" charset="0"/>
                <a:ea typeface="+mn-ea"/>
                <a:cs typeface="+mn-cs"/>
              </a:rPr>
              <a:t>and peripheral. Strategies here include caching and buffering schemes plus the</a:t>
            </a:r>
          </a:p>
          <a:p>
            <a:r>
              <a:rPr kumimoji="1" lang="en-US" sz="1200" kern="1200" baseline="0" dirty="0">
                <a:solidFill>
                  <a:schemeClr val="tx1"/>
                </a:solidFill>
                <a:latin typeface="Times New Roman" pitchFamily="-110" charset="0"/>
                <a:ea typeface="+mn-ea"/>
                <a:cs typeface="+mn-cs"/>
              </a:rPr>
              <a:t>use of higher-speed interconnection buses and more elaborate structures of buses.</a:t>
            </a:r>
          </a:p>
          <a:p>
            <a:r>
              <a:rPr kumimoji="1" lang="en-US" sz="1200" kern="1200" baseline="0" dirty="0">
                <a:solidFill>
                  <a:schemeClr val="tx1"/>
                </a:solidFill>
                <a:latin typeface="Times New Roman" pitchFamily="-110" charset="0"/>
                <a:ea typeface="+mn-ea"/>
                <a:cs typeface="+mn-cs"/>
              </a:rPr>
              <a:t>In addition, the use of multiple-processor configurations can aid in satisfying I/O</a:t>
            </a:r>
          </a:p>
          <a:p>
            <a:r>
              <a:rPr kumimoji="1" lang="en-US" sz="1200" kern="1200" baseline="0" dirty="0">
                <a:solidFill>
                  <a:schemeClr val="tx1"/>
                </a:solidFill>
                <a:latin typeface="Times New Roman" pitchFamily="-110" charset="0"/>
                <a:ea typeface="+mn-ea"/>
                <a:cs typeface="+mn-cs"/>
              </a:rPr>
              <a:t>demands.</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The key in all this is balance. Designers constantly strive to balance the</a:t>
            </a:r>
          </a:p>
          <a:p>
            <a:r>
              <a:rPr kumimoji="1" lang="en-US" sz="1200" kern="1200" baseline="0" dirty="0">
                <a:solidFill>
                  <a:schemeClr val="tx1"/>
                </a:solidFill>
                <a:latin typeface="Times New Roman" pitchFamily="-110" charset="0"/>
                <a:ea typeface="+mn-ea"/>
                <a:cs typeface="+mn-cs"/>
              </a:rPr>
              <a:t>throughput and processing demands of the processor components, main memory,</a:t>
            </a:r>
          </a:p>
          <a:p>
            <a:r>
              <a:rPr kumimoji="1" lang="en-US" sz="1200" kern="1200" baseline="0" dirty="0">
                <a:solidFill>
                  <a:schemeClr val="tx1"/>
                </a:solidFill>
                <a:latin typeface="Times New Roman" pitchFamily="-110" charset="0"/>
                <a:ea typeface="+mn-ea"/>
                <a:cs typeface="+mn-cs"/>
              </a:rPr>
              <a:t>I/O devices, and the interconnection structures. This design must constantly be</a:t>
            </a:r>
          </a:p>
          <a:p>
            <a:r>
              <a:rPr kumimoji="1" lang="en-US" sz="1200" kern="1200" baseline="0" dirty="0">
                <a:solidFill>
                  <a:schemeClr val="tx1"/>
                </a:solidFill>
                <a:latin typeface="Times New Roman" pitchFamily="-110" charset="0"/>
                <a:ea typeface="+mn-ea"/>
                <a:cs typeface="+mn-cs"/>
              </a:rPr>
              <a:t>rethought to cope with two constantly evolving factors:</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The rate at which performance is changing in the various technology areas</a:t>
            </a:r>
          </a:p>
          <a:p>
            <a:r>
              <a:rPr kumimoji="1" lang="en-US" sz="1200" kern="1200" baseline="0" dirty="0">
                <a:solidFill>
                  <a:schemeClr val="tx1"/>
                </a:solidFill>
                <a:latin typeface="Times New Roman" pitchFamily="-110" charset="0"/>
                <a:ea typeface="+mn-ea"/>
                <a:cs typeface="+mn-cs"/>
              </a:rPr>
              <a:t>(processor, buses, memory, peripherals) differs greatly from one type of</a:t>
            </a:r>
          </a:p>
          <a:p>
            <a:r>
              <a:rPr kumimoji="1" lang="en-US" sz="1200" kern="1200" baseline="0" dirty="0">
                <a:solidFill>
                  <a:schemeClr val="tx1"/>
                </a:solidFill>
                <a:latin typeface="Times New Roman" pitchFamily="-110" charset="0"/>
                <a:ea typeface="+mn-ea"/>
                <a:cs typeface="+mn-cs"/>
              </a:rPr>
              <a:t>element</a:t>
            </a:r>
          </a:p>
          <a:p>
            <a:r>
              <a:rPr kumimoji="1" lang="en-US" sz="1200" kern="1200" baseline="0" dirty="0">
                <a:solidFill>
                  <a:schemeClr val="tx1"/>
                </a:solidFill>
                <a:latin typeface="Times New Roman" pitchFamily="-110" charset="0"/>
                <a:ea typeface="+mn-ea"/>
                <a:cs typeface="+mn-cs"/>
              </a:rPr>
              <a:t>to another.</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New applications and new peripheral devices constantly change the nature of</a:t>
            </a:r>
          </a:p>
          <a:p>
            <a:r>
              <a:rPr kumimoji="1" lang="en-US" sz="1200" kern="1200" baseline="0" dirty="0">
                <a:solidFill>
                  <a:schemeClr val="tx1"/>
                </a:solidFill>
                <a:latin typeface="Times New Roman" pitchFamily="-110" charset="0"/>
                <a:ea typeface="+mn-ea"/>
                <a:cs typeface="+mn-cs"/>
              </a:rPr>
              <a:t>the demand on the system in terms of typical instruction profile and the data</a:t>
            </a:r>
          </a:p>
          <a:p>
            <a:r>
              <a:rPr kumimoji="1" lang="en-US" sz="1200" kern="1200" baseline="0" dirty="0">
                <a:solidFill>
                  <a:schemeClr val="tx1"/>
                </a:solidFill>
                <a:latin typeface="Times New Roman" pitchFamily="-110" charset="0"/>
                <a:ea typeface="+mn-ea"/>
                <a:cs typeface="+mn-cs"/>
              </a:rPr>
              <a:t>access patterns.</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Thus, computer design is a constantly evolving art form. This book attempts to</a:t>
            </a:r>
          </a:p>
          <a:p>
            <a:r>
              <a:rPr kumimoji="1" lang="en-US" sz="1200" kern="1200" baseline="0" dirty="0">
                <a:solidFill>
                  <a:schemeClr val="tx1"/>
                </a:solidFill>
                <a:latin typeface="Times New Roman" pitchFamily="-110" charset="0"/>
                <a:ea typeface="+mn-ea"/>
                <a:cs typeface="+mn-cs"/>
              </a:rPr>
              <a:t>present the fundamentals on which this art form is based and to present a survey of</a:t>
            </a:r>
          </a:p>
          <a:p>
            <a:r>
              <a:rPr kumimoji="1" lang="en-US" sz="1200" kern="1200" baseline="0" dirty="0">
                <a:solidFill>
                  <a:schemeClr val="tx1"/>
                </a:solidFill>
                <a:latin typeface="Times New Roman" pitchFamily="-110" charset="0"/>
                <a:ea typeface="+mn-ea"/>
                <a:cs typeface="+mn-cs"/>
              </a:rPr>
              <a:t>the current state of that art.</a:t>
            </a:r>
            <a:endParaRPr lang="en-GB"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r>
              <a:rPr kumimoji="1" lang="en-US" sz="1200" kern="1200" baseline="0" dirty="0">
                <a:solidFill>
                  <a:schemeClr val="tx1"/>
                </a:solidFill>
                <a:latin typeface="Times New Roman" pitchFamily="-110" charset="0"/>
                <a:ea typeface="+mn-ea"/>
                <a:cs typeface="+mn-cs"/>
              </a:rPr>
              <a:t>Propagation: </a:t>
            </a:r>
            <a:r>
              <a:rPr kumimoji="1" lang="en-US" sz="1200" kern="1200" baseline="0" dirty="0" err="1">
                <a:solidFill>
                  <a:schemeClr val="tx1"/>
                </a:solidFill>
                <a:latin typeface="Times New Roman" pitchFamily="-110" charset="0"/>
                <a:ea typeface="+mn-ea"/>
                <a:cs typeface="+mn-cs"/>
              </a:rPr>
              <a:t>lan</a:t>
            </a:r>
            <a:r>
              <a:rPr kumimoji="1" lang="en-US" sz="1200" kern="1200" baseline="0" dirty="0">
                <a:solidFill>
                  <a:schemeClr val="tx1"/>
                </a:solidFill>
                <a:latin typeface="Times New Roman" pitchFamily="-110" charset="0"/>
                <a:ea typeface="+mn-ea"/>
                <a:cs typeface="+mn-cs"/>
              </a:rPr>
              <a:t> </a:t>
            </a:r>
            <a:r>
              <a:rPr kumimoji="1" lang="en-US" sz="1200" kern="1200" baseline="0" dirty="0" err="1">
                <a:solidFill>
                  <a:schemeClr val="tx1"/>
                </a:solidFill>
                <a:latin typeface="Times New Roman" pitchFamily="-110" charset="0"/>
                <a:ea typeface="+mn-ea"/>
                <a:cs typeface="+mn-cs"/>
              </a:rPr>
              <a:t>truyền</a:t>
            </a:r>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Dedicating part: </a:t>
            </a:r>
            <a:r>
              <a:rPr kumimoji="1" lang="en-US" sz="1200" kern="1200" baseline="0" dirty="0" err="1">
                <a:solidFill>
                  <a:schemeClr val="tx1"/>
                </a:solidFill>
                <a:latin typeface="Times New Roman" pitchFamily="-110" charset="0"/>
                <a:ea typeface="+mn-ea"/>
                <a:cs typeface="+mn-cs"/>
              </a:rPr>
              <a:t>dành</a:t>
            </a:r>
            <a:r>
              <a:rPr kumimoji="1" lang="en-US" sz="1200" kern="1200" baseline="0" dirty="0">
                <a:solidFill>
                  <a:schemeClr val="tx1"/>
                </a:solidFill>
                <a:latin typeface="Times New Roman" pitchFamily="-110" charset="0"/>
                <a:ea typeface="+mn-ea"/>
                <a:cs typeface="+mn-cs"/>
              </a:rPr>
              <a:t> mot </a:t>
            </a:r>
            <a:r>
              <a:rPr kumimoji="1" lang="en-US" sz="1200" kern="1200" baseline="0" dirty="0" err="1">
                <a:solidFill>
                  <a:schemeClr val="tx1"/>
                </a:solidFill>
                <a:latin typeface="Times New Roman" pitchFamily="-110" charset="0"/>
                <a:ea typeface="+mn-ea"/>
                <a:cs typeface="+mn-cs"/>
              </a:rPr>
              <a:t>phần</a:t>
            </a:r>
            <a:endParaRPr kumimoji="1" lang="en-US" sz="1200" kern="1200" baseline="0" dirty="0">
              <a:solidFill>
                <a:schemeClr val="tx1"/>
              </a:solidFill>
              <a:latin typeface="Times New Roman" pitchFamily="-110" charset="0"/>
              <a:ea typeface="+mn-ea"/>
              <a:cs typeface="+mn-cs"/>
            </a:endParaRPr>
          </a:p>
          <a:p>
            <a:r>
              <a:rPr lang="en-GB" sz="1200" dirty="0">
                <a:solidFill>
                  <a:schemeClr val="tx1"/>
                </a:solidFill>
              </a:rPr>
              <a:t>drop significantly</a:t>
            </a:r>
            <a:r>
              <a:rPr kumimoji="1" lang="en-US" sz="1200" kern="1200" baseline="0" dirty="0">
                <a:solidFill>
                  <a:schemeClr val="tx1"/>
                </a:solidFill>
                <a:latin typeface="Times New Roman" pitchFamily="-110" charset="0"/>
                <a:ea typeface="+mn-ea"/>
                <a:cs typeface="+mn-cs"/>
              </a:rPr>
              <a:t>: </a:t>
            </a:r>
            <a:r>
              <a:rPr kumimoji="1" lang="en-US" sz="1200" kern="1200" baseline="0" dirty="0" err="1">
                <a:solidFill>
                  <a:schemeClr val="tx1"/>
                </a:solidFill>
                <a:latin typeface="Times New Roman" pitchFamily="-110" charset="0"/>
                <a:ea typeface="+mn-ea"/>
                <a:cs typeface="+mn-cs"/>
              </a:rPr>
              <a:t>giảm</a:t>
            </a:r>
            <a:r>
              <a:rPr kumimoji="1" lang="en-US" sz="1200" kern="1200" baseline="0" dirty="0">
                <a:solidFill>
                  <a:schemeClr val="tx1"/>
                </a:solidFill>
                <a:latin typeface="Times New Roman" pitchFamily="-110" charset="0"/>
                <a:ea typeface="+mn-ea"/>
                <a:cs typeface="+mn-cs"/>
              </a:rPr>
              <a:t> </a:t>
            </a:r>
            <a:r>
              <a:rPr kumimoji="1" lang="en-US" sz="1200" kern="1200" baseline="0" dirty="0" err="1">
                <a:solidFill>
                  <a:schemeClr val="tx1"/>
                </a:solidFill>
                <a:latin typeface="Times New Roman" pitchFamily="-110" charset="0"/>
                <a:ea typeface="+mn-ea"/>
                <a:cs typeface="+mn-cs"/>
              </a:rPr>
              <a:t>đáng</a:t>
            </a:r>
            <a:r>
              <a:rPr kumimoji="1" lang="en-US" sz="1200" kern="1200" baseline="0" dirty="0">
                <a:solidFill>
                  <a:schemeClr val="tx1"/>
                </a:solidFill>
                <a:latin typeface="Times New Roman" pitchFamily="-110" charset="0"/>
                <a:ea typeface="+mn-ea"/>
                <a:cs typeface="+mn-cs"/>
              </a:rPr>
              <a:t> </a:t>
            </a:r>
            <a:r>
              <a:rPr kumimoji="1" lang="en-US" sz="1200" kern="1200" baseline="0" dirty="0" err="1">
                <a:solidFill>
                  <a:schemeClr val="tx1"/>
                </a:solidFill>
                <a:latin typeface="Times New Roman" pitchFamily="-110" charset="0"/>
                <a:ea typeface="+mn-ea"/>
                <a:cs typeface="+mn-cs"/>
              </a:rPr>
              <a:t>kể</a:t>
            </a:r>
            <a:endParaRPr kumimoji="1" lang="en-US" sz="1200" kern="1200" baseline="0" dirty="0">
              <a:solidFill>
                <a:schemeClr val="tx1"/>
              </a:solidFill>
              <a:latin typeface="Times New Roman" pitchFamily="-110" charset="0"/>
              <a:ea typeface="+mn-ea"/>
              <a:cs typeface="+mn-cs"/>
            </a:endParaRPr>
          </a:p>
          <a:p>
            <a:r>
              <a:rPr kumimoji="1" lang="vi-VN" sz="1200" kern="1200" baseline="0" dirty="0">
                <a:solidFill>
                  <a:schemeClr val="tx1"/>
                </a:solidFill>
                <a:latin typeface="Times New Roman" pitchFamily="-110" charset="0"/>
                <a:ea typeface="+mn-ea"/>
                <a:cs typeface="+mn-cs"/>
              </a:rPr>
              <a:t>Khi các nhà thiết kế vật lộn với thách thức cân bằng hiệu năng của bộ xử lý với điều đó</a:t>
            </a:r>
          </a:p>
          <a:p>
            <a:r>
              <a:rPr kumimoji="1" lang="vi-VN" sz="1200" kern="1200" baseline="0" dirty="0">
                <a:solidFill>
                  <a:schemeClr val="tx1"/>
                </a:solidFill>
                <a:latin typeface="Times New Roman" pitchFamily="-110" charset="0"/>
                <a:ea typeface="+mn-ea"/>
                <a:cs typeface="+mn-cs"/>
              </a:rPr>
              <a:t>của bộ nhớ chính và các thành phần máy tính khác, cần phải tăng bộ xử lý</a:t>
            </a:r>
          </a:p>
          <a:p>
            <a:r>
              <a:rPr kumimoji="1" lang="vi-VN" sz="1200" kern="1200" baseline="0" dirty="0">
                <a:solidFill>
                  <a:schemeClr val="tx1"/>
                </a:solidFill>
                <a:latin typeface="Times New Roman" pitchFamily="-110" charset="0"/>
                <a:ea typeface="+mn-ea"/>
                <a:cs typeface="+mn-cs"/>
              </a:rPr>
              <a:t>tốc độ vẫn còn. Có ba cách tiếp cận để đạt được tốc độ xử lý tăng:</a:t>
            </a:r>
          </a:p>
          <a:p>
            <a:endParaRPr kumimoji="1" lang="vi-VN" sz="1200" kern="1200" baseline="0" dirty="0">
              <a:solidFill>
                <a:schemeClr val="tx1"/>
              </a:solidFill>
              <a:latin typeface="Times New Roman" pitchFamily="-110" charset="0"/>
              <a:ea typeface="+mn-ea"/>
              <a:cs typeface="+mn-cs"/>
            </a:endParaRPr>
          </a:p>
          <a:p>
            <a:r>
              <a:rPr kumimoji="1" lang="vi-VN" sz="1200" kern="1200" baseline="0" dirty="0">
                <a:solidFill>
                  <a:schemeClr val="tx1"/>
                </a:solidFill>
                <a:latin typeface="Times New Roman" pitchFamily="-110" charset="0"/>
                <a:ea typeface="+mn-ea"/>
                <a:cs typeface="+mn-cs"/>
              </a:rPr>
              <a:t>• Tăng tốc độ phần cứng của bộ xử lý. Sự gia tăng này về cơ bản là</a:t>
            </a:r>
          </a:p>
          <a:p>
            <a:r>
              <a:rPr kumimoji="1" lang="vi-VN" sz="1200" kern="1200" baseline="0" dirty="0">
                <a:solidFill>
                  <a:schemeClr val="tx1"/>
                </a:solidFill>
                <a:latin typeface="Times New Roman" pitchFamily="-110" charset="0"/>
                <a:ea typeface="+mn-ea"/>
                <a:cs typeface="+mn-cs"/>
              </a:rPr>
              <a:t>do thu nhỏ kích thước của các cổng logic trên chip xử lý, do đó nhiều hơn</a:t>
            </a:r>
          </a:p>
          <a:p>
            <a:r>
              <a:rPr kumimoji="1" lang="vi-VN" sz="1200" kern="1200" baseline="0" dirty="0">
                <a:solidFill>
                  <a:schemeClr val="tx1"/>
                </a:solidFill>
                <a:latin typeface="Times New Roman" pitchFamily="-110" charset="0"/>
                <a:ea typeface="+mn-ea"/>
                <a:cs typeface="+mn-cs"/>
              </a:rPr>
              <a:t>cổng có thể được đóng gói với nhau chặt chẽ hơn và để tăng tốc độ xung nhịp.</a:t>
            </a:r>
          </a:p>
          <a:p>
            <a:r>
              <a:rPr kumimoji="1" lang="vi-VN" sz="1200" kern="1200" baseline="0" dirty="0">
                <a:solidFill>
                  <a:schemeClr val="tx1"/>
                </a:solidFill>
                <a:latin typeface="Times New Roman" pitchFamily="-110" charset="0"/>
                <a:ea typeface="+mn-ea"/>
                <a:cs typeface="+mn-cs"/>
              </a:rPr>
              <a:t>Với các cổng gần nhau hơn, thời gian truyền tín hiệu là đáng kể</a:t>
            </a:r>
          </a:p>
          <a:p>
            <a:r>
              <a:rPr kumimoji="1" lang="vi-VN" sz="1200" kern="1200" baseline="0" dirty="0">
                <a:solidFill>
                  <a:schemeClr val="tx1"/>
                </a:solidFill>
                <a:latin typeface="Times New Roman" pitchFamily="-110" charset="0"/>
                <a:ea typeface="+mn-ea"/>
                <a:cs typeface="+mn-cs"/>
              </a:rPr>
              <a:t>giảm, cho phép tăng tốc bộ xử lý. Tăng tốc độ xung nhịp</a:t>
            </a:r>
          </a:p>
          <a:p>
            <a:r>
              <a:rPr kumimoji="1" lang="vi-VN" sz="1200" kern="1200" baseline="0" dirty="0">
                <a:solidFill>
                  <a:schemeClr val="tx1"/>
                </a:solidFill>
                <a:latin typeface="Times New Roman" pitchFamily="-110" charset="0"/>
                <a:ea typeface="+mn-ea"/>
                <a:cs typeface="+mn-cs"/>
              </a:rPr>
              <a:t>có nghĩa là các hoạt động cá nhân được thực hiện nhanh hơn.</a:t>
            </a:r>
          </a:p>
          <a:p>
            <a:endParaRPr kumimoji="1" lang="vi-VN" sz="1200" kern="1200" baseline="0" dirty="0">
              <a:solidFill>
                <a:schemeClr val="tx1"/>
              </a:solidFill>
              <a:latin typeface="Times New Roman" pitchFamily="-110" charset="0"/>
              <a:ea typeface="+mn-ea"/>
              <a:cs typeface="+mn-cs"/>
            </a:endParaRPr>
          </a:p>
          <a:p>
            <a:r>
              <a:rPr kumimoji="1" lang="vi-VN" sz="1200" kern="1200" baseline="0" dirty="0">
                <a:solidFill>
                  <a:schemeClr val="tx1"/>
                </a:solidFill>
                <a:latin typeface="Times New Roman" pitchFamily="-110" charset="0"/>
                <a:ea typeface="+mn-ea"/>
                <a:cs typeface="+mn-cs"/>
              </a:rPr>
              <a:t>• Tăng kích thước và tốc độ của bộ đệm được đặt xen kẽ giữa bộ xử lý</a:t>
            </a:r>
          </a:p>
          <a:p>
            <a:r>
              <a:rPr kumimoji="1" lang="vi-VN" sz="1200" kern="1200" baseline="0" dirty="0">
                <a:solidFill>
                  <a:schemeClr val="tx1"/>
                </a:solidFill>
                <a:latin typeface="Times New Roman" pitchFamily="-110" charset="0"/>
                <a:ea typeface="+mn-ea"/>
                <a:cs typeface="+mn-cs"/>
              </a:rPr>
              <a:t>và bộ nhớ chính. Cụ thể, bằng cách dành một phần của bộ xử lý</a:t>
            </a:r>
          </a:p>
          <a:p>
            <a:r>
              <a:rPr kumimoji="1" lang="vi-VN" sz="1200" kern="1200" baseline="0" dirty="0">
                <a:solidFill>
                  <a:schemeClr val="tx1"/>
                </a:solidFill>
                <a:latin typeface="Times New Roman" pitchFamily="-110" charset="0"/>
                <a:ea typeface="+mn-ea"/>
                <a:cs typeface="+mn-cs"/>
              </a:rPr>
              <a:t>chip vào bộ đệm, thời gian truy cập bộ đệm giảm đáng kể.</a:t>
            </a:r>
          </a:p>
          <a:p>
            <a:endParaRPr kumimoji="1" lang="vi-VN" sz="1200" kern="1200" baseline="0" dirty="0">
              <a:solidFill>
                <a:schemeClr val="tx1"/>
              </a:solidFill>
              <a:latin typeface="Times New Roman" pitchFamily="-110" charset="0"/>
              <a:ea typeface="+mn-ea"/>
              <a:cs typeface="+mn-cs"/>
            </a:endParaRPr>
          </a:p>
          <a:p>
            <a:r>
              <a:rPr kumimoji="1" lang="vi-VN" sz="1200" kern="1200" baseline="0" dirty="0">
                <a:solidFill>
                  <a:schemeClr val="tx1"/>
                </a:solidFill>
                <a:latin typeface="Times New Roman" pitchFamily="-110" charset="0"/>
                <a:ea typeface="+mn-ea"/>
                <a:cs typeface="+mn-cs"/>
              </a:rPr>
              <a:t>• Thay đổi tổ chức và kiến ​​trúc bộ xử lý làm tăng</a:t>
            </a:r>
          </a:p>
          <a:p>
            <a:r>
              <a:rPr kumimoji="1" lang="vi-VN" sz="1200" kern="1200" baseline="0" dirty="0">
                <a:solidFill>
                  <a:schemeClr val="tx1"/>
                </a:solidFill>
                <a:latin typeface="Times New Roman" pitchFamily="-110" charset="0"/>
                <a:ea typeface="+mn-ea"/>
                <a:cs typeface="+mn-cs"/>
              </a:rPr>
              <a:t>tốc độ thực hiện lệnh hiệu quả. Thông thường, điều này liên quan đến việc sử dụng song song</a:t>
            </a:r>
          </a:p>
          <a:p>
            <a:r>
              <a:rPr kumimoji="1" lang="vi-VN" sz="1200" kern="1200" baseline="0" dirty="0">
                <a:solidFill>
                  <a:schemeClr val="tx1"/>
                </a:solidFill>
                <a:latin typeface="Times New Roman" pitchFamily="-110" charset="0"/>
                <a:ea typeface="+mn-ea"/>
                <a:cs typeface="+mn-cs"/>
              </a:rPr>
              <a:t>dưới hình thức này hay hình thức khác.</a:t>
            </a:r>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As designers wrestle with the challenge of balancing processor performance with that</a:t>
            </a:r>
          </a:p>
          <a:p>
            <a:r>
              <a:rPr kumimoji="1" lang="en-US" sz="1200" kern="1200" baseline="0" dirty="0">
                <a:solidFill>
                  <a:schemeClr val="tx1"/>
                </a:solidFill>
                <a:latin typeface="Times New Roman" pitchFamily="-110" charset="0"/>
                <a:ea typeface="+mn-ea"/>
                <a:cs typeface="+mn-cs"/>
              </a:rPr>
              <a:t>of main memory and other computer components, the need to increase processor</a:t>
            </a:r>
          </a:p>
          <a:p>
            <a:r>
              <a:rPr kumimoji="1" lang="en-US" sz="1200" kern="1200" baseline="0" dirty="0">
                <a:solidFill>
                  <a:schemeClr val="tx1"/>
                </a:solidFill>
                <a:latin typeface="Times New Roman" pitchFamily="-110" charset="0"/>
                <a:ea typeface="+mn-ea"/>
                <a:cs typeface="+mn-cs"/>
              </a:rPr>
              <a:t>speed remains. There are three approaches to achieving increased processor speed:</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Increase the hardware speed of the processor. This increase is fundamentally</a:t>
            </a:r>
          </a:p>
          <a:p>
            <a:r>
              <a:rPr kumimoji="1" lang="en-US" sz="1200" kern="1200" baseline="0" dirty="0">
                <a:solidFill>
                  <a:schemeClr val="tx1"/>
                </a:solidFill>
                <a:latin typeface="Times New Roman" pitchFamily="-110" charset="0"/>
                <a:ea typeface="+mn-ea"/>
                <a:cs typeface="+mn-cs"/>
              </a:rPr>
              <a:t>due to shrinking the size of the logic gates on the processor chip, so that more</a:t>
            </a:r>
          </a:p>
          <a:p>
            <a:r>
              <a:rPr kumimoji="1" lang="en-US" sz="1200" kern="1200" baseline="0" dirty="0">
                <a:solidFill>
                  <a:schemeClr val="tx1"/>
                </a:solidFill>
                <a:latin typeface="Times New Roman" pitchFamily="-110" charset="0"/>
                <a:ea typeface="+mn-ea"/>
                <a:cs typeface="+mn-cs"/>
              </a:rPr>
              <a:t>gates can be packed together more tightly and to increasing the clock rate.</a:t>
            </a:r>
          </a:p>
          <a:p>
            <a:r>
              <a:rPr kumimoji="1" lang="en-US" sz="1200" kern="1200" baseline="0" dirty="0">
                <a:solidFill>
                  <a:schemeClr val="tx1"/>
                </a:solidFill>
                <a:latin typeface="Times New Roman" pitchFamily="-110" charset="0"/>
                <a:ea typeface="+mn-ea"/>
                <a:cs typeface="+mn-cs"/>
              </a:rPr>
              <a:t>With gates closer together, the propagation time for signals is significantly</a:t>
            </a:r>
          </a:p>
          <a:p>
            <a:r>
              <a:rPr kumimoji="1" lang="en-US" sz="1200" kern="1200" baseline="0" dirty="0">
                <a:solidFill>
                  <a:schemeClr val="tx1"/>
                </a:solidFill>
                <a:latin typeface="Times New Roman" pitchFamily="-110" charset="0"/>
                <a:ea typeface="+mn-ea"/>
                <a:cs typeface="+mn-cs"/>
              </a:rPr>
              <a:t>reduced, enabling a speeding up of the processor. An increase in clock rate</a:t>
            </a:r>
          </a:p>
          <a:p>
            <a:r>
              <a:rPr kumimoji="1" lang="en-US" sz="1200" kern="1200" baseline="0" dirty="0">
                <a:solidFill>
                  <a:schemeClr val="tx1"/>
                </a:solidFill>
                <a:latin typeface="Times New Roman" pitchFamily="-110" charset="0"/>
                <a:ea typeface="+mn-ea"/>
                <a:cs typeface="+mn-cs"/>
              </a:rPr>
              <a:t>means that individual operations are executed more rapidly.</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Increase the size and speed of caches that are interposed between the processor</a:t>
            </a:r>
          </a:p>
          <a:p>
            <a:r>
              <a:rPr kumimoji="1" lang="en-US" sz="1200" kern="1200" baseline="0" dirty="0">
                <a:solidFill>
                  <a:schemeClr val="tx1"/>
                </a:solidFill>
                <a:latin typeface="Times New Roman" pitchFamily="-110" charset="0"/>
                <a:ea typeface="+mn-ea"/>
                <a:cs typeface="+mn-cs"/>
              </a:rPr>
              <a:t>and main memory. In particular, by dedicating a portion of the processor</a:t>
            </a:r>
          </a:p>
          <a:p>
            <a:r>
              <a:rPr kumimoji="1" lang="en-US" sz="1200" kern="1200" baseline="0" dirty="0">
                <a:solidFill>
                  <a:schemeClr val="tx1"/>
                </a:solidFill>
                <a:latin typeface="Times New Roman" pitchFamily="-110" charset="0"/>
                <a:ea typeface="+mn-ea"/>
                <a:cs typeface="+mn-cs"/>
              </a:rPr>
              <a:t>chip itself to the cache, cache access times drop significantly.</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Make changes to the processor organization and architecture that increase the</a:t>
            </a:r>
          </a:p>
          <a:p>
            <a:r>
              <a:rPr kumimoji="1" lang="en-US" sz="1200" kern="1200" baseline="0" dirty="0">
                <a:solidFill>
                  <a:schemeClr val="tx1"/>
                </a:solidFill>
                <a:latin typeface="Times New Roman" pitchFamily="-110" charset="0"/>
                <a:ea typeface="+mn-ea"/>
                <a:cs typeface="+mn-cs"/>
              </a:rPr>
              <a:t>effective speed of instruction execution. Typically, this involves using parallelism</a:t>
            </a:r>
          </a:p>
          <a:p>
            <a:r>
              <a:rPr kumimoji="1" lang="en-US" sz="1200" kern="1200" baseline="0" dirty="0">
                <a:solidFill>
                  <a:schemeClr val="tx1"/>
                </a:solidFill>
                <a:latin typeface="Times New Roman" pitchFamily="-110" charset="0"/>
                <a:ea typeface="+mn-ea"/>
                <a:cs typeface="+mn-cs"/>
              </a:rPr>
              <a:t>in one form or another.</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45</a:t>
            </a:fld>
            <a:endParaRPr 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r>
              <a:rPr kumimoji="1" lang="en-US" sz="1200" kern="1200" baseline="0" dirty="0">
                <a:solidFill>
                  <a:schemeClr val="tx1"/>
                </a:solidFill>
                <a:latin typeface="Times New Roman" pitchFamily="-110" charset="0"/>
                <a:ea typeface="+mn-ea"/>
                <a:cs typeface="+mn-cs"/>
              </a:rPr>
              <a:t>Dissipating heat: </a:t>
            </a:r>
            <a:r>
              <a:rPr kumimoji="1" lang="en-US" sz="1200" kern="1200" baseline="0" dirty="0" err="1">
                <a:solidFill>
                  <a:schemeClr val="tx1"/>
                </a:solidFill>
                <a:latin typeface="Times New Roman" pitchFamily="-110" charset="0"/>
                <a:ea typeface="+mn-ea"/>
                <a:cs typeface="+mn-cs"/>
              </a:rPr>
              <a:t>tản</a:t>
            </a:r>
            <a:r>
              <a:rPr kumimoji="1" lang="en-US" sz="1200" kern="1200" baseline="0" dirty="0">
                <a:solidFill>
                  <a:schemeClr val="tx1"/>
                </a:solidFill>
                <a:latin typeface="Times New Roman" pitchFamily="-110" charset="0"/>
                <a:ea typeface="+mn-ea"/>
                <a:cs typeface="+mn-cs"/>
              </a:rPr>
              <a:t> </a:t>
            </a:r>
            <a:r>
              <a:rPr kumimoji="1" lang="en-US" sz="1200" kern="1200" baseline="0" dirty="0" err="1">
                <a:solidFill>
                  <a:schemeClr val="tx1"/>
                </a:solidFill>
                <a:latin typeface="Times New Roman" pitchFamily="-110" charset="0"/>
                <a:ea typeface="+mn-ea"/>
                <a:cs typeface="+mn-cs"/>
              </a:rPr>
              <a:t>nhiệt</a:t>
            </a:r>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Resistance : </a:t>
            </a:r>
            <a:r>
              <a:rPr kumimoji="1" lang="en-US" sz="1200" kern="1200" baseline="0" dirty="0" err="1">
                <a:solidFill>
                  <a:schemeClr val="tx1"/>
                </a:solidFill>
                <a:latin typeface="Times New Roman" pitchFamily="-110" charset="0"/>
                <a:ea typeface="+mn-ea"/>
                <a:cs typeface="+mn-cs"/>
              </a:rPr>
              <a:t>điện</a:t>
            </a:r>
            <a:r>
              <a:rPr kumimoji="1" lang="en-US" sz="1200" kern="1200" baseline="0" dirty="0">
                <a:solidFill>
                  <a:schemeClr val="tx1"/>
                </a:solidFill>
                <a:latin typeface="Times New Roman" pitchFamily="-110" charset="0"/>
                <a:ea typeface="+mn-ea"/>
                <a:cs typeface="+mn-cs"/>
              </a:rPr>
              <a:t> </a:t>
            </a:r>
            <a:r>
              <a:rPr kumimoji="1" lang="en-US" sz="1200" kern="1200" baseline="0" dirty="0" err="1">
                <a:solidFill>
                  <a:schemeClr val="tx1"/>
                </a:solidFill>
                <a:latin typeface="Times New Roman" pitchFamily="-110" charset="0"/>
                <a:ea typeface="+mn-ea"/>
                <a:cs typeface="+mn-cs"/>
              </a:rPr>
              <a:t>trở</a:t>
            </a:r>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Capacitance: </a:t>
            </a:r>
            <a:r>
              <a:rPr kumimoji="1" lang="en-US" sz="1200" kern="1200" baseline="0" dirty="0" err="1">
                <a:solidFill>
                  <a:schemeClr val="tx1"/>
                </a:solidFill>
                <a:latin typeface="Times New Roman" pitchFamily="-110" charset="0"/>
                <a:ea typeface="+mn-ea"/>
                <a:cs typeface="+mn-cs"/>
              </a:rPr>
              <a:t>điện</a:t>
            </a:r>
            <a:r>
              <a:rPr kumimoji="1" lang="en-US" sz="1200" kern="1200" baseline="0" dirty="0">
                <a:solidFill>
                  <a:schemeClr val="tx1"/>
                </a:solidFill>
                <a:latin typeface="Times New Roman" pitchFamily="-110" charset="0"/>
                <a:ea typeface="+mn-ea"/>
                <a:cs typeface="+mn-cs"/>
              </a:rPr>
              <a:t> dung</a:t>
            </a:r>
          </a:p>
          <a:p>
            <a:endParaRPr kumimoji="1" lang="en-US" sz="1200" kern="1200" baseline="0" dirty="0">
              <a:solidFill>
                <a:schemeClr val="tx1"/>
              </a:solidFill>
              <a:latin typeface="Times New Roman" pitchFamily="-110" charset="0"/>
              <a:ea typeface="+mn-ea"/>
              <a:cs typeface="+mn-cs"/>
            </a:endParaRPr>
          </a:p>
          <a:p>
            <a:r>
              <a:rPr kumimoji="1" lang="vi-VN" sz="1200" kern="1200" baseline="0" dirty="0">
                <a:solidFill>
                  <a:schemeClr val="tx1"/>
                </a:solidFill>
                <a:latin typeface="Times New Roman" pitchFamily="-110" charset="0"/>
                <a:ea typeface="+mn-ea"/>
                <a:cs typeface="+mn-cs"/>
              </a:rPr>
              <a:t>Theo truyền thống, yếu tố chi phối trong tăng hiệu suất là tăng</a:t>
            </a:r>
          </a:p>
          <a:p>
            <a:r>
              <a:rPr kumimoji="1" lang="vi-VN" sz="1200" kern="1200" baseline="0" dirty="0">
                <a:solidFill>
                  <a:schemeClr val="tx1"/>
                </a:solidFill>
                <a:latin typeface="Times New Roman" pitchFamily="-110" charset="0"/>
                <a:ea typeface="+mn-ea"/>
                <a:cs typeface="+mn-cs"/>
              </a:rPr>
              <a:t>trong tốc độ đồng hồ do và mật độ logic. Tuy nhiên, như tốc độ xung nhịp và mật độ logic</a:t>
            </a:r>
          </a:p>
          <a:p>
            <a:r>
              <a:rPr kumimoji="1" lang="vi-VN" sz="1200" kern="1200" baseline="0" dirty="0">
                <a:solidFill>
                  <a:schemeClr val="tx1"/>
                </a:solidFill>
                <a:latin typeface="Times New Roman" pitchFamily="-110" charset="0"/>
                <a:ea typeface="+mn-ea"/>
                <a:cs typeface="+mn-cs"/>
              </a:rPr>
              <a:t>tăng, một số trở ngại trở nên quan trọng hơn [INTE04b]:</a:t>
            </a:r>
          </a:p>
          <a:p>
            <a:endParaRPr kumimoji="1" lang="vi-VN" sz="1200" kern="1200" baseline="0" dirty="0">
              <a:solidFill>
                <a:schemeClr val="tx1"/>
              </a:solidFill>
              <a:latin typeface="Times New Roman" pitchFamily="-110" charset="0"/>
              <a:ea typeface="+mn-ea"/>
              <a:cs typeface="+mn-cs"/>
            </a:endParaRPr>
          </a:p>
          <a:p>
            <a:r>
              <a:rPr kumimoji="1" lang="vi-VN" sz="1200" kern="1200" baseline="0" dirty="0">
                <a:solidFill>
                  <a:schemeClr val="tx1"/>
                </a:solidFill>
                <a:latin typeface="Times New Roman" pitchFamily="-110" charset="0"/>
                <a:ea typeface="+mn-ea"/>
                <a:cs typeface="+mn-cs"/>
              </a:rPr>
              <a:t>• Công suất: Khi mật độ logic và tốc độ xung nhịp trên chip tăng, thì cũng vậy</a:t>
            </a:r>
          </a:p>
          <a:p>
            <a:r>
              <a:rPr kumimoji="1" lang="vi-VN" sz="1200" kern="1200" baseline="0" dirty="0">
                <a:solidFill>
                  <a:schemeClr val="tx1"/>
                </a:solidFill>
                <a:latin typeface="Times New Roman" pitchFamily="-110" charset="0"/>
                <a:ea typeface="+mn-ea"/>
                <a:cs typeface="+mn-cs"/>
              </a:rPr>
              <a:t>mật độ năng lượng (Watts / cm2). Khó khăn trong việc tản nhiệt</a:t>
            </a:r>
          </a:p>
          <a:p>
            <a:r>
              <a:rPr kumimoji="1" lang="vi-VN" sz="1200" kern="1200" baseline="0" dirty="0">
                <a:solidFill>
                  <a:schemeClr val="tx1"/>
                </a:solidFill>
                <a:latin typeface="Times New Roman" pitchFamily="-110" charset="0"/>
                <a:ea typeface="+mn-ea"/>
                <a:cs typeface="+mn-cs"/>
              </a:rPr>
              <a:t>trên các chip tốc độ cao, mật độ cao đang trở thành một vấn đề thiết kế nghiêm trọng [GIBB04,</a:t>
            </a:r>
          </a:p>
          <a:p>
            <a:r>
              <a:rPr kumimoji="1" lang="vi-VN" sz="1200" kern="1200" baseline="0" dirty="0">
                <a:solidFill>
                  <a:schemeClr val="tx1"/>
                </a:solidFill>
                <a:latin typeface="Times New Roman" pitchFamily="-110" charset="0"/>
                <a:ea typeface="+mn-ea"/>
                <a:cs typeface="+mn-cs"/>
              </a:rPr>
              <a:t>BORK03].</a:t>
            </a:r>
          </a:p>
          <a:p>
            <a:endParaRPr kumimoji="1" lang="vi-VN" sz="1200" kern="1200" baseline="0" dirty="0">
              <a:solidFill>
                <a:schemeClr val="tx1"/>
              </a:solidFill>
              <a:latin typeface="Times New Roman" pitchFamily="-110" charset="0"/>
              <a:ea typeface="+mn-ea"/>
              <a:cs typeface="+mn-cs"/>
            </a:endParaRPr>
          </a:p>
          <a:p>
            <a:r>
              <a:rPr kumimoji="1" lang="vi-VN" sz="1200" kern="1200" baseline="0" dirty="0">
                <a:solidFill>
                  <a:schemeClr val="tx1"/>
                </a:solidFill>
                <a:latin typeface="Times New Roman" pitchFamily="-110" charset="0"/>
                <a:ea typeface="+mn-ea"/>
                <a:cs typeface="+mn-cs"/>
              </a:rPr>
              <a:t>• Độ trễ RC: Tốc độ mà các electron có thể chạy trên chip giữa các bóng bán dẫn</a:t>
            </a:r>
          </a:p>
          <a:p>
            <a:r>
              <a:rPr kumimoji="1" lang="vi-VN" sz="1200" kern="1200" baseline="0" dirty="0">
                <a:solidFill>
                  <a:schemeClr val="tx1"/>
                </a:solidFill>
                <a:latin typeface="Times New Roman" pitchFamily="-110" charset="0"/>
                <a:ea typeface="+mn-ea"/>
                <a:cs typeface="+mn-cs"/>
              </a:rPr>
              <a:t>bị giới hạn bởi điện trở và điện dung của dây kim loại kết nối</a:t>
            </a:r>
          </a:p>
          <a:p>
            <a:r>
              <a:rPr kumimoji="1" lang="vi-VN" sz="1200" kern="1200" baseline="0" dirty="0">
                <a:solidFill>
                  <a:schemeClr val="tx1"/>
                </a:solidFill>
                <a:latin typeface="Times New Roman" pitchFamily="-110" charset="0"/>
                <a:ea typeface="+mn-ea"/>
                <a:cs typeface="+mn-cs"/>
              </a:rPr>
              <a:t>họ; cụ thể, độ trễ tăng khi sản phẩm RC tăng. Là thành phần</a:t>
            </a:r>
          </a:p>
          <a:p>
            <a:r>
              <a:rPr kumimoji="1" lang="vi-VN" sz="1200" kern="1200" baseline="0" dirty="0">
                <a:solidFill>
                  <a:schemeClr val="tx1"/>
                </a:solidFill>
                <a:latin typeface="Times New Roman" pitchFamily="-110" charset="0"/>
                <a:ea typeface="+mn-ea"/>
                <a:cs typeface="+mn-cs"/>
              </a:rPr>
              <a:t>Khi chip giảm kích thước, các kết nối dây trở nên mỏng hơn, tăng lên</a:t>
            </a:r>
          </a:p>
          <a:p>
            <a:r>
              <a:rPr kumimoji="1" lang="vi-VN" sz="1200" kern="1200" baseline="0" dirty="0">
                <a:solidFill>
                  <a:schemeClr val="tx1"/>
                </a:solidFill>
                <a:latin typeface="Times New Roman" pitchFamily="-110" charset="0"/>
                <a:ea typeface="+mn-ea"/>
                <a:cs typeface="+mn-cs"/>
              </a:rPr>
              <a:t>kháng chiến. Ngoài ra, các dây gần nhau hơn, tăng điện dung.</a:t>
            </a:r>
          </a:p>
          <a:p>
            <a:endParaRPr kumimoji="1" lang="vi-VN" sz="1200" kern="1200" baseline="0" dirty="0">
              <a:solidFill>
                <a:schemeClr val="tx1"/>
              </a:solidFill>
              <a:latin typeface="Times New Roman" pitchFamily="-110" charset="0"/>
              <a:ea typeface="+mn-ea"/>
              <a:cs typeface="+mn-cs"/>
            </a:endParaRPr>
          </a:p>
          <a:p>
            <a:r>
              <a:rPr kumimoji="1" lang="vi-VN" sz="1200" kern="1200" baseline="0" dirty="0">
                <a:solidFill>
                  <a:schemeClr val="tx1"/>
                </a:solidFill>
                <a:latin typeface="Times New Roman" pitchFamily="-110" charset="0"/>
                <a:ea typeface="+mn-ea"/>
                <a:cs typeface="+mn-cs"/>
              </a:rPr>
              <a:t>• Độ trễ bộ nhớ: Tốc độ bộ nhớ bị chậm, như đã thảo luận trước đây.</a:t>
            </a:r>
          </a:p>
          <a:p>
            <a:endParaRPr kumimoji="1" lang="vi-VN" sz="1200" kern="1200" baseline="0" dirty="0">
              <a:solidFill>
                <a:schemeClr val="tx1"/>
              </a:solidFill>
              <a:latin typeface="Times New Roman" pitchFamily="-110" charset="0"/>
              <a:ea typeface="+mn-ea"/>
              <a:cs typeface="+mn-cs"/>
            </a:endParaRPr>
          </a:p>
          <a:p>
            <a:r>
              <a:rPr kumimoji="1" lang="vi-VN" sz="1200" kern="1200" baseline="0" dirty="0">
                <a:solidFill>
                  <a:schemeClr val="tx1"/>
                </a:solidFill>
                <a:latin typeface="Times New Roman" pitchFamily="-110" charset="0"/>
                <a:ea typeface="+mn-ea"/>
                <a:cs typeface="+mn-cs"/>
              </a:rPr>
              <a:t>Vì vậy, sẽ có nhiều nhấn mạnh hơn về cách tiếp cận tổ chức và kiến ​​trúc</a:t>
            </a:r>
          </a:p>
          <a:p>
            <a:r>
              <a:rPr kumimoji="1" lang="vi-VN" sz="1200" kern="1200" baseline="0" dirty="0">
                <a:solidFill>
                  <a:schemeClr val="tx1"/>
                </a:solidFill>
                <a:latin typeface="Times New Roman" pitchFamily="-110" charset="0"/>
                <a:ea typeface="+mn-ea"/>
                <a:cs typeface="+mn-cs"/>
              </a:rPr>
              <a:t>để cải thiện hiệu suất. Những kỹ thuật này được thảo luận trong các chương sau của cuốn sách.</a:t>
            </a:r>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Traditionally, the dominant factor in performance gains has been in increases</a:t>
            </a:r>
          </a:p>
          <a:p>
            <a:r>
              <a:rPr kumimoji="1" lang="en-US" sz="1200" kern="1200" baseline="0" dirty="0">
                <a:solidFill>
                  <a:schemeClr val="tx1"/>
                </a:solidFill>
                <a:latin typeface="Times New Roman" pitchFamily="-110" charset="0"/>
                <a:ea typeface="+mn-ea"/>
                <a:cs typeface="+mn-cs"/>
              </a:rPr>
              <a:t>in clock speed due and logic density. However, as clock speed and logic density</a:t>
            </a:r>
          </a:p>
          <a:p>
            <a:r>
              <a:rPr kumimoji="1" lang="en-US" sz="1200" kern="1200" baseline="0" dirty="0">
                <a:solidFill>
                  <a:schemeClr val="tx1"/>
                </a:solidFill>
                <a:latin typeface="Times New Roman" pitchFamily="-110" charset="0"/>
                <a:ea typeface="+mn-ea"/>
                <a:cs typeface="+mn-cs"/>
              </a:rPr>
              <a:t>increase, a number of obstacles become more significant [INTE04b]:</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a:t>
            </a:r>
            <a:r>
              <a:rPr kumimoji="1" lang="en-US" sz="1200" b="1" kern="1200" baseline="0" dirty="0">
                <a:solidFill>
                  <a:schemeClr val="tx1"/>
                </a:solidFill>
                <a:latin typeface="Times New Roman" pitchFamily="-110" charset="0"/>
                <a:ea typeface="+mn-ea"/>
                <a:cs typeface="+mn-cs"/>
              </a:rPr>
              <a:t>Power: </a:t>
            </a:r>
            <a:r>
              <a:rPr kumimoji="1" lang="en-US" sz="1200" b="0" kern="1200" baseline="0" dirty="0">
                <a:solidFill>
                  <a:schemeClr val="tx1"/>
                </a:solidFill>
                <a:latin typeface="Times New Roman" pitchFamily="-110" charset="0"/>
                <a:ea typeface="+mn-ea"/>
                <a:cs typeface="+mn-cs"/>
              </a:rPr>
              <a:t>As the density of logic and the clock speed on a chip increase, so does</a:t>
            </a:r>
          </a:p>
          <a:p>
            <a:r>
              <a:rPr kumimoji="1" lang="en-US" sz="1200" b="0" kern="1200" baseline="0" dirty="0">
                <a:solidFill>
                  <a:schemeClr val="tx1"/>
                </a:solidFill>
                <a:latin typeface="Times New Roman" pitchFamily="-110" charset="0"/>
                <a:ea typeface="+mn-ea"/>
                <a:cs typeface="+mn-cs"/>
              </a:rPr>
              <a:t>the power density (Watts/cm2). The difficulty of dissipating the heat generated</a:t>
            </a:r>
          </a:p>
          <a:p>
            <a:r>
              <a:rPr kumimoji="1" lang="en-US" sz="1200" kern="1200" baseline="0" dirty="0">
                <a:solidFill>
                  <a:schemeClr val="tx1"/>
                </a:solidFill>
                <a:latin typeface="Times New Roman" pitchFamily="-110" charset="0"/>
                <a:ea typeface="+mn-ea"/>
                <a:cs typeface="+mn-cs"/>
              </a:rPr>
              <a:t>on high-density, high-speed chips is becoming a serious design issue [GIBB04,</a:t>
            </a:r>
          </a:p>
          <a:p>
            <a:r>
              <a:rPr kumimoji="1" lang="en-US" sz="1200" kern="1200" baseline="0" dirty="0">
                <a:solidFill>
                  <a:schemeClr val="tx1"/>
                </a:solidFill>
                <a:latin typeface="Times New Roman" pitchFamily="-110" charset="0"/>
                <a:ea typeface="+mn-ea"/>
                <a:cs typeface="+mn-cs"/>
              </a:rPr>
              <a:t>BORK03].</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a:t>
            </a:r>
            <a:r>
              <a:rPr kumimoji="1" lang="en-US" sz="1200" b="1" kern="1200" baseline="0" dirty="0">
                <a:solidFill>
                  <a:schemeClr val="tx1"/>
                </a:solidFill>
                <a:latin typeface="Times New Roman" pitchFamily="-110" charset="0"/>
                <a:ea typeface="+mn-ea"/>
                <a:cs typeface="+mn-cs"/>
              </a:rPr>
              <a:t>RC delay: </a:t>
            </a:r>
            <a:r>
              <a:rPr kumimoji="1" lang="en-US" sz="1200" b="0" kern="1200" baseline="0" dirty="0">
                <a:solidFill>
                  <a:schemeClr val="tx1"/>
                </a:solidFill>
                <a:latin typeface="Times New Roman" pitchFamily="-110" charset="0"/>
                <a:ea typeface="+mn-ea"/>
                <a:cs typeface="+mn-cs"/>
              </a:rPr>
              <a:t>The speed at which electrons can flow on a chip between transistors</a:t>
            </a:r>
          </a:p>
          <a:p>
            <a:r>
              <a:rPr kumimoji="1" lang="en-US" sz="1200" kern="1200" baseline="0" dirty="0">
                <a:solidFill>
                  <a:schemeClr val="tx1"/>
                </a:solidFill>
                <a:latin typeface="Times New Roman" pitchFamily="-110" charset="0"/>
                <a:ea typeface="+mn-ea"/>
                <a:cs typeface="+mn-cs"/>
              </a:rPr>
              <a:t>is limited by the resistance and capacitance of the metal wires connecting</a:t>
            </a:r>
          </a:p>
          <a:p>
            <a:r>
              <a:rPr kumimoji="1" lang="en-US" sz="1200" kern="1200" baseline="0" dirty="0">
                <a:solidFill>
                  <a:schemeClr val="tx1"/>
                </a:solidFill>
                <a:latin typeface="Times New Roman" pitchFamily="-110" charset="0"/>
                <a:ea typeface="+mn-ea"/>
                <a:cs typeface="+mn-cs"/>
              </a:rPr>
              <a:t>them; specifically, delay increases as the RC product increases. As components</a:t>
            </a:r>
          </a:p>
          <a:p>
            <a:r>
              <a:rPr kumimoji="1" lang="en-US" sz="1200" kern="1200" baseline="0" dirty="0">
                <a:solidFill>
                  <a:schemeClr val="tx1"/>
                </a:solidFill>
                <a:latin typeface="Times New Roman" pitchFamily="-110" charset="0"/>
                <a:ea typeface="+mn-ea"/>
                <a:cs typeface="+mn-cs"/>
              </a:rPr>
              <a:t>on the chip decrease in size, the wire interconnects become thinner, increasing</a:t>
            </a:r>
          </a:p>
          <a:p>
            <a:r>
              <a:rPr kumimoji="1" lang="en-US" sz="1200" kern="1200" baseline="0" dirty="0">
                <a:solidFill>
                  <a:schemeClr val="tx1"/>
                </a:solidFill>
                <a:latin typeface="Times New Roman" pitchFamily="-110" charset="0"/>
                <a:ea typeface="+mn-ea"/>
                <a:cs typeface="+mn-cs"/>
              </a:rPr>
              <a:t>resistance. Also, the wires are closer together, increasing capacitance.</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a:t>
            </a:r>
            <a:r>
              <a:rPr kumimoji="1" lang="en-US" sz="1200" b="1" kern="1200" baseline="0" dirty="0">
                <a:solidFill>
                  <a:schemeClr val="tx1"/>
                </a:solidFill>
                <a:latin typeface="Times New Roman" pitchFamily="-110" charset="0"/>
                <a:ea typeface="+mn-ea"/>
                <a:cs typeface="+mn-cs"/>
              </a:rPr>
              <a:t>Memory latency: </a:t>
            </a:r>
            <a:r>
              <a:rPr kumimoji="1" lang="en-US" sz="1200" b="0" kern="1200" baseline="0" dirty="0">
                <a:solidFill>
                  <a:schemeClr val="tx1"/>
                </a:solidFill>
                <a:latin typeface="Times New Roman" pitchFamily="-110" charset="0"/>
                <a:ea typeface="+mn-ea"/>
                <a:cs typeface="+mn-cs"/>
              </a:rPr>
              <a:t>Memory speeds lag processor speeds, as previously discussed.</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Thus, there will be more emphasis on organization and architectural approaches</a:t>
            </a:r>
          </a:p>
          <a:p>
            <a:r>
              <a:rPr kumimoji="1" lang="en-US" sz="1200" kern="1200" baseline="0" dirty="0">
                <a:solidFill>
                  <a:schemeClr val="tx1"/>
                </a:solidFill>
                <a:latin typeface="Times New Roman" pitchFamily="-110" charset="0"/>
                <a:ea typeface="+mn-ea"/>
                <a:cs typeface="+mn-cs"/>
              </a:rPr>
              <a:t>to improving performance. These techniques are discussed in later chapters of the book.</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46</a:t>
            </a:fld>
            <a:endParaRPr 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r>
              <a:rPr kumimoji="1" lang="en-US" sz="1200" kern="1200" baseline="0" dirty="0">
                <a:solidFill>
                  <a:schemeClr val="tx1"/>
                </a:solidFill>
                <a:latin typeface="Times New Roman" pitchFamily="-110" charset="0"/>
                <a:ea typeface="+mn-ea"/>
                <a:cs typeface="+mn-cs"/>
              </a:rPr>
              <a:t>Beginning in the late 1980s, and continuing for about 15 years, two main</a:t>
            </a:r>
          </a:p>
          <a:p>
            <a:r>
              <a:rPr kumimoji="1" lang="en-US" sz="1200" kern="1200" baseline="0" dirty="0">
                <a:solidFill>
                  <a:schemeClr val="tx1"/>
                </a:solidFill>
                <a:latin typeface="Times New Roman" pitchFamily="-110" charset="0"/>
                <a:ea typeface="+mn-ea"/>
                <a:cs typeface="+mn-cs"/>
              </a:rPr>
              <a:t>strategies have been used to increase performance beyond what can be achieved</a:t>
            </a:r>
          </a:p>
          <a:p>
            <a:r>
              <a:rPr kumimoji="1" lang="en-US" sz="1200" kern="1200" baseline="0" dirty="0">
                <a:solidFill>
                  <a:schemeClr val="tx1"/>
                </a:solidFill>
                <a:latin typeface="Times New Roman" pitchFamily="-110" charset="0"/>
                <a:ea typeface="+mn-ea"/>
                <a:cs typeface="+mn-cs"/>
              </a:rPr>
              <a:t>simply by increasing clock speed. First, there has been an increase in cache capacity.</a:t>
            </a:r>
          </a:p>
          <a:p>
            <a:r>
              <a:rPr kumimoji="1" lang="en-US" sz="1200" kern="1200" baseline="0" dirty="0">
                <a:solidFill>
                  <a:schemeClr val="tx1"/>
                </a:solidFill>
                <a:latin typeface="Times New Roman" pitchFamily="-110" charset="0"/>
                <a:ea typeface="+mn-ea"/>
                <a:cs typeface="+mn-cs"/>
              </a:rPr>
              <a:t>There are now typically two or three levels of cache between the processor and</a:t>
            </a:r>
          </a:p>
          <a:p>
            <a:r>
              <a:rPr kumimoji="1" lang="en-US" sz="1200" kern="1200" baseline="0" dirty="0">
                <a:solidFill>
                  <a:schemeClr val="tx1"/>
                </a:solidFill>
                <a:latin typeface="Times New Roman" pitchFamily="-110" charset="0"/>
                <a:ea typeface="+mn-ea"/>
                <a:cs typeface="+mn-cs"/>
              </a:rPr>
              <a:t>main memory. As chip density has increased, more of the cache memory has been</a:t>
            </a:r>
          </a:p>
          <a:p>
            <a:r>
              <a:rPr kumimoji="1" lang="en-US" sz="1200" kern="1200" baseline="0" dirty="0">
                <a:solidFill>
                  <a:schemeClr val="tx1"/>
                </a:solidFill>
                <a:latin typeface="Times New Roman" pitchFamily="-110" charset="0"/>
                <a:ea typeface="+mn-ea"/>
                <a:cs typeface="+mn-cs"/>
              </a:rPr>
              <a:t>incorporated on the chip, enabling faster cache access. For example, the original</a:t>
            </a:r>
          </a:p>
          <a:p>
            <a:r>
              <a:rPr kumimoji="1" lang="en-US" sz="1200" kern="1200" baseline="0" dirty="0">
                <a:solidFill>
                  <a:schemeClr val="tx1"/>
                </a:solidFill>
                <a:latin typeface="Times New Roman" pitchFamily="-110" charset="0"/>
                <a:ea typeface="+mn-ea"/>
                <a:cs typeface="+mn-cs"/>
              </a:rPr>
              <a:t>Pentium chip devoted about 10% of on-chip area to a cache. Contemporary chips</a:t>
            </a:r>
          </a:p>
          <a:p>
            <a:r>
              <a:rPr kumimoji="1" lang="en-US" sz="1200" kern="1200" baseline="0" dirty="0">
                <a:solidFill>
                  <a:schemeClr val="tx1"/>
                </a:solidFill>
                <a:latin typeface="Times New Roman" pitchFamily="-110" charset="0"/>
                <a:ea typeface="+mn-ea"/>
                <a:cs typeface="+mn-cs"/>
              </a:rPr>
              <a:t>devote over half of the chip area to caches.</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Second, the instruction execution logic within a processor has become increasingly</a:t>
            </a:r>
          </a:p>
          <a:p>
            <a:r>
              <a:rPr kumimoji="1" lang="en-US" sz="1200" kern="1200" baseline="0" dirty="0">
                <a:solidFill>
                  <a:schemeClr val="tx1"/>
                </a:solidFill>
                <a:latin typeface="Times New Roman" pitchFamily="-110" charset="0"/>
                <a:ea typeface="+mn-ea"/>
                <a:cs typeface="+mn-cs"/>
              </a:rPr>
              <a:t>complex to enable parallel execution of instructions within the processor. Two</a:t>
            </a:r>
          </a:p>
          <a:p>
            <a:r>
              <a:rPr kumimoji="1" lang="en-US" sz="1200" kern="1200" baseline="0" dirty="0">
                <a:solidFill>
                  <a:schemeClr val="tx1"/>
                </a:solidFill>
                <a:latin typeface="Times New Roman" pitchFamily="-110" charset="0"/>
                <a:ea typeface="+mn-ea"/>
                <a:cs typeface="+mn-cs"/>
              </a:rPr>
              <a:t>noteworthy design approaches have been pipelining and superscalar. A pipeline</a:t>
            </a:r>
          </a:p>
          <a:p>
            <a:r>
              <a:rPr kumimoji="1" lang="en-US" sz="1200" kern="1200" baseline="0" dirty="0">
                <a:solidFill>
                  <a:schemeClr val="tx1"/>
                </a:solidFill>
                <a:latin typeface="Times New Roman" pitchFamily="-110" charset="0"/>
                <a:ea typeface="+mn-ea"/>
                <a:cs typeface="+mn-cs"/>
              </a:rPr>
              <a:t>works much as an assembly line in a manufacturing plant enabling different stages</a:t>
            </a:r>
          </a:p>
          <a:p>
            <a:r>
              <a:rPr kumimoji="1" lang="en-US" sz="1200" kern="1200" baseline="0" dirty="0">
                <a:solidFill>
                  <a:schemeClr val="tx1"/>
                </a:solidFill>
                <a:latin typeface="Times New Roman" pitchFamily="-110" charset="0"/>
                <a:ea typeface="+mn-ea"/>
                <a:cs typeface="+mn-cs"/>
              </a:rPr>
              <a:t>of execution of different instructions to occur at the same time along the pipeline. A</a:t>
            </a:r>
          </a:p>
          <a:p>
            <a:r>
              <a:rPr kumimoji="1" lang="en-US" sz="1200" kern="1200" baseline="0" dirty="0">
                <a:solidFill>
                  <a:schemeClr val="tx1"/>
                </a:solidFill>
                <a:latin typeface="Times New Roman" pitchFamily="-110" charset="0"/>
                <a:ea typeface="+mn-ea"/>
                <a:cs typeface="+mn-cs"/>
              </a:rPr>
              <a:t>superscalar approach in essence allows multiple pipelines within a single processor</a:t>
            </a:r>
          </a:p>
          <a:p>
            <a:r>
              <a:rPr kumimoji="1" lang="en-US" sz="1200" kern="1200" baseline="0" dirty="0">
                <a:solidFill>
                  <a:schemeClr val="tx1"/>
                </a:solidFill>
                <a:latin typeface="Times New Roman" pitchFamily="-110" charset="0"/>
                <a:ea typeface="+mn-ea"/>
                <a:cs typeface="+mn-cs"/>
              </a:rPr>
              <a:t>so that instructions that do not depend on one another can be executed in parallel.</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By the mid to late 90s, both of these approaches were reaching a point of</a:t>
            </a:r>
          </a:p>
          <a:p>
            <a:r>
              <a:rPr kumimoji="1" lang="en-US" sz="1200" kern="1200" baseline="0" dirty="0">
                <a:solidFill>
                  <a:schemeClr val="tx1"/>
                </a:solidFill>
                <a:latin typeface="Times New Roman" pitchFamily="-110" charset="0"/>
                <a:ea typeface="+mn-ea"/>
                <a:cs typeface="+mn-cs"/>
              </a:rPr>
              <a:t>diminishing returns. The internal organization of contemporary processors is</a:t>
            </a:r>
          </a:p>
          <a:p>
            <a:r>
              <a:rPr kumimoji="1" lang="en-US" sz="1200" kern="1200" baseline="0" dirty="0">
                <a:solidFill>
                  <a:schemeClr val="tx1"/>
                </a:solidFill>
                <a:latin typeface="Times New Roman" pitchFamily="-110" charset="0"/>
                <a:ea typeface="+mn-ea"/>
                <a:cs typeface="+mn-cs"/>
              </a:rPr>
              <a:t>exceedingly complex and is able to squeeze a great deal of parallelism out of the</a:t>
            </a:r>
          </a:p>
          <a:p>
            <a:r>
              <a:rPr kumimoji="1" lang="en-US" sz="1200" kern="1200" baseline="0" dirty="0">
                <a:solidFill>
                  <a:schemeClr val="tx1"/>
                </a:solidFill>
                <a:latin typeface="Times New Roman" pitchFamily="-110" charset="0"/>
                <a:ea typeface="+mn-ea"/>
                <a:cs typeface="+mn-cs"/>
              </a:rPr>
              <a:t>instruction stream. It seems likely that further significant increases in this direction</a:t>
            </a:r>
          </a:p>
          <a:p>
            <a:r>
              <a:rPr kumimoji="1" lang="en-US" sz="1200" kern="1200" baseline="0" dirty="0">
                <a:solidFill>
                  <a:schemeClr val="tx1"/>
                </a:solidFill>
                <a:latin typeface="Times New Roman" pitchFamily="-110" charset="0"/>
                <a:ea typeface="+mn-ea"/>
                <a:cs typeface="+mn-cs"/>
              </a:rPr>
              <a:t>will be relatively modest [GIBB04]. With three levels of cache on the processor</a:t>
            </a:r>
          </a:p>
          <a:p>
            <a:r>
              <a:rPr kumimoji="1" lang="en-US" sz="1200" kern="1200" baseline="0" dirty="0">
                <a:solidFill>
                  <a:schemeClr val="tx1"/>
                </a:solidFill>
                <a:latin typeface="Times New Roman" pitchFamily="-110" charset="0"/>
                <a:ea typeface="+mn-ea"/>
                <a:cs typeface="+mn-cs"/>
              </a:rPr>
              <a:t>chip, each level providing substantial capacity, it also seems that the benefits from</a:t>
            </a:r>
          </a:p>
          <a:p>
            <a:r>
              <a:rPr kumimoji="1" lang="en-US" sz="1200" kern="1200" baseline="0" dirty="0">
                <a:solidFill>
                  <a:schemeClr val="tx1"/>
                </a:solidFill>
                <a:latin typeface="Times New Roman" pitchFamily="-110" charset="0"/>
                <a:ea typeface="+mn-ea"/>
                <a:cs typeface="+mn-cs"/>
              </a:rPr>
              <a:t>the cache are reaching a limit.</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However, simply relying on increasing clock rate for increased performance</a:t>
            </a:r>
          </a:p>
          <a:p>
            <a:r>
              <a:rPr kumimoji="1" lang="en-US" sz="1200" kern="1200" baseline="0" dirty="0">
                <a:solidFill>
                  <a:schemeClr val="tx1"/>
                </a:solidFill>
                <a:latin typeface="Times New Roman" pitchFamily="-110" charset="0"/>
                <a:ea typeface="+mn-ea"/>
                <a:cs typeface="+mn-cs"/>
              </a:rPr>
              <a:t>runs into the power dissipation problem already referred to. The faster the clock</a:t>
            </a:r>
          </a:p>
          <a:p>
            <a:r>
              <a:rPr kumimoji="1" lang="en-US" sz="1200" kern="1200" baseline="0" dirty="0">
                <a:solidFill>
                  <a:schemeClr val="tx1"/>
                </a:solidFill>
                <a:latin typeface="Times New Roman" pitchFamily="-110" charset="0"/>
                <a:ea typeface="+mn-ea"/>
                <a:cs typeface="+mn-cs"/>
              </a:rPr>
              <a:t>rate, the greater the amount of power to be dissipated, and some fundamental physical</a:t>
            </a:r>
          </a:p>
          <a:p>
            <a:r>
              <a:rPr kumimoji="1" lang="en-US" sz="1200" kern="1200" baseline="0" dirty="0">
                <a:solidFill>
                  <a:schemeClr val="tx1"/>
                </a:solidFill>
                <a:latin typeface="Times New Roman" pitchFamily="-110" charset="0"/>
                <a:ea typeface="+mn-ea"/>
                <a:cs typeface="+mn-cs"/>
              </a:rPr>
              <a:t>limits are being reached.</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Figure 2.11 illustrates the concepts we have been discussing. The top line</a:t>
            </a:r>
          </a:p>
          <a:p>
            <a:r>
              <a:rPr kumimoji="1" lang="en-US" sz="1200" kern="1200" baseline="0" dirty="0">
                <a:solidFill>
                  <a:schemeClr val="tx1"/>
                </a:solidFill>
                <a:latin typeface="Times New Roman" pitchFamily="-110" charset="0"/>
                <a:ea typeface="+mn-ea"/>
                <a:cs typeface="+mn-cs"/>
              </a:rPr>
              <a:t>shows that, as per Moore’s Law, the number of transistors on a single chip continues</a:t>
            </a:r>
          </a:p>
          <a:p>
            <a:r>
              <a:rPr kumimoji="1" lang="en-US" sz="1200" kern="1200" baseline="0" dirty="0">
                <a:solidFill>
                  <a:schemeClr val="tx1"/>
                </a:solidFill>
                <a:latin typeface="Times New Roman" pitchFamily="-110" charset="0"/>
                <a:ea typeface="+mn-ea"/>
                <a:cs typeface="+mn-cs"/>
              </a:rPr>
              <a:t>to grow exponentially. Meanwhile, the clock speed has leveled off, in order</a:t>
            </a:r>
          </a:p>
          <a:p>
            <a:r>
              <a:rPr kumimoji="1" lang="en-US" sz="1200" kern="1200" baseline="0" dirty="0">
                <a:solidFill>
                  <a:schemeClr val="tx1"/>
                </a:solidFill>
                <a:latin typeface="Times New Roman" pitchFamily="-110" charset="0"/>
                <a:ea typeface="+mn-ea"/>
                <a:cs typeface="+mn-cs"/>
              </a:rPr>
              <a:t>to prevent a further rise in power. To continue to increase performance, designers</a:t>
            </a:r>
          </a:p>
          <a:p>
            <a:r>
              <a:rPr kumimoji="1" lang="en-US" sz="1200" kern="1200" baseline="0" dirty="0">
                <a:solidFill>
                  <a:schemeClr val="tx1"/>
                </a:solidFill>
                <a:latin typeface="Times New Roman" pitchFamily="-110" charset="0"/>
                <a:ea typeface="+mn-ea"/>
                <a:cs typeface="+mn-cs"/>
              </a:rPr>
              <a:t>have had to find ways of exploiting the growing number of transistors other than</a:t>
            </a:r>
          </a:p>
          <a:p>
            <a:r>
              <a:rPr kumimoji="1" lang="en-US" sz="1200" kern="1200" baseline="0" dirty="0">
                <a:solidFill>
                  <a:schemeClr val="tx1"/>
                </a:solidFill>
                <a:latin typeface="Times New Roman" pitchFamily="-110" charset="0"/>
                <a:ea typeface="+mn-ea"/>
                <a:cs typeface="+mn-cs"/>
              </a:rPr>
              <a:t>simply building a more complex processor. The response in recent years has been</a:t>
            </a:r>
          </a:p>
          <a:p>
            <a:r>
              <a:rPr kumimoji="1" lang="en-US" sz="1200" kern="1200" baseline="0" dirty="0">
                <a:solidFill>
                  <a:schemeClr val="tx1"/>
                </a:solidFill>
                <a:latin typeface="Times New Roman" pitchFamily="-110" charset="0"/>
                <a:ea typeface="+mn-ea"/>
                <a:cs typeface="+mn-cs"/>
              </a:rPr>
              <a:t>the development of the multicore computer chip.</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47</a:t>
            </a:fld>
            <a:endParaRPr 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kumimoji="1" lang="en-US" sz="1200" kern="1200" baseline="0" dirty="0">
                <a:solidFill>
                  <a:schemeClr val="tx1"/>
                </a:solidFill>
                <a:latin typeface="Times New Roman" pitchFamily="-110" charset="0"/>
                <a:ea typeface="+mn-ea"/>
                <a:cs typeface="+mn-cs"/>
              </a:rPr>
              <a:t>Chip manufacturers are now in the process of making a huge leap forward</a:t>
            </a:r>
          </a:p>
          <a:p>
            <a:r>
              <a:rPr kumimoji="1" lang="en-US" sz="1200" kern="1200" baseline="0" dirty="0">
                <a:solidFill>
                  <a:schemeClr val="tx1"/>
                </a:solidFill>
                <a:latin typeface="Times New Roman" pitchFamily="-110" charset="0"/>
                <a:ea typeface="+mn-ea"/>
                <a:cs typeface="+mn-cs"/>
              </a:rPr>
              <a:t>in the number of cores per chip, with more than 50 cores per chip. The leap in</a:t>
            </a:r>
          </a:p>
          <a:p>
            <a:r>
              <a:rPr kumimoji="1" lang="en-US" sz="1200" kern="1200" baseline="0" dirty="0">
                <a:solidFill>
                  <a:schemeClr val="tx1"/>
                </a:solidFill>
                <a:latin typeface="Times New Roman" pitchFamily="-110" charset="0"/>
                <a:ea typeface="+mn-ea"/>
                <a:cs typeface="+mn-cs"/>
              </a:rPr>
              <a:t>performance as well as the challenges in developing software to exploit such a large</a:t>
            </a:r>
          </a:p>
          <a:p>
            <a:r>
              <a:rPr kumimoji="1" lang="en-US" sz="1200" kern="1200" baseline="0" dirty="0">
                <a:solidFill>
                  <a:schemeClr val="tx1"/>
                </a:solidFill>
                <a:latin typeface="Times New Roman" pitchFamily="-110" charset="0"/>
                <a:ea typeface="+mn-ea"/>
                <a:cs typeface="+mn-cs"/>
              </a:rPr>
              <a:t>number of cores have led to the introduction of a new term: </a:t>
            </a:r>
            <a:r>
              <a:rPr kumimoji="1" lang="en-US" sz="1200" b="1" kern="1200" baseline="0" dirty="0">
                <a:solidFill>
                  <a:schemeClr val="tx1"/>
                </a:solidFill>
                <a:latin typeface="Times New Roman" pitchFamily="-110" charset="0"/>
                <a:ea typeface="+mn-ea"/>
                <a:cs typeface="+mn-cs"/>
              </a:rPr>
              <a:t>many integrated core</a:t>
            </a:r>
          </a:p>
          <a:p>
            <a:r>
              <a:rPr kumimoji="1" lang="en-US" sz="1200" b="1" kern="1200" baseline="0" dirty="0">
                <a:solidFill>
                  <a:schemeClr val="tx1"/>
                </a:solidFill>
                <a:latin typeface="Times New Roman" pitchFamily="-110" charset="0"/>
                <a:ea typeface="+mn-ea"/>
                <a:cs typeface="+mn-cs"/>
              </a:rPr>
              <a:t>(MIC).</a:t>
            </a:r>
          </a:p>
          <a:p>
            <a:endParaRPr kumimoji="1" lang="en-US" sz="1200" b="1"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The multicore and MIC strategy involves a homogeneous collection of</a:t>
            </a:r>
          </a:p>
          <a:p>
            <a:r>
              <a:rPr kumimoji="1" lang="en-US" sz="1200" kern="1200" baseline="0" dirty="0">
                <a:solidFill>
                  <a:schemeClr val="tx1"/>
                </a:solidFill>
                <a:latin typeface="Times New Roman" pitchFamily="-110" charset="0"/>
                <a:ea typeface="+mn-ea"/>
                <a:cs typeface="+mn-cs"/>
              </a:rPr>
              <a:t>general-purpose processors on a single chip. At the same time, chip manufacturers</a:t>
            </a:r>
          </a:p>
          <a:p>
            <a:r>
              <a:rPr kumimoji="1" lang="en-US" sz="1200" kern="1200" baseline="0" dirty="0">
                <a:solidFill>
                  <a:schemeClr val="tx1"/>
                </a:solidFill>
                <a:latin typeface="Times New Roman" pitchFamily="-110" charset="0"/>
                <a:ea typeface="+mn-ea"/>
                <a:cs typeface="+mn-cs"/>
              </a:rPr>
              <a:t>are pursuing another design option: a chip with multiple general-purpose processors</a:t>
            </a:r>
          </a:p>
          <a:p>
            <a:r>
              <a:rPr kumimoji="1" lang="en-US" sz="1200" kern="1200" baseline="0" dirty="0">
                <a:solidFill>
                  <a:schemeClr val="tx1"/>
                </a:solidFill>
                <a:latin typeface="Times New Roman" pitchFamily="-110" charset="0"/>
                <a:ea typeface="+mn-ea"/>
                <a:cs typeface="+mn-cs"/>
              </a:rPr>
              <a:t>plus </a:t>
            </a:r>
            <a:r>
              <a:rPr kumimoji="1" lang="en-US" sz="1200" b="1" kern="1200" baseline="0" dirty="0">
                <a:solidFill>
                  <a:schemeClr val="tx1"/>
                </a:solidFill>
                <a:latin typeface="Times New Roman" pitchFamily="-110" charset="0"/>
                <a:ea typeface="+mn-ea"/>
                <a:cs typeface="+mn-cs"/>
              </a:rPr>
              <a:t>graphics processing units (GPUs) </a:t>
            </a:r>
            <a:r>
              <a:rPr kumimoji="1" lang="en-US" sz="1200" b="0" kern="1200" baseline="0" dirty="0">
                <a:solidFill>
                  <a:schemeClr val="tx1"/>
                </a:solidFill>
                <a:latin typeface="Times New Roman" pitchFamily="-110" charset="0"/>
                <a:ea typeface="+mn-ea"/>
                <a:cs typeface="+mn-cs"/>
              </a:rPr>
              <a:t>and specialized cores for video processing</a:t>
            </a:r>
          </a:p>
          <a:p>
            <a:r>
              <a:rPr kumimoji="1" lang="en-US" sz="1200" kern="1200" baseline="0" dirty="0">
                <a:solidFill>
                  <a:schemeClr val="tx1"/>
                </a:solidFill>
                <a:latin typeface="Times New Roman" pitchFamily="-110" charset="0"/>
                <a:ea typeface="+mn-ea"/>
                <a:cs typeface="+mn-cs"/>
              </a:rPr>
              <a:t>and other tasks. In broad terms, a GPU is a core designed to perform parallel</a:t>
            </a:r>
          </a:p>
          <a:p>
            <a:r>
              <a:rPr kumimoji="1" lang="en-US" sz="1200" kern="1200" baseline="0" dirty="0">
                <a:solidFill>
                  <a:schemeClr val="tx1"/>
                </a:solidFill>
                <a:latin typeface="Times New Roman" pitchFamily="-110" charset="0"/>
                <a:ea typeface="+mn-ea"/>
                <a:cs typeface="+mn-cs"/>
              </a:rPr>
              <a:t>operations on graphics data. Traditionally found on a plug-in graphics card (display</a:t>
            </a:r>
          </a:p>
          <a:p>
            <a:r>
              <a:rPr kumimoji="1" lang="en-US" sz="1200" kern="1200" baseline="0" dirty="0">
                <a:solidFill>
                  <a:schemeClr val="tx1"/>
                </a:solidFill>
                <a:latin typeface="Times New Roman" pitchFamily="-110" charset="0"/>
                <a:ea typeface="+mn-ea"/>
                <a:cs typeface="+mn-cs"/>
              </a:rPr>
              <a:t>adapter), it is used to encode and render 2D and 3D graphics as well as process</a:t>
            </a:r>
          </a:p>
          <a:p>
            <a:r>
              <a:rPr kumimoji="1" lang="en-US" sz="1200" kern="1200" baseline="0" dirty="0">
                <a:solidFill>
                  <a:schemeClr val="tx1"/>
                </a:solidFill>
                <a:latin typeface="Times New Roman" pitchFamily="-110" charset="0"/>
                <a:ea typeface="+mn-ea"/>
                <a:cs typeface="+mn-cs"/>
              </a:rPr>
              <a:t>video.</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Since GPUs perform parallel operations on multiple sets of data, they are</a:t>
            </a:r>
          </a:p>
          <a:p>
            <a:r>
              <a:rPr kumimoji="1" lang="en-US" sz="1200" kern="1200" baseline="0" dirty="0">
                <a:solidFill>
                  <a:schemeClr val="tx1"/>
                </a:solidFill>
                <a:latin typeface="Times New Roman" pitchFamily="-110" charset="0"/>
                <a:ea typeface="+mn-ea"/>
                <a:cs typeface="+mn-cs"/>
              </a:rPr>
              <a:t>increasingly being used as vector processors for a variety of applications that</a:t>
            </a:r>
          </a:p>
          <a:p>
            <a:r>
              <a:rPr kumimoji="1" lang="en-US" sz="1200" kern="1200" baseline="0" dirty="0">
                <a:solidFill>
                  <a:schemeClr val="tx1"/>
                </a:solidFill>
                <a:latin typeface="Times New Roman" pitchFamily="-110" charset="0"/>
                <a:ea typeface="+mn-ea"/>
                <a:cs typeface="+mn-cs"/>
              </a:rPr>
              <a:t>require repetitive computations. This blurs the line between the GPU and the</a:t>
            </a:r>
          </a:p>
          <a:p>
            <a:r>
              <a:rPr kumimoji="1" lang="en-US" sz="1200" kern="1200" baseline="0" dirty="0">
                <a:solidFill>
                  <a:schemeClr val="tx1"/>
                </a:solidFill>
                <a:latin typeface="Times New Roman" pitchFamily="-110" charset="0"/>
                <a:ea typeface="+mn-ea"/>
                <a:cs typeface="+mn-cs"/>
              </a:rPr>
              <a:t>CPU [FATA08, PROP11]. When a broad range of applications are supported</a:t>
            </a:r>
          </a:p>
          <a:p>
            <a:r>
              <a:rPr kumimoji="1" lang="en-US" sz="1200" kern="1200" baseline="0" dirty="0">
                <a:solidFill>
                  <a:schemeClr val="tx1"/>
                </a:solidFill>
                <a:latin typeface="Times New Roman" pitchFamily="-110" charset="0"/>
                <a:ea typeface="+mn-ea"/>
                <a:cs typeface="+mn-cs"/>
              </a:rPr>
              <a:t>by such a processor, the term </a:t>
            </a:r>
            <a:r>
              <a:rPr kumimoji="1" lang="en-US" sz="1200" b="1" kern="1200" baseline="0" dirty="0">
                <a:solidFill>
                  <a:schemeClr val="tx1"/>
                </a:solidFill>
                <a:latin typeface="Times New Roman" pitchFamily="-110" charset="0"/>
                <a:ea typeface="+mn-ea"/>
                <a:cs typeface="+mn-cs"/>
              </a:rPr>
              <a:t>general-purpose computing on GPUs (GPGPU)</a:t>
            </a:r>
          </a:p>
          <a:p>
            <a:r>
              <a:rPr kumimoji="1" lang="en-US" sz="1200" kern="1200" baseline="0" dirty="0">
                <a:solidFill>
                  <a:schemeClr val="tx1"/>
                </a:solidFill>
                <a:latin typeface="Times New Roman" pitchFamily="-110" charset="0"/>
                <a:ea typeface="+mn-ea"/>
                <a:cs typeface="+mn-cs"/>
              </a:rPr>
              <a:t>is used.</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We explore design characteristics of multicore computers in Chapter 18.</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48</a:t>
            </a:fld>
            <a:endParaRPr 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kumimoji="1" lang="en-US" sz="1200" kern="1200" baseline="0" dirty="0">
                <a:solidFill>
                  <a:schemeClr val="tx1"/>
                </a:solidFill>
                <a:latin typeface="Times New Roman" pitchFamily="-110" charset="0"/>
                <a:ea typeface="+mn-ea"/>
                <a:cs typeface="+mn-cs"/>
              </a:rPr>
              <a:t>With all of the difficulties cited in the preceding paragraphs in mind, designers</a:t>
            </a:r>
          </a:p>
          <a:p>
            <a:r>
              <a:rPr kumimoji="1" lang="en-US" sz="1200" kern="1200" baseline="0" dirty="0">
                <a:solidFill>
                  <a:schemeClr val="tx1"/>
                </a:solidFill>
                <a:latin typeface="Times New Roman" pitchFamily="-110" charset="0"/>
                <a:ea typeface="+mn-ea"/>
                <a:cs typeface="+mn-cs"/>
              </a:rPr>
              <a:t>have turned to a fundamentally new approach to improving performance: placing</a:t>
            </a:r>
          </a:p>
          <a:p>
            <a:r>
              <a:rPr kumimoji="1" lang="en-US" sz="1200" kern="1200" baseline="0" dirty="0">
                <a:solidFill>
                  <a:schemeClr val="tx1"/>
                </a:solidFill>
                <a:latin typeface="Times New Roman" pitchFamily="-110" charset="0"/>
                <a:ea typeface="+mn-ea"/>
                <a:cs typeface="+mn-cs"/>
              </a:rPr>
              <a:t>multiple processors on the same chip, with a large shared cache. The use of multiple</a:t>
            </a:r>
          </a:p>
          <a:p>
            <a:r>
              <a:rPr kumimoji="1" lang="en-US" sz="1200" kern="1200" baseline="0" dirty="0">
                <a:solidFill>
                  <a:schemeClr val="tx1"/>
                </a:solidFill>
                <a:latin typeface="Times New Roman" pitchFamily="-110" charset="0"/>
                <a:ea typeface="+mn-ea"/>
                <a:cs typeface="+mn-cs"/>
              </a:rPr>
              <a:t>processors on the same chip, also referred to as multiple cores, or </a:t>
            </a:r>
            <a:r>
              <a:rPr kumimoji="1" lang="en-US" sz="1200" b="1" kern="1200" baseline="0" dirty="0">
                <a:solidFill>
                  <a:schemeClr val="tx1"/>
                </a:solidFill>
                <a:latin typeface="Times New Roman" pitchFamily="-110" charset="0"/>
                <a:ea typeface="+mn-ea"/>
                <a:cs typeface="+mn-cs"/>
              </a:rPr>
              <a:t>multicore,</a:t>
            </a:r>
          </a:p>
          <a:p>
            <a:r>
              <a:rPr kumimoji="1" lang="en-US" sz="1200" kern="1200" baseline="0" dirty="0">
                <a:solidFill>
                  <a:schemeClr val="tx1"/>
                </a:solidFill>
                <a:latin typeface="Times New Roman" pitchFamily="-110" charset="0"/>
                <a:ea typeface="+mn-ea"/>
                <a:cs typeface="+mn-cs"/>
              </a:rPr>
              <a:t>provides the potential to increase performance without increasing the clock rate.</a:t>
            </a:r>
          </a:p>
          <a:p>
            <a:r>
              <a:rPr kumimoji="1" lang="en-US" sz="1200" kern="1200" baseline="0" dirty="0">
                <a:solidFill>
                  <a:schemeClr val="tx1"/>
                </a:solidFill>
                <a:latin typeface="Times New Roman" pitchFamily="-110" charset="0"/>
                <a:ea typeface="+mn-ea"/>
                <a:cs typeface="+mn-cs"/>
              </a:rPr>
              <a:t>Studies indicate that, within a processor, the increase in performance is roughly</a:t>
            </a:r>
          </a:p>
          <a:p>
            <a:r>
              <a:rPr kumimoji="1" lang="en-US" sz="1200" kern="1200" baseline="0" dirty="0">
                <a:solidFill>
                  <a:schemeClr val="tx1"/>
                </a:solidFill>
                <a:latin typeface="Times New Roman" pitchFamily="-110" charset="0"/>
                <a:ea typeface="+mn-ea"/>
                <a:cs typeface="+mn-cs"/>
              </a:rPr>
              <a:t>proportional to the square root of the increase in complexity [BORK03]. But if the</a:t>
            </a:r>
          </a:p>
          <a:p>
            <a:r>
              <a:rPr kumimoji="1" lang="en-US" sz="1200" kern="1200" baseline="0" dirty="0">
                <a:solidFill>
                  <a:schemeClr val="tx1"/>
                </a:solidFill>
                <a:latin typeface="Times New Roman" pitchFamily="-110" charset="0"/>
                <a:ea typeface="+mn-ea"/>
                <a:cs typeface="+mn-cs"/>
              </a:rPr>
              <a:t>software can support the effective use of multiple processors, then doubling the</a:t>
            </a:r>
          </a:p>
          <a:p>
            <a:r>
              <a:rPr kumimoji="1" lang="en-US" sz="1200" kern="1200" baseline="0" dirty="0">
                <a:solidFill>
                  <a:schemeClr val="tx1"/>
                </a:solidFill>
                <a:latin typeface="Times New Roman" pitchFamily="-110" charset="0"/>
                <a:ea typeface="+mn-ea"/>
                <a:cs typeface="+mn-cs"/>
              </a:rPr>
              <a:t>number of processors almost doubles performance. Thus, the strategy is to use two</a:t>
            </a:r>
          </a:p>
          <a:p>
            <a:r>
              <a:rPr kumimoji="1" lang="en-US" sz="1200" kern="1200" baseline="0" dirty="0">
                <a:solidFill>
                  <a:schemeClr val="tx1"/>
                </a:solidFill>
                <a:latin typeface="Times New Roman" pitchFamily="-110" charset="0"/>
                <a:ea typeface="+mn-ea"/>
                <a:cs typeface="+mn-cs"/>
              </a:rPr>
              <a:t>simpler processors on the chip rather than one more complex processor.</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In addition, with two processors, larger caches are justified. This is important</a:t>
            </a:r>
          </a:p>
          <a:p>
            <a:r>
              <a:rPr kumimoji="1" lang="en-US" sz="1200" kern="1200" baseline="0" dirty="0">
                <a:solidFill>
                  <a:schemeClr val="tx1"/>
                </a:solidFill>
                <a:latin typeface="Times New Roman" pitchFamily="-110" charset="0"/>
                <a:ea typeface="+mn-ea"/>
                <a:cs typeface="+mn-cs"/>
              </a:rPr>
              <a:t>because the power consumption of memory logic on a chip is much less than that of</a:t>
            </a:r>
          </a:p>
          <a:p>
            <a:r>
              <a:rPr kumimoji="1" lang="en-US" sz="1200" kern="1200" baseline="0" dirty="0">
                <a:solidFill>
                  <a:schemeClr val="tx1"/>
                </a:solidFill>
                <a:latin typeface="Times New Roman" pitchFamily="-110" charset="0"/>
                <a:ea typeface="+mn-ea"/>
                <a:cs typeface="+mn-cs"/>
              </a:rPr>
              <a:t>processing logic.</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As the logic density on chips continues to rise, the trend to both more cores</a:t>
            </a:r>
          </a:p>
          <a:p>
            <a:r>
              <a:rPr kumimoji="1" lang="en-US" sz="1200" kern="1200" baseline="0" dirty="0">
                <a:solidFill>
                  <a:schemeClr val="tx1"/>
                </a:solidFill>
                <a:latin typeface="Times New Roman" pitchFamily="-110" charset="0"/>
                <a:ea typeface="+mn-ea"/>
                <a:cs typeface="+mn-cs"/>
              </a:rPr>
              <a:t>and more cache on a single chip continues. Two-core chips were quickly followed</a:t>
            </a:r>
          </a:p>
          <a:p>
            <a:r>
              <a:rPr kumimoji="1" lang="en-US" sz="1200" kern="1200" baseline="0" dirty="0">
                <a:solidFill>
                  <a:schemeClr val="tx1"/>
                </a:solidFill>
                <a:latin typeface="Times New Roman" pitchFamily="-110" charset="0"/>
                <a:ea typeface="+mn-ea"/>
                <a:cs typeface="+mn-cs"/>
              </a:rPr>
              <a:t>by four-core chips, then 8, then 16, and so on. As the caches became larger, it made</a:t>
            </a:r>
          </a:p>
          <a:p>
            <a:r>
              <a:rPr kumimoji="1" lang="en-US" sz="1200" kern="1200" baseline="0" dirty="0">
                <a:solidFill>
                  <a:schemeClr val="tx1"/>
                </a:solidFill>
                <a:latin typeface="Times New Roman" pitchFamily="-110" charset="0"/>
                <a:ea typeface="+mn-ea"/>
                <a:cs typeface="+mn-cs"/>
              </a:rPr>
              <a:t>performance sense to create two and then three levels of cache on a chip, with the</a:t>
            </a:r>
          </a:p>
          <a:p>
            <a:r>
              <a:rPr kumimoji="1" lang="en-US" sz="1200" kern="1200" baseline="0" dirty="0">
                <a:solidFill>
                  <a:schemeClr val="tx1"/>
                </a:solidFill>
                <a:latin typeface="Times New Roman" pitchFamily="-110" charset="0"/>
                <a:ea typeface="+mn-ea"/>
                <a:cs typeface="+mn-cs"/>
              </a:rPr>
              <a:t>first-level cache dedicated to an individual processor and levels two and three being</a:t>
            </a:r>
          </a:p>
          <a:p>
            <a:r>
              <a:rPr kumimoji="1" lang="en-US" sz="1200" kern="1200" baseline="0" dirty="0">
                <a:solidFill>
                  <a:schemeClr val="tx1"/>
                </a:solidFill>
                <a:latin typeface="Times New Roman" pitchFamily="-110" charset="0"/>
                <a:ea typeface="+mn-ea"/>
                <a:cs typeface="+mn-cs"/>
              </a:rPr>
              <a:t>shared by all the processors.</a:t>
            </a:r>
          </a:p>
          <a:p>
            <a:endParaRPr kumimoji="1" lang="en-US" sz="1200" kern="1200" baseline="0" dirty="0">
              <a:solidFill>
                <a:schemeClr val="tx1"/>
              </a:solidFill>
              <a:latin typeface="Times New Roman" pitchFamily="-110" charset="0"/>
              <a:ea typeface="+mn-ea"/>
              <a:cs typeface="+mn-cs"/>
            </a:endParaRPr>
          </a:p>
          <a:p>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49</a:t>
            </a:fld>
            <a:endParaRPr 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kumimoji="1" lang="en-US" sz="1200" kern="1200" baseline="0" dirty="0">
                <a:solidFill>
                  <a:schemeClr val="tx1"/>
                </a:solidFill>
                <a:latin typeface="Times New Roman" pitchFamily="-110" charset="0"/>
                <a:ea typeface="+mn-ea"/>
                <a:cs typeface="+mn-cs"/>
              </a:rPr>
              <a:t>Chip manufacturers are now in the process of making a huge leap forward</a:t>
            </a:r>
          </a:p>
          <a:p>
            <a:r>
              <a:rPr kumimoji="1" lang="en-US" sz="1200" kern="1200" baseline="0" dirty="0">
                <a:solidFill>
                  <a:schemeClr val="tx1"/>
                </a:solidFill>
                <a:latin typeface="Times New Roman" pitchFamily="-110" charset="0"/>
                <a:ea typeface="+mn-ea"/>
                <a:cs typeface="+mn-cs"/>
              </a:rPr>
              <a:t>in the number of cores per chip, with more than 50 cores per chip. The leap in</a:t>
            </a:r>
          </a:p>
          <a:p>
            <a:r>
              <a:rPr kumimoji="1" lang="en-US" sz="1200" kern="1200" baseline="0" dirty="0">
                <a:solidFill>
                  <a:schemeClr val="tx1"/>
                </a:solidFill>
                <a:latin typeface="Times New Roman" pitchFamily="-110" charset="0"/>
                <a:ea typeface="+mn-ea"/>
                <a:cs typeface="+mn-cs"/>
              </a:rPr>
              <a:t>performance as well as the challenges in developing software to exploit such a large</a:t>
            </a:r>
          </a:p>
          <a:p>
            <a:r>
              <a:rPr kumimoji="1" lang="en-US" sz="1200" kern="1200" baseline="0" dirty="0">
                <a:solidFill>
                  <a:schemeClr val="tx1"/>
                </a:solidFill>
                <a:latin typeface="Times New Roman" pitchFamily="-110" charset="0"/>
                <a:ea typeface="+mn-ea"/>
                <a:cs typeface="+mn-cs"/>
              </a:rPr>
              <a:t>number of cores have led to the introduction of a new term: </a:t>
            </a:r>
            <a:r>
              <a:rPr kumimoji="1" lang="en-US" sz="1200" b="1" kern="1200" baseline="0" dirty="0">
                <a:solidFill>
                  <a:schemeClr val="tx1"/>
                </a:solidFill>
                <a:latin typeface="Times New Roman" pitchFamily="-110" charset="0"/>
                <a:ea typeface="+mn-ea"/>
                <a:cs typeface="+mn-cs"/>
              </a:rPr>
              <a:t>many integrated core</a:t>
            </a:r>
          </a:p>
          <a:p>
            <a:r>
              <a:rPr kumimoji="1" lang="en-US" sz="1200" b="1" kern="1200" baseline="0" dirty="0">
                <a:solidFill>
                  <a:schemeClr val="tx1"/>
                </a:solidFill>
                <a:latin typeface="Times New Roman" pitchFamily="-110" charset="0"/>
                <a:ea typeface="+mn-ea"/>
                <a:cs typeface="+mn-cs"/>
              </a:rPr>
              <a:t>(MIC).</a:t>
            </a:r>
          </a:p>
          <a:p>
            <a:endParaRPr kumimoji="1" lang="en-US" sz="1200" b="1"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The multicore and MIC strategy involves a homogeneous collection of</a:t>
            </a:r>
          </a:p>
          <a:p>
            <a:r>
              <a:rPr kumimoji="1" lang="en-US" sz="1200" kern="1200" baseline="0" dirty="0">
                <a:solidFill>
                  <a:schemeClr val="tx1"/>
                </a:solidFill>
                <a:latin typeface="Times New Roman" pitchFamily="-110" charset="0"/>
                <a:ea typeface="+mn-ea"/>
                <a:cs typeface="+mn-cs"/>
              </a:rPr>
              <a:t>general-purpose processors on a single chip. At the same time, chip manufacturers</a:t>
            </a:r>
          </a:p>
          <a:p>
            <a:r>
              <a:rPr kumimoji="1" lang="en-US" sz="1200" kern="1200" baseline="0" dirty="0">
                <a:solidFill>
                  <a:schemeClr val="tx1"/>
                </a:solidFill>
                <a:latin typeface="Times New Roman" pitchFamily="-110" charset="0"/>
                <a:ea typeface="+mn-ea"/>
                <a:cs typeface="+mn-cs"/>
              </a:rPr>
              <a:t>are pursuing another design option: a chip with multiple general-purpose processors</a:t>
            </a:r>
          </a:p>
          <a:p>
            <a:r>
              <a:rPr kumimoji="1" lang="en-US" sz="1200" kern="1200" baseline="0" dirty="0">
                <a:solidFill>
                  <a:schemeClr val="tx1"/>
                </a:solidFill>
                <a:latin typeface="Times New Roman" pitchFamily="-110" charset="0"/>
                <a:ea typeface="+mn-ea"/>
                <a:cs typeface="+mn-cs"/>
              </a:rPr>
              <a:t>plus </a:t>
            </a:r>
            <a:r>
              <a:rPr kumimoji="1" lang="en-US" sz="1200" b="1" kern="1200" baseline="0" dirty="0">
                <a:solidFill>
                  <a:schemeClr val="tx1"/>
                </a:solidFill>
                <a:latin typeface="Times New Roman" pitchFamily="-110" charset="0"/>
                <a:ea typeface="+mn-ea"/>
                <a:cs typeface="+mn-cs"/>
              </a:rPr>
              <a:t>graphics processing units (GPUs) </a:t>
            </a:r>
            <a:r>
              <a:rPr kumimoji="1" lang="en-US" sz="1200" b="0" kern="1200" baseline="0" dirty="0">
                <a:solidFill>
                  <a:schemeClr val="tx1"/>
                </a:solidFill>
                <a:latin typeface="Times New Roman" pitchFamily="-110" charset="0"/>
                <a:ea typeface="+mn-ea"/>
                <a:cs typeface="+mn-cs"/>
              </a:rPr>
              <a:t>and specialized cores for video processing</a:t>
            </a:r>
          </a:p>
          <a:p>
            <a:r>
              <a:rPr kumimoji="1" lang="en-US" sz="1200" kern="1200" baseline="0" dirty="0">
                <a:solidFill>
                  <a:schemeClr val="tx1"/>
                </a:solidFill>
                <a:latin typeface="Times New Roman" pitchFamily="-110" charset="0"/>
                <a:ea typeface="+mn-ea"/>
                <a:cs typeface="+mn-cs"/>
              </a:rPr>
              <a:t>and other tasks. In broad terms, a GPU is a core designed to perform parallel</a:t>
            </a:r>
          </a:p>
          <a:p>
            <a:r>
              <a:rPr kumimoji="1" lang="en-US" sz="1200" kern="1200" baseline="0" dirty="0">
                <a:solidFill>
                  <a:schemeClr val="tx1"/>
                </a:solidFill>
                <a:latin typeface="Times New Roman" pitchFamily="-110" charset="0"/>
                <a:ea typeface="+mn-ea"/>
                <a:cs typeface="+mn-cs"/>
              </a:rPr>
              <a:t>operations on graphics data. Traditionally found on a plug-in graphics card (display</a:t>
            </a:r>
          </a:p>
          <a:p>
            <a:r>
              <a:rPr kumimoji="1" lang="en-US" sz="1200" kern="1200" baseline="0" dirty="0">
                <a:solidFill>
                  <a:schemeClr val="tx1"/>
                </a:solidFill>
                <a:latin typeface="Times New Roman" pitchFamily="-110" charset="0"/>
                <a:ea typeface="+mn-ea"/>
                <a:cs typeface="+mn-cs"/>
              </a:rPr>
              <a:t>adapter), it is used to encode and render 2D and 3D graphics as well as process</a:t>
            </a:r>
          </a:p>
          <a:p>
            <a:r>
              <a:rPr kumimoji="1" lang="en-US" sz="1200" kern="1200" baseline="0" dirty="0">
                <a:solidFill>
                  <a:schemeClr val="tx1"/>
                </a:solidFill>
                <a:latin typeface="Times New Roman" pitchFamily="-110" charset="0"/>
                <a:ea typeface="+mn-ea"/>
                <a:cs typeface="+mn-cs"/>
              </a:rPr>
              <a:t>video.</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Since GPUs perform parallel operations on multiple sets of data, they are</a:t>
            </a:r>
          </a:p>
          <a:p>
            <a:r>
              <a:rPr kumimoji="1" lang="en-US" sz="1200" kern="1200" baseline="0" dirty="0">
                <a:solidFill>
                  <a:schemeClr val="tx1"/>
                </a:solidFill>
                <a:latin typeface="Times New Roman" pitchFamily="-110" charset="0"/>
                <a:ea typeface="+mn-ea"/>
                <a:cs typeface="+mn-cs"/>
              </a:rPr>
              <a:t>increasingly being used as vector processors for a variety of applications that</a:t>
            </a:r>
          </a:p>
          <a:p>
            <a:r>
              <a:rPr kumimoji="1" lang="en-US" sz="1200" kern="1200" baseline="0" dirty="0">
                <a:solidFill>
                  <a:schemeClr val="tx1"/>
                </a:solidFill>
                <a:latin typeface="Times New Roman" pitchFamily="-110" charset="0"/>
                <a:ea typeface="+mn-ea"/>
                <a:cs typeface="+mn-cs"/>
              </a:rPr>
              <a:t>require repetitive computations. This blurs the line between the GPU and the</a:t>
            </a:r>
          </a:p>
          <a:p>
            <a:r>
              <a:rPr kumimoji="1" lang="en-US" sz="1200" kern="1200" baseline="0" dirty="0">
                <a:solidFill>
                  <a:schemeClr val="tx1"/>
                </a:solidFill>
                <a:latin typeface="Times New Roman" pitchFamily="-110" charset="0"/>
                <a:ea typeface="+mn-ea"/>
                <a:cs typeface="+mn-cs"/>
              </a:rPr>
              <a:t>CPU [FATA08, PROP11]. When a broad range of applications are supported</a:t>
            </a:r>
          </a:p>
          <a:p>
            <a:r>
              <a:rPr kumimoji="1" lang="en-US" sz="1200" kern="1200" baseline="0" dirty="0">
                <a:solidFill>
                  <a:schemeClr val="tx1"/>
                </a:solidFill>
                <a:latin typeface="Times New Roman" pitchFamily="-110" charset="0"/>
                <a:ea typeface="+mn-ea"/>
                <a:cs typeface="+mn-cs"/>
              </a:rPr>
              <a:t>by such a processor, the term </a:t>
            </a:r>
            <a:r>
              <a:rPr kumimoji="1" lang="en-US" sz="1200" b="1" kern="1200" baseline="0" dirty="0">
                <a:solidFill>
                  <a:schemeClr val="tx1"/>
                </a:solidFill>
                <a:latin typeface="Times New Roman" pitchFamily="-110" charset="0"/>
                <a:ea typeface="+mn-ea"/>
                <a:cs typeface="+mn-cs"/>
              </a:rPr>
              <a:t>general-purpose computing on GPUs (GPGPU)</a:t>
            </a:r>
          </a:p>
          <a:p>
            <a:r>
              <a:rPr kumimoji="1" lang="en-US" sz="1200" kern="1200" baseline="0" dirty="0">
                <a:solidFill>
                  <a:schemeClr val="tx1"/>
                </a:solidFill>
                <a:latin typeface="Times New Roman" pitchFamily="-110" charset="0"/>
                <a:ea typeface="+mn-ea"/>
                <a:cs typeface="+mn-cs"/>
              </a:rPr>
              <a:t>is used.</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We explore design characteristics of multicore computers in Chapter 18.</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50</a:t>
            </a:fld>
            <a:endParaRPr lang="en-US"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kumimoji="1" lang="en-US" sz="1200" b="1" kern="1200" baseline="0" dirty="0">
                <a:solidFill>
                  <a:schemeClr val="tx1"/>
                </a:solidFill>
                <a:latin typeface="Times New Roman" pitchFamily="-110" charset="0"/>
                <a:ea typeface="+mn-ea"/>
                <a:cs typeface="+mn-cs"/>
              </a:rPr>
              <a:t>Core: </a:t>
            </a:r>
            <a:r>
              <a:rPr kumimoji="1" lang="en-US" sz="1200" b="0" kern="1200" baseline="0" dirty="0">
                <a:solidFill>
                  <a:schemeClr val="tx1"/>
                </a:solidFill>
                <a:latin typeface="Times New Roman" pitchFamily="-110" charset="0"/>
                <a:ea typeface="+mn-ea"/>
                <a:cs typeface="+mn-cs"/>
              </a:rPr>
              <a:t>This is the first Intel x86 microprocessor with a dual core, referring to</a:t>
            </a:r>
          </a:p>
          <a:p>
            <a:r>
              <a:rPr kumimoji="1" lang="en-US" sz="1200" kern="1200" baseline="0" dirty="0">
                <a:solidFill>
                  <a:schemeClr val="tx1"/>
                </a:solidFill>
                <a:latin typeface="Times New Roman" pitchFamily="-110" charset="0"/>
                <a:ea typeface="+mn-ea"/>
                <a:cs typeface="+mn-cs"/>
              </a:rPr>
              <a:t>the implementation of two processors on a single chip.</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a:t>
            </a:r>
            <a:r>
              <a:rPr kumimoji="1" lang="en-US" sz="1200" b="1" kern="1200" baseline="0" dirty="0">
                <a:solidFill>
                  <a:schemeClr val="tx1"/>
                </a:solidFill>
                <a:latin typeface="Times New Roman" pitchFamily="-110" charset="0"/>
                <a:ea typeface="+mn-ea"/>
                <a:cs typeface="+mn-cs"/>
              </a:rPr>
              <a:t>Core 2: </a:t>
            </a:r>
            <a:r>
              <a:rPr kumimoji="1" lang="en-US" sz="1200" b="0" kern="1200" baseline="0" dirty="0">
                <a:solidFill>
                  <a:schemeClr val="tx1"/>
                </a:solidFill>
                <a:latin typeface="Times New Roman" pitchFamily="-110" charset="0"/>
                <a:ea typeface="+mn-ea"/>
                <a:cs typeface="+mn-cs"/>
              </a:rPr>
              <a:t>The Core 2 extends the architecture to 64 bits. The Core 2 Quad provides</a:t>
            </a:r>
          </a:p>
          <a:p>
            <a:r>
              <a:rPr kumimoji="1" lang="en-US" sz="1200" kern="1200" baseline="0" dirty="0">
                <a:solidFill>
                  <a:schemeClr val="tx1"/>
                </a:solidFill>
                <a:latin typeface="Times New Roman" pitchFamily="-110" charset="0"/>
                <a:ea typeface="+mn-ea"/>
                <a:cs typeface="+mn-cs"/>
              </a:rPr>
              <a:t>four processors on a single chip. More recent Core offerings have up to</a:t>
            </a:r>
          </a:p>
          <a:p>
            <a:r>
              <a:rPr kumimoji="1" lang="en-US" sz="1200" kern="1200" baseline="0" dirty="0">
                <a:solidFill>
                  <a:schemeClr val="tx1"/>
                </a:solidFill>
                <a:latin typeface="Times New Roman" pitchFamily="-110" charset="0"/>
                <a:ea typeface="+mn-ea"/>
                <a:cs typeface="+mn-cs"/>
              </a:rPr>
              <a:t>10 processors per chip.</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Over 30 years after its introduction in 1978, the x86 architecture continues to</a:t>
            </a:r>
          </a:p>
          <a:p>
            <a:r>
              <a:rPr kumimoji="1" lang="en-US" sz="1200" kern="1200" baseline="0" dirty="0">
                <a:solidFill>
                  <a:schemeClr val="tx1"/>
                </a:solidFill>
                <a:latin typeface="Times New Roman" pitchFamily="-110" charset="0"/>
                <a:ea typeface="+mn-ea"/>
                <a:cs typeface="+mn-cs"/>
              </a:rPr>
              <a:t>dominate the processor market outside of embedded systems. Although the organization</a:t>
            </a:r>
          </a:p>
          <a:p>
            <a:r>
              <a:rPr kumimoji="1" lang="en-US" sz="1200" kern="1200" baseline="0" dirty="0">
                <a:solidFill>
                  <a:schemeClr val="tx1"/>
                </a:solidFill>
                <a:latin typeface="Times New Roman" pitchFamily="-110" charset="0"/>
                <a:ea typeface="+mn-ea"/>
                <a:cs typeface="+mn-cs"/>
              </a:rPr>
              <a:t>and technology of the x86 machines have changed dramatically over the decades,</a:t>
            </a:r>
          </a:p>
          <a:p>
            <a:r>
              <a:rPr kumimoji="1" lang="en-US" sz="1200" kern="1200" baseline="0" dirty="0">
                <a:solidFill>
                  <a:schemeClr val="tx1"/>
                </a:solidFill>
                <a:latin typeface="Times New Roman" pitchFamily="-110" charset="0"/>
                <a:ea typeface="+mn-ea"/>
                <a:cs typeface="+mn-cs"/>
              </a:rPr>
              <a:t>the instruction set architecture has evolved to remain backward compatible</a:t>
            </a:r>
          </a:p>
          <a:p>
            <a:r>
              <a:rPr kumimoji="1" lang="en-US" sz="1200" kern="1200" baseline="0" dirty="0">
                <a:solidFill>
                  <a:schemeClr val="tx1"/>
                </a:solidFill>
                <a:latin typeface="Times New Roman" pitchFamily="-110" charset="0"/>
                <a:ea typeface="+mn-ea"/>
                <a:cs typeface="+mn-cs"/>
              </a:rPr>
              <a:t>with earlier versions. Thus, any program written on an older version of the x86 architecture</a:t>
            </a:r>
          </a:p>
          <a:p>
            <a:r>
              <a:rPr kumimoji="1" lang="en-US" sz="1200" kern="1200" baseline="0" dirty="0">
                <a:solidFill>
                  <a:schemeClr val="tx1"/>
                </a:solidFill>
                <a:latin typeface="Times New Roman" pitchFamily="-110" charset="0"/>
                <a:ea typeface="+mn-ea"/>
                <a:cs typeface="+mn-cs"/>
              </a:rPr>
              <a:t>can execute on newer versions. All changes to the instruction set architecture</a:t>
            </a:r>
          </a:p>
          <a:p>
            <a:r>
              <a:rPr kumimoji="1" lang="en-US" sz="1200" kern="1200" baseline="0" dirty="0">
                <a:solidFill>
                  <a:schemeClr val="tx1"/>
                </a:solidFill>
                <a:latin typeface="Times New Roman" pitchFamily="-110" charset="0"/>
                <a:ea typeface="+mn-ea"/>
                <a:cs typeface="+mn-cs"/>
              </a:rPr>
              <a:t>have involved additions to the instruction set, with no subtractions. The rate of</a:t>
            </a:r>
          </a:p>
          <a:p>
            <a:r>
              <a:rPr kumimoji="1" lang="en-US" sz="1200" kern="1200" baseline="0" dirty="0">
                <a:solidFill>
                  <a:schemeClr val="tx1"/>
                </a:solidFill>
                <a:latin typeface="Times New Roman" pitchFamily="-110" charset="0"/>
                <a:ea typeface="+mn-ea"/>
                <a:cs typeface="+mn-cs"/>
              </a:rPr>
              <a:t>change has been the addition of roughly one instruction per month added to the</a:t>
            </a:r>
          </a:p>
          <a:p>
            <a:r>
              <a:rPr kumimoji="1" lang="en-US" sz="1200" kern="1200" baseline="0" dirty="0">
                <a:solidFill>
                  <a:schemeClr val="tx1"/>
                </a:solidFill>
                <a:latin typeface="Times New Roman" pitchFamily="-110" charset="0"/>
                <a:ea typeface="+mn-ea"/>
                <a:cs typeface="+mn-cs"/>
              </a:rPr>
              <a:t>architecture over the 30 years [ANTH08], so that there are now over 500 instructions</a:t>
            </a:r>
          </a:p>
          <a:p>
            <a:r>
              <a:rPr kumimoji="1" lang="en-US" sz="1200" kern="1200" baseline="0" dirty="0">
                <a:solidFill>
                  <a:schemeClr val="tx1"/>
                </a:solidFill>
                <a:latin typeface="Times New Roman" pitchFamily="-110" charset="0"/>
                <a:ea typeface="+mn-ea"/>
                <a:cs typeface="+mn-cs"/>
              </a:rPr>
              <a:t>in the instruction set.</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The x86 provides an excellent illustration of the advances in computer</a:t>
            </a:r>
          </a:p>
          <a:p>
            <a:r>
              <a:rPr kumimoji="1" lang="en-US" sz="1200" kern="1200" baseline="0" dirty="0">
                <a:solidFill>
                  <a:schemeClr val="tx1"/>
                </a:solidFill>
                <a:latin typeface="Times New Roman" pitchFamily="-110" charset="0"/>
                <a:ea typeface="+mn-ea"/>
                <a:cs typeface="+mn-cs"/>
              </a:rPr>
              <a:t>hardware over the past 30 years. The 1978 8086 was introduced with a clock speed</a:t>
            </a:r>
          </a:p>
          <a:p>
            <a:r>
              <a:rPr kumimoji="1" lang="en-US" sz="1200" kern="1200" baseline="0" dirty="0">
                <a:solidFill>
                  <a:schemeClr val="tx1"/>
                </a:solidFill>
                <a:latin typeface="Times New Roman" pitchFamily="-110" charset="0"/>
                <a:ea typeface="+mn-ea"/>
                <a:cs typeface="+mn-cs"/>
              </a:rPr>
              <a:t>of 5 MHz and had 29,000 transistors. A quad-core Intel Core 2 introduced in 2008</a:t>
            </a:r>
          </a:p>
          <a:p>
            <a:r>
              <a:rPr kumimoji="1" lang="en-US" sz="1200" kern="1200" baseline="0" dirty="0">
                <a:solidFill>
                  <a:schemeClr val="tx1"/>
                </a:solidFill>
                <a:latin typeface="Times New Roman" pitchFamily="-110" charset="0"/>
                <a:ea typeface="+mn-ea"/>
                <a:cs typeface="+mn-cs"/>
              </a:rPr>
              <a:t>operates at 3 GHz, a speedup of a factor of 600, and has 820 million transistors,</a:t>
            </a:r>
          </a:p>
          <a:p>
            <a:r>
              <a:rPr kumimoji="1" lang="en-US" sz="1200" kern="1200" baseline="0" dirty="0">
                <a:solidFill>
                  <a:schemeClr val="tx1"/>
                </a:solidFill>
                <a:latin typeface="Times New Roman" pitchFamily="-110" charset="0"/>
                <a:ea typeface="+mn-ea"/>
                <a:cs typeface="+mn-cs"/>
              </a:rPr>
              <a:t>about 28,000 times as many as the 8086. Yet the Core 2 is in only a slightly larger</a:t>
            </a:r>
          </a:p>
          <a:p>
            <a:r>
              <a:rPr kumimoji="1" lang="en-US" sz="1200" kern="1200" baseline="0" dirty="0">
                <a:solidFill>
                  <a:schemeClr val="tx1"/>
                </a:solidFill>
                <a:latin typeface="Times New Roman" pitchFamily="-110" charset="0"/>
                <a:ea typeface="+mn-ea"/>
                <a:cs typeface="+mn-cs"/>
              </a:rPr>
              <a:t>package than the 8086 and has a comparable cost.</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51</a:t>
            </a:fld>
            <a:endParaRPr 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r>
              <a:rPr kumimoji="1" lang="en-US" sz="1200" kern="1200" baseline="0" dirty="0">
                <a:solidFill>
                  <a:schemeClr val="tx1"/>
                </a:solidFill>
                <a:latin typeface="Times New Roman" pitchFamily="-110" charset="0"/>
                <a:ea typeface="+mn-ea"/>
                <a:cs typeface="+mn-cs"/>
              </a:rPr>
              <a:t>Operations performed by a processor, such as fetching an</a:t>
            </a:r>
          </a:p>
          <a:p>
            <a:r>
              <a:rPr kumimoji="1" lang="en-US" sz="1200" kern="1200" baseline="0" dirty="0">
                <a:solidFill>
                  <a:schemeClr val="tx1"/>
                </a:solidFill>
                <a:latin typeface="Times New Roman" pitchFamily="-110" charset="0"/>
                <a:ea typeface="+mn-ea"/>
                <a:cs typeface="+mn-cs"/>
              </a:rPr>
              <a:t>instruction, decoding the instruction, performing an arithmetic operation, and so</a:t>
            </a:r>
          </a:p>
          <a:p>
            <a:r>
              <a:rPr kumimoji="1" lang="en-US" sz="1200" kern="1200" baseline="0" dirty="0">
                <a:solidFill>
                  <a:schemeClr val="tx1"/>
                </a:solidFill>
                <a:latin typeface="Times New Roman" pitchFamily="-110" charset="0"/>
                <a:ea typeface="+mn-ea"/>
                <a:cs typeface="+mn-cs"/>
              </a:rPr>
              <a:t>on, are governed by a system clock. Typically, all operations begin with the pulse of</a:t>
            </a:r>
          </a:p>
          <a:p>
            <a:r>
              <a:rPr kumimoji="1" lang="en-US" sz="1200" kern="1200" baseline="0" dirty="0">
                <a:solidFill>
                  <a:schemeClr val="tx1"/>
                </a:solidFill>
                <a:latin typeface="Times New Roman" pitchFamily="-110" charset="0"/>
                <a:ea typeface="+mn-ea"/>
                <a:cs typeface="+mn-cs"/>
              </a:rPr>
              <a:t>the clock. Thus, at the most fundamental level, the speed of a processor is dictated</a:t>
            </a:r>
          </a:p>
          <a:p>
            <a:r>
              <a:rPr kumimoji="1" lang="en-US" sz="1200" kern="1200" baseline="0" dirty="0">
                <a:solidFill>
                  <a:schemeClr val="tx1"/>
                </a:solidFill>
                <a:latin typeface="Times New Roman" pitchFamily="-110" charset="0"/>
                <a:ea typeface="+mn-ea"/>
                <a:cs typeface="+mn-cs"/>
              </a:rPr>
              <a:t>by the pulse frequency produced by the clock, measured in cycles per second, or</a:t>
            </a:r>
          </a:p>
          <a:p>
            <a:r>
              <a:rPr kumimoji="1" lang="en-US" sz="1200" kern="1200" baseline="0" dirty="0">
                <a:solidFill>
                  <a:schemeClr val="tx1"/>
                </a:solidFill>
                <a:latin typeface="Times New Roman" pitchFamily="-110" charset="0"/>
                <a:ea typeface="+mn-ea"/>
                <a:cs typeface="+mn-cs"/>
              </a:rPr>
              <a:t>Hertz (Hz).</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Typically, clock signals are generated by a quartz crystal, which generates a</a:t>
            </a:r>
          </a:p>
          <a:p>
            <a:r>
              <a:rPr kumimoji="1" lang="en-US" sz="1200" kern="1200" baseline="0" dirty="0">
                <a:solidFill>
                  <a:schemeClr val="tx1"/>
                </a:solidFill>
                <a:latin typeface="Times New Roman" pitchFamily="-110" charset="0"/>
                <a:ea typeface="+mn-ea"/>
                <a:cs typeface="+mn-cs"/>
              </a:rPr>
              <a:t>constant signal wave while power is applied. This wave is converted into a digital</a:t>
            </a:r>
          </a:p>
          <a:p>
            <a:r>
              <a:rPr kumimoji="1" lang="en-US" sz="1200" kern="1200" baseline="0" dirty="0">
                <a:solidFill>
                  <a:schemeClr val="tx1"/>
                </a:solidFill>
                <a:latin typeface="Times New Roman" pitchFamily="-110" charset="0"/>
                <a:ea typeface="+mn-ea"/>
                <a:cs typeface="+mn-cs"/>
              </a:rPr>
              <a:t>voltage pulse stream that is provided in a constant flow to the processor circuitry</a:t>
            </a:r>
          </a:p>
          <a:p>
            <a:r>
              <a:rPr kumimoji="1" lang="en-US" sz="1200" kern="1200" baseline="0" dirty="0">
                <a:solidFill>
                  <a:schemeClr val="tx1"/>
                </a:solidFill>
                <a:latin typeface="Times New Roman" pitchFamily="-110" charset="0"/>
                <a:ea typeface="+mn-ea"/>
                <a:cs typeface="+mn-cs"/>
              </a:rPr>
              <a:t>(Figure 2.13). For example, a 1-GHz processor receives 1 billion pulses per second.</a:t>
            </a:r>
          </a:p>
          <a:p>
            <a:r>
              <a:rPr kumimoji="1" lang="en-US" sz="1200" kern="1200" baseline="0" dirty="0">
                <a:solidFill>
                  <a:schemeClr val="tx1"/>
                </a:solidFill>
                <a:latin typeface="Times New Roman" pitchFamily="-110" charset="0"/>
                <a:ea typeface="+mn-ea"/>
                <a:cs typeface="+mn-cs"/>
              </a:rPr>
              <a:t>The rate of pulses is known as the </a:t>
            </a:r>
            <a:r>
              <a:rPr kumimoji="1" lang="en-US" sz="1200" b="1" kern="1200" baseline="0" dirty="0">
                <a:solidFill>
                  <a:schemeClr val="tx1"/>
                </a:solidFill>
                <a:latin typeface="Times New Roman" pitchFamily="-110" charset="0"/>
                <a:ea typeface="+mn-ea"/>
                <a:cs typeface="+mn-cs"/>
              </a:rPr>
              <a:t>clock rate, or clock speed. </a:t>
            </a:r>
            <a:r>
              <a:rPr kumimoji="1" lang="en-US" sz="1200" b="0" kern="1200" baseline="0" dirty="0">
                <a:solidFill>
                  <a:schemeClr val="tx1"/>
                </a:solidFill>
                <a:latin typeface="Times New Roman" pitchFamily="-110" charset="0"/>
                <a:ea typeface="+mn-ea"/>
                <a:cs typeface="+mn-cs"/>
              </a:rPr>
              <a:t>One increment, or</a:t>
            </a:r>
          </a:p>
          <a:p>
            <a:r>
              <a:rPr kumimoji="1" lang="en-US" sz="1200" b="0" kern="1200" baseline="0" dirty="0">
                <a:solidFill>
                  <a:schemeClr val="tx1"/>
                </a:solidFill>
                <a:latin typeface="Times New Roman" pitchFamily="-110" charset="0"/>
                <a:ea typeface="+mn-ea"/>
                <a:cs typeface="+mn-cs"/>
              </a:rPr>
              <a:t>pulse, of the clock is referred to as a clock cycle, or a clock tick. The time between</a:t>
            </a:r>
          </a:p>
          <a:p>
            <a:r>
              <a:rPr kumimoji="1" lang="en-US" sz="1200" kern="1200" baseline="0" dirty="0">
                <a:solidFill>
                  <a:schemeClr val="tx1"/>
                </a:solidFill>
                <a:latin typeface="Times New Roman" pitchFamily="-110" charset="0"/>
                <a:ea typeface="+mn-ea"/>
                <a:cs typeface="+mn-cs"/>
              </a:rPr>
              <a:t>pulses is the </a:t>
            </a:r>
            <a:r>
              <a:rPr kumimoji="1" lang="en-US" sz="1200" b="1" kern="1200" baseline="0" dirty="0">
                <a:solidFill>
                  <a:schemeClr val="tx1"/>
                </a:solidFill>
                <a:latin typeface="Times New Roman" pitchFamily="-110" charset="0"/>
                <a:ea typeface="+mn-ea"/>
                <a:cs typeface="+mn-cs"/>
              </a:rPr>
              <a:t>cycle time.</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The clock rate is not arbitrary, but must be appropriate for the physical layout</a:t>
            </a:r>
          </a:p>
          <a:p>
            <a:r>
              <a:rPr kumimoji="1" lang="en-US" sz="1200" kern="1200" baseline="0" dirty="0">
                <a:solidFill>
                  <a:schemeClr val="tx1"/>
                </a:solidFill>
                <a:latin typeface="Times New Roman" pitchFamily="-110" charset="0"/>
                <a:ea typeface="+mn-ea"/>
                <a:cs typeface="+mn-cs"/>
              </a:rPr>
              <a:t>of the processor. Actions in the processor require signals to be sent from one processor</a:t>
            </a:r>
          </a:p>
          <a:p>
            <a:r>
              <a:rPr kumimoji="1" lang="en-US" sz="1200" kern="1200" baseline="0" dirty="0">
                <a:solidFill>
                  <a:schemeClr val="tx1"/>
                </a:solidFill>
                <a:latin typeface="Times New Roman" pitchFamily="-110" charset="0"/>
                <a:ea typeface="+mn-ea"/>
                <a:cs typeface="+mn-cs"/>
              </a:rPr>
              <a:t>element to another. When a signal is placed on a line inside the processor, it</a:t>
            </a:r>
          </a:p>
          <a:p>
            <a:r>
              <a:rPr kumimoji="1" lang="en-US" sz="1200" kern="1200" baseline="0" dirty="0">
                <a:solidFill>
                  <a:schemeClr val="tx1"/>
                </a:solidFill>
                <a:latin typeface="Times New Roman" pitchFamily="-110" charset="0"/>
                <a:ea typeface="+mn-ea"/>
                <a:cs typeface="+mn-cs"/>
              </a:rPr>
              <a:t>takes some finite amount of time for the voltage levels to settle down so that an</a:t>
            </a:r>
          </a:p>
          <a:p>
            <a:r>
              <a:rPr kumimoji="1" lang="en-US" sz="1200" kern="1200" baseline="0" dirty="0">
                <a:solidFill>
                  <a:schemeClr val="tx1"/>
                </a:solidFill>
                <a:latin typeface="Times New Roman" pitchFamily="-110" charset="0"/>
                <a:ea typeface="+mn-ea"/>
                <a:cs typeface="+mn-cs"/>
              </a:rPr>
              <a:t>accurate value (1 or 0) is available. Furthermore, depending on the physical layout</a:t>
            </a:r>
          </a:p>
          <a:p>
            <a:r>
              <a:rPr kumimoji="1" lang="en-US" sz="1200" kern="1200" baseline="0" dirty="0">
                <a:solidFill>
                  <a:schemeClr val="tx1"/>
                </a:solidFill>
                <a:latin typeface="Times New Roman" pitchFamily="-110" charset="0"/>
                <a:ea typeface="+mn-ea"/>
                <a:cs typeface="+mn-cs"/>
              </a:rPr>
              <a:t>of the processor circuits, some signals may change more rapidly than others. Thus,</a:t>
            </a:r>
          </a:p>
          <a:p>
            <a:r>
              <a:rPr kumimoji="1" lang="en-US" sz="1200" kern="1200" baseline="0" dirty="0">
                <a:solidFill>
                  <a:schemeClr val="tx1"/>
                </a:solidFill>
                <a:latin typeface="Times New Roman" pitchFamily="-110" charset="0"/>
                <a:ea typeface="+mn-ea"/>
                <a:cs typeface="+mn-cs"/>
              </a:rPr>
              <a:t>operations must be synchronized and paced so that the proper electrical signal</a:t>
            </a:r>
          </a:p>
          <a:p>
            <a:r>
              <a:rPr kumimoji="1" lang="en-US" sz="1200" kern="1200" baseline="0" dirty="0">
                <a:solidFill>
                  <a:schemeClr val="tx1"/>
                </a:solidFill>
                <a:latin typeface="Times New Roman" pitchFamily="-110" charset="0"/>
                <a:ea typeface="+mn-ea"/>
                <a:cs typeface="+mn-cs"/>
              </a:rPr>
              <a:t>(voltage) values are available for each operation.</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The execution of an instruction involves a number of discrete steps, such</a:t>
            </a:r>
          </a:p>
          <a:p>
            <a:r>
              <a:rPr kumimoji="1" lang="en-US" sz="1200" kern="1200" baseline="0" dirty="0">
                <a:solidFill>
                  <a:schemeClr val="tx1"/>
                </a:solidFill>
                <a:latin typeface="Times New Roman" pitchFamily="-110" charset="0"/>
                <a:ea typeface="+mn-ea"/>
                <a:cs typeface="+mn-cs"/>
              </a:rPr>
              <a:t>as fetching the instruction from memory, decoding the various portions of the</a:t>
            </a:r>
          </a:p>
          <a:p>
            <a:r>
              <a:rPr kumimoji="1" lang="en-US" sz="1200" kern="1200" baseline="0" dirty="0">
                <a:solidFill>
                  <a:schemeClr val="tx1"/>
                </a:solidFill>
                <a:latin typeface="Times New Roman" pitchFamily="-110" charset="0"/>
                <a:ea typeface="+mn-ea"/>
                <a:cs typeface="+mn-cs"/>
              </a:rPr>
              <a:t>instruction, loading and storing data, and performing arithmetic and logical operations.</a:t>
            </a:r>
          </a:p>
          <a:p>
            <a:r>
              <a:rPr kumimoji="1" lang="en-US" sz="1200" kern="1200" baseline="0" dirty="0">
                <a:solidFill>
                  <a:schemeClr val="tx1"/>
                </a:solidFill>
                <a:latin typeface="Times New Roman" pitchFamily="-110" charset="0"/>
                <a:ea typeface="+mn-ea"/>
                <a:cs typeface="+mn-cs"/>
              </a:rPr>
              <a:t>Thus, most instructions on most processors require multiple clock cycles to</a:t>
            </a:r>
          </a:p>
          <a:p>
            <a:r>
              <a:rPr kumimoji="1" lang="en-US" sz="1200" kern="1200" baseline="0" dirty="0">
                <a:solidFill>
                  <a:schemeClr val="tx1"/>
                </a:solidFill>
                <a:latin typeface="Times New Roman" pitchFamily="-110" charset="0"/>
                <a:ea typeface="+mn-ea"/>
                <a:cs typeface="+mn-cs"/>
              </a:rPr>
              <a:t>complete. Some instructions may take only a few cycles, while others require dozens.</a:t>
            </a:r>
          </a:p>
          <a:p>
            <a:r>
              <a:rPr kumimoji="1" lang="en-US" sz="1200" kern="1200" baseline="0" dirty="0">
                <a:solidFill>
                  <a:schemeClr val="tx1"/>
                </a:solidFill>
                <a:latin typeface="Times New Roman" pitchFamily="-110" charset="0"/>
                <a:ea typeface="+mn-ea"/>
                <a:cs typeface="+mn-cs"/>
              </a:rPr>
              <a:t>In addition, when pipelining is used, multiple instructions are being executed simultaneously.</a:t>
            </a:r>
          </a:p>
          <a:p>
            <a:r>
              <a:rPr kumimoji="1" lang="en-US" sz="1200" kern="1200" baseline="0" dirty="0">
                <a:solidFill>
                  <a:schemeClr val="tx1"/>
                </a:solidFill>
                <a:latin typeface="Times New Roman" pitchFamily="-110" charset="0"/>
                <a:ea typeface="+mn-ea"/>
                <a:cs typeface="+mn-cs"/>
              </a:rPr>
              <a:t>Thus, a straight comparison of clock speeds on different processors does</a:t>
            </a:r>
          </a:p>
          <a:p>
            <a:r>
              <a:rPr kumimoji="1" lang="en-US" sz="1200" kern="1200" baseline="0" dirty="0">
                <a:solidFill>
                  <a:schemeClr val="tx1"/>
                </a:solidFill>
                <a:latin typeface="Times New Roman" pitchFamily="-110" charset="0"/>
                <a:ea typeface="+mn-ea"/>
                <a:cs typeface="+mn-cs"/>
              </a:rPr>
              <a:t>not tell the whole story about performance.</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52</a:t>
            </a:fld>
            <a:endParaRPr lang="en-US"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r>
              <a:rPr lang="en-US" dirty="0">
                <a:latin typeface="Times New Roman" pitchFamily="18" charset="0"/>
                <a:cs typeface="Times New Roman" pitchFamily="18" charset="0"/>
              </a:rPr>
              <a:t>crystal oscillator: </a:t>
            </a:r>
            <a:r>
              <a:rPr lang="en-US" dirty="0" err="1">
                <a:latin typeface="Times New Roman" pitchFamily="18" charset="0"/>
                <a:cs typeface="Times New Roman" pitchFamily="18" charset="0"/>
              </a:rPr>
              <a:t>Bộ</a:t>
            </a:r>
            <a:r>
              <a:rPr lang="en-US" baseline="0" dirty="0">
                <a:latin typeface="Times New Roman" pitchFamily="18" charset="0"/>
                <a:cs typeface="Times New Roman" pitchFamily="18" charset="0"/>
              </a:rPr>
              <a:t> </a:t>
            </a:r>
            <a:r>
              <a:rPr lang="en-US" baseline="0" dirty="0" err="1">
                <a:latin typeface="Times New Roman" pitchFamily="18" charset="0"/>
                <a:cs typeface="Times New Roman" pitchFamily="18" charset="0"/>
              </a:rPr>
              <a:t>dao</a:t>
            </a:r>
            <a:r>
              <a:rPr lang="en-US" baseline="0" dirty="0">
                <a:latin typeface="Times New Roman" pitchFamily="18" charset="0"/>
                <a:cs typeface="Times New Roman" pitchFamily="18" charset="0"/>
              </a:rPr>
              <a:t> </a:t>
            </a:r>
            <a:r>
              <a:rPr lang="en-US" baseline="0" dirty="0" err="1">
                <a:latin typeface="Times New Roman" pitchFamily="18" charset="0"/>
                <a:cs typeface="Times New Roman" pitchFamily="18" charset="0"/>
              </a:rPr>
              <a:t>động</a:t>
            </a:r>
            <a:r>
              <a:rPr lang="en-US" baseline="0" dirty="0">
                <a:latin typeface="Times New Roman" pitchFamily="18" charset="0"/>
                <a:cs typeface="Times New Roman" pitchFamily="18" charset="0"/>
              </a:rPr>
              <a:t> </a:t>
            </a:r>
            <a:r>
              <a:rPr lang="en-US" baseline="0" dirty="0" err="1">
                <a:latin typeface="Times New Roman" pitchFamily="18" charset="0"/>
                <a:cs typeface="Times New Roman" pitchFamily="18" charset="0"/>
              </a:rPr>
              <a:t>tinh</a:t>
            </a:r>
            <a:r>
              <a:rPr lang="en-US" baseline="0" dirty="0">
                <a:latin typeface="Times New Roman" pitchFamily="18" charset="0"/>
                <a:cs typeface="Times New Roman" pitchFamily="18" charset="0"/>
              </a:rPr>
              <a:t> </a:t>
            </a:r>
            <a:r>
              <a:rPr lang="en-US" baseline="0" dirty="0" err="1">
                <a:latin typeface="Times New Roman" pitchFamily="18" charset="0"/>
                <a:cs typeface="Times New Roman" pitchFamily="18" charset="0"/>
              </a:rPr>
              <a:t>thể</a:t>
            </a:r>
            <a:endParaRPr lang="en-US" baseline="0" dirty="0">
              <a:latin typeface="Times New Roman" pitchFamily="18" charset="0"/>
              <a:cs typeface="Times New Roman" pitchFamily="18" charset="0"/>
            </a:endParaRPr>
          </a:p>
          <a:p>
            <a:r>
              <a:rPr lang="en-US" baseline="0" dirty="0">
                <a:latin typeface="Times New Roman" pitchFamily="18" charset="0"/>
                <a:cs typeface="Times New Roman" pitchFamily="18" charset="0"/>
              </a:rPr>
              <a:t>Pulse : </a:t>
            </a:r>
            <a:r>
              <a:rPr lang="en-US" baseline="0" dirty="0" err="1">
                <a:latin typeface="Times New Roman" pitchFamily="18" charset="0"/>
                <a:cs typeface="Times New Roman" pitchFamily="18" charset="0"/>
              </a:rPr>
              <a:t>xung</a:t>
            </a:r>
            <a:r>
              <a:rPr lang="en-US" baseline="0" dirty="0">
                <a:latin typeface="Times New Roman" pitchFamily="18" charset="0"/>
                <a:cs typeface="Times New Roman" pitchFamily="18" charset="0"/>
              </a:rPr>
              <a:t> </a:t>
            </a:r>
            <a:r>
              <a:rPr lang="en-US" baseline="0" dirty="0" err="1">
                <a:latin typeface="Times New Roman" pitchFamily="18" charset="0"/>
                <a:cs typeface="Times New Roman" pitchFamily="18" charset="0"/>
              </a:rPr>
              <a:t>nhịp</a:t>
            </a:r>
            <a:endParaRPr lang="en-US" baseline="0" dirty="0">
              <a:latin typeface="Times New Roman" pitchFamily="18" charset="0"/>
              <a:cs typeface="Times New Roman" pitchFamily="18" charset="0"/>
            </a:endParaRPr>
          </a:p>
          <a:p>
            <a:r>
              <a:rPr lang="en-US" baseline="0" dirty="0" err="1">
                <a:latin typeface="Times New Roman" pitchFamily="18" charset="0"/>
                <a:cs typeface="Times New Roman" pitchFamily="18" charset="0"/>
              </a:rPr>
              <a:t>Phiến</a:t>
            </a:r>
            <a:r>
              <a:rPr lang="en-US" baseline="0" dirty="0">
                <a:latin typeface="Times New Roman" pitchFamily="18" charset="0"/>
                <a:cs typeface="Times New Roman" pitchFamily="18" charset="0"/>
              </a:rPr>
              <a:t> </a:t>
            </a:r>
            <a:r>
              <a:rPr lang="en-US" baseline="0" dirty="0" err="1">
                <a:latin typeface="Times New Roman" pitchFamily="18" charset="0"/>
                <a:cs typeface="Times New Roman" pitchFamily="18" charset="0"/>
              </a:rPr>
              <a:t>thạch</a:t>
            </a:r>
            <a:r>
              <a:rPr lang="en-US" baseline="0" dirty="0">
                <a:latin typeface="Times New Roman" pitchFamily="18" charset="0"/>
                <a:cs typeface="Times New Roman" pitchFamily="18" charset="0"/>
              </a:rPr>
              <a:t> </a:t>
            </a:r>
            <a:r>
              <a:rPr lang="en-US" baseline="0" dirty="0" err="1">
                <a:latin typeface="Times New Roman" pitchFamily="18" charset="0"/>
                <a:cs typeface="Times New Roman" pitchFamily="18" charset="0"/>
              </a:rPr>
              <a:t>anh</a:t>
            </a:r>
            <a:r>
              <a:rPr lang="en-US" baseline="0" dirty="0">
                <a:latin typeface="Times New Roman" pitchFamily="18" charset="0"/>
                <a:cs typeface="Times New Roman" pitchFamily="18" charset="0"/>
              </a:rPr>
              <a:t> (SiO</a:t>
            </a:r>
            <a:r>
              <a:rPr lang="en-US" baseline="-25000" dirty="0">
                <a:latin typeface="Times New Roman" pitchFamily="18" charset="0"/>
                <a:cs typeface="Times New Roman" pitchFamily="18" charset="0"/>
              </a:rPr>
              <a:t>2</a:t>
            </a:r>
            <a:r>
              <a:rPr lang="en-US" baseline="0" dirty="0">
                <a:latin typeface="Times New Roman" pitchFamily="18" charset="0"/>
                <a:cs typeface="Times New Roman" pitchFamily="18" charset="0"/>
              </a:rPr>
              <a:t>) </a:t>
            </a:r>
            <a:r>
              <a:rPr lang="en-US" baseline="0" dirty="0" err="1">
                <a:latin typeface="Times New Roman" pitchFamily="18" charset="0"/>
                <a:cs typeface="Times New Roman" pitchFamily="18" charset="0"/>
              </a:rPr>
              <a:t>mỏng</a:t>
            </a:r>
            <a:r>
              <a:rPr lang="en-US" baseline="0" dirty="0">
                <a:latin typeface="Times New Roman" pitchFamily="18" charset="0"/>
                <a:cs typeface="Times New Roman" pitchFamily="18" charset="0"/>
              </a:rPr>
              <a:t> </a:t>
            </a:r>
            <a:r>
              <a:rPr lang="en-US" baseline="0" dirty="0" err="1">
                <a:latin typeface="Times New Roman" pitchFamily="18" charset="0"/>
                <a:cs typeface="Times New Roman" pitchFamily="18" charset="0"/>
              </a:rPr>
              <a:t>sẽ</a:t>
            </a:r>
            <a:r>
              <a:rPr lang="en-US" baseline="0" dirty="0">
                <a:latin typeface="Times New Roman" pitchFamily="18" charset="0"/>
                <a:cs typeface="Times New Roman" pitchFamily="18" charset="0"/>
              </a:rPr>
              <a:t> rung </a:t>
            </a:r>
            <a:r>
              <a:rPr lang="en-US" baseline="0" dirty="0" err="1">
                <a:latin typeface="Times New Roman" pitchFamily="18" charset="0"/>
                <a:cs typeface="Times New Roman" pitchFamily="18" charset="0"/>
              </a:rPr>
              <a:t>lên</a:t>
            </a:r>
            <a:r>
              <a:rPr lang="en-US" baseline="0" dirty="0">
                <a:latin typeface="Times New Roman" pitchFamily="18" charset="0"/>
                <a:cs typeface="Times New Roman" pitchFamily="18" charset="0"/>
              </a:rPr>
              <a:t> </a:t>
            </a:r>
            <a:r>
              <a:rPr lang="en-US" baseline="0" dirty="0" err="1">
                <a:latin typeface="Times New Roman" pitchFamily="18" charset="0"/>
                <a:cs typeface="Times New Roman" pitchFamily="18" charset="0"/>
              </a:rPr>
              <a:t>khi</a:t>
            </a:r>
            <a:r>
              <a:rPr lang="en-US" baseline="0" dirty="0">
                <a:latin typeface="Times New Roman" pitchFamily="18" charset="0"/>
                <a:cs typeface="Times New Roman" pitchFamily="18" charset="0"/>
              </a:rPr>
              <a:t> </a:t>
            </a:r>
            <a:r>
              <a:rPr lang="en-US" baseline="0" dirty="0" err="1">
                <a:latin typeface="Times New Roman" pitchFamily="18" charset="0"/>
                <a:cs typeface="Times New Roman" pitchFamily="18" charset="0"/>
              </a:rPr>
              <a:t>bị</a:t>
            </a:r>
            <a:r>
              <a:rPr lang="en-US" baseline="0" dirty="0">
                <a:latin typeface="Times New Roman" pitchFamily="18" charset="0"/>
                <a:cs typeface="Times New Roman" pitchFamily="18" charset="0"/>
              </a:rPr>
              <a:t> </a:t>
            </a:r>
            <a:r>
              <a:rPr lang="en-US" baseline="0" dirty="0" err="1">
                <a:latin typeface="Times New Roman" pitchFamily="18" charset="0"/>
                <a:cs typeface="Times New Roman" pitchFamily="18" charset="0"/>
              </a:rPr>
              <a:t>áp</a:t>
            </a:r>
            <a:r>
              <a:rPr lang="en-US" baseline="0" dirty="0">
                <a:latin typeface="Times New Roman" pitchFamily="18" charset="0"/>
                <a:cs typeface="Times New Roman" pitchFamily="18" charset="0"/>
              </a:rPr>
              <a:t> </a:t>
            </a:r>
            <a:r>
              <a:rPr lang="en-US" baseline="0" dirty="0" err="1">
                <a:latin typeface="Times New Roman" pitchFamily="18" charset="0"/>
                <a:cs typeface="Times New Roman" pitchFamily="18" charset="0"/>
              </a:rPr>
              <a:t>đặt</a:t>
            </a:r>
            <a:r>
              <a:rPr lang="en-US" baseline="0" dirty="0">
                <a:latin typeface="Times New Roman" pitchFamily="18" charset="0"/>
                <a:cs typeface="Times New Roman" pitchFamily="18" charset="0"/>
              </a:rPr>
              <a:t> </a:t>
            </a:r>
            <a:r>
              <a:rPr lang="en-US" baseline="0" dirty="0" err="1">
                <a:latin typeface="Times New Roman" pitchFamily="18" charset="0"/>
                <a:cs typeface="Times New Roman" pitchFamily="18" charset="0"/>
              </a:rPr>
              <a:t>bởi</a:t>
            </a:r>
            <a:r>
              <a:rPr lang="en-US" baseline="0" dirty="0">
                <a:latin typeface="Times New Roman" pitchFamily="18" charset="0"/>
                <a:cs typeface="Times New Roman" pitchFamily="18" charset="0"/>
              </a:rPr>
              <a:t> </a:t>
            </a:r>
            <a:r>
              <a:rPr lang="en-US" baseline="0" dirty="0" err="1">
                <a:latin typeface="Times New Roman" pitchFamily="18" charset="0"/>
                <a:cs typeface="Times New Roman" pitchFamily="18" charset="0"/>
              </a:rPr>
              <a:t>một</a:t>
            </a:r>
            <a:r>
              <a:rPr lang="en-US" baseline="0" dirty="0">
                <a:latin typeface="Times New Roman" pitchFamily="18" charset="0"/>
                <a:cs typeface="Times New Roman" pitchFamily="18" charset="0"/>
              </a:rPr>
              <a:t> </a:t>
            </a:r>
            <a:r>
              <a:rPr lang="en-US" baseline="0" dirty="0" err="1">
                <a:latin typeface="Times New Roman" pitchFamily="18" charset="0"/>
                <a:cs typeface="Times New Roman" pitchFamily="18" charset="0"/>
              </a:rPr>
              <a:t>điện</a:t>
            </a:r>
            <a:r>
              <a:rPr lang="en-US" baseline="0" dirty="0">
                <a:latin typeface="Times New Roman" pitchFamily="18" charset="0"/>
                <a:cs typeface="Times New Roman" pitchFamily="18" charset="0"/>
              </a:rPr>
              <a:t> </a:t>
            </a:r>
            <a:r>
              <a:rPr lang="en-US" baseline="0" dirty="0" err="1">
                <a:latin typeface="Times New Roman" pitchFamily="18" charset="0"/>
                <a:cs typeface="Times New Roman" pitchFamily="18" charset="0"/>
              </a:rPr>
              <a:t>áp</a:t>
            </a:r>
            <a:r>
              <a:rPr lang="en-US" baseline="0" dirty="0">
                <a:latin typeface="Times New Roman" pitchFamily="18" charset="0"/>
                <a:cs typeface="Times New Roman" pitchFamily="18" charset="0"/>
              </a:rPr>
              <a:t>. </a:t>
            </a:r>
            <a:r>
              <a:rPr lang="en-US" baseline="0" dirty="0" err="1">
                <a:latin typeface="Times New Roman" pitchFamily="18" charset="0"/>
                <a:cs typeface="Times New Roman" pitchFamily="18" charset="0"/>
              </a:rPr>
              <a:t>Tấm</a:t>
            </a:r>
            <a:r>
              <a:rPr lang="en-US" baseline="0" dirty="0">
                <a:latin typeface="Times New Roman" pitchFamily="18" charset="0"/>
                <a:cs typeface="Times New Roman" pitchFamily="18" charset="0"/>
              </a:rPr>
              <a:t> </a:t>
            </a:r>
            <a:r>
              <a:rPr lang="en-US" baseline="0" dirty="0" err="1">
                <a:latin typeface="Times New Roman" pitchFamily="18" charset="0"/>
                <a:cs typeface="Times New Roman" pitchFamily="18" charset="0"/>
              </a:rPr>
              <a:t>càng</a:t>
            </a:r>
            <a:r>
              <a:rPr lang="en-US" baseline="0" dirty="0">
                <a:latin typeface="Times New Roman" pitchFamily="18" charset="0"/>
                <a:cs typeface="Times New Roman" pitchFamily="18" charset="0"/>
              </a:rPr>
              <a:t> </a:t>
            </a:r>
            <a:r>
              <a:rPr lang="en-US" baseline="0" dirty="0" err="1">
                <a:latin typeface="Times New Roman" pitchFamily="18" charset="0"/>
                <a:cs typeface="Times New Roman" pitchFamily="18" charset="0"/>
              </a:rPr>
              <a:t>mỏng</a:t>
            </a:r>
            <a:r>
              <a:rPr lang="en-US" baseline="0" dirty="0">
                <a:latin typeface="Times New Roman" pitchFamily="18" charset="0"/>
                <a:cs typeface="Times New Roman" pitchFamily="18" charset="0"/>
              </a:rPr>
              <a:t> </a:t>
            </a:r>
            <a:r>
              <a:rPr lang="en-US" baseline="0" dirty="0" err="1">
                <a:latin typeface="Times New Roman" pitchFamily="18" charset="0"/>
                <a:cs typeface="Times New Roman" pitchFamily="18" charset="0"/>
              </a:rPr>
              <a:t>thì</a:t>
            </a:r>
            <a:r>
              <a:rPr lang="en-US" baseline="0" dirty="0">
                <a:latin typeface="Times New Roman" pitchFamily="18" charset="0"/>
                <a:cs typeface="Times New Roman" pitchFamily="18" charset="0"/>
              </a:rPr>
              <a:t> </a:t>
            </a:r>
            <a:r>
              <a:rPr lang="en-US" baseline="0" dirty="0" err="1">
                <a:latin typeface="Times New Roman" pitchFamily="18" charset="0"/>
                <a:cs typeface="Times New Roman" pitchFamily="18" charset="0"/>
              </a:rPr>
              <a:t>tần</a:t>
            </a:r>
            <a:r>
              <a:rPr lang="en-US" baseline="0" dirty="0">
                <a:latin typeface="Times New Roman" pitchFamily="18" charset="0"/>
                <a:cs typeface="Times New Roman" pitchFamily="18" charset="0"/>
              </a:rPr>
              <a:t> </a:t>
            </a:r>
            <a:r>
              <a:rPr lang="en-US" baseline="0" dirty="0" err="1">
                <a:latin typeface="Times New Roman" pitchFamily="18" charset="0"/>
                <a:cs typeface="Times New Roman" pitchFamily="18" charset="0"/>
              </a:rPr>
              <a:t>số</a:t>
            </a:r>
            <a:r>
              <a:rPr lang="en-US" baseline="0" dirty="0">
                <a:latin typeface="Times New Roman" pitchFamily="18" charset="0"/>
                <a:cs typeface="Times New Roman" pitchFamily="18" charset="0"/>
              </a:rPr>
              <a:t> rung </a:t>
            </a:r>
            <a:r>
              <a:rPr lang="en-US" baseline="0" dirty="0" err="1">
                <a:latin typeface="Times New Roman" pitchFamily="18" charset="0"/>
                <a:cs typeface="Times New Roman" pitchFamily="18" charset="0"/>
              </a:rPr>
              <a:t>càng</a:t>
            </a:r>
            <a:r>
              <a:rPr lang="en-US" baseline="0" dirty="0">
                <a:latin typeface="Times New Roman" pitchFamily="18" charset="0"/>
                <a:cs typeface="Times New Roman" pitchFamily="18" charset="0"/>
              </a:rPr>
              <a:t> </a:t>
            </a:r>
            <a:r>
              <a:rPr lang="en-US" baseline="0" dirty="0" err="1">
                <a:latin typeface="Times New Roman" pitchFamily="18" charset="0"/>
                <a:cs typeface="Times New Roman" pitchFamily="18" charset="0"/>
              </a:rPr>
              <a:t>cao</a:t>
            </a:r>
            <a:r>
              <a:rPr lang="en-US" baseline="0" dirty="0">
                <a:latin typeface="Times New Roman" pitchFamily="18" charset="0"/>
                <a:cs typeface="Times New Roman" pitchFamily="18" charset="0"/>
              </a:rPr>
              <a:t>. </a:t>
            </a:r>
            <a:r>
              <a:rPr lang="en-US" baseline="0" dirty="0" err="1">
                <a:latin typeface="Times New Roman" pitchFamily="18" charset="0"/>
                <a:cs typeface="Times New Roman" pitchFamily="18" charset="0"/>
              </a:rPr>
              <a:t>Tần</a:t>
            </a:r>
            <a:r>
              <a:rPr lang="en-US" baseline="0" dirty="0">
                <a:latin typeface="Times New Roman" pitchFamily="18" charset="0"/>
                <a:cs typeface="Times New Roman" pitchFamily="18" charset="0"/>
              </a:rPr>
              <a:t> </a:t>
            </a:r>
            <a:r>
              <a:rPr lang="en-US" baseline="0" dirty="0" err="1">
                <a:latin typeface="Times New Roman" pitchFamily="18" charset="0"/>
                <a:cs typeface="Times New Roman" pitchFamily="18" charset="0"/>
              </a:rPr>
              <a:t>số</a:t>
            </a:r>
            <a:r>
              <a:rPr lang="en-US" baseline="0" dirty="0">
                <a:latin typeface="Times New Roman" pitchFamily="18" charset="0"/>
                <a:cs typeface="Times New Roman" pitchFamily="18" charset="0"/>
              </a:rPr>
              <a:t> </a:t>
            </a:r>
            <a:r>
              <a:rPr lang="en-US" baseline="0" dirty="0" err="1">
                <a:latin typeface="Times New Roman" pitchFamily="18" charset="0"/>
                <a:cs typeface="Times New Roman" pitchFamily="18" charset="0"/>
              </a:rPr>
              <a:t>khá</a:t>
            </a:r>
            <a:r>
              <a:rPr lang="en-US" baseline="0" dirty="0">
                <a:latin typeface="Times New Roman" pitchFamily="18" charset="0"/>
                <a:cs typeface="Times New Roman" pitchFamily="18" charset="0"/>
              </a:rPr>
              <a:t> </a:t>
            </a:r>
            <a:r>
              <a:rPr lang="en-US" baseline="0" dirty="0" err="1">
                <a:latin typeface="Times New Roman" pitchFamily="18" charset="0"/>
                <a:cs typeface="Times New Roman" pitchFamily="18" charset="0"/>
              </a:rPr>
              <a:t>ổn</a:t>
            </a:r>
            <a:r>
              <a:rPr lang="en-US" baseline="0" dirty="0">
                <a:latin typeface="Times New Roman" pitchFamily="18" charset="0"/>
                <a:cs typeface="Times New Roman" pitchFamily="18" charset="0"/>
              </a:rPr>
              <a:t> </a:t>
            </a:r>
            <a:r>
              <a:rPr lang="en-US" baseline="0" dirty="0" err="1">
                <a:latin typeface="Times New Roman" pitchFamily="18" charset="0"/>
                <a:cs typeface="Times New Roman" pitchFamily="18" charset="0"/>
              </a:rPr>
              <a:t>định</a:t>
            </a:r>
            <a:endParaRPr lang="en-US" dirty="0">
              <a:latin typeface="Times New Roman" pitchFamily="18" charset="0"/>
              <a:cs typeface="Times New Roman" pitchFamily="18" charset="0"/>
            </a:endParaRP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Operations performed by a processor, such as fetching an</a:t>
            </a:r>
          </a:p>
          <a:p>
            <a:r>
              <a:rPr kumimoji="1" lang="en-US" sz="1200" kern="1200" baseline="0" dirty="0">
                <a:solidFill>
                  <a:schemeClr val="tx1"/>
                </a:solidFill>
                <a:latin typeface="Times New Roman" pitchFamily="-110" charset="0"/>
                <a:ea typeface="+mn-ea"/>
                <a:cs typeface="+mn-cs"/>
              </a:rPr>
              <a:t>instruction, decoding the instruction, performing an arithmetic operation, and so</a:t>
            </a:r>
          </a:p>
          <a:p>
            <a:r>
              <a:rPr kumimoji="1" lang="en-US" sz="1200" kern="1200" baseline="0" dirty="0">
                <a:solidFill>
                  <a:schemeClr val="tx1"/>
                </a:solidFill>
                <a:latin typeface="Times New Roman" pitchFamily="-110" charset="0"/>
                <a:ea typeface="+mn-ea"/>
                <a:cs typeface="+mn-cs"/>
              </a:rPr>
              <a:t>on, are governed by a system clock. Typically, all operations begin with the pulse of</a:t>
            </a:r>
          </a:p>
          <a:p>
            <a:r>
              <a:rPr kumimoji="1" lang="en-US" sz="1200" kern="1200" baseline="0" dirty="0">
                <a:solidFill>
                  <a:schemeClr val="tx1"/>
                </a:solidFill>
                <a:latin typeface="Times New Roman" pitchFamily="-110" charset="0"/>
                <a:ea typeface="+mn-ea"/>
                <a:cs typeface="+mn-cs"/>
              </a:rPr>
              <a:t>the clock. Thus, at the most fundamental level, the speed of a processor is dictated</a:t>
            </a:r>
          </a:p>
          <a:p>
            <a:r>
              <a:rPr kumimoji="1" lang="en-US" sz="1200" kern="1200" baseline="0" dirty="0">
                <a:solidFill>
                  <a:schemeClr val="tx1"/>
                </a:solidFill>
                <a:latin typeface="Times New Roman" pitchFamily="-110" charset="0"/>
                <a:ea typeface="+mn-ea"/>
                <a:cs typeface="+mn-cs"/>
              </a:rPr>
              <a:t>by the pulse frequency produced by the clock, measured in cycles per second, or</a:t>
            </a:r>
          </a:p>
          <a:p>
            <a:r>
              <a:rPr kumimoji="1" lang="en-US" sz="1200" kern="1200" baseline="0" dirty="0">
                <a:solidFill>
                  <a:schemeClr val="tx1"/>
                </a:solidFill>
                <a:latin typeface="Times New Roman" pitchFamily="-110" charset="0"/>
                <a:ea typeface="+mn-ea"/>
                <a:cs typeface="+mn-cs"/>
              </a:rPr>
              <a:t>Hertz (Hz).</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Typically, clock signals are generated by a quartz crystal, which generates a</a:t>
            </a:r>
          </a:p>
          <a:p>
            <a:r>
              <a:rPr kumimoji="1" lang="en-US" sz="1200" kern="1200" baseline="0" dirty="0">
                <a:solidFill>
                  <a:schemeClr val="tx1"/>
                </a:solidFill>
                <a:latin typeface="Times New Roman" pitchFamily="-110" charset="0"/>
                <a:ea typeface="+mn-ea"/>
                <a:cs typeface="+mn-cs"/>
              </a:rPr>
              <a:t>constant signal wave while power is applied. This wave is converted into a digital</a:t>
            </a:r>
          </a:p>
          <a:p>
            <a:r>
              <a:rPr kumimoji="1" lang="en-US" sz="1200" kern="1200" baseline="0" dirty="0">
                <a:solidFill>
                  <a:schemeClr val="tx1"/>
                </a:solidFill>
                <a:latin typeface="Times New Roman" pitchFamily="-110" charset="0"/>
                <a:ea typeface="+mn-ea"/>
                <a:cs typeface="+mn-cs"/>
              </a:rPr>
              <a:t>voltage pulse stream that is provided in a constant flow to the processor circuitry</a:t>
            </a:r>
          </a:p>
          <a:p>
            <a:r>
              <a:rPr kumimoji="1" lang="en-US" sz="1200" kern="1200" baseline="0" dirty="0">
                <a:solidFill>
                  <a:schemeClr val="tx1"/>
                </a:solidFill>
                <a:latin typeface="Times New Roman" pitchFamily="-110" charset="0"/>
                <a:ea typeface="+mn-ea"/>
                <a:cs typeface="+mn-cs"/>
              </a:rPr>
              <a:t>(Figure 2.13). For example, a 1-GHz processor receives 1 billion pulses per second.</a:t>
            </a:r>
          </a:p>
          <a:p>
            <a:r>
              <a:rPr kumimoji="1" lang="en-US" sz="1200" kern="1200" baseline="0" dirty="0">
                <a:solidFill>
                  <a:schemeClr val="tx1"/>
                </a:solidFill>
                <a:latin typeface="Times New Roman" pitchFamily="-110" charset="0"/>
                <a:ea typeface="+mn-ea"/>
                <a:cs typeface="+mn-cs"/>
              </a:rPr>
              <a:t>The rate of pulses is known as the </a:t>
            </a:r>
            <a:r>
              <a:rPr kumimoji="1" lang="en-US" sz="1200" b="1" kern="1200" baseline="0" dirty="0">
                <a:solidFill>
                  <a:schemeClr val="tx1"/>
                </a:solidFill>
                <a:latin typeface="Times New Roman" pitchFamily="-110" charset="0"/>
                <a:ea typeface="+mn-ea"/>
                <a:cs typeface="+mn-cs"/>
              </a:rPr>
              <a:t>clock rate, or clock speed. </a:t>
            </a:r>
            <a:r>
              <a:rPr kumimoji="1" lang="en-US" sz="1200" b="0" kern="1200" baseline="0" dirty="0">
                <a:solidFill>
                  <a:schemeClr val="tx1"/>
                </a:solidFill>
                <a:latin typeface="Times New Roman" pitchFamily="-110" charset="0"/>
                <a:ea typeface="+mn-ea"/>
                <a:cs typeface="+mn-cs"/>
              </a:rPr>
              <a:t>One increment, or</a:t>
            </a:r>
          </a:p>
          <a:p>
            <a:r>
              <a:rPr kumimoji="1" lang="en-US" sz="1200" b="0" kern="1200" baseline="0" dirty="0">
                <a:solidFill>
                  <a:schemeClr val="tx1"/>
                </a:solidFill>
                <a:latin typeface="Times New Roman" pitchFamily="-110" charset="0"/>
                <a:ea typeface="+mn-ea"/>
                <a:cs typeface="+mn-cs"/>
              </a:rPr>
              <a:t>pulse, of the clock is referred to as a clock cycle, or a clock tick. The time between</a:t>
            </a:r>
          </a:p>
          <a:p>
            <a:r>
              <a:rPr kumimoji="1" lang="en-US" sz="1200" kern="1200" baseline="0" dirty="0">
                <a:solidFill>
                  <a:schemeClr val="tx1"/>
                </a:solidFill>
                <a:latin typeface="Times New Roman" pitchFamily="-110" charset="0"/>
                <a:ea typeface="+mn-ea"/>
                <a:cs typeface="+mn-cs"/>
              </a:rPr>
              <a:t>pulses is the </a:t>
            </a:r>
            <a:r>
              <a:rPr kumimoji="1" lang="en-US" sz="1200" b="1" kern="1200" baseline="0" dirty="0">
                <a:solidFill>
                  <a:schemeClr val="tx1"/>
                </a:solidFill>
                <a:latin typeface="Times New Roman" pitchFamily="-110" charset="0"/>
                <a:ea typeface="+mn-ea"/>
                <a:cs typeface="+mn-cs"/>
              </a:rPr>
              <a:t>cycle time.</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The clock rate is not arbitrary, but must be appropriate for the physical layout</a:t>
            </a:r>
          </a:p>
          <a:p>
            <a:r>
              <a:rPr kumimoji="1" lang="en-US" sz="1200" kern="1200" baseline="0" dirty="0">
                <a:solidFill>
                  <a:schemeClr val="tx1"/>
                </a:solidFill>
                <a:latin typeface="Times New Roman" pitchFamily="-110" charset="0"/>
                <a:ea typeface="+mn-ea"/>
                <a:cs typeface="+mn-cs"/>
              </a:rPr>
              <a:t>of the processor. Actions in the processor require signals to be sent from one processor</a:t>
            </a:r>
          </a:p>
          <a:p>
            <a:r>
              <a:rPr kumimoji="1" lang="en-US" sz="1200" kern="1200" baseline="0" dirty="0">
                <a:solidFill>
                  <a:schemeClr val="tx1"/>
                </a:solidFill>
                <a:latin typeface="Times New Roman" pitchFamily="-110" charset="0"/>
                <a:ea typeface="+mn-ea"/>
                <a:cs typeface="+mn-cs"/>
              </a:rPr>
              <a:t>element to another. When a signal is placed on a line inside the processor, it</a:t>
            </a:r>
          </a:p>
          <a:p>
            <a:r>
              <a:rPr kumimoji="1" lang="en-US" sz="1200" kern="1200" baseline="0" dirty="0">
                <a:solidFill>
                  <a:schemeClr val="tx1"/>
                </a:solidFill>
                <a:latin typeface="Times New Roman" pitchFamily="-110" charset="0"/>
                <a:ea typeface="+mn-ea"/>
                <a:cs typeface="+mn-cs"/>
              </a:rPr>
              <a:t>takes some finite amount of time for the voltage levels to settle down so that an</a:t>
            </a:r>
          </a:p>
          <a:p>
            <a:r>
              <a:rPr kumimoji="1" lang="en-US" sz="1200" kern="1200" baseline="0" dirty="0">
                <a:solidFill>
                  <a:schemeClr val="tx1"/>
                </a:solidFill>
                <a:latin typeface="Times New Roman" pitchFamily="-110" charset="0"/>
                <a:ea typeface="+mn-ea"/>
                <a:cs typeface="+mn-cs"/>
              </a:rPr>
              <a:t>accurate value (1 or 0) is available. Furthermore, depending on the physical layout</a:t>
            </a:r>
          </a:p>
          <a:p>
            <a:r>
              <a:rPr kumimoji="1" lang="en-US" sz="1200" kern="1200" baseline="0" dirty="0">
                <a:solidFill>
                  <a:schemeClr val="tx1"/>
                </a:solidFill>
                <a:latin typeface="Times New Roman" pitchFamily="-110" charset="0"/>
                <a:ea typeface="+mn-ea"/>
                <a:cs typeface="+mn-cs"/>
              </a:rPr>
              <a:t>of the processor circuits, some signals may change more rapidly than others. Thus,</a:t>
            </a:r>
          </a:p>
          <a:p>
            <a:r>
              <a:rPr kumimoji="1" lang="en-US" sz="1200" kern="1200" baseline="0" dirty="0">
                <a:solidFill>
                  <a:schemeClr val="tx1"/>
                </a:solidFill>
                <a:latin typeface="Times New Roman" pitchFamily="-110" charset="0"/>
                <a:ea typeface="+mn-ea"/>
                <a:cs typeface="+mn-cs"/>
              </a:rPr>
              <a:t>operations must be synchronized and paced so that the proper electrical signal</a:t>
            </a:r>
          </a:p>
          <a:p>
            <a:r>
              <a:rPr kumimoji="1" lang="en-US" sz="1200" kern="1200" baseline="0" dirty="0">
                <a:solidFill>
                  <a:schemeClr val="tx1"/>
                </a:solidFill>
                <a:latin typeface="Times New Roman" pitchFamily="-110" charset="0"/>
                <a:ea typeface="+mn-ea"/>
                <a:cs typeface="+mn-cs"/>
              </a:rPr>
              <a:t>(voltage) values are available for each operation.</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The execution of an instruction involves a number of discrete steps, such</a:t>
            </a:r>
          </a:p>
          <a:p>
            <a:r>
              <a:rPr kumimoji="1" lang="en-US" sz="1200" kern="1200" baseline="0" dirty="0">
                <a:solidFill>
                  <a:schemeClr val="tx1"/>
                </a:solidFill>
                <a:latin typeface="Times New Roman" pitchFamily="-110" charset="0"/>
                <a:ea typeface="+mn-ea"/>
                <a:cs typeface="+mn-cs"/>
              </a:rPr>
              <a:t>as fetching the instruction from memory, decoding the various portions of the</a:t>
            </a:r>
          </a:p>
          <a:p>
            <a:r>
              <a:rPr kumimoji="1" lang="en-US" sz="1200" kern="1200" baseline="0" dirty="0">
                <a:solidFill>
                  <a:schemeClr val="tx1"/>
                </a:solidFill>
                <a:latin typeface="Times New Roman" pitchFamily="-110" charset="0"/>
                <a:ea typeface="+mn-ea"/>
                <a:cs typeface="+mn-cs"/>
              </a:rPr>
              <a:t>instruction, loading and storing data, and performing arithmetic and logical operations.</a:t>
            </a:r>
          </a:p>
          <a:p>
            <a:r>
              <a:rPr kumimoji="1" lang="en-US" sz="1200" kern="1200" baseline="0" dirty="0">
                <a:solidFill>
                  <a:schemeClr val="tx1"/>
                </a:solidFill>
                <a:latin typeface="Times New Roman" pitchFamily="-110" charset="0"/>
                <a:ea typeface="+mn-ea"/>
                <a:cs typeface="+mn-cs"/>
              </a:rPr>
              <a:t>Thus, most instructions on most processors require multiple clock cycles to</a:t>
            </a:r>
          </a:p>
          <a:p>
            <a:r>
              <a:rPr kumimoji="1" lang="en-US" sz="1200" kern="1200" baseline="0" dirty="0">
                <a:solidFill>
                  <a:schemeClr val="tx1"/>
                </a:solidFill>
                <a:latin typeface="Times New Roman" pitchFamily="-110" charset="0"/>
                <a:ea typeface="+mn-ea"/>
                <a:cs typeface="+mn-cs"/>
              </a:rPr>
              <a:t>complete. Some instructions may take only a few cycles, while others require dozens.</a:t>
            </a:r>
          </a:p>
          <a:p>
            <a:r>
              <a:rPr kumimoji="1" lang="en-US" sz="1200" kern="1200" baseline="0" dirty="0">
                <a:solidFill>
                  <a:schemeClr val="tx1"/>
                </a:solidFill>
                <a:latin typeface="Times New Roman" pitchFamily="-110" charset="0"/>
                <a:ea typeface="+mn-ea"/>
                <a:cs typeface="+mn-cs"/>
              </a:rPr>
              <a:t>In addition, when pipelining is used, multiple instructions are being executed simultaneously.</a:t>
            </a:r>
          </a:p>
          <a:p>
            <a:r>
              <a:rPr kumimoji="1" lang="en-US" sz="1200" kern="1200" baseline="0" dirty="0">
                <a:solidFill>
                  <a:schemeClr val="tx1"/>
                </a:solidFill>
                <a:latin typeface="Times New Roman" pitchFamily="-110" charset="0"/>
                <a:ea typeface="+mn-ea"/>
                <a:cs typeface="+mn-cs"/>
              </a:rPr>
              <a:t>Thus, a straight comparison of clock speeds on different processors does</a:t>
            </a:r>
          </a:p>
          <a:p>
            <a:r>
              <a:rPr kumimoji="1" lang="en-US" sz="1200" kern="1200" baseline="0" dirty="0">
                <a:solidFill>
                  <a:schemeClr val="tx1"/>
                </a:solidFill>
                <a:latin typeface="Times New Roman" pitchFamily="-110" charset="0"/>
                <a:ea typeface="+mn-ea"/>
                <a:cs typeface="+mn-cs"/>
              </a:rPr>
              <a:t>not tell the whole story about performance.</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53</a:t>
            </a:fld>
            <a:endParaRPr lang="en-US"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54</a:t>
            </a:fld>
            <a:endParaRPr lang="en-US"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55</a:t>
            </a:fld>
            <a:endParaRPr lang="en-US"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r>
              <a:rPr kumimoji="1" lang="en-US" sz="1200" kern="1200" baseline="0" dirty="0">
                <a:solidFill>
                  <a:schemeClr val="tx1"/>
                </a:solidFill>
                <a:latin typeface="Times New Roman" pitchFamily="-110" charset="0"/>
                <a:ea typeface="+mn-ea"/>
                <a:cs typeface="+mn-cs"/>
              </a:rPr>
              <a:t>Measures such as MIPS and MFLOPS have proven inadequate to evaluating the</a:t>
            </a:r>
          </a:p>
          <a:p>
            <a:r>
              <a:rPr kumimoji="1" lang="en-US" sz="1200" kern="1200" baseline="0" dirty="0">
                <a:solidFill>
                  <a:schemeClr val="tx1"/>
                </a:solidFill>
                <a:latin typeface="Times New Roman" pitchFamily="-110" charset="0"/>
                <a:ea typeface="+mn-ea"/>
                <a:cs typeface="+mn-cs"/>
              </a:rPr>
              <a:t>performance of processors. Because of differences in instruction sets, the instruction</a:t>
            </a:r>
          </a:p>
          <a:p>
            <a:r>
              <a:rPr kumimoji="1" lang="en-US" sz="1200" kern="1200" baseline="0" dirty="0">
                <a:solidFill>
                  <a:schemeClr val="tx1"/>
                </a:solidFill>
                <a:latin typeface="Times New Roman" pitchFamily="-110" charset="0"/>
                <a:ea typeface="+mn-ea"/>
                <a:cs typeface="+mn-cs"/>
              </a:rPr>
              <a:t>execution rate is not a valid means of comparing the performance of different</a:t>
            </a:r>
          </a:p>
          <a:p>
            <a:r>
              <a:rPr kumimoji="1" lang="en-US" sz="1200" kern="1200" baseline="0" dirty="0">
                <a:solidFill>
                  <a:schemeClr val="tx1"/>
                </a:solidFill>
                <a:latin typeface="Times New Roman" pitchFamily="-110" charset="0"/>
                <a:ea typeface="+mn-ea"/>
                <a:cs typeface="+mn-cs"/>
              </a:rPr>
              <a:t>architectures.</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For example, consider this high-level language statement:</a:t>
            </a:r>
          </a:p>
          <a:p>
            <a:r>
              <a:rPr kumimoji="1" lang="en-US" sz="1200" kern="1200" baseline="0" dirty="0">
                <a:solidFill>
                  <a:schemeClr val="tx1"/>
                </a:solidFill>
                <a:latin typeface="Times New Roman" pitchFamily="-110" charset="0"/>
                <a:ea typeface="+mn-ea"/>
                <a:cs typeface="+mn-cs"/>
              </a:rPr>
              <a:t>A = B + C /* assume all quantities in main memory */</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With a traditional instruction set architecture, referred to as a complex instruction</a:t>
            </a:r>
          </a:p>
          <a:p>
            <a:r>
              <a:rPr kumimoji="1" lang="en-US" sz="1200" kern="1200" baseline="0" dirty="0">
                <a:solidFill>
                  <a:schemeClr val="tx1"/>
                </a:solidFill>
                <a:latin typeface="Times New Roman" pitchFamily="-110" charset="0"/>
                <a:ea typeface="+mn-ea"/>
                <a:cs typeface="+mn-cs"/>
              </a:rPr>
              <a:t>set computer (CISC), this instruction can be compiled into one processor</a:t>
            </a:r>
          </a:p>
          <a:p>
            <a:r>
              <a:rPr kumimoji="1" lang="en-US" sz="1200" kern="1200" baseline="0" dirty="0">
                <a:solidFill>
                  <a:schemeClr val="tx1"/>
                </a:solidFill>
                <a:latin typeface="Times New Roman" pitchFamily="-110" charset="0"/>
                <a:ea typeface="+mn-ea"/>
                <a:cs typeface="+mn-cs"/>
              </a:rPr>
              <a:t>instruction:</a:t>
            </a:r>
          </a:p>
          <a:p>
            <a:r>
              <a:rPr kumimoji="1" lang="en-US" sz="1200" kern="1200" baseline="0" dirty="0">
                <a:solidFill>
                  <a:schemeClr val="tx1"/>
                </a:solidFill>
                <a:latin typeface="Times New Roman" pitchFamily="-110" charset="0"/>
                <a:ea typeface="+mn-ea"/>
                <a:cs typeface="+mn-cs"/>
              </a:rPr>
              <a:t>add mem(B), mem(C), mem (A)</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On a typical RISC machine, the compilation would look something like this:</a:t>
            </a:r>
          </a:p>
          <a:p>
            <a:r>
              <a:rPr kumimoji="1" lang="en-US" sz="1200" kern="1200" baseline="0" dirty="0">
                <a:solidFill>
                  <a:schemeClr val="tx1"/>
                </a:solidFill>
                <a:latin typeface="Times New Roman" pitchFamily="-110" charset="0"/>
                <a:ea typeface="+mn-ea"/>
                <a:cs typeface="+mn-cs"/>
              </a:rPr>
              <a:t>load mem(B), reg(1);</a:t>
            </a:r>
          </a:p>
          <a:p>
            <a:r>
              <a:rPr kumimoji="1" lang="en-US" sz="1200" kern="1200" baseline="0" dirty="0">
                <a:solidFill>
                  <a:schemeClr val="tx1"/>
                </a:solidFill>
                <a:latin typeface="Times New Roman" pitchFamily="-110" charset="0"/>
                <a:ea typeface="+mn-ea"/>
                <a:cs typeface="+mn-cs"/>
              </a:rPr>
              <a:t>load mem(C), reg(2);</a:t>
            </a:r>
          </a:p>
          <a:p>
            <a:r>
              <a:rPr kumimoji="1" lang="en-US" sz="1200" kern="1200" baseline="0" dirty="0">
                <a:solidFill>
                  <a:schemeClr val="tx1"/>
                </a:solidFill>
                <a:latin typeface="Times New Roman" pitchFamily="-110" charset="0"/>
                <a:ea typeface="+mn-ea"/>
                <a:cs typeface="+mn-cs"/>
              </a:rPr>
              <a:t>add reg(1), reg(2), reg(3);</a:t>
            </a:r>
          </a:p>
          <a:p>
            <a:r>
              <a:rPr kumimoji="1" lang="en-US" sz="1200" kern="1200" baseline="0" dirty="0">
                <a:solidFill>
                  <a:schemeClr val="tx1"/>
                </a:solidFill>
                <a:latin typeface="Times New Roman" pitchFamily="-110" charset="0"/>
                <a:ea typeface="+mn-ea"/>
                <a:cs typeface="+mn-cs"/>
              </a:rPr>
              <a:t>store reg(3), mem (A)</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Because of the nature of the RISC architecture (discussed in Chapter 15),</a:t>
            </a:r>
          </a:p>
          <a:p>
            <a:r>
              <a:rPr kumimoji="1" lang="en-US" sz="1200" kern="1200" baseline="0" dirty="0">
                <a:solidFill>
                  <a:schemeClr val="tx1"/>
                </a:solidFill>
                <a:latin typeface="Times New Roman" pitchFamily="-110" charset="0"/>
                <a:ea typeface="+mn-ea"/>
                <a:cs typeface="+mn-cs"/>
              </a:rPr>
              <a:t>both machines may execute the original high-level language instruction in about the</a:t>
            </a:r>
          </a:p>
          <a:p>
            <a:r>
              <a:rPr kumimoji="1" lang="en-US" sz="1200" kern="1200" baseline="0" dirty="0">
                <a:solidFill>
                  <a:schemeClr val="tx1"/>
                </a:solidFill>
                <a:latin typeface="Times New Roman" pitchFamily="-110" charset="0"/>
                <a:ea typeface="+mn-ea"/>
                <a:cs typeface="+mn-cs"/>
              </a:rPr>
              <a:t>same time. If this example is representative of the two machines, then if the CISC</a:t>
            </a:r>
          </a:p>
          <a:p>
            <a:r>
              <a:rPr kumimoji="1" lang="en-US" sz="1200" kern="1200" baseline="0" dirty="0">
                <a:solidFill>
                  <a:schemeClr val="tx1"/>
                </a:solidFill>
                <a:latin typeface="Times New Roman" pitchFamily="-110" charset="0"/>
                <a:ea typeface="+mn-ea"/>
                <a:cs typeface="+mn-cs"/>
              </a:rPr>
              <a:t>machine is rated at 1 MIPS, the RISC machine would be rated at 4 MIPS. But both</a:t>
            </a:r>
          </a:p>
          <a:p>
            <a:r>
              <a:rPr kumimoji="1" lang="en-US" sz="1200" kern="1200" baseline="0" dirty="0">
                <a:solidFill>
                  <a:schemeClr val="tx1"/>
                </a:solidFill>
                <a:latin typeface="Times New Roman" pitchFamily="-110" charset="0"/>
                <a:ea typeface="+mn-ea"/>
                <a:cs typeface="+mn-cs"/>
              </a:rPr>
              <a:t>do the same amount of high-level language work in the same amount of time.</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Further, the performance of a given processor on a given program may not be</a:t>
            </a:r>
          </a:p>
          <a:p>
            <a:r>
              <a:rPr kumimoji="1" lang="en-US" sz="1200" kern="1200" baseline="0" dirty="0">
                <a:solidFill>
                  <a:schemeClr val="tx1"/>
                </a:solidFill>
                <a:latin typeface="Times New Roman" pitchFamily="-110" charset="0"/>
                <a:ea typeface="+mn-ea"/>
                <a:cs typeface="+mn-cs"/>
              </a:rPr>
              <a:t>useful in determining how that processor will perform on a very different type of</a:t>
            </a:r>
          </a:p>
          <a:p>
            <a:r>
              <a:rPr kumimoji="1" lang="en-US" sz="1200" kern="1200" baseline="0" dirty="0">
                <a:solidFill>
                  <a:schemeClr val="tx1"/>
                </a:solidFill>
                <a:latin typeface="Times New Roman" pitchFamily="-110" charset="0"/>
                <a:ea typeface="+mn-ea"/>
                <a:cs typeface="+mn-cs"/>
              </a:rPr>
              <a:t>application. Accordingly, beginning in the late 1980s and early 1990s, industry and</a:t>
            </a:r>
          </a:p>
          <a:p>
            <a:r>
              <a:rPr kumimoji="1" lang="en-US" sz="1200" kern="1200" baseline="0" dirty="0">
                <a:solidFill>
                  <a:schemeClr val="tx1"/>
                </a:solidFill>
                <a:latin typeface="Times New Roman" pitchFamily="-110" charset="0"/>
                <a:ea typeface="+mn-ea"/>
                <a:cs typeface="+mn-cs"/>
              </a:rPr>
              <a:t>academic interest shifted to measuring the performance of systems using a set of</a:t>
            </a:r>
          </a:p>
          <a:p>
            <a:r>
              <a:rPr kumimoji="1" lang="en-US" sz="1200" kern="1200" baseline="0" dirty="0">
                <a:solidFill>
                  <a:schemeClr val="tx1"/>
                </a:solidFill>
                <a:latin typeface="Times New Roman" pitchFamily="-110" charset="0"/>
                <a:ea typeface="+mn-ea"/>
                <a:cs typeface="+mn-cs"/>
              </a:rPr>
              <a:t>benchmark programs. The same set of programs can be run on different machines</a:t>
            </a:r>
          </a:p>
          <a:p>
            <a:r>
              <a:rPr kumimoji="1" lang="en-US" sz="1200" kern="1200" baseline="0" dirty="0">
                <a:solidFill>
                  <a:schemeClr val="tx1"/>
                </a:solidFill>
                <a:latin typeface="Times New Roman" pitchFamily="-110" charset="0"/>
                <a:ea typeface="+mn-ea"/>
                <a:cs typeface="+mn-cs"/>
              </a:rPr>
              <a:t>and the execution times compared.</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56</a:t>
            </a:fld>
            <a:endParaRPr lang="en-US"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57</a:t>
            </a:fld>
            <a:endParaRPr lang="en-US"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sz="1200" kern="1200" baseline="0" dirty="0">
                <a:solidFill>
                  <a:schemeClr val="tx1"/>
                </a:solidFill>
                <a:latin typeface="Times New Roman" pitchFamily="-110" charset="0"/>
                <a:ea typeface="+mn-ea"/>
                <a:cs typeface="+mn-cs"/>
              </a:rPr>
              <a:t>Desirable : </a:t>
            </a:r>
            <a:r>
              <a:rPr kumimoji="1" lang="en-US" sz="1200" kern="1200" baseline="0" dirty="0" err="1">
                <a:solidFill>
                  <a:schemeClr val="tx1"/>
                </a:solidFill>
                <a:latin typeface="Times New Roman" pitchFamily="-110" charset="0"/>
                <a:ea typeface="+mn-ea"/>
                <a:cs typeface="+mn-cs"/>
              </a:rPr>
              <a:t>mong</a:t>
            </a:r>
            <a:r>
              <a:rPr kumimoji="1" lang="en-US" sz="1200" kern="1200" baseline="0" dirty="0">
                <a:solidFill>
                  <a:schemeClr val="tx1"/>
                </a:solidFill>
                <a:latin typeface="Times New Roman" pitchFamily="-110" charset="0"/>
                <a:ea typeface="+mn-ea"/>
                <a:cs typeface="+mn-cs"/>
              </a:rPr>
              <a:t> </a:t>
            </a:r>
            <a:r>
              <a:rPr kumimoji="1" lang="en-US" sz="1200" kern="1200" baseline="0" dirty="0" err="1">
                <a:solidFill>
                  <a:schemeClr val="tx1"/>
                </a:solidFill>
                <a:latin typeface="Times New Roman" pitchFamily="-110" charset="0"/>
                <a:ea typeface="+mn-ea"/>
                <a:cs typeface="+mn-cs"/>
              </a:rPr>
              <a:t>muốn</a:t>
            </a:r>
            <a:endParaRPr kumimoji="1" lang="en-US" sz="1200" kern="1200" baseline="0" dirty="0">
              <a:solidFill>
                <a:schemeClr val="tx1"/>
              </a:solidFill>
              <a:latin typeface="Times New Roman" pitchFamily="-110" charset="0"/>
              <a:ea typeface="+mn-ea"/>
              <a:cs typeface="+mn-cs"/>
            </a:endParaRP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[WEIC90] lists the following as desirable characteristics of a benchmark</a:t>
            </a:r>
          </a:p>
          <a:p>
            <a:r>
              <a:rPr kumimoji="1" lang="en-US" sz="1200" kern="1200" baseline="0" dirty="0">
                <a:solidFill>
                  <a:schemeClr val="tx1"/>
                </a:solidFill>
                <a:latin typeface="Times New Roman" pitchFamily="-110" charset="0"/>
                <a:ea typeface="+mn-ea"/>
                <a:cs typeface="+mn-cs"/>
              </a:rPr>
              <a:t>program:</a:t>
            </a:r>
          </a:p>
          <a:p>
            <a:endParaRPr kumimoji="1" lang="en-US" sz="1200" b="1" kern="1200" baseline="0" dirty="0">
              <a:solidFill>
                <a:schemeClr val="tx1"/>
              </a:solidFill>
              <a:latin typeface="Times New Roman" pitchFamily="-110" charset="0"/>
              <a:ea typeface="+mn-ea"/>
              <a:cs typeface="+mn-cs"/>
            </a:endParaRPr>
          </a:p>
          <a:p>
            <a:r>
              <a:rPr kumimoji="1" lang="en-US" sz="1200" b="0" kern="1200" baseline="0" dirty="0">
                <a:solidFill>
                  <a:schemeClr val="tx1"/>
                </a:solidFill>
                <a:latin typeface="Times New Roman" pitchFamily="-110" charset="0"/>
                <a:ea typeface="+mn-ea"/>
                <a:cs typeface="+mn-cs"/>
              </a:rPr>
              <a:t>1. It is written in a high-level language, making it portable across different</a:t>
            </a:r>
          </a:p>
          <a:p>
            <a:r>
              <a:rPr kumimoji="1" lang="en-US" sz="1200" b="0" kern="1200" baseline="0" dirty="0">
                <a:solidFill>
                  <a:schemeClr val="tx1"/>
                </a:solidFill>
                <a:latin typeface="Times New Roman" pitchFamily="-110" charset="0"/>
                <a:ea typeface="+mn-ea"/>
                <a:cs typeface="+mn-cs"/>
              </a:rPr>
              <a:t>machines.</a:t>
            </a:r>
          </a:p>
          <a:p>
            <a:endParaRPr kumimoji="1" lang="en-US" sz="1200" b="1" kern="1200" baseline="0" dirty="0">
              <a:solidFill>
                <a:schemeClr val="tx1"/>
              </a:solidFill>
              <a:latin typeface="Times New Roman" pitchFamily="-110" charset="0"/>
              <a:ea typeface="+mn-ea"/>
              <a:cs typeface="+mn-cs"/>
            </a:endParaRPr>
          </a:p>
          <a:p>
            <a:r>
              <a:rPr kumimoji="1" lang="en-US" sz="1200" b="0" kern="1200" baseline="0" dirty="0">
                <a:solidFill>
                  <a:schemeClr val="tx1"/>
                </a:solidFill>
                <a:latin typeface="Times New Roman" pitchFamily="-110" charset="0"/>
                <a:ea typeface="+mn-ea"/>
                <a:cs typeface="+mn-cs"/>
              </a:rPr>
              <a:t>2. It is representative of a particular kind of programming style, such as systems</a:t>
            </a:r>
          </a:p>
          <a:p>
            <a:r>
              <a:rPr kumimoji="1" lang="en-US" sz="1200" kern="1200" baseline="0" dirty="0">
                <a:solidFill>
                  <a:schemeClr val="tx1"/>
                </a:solidFill>
                <a:latin typeface="Times New Roman" pitchFamily="-110" charset="0"/>
                <a:ea typeface="+mn-ea"/>
                <a:cs typeface="+mn-cs"/>
              </a:rPr>
              <a:t>programming, numerical programming, or commercial programming.</a:t>
            </a:r>
          </a:p>
          <a:p>
            <a:endParaRPr kumimoji="1" lang="en-US" sz="1200" b="1" kern="1200" baseline="0" dirty="0">
              <a:solidFill>
                <a:schemeClr val="tx1"/>
              </a:solidFill>
              <a:latin typeface="Times New Roman" pitchFamily="-110" charset="0"/>
              <a:ea typeface="+mn-ea"/>
              <a:cs typeface="+mn-cs"/>
            </a:endParaRPr>
          </a:p>
          <a:p>
            <a:r>
              <a:rPr kumimoji="1" lang="en-US" sz="1200" b="0" kern="1200" baseline="0" dirty="0">
                <a:solidFill>
                  <a:schemeClr val="tx1"/>
                </a:solidFill>
                <a:latin typeface="Times New Roman" pitchFamily="-110" charset="0"/>
                <a:ea typeface="+mn-ea"/>
                <a:cs typeface="+mn-cs"/>
              </a:rPr>
              <a:t>3. It can be measured easily.</a:t>
            </a:r>
          </a:p>
          <a:p>
            <a:endParaRPr kumimoji="1" lang="en-US" sz="1200" b="1" kern="1200" baseline="0" dirty="0">
              <a:solidFill>
                <a:schemeClr val="tx1"/>
              </a:solidFill>
              <a:latin typeface="Times New Roman" pitchFamily="-110" charset="0"/>
              <a:ea typeface="+mn-ea"/>
              <a:cs typeface="+mn-cs"/>
            </a:endParaRPr>
          </a:p>
          <a:p>
            <a:r>
              <a:rPr kumimoji="1" lang="en-US" sz="1200" b="0" kern="1200" baseline="0" dirty="0">
                <a:solidFill>
                  <a:schemeClr val="tx1"/>
                </a:solidFill>
                <a:latin typeface="Times New Roman" pitchFamily="-110" charset="0"/>
                <a:ea typeface="+mn-ea"/>
                <a:cs typeface="+mn-cs"/>
              </a:rPr>
              <a:t>4. It has wide distribution.</a:t>
            </a:r>
          </a:p>
          <a:p>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58</a:t>
            </a:fld>
            <a:endParaRPr lang="en-US"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sz="1200" kern="1200" baseline="0" dirty="0">
                <a:solidFill>
                  <a:schemeClr val="tx1"/>
                </a:solidFill>
                <a:latin typeface="Times New Roman" pitchFamily="-110" charset="0"/>
                <a:ea typeface="+mn-ea"/>
                <a:cs typeface="+mn-cs"/>
              </a:rPr>
              <a:t>Consortium: </a:t>
            </a:r>
            <a:r>
              <a:rPr kumimoji="1" lang="en-US" sz="1200" kern="1200" baseline="0" dirty="0" err="1">
                <a:solidFill>
                  <a:schemeClr val="tx1"/>
                </a:solidFill>
                <a:latin typeface="Times New Roman" pitchFamily="-110" charset="0"/>
                <a:ea typeface="+mn-ea"/>
                <a:cs typeface="+mn-cs"/>
              </a:rPr>
              <a:t>tập</a:t>
            </a:r>
            <a:r>
              <a:rPr kumimoji="1" lang="en-US" sz="1200" kern="1200" baseline="0" dirty="0">
                <a:solidFill>
                  <a:schemeClr val="tx1"/>
                </a:solidFill>
                <a:latin typeface="Times New Roman" pitchFamily="-110" charset="0"/>
                <a:ea typeface="+mn-ea"/>
                <a:cs typeface="+mn-cs"/>
              </a:rPr>
              <a:t> </a:t>
            </a:r>
            <a:r>
              <a:rPr kumimoji="1" lang="en-US" sz="1200" kern="1200" baseline="0" dirty="0" err="1">
                <a:solidFill>
                  <a:schemeClr val="tx1"/>
                </a:solidFill>
                <a:latin typeface="Times New Roman" pitchFamily="-110" charset="0"/>
                <a:ea typeface="+mn-ea"/>
                <a:cs typeface="+mn-cs"/>
              </a:rPr>
              <a:t>đoàn</a:t>
            </a:r>
            <a:endParaRPr kumimoji="1" lang="en-US" sz="1200" kern="1200" baseline="0" dirty="0">
              <a:solidFill>
                <a:schemeClr val="tx1"/>
              </a:solidFill>
              <a:latin typeface="Times New Roman" pitchFamily="-110" charset="0"/>
              <a:ea typeface="+mn-ea"/>
              <a:cs typeface="+mn-cs"/>
            </a:endParaRP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The common need in industry and academic and research</a:t>
            </a:r>
          </a:p>
          <a:p>
            <a:r>
              <a:rPr kumimoji="1" lang="en-US" sz="1200" kern="1200" baseline="0" dirty="0">
                <a:solidFill>
                  <a:schemeClr val="tx1"/>
                </a:solidFill>
                <a:latin typeface="Times New Roman" pitchFamily="-110" charset="0"/>
                <a:ea typeface="+mn-ea"/>
                <a:cs typeface="+mn-cs"/>
              </a:rPr>
              <a:t>communities for generally accepted computer performance measurements has</a:t>
            </a:r>
          </a:p>
          <a:p>
            <a:r>
              <a:rPr kumimoji="1" lang="en-US" sz="1200" kern="1200" baseline="0" dirty="0">
                <a:solidFill>
                  <a:schemeClr val="tx1"/>
                </a:solidFill>
                <a:latin typeface="Times New Roman" pitchFamily="-110" charset="0"/>
                <a:ea typeface="+mn-ea"/>
                <a:cs typeface="+mn-cs"/>
              </a:rPr>
              <a:t>led to the development of standardized benchmark suites. A benchmark suite is a</a:t>
            </a:r>
          </a:p>
          <a:p>
            <a:r>
              <a:rPr kumimoji="1" lang="en-US" sz="1200" kern="1200" baseline="0" dirty="0">
                <a:solidFill>
                  <a:schemeClr val="tx1"/>
                </a:solidFill>
                <a:latin typeface="Times New Roman" pitchFamily="-110" charset="0"/>
                <a:ea typeface="+mn-ea"/>
                <a:cs typeface="+mn-cs"/>
              </a:rPr>
              <a:t>collection of programs, defined in a high-level language, that together attempt to</a:t>
            </a:r>
          </a:p>
          <a:p>
            <a:r>
              <a:rPr kumimoji="1" lang="en-US" sz="1200" kern="1200" baseline="0" dirty="0">
                <a:solidFill>
                  <a:schemeClr val="tx1"/>
                </a:solidFill>
                <a:latin typeface="Times New Roman" pitchFamily="-110" charset="0"/>
                <a:ea typeface="+mn-ea"/>
                <a:cs typeface="+mn-cs"/>
              </a:rPr>
              <a:t>provide a representative test of a computer in a particular application or system</a:t>
            </a:r>
          </a:p>
          <a:p>
            <a:r>
              <a:rPr kumimoji="1" lang="en-US" sz="1200" kern="1200" baseline="0" dirty="0">
                <a:solidFill>
                  <a:schemeClr val="tx1"/>
                </a:solidFill>
                <a:latin typeface="Times New Roman" pitchFamily="-110" charset="0"/>
                <a:ea typeface="+mn-ea"/>
                <a:cs typeface="+mn-cs"/>
              </a:rPr>
              <a:t>programming area. The best known such collection of benchmark suites is defined</a:t>
            </a:r>
          </a:p>
          <a:p>
            <a:r>
              <a:rPr kumimoji="1" lang="en-US" sz="1200" kern="1200" baseline="0" dirty="0">
                <a:solidFill>
                  <a:schemeClr val="tx1"/>
                </a:solidFill>
                <a:latin typeface="Times New Roman" pitchFamily="-110" charset="0"/>
                <a:ea typeface="+mn-ea"/>
                <a:cs typeface="+mn-cs"/>
              </a:rPr>
              <a:t>and maintained by the System Performance Evaluation Corporation (SPEC),</a:t>
            </a:r>
          </a:p>
          <a:p>
            <a:r>
              <a:rPr kumimoji="1" lang="en-US" sz="1200" kern="1200" baseline="0" dirty="0">
                <a:solidFill>
                  <a:schemeClr val="tx1"/>
                </a:solidFill>
                <a:latin typeface="Times New Roman" pitchFamily="-110" charset="0"/>
                <a:ea typeface="+mn-ea"/>
                <a:cs typeface="+mn-cs"/>
              </a:rPr>
              <a:t>an industry consortium. SPEC performance measurements are widely used for</a:t>
            </a:r>
          </a:p>
          <a:p>
            <a:r>
              <a:rPr kumimoji="1" lang="en-US" sz="1200" kern="1200" baseline="0" dirty="0">
                <a:solidFill>
                  <a:schemeClr val="tx1"/>
                </a:solidFill>
                <a:latin typeface="Times New Roman" pitchFamily="-110" charset="0"/>
                <a:ea typeface="+mn-ea"/>
                <a:cs typeface="+mn-cs"/>
              </a:rPr>
              <a:t>comparison and research purposes.</a:t>
            </a:r>
          </a:p>
          <a:p>
            <a:endParaRPr kumimoji="1" lang="en-US" sz="1200" kern="1200" baseline="0" dirty="0">
              <a:solidFill>
                <a:schemeClr val="tx1"/>
              </a:solidFill>
              <a:latin typeface="Times New Roman" pitchFamily="-110" charset="0"/>
              <a:ea typeface="+mn-ea"/>
              <a:cs typeface="+mn-cs"/>
            </a:endParaRPr>
          </a:p>
        </p:txBody>
      </p:sp>
      <p:sp>
        <p:nvSpPr>
          <p:cNvPr id="4" name="Slide Number Placeholder 3"/>
          <p:cNvSpPr>
            <a:spLocks noGrp="1"/>
          </p:cNvSpPr>
          <p:nvPr>
            <p:ph type="sldNum" sz="quarter" idx="10"/>
          </p:nvPr>
        </p:nvSpPr>
        <p:spPr/>
        <p:txBody>
          <a:bodyPr/>
          <a:lstStyle/>
          <a:p>
            <a:fld id="{FDEEBCE0-4A34-3647-9307-E59F6D6CD745}" type="slidenum">
              <a:rPr lang="en-US" smtClean="0"/>
              <a:pPr/>
              <a:t>59</a:t>
            </a:fld>
            <a:endParaRPr lang="en-US"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kumimoji="1" lang="en-US" sz="1200" kern="1200" baseline="0" dirty="0">
                <a:solidFill>
                  <a:schemeClr val="tx1"/>
                </a:solidFill>
                <a:latin typeface="Times New Roman" pitchFamily="-110" charset="0"/>
                <a:ea typeface="+mn-ea"/>
                <a:cs typeface="+mn-cs"/>
              </a:rPr>
              <a:t>The best known of the SPEC benchmark suites is SPEC CPU2006. This is the</a:t>
            </a:r>
          </a:p>
          <a:p>
            <a:r>
              <a:rPr kumimoji="1" lang="en-US" sz="1200" kern="1200" baseline="0" dirty="0">
                <a:solidFill>
                  <a:schemeClr val="tx1"/>
                </a:solidFill>
                <a:latin typeface="Times New Roman" pitchFamily="-110" charset="0"/>
                <a:ea typeface="+mn-ea"/>
                <a:cs typeface="+mn-cs"/>
              </a:rPr>
              <a:t>industry standard suite for processor-intensive applications. That is, SPEC CPU2006 is</a:t>
            </a:r>
          </a:p>
          <a:p>
            <a:r>
              <a:rPr kumimoji="1" lang="en-US" sz="1200" kern="1200" baseline="0" dirty="0">
                <a:solidFill>
                  <a:schemeClr val="tx1"/>
                </a:solidFill>
                <a:latin typeface="Times New Roman" pitchFamily="-110" charset="0"/>
                <a:ea typeface="+mn-ea"/>
                <a:cs typeface="+mn-cs"/>
              </a:rPr>
              <a:t>appropriate for measuring performance for applications that spend most of their time</a:t>
            </a:r>
          </a:p>
          <a:p>
            <a:r>
              <a:rPr kumimoji="1" lang="en-US" sz="1200" kern="1200" baseline="0" dirty="0">
                <a:solidFill>
                  <a:schemeClr val="tx1"/>
                </a:solidFill>
                <a:latin typeface="Times New Roman" pitchFamily="-110" charset="0"/>
                <a:ea typeface="+mn-ea"/>
                <a:cs typeface="+mn-cs"/>
              </a:rPr>
              <a:t>doing computation rather than I/O. The CPU2006 suite is based on existing applications</a:t>
            </a:r>
          </a:p>
          <a:p>
            <a:r>
              <a:rPr kumimoji="1" lang="en-US" sz="1200" kern="1200" baseline="0" dirty="0">
                <a:solidFill>
                  <a:schemeClr val="tx1"/>
                </a:solidFill>
                <a:latin typeface="Times New Roman" pitchFamily="-110" charset="0"/>
                <a:ea typeface="+mn-ea"/>
                <a:cs typeface="+mn-cs"/>
              </a:rPr>
              <a:t>that have already been ported to a wide variety of platforms by SPEC industry</a:t>
            </a:r>
            <a:endParaRPr lang="en-US" dirty="0"/>
          </a:p>
          <a:p>
            <a:r>
              <a:rPr kumimoji="1" lang="en-US" sz="1200" kern="1200" baseline="0" dirty="0">
                <a:solidFill>
                  <a:schemeClr val="tx1"/>
                </a:solidFill>
                <a:latin typeface="Times New Roman" pitchFamily="-110" charset="0"/>
                <a:ea typeface="+mn-ea"/>
                <a:cs typeface="+mn-cs"/>
              </a:rPr>
              <a:t>members. It consists of 17 floating-point programs written in C, C++, and Fortran; and</a:t>
            </a:r>
          </a:p>
          <a:p>
            <a:r>
              <a:rPr kumimoji="1" lang="en-US" sz="1200" kern="1200" baseline="0" dirty="0">
                <a:solidFill>
                  <a:schemeClr val="tx1"/>
                </a:solidFill>
                <a:latin typeface="Times New Roman" pitchFamily="-110" charset="0"/>
                <a:ea typeface="+mn-ea"/>
                <a:cs typeface="+mn-cs"/>
              </a:rPr>
              <a:t>12 integer programs written in C and C++. The suite contains over 3 million lines of</a:t>
            </a:r>
          </a:p>
          <a:p>
            <a:r>
              <a:rPr kumimoji="1" lang="en-US" sz="1200" kern="1200" baseline="0" dirty="0">
                <a:solidFill>
                  <a:schemeClr val="tx1"/>
                </a:solidFill>
                <a:latin typeface="Times New Roman" pitchFamily="-110" charset="0"/>
                <a:ea typeface="+mn-ea"/>
                <a:cs typeface="+mn-cs"/>
              </a:rPr>
              <a:t>code. This is the fifth generation of processor-intensive suites from SPEC, replacing</a:t>
            </a:r>
          </a:p>
          <a:p>
            <a:r>
              <a:rPr kumimoji="1" lang="en-US" sz="1200" kern="1200" baseline="0" dirty="0">
                <a:solidFill>
                  <a:schemeClr val="tx1"/>
                </a:solidFill>
                <a:latin typeface="Times New Roman" pitchFamily="-110" charset="0"/>
                <a:ea typeface="+mn-ea"/>
                <a:cs typeface="+mn-cs"/>
              </a:rPr>
              <a:t>SPEC CPU2000, SPEC CPU95, SPEC CPU92, and SPEC CPU89 [HENN07].</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Other SPEC suites include the following:</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a:t>
            </a:r>
            <a:r>
              <a:rPr kumimoji="1" lang="en-US" sz="1200" b="1" kern="1200" baseline="0" dirty="0">
                <a:solidFill>
                  <a:schemeClr val="tx1"/>
                </a:solidFill>
                <a:latin typeface="Times New Roman" pitchFamily="-110" charset="0"/>
                <a:ea typeface="+mn-ea"/>
                <a:cs typeface="+mn-cs"/>
              </a:rPr>
              <a:t>SPECjvm98: </a:t>
            </a:r>
            <a:r>
              <a:rPr kumimoji="1" lang="en-US" sz="1200" b="0" kern="1200" baseline="0" dirty="0">
                <a:solidFill>
                  <a:schemeClr val="tx1"/>
                </a:solidFill>
                <a:latin typeface="Times New Roman" pitchFamily="-110" charset="0"/>
                <a:ea typeface="+mn-ea"/>
                <a:cs typeface="+mn-cs"/>
              </a:rPr>
              <a:t>Intended to evaluate performance of the combined hardware</a:t>
            </a:r>
          </a:p>
          <a:p>
            <a:r>
              <a:rPr kumimoji="1" lang="en-US" sz="1200" b="0" kern="1200" baseline="0" dirty="0">
                <a:solidFill>
                  <a:schemeClr val="tx1"/>
                </a:solidFill>
                <a:latin typeface="Times New Roman" pitchFamily="-110" charset="0"/>
                <a:ea typeface="+mn-ea"/>
                <a:cs typeface="+mn-cs"/>
              </a:rPr>
              <a:t>and software aspects of the Java Virtual Machine (JVM) client platform</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a:t>
            </a:r>
            <a:r>
              <a:rPr kumimoji="1" lang="en-US" sz="1200" b="1" kern="1200" baseline="0" dirty="0">
                <a:solidFill>
                  <a:schemeClr val="tx1"/>
                </a:solidFill>
                <a:latin typeface="Times New Roman" pitchFamily="-110" charset="0"/>
                <a:ea typeface="+mn-ea"/>
                <a:cs typeface="+mn-cs"/>
              </a:rPr>
              <a:t>SPECjbb2000 (Java Business Benchmark): </a:t>
            </a:r>
            <a:r>
              <a:rPr kumimoji="1" lang="en-US" sz="1200" b="0" kern="1200" baseline="0" dirty="0">
                <a:solidFill>
                  <a:schemeClr val="tx1"/>
                </a:solidFill>
                <a:latin typeface="Times New Roman" pitchFamily="-110" charset="0"/>
                <a:ea typeface="+mn-ea"/>
                <a:cs typeface="+mn-cs"/>
              </a:rPr>
              <a:t>A benchmark for evaluating</a:t>
            </a:r>
          </a:p>
          <a:p>
            <a:r>
              <a:rPr kumimoji="1" lang="en-US" sz="1200" kern="1200" baseline="0" dirty="0">
                <a:solidFill>
                  <a:schemeClr val="tx1"/>
                </a:solidFill>
                <a:latin typeface="Times New Roman" pitchFamily="-110" charset="0"/>
                <a:ea typeface="+mn-ea"/>
                <a:cs typeface="+mn-cs"/>
              </a:rPr>
              <a:t>server-side Java-based electronic commerce applications</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a:t>
            </a:r>
            <a:r>
              <a:rPr kumimoji="1" lang="en-US" sz="1200" b="1" kern="1200" baseline="0" dirty="0">
                <a:solidFill>
                  <a:schemeClr val="tx1"/>
                </a:solidFill>
                <a:latin typeface="Times New Roman" pitchFamily="-110" charset="0"/>
                <a:ea typeface="+mn-ea"/>
                <a:cs typeface="+mn-cs"/>
              </a:rPr>
              <a:t>SPECweb99: </a:t>
            </a:r>
            <a:r>
              <a:rPr kumimoji="1" lang="en-US" sz="1200" b="0" kern="1200" baseline="0" dirty="0">
                <a:solidFill>
                  <a:schemeClr val="tx1"/>
                </a:solidFill>
                <a:latin typeface="Times New Roman" pitchFamily="-110" charset="0"/>
                <a:ea typeface="+mn-ea"/>
                <a:cs typeface="+mn-cs"/>
              </a:rPr>
              <a:t>Evaluates the performance of World Wide Web (WWW) servers</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a:t>
            </a:r>
            <a:r>
              <a:rPr kumimoji="1" lang="en-US" sz="1200" b="1" kern="1200" baseline="0" dirty="0">
                <a:solidFill>
                  <a:schemeClr val="tx1"/>
                </a:solidFill>
                <a:latin typeface="Times New Roman" pitchFamily="-110" charset="0"/>
                <a:ea typeface="+mn-ea"/>
                <a:cs typeface="+mn-cs"/>
              </a:rPr>
              <a:t>SPECmail2001: </a:t>
            </a:r>
            <a:r>
              <a:rPr kumimoji="1" lang="en-US" sz="1200" b="0" kern="1200" baseline="0" dirty="0">
                <a:solidFill>
                  <a:schemeClr val="tx1"/>
                </a:solidFill>
                <a:latin typeface="Times New Roman" pitchFamily="-110" charset="0"/>
                <a:ea typeface="+mn-ea"/>
                <a:cs typeface="+mn-cs"/>
              </a:rPr>
              <a:t>Designed to measure a system’s performance acting as a mail</a:t>
            </a:r>
          </a:p>
          <a:p>
            <a:r>
              <a:rPr kumimoji="1" lang="en-US" sz="1200" b="0" kern="1200" baseline="0" dirty="0">
                <a:solidFill>
                  <a:schemeClr val="tx1"/>
                </a:solidFill>
                <a:latin typeface="Times New Roman" pitchFamily="-110" charset="0"/>
                <a:ea typeface="+mn-ea"/>
                <a:cs typeface="+mn-cs"/>
              </a:rPr>
              <a:t>server</a:t>
            </a:r>
            <a:endParaRPr lang="en-US" b="0"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60</a:t>
            </a:fld>
            <a:endParaRPr lang="en-US"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sz="1200" kern="1200" baseline="0" dirty="0">
                <a:solidFill>
                  <a:schemeClr val="tx1"/>
                </a:solidFill>
                <a:latin typeface="Times New Roman" pitchFamily="-110" charset="0"/>
                <a:ea typeface="+mn-ea"/>
                <a:cs typeface="+mn-cs"/>
              </a:rPr>
              <a:t>When considering system performance, computer system designers look for</a:t>
            </a:r>
          </a:p>
          <a:p>
            <a:r>
              <a:rPr kumimoji="1" lang="en-US" sz="1200" kern="1200" baseline="0" dirty="0">
                <a:solidFill>
                  <a:schemeClr val="tx1"/>
                </a:solidFill>
                <a:latin typeface="Times New Roman" pitchFamily="-110" charset="0"/>
                <a:ea typeface="+mn-ea"/>
                <a:cs typeface="+mn-cs"/>
              </a:rPr>
              <a:t>ways to improve performance by improvement in technology or change in</a:t>
            </a:r>
          </a:p>
          <a:p>
            <a:r>
              <a:rPr kumimoji="1" lang="en-US" sz="1200" kern="1200" baseline="0" dirty="0">
                <a:solidFill>
                  <a:schemeClr val="tx1"/>
                </a:solidFill>
                <a:latin typeface="Times New Roman" pitchFamily="-110" charset="0"/>
                <a:ea typeface="+mn-ea"/>
                <a:cs typeface="+mn-cs"/>
              </a:rPr>
              <a:t>design. Examples include the use of parallel processors, the use of a memory</a:t>
            </a:r>
          </a:p>
          <a:p>
            <a:r>
              <a:rPr kumimoji="1" lang="en-US" sz="1200" kern="1200" baseline="0" dirty="0">
                <a:solidFill>
                  <a:schemeClr val="tx1"/>
                </a:solidFill>
                <a:latin typeface="Times New Roman" pitchFamily="-110" charset="0"/>
                <a:ea typeface="+mn-ea"/>
                <a:cs typeface="+mn-cs"/>
              </a:rPr>
              <a:t>cache hierarchy, and speedup in memory access time and I/O transfer rate</a:t>
            </a:r>
          </a:p>
          <a:p>
            <a:r>
              <a:rPr kumimoji="1" lang="en-US" sz="1200" kern="1200" baseline="0" dirty="0">
                <a:solidFill>
                  <a:schemeClr val="tx1"/>
                </a:solidFill>
                <a:latin typeface="Times New Roman" pitchFamily="-110" charset="0"/>
                <a:ea typeface="+mn-ea"/>
                <a:cs typeface="+mn-cs"/>
              </a:rPr>
              <a:t>due to technology improvements. In all of these cases, it is important to note</a:t>
            </a:r>
          </a:p>
          <a:p>
            <a:r>
              <a:rPr kumimoji="1" lang="en-US" sz="1200" kern="1200" baseline="0" dirty="0">
                <a:solidFill>
                  <a:schemeClr val="tx1"/>
                </a:solidFill>
                <a:latin typeface="Times New Roman" pitchFamily="-110" charset="0"/>
                <a:ea typeface="+mn-ea"/>
                <a:cs typeface="+mn-cs"/>
              </a:rPr>
              <a:t>that a speedup in one aspect of the technology or design does not result in a</a:t>
            </a:r>
          </a:p>
          <a:p>
            <a:r>
              <a:rPr kumimoji="1" lang="en-US" sz="1200" kern="1200" baseline="0" dirty="0">
                <a:solidFill>
                  <a:schemeClr val="tx1"/>
                </a:solidFill>
                <a:latin typeface="Times New Roman" pitchFamily="-110" charset="0"/>
                <a:ea typeface="+mn-ea"/>
                <a:cs typeface="+mn-cs"/>
              </a:rPr>
              <a:t>corresponding improvement in performance. This limitation is succinctly</a:t>
            </a:r>
          </a:p>
          <a:p>
            <a:r>
              <a:rPr kumimoji="1" lang="en-US" sz="1200" kern="1200" baseline="0" dirty="0">
                <a:solidFill>
                  <a:schemeClr val="tx1"/>
                </a:solidFill>
                <a:latin typeface="Times New Roman" pitchFamily="-110" charset="0"/>
                <a:ea typeface="+mn-ea"/>
                <a:cs typeface="+mn-cs"/>
              </a:rPr>
              <a:t>expressed by Amdahl’s law.</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Amdahl’s law was first proposed by Gene Amdahl in [AMDA67] and deals</a:t>
            </a:r>
          </a:p>
          <a:p>
            <a:r>
              <a:rPr kumimoji="1" lang="en-US" sz="1200" kern="1200" baseline="0" dirty="0">
                <a:solidFill>
                  <a:schemeClr val="tx1"/>
                </a:solidFill>
                <a:latin typeface="Times New Roman" pitchFamily="-110" charset="0"/>
                <a:ea typeface="+mn-ea"/>
                <a:cs typeface="+mn-cs"/>
              </a:rPr>
              <a:t>with the potential speedup of a program using multiple processors compared to a</a:t>
            </a:r>
          </a:p>
          <a:p>
            <a:r>
              <a:rPr kumimoji="1" lang="en-US" sz="1200" kern="1200" baseline="0" dirty="0">
                <a:solidFill>
                  <a:schemeClr val="tx1"/>
                </a:solidFill>
                <a:latin typeface="Times New Roman" pitchFamily="-110" charset="0"/>
                <a:ea typeface="+mn-ea"/>
                <a:cs typeface="+mn-cs"/>
              </a:rPr>
              <a:t>single processor.</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Amdahl’s law illustrates the problems facing industry in the development of multi-core</a:t>
            </a:r>
          </a:p>
          <a:p>
            <a:r>
              <a:rPr kumimoji="1" lang="en-US" sz="1200" kern="1200" baseline="0" dirty="0">
                <a:solidFill>
                  <a:schemeClr val="tx1"/>
                </a:solidFill>
                <a:latin typeface="Times New Roman" pitchFamily="-110" charset="0"/>
                <a:ea typeface="+mn-ea"/>
                <a:cs typeface="+mn-cs"/>
              </a:rPr>
              <a:t>machines with an ever-growing number of cores: The software that runs on such</a:t>
            </a:r>
          </a:p>
          <a:p>
            <a:r>
              <a:rPr kumimoji="1" lang="en-US" sz="1200" kern="1200" baseline="0" dirty="0">
                <a:solidFill>
                  <a:schemeClr val="tx1"/>
                </a:solidFill>
                <a:latin typeface="Times New Roman" pitchFamily="-110" charset="0"/>
                <a:ea typeface="+mn-ea"/>
                <a:cs typeface="+mn-cs"/>
              </a:rPr>
              <a:t>machines must be adapted to a highly parallel execution environment to exploit the</a:t>
            </a:r>
          </a:p>
          <a:p>
            <a:r>
              <a:rPr kumimoji="1" lang="en-US" sz="1200" kern="1200" baseline="0" dirty="0">
                <a:solidFill>
                  <a:schemeClr val="tx1"/>
                </a:solidFill>
                <a:latin typeface="Times New Roman" pitchFamily="-110" charset="0"/>
                <a:ea typeface="+mn-ea"/>
                <a:cs typeface="+mn-cs"/>
              </a:rPr>
              <a:t>power of parallel processing.</a:t>
            </a:r>
            <a:endParaRPr lang="en-US" sz="1200" baseline="0" dirty="0">
              <a:latin typeface="TimesTen-Roman"/>
            </a:endParaRPr>
          </a:p>
        </p:txBody>
      </p:sp>
      <p:sp>
        <p:nvSpPr>
          <p:cNvPr id="4" name="Slide Number Placeholder 3"/>
          <p:cNvSpPr>
            <a:spLocks noGrp="1"/>
          </p:cNvSpPr>
          <p:nvPr>
            <p:ph type="sldNum" sz="quarter" idx="10"/>
          </p:nvPr>
        </p:nvSpPr>
        <p:spPr/>
        <p:txBody>
          <a:bodyPr/>
          <a:lstStyle/>
          <a:p>
            <a:fld id="{FDEEBCE0-4A34-3647-9307-E59F6D6CD745}" type="slidenum">
              <a:rPr lang="en-US" smtClean="0"/>
              <a:pPr/>
              <a:t>61</a:t>
            </a:fld>
            <a:endParaRPr lang="en-US"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kumimoji="1" lang="en-US" sz="1200" kern="1200" baseline="0" dirty="0">
                <a:solidFill>
                  <a:schemeClr val="tx1"/>
                </a:solidFill>
                <a:latin typeface="Times New Roman" pitchFamily="-110" charset="0"/>
                <a:ea typeface="+mn-ea"/>
                <a:cs typeface="+mn-cs"/>
              </a:rPr>
              <a:t>Consider a program running on a single processor such that a fraction</a:t>
            </a:r>
          </a:p>
          <a:p>
            <a:r>
              <a:rPr kumimoji="1" lang="en-US" sz="1200" kern="1200" baseline="0" dirty="0">
                <a:solidFill>
                  <a:schemeClr val="tx1"/>
                </a:solidFill>
                <a:latin typeface="Times New Roman" pitchFamily="-110" charset="0"/>
                <a:ea typeface="+mn-ea"/>
                <a:cs typeface="+mn-cs"/>
              </a:rPr>
              <a:t>(1 – </a:t>
            </a:r>
            <a:r>
              <a:rPr kumimoji="1" lang="en-US" sz="1200" i="1" kern="1200" baseline="0" dirty="0">
                <a:solidFill>
                  <a:schemeClr val="tx1"/>
                </a:solidFill>
                <a:latin typeface="Times New Roman" pitchFamily="-110" charset="0"/>
                <a:ea typeface="+mn-ea"/>
                <a:cs typeface="+mn-cs"/>
              </a:rPr>
              <a:t>f) </a:t>
            </a:r>
            <a:r>
              <a:rPr kumimoji="1" lang="en-US" sz="1200" i="0" kern="1200" baseline="0" dirty="0">
                <a:solidFill>
                  <a:schemeClr val="tx1"/>
                </a:solidFill>
                <a:latin typeface="Times New Roman" pitchFamily="-110" charset="0"/>
                <a:ea typeface="+mn-ea"/>
                <a:cs typeface="+mn-cs"/>
              </a:rPr>
              <a:t>of the execution time involves code that is inherently serial and a fraction</a:t>
            </a:r>
          </a:p>
          <a:p>
            <a:r>
              <a:rPr kumimoji="1" lang="en-US" sz="1200" i="0" kern="1200" baseline="0" dirty="0">
                <a:solidFill>
                  <a:schemeClr val="tx1"/>
                </a:solidFill>
                <a:latin typeface="Times New Roman" pitchFamily="-110" charset="0"/>
                <a:ea typeface="+mn-ea"/>
                <a:cs typeface="+mn-cs"/>
              </a:rPr>
              <a:t>f that involves code that is infinitely parallelizable with no scheduling overhead</a:t>
            </a:r>
            <a:r>
              <a:rPr kumimoji="1" lang="en-US" sz="1200" i="1" kern="1200" baseline="0" dirty="0">
                <a:solidFill>
                  <a:schemeClr val="tx1"/>
                </a:solidFill>
                <a:latin typeface="Times New Roman" pitchFamily="-110" charset="0"/>
                <a:ea typeface="+mn-ea"/>
                <a:cs typeface="+mn-cs"/>
              </a:rPr>
              <a:t>.</a:t>
            </a:r>
          </a:p>
          <a:p>
            <a:r>
              <a:rPr kumimoji="1" lang="en-US" sz="1200" kern="1200" baseline="0" dirty="0">
                <a:solidFill>
                  <a:schemeClr val="tx1"/>
                </a:solidFill>
                <a:latin typeface="Times New Roman" pitchFamily="-110" charset="0"/>
                <a:ea typeface="+mn-ea"/>
                <a:cs typeface="+mn-cs"/>
              </a:rPr>
              <a:t>Let </a:t>
            </a:r>
            <a:r>
              <a:rPr kumimoji="1" lang="en-US" sz="1200" i="1" kern="1200" baseline="0" dirty="0">
                <a:solidFill>
                  <a:schemeClr val="tx1"/>
                </a:solidFill>
                <a:latin typeface="Times New Roman" pitchFamily="-110" charset="0"/>
                <a:ea typeface="+mn-ea"/>
                <a:cs typeface="+mn-cs"/>
              </a:rPr>
              <a:t>T </a:t>
            </a:r>
            <a:r>
              <a:rPr kumimoji="1" lang="en-US" sz="1200" i="0" kern="1200" baseline="0" dirty="0">
                <a:solidFill>
                  <a:schemeClr val="tx1"/>
                </a:solidFill>
                <a:latin typeface="Times New Roman" pitchFamily="-110" charset="0"/>
                <a:ea typeface="+mn-ea"/>
                <a:cs typeface="+mn-cs"/>
              </a:rPr>
              <a:t>be the total execution time of the program using a single processor. Then the</a:t>
            </a:r>
          </a:p>
          <a:p>
            <a:r>
              <a:rPr kumimoji="1" lang="en-US" sz="1200" kern="1200" baseline="0" dirty="0">
                <a:solidFill>
                  <a:schemeClr val="tx1"/>
                </a:solidFill>
                <a:latin typeface="Times New Roman" pitchFamily="-110" charset="0"/>
                <a:ea typeface="+mn-ea"/>
                <a:cs typeface="+mn-cs"/>
              </a:rPr>
              <a:t>speedup using a parallel processor with </a:t>
            </a:r>
            <a:r>
              <a:rPr kumimoji="1" lang="en-US" sz="1200" i="1" kern="1200" baseline="0" dirty="0">
                <a:solidFill>
                  <a:schemeClr val="tx1"/>
                </a:solidFill>
                <a:latin typeface="Times New Roman" pitchFamily="-110" charset="0"/>
                <a:ea typeface="+mn-ea"/>
                <a:cs typeface="+mn-cs"/>
              </a:rPr>
              <a:t>N </a:t>
            </a:r>
            <a:r>
              <a:rPr kumimoji="1" lang="en-US" sz="1200" i="0" kern="1200" baseline="0" dirty="0">
                <a:solidFill>
                  <a:schemeClr val="tx1"/>
                </a:solidFill>
                <a:latin typeface="Times New Roman" pitchFamily="-110" charset="0"/>
                <a:ea typeface="+mn-ea"/>
                <a:cs typeface="+mn-cs"/>
              </a:rPr>
              <a:t>processors that fully exploits the parallel</a:t>
            </a:r>
          </a:p>
          <a:p>
            <a:r>
              <a:rPr kumimoji="1" lang="en-US" sz="1200" kern="1200" baseline="0" dirty="0">
                <a:solidFill>
                  <a:schemeClr val="tx1"/>
                </a:solidFill>
                <a:latin typeface="Times New Roman" pitchFamily="-110" charset="0"/>
                <a:ea typeface="+mn-ea"/>
                <a:cs typeface="+mn-cs"/>
              </a:rPr>
              <a:t>portion of the program is as follows:</a:t>
            </a:r>
          </a:p>
          <a:p>
            <a:r>
              <a:rPr kumimoji="1" lang="en-US" sz="1200" kern="1200" baseline="0" dirty="0">
                <a:solidFill>
                  <a:schemeClr val="tx1"/>
                </a:solidFill>
                <a:latin typeface="Times New Roman" pitchFamily="-110" charset="0"/>
                <a:ea typeface="+mn-ea"/>
                <a:cs typeface="+mn-cs"/>
              </a:rPr>
              <a:t>Speedup =</a:t>
            </a:r>
          </a:p>
          <a:p>
            <a:r>
              <a:rPr kumimoji="1" lang="en-US" sz="1200" u="sng" kern="1200" baseline="0" dirty="0">
                <a:solidFill>
                  <a:schemeClr val="tx1"/>
                </a:solidFill>
                <a:latin typeface="Times New Roman" pitchFamily="-110" charset="0"/>
                <a:ea typeface="+mn-ea"/>
                <a:cs typeface="+mn-cs"/>
              </a:rPr>
              <a:t>Time to execute program on a single processor</a:t>
            </a:r>
          </a:p>
          <a:p>
            <a:r>
              <a:rPr kumimoji="1" lang="en-US" sz="1200" kern="1200" baseline="0" dirty="0">
                <a:solidFill>
                  <a:schemeClr val="tx1"/>
                </a:solidFill>
                <a:latin typeface="Times New Roman" pitchFamily="-110" charset="0"/>
                <a:ea typeface="+mn-ea"/>
                <a:cs typeface="+mn-cs"/>
              </a:rPr>
              <a:t>Time to execute program on </a:t>
            </a:r>
            <a:r>
              <a:rPr kumimoji="1" lang="en-US" sz="1200" i="1" kern="1200" baseline="0" dirty="0">
                <a:solidFill>
                  <a:schemeClr val="tx1"/>
                </a:solidFill>
                <a:latin typeface="Times New Roman" pitchFamily="-110" charset="0"/>
                <a:ea typeface="+mn-ea"/>
                <a:cs typeface="+mn-cs"/>
              </a:rPr>
              <a:t>N parallel processors</a:t>
            </a:r>
          </a:p>
          <a:p>
            <a:r>
              <a:rPr kumimoji="1" lang="en-US" sz="1200" kern="1200" baseline="0" dirty="0">
                <a:solidFill>
                  <a:schemeClr val="tx1"/>
                </a:solidFill>
                <a:latin typeface="Times New Roman" pitchFamily="-110" charset="0"/>
                <a:ea typeface="+mn-ea"/>
                <a:cs typeface="+mn-cs"/>
              </a:rPr>
              <a:t>=</a:t>
            </a:r>
            <a:r>
              <a:rPr kumimoji="1" lang="en-US" sz="1200" i="1" u="sng" kern="1200" baseline="0" dirty="0">
                <a:solidFill>
                  <a:schemeClr val="tx1"/>
                </a:solidFill>
                <a:latin typeface="Times New Roman" pitchFamily="-110" charset="0"/>
                <a:ea typeface="+mn-ea"/>
                <a:cs typeface="+mn-cs"/>
              </a:rPr>
              <a:t>T(1 - f) + Tf</a:t>
            </a:r>
          </a:p>
          <a:p>
            <a:r>
              <a:rPr kumimoji="1" lang="en-US" sz="1200" i="1" kern="1200" baseline="0" dirty="0">
                <a:solidFill>
                  <a:schemeClr val="tx1"/>
                </a:solidFill>
                <a:latin typeface="Times New Roman" pitchFamily="-110" charset="0"/>
                <a:ea typeface="+mn-ea"/>
                <a:cs typeface="+mn-cs"/>
              </a:rPr>
              <a:t>T(1 - f) +</a:t>
            </a:r>
            <a:r>
              <a:rPr kumimoji="1" lang="en-US" sz="1200" i="1" u="sng" kern="1200" baseline="0" dirty="0">
                <a:solidFill>
                  <a:schemeClr val="tx1"/>
                </a:solidFill>
                <a:latin typeface="Times New Roman" pitchFamily="-110" charset="0"/>
                <a:ea typeface="+mn-ea"/>
                <a:cs typeface="+mn-cs"/>
              </a:rPr>
              <a:t>Tf</a:t>
            </a:r>
          </a:p>
          <a:p>
            <a:r>
              <a:rPr kumimoji="1" lang="en-US" sz="1200" i="1" kern="1200" baseline="0" dirty="0">
                <a:solidFill>
                  <a:schemeClr val="tx1"/>
                </a:solidFill>
                <a:latin typeface="Times New Roman" pitchFamily="-110" charset="0"/>
                <a:ea typeface="+mn-ea"/>
                <a:cs typeface="+mn-cs"/>
              </a:rPr>
              <a:t>              N</a:t>
            </a:r>
          </a:p>
          <a:p>
            <a:r>
              <a:rPr kumimoji="1" lang="en-US" sz="1200" kern="1200" baseline="0" dirty="0">
                <a:solidFill>
                  <a:schemeClr val="tx1"/>
                </a:solidFill>
                <a:latin typeface="Times New Roman" pitchFamily="-110" charset="0"/>
                <a:ea typeface="+mn-ea"/>
                <a:cs typeface="+mn-cs"/>
              </a:rPr>
              <a:t>=  </a:t>
            </a:r>
            <a:r>
              <a:rPr kumimoji="1" lang="en-US" sz="1200" u="sng" kern="1200" baseline="0" dirty="0">
                <a:solidFill>
                  <a:schemeClr val="tx1"/>
                </a:solidFill>
                <a:latin typeface="Times New Roman" pitchFamily="-110" charset="0"/>
                <a:ea typeface="+mn-ea"/>
                <a:cs typeface="+mn-cs"/>
              </a:rPr>
              <a:t>   1          </a:t>
            </a:r>
          </a:p>
          <a:p>
            <a:r>
              <a:rPr kumimoji="1" lang="en-US" sz="1200" kern="1200" baseline="0" dirty="0">
                <a:solidFill>
                  <a:schemeClr val="tx1"/>
                </a:solidFill>
                <a:latin typeface="Times New Roman" pitchFamily="-110" charset="0"/>
                <a:ea typeface="+mn-ea"/>
                <a:cs typeface="+mn-cs"/>
              </a:rPr>
              <a:t>(1 - </a:t>
            </a:r>
            <a:r>
              <a:rPr kumimoji="1" lang="en-US" sz="1200" i="1" kern="1200" baseline="0" dirty="0">
                <a:solidFill>
                  <a:schemeClr val="tx1"/>
                </a:solidFill>
                <a:latin typeface="Times New Roman" pitchFamily="-110" charset="0"/>
                <a:ea typeface="+mn-ea"/>
                <a:cs typeface="+mn-cs"/>
              </a:rPr>
              <a:t>f) +</a:t>
            </a:r>
            <a:r>
              <a:rPr kumimoji="1" lang="en-US" sz="1200" i="1" u="sng" kern="1200" baseline="0" dirty="0">
                <a:solidFill>
                  <a:schemeClr val="tx1"/>
                </a:solidFill>
                <a:latin typeface="Times New Roman" pitchFamily="-110" charset="0"/>
                <a:ea typeface="+mn-ea"/>
                <a:cs typeface="+mn-cs"/>
              </a:rPr>
              <a:t>f</a:t>
            </a:r>
          </a:p>
          <a:p>
            <a:r>
              <a:rPr kumimoji="1" lang="en-US" sz="1200" i="1" kern="1200" baseline="0" dirty="0">
                <a:solidFill>
                  <a:schemeClr val="tx1"/>
                </a:solidFill>
                <a:latin typeface="Times New Roman" pitchFamily="-110" charset="0"/>
                <a:ea typeface="+mn-ea"/>
                <a:cs typeface="+mn-cs"/>
              </a:rPr>
              <a:t>          N</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This equation is illustrated in Figure 2.14. Two important conclusions can be</a:t>
            </a:r>
          </a:p>
          <a:p>
            <a:r>
              <a:rPr kumimoji="1" lang="en-US" sz="1200" kern="1200" baseline="0" dirty="0">
                <a:solidFill>
                  <a:schemeClr val="tx1"/>
                </a:solidFill>
                <a:latin typeface="Times New Roman" pitchFamily="-110" charset="0"/>
                <a:ea typeface="+mn-ea"/>
                <a:cs typeface="+mn-cs"/>
              </a:rPr>
              <a:t>drawn:</a:t>
            </a:r>
          </a:p>
          <a:p>
            <a:endParaRPr kumimoji="1" lang="en-US" sz="1200" b="1" kern="1200" baseline="0" dirty="0">
              <a:solidFill>
                <a:schemeClr val="tx1"/>
              </a:solidFill>
              <a:latin typeface="Times New Roman" pitchFamily="-110" charset="0"/>
              <a:ea typeface="+mn-ea"/>
              <a:cs typeface="+mn-cs"/>
            </a:endParaRPr>
          </a:p>
          <a:p>
            <a:r>
              <a:rPr kumimoji="1" lang="en-US" sz="1200" b="0" kern="1200" baseline="0" dirty="0">
                <a:solidFill>
                  <a:schemeClr val="tx1"/>
                </a:solidFill>
                <a:latin typeface="Times New Roman" pitchFamily="-110" charset="0"/>
                <a:ea typeface="+mn-ea"/>
                <a:cs typeface="+mn-cs"/>
              </a:rPr>
              <a:t>1. When </a:t>
            </a:r>
            <a:r>
              <a:rPr kumimoji="1" lang="en-US" sz="1200" b="0" i="1" kern="1200" baseline="0" dirty="0">
                <a:solidFill>
                  <a:schemeClr val="tx1"/>
                </a:solidFill>
                <a:latin typeface="Times New Roman" pitchFamily="-110" charset="0"/>
                <a:ea typeface="+mn-ea"/>
                <a:cs typeface="+mn-cs"/>
              </a:rPr>
              <a:t>f is small, the use of parallel processors has little effect.</a:t>
            </a:r>
          </a:p>
          <a:p>
            <a:endParaRPr kumimoji="1" lang="en-US" sz="1200" b="0" kern="1200" baseline="0" dirty="0">
              <a:solidFill>
                <a:schemeClr val="tx1"/>
              </a:solidFill>
              <a:latin typeface="Times New Roman" pitchFamily="-110" charset="0"/>
              <a:ea typeface="+mn-ea"/>
              <a:cs typeface="+mn-cs"/>
            </a:endParaRPr>
          </a:p>
          <a:p>
            <a:r>
              <a:rPr kumimoji="1" lang="en-US" sz="1200" b="0" kern="1200" baseline="0" dirty="0">
                <a:solidFill>
                  <a:schemeClr val="tx1"/>
                </a:solidFill>
                <a:latin typeface="Times New Roman" pitchFamily="-110" charset="0"/>
                <a:ea typeface="+mn-ea"/>
                <a:cs typeface="+mn-cs"/>
              </a:rPr>
              <a:t>2. As </a:t>
            </a:r>
            <a:r>
              <a:rPr kumimoji="1" lang="en-US" sz="1200" b="0" i="1" kern="1200" baseline="0" dirty="0">
                <a:solidFill>
                  <a:schemeClr val="tx1"/>
                </a:solidFill>
                <a:latin typeface="Times New Roman" pitchFamily="-110" charset="0"/>
                <a:ea typeface="+mn-ea"/>
                <a:cs typeface="+mn-cs"/>
              </a:rPr>
              <a:t>N approaches infinity, speedup is bound by 1/(1 – f), so that there are</a:t>
            </a:r>
          </a:p>
          <a:p>
            <a:r>
              <a:rPr kumimoji="1" lang="en-US" sz="1200" kern="1200" baseline="0" dirty="0">
                <a:solidFill>
                  <a:schemeClr val="tx1"/>
                </a:solidFill>
                <a:latin typeface="Times New Roman" pitchFamily="-110" charset="0"/>
                <a:ea typeface="+mn-ea"/>
                <a:cs typeface="+mn-cs"/>
              </a:rPr>
              <a:t>diminishing returns for using more processors.</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These conclusions are too pessimistic, an assertion first put forward in</a:t>
            </a:r>
          </a:p>
          <a:p>
            <a:r>
              <a:rPr kumimoji="1" lang="en-US" sz="1200" kern="1200" baseline="0" dirty="0">
                <a:solidFill>
                  <a:schemeClr val="tx1"/>
                </a:solidFill>
                <a:latin typeface="Times New Roman" pitchFamily="-110" charset="0"/>
                <a:ea typeface="+mn-ea"/>
                <a:cs typeface="+mn-cs"/>
              </a:rPr>
              <a:t>[GUST88]. For example, a server can maintain multiple threads or multiple tasks</a:t>
            </a:r>
          </a:p>
          <a:p>
            <a:r>
              <a:rPr kumimoji="1" lang="en-US" sz="1200" kern="1200" baseline="0" dirty="0">
                <a:solidFill>
                  <a:schemeClr val="tx1"/>
                </a:solidFill>
                <a:latin typeface="Times New Roman" pitchFamily="-110" charset="0"/>
                <a:ea typeface="+mn-ea"/>
                <a:cs typeface="+mn-cs"/>
              </a:rPr>
              <a:t>to handle multiple clients and execute the threads or tasks in parallel up to the limit</a:t>
            </a:r>
          </a:p>
          <a:p>
            <a:r>
              <a:rPr kumimoji="1" lang="en-US" sz="1200" kern="1200" baseline="0" dirty="0">
                <a:solidFill>
                  <a:schemeClr val="tx1"/>
                </a:solidFill>
                <a:latin typeface="Times New Roman" pitchFamily="-110" charset="0"/>
                <a:ea typeface="+mn-ea"/>
                <a:cs typeface="+mn-cs"/>
              </a:rPr>
              <a:t>of the number of processors. Many database applications involve computations on</a:t>
            </a:r>
          </a:p>
          <a:p>
            <a:r>
              <a:rPr kumimoji="1" lang="en-US" sz="1200" kern="1200" baseline="0" dirty="0">
                <a:solidFill>
                  <a:schemeClr val="tx1"/>
                </a:solidFill>
                <a:latin typeface="Times New Roman" pitchFamily="-110" charset="0"/>
                <a:ea typeface="+mn-ea"/>
                <a:cs typeface="+mn-cs"/>
              </a:rPr>
              <a:t>massive amounts of data that can be split up into multiple parallel tasks.</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62</a:t>
            </a:fld>
            <a:endParaRPr lang="en-US"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kumimoji="1" lang="en-US" sz="1200" kern="1200" baseline="0" dirty="0">
                <a:solidFill>
                  <a:schemeClr val="tx1"/>
                </a:solidFill>
                <a:latin typeface="Times New Roman" pitchFamily="-110" charset="0"/>
                <a:ea typeface="+mn-ea"/>
                <a:cs typeface="+mn-cs"/>
              </a:rPr>
              <a:t>A fundamental and simple relation with broad applications is Little’s Law</a:t>
            </a:r>
          </a:p>
          <a:p>
            <a:r>
              <a:rPr kumimoji="1" lang="en-US" sz="1200" kern="1200" baseline="0" dirty="0">
                <a:solidFill>
                  <a:schemeClr val="tx1"/>
                </a:solidFill>
                <a:latin typeface="Times New Roman" pitchFamily="-110" charset="0"/>
                <a:ea typeface="+mn-ea"/>
                <a:cs typeface="+mn-cs"/>
              </a:rPr>
              <a:t>[LITT61, LITT11]. We can apply it to almost any system that is statistically in</a:t>
            </a:r>
          </a:p>
          <a:p>
            <a:r>
              <a:rPr kumimoji="1" lang="en-US" sz="1200" kern="1200" baseline="0" dirty="0">
                <a:solidFill>
                  <a:schemeClr val="tx1"/>
                </a:solidFill>
                <a:latin typeface="Times New Roman" pitchFamily="-110" charset="0"/>
                <a:ea typeface="+mn-ea"/>
                <a:cs typeface="+mn-cs"/>
              </a:rPr>
              <a:t>steady state, and in which there is no leakage. </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Using queuing theory terminology, Little’s Law applies to a queuing system.</a:t>
            </a:r>
          </a:p>
          <a:p>
            <a:r>
              <a:rPr kumimoji="1" lang="en-US" sz="1200" kern="1200" baseline="0" dirty="0">
                <a:solidFill>
                  <a:schemeClr val="tx1"/>
                </a:solidFill>
                <a:latin typeface="Times New Roman" pitchFamily="-110" charset="0"/>
                <a:ea typeface="+mn-ea"/>
                <a:cs typeface="+mn-cs"/>
              </a:rPr>
              <a:t>The central element of the system is a server, which provides some service to items.</a:t>
            </a:r>
          </a:p>
          <a:p>
            <a:r>
              <a:rPr kumimoji="1" lang="en-US" sz="1200" kern="1200" baseline="0" dirty="0">
                <a:solidFill>
                  <a:schemeClr val="tx1"/>
                </a:solidFill>
                <a:latin typeface="Times New Roman" pitchFamily="-110" charset="0"/>
                <a:ea typeface="+mn-ea"/>
                <a:cs typeface="+mn-cs"/>
              </a:rPr>
              <a:t>Items from some population of items arrive at the system to be served. If the server</a:t>
            </a:r>
          </a:p>
          <a:p>
            <a:r>
              <a:rPr kumimoji="1" lang="en-US" sz="1200" kern="1200" baseline="0" dirty="0">
                <a:solidFill>
                  <a:schemeClr val="tx1"/>
                </a:solidFill>
                <a:latin typeface="Times New Roman" pitchFamily="-110" charset="0"/>
                <a:ea typeface="+mn-ea"/>
                <a:cs typeface="+mn-cs"/>
              </a:rPr>
              <a:t>is idle, an item is served immediately. Otherwise, an arriving item joins a waiting</a:t>
            </a:r>
          </a:p>
          <a:p>
            <a:r>
              <a:rPr kumimoji="1" lang="en-US" sz="1200" kern="1200" baseline="0" dirty="0">
                <a:solidFill>
                  <a:schemeClr val="tx1"/>
                </a:solidFill>
                <a:latin typeface="Times New Roman" pitchFamily="-110" charset="0"/>
                <a:ea typeface="+mn-ea"/>
                <a:cs typeface="+mn-cs"/>
              </a:rPr>
              <a:t>line, or queue. There can be a single queue for a single server, a single queue for</a:t>
            </a:r>
          </a:p>
          <a:p>
            <a:r>
              <a:rPr kumimoji="1" lang="en-US" sz="1200" kern="1200" baseline="0" dirty="0">
                <a:solidFill>
                  <a:schemeClr val="tx1"/>
                </a:solidFill>
                <a:latin typeface="Times New Roman" pitchFamily="-110" charset="0"/>
                <a:ea typeface="+mn-ea"/>
                <a:cs typeface="+mn-cs"/>
              </a:rPr>
              <a:t>multiple servers, or multiples queues, one for each of multiple servers. When a</a:t>
            </a:r>
          </a:p>
          <a:p>
            <a:r>
              <a:rPr kumimoji="1" lang="en-US" sz="1200" kern="1200" baseline="0" dirty="0">
                <a:solidFill>
                  <a:schemeClr val="tx1"/>
                </a:solidFill>
                <a:latin typeface="Times New Roman" pitchFamily="-110" charset="0"/>
                <a:ea typeface="+mn-ea"/>
                <a:cs typeface="+mn-cs"/>
              </a:rPr>
              <a:t>server has completed serving an item, the item departs. If there are items waiting in</a:t>
            </a:r>
          </a:p>
          <a:p>
            <a:r>
              <a:rPr kumimoji="1" lang="en-US" sz="1200" kern="1200" baseline="0" dirty="0">
                <a:solidFill>
                  <a:schemeClr val="tx1"/>
                </a:solidFill>
                <a:latin typeface="Times New Roman" pitchFamily="-110" charset="0"/>
                <a:ea typeface="+mn-ea"/>
                <a:cs typeface="+mn-cs"/>
              </a:rPr>
              <a:t>the queue, one is immediately dispatched to the server. The server in this model can</a:t>
            </a:r>
          </a:p>
          <a:p>
            <a:r>
              <a:rPr kumimoji="1" lang="en-US" sz="1200" kern="1200" baseline="0" dirty="0">
                <a:solidFill>
                  <a:schemeClr val="tx1"/>
                </a:solidFill>
                <a:latin typeface="Times New Roman" pitchFamily="-110" charset="0"/>
                <a:ea typeface="+mn-ea"/>
                <a:cs typeface="+mn-cs"/>
              </a:rPr>
              <a:t>represent anything that performs some function or service for a collection of items.</a:t>
            </a:r>
          </a:p>
          <a:p>
            <a:r>
              <a:rPr kumimoji="1" lang="en-US" sz="1200" kern="1200" baseline="0" dirty="0">
                <a:solidFill>
                  <a:schemeClr val="tx1"/>
                </a:solidFill>
                <a:latin typeface="Times New Roman" pitchFamily="-110" charset="0"/>
                <a:ea typeface="+mn-ea"/>
                <a:cs typeface="+mn-cs"/>
              </a:rPr>
              <a:t>Examples: A processor provides service to processes; a transmission line provides a</a:t>
            </a:r>
          </a:p>
          <a:p>
            <a:r>
              <a:rPr kumimoji="1" lang="en-US" sz="1200" kern="1200" baseline="0" dirty="0">
                <a:solidFill>
                  <a:schemeClr val="tx1"/>
                </a:solidFill>
                <a:latin typeface="Times New Roman" pitchFamily="-110" charset="0"/>
                <a:ea typeface="+mn-ea"/>
                <a:cs typeface="+mn-cs"/>
              </a:rPr>
              <a:t>transmission service to packets or frames of data; and an I/O device provides a read</a:t>
            </a:r>
          </a:p>
          <a:p>
            <a:r>
              <a:rPr kumimoji="1" lang="en-US" sz="1200" kern="1200" baseline="0" dirty="0">
                <a:solidFill>
                  <a:schemeClr val="tx1"/>
                </a:solidFill>
                <a:latin typeface="Times New Roman" pitchFamily="-110" charset="0"/>
                <a:ea typeface="+mn-ea"/>
                <a:cs typeface="+mn-cs"/>
              </a:rPr>
              <a:t>or write service for I/O requests.</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The average number of items in a queuing system equals the average rate at which items arrive multiplied by the average time that an item spends in the system. This relationship requires very few assumptions. We do not need to know what the service time distribution is, what</a:t>
            </a:r>
          </a:p>
          <a:p>
            <a:r>
              <a:rPr kumimoji="1" lang="en-US" sz="1200" kern="1200" baseline="0" dirty="0">
                <a:solidFill>
                  <a:schemeClr val="tx1"/>
                </a:solidFill>
                <a:latin typeface="Times New Roman" pitchFamily="-110" charset="0"/>
                <a:ea typeface="+mn-ea"/>
                <a:cs typeface="+mn-cs"/>
              </a:rPr>
              <a:t>the distribution of arrival times is, or the order or priority in which items are served.</a:t>
            </a:r>
          </a:p>
          <a:p>
            <a:r>
              <a:rPr kumimoji="1" lang="en-US" sz="1200" kern="1200" baseline="0" dirty="0">
                <a:solidFill>
                  <a:schemeClr val="tx1"/>
                </a:solidFill>
                <a:latin typeface="Times New Roman" pitchFamily="-110" charset="0"/>
                <a:ea typeface="+mn-ea"/>
                <a:cs typeface="+mn-cs"/>
              </a:rPr>
              <a:t>Because of its simplicity and generality, Little’s Law is extremely useful and has</a:t>
            </a:r>
          </a:p>
          <a:p>
            <a:r>
              <a:rPr kumimoji="1" lang="en-US" sz="1200" kern="1200" baseline="0" dirty="0">
                <a:solidFill>
                  <a:schemeClr val="tx1"/>
                </a:solidFill>
                <a:latin typeface="Times New Roman" pitchFamily="-110" charset="0"/>
                <a:ea typeface="+mn-ea"/>
                <a:cs typeface="+mn-cs"/>
              </a:rPr>
              <a:t>experienced somewhat of a revival due to the interest in performance problems</a:t>
            </a:r>
          </a:p>
          <a:p>
            <a:r>
              <a:rPr kumimoji="1" lang="en-US" sz="1200" kern="1200" baseline="0" dirty="0">
                <a:solidFill>
                  <a:schemeClr val="tx1"/>
                </a:solidFill>
                <a:latin typeface="Times New Roman" pitchFamily="-110" charset="0"/>
                <a:ea typeface="+mn-ea"/>
                <a:cs typeface="+mn-cs"/>
              </a:rPr>
              <a:t>related to multi-core computers.</a:t>
            </a:r>
          </a:p>
        </p:txBody>
      </p:sp>
      <p:sp>
        <p:nvSpPr>
          <p:cNvPr id="4" name="Slide Number Placeholder 3"/>
          <p:cNvSpPr>
            <a:spLocks noGrp="1"/>
          </p:cNvSpPr>
          <p:nvPr>
            <p:ph type="sldNum" sz="quarter" idx="10"/>
          </p:nvPr>
        </p:nvSpPr>
        <p:spPr/>
        <p:txBody>
          <a:bodyPr/>
          <a:lstStyle/>
          <a:p>
            <a:fld id="{FDEEBCE0-4A34-3647-9307-E59F6D6CD745}" type="slidenum">
              <a:rPr lang="en-US" smtClean="0"/>
              <a:pPr/>
              <a:t>63</a:t>
            </a:fld>
            <a:endParaRPr lang="en-US"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F2598D2-2ED8-8547-B4B7-C382E9B8AC9E}" type="slidenum">
              <a:rPr lang="en-US"/>
              <a:pPr/>
              <a:t>65</a:t>
            </a:fld>
            <a:endParaRPr lang="en-US" dirty="0"/>
          </a:p>
        </p:txBody>
      </p:sp>
      <p:sp>
        <p:nvSpPr>
          <p:cNvPr id="65538" name="Rectangle 2"/>
          <p:cNvSpPr>
            <a:spLocks noGrp="1" noRot="1" noChangeAspect="1" noChangeArrowheads="1" noTextEdit="1"/>
          </p:cNvSpPr>
          <p:nvPr>
            <p:ph type="sldImg"/>
          </p:nvPr>
        </p:nvSpPr>
        <p:spPr>
          <a:ln/>
        </p:spPr>
      </p:sp>
      <p:sp>
        <p:nvSpPr>
          <p:cNvPr id="65539" name="Rectangle 3"/>
          <p:cNvSpPr>
            <a:spLocks noGrp="1" noChangeArrowheads="1"/>
          </p:cNvSpPr>
          <p:nvPr>
            <p:ph type="body" idx="1"/>
          </p:nvPr>
        </p:nvSpPr>
        <p:spPr/>
        <p:txBody>
          <a:bodyPr/>
          <a:lstStyle/>
          <a:p>
            <a:r>
              <a:rPr lang="en-GB" dirty="0"/>
              <a:t>Chapter 2 summary.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a:xfrm>
            <a:off x="4800600" y="6425640"/>
            <a:ext cx="1232647" cy="365125"/>
          </a:xfrm>
        </p:spPr>
        <p:txBody>
          <a:bodyPr/>
          <a:lstStyle>
            <a:lvl1pPr algn="l">
              <a:defRPr/>
            </a:lvl1pPr>
          </a:lstStyle>
          <a:p>
            <a:endParaRPr lang="en-GB" dirty="0"/>
          </a:p>
        </p:txBody>
      </p:sp>
      <p:sp>
        <p:nvSpPr>
          <p:cNvPr id="5" name="Footer Placeholder 4"/>
          <p:cNvSpPr>
            <a:spLocks noGrp="1"/>
          </p:cNvSpPr>
          <p:nvPr>
            <p:ph type="ftr" sz="quarter" idx="11"/>
          </p:nvPr>
        </p:nvSpPr>
        <p:spPr>
          <a:xfrm>
            <a:off x="6311153" y="6425640"/>
            <a:ext cx="2617694" cy="365125"/>
          </a:xfrm>
        </p:spPr>
        <p:txBody>
          <a:bodyPr/>
          <a:lstStyle>
            <a:lvl1pPr algn="r">
              <a:defRPr/>
            </a:lvl1pPr>
          </a:lstStyle>
          <a:p>
            <a:endParaRPr lang="en-GB" dirty="0"/>
          </a:p>
        </p:txBody>
      </p:sp>
      <p:sp>
        <p:nvSpPr>
          <p:cNvPr id="7" name="Rectangle 6"/>
          <p:cNvSpPr/>
          <p:nvPr/>
        </p:nvSpPr>
        <p:spPr>
          <a:xfrm>
            <a:off x="282575" y="228600"/>
            <a:ext cx="4235450"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4388" y="237744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sz="1800" kern="1200">
              <a:solidFill>
                <a:schemeClr val="lt1"/>
              </a:solidFill>
              <a:latin typeface="+mn-lt"/>
              <a:ea typeface="+mn-ea"/>
              <a:cs typeface="+mn-cs"/>
            </a:endParaRPr>
          </a:p>
        </p:txBody>
      </p:sp>
      <p:sp>
        <p:nvSpPr>
          <p:cNvPr id="15" name="TextBox 14"/>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1" name="Rectangle 10"/>
          <p:cNvSpPr/>
          <p:nvPr/>
        </p:nvSpPr>
        <p:spPr>
          <a:xfrm>
            <a:off x="4624388" y="228600"/>
            <a:ext cx="2057400" cy="203911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6802438" y="2377440"/>
            <a:ext cx="2057400" cy="2039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Rectangle 6"/>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Rectangle 9"/>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Alt.">
    <p:spTree>
      <p:nvGrpSpPr>
        <p:cNvPr id="1" name=""/>
        <p:cNvGrpSpPr/>
        <p:nvPr/>
      </p:nvGrpSpPr>
      <p:grpSpPr>
        <a:xfrm>
          <a:off x="0" y="0"/>
          <a:ext cx="0" cy="0"/>
          <a:chOff x="0" y="0"/>
          <a:chExt cx="0" cy="0"/>
        </a:xfrm>
      </p:grpSpPr>
      <p:sp>
        <p:nvSpPr>
          <p:cNvPr id="7" name="Rectangle 6"/>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8474" y="134471"/>
            <a:ext cx="7556313" cy="995082"/>
          </a:xfrm>
        </p:spPr>
        <p:txBody>
          <a:bodyPr anchor="b" anchorCtr="0"/>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Text Placeholder 3"/>
          <p:cNvSpPr>
            <a:spLocks noGrp="1"/>
          </p:cNvSpPr>
          <p:nvPr>
            <p:ph type="body" sz="half" idx="2"/>
          </p:nvPr>
        </p:nvSpPr>
        <p:spPr>
          <a:xfrm>
            <a:off x="498518" y="1129553"/>
            <a:ext cx="7558960" cy="774700"/>
          </a:xfrm>
        </p:spPr>
        <p:txBody>
          <a:bodyPr vert="horz" lIns="91440" tIns="45720" rIns="91440" bIns="45720" rtlCol="0" anchor="t" anchorCtr="0">
            <a:noAutofit/>
          </a:bodyPr>
          <a:lstStyle>
            <a:lvl1pPr marL="0" indent="0">
              <a:buNone/>
              <a:defRPr kumimoji="0" sz="2400" b="0" i="0" u="none" strike="noStrike" kern="1200" cap="none" spc="0" normalizeH="0" baseline="0">
                <a:ln>
                  <a:noFill/>
                </a:ln>
                <a:solidFill>
                  <a:schemeClr val="accent3"/>
                </a:solidFill>
                <a:effectLst/>
                <a:uLnTx/>
                <a:uFillTx/>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with 2 Pictures">
    <p:spTree>
      <p:nvGrpSpPr>
        <p:cNvPr id="1" name=""/>
        <p:cNvGrpSpPr/>
        <p:nvPr/>
      </p:nvGrpSpPr>
      <p:grpSpPr>
        <a:xfrm>
          <a:off x="0" y="0"/>
          <a:ext cx="0" cy="0"/>
          <a:chOff x="0" y="0"/>
          <a:chExt cx="0" cy="0"/>
        </a:xfrm>
      </p:grpSpPr>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a:xfrm>
            <a:off x="4800600" y="6425640"/>
            <a:ext cx="1232647" cy="365125"/>
          </a:xfrm>
        </p:spPr>
        <p:txBody>
          <a:bodyPr/>
          <a:lstStyle>
            <a:lvl1pPr algn="l">
              <a:defRPr/>
            </a:lvl1pPr>
          </a:lstStyle>
          <a:p>
            <a:endParaRPr/>
          </a:p>
        </p:txBody>
      </p:sp>
      <p:sp>
        <p:nvSpPr>
          <p:cNvPr id="5" name="Footer Placeholder 4"/>
          <p:cNvSpPr>
            <a:spLocks noGrp="1"/>
          </p:cNvSpPr>
          <p:nvPr>
            <p:ph type="ftr" sz="quarter" idx="11"/>
          </p:nvPr>
        </p:nvSpPr>
        <p:spPr>
          <a:xfrm>
            <a:off x="6311153" y="6425640"/>
            <a:ext cx="2617694" cy="365125"/>
          </a:xfrm>
        </p:spPr>
        <p:txBody>
          <a:bodyPr/>
          <a:lstStyle>
            <a:lvl1pPr algn="r">
              <a:defRPr/>
            </a:lvl1pPr>
          </a:lstStyle>
          <a:p>
            <a:endParaRPr/>
          </a:p>
        </p:txBody>
      </p:sp>
      <p:sp>
        <p:nvSpPr>
          <p:cNvPr id="7" name="Rectangle 6"/>
          <p:cNvSpPr/>
          <p:nvPr/>
        </p:nvSpPr>
        <p:spPr>
          <a:xfrm>
            <a:off x="282575" y="228600"/>
            <a:ext cx="4235450"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4388" y="237744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Picture Placeholder 12"/>
          <p:cNvSpPr>
            <a:spLocks noGrp="1"/>
          </p:cNvSpPr>
          <p:nvPr>
            <p:ph type="pic" sz="quarter" idx="12"/>
          </p:nvPr>
        </p:nvSpPr>
        <p:spPr>
          <a:xfrm>
            <a:off x="4624388" y="228600"/>
            <a:ext cx="2057400" cy="2039112"/>
          </a:xfrm>
        </p:spPr>
        <p:txBody>
          <a:bodyPr/>
          <a:lstStyle>
            <a:lvl1pPr>
              <a:buNone/>
              <a:defRPr/>
            </a:lvl1pPr>
          </a:lstStyle>
          <a:p>
            <a:r>
              <a:rPr lang="en-US" dirty="0"/>
              <a:t>Click icon to add picture</a:t>
            </a:r>
            <a:endParaRPr dirty="0"/>
          </a:p>
        </p:txBody>
      </p:sp>
      <p:sp>
        <p:nvSpPr>
          <p:cNvPr id="14" name="Picture Placeholder 12"/>
          <p:cNvSpPr>
            <a:spLocks noGrp="1"/>
          </p:cNvSpPr>
          <p:nvPr>
            <p:ph type="pic" sz="quarter" idx="13"/>
          </p:nvPr>
        </p:nvSpPr>
        <p:spPr>
          <a:xfrm>
            <a:off x="6802438" y="2377440"/>
            <a:ext cx="2057400" cy="2039112"/>
          </a:xfrm>
        </p:spPr>
        <p:txBody>
          <a:bodyPr/>
          <a:lstStyle>
            <a:lvl1pPr>
              <a:buNone/>
              <a:defRPr/>
            </a:lvl1pPr>
          </a:lstStyle>
          <a:p>
            <a:r>
              <a:rPr lang="en-US" dirty="0"/>
              <a:t>Click icon to add picture</a:t>
            </a:r>
            <a:endParaRPr dirty="0"/>
          </a:p>
        </p:txBody>
      </p:sp>
      <p:sp>
        <p:nvSpPr>
          <p:cNvPr id="16" name="Text Placeholder 3"/>
          <p:cNvSpPr>
            <a:spLocks noGrp="1"/>
          </p:cNvSpPr>
          <p:nvPr>
            <p:ph type="body" sz="half" idx="2"/>
          </p:nvPr>
        </p:nvSpPr>
        <p:spPr>
          <a:xfrm>
            <a:off x="857250" y="1779494"/>
            <a:ext cx="3086100" cy="2040905"/>
          </a:xfrm>
        </p:spPr>
        <p:txBody>
          <a:bodyPr lIns="45720" tIns="45720" rIns="45720" anchor="t">
            <a:noAutofit/>
          </a:bodyPr>
          <a:lstStyle>
            <a:lvl1pPr marL="0" indent="0" algn="ctr">
              <a:buNone/>
              <a:defRPr sz="4600">
                <a:solidFill>
                  <a:schemeClr val="bg1"/>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15" name="TextBox 14"/>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658907" y="228600"/>
            <a:ext cx="8200930"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2286000" y="3124200"/>
            <a:ext cx="5638800" cy="1362075"/>
          </a:xfrm>
        </p:spPr>
        <p:txBody>
          <a:bodyPr anchor="b" anchorCtr="0">
            <a:normAutofit/>
          </a:bodyPr>
          <a:lstStyle>
            <a:lvl1pPr algn="l">
              <a:defRPr sz="3200" b="0" cap="none" baseline="0">
                <a:solidFill>
                  <a:schemeClr val="bg1"/>
                </a:solidFill>
              </a:defRPr>
            </a:lvl1pPr>
          </a:lstStyle>
          <a:p>
            <a:r>
              <a:rPr lang="en-US"/>
              <a:t>Click to edit Master title style</a:t>
            </a:r>
            <a:endParaRPr/>
          </a:p>
        </p:txBody>
      </p:sp>
      <p:sp>
        <p:nvSpPr>
          <p:cNvPr id="3" name="Text Placeholder 2"/>
          <p:cNvSpPr>
            <a:spLocks noGrp="1"/>
          </p:cNvSpPr>
          <p:nvPr>
            <p:ph type="body" idx="1"/>
          </p:nvPr>
        </p:nvSpPr>
        <p:spPr>
          <a:xfrm>
            <a:off x="2286000" y="4495800"/>
            <a:ext cx="5638800" cy="1500187"/>
          </a:xfrm>
        </p:spPr>
        <p:txBody>
          <a:bodyPr anchor="t" anchorCtr="0">
            <a:normAutofit/>
          </a:bodyPr>
          <a:lstStyle>
            <a:lvl1pPr marL="0" indent="0">
              <a:spcBef>
                <a:spcPts val="300"/>
              </a:spcBef>
              <a:buNone/>
              <a:defRPr sz="1400" cap="none" baseline="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58906" y="6248774"/>
            <a:ext cx="1474694" cy="365125"/>
          </a:xfrm>
        </p:spPr>
        <p:txBody>
          <a:bodyPr/>
          <a:lstStyle>
            <a:lvl1pPr algn="l">
              <a:defRPr>
                <a:solidFill>
                  <a:schemeClr val="bg1"/>
                </a:solidFill>
              </a:defRPr>
            </a:lvl1pPr>
          </a:lstStyle>
          <a:p>
            <a:endParaRPr/>
          </a:p>
        </p:txBody>
      </p:sp>
      <p:sp>
        <p:nvSpPr>
          <p:cNvPr id="5" name="Footer Placeholder 4"/>
          <p:cNvSpPr>
            <a:spLocks noGrp="1"/>
          </p:cNvSpPr>
          <p:nvPr>
            <p:ph type="ftr" sz="quarter" idx="11"/>
          </p:nvPr>
        </p:nvSpPr>
        <p:spPr>
          <a:xfrm>
            <a:off x="2286000" y="6248774"/>
            <a:ext cx="5638800" cy="365125"/>
          </a:xfrm>
        </p:spPr>
        <p:txBody>
          <a:bodyPr/>
          <a:lstStyle>
            <a:lvl1pPr>
              <a:defRPr>
                <a:solidFill>
                  <a:schemeClr val="bg1"/>
                </a:solidFill>
              </a:defRPr>
            </a:lvl1pPr>
          </a:lstStyle>
          <a:p>
            <a:endParaRPr/>
          </a:p>
        </p:txBody>
      </p:sp>
      <p:sp>
        <p:nvSpPr>
          <p:cNvPr id="6" name="Slide Number Placeholder 5"/>
          <p:cNvSpPr>
            <a:spLocks noGrp="1"/>
          </p:cNvSpPr>
          <p:nvPr>
            <p:ph type="sldNum" sz="quarter" idx="12"/>
          </p:nvPr>
        </p:nvSpPr>
        <p:spPr>
          <a:xfrm>
            <a:off x="8305800" y="6248774"/>
            <a:ext cx="554038" cy="365125"/>
          </a:xfrm>
        </p:spPr>
        <p:txBody>
          <a:bodyPr/>
          <a:lstStyle/>
          <a:p>
            <a:fld id="{8AF02B71-8991-4516-A01E-F1A9ACD28BDC}" type="slidenum">
              <a:rPr/>
              <a:pPr/>
              <a:t>‹#›</a:t>
            </a:fld>
            <a:endParaRPr/>
          </a:p>
        </p:txBody>
      </p:sp>
      <p:sp>
        <p:nvSpPr>
          <p:cNvPr id="8" name="TextBox 7"/>
          <p:cNvSpPr txBox="1"/>
          <p:nvPr/>
        </p:nvSpPr>
        <p:spPr>
          <a:xfrm>
            <a:off x="2003612" y="3110754"/>
            <a:ext cx="260909" cy="615553"/>
          </a:xfrm>
          <a:prstGeom prst="rect">
            <a:avLst/>
          </a:prstGeom>
          <a:noFill/>
        </p:spPr>
        <p:txBody>
          <a:bodyPr wrap="square" lIns="0" tIns="0" rIns="0" bIns="0" rtlCol="0">
            <a:spAutoFit/>
          </a:bodyPr>
          <a:lstStyle/>
          <a:p>
            <a:r>
              <a:rPr sz="4000" b="1">
                <a:solidFill>
                  <a:schemeClr val="accent1">
                    <a:lumMod val="60000"/>
                    <a:lumOff val="40000"/>
                  </a:schemeClr>
                </a:solidFill>
              </a:rPr>
              <a:t>+</a:t>
            </a:r>
          </a:p>
        </p:txBody>
      </p:sp>
      <p:sp>
        <p:nvSpPr>
          <p:cNvPr id="9" name="Rectangle 8"/>
          <p:cNvSpPr/>
          <p:nvPr/>
        </p:nvSpPr>
        <p:spPr>
          <a:xfrm>
            <a:off x="285750" y="228600"/>
            <a:ext cx="212725" cy="634523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11" name="Rectangle 10"/>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9851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439987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0" name="Rectangle 9"/>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4" name="Content Placeholder 3"/>
          <p:cNvSpPr>
            <a:spLocks noGrp="1"/>
          </p:cNvSpPr>
          <p:nvPr>
            <p:ph sz="half" idx="2"/>
          </p:nvPr>
        </p:nvSpPr>
        <p:spPr>
          <a:xfrm>
            <a:off x="497541"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Content Placeholder 5"/>
          <p:cNvSpPr>
            <a:spLocks noGrp="1"/>
          </p:cNvSpPr>
          <p:nvPr>
            <p:ph sz="quarter" idx="4"/>
          </p:nvPr>
        </p:nvSpPr>
        <p:spPr>
          <a:xfrm>
            <a:off x="4399878"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8AF02B71-8991-4516-A01E-F1A9ACD28BDC}" type="slidenum">
              <a:rPr/>
              <a:pPr/>
              <a:t>‹#›</a:t>
            </a:fld>
            <a:endParaRPr/>
          </a:p>
        </p:txBody>
      </p:sp>
      <p:sp>
        <p:nvSpPr>
          <p:cNvPr id="3" name="Text Placeholder 2"/>
          <p:cNvSpPr>
            <a:spLocks noGrp="1"/>
          </p:cNvSpPr>
          <p:nvPr>
            <p:ph type="body" idx="1"/>
          </p:nvPr>
        </p:nvSpPr>
        <p:spPr>
          <a:xfrm>
            <a:off x="497541" y="2070847"/>
            <a:ext cx="3657600" cy="322729"/>
          </a:xfrm>
          <a:prstGeom prst="rect">
            <a:avLst/>
          </a:prstGeom>
          <a:solidFill>
            <a:schemeClr val="accent3"/>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p:cNvSpPr>
            <a:spLocks noGrp="1"/>
          </p:cNvSpPr>
          <p:nvPr>
            <p:ph type="body" sz="quarter" idx="3"/>
          </p:nvPr>
        </p:nvSpPr>
        <p:spPr>
          <a:xfrm>
            <a:off x="4399878" y="2070847"/>
            <a:ext cx="3657600" cy="322729"/>
          </a:xfrm>
          <a:prstGeom prst="rect">
            <a:avLst/>
          </a:prstGeom>
          <a:solidFill>
            <a:schemeClr val="accent3">
              <a:lumMod val="60000"/>
              <a:lumOff val="40000"/>
            </a:schemeClr>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98517" y="1985963"/>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endParaRPr/>
          </a:p>
        </p:txBody>
      </p:sp>
      <p:sp>
        <p:nvSpPr>
          <p:cNvPr id="6" name="Footer Placeholder 5"/>
          <p:cNvSpPr>
            <a:spLocks noGrp="1"/>
          </p:cNvSpPr>
          <p:nvPr>
            <p:ph type="ftr" sz="quarter" idx="11"/>
          </p:nvPr>
        </p:nvSpPr>
        <p:spPr/>
        <p:txBody>
          <a:bodyPr/>
          <a:lstStyle/>
          <a:p>
            <a:endParaRPr/>
          </a:p>
        </p:txBody>
      </p:sp>
      <p:sp>
        <p:nvSpPr>
          <p:cNvPr id="13" name="Content Placeholder 2"/>
          <p:cNvSpPr>
            <a:spLocks noGrp="1"/>
          </p:cNvSpPr>
          <p:nvPr>
            <p:ph sz="half" idx="14"/>
          </p:nvPr>
        </p:nvSpPr>
        <p:spPr>
          <a:xfrm>
            <a:off x="498517" y="4164965"/>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4" name="Rectangle 13"/>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5" name="Slide Number Placeholder 6"/>
          <p:cNvSpPr>
            <a:spLocks noGrp="1"/>
          </p:cNvSpPr>
          <p:nvPr>
            <p:ph type="sldNum" sz="quarter" idx="12"/>
          </p:nvPr>
        </p:nvSpPr>
        <p:spPr>
          <a:xfrm>
            <a:off x="8305800" y="242234"/>
            <a:ext cx="554038" cy="365125"/>
          </a:xfrm>
        </p:spPr>
        <p:txBody>
          <a:bodyPr/>
          <a:lstStyle/>
          <a:p>
            <a:fld id="{8AF02B71-8991-4516-A01E-F1A9ACD28BDC}" type="slidenum">
              <a:rPr/>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8" name="Rectangle 7"/>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1" name="Content Placeholder 2"/>
          <p:cNvSpPr>
            <a:spLocks noGrp="1"/>
          </p:cNvSpPr>
          <p:nvPr>
            <p:ph sz="half" idx="15"/>
          </p:nvPr>
        </p:nvSpPr>
        <p:spPr>
          <a:xfrm>
            <a:off x="49851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3"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8" name="Rectangle 7"/>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5" name="Date Placeholder 4"/>
          <p:cNvSpPr>
            <a:spLocks noGrp="1"/>
          </p:cNvSpPr>
          <p:nvPr>
            <p:ph type="dt" sz="half" idx="10"/>
          </p:nvPr>
        </p:nvSpPr>
        <p:spPr/>
        <p:txBody>
          <a:bodyPr/>
          <a:lstStyle/>
          <a:p>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2" name="Content Placeholder 2"/>
          <p:cNvSpPr>
            <a:spLocks noGrp="1"/>
          </p:cNvSpPr>
          <p:nvPr>
            <p:ph sz="half" idx="17"/>
          </p:nvPr>
        </p:nvSpPr>
        <p:spPr>
          <a:xfrm>
            <a:off x="502920" y="1985963"/>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4" name="Content Placeholder 2"/>
          <p:cNvSpPr>
            <a:spLocks noGrp="1"/>
          </p:cNvSpPr>
          <p:nvPr>
            <p:ph sz="half" idx="18"/>
          </p:nvPr>
        </p:nvSpPr>
        <p:spPr>
          <a:xfrm>
            <a:off x="502920" y="4164965"/>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5"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6"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Rectangle 5"/>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5" name="Rectangle 4"/>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p:txBody>
          <a:bodyPr/>
          <a:lstStyle/>
          <a:p>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282575" y="228600"/>
            <a:ext cx="3451225"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5" y="2571750"/>
            <a:ext cx="3255264" cy="1162050"/>
          </a:xfrm>
        </p:spPr>
        <p:txBody>
          <a:bodyPr anchor="b">
            <a:normAutofit/>
          </a:bodyPr>
          <a:lstStyle>
            <a:lvl1pPr algn="l">
              <a:defRPr sz="2600" b="0">
                <a:solidFill>
                  <a:schemeClr val="bg1"/>
                </a:solidFill>
              </a:defRPr>
            </a:lvl1pPr>
          </a:lstStyle>
          <a:p>
            <a:r>
              <a:rPr lang="en-US"/>
              <a:t>Click to edit Master title style</a:t>
            </a:r>
            <a:endParaRPr/>
          </a:p>
        </p:txBody>
      </p:sp>
      <p:sp>
        <p:nvSpPr>
          <p:cNvPr id="3" name="Content Placeholder 2"/>
          <p:cNvSpPr>
            <a:spLocks noGrp="1"/>
          </p:cNvSpPr>
          <p:nvPr>
            <p:ph idx="1"/>
          </p:nvPr>
        </p:nvSpPr>
        <p:spPr>
          <a:xfrm>
            <a:off x="4168775" y="273050"/>
            <a:ext cx="4597399" cy="5853113"/>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381093" y="3733800"/>
            <a:ext cx="3255264"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endParaRPr/>
          </a:p>
        </p:txBody>
      </p:sp>
      <p:sp>
        <p:nvSpPr>
          <p:cNvPr id="6" name="Footer Placeholder 5"/>
          <p:cNvSpPr>
            <a:spLocks noGrp="1"/>
          </p:cNvSpPr>
          <p:nvPr>
            <p:ph type="ftr" sz="quarter" idx="11"/>
          </p:nvPr>
        </p:nvSpPr>
        <p:spPr>
          <a:xfrm>
            <a:off x="3859305" y="6423585"/>
            <a:ext cx="3316941" cy="365125"/>
          </a:xfrm>
        </p:spPr>
        <p:txBody>
          <a:bodyPr/>
          <a:lstStyle/>
          <a:p>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169404" y="3124200"/>
            <a:ext cx="3898272" cy="87153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277906" y="228600"/>
            <a:ext cx="3460658" cy="634523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4" name="Text Placeholder 3"/>
          <p:cNvSpPr>
            <a:spLocks noGrp="1"/>
          </p:cNvSpPr>
          <p:nvPr>
            <p:ph type="body" sz="half" idx="2"/>
          </p:nvPr>
        </p:nvSpPr>
        <p:spPr>
          <a:xfrm>
            <a:off x="4169404" y="3995737"/>
            <a:ext cx="3898272"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endParaRPr/>
          </a:p>
        </p:txBody>
      </p:sp>
      <p:sp>
        <p:nvSpPr>
          <p:cNvPr id="6" name="Footer Placeholder 5"/>
          <p:cNvSpPr>
            <a:spLocks noGrp="1"/>
          </p:cNvSpPr>
          <p:nvPr>
            <p:ph type="ftr" sz="quarter" idx="11"/>
          </p:nvPr>
        </p:nvSpPr>
        <p:spPr>
          <a:xfrm>
            <a:off x="4191000" y="6423585"/>
            <a:ext cx="3005138" cy="365125"/>
          </a:xfrm>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0" name="TextBox 9"/>
          <p:cNvSpPr txBox="1"/>
          <p:nvPr/>
        </p:nvSpPr>
        <p:spPr>
          <a:xfrm>
            <a:off x="3990110" y="3370730"/>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2" name="Title 1"/>
          <p:cNvSpPr>
            <a:spLocks noGrp="1"/>
          </p:cNvSpPr>
          <p:nvPr>
            <p:ph type="title"/>
          </p:nvPr>
        </p:nvSpPr>
        <p:spPr>
          <a:xfrm>
            <a:off x="506505" y="4424082"/>
            <a:ext cx="6191157" cy="83371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277905" y="228600"/>
            <a:ext cx="6378389"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4" name="Text Placeholder 3"/>
          <p:cNvSpPr>
            <a:spLocks noGrp="1"/>
          </p:cNvSpPr>
          <p:nvPr>
            <p:ph type="body" sz="half" idx="2"/>
          </p:nvPr>
        </p:nvSpPr>
        <p:spPr>
          <a:xfrm>
            <a:off x="506505" y="5257799"/>
            <a:ext cx="6191157" cy="885825"/>
          </a:xfrm>
        </p:spPr>
        <p:txBody>
          <a:bodyPr/>
          <a:lstStyle>
            <a:lvl1pPr marL="0" indent="0">
              <a:spcBef>
                <a:spcPts val="3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8" name="Rectangle 7"/>
          <p:cNvSpPr/>
          <p:nvPr/>
        </p:nvSpPr>
        <p:spPr>
          <a:xfrm>
            <a:off x="6802438" y="22860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6802438" y="2377440"/>
            <a:ext cx="2057400" cy="20391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327212" y="4632792"/>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2 Pictures with Caption">
    <p:spTree>
      <p:nvGrpSpPr>
        <p:cNvPr id="1" name=""/>
        <p:cNvGrpSpPr/>
        <p:nvPr/>
      </p:nvGrpSpPr>
      <p:grpSpPr>
        <a:xfrm>
          <a:off x="0" y="0"/>
          <a:ext cx="0" cy="0"/>
          <a:chOff x="0" y="0"/>
          <a:chExt cx="0" cy="0"/>
        </a:xfrm>
      </p:grpSpPr>
      <p:sp>
        <p:nvSpPr>
          <p:cNvPr id="8" name="Rectangle 7"/>
          <p:cNvSpPr/>
          <p:nvPr/>
        </p:nvSpPr>
        <p:spPr>
          <a:xfrm>
            <a:off x="282574" y="228600"/>
            <a:ext cx="6387167"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4" y="2571750"/>
            <a:ext cx="6181611" cy="1162050"/>
          </a:xfrm>
        </p:spPr>
        <p:txBody>
          <a:bodyPr anchor="b">
            <a:normAutofit/>
          </a:bodyPr>
          <a:lstStyle>
            <a:lvl1pPr algn="l">
              <a:defRPr sz="2600" b="0">
                <a:solidFill>
                  <a:schemeClr val="bg1"/>
                </a:solidFill>
              </a:defRPr>
            </a:lvl1pPr>
          </a:lstStyle>
          <a:p>
            <a:r>
              <a:rPr lang="en-US"/>
              <a:t>Click to edit Master title style</a:t>
            </a:r>
            <a:endParaRPr/>
          </a:p>
        </p:txBody>
      </p:sp>
      <p:sp>
        <p:nvSpPr>
          <p:cNvPr id="4" name="Text Placeholder 3"/>
          <p:cNvSpPr>
            <a:spLocks noGrp="1"/>
          </p:cNvSpPr>
          <p:nvPr>
            <p:ph type="body" sz="half" idx="2"/>
          </p:nvPr>
        </p:nvSpPr>
        <p:spPr>
          <a:xfrm>
            <a:off x="381094" y="3733800"/>
            <a:ext cx="6179566"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5212262" y="6235607"/>
            <a:ext cx="1348398" cy="365125"/>
          </a:xfrm>
        </p:spPr>
        <p:txBody>
          <a:bodyPr/>
          <a:lstStyle>
            <a:lvl1pPr>
              <a:defRPr>
                <a:solidFill>
                  <a:schemeClr val="bg1"/>
                </a:solidFill>
              </a:defRPr>
            </a:lvl1pPr>
          </a:lstStyle>
          <a:p>
            <a:endParaRPr/>
          </a:p>
        </p:txBody>
      </p:sp>
      <p:sp>
        <p:nvSpPr>
          <p:cNvPr id="6" name="Footer Placeholder 5"/>
          <p:cNvSpPr>
            <a:spLocks noGrp="1"/>
          </p:cNvSpPr>
          <p:nvPr>
            <p:ph type="ftr" sz="quarter" idx="11"/>
          </p:nvPr>
        </p:nvSpPr>
        <p:spPr>
          <a:xfrm>
            <a:off x="381095" y="6235607"/>
            <a:ext cx="4648105" cy="365125"/>
          </a:xfrm>
        </p:spPr>
        <p:txBody>
          <a:bodyPr/>
          <a:lstStyle>
            <a:lvl1pPr>
              <a:defRPr>
                <a:solidFill>
                  <a:schemeClr val="bg1"/>
                </a:solidFill>
              </a:defRPr>
            </a:lvl1p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0" name="Rectangle 9"/>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Picture Placeholder 12"/>
          <p:cNvSpPr>
            <a:spLocks noGrp="1"/>
          </p:cNvSpPr>
          <p:nvPr>
            <p:ph type="pic" sz="quarter" idx="13"/>
          </p:nvPr>
        </p:nvSpPr>
        <p:spPr>
          <a:xfrm>
            <a:off x="6802438" y="2374940"/>
            <a:ext cx="2057400" cy="2039112"/>
          </a:xfrm>
        </p:spPr>
        <p:txBody>
          <a:bodyPr/>
          <a:lstStyle>
            <a:lvl1pPr>
              <a:buNone/>
              <a:defRPr/>
            </a:lvl1pPr>
          </a:lstStyle>
          <a:p>
            <a:r>
              <a:rPr lang="en-US" dirty="0"/>
              <a:t>Click icon to add picture</a:t>
            </a:r>
            <a:endParaRPr dirty="0"/>
          </a:p>
        </p:txBody>
      </p:sp>
      <p:sp>
        <p:nvSpPr>
          <p:cNvPr id="13" name="Picture Placeholder 12"/>
          <p:cNvSpPr>
            <a:spLocks noGrp="1"/>
          </p:cNvSpPr>
          <p:nvPr>
            <p:ph type="pic" sz="quarter" idx="14"/>
          </p:nvPr>
        </p:nvSpPr>
        <p:spPr>
          <a:xfrm>
            <a:off x="6802438" y="4535424"/>
            <a:ext cx="2057400" cy="2039112"/>
          </a:xfrm>
        </p:spPr>
        <p:txBody>
          <a:bodyPr/>
          <a:lstStyle>
            <a:lvl1pPr>
              <a:buNone/>
              <a:defRPr/>
            </a:lvl1pPr>
          </a:lstStyle>
          <a:p>
            <a:r>
              <a:rPr lang="en-US" dirty="0"/>
              <a:t>Click icon to add picture</a:t>
            </a:r>
            <a:endParaRPr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 Pictures with Caption">
    <p:spTree>
      <p:nvGrpSpPr>
        <p:cNvPr id="1" name=""/>
        <p:cNvGrpSpPr/>
        <p:nvPr/>
      </p:nvGrpSpPr>
      <p:grpSpPr>
        <a:xfrm>
          <a:off x="0" y="0"/>
          <a:ext cx="0" cy="0"/>
          <a:chOff x="0" y="0"/>
          <a:chExt cx="0" cy="0"/>
        </a:xfrm>
      </p:grpSpPr>
      <p:sp>
        <p:nvSpPr>
          <p:cNvPr id="8" name="Rectangle 7"/>
          <p:cNvSpPr/>
          <p:nvPr/>
        </p:nvSpPr>
        <p:spPr>
          <a:xfrm>
            <a:off x="282575" y="228600"/>
            <a:ext cx="4235450"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4" y="2571750"/>
            <a:ext cx="4016633" cy="1162050"/>
          </a:xfrm>
        </p:spPr>
        <p:txBody>
          <a:bodyPr anchor="b">
            <a:normAutofit/>
          </a:bodyPr>
          <a:lstStyle>
            <a:lvl1pPr algn="l">
              <a:defRPr sz="2600" b="0">
                <a:solidFill>
                  <a:schemeClr val="bg1"/>
                </a:solidFill>
              </a:defRPr>
            </a:lvl1pPr>
          </a:lstStyle>
          <a:p>
            <a:r>
              <a:rPr lang="en-US"/>
              <a:t>Click to edit Master title style</a:t>
            </a:r>
            <a:endParaRPr/>
          </a:p>
        </p:txBody>
      </p:sp>
      <p:sp>
        <p:nvSpPr>
          <p:cNvPr id="4" name="Text Placeholder 3"/>
          <p:cNvSpPr>
            <a:spLocks noGrp="1"/>
          </p:cNvSpPr>
          <p:nvPr>
            <p:ph type="body" sz="half" idx="2"/>
          </p:nvPr>
        </p:nvSpPr>
        <p:spPr>
          <a:xfrm>
            <a:off x="381094" y="3733800"/>
            <a:ext cx="4015304"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048000" y="6235607"/>
            <a:ext cx="1348398" cy="365125"/>
          </a:xfrm>
        </p:spPr>
        <p:txBody>
          <a:bodyPr/>
          <a:lstStyle>
            <a:lvl1pPr>
              <a:defRPr>
                <a:solidFill>
                  <a:schemeClr val="bg1"/>
                </a:solidFill>
              </a:defRPr>
            </a:lvl1pPr>
          </a:lstStyle>
          <a:p>
            <a:endParaRPr/>
          </a:p>
        </p:txBody>
      </p:sp>
      <p:sp>
        <p:nvSpPr>
          <p:cNvPr id="6" name="Footer Placeholder 5"/>
          <p:cNvSpPr>
            <a:spLocks noGrp="1"/>
          </p:cNvSpPr>
          <p:nvPr>
            <p:ph type="ftr" sz="quarter" idx="11"/>
          </p:nvPr>
        </p:nvSpPr>
        <p:spPr>
          <a:xfrm>
            <a:off x="381095" y="6235607"/>
            <a:ext cx="2590705" cy="365125"/>
          </a:xfrm>
        </p:spPr>
        <p:txBody>
          <a:bodyPr/>
          <a:lstStyle>
            <a:lvl1pPr>
              <a:defRPr>
                <a:solidFill>
                  <a:schemeClr val="bg1"/>
                </a:solidFill>
              </a:defRPr>
            </a:lvl1p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0" name="Rectangle 9"/>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4388" y="4534726"/>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Picture Placeholder 12"/>
          <p:cNvSpPr>
            <a:spLocks noGrp="1"/>
          </p:cNvSpPr>
          <p:nvPr>
            <p:ph type="pic" sz="quarter" idx="13"/>
          </p:nvPr>
        </p:nvSpPr>
        <p:spPr>
          <a:xfrm>
            <a:off x="4624388" y="228600"/>
            <a:ext cx="2057400" cy="2039112"/>
          </a:xfrm>
        </p:spPr>
        <p:txBody>
          <a:bodyPr/>
          <a:lstStyle>
            <a:lvl1pPr>
              <a:buNone/>
              <a:defRPr/>
            </a:lvl1pPr>
          </a:lstStyle>
          <a:p>
            <a:r>
              <a:rPr lang="en-US" dirty="0"/>
              <a:t>Click icon to add picture</a:t>
            </a:r>
            <a:endParaRPr dirty="0"/>
          </a:p>
        </p:txBody>
      </p:sp>
      <p:sp>
        <p:nvSpPr>
          <p:cNvPr id="13" name="Picture Placeholder 12"/>
          <p:cNvSpPr>
            <a:spLocks noGrp="1"/>
          </p:cNvSpPr>
          <p:nvPr>
            <p:ph type="pic" sz="quarter" idx="14"/>
          </p:nvPr>
        </p:nvSpPr>
        <p:spPr>
          <a:xfrm>
            <a:off x="4624388" y="2381663"/>
            <a:ext cx="2057400" cy="2039112"/>
          </a:xfrm>
        </p:spPr>
        <p:txBody>
          <a:bodyPr/>
          <a:lstStyle>
            <a:lvl1pPr>
              <a:buNone/>
              <a:defRPr/>
            </a:lvl1pPr>
          </a:lstStyle>
          <a:p>
            <a:r>
              <a:rPr lang="en-US" dirty="0"/>
              <a:t>Click icon to add picture</a:t>
            </a:r>
            <a:endParaRPr dirty="0"/>
          </a:p>
        </p:txBody>
      </p:sp>
      <p:sp>
        <p:nvSpPr>
          <p:cNvPr id="14" name="Picture Placeholder 12"/>
          <p:cNvSpPr>
            <a:spLocks noGrp="1"/>
          </p:cNvSpPr>
          <p:nvPr>
            <p:ph type="pic" sz="quarter" idx="15"/>
          </p:nvPr>
        </p:nvSpPr>
        <p:spPr>
          <a:xfrm>
            <a:off x="6803136" y="2381662"/>
            <a:ext cx="2057400" cy="4187952"/>
          </a:xfrm>
        </p:spPr>
        <p:txBody>
          <a:bodyPr/>
          <a:lstStyle>
            <a:lvl1pPr>
              <a:buNone/>
              <a:defRPr/>
            </a:lvl1pPr>
          </a:lstStyle>
          <a:p>
            <a:r>
              <a:rPr lang="en-US" dirty="0"/>
              <a:t>Click icon to add picture</a:t>
            </a:r>
            <a:endParaRPr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 Pictures with Caption, Alt.">
    <p:spTree>
      <p:nvGrpSpPr>
        <p:cNvPr id="1" name=""/>
        <p:cNvGrpSpPr/>
        <p:nvPr/>
      </p:nvGrpSpPr>
      <p:grpSpPr>
        <a:xfrm>
          <a:off x="0" y="0"/>
          <a:ext cx="0" cy="0"/>
          <a:chOff x="0" y="0"/>
          <a:chExt cx="0" cy="0"/>
        </a:xfrm>
      </p:grpSpPr>
      <p:sp>
        <p:nvSpPr>
          <p:cNvPr id="11" name="Rectangle 10"/>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53000" y="3124200"/>
            <a:ext cx="3108960" cy="87153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277905" y="2365248"/>
            <a:ext cx="4240119"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4" name="Text Placeholder 3"/>
          <p:cNvSpPr>
            <a:spLocks noGrp="1"/>
          </p:cNvSpPr>
          <p:nvPr>
            <p:ph type="body" sz="half" idx="2"/>
          </p:nvPr>
        </p:nvSpPr>
        <p:spPr>
          <a:xfrm>
            <a:off x="4953000" y="3995737"/>
            <a:ext cx="3108960"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endParaRPr/>
          </a:p>
        </p:txBody>
      </p:sp>
      <p:sp>
        <p:nvSpPr>
          <p:cNvPr id="6" name="Footer Placeholder 5"/>
          <p:cNvSpPr>
            <a:spLocks noGrp="1"/>
          </p:cNvSpPr>
          <p:nvPr>
            <p:ph type="ftr" sz="quarter" idx="11"/>
          </p:nvPr>
        </p:nvSpPr>
        <p:spPr>
          <a:xfrm>
            <a:off x="4191000" y="6423585"/>
            <a:ext cx="3005138" cy="365125"/>
          </a:xfrm>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0" name="TextBox 9"/>
          <p:cNvSpPr txBox="1"/>
          <p:nvPr/>
        </p:nvSpPr>
        <p:spPr>
          <a:xfrm>
            <a:off x="4750361" y="3370730"/>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
        <p:nvSpPr>
          <p:cNvPr id="14" name="Picture Placeholder 12"/>
          <p:cNvSpPr>
            <a:spLocks noGrp="1"/>
          </p:cNvSpPr>
          <p:nvPr>
            <p:ph type="pic" sz="quarter" idx="13"/>
          </p:nvPr>
        </p:nvSpPr>
        <p:spPr>
          <a:xfrm>
            <a:off x="277905" y="228600"/>
            <a:ext cx="2057400" cy="2039112"/>
          </a:xfrm>
        </p:spPr>
        <p:txBody>
          <a:bodyPr/>
          <a:lstStyle>
            <a:lvl1pPr>
              <a:buNone/>
              <a:defRPr/>
            </a:lvl1pPr>
          </a:lstStyle>
          <a:p>
            <a:r>
              <a:rPr lang="en-US" dirty="0"/>
              <a:t>Click icon to add picture</a:t>
            </a:r>
            <a:endParaRPr dirty="0"/>
          </a:p>
        </p:txBody>
      </p:sp>
      <p:sp>
        <p:nvSpPr>
          <p:cNvPr id="15" name="Picture Placeholder 12"/>
          <p:cNvSpPr>
            <a:spLocks noGrp="1"/>
          </p:cNvSpPr>
          <p:nvPr>
            <p:ph type="pic" sz="quarter" idx="14"/>
          </p:nvPr>
        </p:nvSpPr>
        <p:spPr>
          <a:xfrm>
            <a:off x="2460625" y="228600"/>
            <a:ext cx="2057400" cy="2039112"/>
          </a:xfrm>
        </p:spPr>
        <p:txBody>
          <a:bodyPr/>
          <a:lstStyle>
            <a:lvl1pPr>
              <a:buNone/>
              <a:defRPr/>
            </a:lvl1pPr>
          </a:lstStyle>
          <a:p>
            <a:r>
              <a:rPr lang="en-US" dirty="0"/>
              <a:t>Click icon to add picture</a:t>
            </a:r>
            <a:endParaRPr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sp>
        <p:nvSpPr>
          <p:cNvPr id="7" name="Rectangle 6"/>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sp>
        <p:nvSpPr>
          <p:cNvPr id="10" name="Rectangle 9"/>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995772" y="954742"/>
            <a:ext cx="681318" cy="5171422"/>
          </a:xfrm>
        </p:spPr>
        <p:txBody>
          <a:bodyPr vert="eaVert" anchor="t" anchorCtr="0"/>
          <a:lstStyle/>
          <a:p>
            <a:r>
              <a:rPr lang="en-US"/>
              <a:t>Click to edit Master title style</a:t>
            </a:r>
            <a:endParaRPr/>
          </a:p>
        </p:txBody>
      </p:sp>
      <p:sp>
        <p:nvSpPr>
          <p:cNvPr id="3" name="Vertical Text Placeholder 2"/>
          <p:cNvSpPr>
            <a:spLocks noGrp="1"/>
          </p:cNvSpPr>
          <p:nvPr>
            <p:ph type="body" orient="vert" idx="1"/>
          </p:nvPr>
        </p:nvSpPr>
        <p:spPr>
          <a:xfrm>
            <a:off x="457200" y="958756"/>
            <a:ext cx="6858000" cy="518486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rot="16200000">
            <a:off x="8593111" y="561668"/>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2"/>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8474" y="484094"/>
            <a:ext cx="7556313" cy="1116106"/>
          </a:xfrm>
          <a:prstGeom prst="rect">
            <a:avLst/>
          </a:prstGeom>
        </p:spPr>
        <p:txBody>
          <a:bodyPr vert="horz" lIns="91440" tIns="45720" rIns="91440" bIns="45720" rtlCol="0" anchor="t" anchorCtr="0">
            <a:noAutofit/>
          </a:bodyPr>
          <a:lstStyle/>
          <a:p>
            <a:r>
              <a:rPr lang="en-US"/>
              <a:t>Click to edit Master title style</a:t>
            </a:r>
            <a:endParaRPr/>
          </a:p>
        </p:txBody>
      </p:sp>
      <p:sp>
        <p:nvSpPr>
          <p:cNvPr id="3" name="Text Placeholder 2"/>
          <p:cNvSpPr>
            <a:spLocks noGrp="1"/>
          </p:cNvSpPr>
          <p:nvPr>
            <p:ph type="body" idx="1"/>
          </p:nvPr>
        </p:nvSpPr>
        <p:spPr>
          <a:xfrm>
            <a:off x="498474" y="1981200"/>
            <a:ext cx="7556313" cy="4144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6795247" y="6423585"/>
            <a:ext cx="2133600" cy="365125"/>
          </a:xfrm>
          <a:prstGeom prst="rect">
            <a:avLst/>
          </a:prstGeom>
        </p:spPr>
        <p:txBody>
          <a:bodyPr vert="horz" lIns="91440" tIns="45720" rIns="91440" bIns="45720" rtlCol="0" anchor="ctr"/>
          <a:lstStyle>
            <a:lvl1pPr algn="r">
              <a:defRPr sz="1100">
                <a:solidFill>
                  <a:schemeClr val="tx1">
                    <a:lumMod val="65000"/>
                    <a:lumOff val="35000"/>
                  </a:schemeClr>
                </a:solidFill>
              </a:defRPr>
            </a:lvl1pPr>
          </a:lstStyle>
          <a:p>
            <a:endParaRPr/>
          </a:p>
        </p:txBody>
      </p:sp>
      <p:sp>
        <p:nvSpPr>
          <p:cNvPr id="5" name="Footer Placeholder 4"/>
          <p:cNvSpPr>
            <a:spLocks noGrp="1"/>
          </p:cNvSpPr>
          <p:nvPr>
            <p:ph type="ftr" sz="quarter" idx="3"/>
          </p:nvPr>
        </p:nvSpPr>
        <p:spPr>
          <a:xfrm>
            <a:off x="201706" y="6423585"/>
            <a:ext cx="6122894" cy="365125"/>
          </a:xfrm>
          <a:prstGeom prst="rect">
            <a:avLst/>
          </a:prstGeom>
        </p:spPr>
        <p:txBody>
          <a:bodyPr vert="horz" lIns="91440" tIns="45720" rIns="91440" bIns="45720" rtlCol="0" anchor="ctr"/>
          <a:lstStyle>
            <a:lvl1pPr algn="l">
              <a:defRPr sz="1100">
                <a:solidFill>
                  <a:schemeClr val="tx1">
                    <a:lumMod val="65000"/>
                    <a:lumOff val="35000"/>
                  </a:schemeClr>
                </a:solidFill>
              </a:defRPr>
            </a:lvl1pPr>
          </a:lstStyle>
          <a:p>
            <a:endParaRPr/>
          </a:p>
        </p:txBody>
      </p:sp>
      <p:sp>
        <p:nvSpPr>
          <p:cNvPr id="6" name="Slide Number Placeholder 5"/>
          <p:cNvSpPr>
            <a:spLocks noGrp="1"/>
          </p:cNvSpPr>
          <p:nvPr>
            <p:ph type="sldNum" sz="quarter" idx="4"/>
          </p:nvPr>
        </p:nvSpPr>
        <p:spPr>
          <a:xfrm>
            <a:off x="8305800" y="242234"/>
            <a:ext cx="554038" cy="365125"/>
          </a:xfrm>
          <a:prstGeom prst="rect">
            <a:avLst/>
          </a:prstGeom>
        </p:spPr>
        <p:txBody>
          <a:bodyPr vert="horz" lIns="91440" tIns="45720" rIns="91440" bIns="45720" rtlCol="0" anchor="ctr"/>
          <a:lstStyle>
            <a:lvl1pPr algn="r">
              <a:defRPr sz="1400">
                <a:solidFill>
                  <a:schemeClr val="bg1"/>
                </a:solidFill>
              </a:defRPr>
            </a:lvl1pPr>
          </a:lstStyle>
          <a:p>
            <a:fld id="{8AF02B71-8991-4516-A01E-F1A9ACD28BDC}" type="slidenum">
              <a:rPr/>
              <a:pPr/>
              <a:t>‹#›</a:t>
            </a:fld>
            <a:endParaRPr/>
          </a:p>
        </p:txBody>
      </p:sp>
    </p:spTree>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 id="2147483694" r:id="rId17"/>
    <p:sldLayoutId id="2147483695" r:id="rId18"/>
    <p:sldLayoutId id="2147483696" r:id="rId19"/>
    <p:sldLayoutId id="2147483697" r:id="rId20"/>
  </p:sldLayoutIdLst>
  <p:hf hdr="0" ftr="0" dt="0"/>
  <p:txStyles>
    <p:titleStyle>
      <a:lvl1pPr algn="l" defTabSz="914400" rtl="0" eaLnBrk="1" latinLnBrk="0" hangingPunct="1">
        <a:spcBef>
          <a:spcPct val="0"/>
        </a:spcBef>
        <a:buNone/>
        <a:defRPr sz="3600" b="0" kern="1200">
          <a:solidFill>
            <a:schemeClr val="accent1"/>
          </a:solidFill>
          <a:latin typeface="+mj-lt"/>
          <a:ea typeface="+mj-ea"/>
          <a:cs typeface="+mj-cs"/>
        </a:defRPr>
      </a:lvl1pPr>
    </p:titleStyle>
    <p:bodyStyle>
      <a:lvl1pPr marL="228600" indent="-228600" algn="l" defTabSz="914400" rtl="0" eaLnBrk="1" latinLnBrk="0" hangingPunct="1">
        <a:spcBef>
          <a:spcPts val="2000"/>
        </a:spcBef>
        <a:buClr>
          <a:schemeClr val="accent1"/>
        </a:buClr>
        <a:buSzPct val="75000"/>
        <a:buFont typeface="Wingdings" pitchFamily="2" charset="2"/>
        <a:buChar char="n"/>
        <a:defRPr sz="2000" kern="1200">
          <a:solidFill>
            <a:schemeClr val="tx1">
              <a:lumMod val="65000"/>
              <a:lumOff val="35000"/>
            </a:schemeClr>
          </a:solidFill>
          <a:latin typeface="+mn-lt"/>
          <a:ea typeface="+mn-ea"/>
          <a:cs typeface="+mn-cs"/>
        </a:defRPr>
      </a:lvl1pPr>
      <a:lvl2pPr marL="4572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2pPr>
      <a:lvl3pPr marL="6858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3pPr>
      <a:lvl4pPr marL="9144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4pPr>
      <a:lvl5pPr marL="11430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df"/><Relationship Id="rId2" Type="http://schemas.openxmlformats.org/officeDocument/2006/relationships/notesSlide" Target="../notesSlides/notesSlide12.xml"/><Relationship Id="rId1" Type="http://schemas.openxmlformats.org/officeDocument/2006/relationships/slideLayout" Target="../slideLayouts/slideLayout12.xml"/><Relationship Id="rId5" Type="http://schemas.openxmlformats.org/officeDocument/2006/relationships/image" Target="../media/image10.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6.pdf"/><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3.xml"/><Relationship Id="rId5" Type="http://schemas.openxmlformats.org/officeDocument/2006/relationships/image" Target="../media/image17.png"/><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5.xml"/><Relationship Id="rId7" Type="http://schemas.openxmlformats.org/officeDocument/2006/relationships/image" Target="../media/image10.png"/><Relationship Id="rId2" Type="http://schemas.openxmlformats.org/officeDocument/2006/relationships/slideLayout" Target="../slideLayouts/slideLayout6.xml"/><Relationship Id="rId1" Type="http://schemas.openxmlformats.org/officeDocument/2006/relationships/vmlDrawing" Target="../drawings/vmlDrawing1.vml"/><Relationship Id="rId6" Type="http://schemas.openxmlformats.org/officeDocument/2006/relationships/image" Target="../media/image18.png"/><Relationship Id="rId5" Type="http://schemas.openxmlformats.org/officeDocument/2006/relationships/oleObject" Target="Macintosh%20HD:Users:kevinmclaughlin:Desktop:COA9e%20PPT+TestBank:COA9e%20Tables:T02-Evolution.doc!OLE_LINK2" TargetMode="External"/><Relationship Id="rId4" Type="http://schemas.openxmlformats.org/officeDocument/2006/relationships/image" Target="../media/image1.jpe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6.xml"/><Relationship Id="rId7" Type="http://schemas.openxmlformats.org/officeDocument/2006/relationships/image" Target="../media/image10.png"/><Relationship Id="rId2" Type="http://schemas.openxmlformats.org/officeDocument/2006/relationships/slideLayout" Target="../slideLayouts/slideLayout6.xml"/><Relationship Id="rId1" Type="http://schemas.openxmlformats.org/officeDocument/2006/relationships/vmlDrawing" Target="../drawings/vmlDrawing2.vml"/><Relationship Id="rId6" Type="http://schemas.openxmlformats.org/officeDocument/2006/relationships/image" Target="../media/image18.png"/><Relationship Id="rId5" Type="http://schemas.openxmlformats.org/officeDocument/2006/relationships/oleObject" Target="???" TargetMode="External"/><Relationship Id="rId4" Type="http://schemas.openxmlformats.org/officeDocument/2006/relationships/image" Target="../media/image1.jpeg"/></Relationships>
</file>

<file path=ppt/slides/_rels/slide21.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8.xml"/><Relationship Id="rId1" Type="http://schemas.openxmlformats.org/officeDocument/2006/relationships/slideLayout" Target="../slideLayouts/slideLayout17.xml"/><Relationship Id="rId6" Type="http://schemas.openxmlformats.org/officeDocument/2006/relationships/image" Target="../media/image10.png"/><Relationship Id="rId5" Type="http://schemas.openxmlformats.org/officeDocument/2006/relationships/image" Target="../media/image21.png"/><Relationship Id="rId4" Type="http://schemas.openxmlformats.org/officeDocument/2006/relationships/image" Target="../media/image15.pdf"/></Relationships>
</file>

<file path=ppt/slides/_rels/slide23.xml.rels><?xml version="1.0" encoding="UTF-8" standalone="yes"?>
<Relationships xmlns="http://schemas.openxmlformats.org/package/2006/relationships"><Relationship Id="rId3" Type="http://schemas.openxmlformats.org/officeDocument/2006/relationships/hyperlink" Target="https://en.wikipedia.org/wiki/Transistor"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notesSlide" Target="../notesSlides/notesSlide21.xml"/><Relationship Id="rId1" Type="http://schemas.openxmlformats.org/officeDocument/2006/relationships/slideLayout" Target="../slideLayouts/slideLayout12.xml"/><Relationship Id="rId5" Type="http://schemas.openxmlformats.org/officeDocument/2006/relationships/image" Target="../media/image11.png"/><Relationship Id="rId4" Type="http://schemas.openxmlformats.org/officeDocument/2006/relationships/image" Target="../media/image24.png"/></Relationships>
</file>

<file path=ppt/slides/_rels/slide26.xml.rels><?xml version="1.0" encoding="UTF-8" standalone="yes"?>
<Relationships xmlns="http://schemas.openxmlformats.org/package/2006/relationships"><Relationship Id="rId3" Type="http://schemas.openxmlformats.org/officeDocument/2006/relationships/image" Target="../media/image21.pdf"/><Relationship Id="rId2" Type="http://schemas.openxmlformats.org/officeDocument/2006/relationships/notesSlide" Target="../notesSlides/notesSlide22.xml"/><Relationship Id="rId1" Type="http://schemas.openxmlformats.org/officeDocument/2006/relationships/slideLayout" Target="../slideLayouts/slideLayout12.xml"/><Relationship Id="rId5" Type="http://schemas.openxmlformats.org/officeDocument/2006/relationships/image" Target="../media/image11.png"/><Relationship Id="rId4" Type="http://schemas.openxmlformats.org/officeDocument/2006/relationships/image" Target="../media/image25.png"/></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24.pdf"/><Relationship Id="rId2" Type="http://schemas.openxmlformats.org/officeDocument/2006/relationships/notesSlide" Target="../notesSlides/notesSlide24.xml"/><Relationship Id="rId1" Type="http://schemas.openxmlformats.org/officeDocument/2006/relationships/slideLayout" Target="../slideLayouts/slideLayout6.xml"/><Relationship Id="rId5" Type="http://schemas.openxmlformats.org/officeDocument/2006/relationships/image" Target="../media/image13.png"/><Relationship Id="rId4" Type="http://schemas.openxmlformats.org/officeDocument/2006/relationships/image" Target="../media/image26.png"/></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3" Type="http://schemas.openxmlformats.org/officeDocument/2006/relationships/image" Target="../media/image26.pdf"/><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27.png"/></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3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8.xml"/><Relationship Id="rId1" Type="http://schemas.openxmlformats.org/officeDocument/2006/relationships/slideLayout" Target="../slideLayouts/slideLayout1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9.xml"/><Relationship Id="rId7" Type="http://schemas.openxmlformats.org/officeDocument/2006/relationships/image" Target="../media/image13.png"/><Relationship Id="rId2" Type="http://schemas.openxmlformats.org/officeDocument/2006/relationships/slideLayout" Target="../slideLayouts/slideLayout11.xml"/><Relationship Id="rId1" Type="http://schemas.openxmlformats.org/officeDocument/2006/relationships/vmlDrawing" Target="../drawings/vmlDrawing3.vml"/><Relationship Id="rId6" Type="http://schemas.openxmlformats.org/officeDocument/2006/relationships/image" Target="../media/image29.png"/><Relationship Id="rId5" Type="http://schemas.openxmlformats.org/officeDocument/2006/relationships/oleObject" Target="!OLE_LINK3" TargetMode="External"/><Relationship Id="rId4" Type="http://schemas.openxmlformats.org/officeDocument/2006/relationships/image" Target="../media/image1.jpeg"/></Relationships>
</file>

<file path=ppt/slides/_rels/slide34.xml.rels><?xml version="1.0" encoding="UTF-8" standalone="yes"?>
<Relationships xmlns="http://schemas.openxmlformats.org/package/2006/relationships"><Relationship Id="rId8" Type="http://schemas.openxmlformats.org/officeDocument/2006/relationships/hyperlink" Target="https://en.wikipedia.org/wiki/Digital_Equipment_Corporation" TargetMode="External"/><Relationship Id="rId3" Type="http://schemas.openxmlformats.org/officeDocument/2006/relationships/notesSlide" Target="../notesSlides/notesSlide30.xml"/><Relationship Id="rId7" Type="http://schemas.openxmlformats.org/officeDocument/2006/relationships/image" Target="../media/image13.png"/><Relationship Id="rId2" Type="http://schemas.openxmlformats.org/officeDocument/2006/relationships/slideLayout" Target="../slideLayouts/slideLayout12.xml"/><Relationship Id="rId1" Type="http://schemas.openxmlformats.org/officeDocument/2006/relationships/vmlDrawing" Target="../drawings/vmlDrawing4.vml"/><Relationship Id="rId6" Type="http://schemas.openxmlformats.org/officeDocument/2006/relationships/image" Target="../media/image30.png"/><Relationship Id="rId5" Type="http://schemas.openxmlformats.org/officeDocument/2006/relationships/oleObject" Target="Macintosh%20HD:Users:kevinmclaughlin:Desktop:COA9e%20PPT+TestBank:COA9e%20Tables:T02-Evolution-Horizontal.doc!OLE_LINK4" TargetMode="External"/><Relationship Id="rId4" Type="http://schemas.openxmlformats.org/officeDocument/2006/relationships/image" Target="../media/image1.jpeg"/></Relationships>
</file>

<file path=ppt/slides/_rels/slide3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1.xml"/><Relationship Id="rId1" Type="http://schemas.openxmlformats.org/officeDocument/2006/relationships/slideLayout" Target="../slideLayouts/slideLayout6.xml"/><Relationship Id="rId4" Type="http://schemas.openxmlformats.org/officeDocument/2006/relationships/image" Target="../media/image31.png"/></Relationships>
</file>

<file path=ppt/slides/_rels/slide36.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notesSlide" Target="../notesSlides/notesSlide32.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37.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2.xml"/><Relationship Id="rId1" Type="http://schemas.openxmlformats.org/officeDocument/2006/relationships/vmlDrawing" Target="../drawings/vmlDrawing5.vml"/><Relationship Id="rId6" Type="http://schemas.openxmlformats.org/officeDocument/2006/relationships/image" Target="../media/image34.png"/><Relationship Id="rId5" Type="http://schemas.openxmlformats.org/officeDocument/2006/relationships/package" Target="../embeddings/Microsoft_Word_Document1.docx"/><Relationship Id="rId4" Type="http://schemas.openxmlformats.org/officeDocument/2006/relationships/package" Target="../embeddings/Microsoft_Word_Document.docx"/></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2.xml"/><Relationship Id="rId1" Type="http://schemas.openxmlformats.org/officeDocument/2006/relationships/vmlDrawing" Target="../drawings/vmlDrawing6.vml"/><Relationship Id="rId6" Type="http://schemas.openxmlformats.org/officeDocument/2006/relationships/image" Target="../media/image35.png"/><Relationship Id="rId5" Type="http://schemas.openxmlformats.org/officeDocument/2006/relationships/oleObject" Target="Macintosh%20HD:Users:kevinmclaughlin:Desktop:COA9e%20PPT+TestBank:COA9e%20Tables:T02-Evolution-Horizontal.doc!OLE_LINK6" TargetMode="External"/><Relationship Id="rId4" Type="http://schemas.openxmlformats.org/officeDocument/2006/relationships/oleObject" Target="Macintosh%20HD:Users:kevinmclaughlin:Desktop:COA9e%20PPT+TestBank:COA9e%20Tables:T02-Evolution-Horizontal.doc!OLE_LINK5" TargetMode="Externa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2.pdf"/><Relationship Id="rId2" Type="http://schemas.openxmlformats.org/officeDocument/2006/relationships/notesSlide" Target="../notesSlides/notesSlide43.xml"/><Relationship Id="rId1" Type="http://schemas.openxmlformats.org/officeDocument/2006/relationships/slideLayout" Target="../slideLayouts/slideLayout16.xml"/><Relationship Id="rId4" Type="http://schemas.openxmlformats.org/officeDocument/2006/relationships/image" Target="../media/image37.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45.xml"/><Relationship Id="rId1" Type="http://schemas.openxmlformats.org/officeDocument/2006/relationships/slideLayout" Target="../slideLayouts/slideLayout1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notesSlide" Target="../notesSlides/notesSlide56.xml"/><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notesSlide" Target="../notesSlides/notesSlide57.xml"/><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3" Type="http://schemas.openxmlformats.org/officeDocument/2006/relationships/image" Target="../media/image63.pdf"/><Relationship Id="rId2" Type="http://schemas.openxmlformats.org/officeDocument/2006/relationships/notesSlide" Target="../notesSlides/notesSlide58.xml"/><Relationship Id="rId1"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image" Target="../media/image42.png"/></Relationships>
</file>

<file path=ppt/slides/_rels/slide6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4"/>
          <p:cNvSpPr>
            <a:spLocks noGrp="1" noChangeArrowheads="1"/>
          </p:cNvSpPr>
          <p:nvPr>
            <p:ph type="ctrTitle"/>
          </p:nvPr>
        </p:nvSpPr>
        <p:spPr>
          <a:xfrm>
            <a:off x="357158" y="6215082"/>
            <a:ext cx="8410604" cy="357190"/>
          </a:xfrm>
        </p:spPr>
        <p:txBody>
          <a:bodyPr>
            <a:noAutofit/>
          </a:bodyPr>
          <a:lstStyle/>
          <a:p>
            <a:r>
              <a:rPr lang="en-GB" sz="1800" dirty="0"/>
              <a:t>William Stallings : Computer Organization  and Architecture,  9</a:t>
            </a:r>
            <a:r>
              <a:rPr lang="en-GB" sz="1800" baseline="30000" dirty="0"/>
              <a:t>th</a:t>
            </a:r>
            <a:r>
              <a:rPr lang="en-GB" sz="1800" dirty="0"/>
              <a:t> Edition</a:t>
            </a:r>
          </a:p>
        </p:txBody>
      </p:sp>
      <p:pic>
        <p:nvPicPr>
          <p:cNvPr id="3" name="Picture 2" descr="Snapshot 2012-06-08 00-57-47.jpg"/>
          <p:cNvPicPr>
            <a:picLocks noChangeAspect="1"/>
          </p:cNvPicPr>
          <p:nvPr/>
        </p:nvPicPr>
        <p:blipFill>
          <a:blip r:embed="rId3"/>
          <a:stretch>
            <a:fillRect/>
          </a:stretch>
        </p:blipFill>
        <p:spPr>
          <a:xfrm>
            <a:off x="609600" y="990600"/>
            <a:ext cx="3649579" cy="2667000"/>
          </a:xfrm>
          <a:prstGeom prst="rect">
            <a:avLst/>
          </a:prstGeom>
          <a:effectLst>
            <a:outerShdw blurRad="50800" dist="38100" dir="2700000" algn="tl" rotWithShape="0">
              <a:schemeClr val="tx1">
                <a:alpha val="43000"/>
              </a:schemeClr>
            </a:outerShdw>
            <a:reflection stA="50000" endPos="75000" dist="12700" dir="5400000" sy="-100000" algn="bl" rotWithShape="0"/>
            <a:softEdge rad="88900"/>
          </a:effectLst>
        </p:spPr>
      </p:pic>
      <p:sp>
        <p:nvSpPr>
          <p:cNvPr id="4" name="TextBox 3"/>
          <p:cNvSpPr txBox="1"/>
          <p:nvPr/>
        </p:nvSpPr>
        <p:spPr>
          <a:xfrm>
            <a:off x="-1534472" y="1786024"/>
            <a:ext cx="184666" cy="461665"/>
          </a:xfrm>
          <a:prstGeom prst="rect">
            <a:avLst/>
          </a:prstGeom>
          <a:noFill/>
        </p:spPr>
        <p:txBody>
          <a:bodyPr wrap="none" rtlCol="0">
            <a:spAutoFit/>
          </a:bodyPr>
          <a:lstStyle/>
          <a:p>
            <a:endParaRPr lang="en-US" dirty="0"/>
          </a:p>
        </p:txBody>
      </p:sp>
      <p:sp>
        <p:nvSpPr>
          <p:cNvPr id="5" name="Title 8"/>
          <p:cNvSpPr txBox="1">
            <a:spLocks/>
          </p:cNvSpPr>
          <p:nvPr/>
        </p:nvSpPr>
        <p:spPr>
          <a:xfrm>
            <a:off x="333403" y="4495800"/>
            <a:ext cx="6191157" cy="833718"/>
          </a:xfrm>
          <a:prstGeom prst="rect">
            <a:avLst/>
          </a:prstGeom>
        </p:spPr>
        <p:txBody>
          <a:bodyPr vert="horz" lIns="91440" tIns="45720" rIns="91440" bIns="45720" rtlCol="0" anchor="t" anchorCtr="0">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5400" b="0"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mj-lt"/>
                <a:ea typeface="+mj-ea"/>
                <a:cs typeface="+mj-cs"/>
              </a:rPr>
              <a:t>Chapter 2</a:t>
            </a:r>
          </a:p>
        </p:txBody>
      </p:sp>
      <p:sp>
        <p:nvSpPr>
          <p:cNvPr id="6" name="Text Placeholder 10"/>
          <p:cNvSpPr txBox="1">
            <a:spLocks/>
          </p:cNvSpPr>
          <p:nvPr/>
        </p:nvSpPr>
        <p:spPr>
          <a:xfrm>
            <a:off x="319118" y="5557838"/>
            <a:ext cx="8753476" cy="514368"/>
          </a:xfrm>
          <a:prstGeom prst="rect">
            <a:avLst/>
          </a:prstGeom>
        </p:spPr>
        <p:txBody>
          <a:bodyPr>
            <a:normAutofit fontScale="77500" lnSpcReduction="20000"/>
          </a:bodyPr>
          <a:lstStyle/>
          <a:p>
            <a:pPr marL="228600" marR="0" lvl="0" indent="-228600" algn="l" defTabSz="914400" rtl="0" eaLnBrk="1" fontAlgn="auto" latinLnBrk="0" hangingPunct="1">
              <a:lnSpc>
                <a:spcPct val="100000"/>
              </a:lnSpc>
              <a:spcBef>
                <a:spcPts val="2000"/>
              </a:spcBef>
              <a:spcAft>
                <a:spcPts val="0"/>
              </a:spcAft>
              <a:buClr>
                <a:schemeClr val="accent1"/>
              </a:buClr>
              <a:buSzPct val="75000"/>
              <a:tabLst/>
              <a:defRPr/>
            </a:pPr>
            <a:r>
              <a:rPr kumimoji="0" lang="en-US" sz="4400" b="0" i="0" u="none" strike="noStrike" kern="1200" cap="none" spc="0" normalizeH="0" baseline="0" noProof="0" dirty="0">
                <a:ln>
                  <a:noFill/>
                </a:ln>
                <a:solidFill>
                  <a:schemeClr val="tx1">
                    <a:lumMod val="65000"/>
                    <a:lumOff val="35000"/>
                  </a:schemeClr>
                </a:solidFill>
                <a:effectLst/>
                <a:uLnTx/>
                <a:uFillTx/>
                <a:latin typeface="+mn-lt"/>
                <a:ea typeface="+mn-ea"/>
                <a:cs typeface="+mn-cs"/>
              </a:rPr>
              <a:t> </a:t>
            </a:r>
            <a:r>
              <a:rPr kumimoji="0" lang="en-US" sz="4400" b="0" i="0" u="none" strike="noStrike" kern="1200" cap="none" spc="0" normalizeH="0" baseline="0" noProof="0" dirty="0">
                <a:ln>
                  <a:noFill/>
                </a:ln>
                <a:effectLst/>
                <a:uLnTx/>
                <a:uFillTx/>
                <a:latin typeface="+mn-lt"/>
                <a:ea typeface="+mn-ea"/>
                <a:cs typeface="+mn-cs"/>
              </a:rPr>
              <a:t>Computer Evolution and Performance</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Objectives</a:t>
            </a:r>
          </a:p>
        </p:txBody>
      </p:sp>
      <p:sp>
        <p:nvSpPr>
          <p:cNvPr id="3" name="Content Placeholder 2"/>
          <p:cNvSpPr>
            <a:spLocks noGrp="1"/>
          </p:cNvSpPr>
          <p:nvPr>
            <p:ph idx="1"/>
          </p:nvPr>
        </p:nvSpPr>
        <p:spPr/>
        <p:txBody>
          <a:bodyPr>
            <a:normAutofit fontScale="92500" lnSpcReduction="10000"/>
          </a:bodyPr>
          <a:lstStyle/>
          <a:p>
            <a:pPr>
              <a:buNone/>
            </a:pPr>
            <a:r>
              <a:rPr lang="en-US" sz="3200" dirty="0">
                <a:solidFill>
                  <a:schemeClr val="tx1"/>
                </a:solidFill>
              </a:rPr>
              <a:t>Why should we study this chapter?</a:t>
            </a:r>
          </a:p>
          <a:p>
            <a:r>
              <a:rPr lang="en-US" sz="2800" dirty="0">
                <a:solidFill>
                  <a:schemeClr val="tx1"/>
                </a:solidFill>
              </a:rPr>
              <a:t>How are computers developed? </a:t>
            </a:r>
            <a:r>
              <a:rPr lang="en-US" sz="2800" dirty="0">
                <a:solidFill>
                  <a:schemeClr val="tx1"/>
                </a:solidFill>
                <a:sym typeface="Wingdings" pitchFamily="2" charset="2"/>
              </a:rPr>
              <a:t> </a:t>
            </a:r>
            <a:r>
              <a:rPr lang="en-US" sz="2800" dirty="0">
                <a:solidFill>
                  <a:schemeClr val="tx1"/>
                </a:solidFill>
              </a:rPr>
              <a:t>generations</a:t>
            </a:r>
          </a:p>
          <a:p>
            <a:r>
              <a:rPr lang="en-US" sz="2800" dirty="0">
                <a:solidFill>
                  <a:schemeClr val="tx1"/>
                </a:solidFill>
              </a:rPr>
              <a:t>What applications require great power computers?</a:t>
            </a:r>
          </a:p>
          <a:p>
            <a:r>
              <a:rPr lang="en-US" sz="2800" dirty="0">
                <a:solidFill>
                  <a:schemeClr val="tx1"/>
                </a:solidFill>
              </a:rPr>
              <a:t>What are Multicore, MICs (many integrated cores), and GPGPUs (general purpose graphical processing unit)?</a:t>
            </a:r>
          </a:p>
          <a:p>
            <a:r>
              <a:rPr lang="en-US" sz="2800" dirty="0">
                <a:solidFill>
                  <a:schemeClr val="tx1"/>
                </a:solidFill>
              </a:rPr>
              <a:t>How to assess computer performance?</a:t>
            </a:r>
          </a:p>
          <a:p>
            <a:endParaRPr lang="en-US" sz="2800" dirty="0">
              <a:solidFill>
                <a:schemeClr val="tx1"/>
              </a:solidFill>
            </a:endParaRPr>
          </a:p>
        </p:txBody>
      </p:sp>
      <p:sp>
        <p:nvSpPr>
          <p:cNvPr id="4" name="Slide Number Placeholder 3"/>
          <p:cNvSpPr>
            <a:spLocks noGrp="1"/>
          </p:cNvSpPr>
          <p:nvPr>
            <p:ph type="sldNum" sz="quarter" idx="12"/>
          </p:nvPr>
        </p:nvSpPr>
        <p:spPr/>
        <p:txBody>
          <a:bodyPr/>
          <a:lstStyle/>
          <a:p>
            <a:fld id="{8AF02B71-8991-4516-A01E-F1A9ACD28BDC}" type="slidenum">
              <a:rPr lang="en-US" smtClean="0"/>
              <a:pPr/>
              <a:t>2</a:t>
            </a:fld>
            <a:endParaRPr lang="en-US"/>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Objectives</a:t>
            </a:r>
          </a:p>
        </p:txBody>
      </p:sp>
      <p:sp>
        <p:nvSpPr>
          <p:cNvPr id="3" name="Content Placeholder 2"/>
          <p:cNvSpPr>
            <a:spLocks noGrp="1"/>
          </p:cNvSpPr>
          <p:nvPr>
            <p:ph idx="1"/>
          </p:nvPr>
        </p:nvSpPr>
        <p:spPr>
          <a:xfrm>
            <a:off x="357158" y="1357298"/>
            <a:ext cx="7859740" cy="4768865"/>
          </a:xfrm>
        </p:spPr>
        <p:txBody>
          <a:bodyPr>
            <a:normAutofit fontScale="92500" lnSpcReduction="10000"/>
          </a:bodyPr>
          <a:lstStyle/>
          <a:p>
            <a:pPr>
              <a:buNone/>
            </a:pPr>
            <a:r>
              <a:rPr lang="en-US" sz="2800" dirty="0">
                <a:solidFill>
                  <a:srgbClr val="002060"/>
                </a:solidFill>
              </a:rPr>
              <a:t>After studying this chapter, you should be able to: </a:t>
            </a:r>
          </a:p>
          <a:p>
            <a:r>
              <a:rPr lang="en-US" sz="2800" dirty="0">
                <a:solidFill>
                  <a:srgbClr val="002060"/>
                </a:solidFill>
              </a:rPr>
              <a:t>Present an overview of the evolution of computer technology from early digital computers to the latest microprocessors. </a:t>
            </a:r>
          </a:p>
          <a:p>
            <a:r>
              <a:rPr lang="en-US" sz="2800" dirty="0">
                <a:solidFill>
                  <a:srgbClr val="002060"/>
                </a:solidFill>
              </a:rPr>
              <a:t>Understand the key performance issues that relate to computer design. </a:t>
            </a:r>
          </a:p>
          <a:p>
            <a:r>
              <a:rPr lang="en-US" sz="2800" dirty="0">
                <a:solidFill>
                  <a:srgbClr val="002060"/>
                </a:solidFill>
              </a:rPr>
              <a:t>Explain the reasons for the move to </a:t>
            </a:r>
            <a:r>
              <a:rPr lang="en-US" sz="2800" dirty="0" err="1">
                <a:solidFill>
                  <a:srgbClr val="002060"/>
                </a:solidFill>
              </a:rPr>
              <a:t>multicore</a:t>
            </a:r>
            <a:r>
              <a:rPr lang="en-US" sz="2800" dirty="0">
                <a:solidFill>
                  <a:srgbClr val="002060"/>
                </a:solidFill>
              </a:rPr>
              <a:t> organization, and understand the trade-off between cache and processor resources on a single chip. </a:t>
            </a:r>
          </a:p>
        </p:txBody>
      </p:sp>
      <p:sp>
        <p:nvSpPr>
          <p:cNvPr id="4" name="Slide Number Placeholder 3"/>
          <p:cNvSpPr>
            <a:spLocks noGrp="1"/>
          </p:cNvSpPr>
          <p:nvPr>
            <p:ph type="sldNum" sz="quarter" idx="12"/>
          </p:nvPr>
        </p:nvSpPr>
        <p:spPr/>
        <p:txBody>
          <a:bodyPr/>
          <a:lstStyle/>
          <a:p>
            <a:fld id="{8AF02B71-8991-4516-A01E-F1A9ACD28BDC}" type="slidenum">
              <a:rPr lang="en-US" smtClean="0"/>
              <a:pPr/>
              <a:t>3</a:t>
            </a:fld>
            <a:endParaRPr lang="en-US"/>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a:t>Contents</a:t>
            </a:r>
            <a:endParaRPr lang="en-US" sz="4000" b="1" dirty="0"/>
          </a:p>
        </p:txBody>
      </p:sp>
      <p:sp>
        <p:nvSpPr>
          <p:cNvPr id="3" name="Content Placeholder 2"/>
          <p:cNvSpPr>
            <a:spLocks noGrp="1"/>
          </p:cNvSpPr>
          <p:nvPr>
            <p:ph idx="1"/>
          </p:nvPr>
        </p:nvSpPr>
        <p:spPr/>
        <p:txBody>
          <a:bodyPr>
            <a:normAutofit/>
          </a:bodyPr>
          <a:lstStyle/>
          <a:p>
            <a:r>
              <a:rPr lang="en-US" sz="2800" dirty="0">
                <a:solidFill>
                  <a:schemeClr val="tx1"/>
                </a:solidFill>
              </a:rPr>
              <a:t>Basics: Number Systems (optional)</a:t>
            </a:r>
          </a:p>
          <a:p>
            <a:r>
              <a:rPr lang="en-US" sz="2800" dirty="0">
                <a:solidFill>
                  <a:schemeClr val="tx1"/>
                </a:solidFill>
              </a:rPr>
              <a:t>2.1- A Brief History of Computers </a:t>
            </a:r>
          </a:p>
          <a:p>
            <a:r>
              <a:rPr lang="en-US" sz="2800" dirty="0">
                <a:solidFill>
                  <a:schemeClr val="tx1"/>
                </a:solidFill>
              </a:rPr>
              <a:t>2.2- Designing for Performance</a:t>
            </a:r>
          </a:p>
          <a:p>
            <a:r>
              <a:rPr lang="en-US" sz="2800" dirty="0">
                <a:solidFill>
                  <a:schemeClr val="tx1"/>
                </a:solidFill>
              </a:rPr>
              <a:t>2.3- Multicore, MICs, and GPGPUs</a:t>
            </a:r>
          </a:p>
          <a:p>
            <a:r>
              <a:rPr lang="en-US" sz="2800" dirty="0">
                <a:solidFill>
                  <a:schemeClr val="tx1"/>
                </a:solidFill>
              </a:rPr>
              <a:t>2.6- Performance Assessment</a:t>
            </a:r>
          </a:p>
        </p:txBody>
      </p:sp>
      <p:sp>
        <p:nvSpPr>
          <p:cNvPr id="4" name="Slide Number Placeholder 3"/>
          <p:cNvSpPr>
            <a:spLocks noGrp="1"/>
          </p:cNvSpPr>
          <p:nvPr>
            <p:ph type="sldNum" sz="quarter" idx="12"/>
          </p:nvPr>
        </p:nvSpPr>
        <p:spPr/>
        <p:txBody>
          <a:bodyPr/>
          <a:lstStyle/>
          <a:p>
            <a:fld id="{8AF02B71-8991-4516-A01E-F1A9ACD28BDC}" type="slidenum">
              <a:rPr lang="en-US" smtClean="0"/>
              <a:pPr/>
              <a:t>4</a:t>
            </a:fld>
            <a:endParaRPr lang="en-US"/>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Number Systems: Definition</a:t>
            </a:r>
          </a:p>
        </p:txBody>
      </p:sp>
      <p:sp>
        <p:nvSpPr>
          <p:cNvPr id="4" name="Slide Number Placeholder 3"/>
          <p:cNvSpPr>
            <a:spLocks noGrp="1"/>
          </p:cNvSpPr>
          <p:nvPr>
            <p:ph type="sldNum" sz="quarter" idx="12"/>
          </p:nvPr>
        </p:nvSpPr>
        <p:spPr/>
        <p:txBody>
          <a:bodyPr/>
          <a:lstStyle/>
          <a:p>
            <a:fld id="{8AF02B71-8991-4516-A01E-F1A9ACD28BDC}" type="slidenum">
              <a:rPr lang="en-US" smtClean="0"/>
              <a:pPr/>
              <a:t>5</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946397960"/>
              </p:ext>
            </p:extLst>
          </p:nvPr>
        </p:nvGraphicFramePr>
        <p:xfrm>
          <a:off x="214282" y="1966268"/>
          <a:ext cx="8558880" cy="2470844"/>
        </p:xfrm>
        <a:graphic>
          <a:graphicData uri="http://schemas.openxmlformats.org/drawingml/2006/table">
            <a:tbl>
              <a:tblPr firstRow="1" bandRow="1">
                <a:tableStyleId>{5C22544A-7EE6-4342-B048-85BDC9FD1C3A}</a:tableStyleId>
              </a:tblPr>
              <a:tblGrid>
                <a:gridCol w="2143140">
                  <a:extLst>
                    <a:ext uri="{9D8B030D-6E8A-4147-A177-3AD203B41FA5}">
                      <a16:colId xmlns:a16="http://schemas.microsoft.com/office/drawing/2014/main" val="20000"/>
                    </a:ext>
                  </a:extLst>
                </a:gridCol>
                <a:gridCol w="1714512">
                  <a:extLst>
                    <a:ext uri="{9D8B030D-6E8A-4147-A177-3AD203B41FA5}">
                      <a16:colId xmlns:a16="http://schemas.microsoft.com/office/drawing/2014/main" val="20001"/>
                    </a:ext>
                  </a:extLst>
                </a:gridCol>
                <a:gridCol w="1571636">
                  <a:extLst>
                    <a:ext uri="{9D8B030D-6E8A-4147-A177-3AD203B41FA5}">
                      <a16:colId xmlns:a16="http://schemas.microsoft.com/office/drawing/2014/main" val="20002"/>
                    </a:ext>
                  </a:extLst>
                </a:gridCol>
                <a:gridCol w="3129592">
                  <a:extLst>
                    <a:ext uri="{9D8B030D-6E8A-4147-A177-3AD203B41FA5}">
                      <a16:colId xmlns:a16="http://schemas.microsoft.com/office/drawing/2014/main" val="20003"/>
                    </a:ext>
                  </a:extLst>
                </a:gridCol>
              </a:tblGrid>
              <a:tr h="992751">
                <a:tc>
                  <a:txBody>
                    <a:bodyPr/>
                    <a:lstStyle/>
                    <a:p>
                      <a:r>
                        <a:rPr lang="en-US"/>
                        <a:t>Definition</a:t>
                      </a:r>
                    </a:p>
                  </a:txBody>
                  <a:tcPr/>
                </a:tc>
                <a:tc>
                  <a:txBody>
                    <a:bodyPr/>
                    <a:lstStyle/>
                    <a:p>
                      <a:r>
                        <a:rPr lang="en-US"/>
                        <a:t>Base-10/ Decimal system</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t>Base-2/ Binary system</a:t>
                      </a:r>
                    </a:p>
                    <a:p>
                      <a:endParaRPr lang="en-US"/>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t>Base-16/ Hexadecimal system</a:t>
                      </a:r>
                    </a:p>
                    <a:p>
                      <a:endParaRPr lang="en-US" b="0"/>
                    </a:p>
                  </a:txBody>
                  <a:tcPr/>
                </a:tc>
                <a:extLst>
                  <a:ext uri="{0D108BD9-81ED-4DB2-BD59-A6C34878D82A}">
                    <a16:rowId xmlns:a16="http://schemas.microsoft.com/office/drawing/2014/main" val="10000"/>
                  </a:ext>
                </a:extLst>
              </a:tr>
              <a:tr h="305462">
                <a:tc>
                  <a:txBody>
                    <a:bodyPr/>
                    <a:lstStyle/>
                    <a:p>
                      <a:r>
                        <a:rPr lang="en-US"/>
                        <a:t>Base number</a:t>
                      </a:r>
                    </a:p>
                  </a:txBody>
                  <a:tcPr/>
                </a:tc>
                <a:tc>
                  <a:txBody>
                    <a:bodyPr/>
                    <a:lstStyle/>
                    <a:p>
                      <a:r>
                        <a:rPr lang="en-US"/>
                        <a:t>10</a:t>
                      </a:r>
                    </a:p>
                  </a:txBody>
                  <a:tcPr/>
                </a:tc>
                <a:tc>
                  <a:txBody>
                    <a:bodyPr/>
                    <a:lstStyle/>
                    <a:p>
                      <a:r>
                        <a:rPr lang="en-US"/>
                        <a:t>2</a:t>
                      </a:r>
                    </a:p>
                  </a:txBody>
                  <a:tcPr/>
                </a:tc>
                <a:tc>
                  <a:txBody>
                    <a:bodyPr/>
                    <a:lstStyle/>
                    <a:p>
                      <a:r>
                        <a:rPr lang="en-US"/>
                        <a:t>16</a:t>
                      </a:r>
                    </a:p>
                  </a:txBody>
                  <a:tcPr/>
                </a:tc>
                <a:extLst>
                  <a:ext uri="{0D108BD9-81ED-4DB2-BD59-A6C34878D82A}">
                    <a16:rowId xmlns:a16="http://schemas.microsoft.com/office/drawing/2014/main" val="10001"/>
                  </a:ext>
                </a:extLst>
              </a:tr>
              <a:tr h="389881">
                <a:tc>
                  <a:txBody>
                    <a:bodyPr/>
                    <a:lstStyle/>
                    <a:p>
                      <a:r>
                        <a:rPr lang="en-US"/>
                        <a:t>Set of digits</a:t>
                      </a:r>
                    </a:p>
                  </a:txBody>
                  <a:tcPr/>
                </a:tc>
                <a:tc>
                  <a:txBody>
                    <a:bodyPr/>
                    <a:lstStyle/>
                    <a:p>
                      <a:r>
                        <a:rPr lang="en-US"/>
                        <a:t>{ 0, 1, 2, …, 9 }</a:t>
                      </a:r>
                    </a:p>
                  </a:txBody>
                  <a:tcPr/>
                </a:tc>
                <a:tc>
                  <a:txBody>
                    <a:bodyPr/>
                    <a:lstStyle/>
                    <a:p>
                      <a:r>
                        <a:rPr lang="en-US"/>
                        <a:t>{ 0. 1 }</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t>{ 0, 1, 2, …, 9, A, B, C, D, E, F }</a:t>
                      </a:r>
                    </a:p>
                  </a:txBody>
                  <a:tcPr/>
                </a:tc>
                <a:extLst>
                  <a:ext uri="{0D108BD9-81ED-4DB2-BD59-A6C34878D82A}">
                    <a16:rowId xmlns:a16="http://schemas.microsoft.com/office/drawing/2014/main" val="10002"/>
                  </a:ext>
                </a:extLst>
              </a:tr>
              <a:tr h="526483">
                <a:tc>
                  <a:txBody>
                    <a:bodyPr/>
                    <a:lstStyle/>
                    <a:p>
                      <a:r>
                        <a:rPr lang="en-US"/>
                        <a:t>Basic operations</a:t>
                      </a:r>
                    </a:p>
                  </a:txBody>
                  <a:tcPr/>
                </a:tc>
                <a:tc>
                  <a:txBody>
                    <a:bodyPr/>
                    <a:lstStyle/>
                    <a:p>
                      <a:r>
                        <a:rPr lang="en-US"/>
                        <a:t>+, -. *,</a:t>
                      </a:r>
                      <a:r>
                        <a:rPr lang="en-US" baseline="0"/>
                        <a:t> /</a:t>
                      </a:r>
                      <a:endParaRPr lang="en-US"/>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t>+, -. *,</a:t>
                      </a:r>
                      <a:r>
                        <a:rPr lang="en-US" baseline="0"/>
                        <a:t> /</a:t>
                      </a:r>
                      <a:endParaRPr lang="en-US"/>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 -. *,</a:t>
                      </a:r>
                      <a:r>
                        <a:rPr lang="en-US" baseline="0" dirty="0"/>
                        <a:t> /</a:t>
                      </a:r>
                      <a:endParaRPr lang="en-US" dirty="0"/>
                    </a:p>
                  </a:txBody>
                  <a:tcPr/>
                </a:tc>
                <a:extLst>
                  <a:ext uri="{0D108BD9-81ED-4DB2-BD59-A6C34878D82A}">
                    <a16:rowId xmlns:a16="http://schemas.microsoft.com/office/drawing/2014/main" val="10003"/>
                  </a:ext>
                </a:extLst>
              </a:tr>
            </a:tbl>
          </a:graphicData>
        </a:graphic>
      </p:graphicFrame>
      <p:sp>
        <p:nvSpPr>
          <p:cNvPr id="6" name="Rectangle 5"/>
          <p:cNvSpPr/>
          <p:nvPr/>
        </p:nvSpPr>
        <p:spPr>
          <a:xfrm>
            <a:off x="285720" y="4929198"/>
            <a:ext cx="8215370" cy="785818"/>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r>
              <a:rPr lang="en-US" sz="1800" u="sng" dirty="0">
                <a:solidFill>
                  <a:schemeClr val="tx1"/>
                </a:solidFill>
              </a:rPr>
              <a:t>Review:</a:t>
            </a:r>
            <a:r>
              <a:rPr lang="en-US" sz="1800" dirty="0">
                <a:solidFill>
                  <a:schemeClr val="tx1"/>
                </a:solidFill>
              </a:rPr>
              <a:t> System is an assemblage of related parts in which there exists an operating mechanism. What are elements of a number system?</a:t>
            </a:r>
          </a:p>
        </p:txBody>
      </p:sp>
      <p:cxnSp>
        <p:nvCxnSpPr>
          <p:cNvPr id="8" name="Straight Arrow Connector 7"/>
          <p:cNvCxnSpPr>
            <a:stCxn id="6" idx="0"/>
          </p:cNvCxnSpPr>
          <p:nvPr/>
        </p:nvCxnSpPr>
        <p:spPr>
          <a:xfrm rot="16200000" flipV="1">
            <a:off x="2911067" y="3446859"/>
            <a:ext cx="642942" cy="2321735"/>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85720" y="5929330"/>
            <a:ext cx="8215370" cy="400110"/>
          </a:xfrm>
          <a:prstGeom prst="rect">
            <a:avLst/>
          </a:prstGeom>
          <a:noFill/>
        </p:spPr>
        <p:txBody>
          <a:bodyPr wrap="square" rtlCol="0">
            <a:spAutoFit/>
          </a:bodyPr>
          <a:lstStyle/>
          <a:p>
            <a:r>
              <a:rPr lang="en-US" sz="2000" dirty="0"/>
              <a:t>Operating mechanism in number systems: Give your explanation.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Number Systems: </a:t>
            </a:r>
            <a:br>
              <a:rPr lang="en-US" b="1"/>
            </a:br>
            <a:r>
              <a:rPr lang="en-US" b="1"/>
              <a:t>Representing a quantity</a:t>
            </a:r>
          </a:p>
        </p:txBody>
      </p:sp>
      <p:sp>
        <p:nvSpPr>
          <p:cNvPr id="3" name="Content Placeholder 2"/>
          <p:cNvSpPr>
            <a:spLocks noGrp="1"/>
          </p:cNvSpPr>
          <p:nvPr>
            <p:ph idx="1"/>
          </p:nvPr>
        </p:nvSpPr>
        <p:spPr>
          <a:xfrm>
            <a:off x="498474" y="1981201"/>
            <a:ext cx="7556313" cy="1233486"/>
          </a:xfrm>
        </p:spPr>
        <p:txBody>
          <a:bodyPr/>
          <a:lstStyle/>
          <a:p>
            <a:r>
              <a:rPr lang="en-US">
                <a:solidFill>
                  <a:schemeClr val="tx1"/>
                </a:solidFill>
              </a:rPr>
              <a:t>Choose a system</a:t>
            </a:r>
          </a:p>
          <a:p>
            <a:r>
              <a:rPr lang="en-US">
                <a:solidFill>
                  <a:schemeClr val="tx1"/>
                </a:solidFill>
              </a:rPr>
              <a:t>Use positional expansion</a:t>
            </a:r>
          </a:p>
        </p:txBody>
      </p:sp>
      <p:sp>
        <p:nvSpPr>
          <p:cNvPr id="4" name="Slide Number Placeholder 3"/>
          <p:cNvSpPr>
            <a:spLocks noGrp="1"/>
          </p:cNvSpPr>
          <p:nvPr>
            <p:ph type="sldNum" sz="quarter" idx="12"/>
          </p:nvPr>
        </p:nvSpPr>
        <p:spPr/>
        <p:txBody>
          <a:bodyPr/>
          <a:lstStyle/>
          <a:p>
            <a:fld id="{8AF02B71-8991-4516-A01E-F1A9ACD28BDC}" type="slidenum">
              <a:rPr lang="en-US" smtClean="0"/>
              <a:pPr/>
              <a:t>6</a:t>
            </a:fld>
            <a:endParaRPr lang="en-US"/>
          </a:p>
        </p:txBody>
      </p:sp>
      <p:pic>
        <p:nvPicPr>
          <p:cNvPr id="269314" name="Picture 2"/>
          <p:cNvPicPr>
            <a:picLocks noChangeAspect="1" noChangeArrowheads="1"/>
          </p:cNvPicPr>
          <p:nvPr/>
        </p:nvPicPr>
        <p:blipFill>
          <a:blip r:embed="rId3"/>
          <a:srcRect/>
          <a:stretch>
            <a:fillRect/>
          </a:stretch>
        </p:blipFill>
        <p:spPr bwMode="auto">
          <a:xfrm>
            <a:off x="1785918" y="2953006"/>
            <a:ext cx="5857916" cy="3833580"/>
          </a:xfrm>
          <a:prstGeom prst="rect">
            <a:avLst/>
          </a:prstGeom>
          <a:noFill/>
          <a:ln w="9525">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Number Systems: Counting</a:t>
            </a:r>
          </a:p>
        </p:txBody>
      </p:sp>
      <p:sp>
        <p:nvSpPr>
          <p:cNvPr id="3" name="Content Placeholder 2"/>
          <p:cNvSpPr>
            <a:spLocks noGrp="1"/>
          </p:cNvSpPr>
          <p:nvPr>
            <p:ph idx="1"/>
          </p:nvPr>
        </p:nvSpPr>
        <p:spPr/>
        <p:txBody>
          <a:bodyPr>
            <a:normAutofit/>
          </a:bodyPr>
          <a:lstStyle/>
          <a:p>
            <a:r>
              <a:rPr lang="en-US" sz="2400">
                <a:solidFill>
                  <a:schemeClr val="tx1"/>
                </a:solidFill>
              </a:rPr>
              <a:t>Decimal count: 0, 1, 2, …, 9, 10, 11,  12 ,…</a:t>
            </a:r>
          </a:p>
          <a:p>
            <a:r>
              <a:rPr lang="en-US" sz="2400">
                <a:solidFill>
                  <a:schemeClr val="tx1"/>
                </a:solidFill>
              </a:rPr>
              <a:t>Binary count:  0, 1, 10, 11, 100, …</a:t>
            </a:r>
          </a:p>
          <a:p>
            <a:r>
              <a:rPr lang="en-US" sz="2400">
                <a:solidFill>
                  <a:schemeClr val="tx1"/>
                </a:solidFill>
              </a:rPr>
              <a:t>Hexadecimal count: 0, 1, …, 9, A, B, C, D, E, F, 10, 11, …</a:t>
            </a:r>
          </a:p>
        </p:txBody>
      </p:sp>
      <p:sp>
        <p:nvSpPr>
          <p:cNvPr id="4" name="Slide Number Placeholder 3"/>
          <p:cNvSpPr>
            <a:spLocks noGrp="1"/>
          </p:cNvSpPr>
          <p:nvPr>
            <p:ph type="sldNum" sz="quarter" idx="12"/>
          </p:nvPr>
        </p:nvSpPr>
        <p:spPr/>
        <p:txBody>
          <a:bodyPr/>
          <a:lstStyle/>
          <a:p>
            <a:fld id="{8AF02B71-8991-4516-A01E-F1A9ACD28BDC}" type="slidenum">
              <a:rPr lang="en-US" smtClean="0"/>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Number Systems: Conversions</a:t>
            </a:r>
            <a:br>
              <a:rPr lang="en-US" b="1" dirty="0"/>
            </a:br>
            <a:r>
              <a:rPr lang="en-US" sz="2800" b="1" dirty="0"/>
              <a:t>(Decimal </a:t>
            </a:r>
            <a:r>
              <a:rPr lang="en-US" sz="2800" b="1" dirty="0">
                <a:sym typeface="Wingdings" pitchFamily="2" charset="2"/>
              </a:rPr>
              <a:t> </a:t>
            </a:r>
            <a:r>
              <a:rPr lang="en-US" sz="2800" b="1" dirty="0"/>
              <a:t>Binary/</a:t>
            </a:r>
            <a:r>
              <a:rPr lang="en-US" sz="2800" b="1" dirty="0" err="1"/>
              <a:t>Hexa</a:t>
            </a:r>
            <a:r>
              <a:rPr lang="en-US" sz="2800" b="1" dirty="0"/>
              <a:t>  expansion)</a:t>
            </a:r>
            <a:endParaRPr lang="en-US" b="1" dirty="0"/>
          </a:p>
        </p:txBody>
      </p:sp>
      <p:sp>
        <p:nvSpPr>
          <p:cNvPr id="4" name="Slide Number Placeholder 3"/>
          <p:cNvSpPr>
            <a:spLocks noGrp="1"/>
          </p:cNvSpPr>
          <p:nvPr>
            <p:ph type="sldNum" sz="quarter" idx="12"/>
          </p:nvPr>
        </p:nvSpPr>
        <p:spPr/>
        <p:txBody>
          <a:bodyPr/>
          <a:lstStyle/>
          <a:p>
            <a:fld id="{8AF02B71-8991-4516-A01E-F1A9ACD28BDC}" type="slidenum">
              <a:rPr lang="en-US" smtClean="0"/>
              <a:pPr/>
              <a:t>8</a:t>
            </a:fld>
            <a:endParaRPr lang="en-US"/>
          </a:p>
        </p:txBody>
      </p:sp>
      <p:pic>
        <p:nvPicPr>
          <p:cNvPr id="270338" name="Picture 2"/>
          <p:cNvPicPr>
            <a:picLocks noChangeAspect="1" noChangeArrowheads="1"/>
          </p:cNvPicPr>
          <p:nvPr/>
        </p:nvPicPr>
        <p:blipFill>
          <a:blip r:embed="rId2"/>
          <a:srcRect/>
          <a:stretch>
            <a:fillRect/>
          </a:stretch>
        </p:blipFill>
        <p:spPr bwMode="auto">
          <a:xfrm>
            <a:off x="347652" y="1785926"/>
            <a:ext cx="4295786" cy="4476028"/>
          </a:xfrm>
          <a:prstGeom prst="rect">
            <a:avLst/>
          </a:prstGeom>
          <a:noFill/>
          <a:ln w="9525">
            <a:noFill/>
            <a:miter lim="800000"/>
            <a:headEnd/>
            <a:tailEnd/>
          </a:ln>
          <a:effectLst/>
        </p:spPr>
      </p:pic>
      <p:sp>
        <p:nvSpPr>
          <p:cNvPr id="8" name="TextBox 7"/>
          <p:cNvSpPr txBox="1"/>
          <p:nvPr/>
        </p:nvSpPr>
        <p:spPr>
          <a:xfrm>
            <a:off x="5000628" y="5500702"/>
            <a:ext cx="2214578" cy="1200329"/>
          </a:xfrm>
          <a:prstGeom prst="rect">
            <a:avLst/>
          </a:prstGeom>
          <a:noFill/>
        </p:spPr>
        <p:txBody>
          <a:bodyPr wrap="square" rtlCol="0">
            <a:spAutoFit/>
          </a:bodyPr>
          <a:lstStyle/>
          <a:p>
            <a:r>
              <a:rPr lang="en-US" dirty="0"/>
              <a:t>37d = ?b = ?h</a:t>
            </a:r>
          </a:p>
          <a:p>
            <a:r>
              <a:rPr lang="en-US" dirty="0"/>
              <a:t>69d = ?b =?h</a:t>
            </a:r>
          </a:p>
          <a:p>
            <a:r>
              <a:rPr lang="en-US" dirty="0"/>
              <a:t>42d = ?b= ?h</a:t>
            </a:r>
          </a:p>
        </p:txBody>
      </p:sp>
      <p:pic>
        <p:nvPicPr>
          <p:cNvPr id="262145" name="Picture 1"/>
          <p:cNvPicPr>
            <a:picLocks noChangeAspect="1" noChangeArrowheads="1"/>
          </p:cNvPicPr>
          <p:nvPr/>
        </p:nvPicPr>
        <p:blipFill>
          <a:blip r:embed="rId3"/>
          <a:srcRect/>
          <a:stretch>
            <a:fillRect/>
          </a:stretch>
        </p:blipFill>
        <p:spPr bwMode="auto">
          <a:xfrm>
            <a:off x="5357818" y="1857364"/>
            <a:ext cx="2419350" cy="2895600"/>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Number Systems: Conversions</a:t>
            </a:r>
            <a:br>
              <a:rPr lang="en-US" b="1" dirty="0"/>
            </a:br>
            <a:r>
              <a:rPr lang="en-US" sz="2800" b="1" dirty="0"/>
              <a:t>(Decimal </a:t>
            </a:r>
            <a:r>
              <a:rPr lang="en-US" sz="2800" b="1" dirty="0">
                <a:sym typeface="Wingdings" pitchFamily="2" charset="2"/>
              </a:rPr>
              <a:t> </a:t>
            </a:r>
            <a:r>
              <a:rPr lang="en-US" sz="2800" b="1" dirty="0"/>
              <a:t>Binary/</a:t>
            </a:r>
            <a:r>
              <a:rPr lang="en-US" sz="2800" b="1" dirty="0" err="1"/>
              <a:t>Hexa</a:t>
            </a:r>
            <a:r>
              <a:rPr lang="en-US" sz="2800" b="1" dirty="0"/>
              <a:t>  expansion) …</a:t>
            </a:r>
            <a:endParaRPr lang="en-US" dirty="0"/>
          </a:p>
        </p:txBody>
      </p:sp>
      <p:sp>
        <p:nvSpPr>
          <p:cNvPr id="4" name="Slide Number Placeholder 3"/>
          <p:cNvSpPr>
            <a:spLocks noGrp="1"/>
          </p:cNvSpPr>
          <p:nvPr>
            <p:ph type="sldNum" sz="quarter" idx="12"/>
          </p:nvPr>
        </p:nvSpPr>
        <p:spPr/>
        <p:txBody>
          <a:bodyPr/>
          <a:lstStyle/>
          <a:p>
            <a:fld id="{8AF02B71-8991-4516-A01E-F1A9ACD28BDC}" type="slidenum">
              <a:rPr lang="en-US" smtClean="0"/>
              <a:pPr/>
              <a:t>9</a:t>
            </a:fld>
            <a:endParaRPr lang="en-US"/>
          </a:p>
        </p:txBody>
      </p:sp>
      <p:grpSp>
        <p:nvGrpSpPr>
          <p:cNvPr id="5" name="Group 6"/>
          <p:cNvGrpSpPr>
            <a:grpSpLocks/>
          </p:cNvGrpSpPr>
          <p:nvPr/>
        </p:nvGrpSpPr>
        <p:grpSpPr bwMode="auto">
          <a:xfrm>
            <a:off x="638175" y="2124075"/>
            <a:ext cx="7869238" cy="3267075"/>
            <a:chOff x="402" y="1338"/>
            <a:chExt cx="4957" cy="2058"/>
          </a:xfrm>
        </p:grpSpPr>
        <p:pic>
          <p:nvPicPr>
            <p:cNvPr id="6" name="Picture 4"/>
            <p:cNvPicPr>
              <a:picLocks noChangeAspect="1" noChangeArrowheads="1"/>
            </p:cNvPicPr>
            <p:nvPr/>
          </p:nvPicPr>
          <p:blipFill>
            <a:blip r:embed="rId2">
              <a:lum bright="-20000" contrast="20000"/>
            </a:blip>
            <a:srcRect/>
            <a:stretch>
              <a:fillRect/>
            </a:stretch>
          </p:blipFill>
          <p:spPr bwMode="auto">
            <a:xfrm>
              <a:off x="402" y="1338"/>
              <a:ext cx="4957" cy="1644"/>
            </a:xfrm>
            <a:prstGeom prst="rect">
              <a:avLst/>
            </a:prstGeom>
            <a:noFill/>
            <a:ln w="9525">
              <a:noFill/>
              <a:miter lim="800000"/>
              <a:headEnd/>
              <a:tailEnd/>
            </a:ln>
          </p:spPr>
        </p:pic>
        <p:pic>
          <p:nvPicPr>
            <p:cNvPr id="7" name="Picture 5"/>
            <p:cNvPicPr>
              <a:picLocks noChangeAspect="1" noChangeArrowheads="1"/>
            </p:cNvPicPr>
            <p:nvPr/>
          </p:nvPicPr>
          <p:blipFill>
            <a:blip r:embed="rId3">
              <a:lum bright="-20000" contrast="20000"/>
            </a:blip>
            <a:srcRect/>
            <a:stretch>
              <a:fillRect/>
            </a:stretch>
          </p:blipFill>
          <p:spPr bwMode="auto">
            <a:xfrm>
              <a:off x="960" y="3168"/>
              <a:ext cx="1404" cy="228"/>
            </a:xfrm>
            <a:prstGeom prst="rect">
              <a:avLst/>
            </a:prstGeom>
            <a:noFill/>
            <a:ln w="9525">
              <a:noFill/>
              <a:miter lim="800000"/>
              <a:headEnd/>
              <a:tailEnd/>
            </a:ln>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Number Systems: Conversions</a:t>
            </a:r>
            <a:br>
              <a:rPr lang="en-US" b="1"/>
            </a:br>
            <a:r>
              <a:rPr lang="en-US" sz="2800" b="1"/>
              <a:t>(Binary </a:t>
            </a:r>
            <a:r>
              <a:rPr lang="en-US" sz="2800" b="1">
                <a:sym typeface="Wingdings" pitchFamily="2" charset="2"/>
              </a:rPr>
              <a:t> </a:t>
            </a:r>
            <a:r>
              <a:rPr lang="en-US" sz="2800" b="1"/>
              <a:t>Hexa  expansion)</a:t>
            </a:r>
            <a:endParaRPr lang="en-US" b="1"/>
          </a:p>
        </p:txBody>
      </p:sp>
      <p:sp>
        <p:nvSpPr>
          <p:cNvPr id="4" name="Slide Number Placeholder 3"/>
          <p:cNvSpPr>
            <a:spLocks noGrp="1"/>
          </p:cNvSpPr>
          <p:nvPr>
            <p:ph type="sldNum" sz="quarter" idx="12"/>
          </p:nvPr>
        </p:nvSpPr>
        <p:spPr/>
        <p:txBody>
          <a:bodyPr/>
          <a:lstStyle/>
          <a:p>
            <a:fld id="{8AF02B71-8991-4516-A01E-F1A9ACD28BDC}" type="slidenum">
              <a:rPr lang="en-US" smtClean="0"/>
              <a:pPr/>
              <a:t>10</a:t>
            </a:fld>
            <a:endParaRPr lang="en-US"/>
          </a:p>
        </p:txBody>
      </p:sp>
      <p:sp>
        <p:nvSpPr>
          <p:cNvPr id="6" name="TextBox 5"/>
          <p:cNvSpPr txBox="1"/>
          <p:nvPr/>
        </p:nvSpPr>
        <p:spPr>
          <a:xfrm>
            <a:off x="2786050" y="4857760"/>
            <a:ext cx="5357850" cy="1200329"/>
          </a:xfrm>
          <a:prstGeom prst="rect">
            <a:avLst/>
          </a:prstGeom>
          <a:noFill/>
        </p:spPr>
        <p:txBody>
          <a:bodyPr wrap="square" rtlCol="0">
            <a:spAutoFit/>
          </a:bodyPr>
          <a:lstStyle/>
          <a:p>
            <a:r>
              <a:rPr lang="en-US" dirty="0"/>
              <a:t>1001100b = ?h       11001110b = ? h</a:t>
            </a:r>
          </a:p>
          <a:p>
            <a:r>
              <a:rPr lang="en-US" dirty="0"/>
              <a:t>2AFh = ?b               49Ch= ?b</a:t>
            </a:r>
          </a:p>
          <a:p>
            <a:r>
              <a:rPr lang="en-US" dirty="0"/>
              <a:t>BF7h = ?b               7EAh = ?b</a:t>
            </a:r>
          </a:p>
        </p:txBody>
      </p:sp>
      <p:pic>
        <p:nvPicPr>
          <p:cNvPr id="261122" name="Picture 2"/>
          <p:cNvPicPr>
            <a:picLocks noChangeAspect="1" noChangeArrowheads="1"/>
          </p:cNvPicPr>
          <p:nvPr/>
        </p:nvPicPr>
        <p:blipFill>
          <a:blip r:embed="rId2"/>
          <a:srcRect/>
          <a:stretch>
            <a:fillRect/>
          </a:stretch>
        </p:blipFill>
        <p:spPr bwMode="auto">
          <a:xfrm>
            <a:off x="857224" y="1928802"/>
            <a:ext cx="7429552" cy="2591090"/>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3522" name="Picture 2"/>
          <p:cNvPicPr>
            <a:picLocks noChangeAspect="1" noChangeArrowheads="1"/>
          </p:cNvPicPr>
          <p:nvPr/>
        </p:nvPicPr>
        <p:blipFill>
          <a:blip r:embed="rId3"/>
          <a:srcRect/>
          <a:stretch>
            <a:fillRect/>
          </a:stretch>
        </p:blipFill>
        <p:spPr bwMode="auto">
          <a:xfrm>
            <a:off x="142336" y="1500174"/>
            <a:ext cx="8858820" cy="2676556"/>
          </a:xfrm>
          <a:prstGeom prst="rect">
            <a:avLst/>
          </a:prstGeom>
          <a:noFill/>
          <a:ln w="9525">
            <a:noFill/>
            <a:miter lim="800000"/>
            <a:headEnd/>
            <a:tailEnd/>
          </a:ln>
          <a:effectLst/>
        </p:spPr>
      </p:pic>
      <p:sp>
        <p:nvSpPr>
          <p:cNvPr id="18434" name="Rectangle 2"/>
          <p:cNvSpPr>
            <a:spLocks noGrp="1" noChangeArrowheads="1"/>
          </p:cNvSpPr>
          <p:nvPr>
            <p:ph type="title"/>
          </p:nvPr>
        </p:nvSpPr>
        <p:spPr/>
        <p:txBody>
          <a:bodyPr/>
          <a:lstStyle/>
          <a:p>
            <a:r>
              <a:rPr lang="en-GB" dirty="0">
                <a:effectLst>
                  <a:outerShdw blurRad="38100" dist="38100" dir="2700000" algn="tl">
                    <a:srgbClr val="000000">
                      <a:alpha val="43137"/>
                    </a:srgbClr>
                  </a:outerShdw>
                </a:effectLst>
              </a:rPr>
              <a:t>2.1- History of Computers</a:t>
            </a:r>
          </a:p>
        </p:txBody>
      </p:sp>
      <p:pic>
        <p:nvPicPr>
          <p:cNvPr id="233473" name="Picture 1"/>
          <p:cNvPicPr>
            <a:picLocks noChangeAspect="1" noChangeArrowheads="1"/>
          </p:cNvPicPr>
          <p:nvPr/>
        </p:nvPicPr>
        <p:blipFill>
          <a:blip r:embed="rId4"/>
          <a:srcRect/>
          <a:stretch>
            <a:fillRect/>
          </a:stretch>
        </p:blipFill>
        <p:spPr bwMode="auto">
          <a:xfrm>
            <a:off x="500034" y="4286256"/>
            <a:ext cx="1181100" cy="1371600"/>
          </a:xfrm>
          <a:prstGeom prst="rect">
            <a:avLst/>
          </a:prstGeom>
          <a:noFill/>
          <a:ln w="9525">
            <a:noFill/>
            <a:miter lim="800000"/>
            <a:headEnd/>
            <a:tailEnd/>
          </a:ln>
          <a:effectLst/>
        </p:spPr>
      </p:pic>
      <p:pic>
        <p:nvPicPr>
          <p:cNvPr id="233474" name="Picture 2"/>
          <p:cNvPicPr>
            <a:picLocks noChangeAspect="1" noChangeArrowheads="1"/>
          </p:cNvPicPr>
          <p:nvPr/>
        </p:nvPicPr>
        <p:blipFill>
          <a:blip r:embed="rId5"/>
          <a:srcRect/>
          <a:stretch>
            <a:fillRect/>
          </a:stretch>
        </p:blipFill>
        <p:spPr bwMode="auto">
          <a:xfrm>
            <a:off x="1976436" y="4357694"/>
            <a:ext cx="2381250" cy="1419225"/>
          </a:xfrm>
          <a:prstGeom prst="rect">
            <a:avLst/>
          </a:prstGeom>
          <a:noFill/>
          <a:ln w="9525">
            <a:noFill/>
            <a:miter lim="800000"/>
            <a:headEnd/>
            <a:tailEnd/>
          </a:ln>
          <a:effectLst/>
        </p:spPr>
      </p:pic>
      <p:pic>
        <p:nvPicPr>
          <p:cNvPr id="233476" name="Picture 4"/>
          <p:cNvPicPr>
            <a:picLocks noChangeAspect="1" noChangeArrowheads="1"/>
          </p:cNvPicPr>
          <p:nvPr/>
        </p:nvPicPr>
        <p:blipFill>
          <a:blip r:embed="rId6"/>
          <a:srcRect/>
          <a:stretch>
            <a:fillRect/>
          </a:stretch>
        </p:blipFill>
        <p:spPr bwMode="auto">
          <a:xfrm>
            <a:off x="4643438" y="4357694"/>
            <a:ext cx="1781194" cy="1571642"/>
          </a:xfrm>
          <a:prstGeom prst="rect">
            <a:avLst/>
          </a:prstGeom>
          <a:noFill/>
          <a:ln w="9525">
            <a:noFill/>
            <a:miter lim="800000"/>
            <a:headEnd/>
            <a:tailEnd/>
          </a:ln>
          <a:effectLst/>
        </p:spPr>
      </p:pic>
      <p:pic>
        <p:nvPicPr>
          <p:cNvPr id="233477" name="Picture 5"/>
          <p:cNvPicPr>
            <a:picLocks noChangeAspect="1" noChangeArrowheads="1"/>
          </p:cNvPicPr>
          <p:nvPr/>
        </p:nvPicPr>
        <p:blipFill>
          <a:blip r:embed="rId7"/>
          <a:srcRect/>
          <a:stretch>
            <a:fillRect/>
          </a:stretch>
        </p:blipFill>
        <p:spPr bwMode="auto">
          <a:xfrm>
            <a:off x="6643702" y="4286256"/>
            <a:ext cx="2105025" cy="1533525"/>
          </a:xfrm>
          <a:prstGeom prst="rect">
            <a:avLst/>
          </a:prstGeom>
          <a:noFill/>
          <a:ln w="9525">
            <a:noFill/>
            <a:miter lim="800000"/>
            <a:headEnd/>
            <a:tailEnd/>
          </a:ln>
          <a:effectLst/>
        </p:spPr>
      </p:pic>
      <p:cxnSp>
        <p:nvCxnSpPr>
          <p:cNvPr id="11" name="Straight Arrow Connector 10"/>
          <p:cNvCxnSpPr/>
          <p:nvPr/>
        </p:nvCxnSpPr>
        <p:spPr>
          <a:xfrm rot="10800000" flipV="1">
            <a:off x="1643042" y="2357430"/>
            <a:ext cx="2214578" cy="2000264"/>
          </a:xfrm>
          <a:prstGeom prst="straightConnector1">
            <a:avLst/>
          </a:prstGeom>
          <a:ln w="9525">
            <a:solidFill>
              <a:schemeClr val="accent2">
                <a:lumMod val="75000"/>
                <a:lumOff val="2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12" name="Straight Arrow Connector 11"/>
          <p:cNvCxnSpPr/>
          <p:nvPr/>
        </p:nvCxnSpPr>
        <p:spPr>
          <a:xfrm rot="5400000">
            <a:off x="2678893" y="3321843"/>
            <a:ext cx="1785950" cy="571504"/>
          </a:xfrm>
          <a:prstGeom prst="straightConnector1">
            <a:avLst/>
          </a:prstGeom>
          <a:ln w="9525">
            <a:solidFill>
              <a:schemeClr val="accent2">
                <a:lumMod val="75000"/>
                <a:lumOff val="2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15" name="Straight Arrow Connector 14"/>
          <p:cNvCxnSpPr/>
          <p:nvPr/>
        </p:nvCxnSpPr>
        <p:spPr>
          <a:xfrm rot="16200000" flipH="1">
            <a:off x="4750595" y="3679033"/>
            <a:ext cx="1285884" cy="71438"/>
          </a:xfrm>
          <a:prstGeom prst="straightConnector1">
            <a:avLst/>
          </a:prstGeom>
          <a:ln w="9525">
            <a:solidFill>
              <a:schemeClr val="accent2">
                <a:lumMod val="75000"/>
                <a:lumOff val="25000"/>
              </a:schemeClr>
            </a:solidFill>
            <a:tailEnd type="arrow"/>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5429256" y="6072206"/>
            <a:ext cx="2500330" cy="35719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t>IC: Integrated Circuit</a:t>
            </a:r>
          </a:p>
        </p:txBody>
      </p:sp>
      <p:sp>
        <p:nvSpPr>
          <p:cNvPr id="13" name="Slide Number Placeholder 12"/>
          <p:cNvSpPr>
            <a:spLocks noGrp="1"/>
          </p:cNvSpPr>
          <p:nvPr>
            <p:ph type="sldNum" sz="quarter" idx="12"/>
          </p:nvPr>
        </p:nvSpPr>
        <p:spPr/>
        <p:txBody>
          <a:bodyPr/>
          <a:lstStyle/>
          <a:p>
            <a:fld id="{8AF02B71-8991-4516-A01E-F1A9ACD28BDC}" type="slidenum">
              <a:rPr lang="en-US" smtClean="0"/>
              <a:pPr/>
              <a:t>11</a:t>
            </a:fld>
            <a:endParaRPr lang="en-US"/>
          </a:p>
        </p:txBody>
      </p:sp>
      <p:sp>
        <p:nvSpPr>
          <p:cNvPr id="14" name="Rectangle 13"/>
          <p:cNvSpPr/>
          <p:nvPr/>
        </p:nvSpPr>
        <p:spPr>
          <a:xfrm>
            <a:off x="285720" y="5929330"/>
            <a:ext cx="4286280" cy="7143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a:t>A generation is engraved based on an event/essential invention</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71406" y="98316"/>
            <a:ext cx="8501090" cy="1116106"/>
          </a:xfrm>
        </p:spPr>
        <p:txBody>
          <a:bodyPr/>
          <a:lstStyle/>
          <a:p>
            <a:r>
              <a:rPr lang="en-US" dirty="0">
                <a:effectLst>
                  <a:outerShdw blurRad="38100" dist="38100" dir="2700000" algn="tl">
                    <a:srgbClr val="000000">
                      <a:alpha val="43137"/>
                    </a:srgbClr>
                  </a:outerShdw>
                </a:effectLst>
              </a:rPr>
              <a:t>First Generation:  Vacuum Tubes</a:t>
            </a:r>
            <a:br>
              <a:rPr lang="en-US" dirty="0">
                <a:effectLst>
                  <a:outerShdw blurRad="38100" dist="38100" dir="2700000" algn="tl">
                    <a:srgbClr val="000000">
                      <a:alpha val="43137"/>
                    </a:srgbClr>
                  </a:outerShdw>
                </a:effectLst>
              </a:rPr>
            </a:br>
            <a:endParaRPr lang="en-GB" dirty="0">
              <a:effectLst>
                <a:outerShdw blurRad="38100" dist="38100" dir="2700000" algn="tl">
                  <a:srgbClr val="000000">
                    <a:alpha val="43137"/>
                  </a:srgbClr>
                </a:outerShdw>
              </a:effectLst>
            </a:endParaRPr>
          </a:p>
        </p:txBody>
      </p:sp>
      <p:sp>
        <p:nvSpPr>
          <p:cNvPr id="18435" name="Rectangle 3"/>
          <p:cNvSpPr>
            <a:spLocks noGrp="1" noChangeArrowheads="1"/>
          </p:cNvSpPr>
          <p:nvPr>
            <p:ph idx="1"/>
          </p:nvPr>
        </p:nvSpPr>
        <p:spPr>
          <a:xfrm>
            <a:off x="214282" y="1643050"/>
            <a:ext cx="8286808" cy="3929089"/>
          </a:xfrm>
        </p:spPr>
        <p:txBody>
          <a:bodyPr>
            <a:noAutofit/>
          </a:bodyPr>
          <a:lstStyle/>
          <a:p>
            <a:r>
              <a:rPr lang="en-GB" sz="2400" dirty="0">
                <a:solidFill>
                  <a:schemeClr val="tx1"/>
                </a:solidFill>
              </a:rPr>
              <a:t>Basic technology: Vacuum tubes</a:t>
            </a:r>
          </a:p>
          <a:p>
            <a:r>
              <a:rPr lang="en-GB" sz="2400" dirty="0">
                <a:solidFill>
                  <a:srgbClr val="8000FF"/>
                </a:solidFill>
              </a:rPr>
              <a:t>Building block:  Composition and operating of vacuum tube (</a:t>
            </a:r>
            <a:r>
              <a:rPr lang="en-GB" sz="2400" dirty="0">
                <a:solidFill>
                  <a:srgbClr val="6666FF"/>
                </a:solidFill>
              </a:rPr>
              <a:t>https://en.wikipedia.org/wiki/Vacuum_tube)</a:t>
            </a:r>
          </a:p>
          <a:p>
            <a:r>
              <a:rPr lang="en-GB" sz="2400" dirty="0">
                <a:solidFill>
                  <a:schemeClr val="tx1"/>
                </a:solidFill>
              </a:rPr>
              <a:t>Typical computers:</a:t>
            </a:r>
          </a:p>
          <a:p>
            <a:pPr lvl="1"/>
            <a:r>
              <a:rPr lang="en-GB" sz="2000" dirty="0">
                <a:solidFill>
                  <a:schemeClr val="tx1"/>
                </a:solidFill>
              </a:rPr>
              <a:t>ENIAC (</a:t>
            </a:r>
            <a:r>
              <a:rPr lang="en-GB" sz="2000" u="sng" dirty="0">
                <a:solidFill>
                  <a:schemeClr val="tx1"/>
                </a:solidFill>
              </a:rPr>
              <a:t>E</a:t>
            </a:r>
            <a:r>
              <a:rPr lang="en-GB" sz="2000" dirty="0">
                <a:solidFill>
                  <a:schemeClr val="tx1"/>
                </a:solidFill>
              </a:rPr>
              <a:t>lectronic </a:t>
            </a:r>
            <a:r>
              <a:rPr lang="en-GB" sz="2000" u="sng" dirty="0">
                <a:solidFill>
                  <a:schemeClr val="tx1"/>
                </a:solidFill>
              </a:rPr>
              <a:t>N</a:t>
            </a:r>
            <a:r>
              <a:rPr lang="en-GB" sz="2000" dirty="0">
                <a:solidFill>
                  <a:schemeClr val="tx1"/>
                </a:solidFill>
              </a:rPr>
              <a:t>umerical </a:t>
            </a:r>
            <a:r>
              <a:rPr lang="en-GB" sz="2000" u="sng" dirty="0">
                <a:solidFill>
                  <a:schemeClr val="tx1"/>
                </a:solidFill>
              </a:rPr>
              <a:t>I</a:t>
            </a:r>
            <a:r>
              <a:rPr lang="en-GB" sz="2000" dirty="0">
                <a:solidFill>
                  <a:schemeClr val="tx1"/>
                </a:solidFill>
              </a:rPr>
              <a:t>ntegrator </a:t>
            </a:r>
            <a:r>
              <a:rPr lang="en-GB" sz="2000" u="sng" dirty="0">
                <a:solidFill>
                  <a:schemeClr val="tx1"/>
                </a:solidFill>
              </a:rPr>
              <a:t>A</a:t>
            </a:r>
            <a:r>
              <a:rPr lang="en-GB" sz="2000" dirty="0">
                <a:solidFill>
                  <a:schemeClr val="tx1"/>
                </a:solidFill>
              </a:rPr>
              <a:t>nd </a:t>
            </a:r>
            <a:r>
              <a:rPr lang="en-GB" sz="2000" u="sng" dirty="0">
                <a:solidFill>
                  <a:schemeClr val="tx1"/>
                </a:solidFill>
              </a:rPr>
              <a:t>C</a:t>
            </a:r>
            <a:r>
              <a:rPr lang="en-GB" sz="2000" dirty="0">
                <a:solidFill>
                  <a:schemeClr val="tx1"/>
                </a:solidFill>
              </a:rPr>
              <a:t>omputer)</a:t>
            </a:r>
          </a:p>
          <a:p>
            <a:pPr lvl="1"/>
            <a:r>
              <a:rPr lang="en-US" sz="2000" dirty="0">
                <a:solidFill>
                  <a:schemeClr val="tx1"/>
                </a:solidFill>
              </a:rPr>
              <a:t>EDVAC (Electronic Discrete Variable Computer) and John Von Neumann</a:t>
            </a:r>
          </a:p>
          <a:p>
            <a:pPr lvl="1"/>
            <a:r>
              <a:rPr lang="en-GB" sz="2000" dirty="0">
                <a:solidFill>
                  <a:schemeClr val="tx1"/>
                </a:solidFill>
              </a:rPr>
              <a:t>IAS computer (Princeton </a:t>
            </a:r>
            <a:r>
              <a:rPr lang="en-GB" sz="2000" u="sng" dirty="0">
                <a:solidFill>
                  <a:schemeClr val="tx1"/>
                </a:solidFill>
              </a:rPr>
              <a:t>I</a:t>
            </a:r>
            <a:r>
              <a:rPr lang="en-GB" sz="2000" dirty="0">
                <a:solidFill>
                  <a:schemeClr val="tx1"/>
                </a:solidFill>
              </a:rPr>
              <a:t>nstitute for </a:t>
            </a:r>
            <a:r>
              <a:rPr lang="en-GB" sz="2000" u="sng" dirty="0">
                <a:solidFill>
                  <a:schemeClr val="tx1"/>
                </a:solidFill>
              </a:rPr>
              <a:t>A</a:t>
            </a:r>
            <a:r>
              <a:rPr lang="en-GB" sz="2000" dirty="0">
                <a:solidFill>
                  <a:schemeClr val="tx1"/>
                </a:solidFill>
              </a:rPr>
              <a:t>dvanced </a:t>
            </a:r>
            <a:r>
              <a:rPr lang="en-GB" sz="2000" u="sng" dirty="0">
                <a:solidFill>
                  <a:schemeClr val="tx1"/>
                </a:solidFill>
              </a:rPr>
              <a:t>S</a:t>
            </a:r>
            <a:r>
              <a:rPr lang="en-GB" sz="2000" dirty="0">
                <a:solidFill>
                  <a:schemeClr val="tx1"/>
                </a:solidFill>
              </a:rPr>
              <a:t>tudies)</a:t>
            </a:r>
          </a:p>
          <a:p>
            <a:pPr lvl="1"/>
            <a:r>
              <a:rPr lang="en-US" sz="2000" dirty="0">
                <a:solidFill>
                  <a:schemeClr val="tx1"/>
                </a:solidFill>
              </a:rPr>
              <a:t>Commercial Computers: UNIVAC </a:t>
            </a:r>
            <a:r>
              <a:rPr lang="en-US" sz="2000" dirty="0">
                <a:solidFill>
                  <a:schemeClr val="tx1"/>
                </a:solidFill>
                <a:effectLst>
                  <a:outerShdw blurRad="38100" dist="38100" dir="2700000" algn="tl">
                    <a:srgbClr val="000000">
                      <a:alpha val="43137"/>
                    </a:srgbClr>
                  </a:outerShdw>
                </a:effectLst>
              </a:rPr>
              <a:t>(</a:t>
            </a:r>
            <a:r>
              <a:rPr lang="en-US" sz="2000" dirty="0">
                <a:solidFill>
                  <a:schemeClr val="tx1"/>
                </a:solidFill>
              </a:rPr>
              <a:t>(Universal Automatic Computer)</a:t>
            </a:r>
          </a:p>
          <a:p>
            <a:pPr lvl="1"/>
            <a:r>
              <a:rPr lang="en-US" sz="2000" dirty="0">
                <a:solidFill>
                  <a:schemeClr val="tx1"/>
                </a:solidFill>
              </a:rPr>
              <a:t>IBM Computers ( International Business Machines)</a:t>
            </a:r>
          </a:p>
          <a:p>
            <a:pPr lvl="1"/>
            <a:endParaRPr lang="en-GB" sz="2000" dirty="0">
              <a:solidFill>
                <a:schemeClr val="tx1"/>
              </a:solidFill>
            </a:endParaRPr>
          </a:p>
          <a:p>
            <a:pPr lvl="1"/>
            <a:endParaRPr lang="en-GB" sz="2000" dirty="0">
              <a:solidFill>
                <a:schemeClr val="tx1"/>
              </a:solidFill>
            </a:endParaRPr>
          </a:p>
          <a:p>
            <a:pPr lvl="1"/>
            <a:endParaRPr lang="en-US" sz="2000" dirty="0">
              <a:solidFill>
                <a:schemeClr val="tx1"/>
              </a:solidFill>
            </a:endParaRPr>
          </a:p>
          <a:p>
            <a:pPr lvl="1"/>
            <a:endParaRPr lang="en-US" sz="2000" dirty="0">
              <a:solidFill>
                <a:schemeClr val="tx1"/>
              </a:solidFill>
            </a:endParaRPr>
          </a:p>
          <a:p>
            <a:pPr lvl="1"/>
            <a:endParaRPr lang="en-GB" sz="2000" dirty="0">
              <a:solidFill>
                <a:schemeClr val="tx1"/>
              </a:solidFill>
            </a:endParaRPr>
          </a:p>
          <a:p>
            <a:pPr lvl="1"/>
            <a:endParaRPr lang="en-GB" sz="2000" dirty="0">
              <a:solidFill>
                <a:schemeClr val="tx1"/>
              </a:solidFill>
            </a:endParaRPr>
          </a:p>
        </p:txBody>
      </p:sp>
      <p:pic>
        <p:nvPicPr>
          <p:cNvPr id="6" name="Picture 1"/>
          <p:cNvPicPr>
            <a:picLocks noChangeAspect="1" noChangeArrowheads="1"/>
          </p:cNvPicPr>
          <p:nvPr/>
        </p:nvPicPr>
        <p:blipFill>
          <a:blip r:embed="rId3"/>
          <a:srcRect/>
          <a:stretch>
            <a:fillRect/>
          </a:stretch>
        </p:blipFill>
        <p:spPr bwMode="auto">
          <a:xfrm>
            <a:off x="6357950" y="928670"/>
            <a:ext cx="1181100" cy="1371600"/>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8AF02B71-8991-4516-A01E-F1A9ACD28BDC}" type="slidenum">
              <a:rPr lang="en-US" smtClean="0"/>
              <a:pPr/>
              <a:t>12</a:t>
            </a:fld>
            <a:endParaRPr lang="en-US"/>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428596" y="98316"/>
            <a:ext cx="7858180" cy="901792"/>
          </a:xfrm>
        </p:spPr>
        <p:txBody>
          <a:bodyPr/>
          <a:lstStyle/>
          <a:p>
            <a:r>
              <a:rPr lang="en-US" dirty="0">
                <a:effectLst>
                  <a:outerShdw blurRad="38100" dist="38100" dir="2700000" algn="tl">
                    <a:srgbClr val="000000">
                      <a:alpha val="43137"/>
                    </a:srgbClr>
                  </a:outerShdw>
                </a:effectLst>
              </a:rPr>
              <a:t>First Generation:   ENIAC Computer</a:t>
            </a:r>
            <a:br>
              <a:rPr lang="en-US" dirty="0">
                <a:effectLst>
                  <a:outerShdw blurRad="38100" dist="38100" dir="2700000" algn="tl">
                    <a:srgbClr val="000000">
                      <a:alpha val="43137"/>
                    </a:srgbClr>
                  </a:outerShdw>
                </a:effectLst>
              </a:rPr>
            </a:br>
            <a:r>
              <a:rPr lang="en-US" dirty="0">
                <a:effectLst>
                  <a:outerShdw blurRad="38100" dist="38100" dir="2700000" algn="tl">
                    <a:srgbClr val="000000">
                      <a:alpha val="43137"/>
                    </a:srgbClr>
                  </a:outerShdw>
                </a:effectLst>
              </a:rPr>
              <a:t> (Read by yourself) </a:t>
            </a:r>
            <a:br>
              <a:rPr lang="en-US" dirty="0">
                <a:effectLst>
                  <a:outerShdw blurRad="38100" dist="38100" dir="2700000" algn="tl">
                    <a:srgbClr val="000000">
                      <a:alpha val="43137"/>
                    </a:srgbClr>
                  </a:outerShdw>
                </a:effectLst>
              </a:rPr>
            </a:br>
            <a:endParaRPr lang="en-GB" dirty="0">
              <a:effectLst>
                <a:outerShdw blurRad="38100" dist="38100" dir="2700000" algn="tl">
                  <a:srgbClr val="000000">
                    <a:alpha val="43137"/>
                  </a:srgbClr>
                </a:outerShdw>
              </a:effectLst>
            </a:endParaRPr>
          </a:p>
        </p:txBody>
      </p:sp>
      <p:sp>
        <p:nvSpPr>
          <p:cNvPr id="18435" name="Rectangle 3"/>
          <p:cNvSpPr>
            <a:spLocks noGrp="1" noChangeArrowheads="1"/>
          </p:cNvSpPr>
          <p:nvPr>
            <p:ph idx="1"/>
          </p:nvPr>
        </p:nvSpPr>
        <p:spPr>
          <a:xfrm>
            <a:off x="214282" y="1214422"/>
            <a:ext cx="8286808" cy="5286411"/>
          </a:xfrm>
        </p:spPr>
        <p:txBody>
          <a:bodyPr>
            <a:noAutofit/>
          </a:bodyPr>
          <a:lstStyle/>
          <a:p>
            <a:pPr>
              <a:spcBef>
                <a:spcPts val="1200"/>
              </a:spcBef>
            </a:pPr>
            <a:r>
              <a:rPr lang="en-GB" sz="2400" b="1" u="sng" dirty="0">
                <a:solidFill>
                  <a:schemeClr val="tx1"/>
                </a:solidFill>
              </a:rPr>
              <a:t>E</a:t>
            </a:r>
            <a:r>
              <a:rPr lang="en-GB" sz="2400" dirty="0">
                <a:solidFill>
                  <a:schemeClr val="tx1"/>
                </a:solidFill>
              </a:rPr>
              <a:t>lectronic </a:t>
            </a:r>
            <a:r>
              <a:rPr lang="en-GB" sz="2400" b="1" u="sng" dirty="0">
                <a:solidFill>
                  <a:schemeClr val="tx1"/>
                </a:solidFill>
              </a:rPr>
              <a:t>N</a:t>
            </a:r>
            <a:r>
              <a:rPr lang="en-GB" sz="2400" dirty="0">
                <a:solidFill>
                  <a:schemeClr val="tx1"/>
                </a:solidFill>
              </a:rPr>
              <a:t>umerical </a:t>
            </a:r>
            <a:r>
              <a:rPr lang="en-GB" sz="2400" b="1" u="sng" dirty="0">
                <a:solidFill>
                  <a:schemeClr val="tx1"/>
                </a:solidFill>
              </a:rPr>
              <a:t>I</a:t>
            </a:r>
            <a:r>
              <a:rPr lang="en-GB" sz="2400" dirty="0">
                <a:solidFill>
                  <a:schemeClr val="tx1"/>
                </a:solidFill>
              </a:rPr>
              <a:t>ntegrator </a:t>
            </a:r>
            <a:r>
              <a:rPr lang="en-GB" sz="2400" b="1" u="sng" dirty="0">
                <a:solidFill>
                  <a:schemeClr val="tx1"/>
                </a:solidFill>
              </a:rPr>
              <a:t>A</a:t>
            </a:r>
            <a:r>
              <a:rPr lang="en-GB" sz="2400" dirty="0">
                <a:solidFill>
                  <a:schemeClr val="tx1"/>
                </a:solidFill>
              </a:rPr>
              <a:t>nd </a:t>
            </a:r>
            <a:r>
              <a:rPr lang="en-GB" sz="2400" b="1" u="sng" dirty="0">
                <a:solidFill>
                  <a:schemeClr val="tx1"/>
                </a:solidFill>
              </a:rPr>
              <a:t>C</a:t>
            </a:r>
            <a:r>
              <a:rPr lang="en-GB" sz="2400" dirty="0">
                <a:solidFill>
                  <a:schemeClr val="tx1"/>
                </a:solidFill>
              </a:rPr>
              <a:t>omputer</a:t>
            </a:r>
          </a:p>
          <a:p>
            <a:pPr>
              <a:spcBef>
                <a:spcPts val="1200"/>
              </a:spcBef>
            </a:pPr>
            <a:r>
              <a:rPr lang="en-GB" dirty="0">
                <a:solidFill>
                  <a:schemeClr val="tx1"/>
                </a:solidFill>
              </a:rPr>
              <a:t>Designed and constructed at the University of Pennsylvania</a:t>
            </a:r>
          </a:p>
          <a:p>
            <a:pPr lvl="1"/>
            <a:r>
              <a:rPr lang="en-GB" dirty="0">
                <a:solidFill>
                  <a:schemeClr val="tx1"/>
                </a:solidFill>
              </a:rPr>
              <a:t>Started in 1943 – completed in 1946, by John Mauchly and John Eckert</a:t>
            </a:r>
          </a:p>
          <a:p>
            <a:r>
              <a:rPr lang="en-GB" dirty="0">
                <a:solidFill>
                  <a:schemeClr val="tx1"/>
                </a:solidFill>
              </a:rPr>
              <a:t>World’s first general purpose electronic digital computer</a:t>
            </a:r>
          </a:p>
          <a:p>
            <a:pPr lvl="1">
              <a:lnSpc>
                <a:spcPct val="120000"/>
              </a:lnSpc>
            </a:pPr>
            <a:r>
              <a:rPr lang="en-GB" dirty="0">
                <a:solidFill>
                  <a:schemeClr val="tx1"/>
                </a:solidFill>
              </a:rPr>
              <a:t>Army’s Ballistics Research Laboratory (BRL) needed a way to supply trajectory tables for new weapons accurately and within a reasonable time frame</a:t>
            </a:r>
          </a:p>
          <a:p>
            <a:pPr lvl="1">
              <a:lnSpc>
                <a:spcPct val="120000"/>
              </a:lnSpc>
            </a:pPr>
            <a:r>
              <a:rPr lang="en-GB" dirty="0">
                <a:solidFill>
                  <a:schemeClr val="tx1"/>
                </a:solidFill>
              </a:rPr>
              <a:t>Was not finished in time to be used in the war effort</a:t>
            </a:r>
          </a:p>
          <a:p>
            <a:pPr marL="228600" lvl="1">
              <a:lnSpc>
                <a:spcPct val="120000"/>
              </a:lnSpc>
              <a:spcBef>
                <a:spcPts val="2000"/>
              </a:spcBef>
              <a:buClr>
                <a:schemeClr val="accent1"/>
              </a:buClr>
            </a:pPr>
            <a:r>
              <a:rPr lang="en-GB" sz="2000" dirty="0">
                <a:solidFill>
                  <a:schemeClr val="tx1"/>
                </a:solidFill>
              </a:rPr>
              <a:t>Its first task was to perform a series of calculations that were used to help determine the feasibility of the hydrogen bomb</a:t>
            </a:r>
          </a:p>
          <a:p>
            <a:pPr marL="228600" lvl="1">
              <a:lnSpc>
                <a:spcPct val="120000"/>
              </a:lnSpc>
              <a:spcBef>
                <a:spcPts val="2000"/>
              </a:spcBef>
              <a:buClr>
                <a:schemeClr val="accent1"/>
              </a:buClr>
            </a:pPr>
            <a:r>
              <a:rPr lang="en-GB" sz="2000" dirty="0">
                <a:solidFill>
                  <a:schemeClr val="tx1"/>
                </a:solidFill>
              </a:rPr>
              <a:t>Continued to operate under BRL management until 1955 when it was disassembled (</a:t>
            </a:r>
            <a:r>
              <a:rPr kumimoji="1" lang="en-US" sz="2000" dirty="0">
                <a:solidFill>
                  <a:schemeClr val="tx1"/>
                </a:solidFill>
                <a:latin typeface="Times New Roman" pitchFamily="-110" charset="0"/>
              </a:rPr>
              <a:t>Army’s </a:t>
            </a:r>
            <a:r>
              <a:rPr kumimoji="1" lang="en-US" sz="2000" b="1" u="sng" dirty="0">
                <a:solidFill>
                  <a:schemeClr val="tx1"/>
                </a:solidFill>
                <a:latin typeface="Times New Roman" pitchFamily="-110" charset="0"/>
              </a:rPr>
              <a:t>B</a:t>
            </a:r>
            <a:r>
              <a:rPr kumimoji="1" lang="en-US" sz="2000" dirty="0">
                <a:solidFill>
                  <a:schemeClr val="tx1"/>
                </a:solidFill>
                <a:latin typeface="Times New Roman" pitchFamily="-110" charset="0"/>
              </a:rPr>
              <a:t>allistics </a:t>
            </a:r>
            <a:r>
              <a:rPr kumimoji="1" lang="en-US" sz="2000" b="1" u="sng" dirty="0">
                <a:solidFill>
                  <a:schemeClr val="tx1"/>
                </a:solidFill>
                <a:latin typeface="Times New Roman" pitchFamily="-110" charset="0"/>
              </a:rPr>
              <a:t>R</a:t>
            </a:r>
            <a:r>
              <a:rPr kumimoji="1" lang="en-US" sz="2000" dirty="0">
                <a:solidFill>
                  <a:schemeClr val="tx1"/>
                </a:solidFill>
                <a:latin typeface="Times New Roman" pitchFamily="-110" charset="0"/>
              </a:rPr>
              <a:t>esearch </a:t>
            </a:r>
            <a:r>
              <a:rPr kumimoji="1" lang="en-US" sz="2000" b="1" u="sng" dirty="0">
                <a:solidFill>
                  <a:schemeClr val="tx1"/>
                </a:solidFill>
                <a:latin typeface="Times New Roman" pitchFamily="-110" charset="0"/>
              </a:rPr>
              <a:t>L</a:t>
            </a:r>
            <a:r>
              <a:rPr kumimoji="1" lang="en-US" sz="2000" dirty="0">
                <a:solidFill>
                  <a:schemeClr val="tx1"/>
                </a:solidFill>
                <a:latin typeface="Times New Roman" pitchFamily="-110" charset="0"/>
              </a:rPr>
              <a:t>aboratory </a:t>
            </a:r>
            <a:r>
              <a:rPr lang="en-GB" sz="2000" dirty="0">
                <a:solidFill>
                  <a:schemeClr val="tx1"/>
                </a:solidFill>
              </a:rPr>
              <a:t>)</a:t>
            </a:r>
          </a:p>
        </p:txBody>
      </p:sp>
      <p:pic>
        <p:nvPicPr>
          <p:cNvPr id="6" name="Picture 1"/>
          <p:cNvPicPr>
            <a:picLocks noChangeAspect="1" noChangeArrowheads="1"/>
          </p:cNvPicPr>
          <p:nvPr/>
        </p:nvPicPr>
        <p:blipFill>
          <a:blip r:embed="rId3"/>
          <a:srcRect/>
          <a:stretch>
            <a:fillRect/>
          </a:stretch>
        </p:blipFill>
        <p:spPr bwMode="auto">
          <a:xfrm>
            <a:off x="7962900" y="785794"/>
            <a:ext cx="1181100" cy="1371600"/>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8AF02B71-8991-4516-A01E-F1A9ACD28BDC}" type="slidenum">
              <a:rPr lang="en-US" smtClean="0"/>
              <a:pPr/>
              <a:t>13</a:t>
            </a:fld>
            <a:endParaRPr lang="en-US"/>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idx="4294967295"/>
          </p:nvPr>
        </p:nvSpPr>
        <p:spPr>
          <a:xfrm>
            <a:off x="762000" y="228600"/>
            <a:ext cx="7556500" cy="887413"/>
          </a:xfrm>
        </p:spPr>
        <p:txBody>
          <a:bodyPr/>
          <a:lstStyle/>
          <a:p>
            <a:r>
              <a:rPr lang="en-GB" sz="4800" dirty="0">
                <a:effectLst>
                  <a:outerShdw blurRad="38100" dist="38100" dir="2700000" algn="tl">
                    <a:srgbClr val="000000">
                      <a:alpha val="43137"/>
                    </a:srgbClr>
                  </a:outerShdw>
                </a:effectLst>
              </a:rPr>
              <a:t>ENIAC: Characteristics</a:t>
            </a:r>
            <a:endParaRPr lang="en-US" sz="4800" dirty="0">
              <a:effectLst>
                <a:outerShdw blurRad="38100" dist="38100" dir="2700000" algn="tl">
                  <a:srgbClr val="000000">
                    <a:alpha val="43137"/>
                  </a:srgbClr>
                </a:outerShdw>
              </a:effectLst>
            </a:endParaRPr>
          </a:p>
        </p:txBody>
      </p:sp>
      <p:graphicFrame>
        <p:nvGraphicFramePr>
          <p:cNvPr id="42" name="Content Placeholder 41"/>
          <p:cNvGraphicFramePr>
            <a:graphicFrameLocks noGrp="1"/>
          </p:cNvGraphicFramePr>
          <p:nvPr>
            <p:ph idx="4294967295"/>
          </p:nvPr>
        </p:nvGraphicFramePr>
        <p:xfrm>
          <a:off x="0" y="1143000"/>
          <a:ext cx="8839200" cy="5486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3" name="TextBox 42"/>
          <p:cNvSpPr txBox="1"/>
          <p:nvPr/>
        </p:nvSpPr>
        <p:spPr>
          <a:xfrm>
            <a:off x="3295859" y="241125"/>
            <a:ext cx="184666" cy="461665"/>
          </a:xfrm>
          <a:prstGeom prst="rect">
            <a:avLst/>
          </a:prstGeom>
          <a:noFill/>
        </p:spPr>
        <p:txBody>
          <a:bodyPr wrap="none" rtlCol="0">
            <a:spAutoFit/>
          </a:bodyPr>
          <a:lstStyle/>
          <a:p>
            <a:endParaRPr lang="en-US" dirty="0"/>
          </a:p>
        </p:txBody>
      </p:sp>
      <p:sp>
        <p:nvSpPr>
          <p:cNvPr id="8" name="TextBox 7"/>
          <p:cNvSpPr txBox="1"/>
          <p:nvPr/>
        </p:nvSpPr>
        <p:spPr>
          <a:xfrm>
            <a:off x="8305800" y="914400"/>
            <a:ext cx="883064" cy="438284"/>
          </a:xfrm>
          <a:prstGeom prst="rect">
            <a:avLst/>
          </a:prstGeom>
          <a:noFill/>
        </p:spPr>
        <p:txBody>
          <a:bodyPr wrap="square" rtlCol="0">
            <a:spAutoFit/>
          </a:bodyPr>
          <a:lstStyle/>
          <a:p>
            <a:endParaRPr lang="en-US" dirty="0"/>
          </a:p>
        </p:txBody>
      </p:sp>
      <p:pic>
        <p:nvPicPr>
          <p:cNvPr id="6" name="Picture 1"/>
          <p:cNvPicPr>
            <a:picLocks noChangeAspect="1" noChangeArrowheads="1"/>
          </p:cNvPicPr>
          <p:nvPr/>
        </p:nvPicPr>
        <p:blipFill>
          <a:blip r:embed="rId8"/>
          <a:srcRect/>
          <a:stretch>
            <a:fillRect/>
          </a:stretch>
        </p:blipFill>
        <p:spPr bwMode="auto">
          <a:xfrm>
            <a:off x="7962900" y="714356"/>
            <a:ext cx="1181100" cy="1371600"/>
          </a:xfrm>
          <a:prstGeom prst="rect">
            <a:avLst/>
          </a:prstGeom>
          <a:noFill/>
          <a:ln w="9525">
            <a:noFill/>
            <a:miter lim="800000"/>
            <a:headEnd/>
            <a:tailEnd/>
          </a:ln>
          <a:effectLst/>
        </p:spPr>
      </p:pic>
      <p:sp>
        <p:nvSpPr>
          <p:cNvPr id="7" name="Slide Number Placeholder 6"/>
          <p:cNvSpPr>
            <a:spLocks noGrp="1"/>
          </p:cNvSpPr>
          <p:nvPr>
            <p:ph type="sldNum" sz="quarter" idx="12"/>
          </p:nvPr>
        </p:nvSpPr>
        <p:spPr/>
        <p:txBody>
          <a:bodyPr/>
          <a:lstStyle/>
          <a:p>
            <a:fld id="{8AF02B71-8991-4516-A01E-F1A9ACD28BDC}" type="slidenum">
              <a:rPr lang="en-US" smtClean="0"/>
              <a:pPr/>
              <a:t>14</a:t>
            </a:fld>
            <a:endParaRPr lang="en-US"/>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GB" b="1" dirty="0"/>
              <a:t>John von Neumann</a:t>
            </a:r>
          </a:p>
        </p:txBody>
      </p:sp>
      <p:sp>
        <p:nvSpPr>
          <p:cNvPr id="19459" name="Rectangle 3"/>
          <p:cNvSpPr>
            <a:spLocks noGrp="1" noChangeArrowheads="1"/>
          </p:cNvSpPr>
          <p:nvPr>
            <p:ph idx="1"/>
          </p:nvPr>
        </p:nvSpPr>
        <p:spPr/>
        <p:txBody>
          <a:bodyPr>
            <a:noAutofit/>
          </a:bodyPr>
          <a:lstStyle/>
          <a:p>
            <a:r>
              <a:rPr lang="en-GB" sz="2400" dirty="0">
                <a:solidFill>
                  <a:schemeClr val="tx1"/>
                </a:solidFill>
              </a:rPr>
              <a:t>First publication of the idea was in 1945</a:t>
            </a:r>
          </a:p>
          <a:p>
            <a:r>
              <a:rPr lang="en-GB" sz="2400" dirty="0">
                <a:solidFill>
                  <a:srgbClr val="FF0000"/>
                </a:solidFill>
              </a:rPr>
              <a:t>Stored program concept</a:t>
            </a:r>
          </a:p>
          <a:p>
            <a:pPr lvl="1"/>
            <a:r>
              <a:rPr lang="en-GB" sz="2000" dirty="0">
                <a:solidFill>
                  <a:schemeClr val="tx1"/>
                </a:solidFill>
              </a:rPr>
              <a:t>Attributed to ENIAC designers, most notably the mathematician John von Neumann</a:t>
            </a:r>
          </a:p>
          <a:p>
            <a:pPr lvl="1"/>
            <a:r>
              <a:rPr lang="en-GB" sz="2000" dirty="0">
                <a:solidFill>
                  <a:schemeClr val="tx1"/>
                </a:solidFill>
              </a:rPr>
              <a:t>Program represented in a form suitable for storing in memory alongside the data (</a:t>
            </a:r>
            <a:r>
              <a:rPr lang="en-GB" sz="2000" b="1" dirty="0">
                <a:solidFill>
                  <a:schemeClr val="tx1"/>
                </a:solidFill>
              </a:rPr>
              <a:t>program= data + instructions</a:t>
            </a:r>
            <a:r>
              <a:rPr lang="en-GB" sz="2000" dirty="0">
                <a:solidFill>
                  <a:schemeClr val="tx1"/>
                </a:solidFill>
              </a:rPr>
              <a:t>)</a:t>
            </a:r>
          </a:p>
          <a:p>
            <a:pPr marL="228600" lvl="1">
              <a:spcBef>
                <a:spcPts val="2000"/>
              </a:spcBef>
              <a:buClr>
                <a:schemeClr val="accent1"/>
              </a:buClr>
            </a:pPr>
            <a:r>
              <a:rPr lang="en-GB" sz="2400" dirty="0">
                <a:solidFill>
                  <a:schemeClr val="tx1"/>
                </a:solidFill>
              </a:rPr>
              <a:t>IAS computer</a:t>
            </a:r>
          </a:p>
          <a:p>
            <a:pPr lvl="1"/>
            <a:r>
              <a:rPr lang="en-GB" sz="2000" dirty="0">
                <a:solidFill>
                  <a:schemeClr val="tx1"/>
                </a:solidFill>
              </a:rPr>
              <a:t>Princeton </a:t>
            </a:r>
            <a:r>
              <a:rPr lang="en-GB" sz="2000" b="1" u="sng" dirty="0">
                <a:solidFill>
                  <a:schemeClr val="tx1"/>
                </a:solidFill>
              </a:rPr>
              <a:t>I</a:t>
            </a:r>
            <a:r>
              <a:rPr lang="en-GB" sz="2000" dirty="0">
                <a:solidFill>
                  <a:schemeClr val="tx1"/>
                </a:solidFill>
              </a:rPr>
              <a:t>nstitute for </a:t>
            </a:r>
            <a:r>
              <a:rPr lang="en-GB" sz="2000" b="1" u="sng" dirty="0">
                <a:solidFill>
                  <a:schemeClr val="tx1"/>
                </a:solidFill>
              </a:rPr>
              <a:t>A</a:t>
            </a:r>
            <a:r>
              <a:rPr lang="en-GB" sz="2000" dirty="0">
                <a:solidFill>
                  <a:schemeClr val="tx1"/>
                </a:solidFill>
              </a:rPr>
              <a:t>dvanced </a:t>
            </a:r>
            <a:r>
              <a:rPr lang="en-GB" sz="2000" b="1" u="sng" dirty="0">
                <a:solidFill>
                  <a:schemeClr val="tx1"/>
                </a:solidFill>
              </a:rPr>
              <a:t>S</a:t>
            </a:r>
            <a:r>
              <a:rPr lang="en-GB" sz="2000" dirty="0">
                <a:solidFill>
                  <a:schemeClr val="tx1"/>
                </a:solidFill>
              </a:rPr>
              <a:t>tudies</a:t>
            </a:r>
          </a:p>
          <a:p>
            <a:pPr lvl="1"/>
            <a:r>
              <a:rPr lang="en-GB" sz="2000" dirty="0">
                <a:solidFill>
                  <a:schemeClr val="tx1"/>
                </a:solidFill>
              </a:rPr>
              <a:t>Prototype of all subsequent general-purpose computers</a:t>
            </a:r>
          </a:p>
          <a:p>
            <a:pPr lvl="1"/>
            <a:r>
              <a:rPr lang="en-GB" sz="2000" dirty="0">
                <a:solidFill>
                  <a:schemeClr val="tx1"/>
                </a:solidFill>
              </a:rPr>
              <a:t>Completed in 1952</a:t>
            </a:r>
          </a:p>
        </p:txBody>
      </p:sp>
      <p:sp>
        <p:nvSpPr>
          <p:cNvPr id="4" name="Text Placeholder 3"/>
          <p:cNvSpPr>
            <a:spLocks noGrp="1"/>
          </p:cNvSpPr>
          <p:nvPr>
            <p:ph type="body" sz="half" idx="4294967295"/>
          </p:nvPr>
        </p:nvSpPr>
        <p:spPr>
          <a:xfrm>
            <a:off x="609600" y="1219200"/>
            <a:ext cx="7559675" cy="774700"/>
          </a:xfrm>
        </p:spPr>
        <p:txBody>
          <a:bodyPr>
            <a:normAutofit/>
          </a:bodyPr>
          <a:lstStyle/>
          <a:p>
            <a:pPr>
              <a:spcBef>
                <a:spcPct val="0"/>
              </a:spcBef>
              <a:buNone/>
            </a:pPr>
            <a:r>
              <a:rPr lang="en-US" sz="2600" dirty="0">
                <a:solidFill>
                  <a:schemeClr val="accent1"/>
                </a:solidFill>
              </a:rPr>
              <a:t>EDVAC (Electronic Discrete Variable Computer)</a:t>
            </a:r>
          </a:p>
        </p:txBody>
      </p:sp>
      <p:pic>
        <p:nvPicPr>
          <p:cNvPr id="5" name="Picture 1"/>
          <p:cNvPicPr>
            <a:picLocks noChangeAspect="1" noChangeArrowheads="1"/>
          </p:cNvPicPr>
          <p:nvPr/>
        </p:nvPicPr>
        <p:blipFill>
          <a:blip r:embed="rId3"/>
          <a:srcRect/>
          <a:stretch>
            <a:fillRect/>
          </a:stretch>
        </p:blipFill>
        <p:spPr bwMode="auto">
          <a:xfrm>
            <a:off x="7929586" y="1985962"/>
            <a:ext cx="1181100" cy="1371600"/>
          </a:xfrm>
          <a:prstGeom prst="rect">
            <a:avLst/>
          </a:prstGeom>
          <a:noFill/>
          <a:ln w="9525">
            <a:noFill/>
            <a:miter lim="800000"/>
            <a:headEnd/>
            <a:tailEnd/>
          </a:ln>
          <a:effectLst/>
        </p:spPr>
      </p:pic>
      <p:sp>
        <p:nvSpPr>
          <p:cNvPr id="6" name="Slide Number Placeholder 5"/>
          <p:cNvSpPr>
            <a:spLocks noGrp="1"/>
          </p:cNvSpPr>
          <p:nvPr>
            <p:ph type="sldNum" sz="quarter" idx="12"/>
          </p:nvPr>
        </p:nvSpPr>
        <p:spPr/>
        <p:txBody>
          <a:bodyPr/>
          <a:lstStyle/>
          <a:p>
            <a:fld id="{8AF02B71-8991-4516-A01E-F1A9ACD28BDC}" type="slidenum">
              <a:rPr lang="en-US" smtClean="0"/>
              <a:pPr/>
              <a:t>15</a:t>
            </a:fld>
            <a:endParaRPr lang="en-US"/>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Rectangle 4"/>
          <p:cNvSpPr>
            <a:spLocks noGrp="1" noChangeArrowheads="1"/>
          </p:cNvSpPr>
          <p:nvPr>
            <p:ph type="title" idx="4294967295"/>
          </p:nvPr>
        </p:nvSpPr>
        <p:spPr>
          <a:xfrm>
            <a:off x="457200" y="381000"/>
            <a:ext cx="7556500" cy="1116012"/>
          </a:xfrm>
        </p:spPr>
        <p:txBody>
          <a:bodyPr>
            <a:normAutofit/>
          </a:bodyPr>
          <a:lstStyle/>
          <a:p>
            <a:r>
              <a:rPr lang="en-GB" dirty="0">
                <a:effectLst>
                  <a:outerShdw blurRad="38100" dist="38100" dir="2700000" algn="tl">
                    <a:srgbClr val="000000">
                      <a:alpha val="43137"/>
                    </a:srgbClr>
                  </a:outerShdw>
                </a:effectLst>
              </a:rPr>
              <a:t>Structure of von Neumann Machine</a:t>
            </a:r>
          </a:p>
        </p:txBody>
      </p:sp>
      <p:pic>
        <p:nvPicPr>
          <p:cNvPr id="4" name="Picture 3" descr="f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4706" t="20909" r="15294" b="24545"/>
              <a:stretch>
                <a:fillRect/>
              </a:stretch>
            </p:blipFill>
          </mc:Choice>
          <mc:Fallback>
            <p:blipFill>
              <a:blip r:embed="rId4"/>
              <a:srcRect l="4706" t="20909" r="15294" b="24545"/>
              <a:stretch>
                <a:fillRect/>
              </a:stretch>
            </p:blipFill>
          </mc:Fallback>
        </mc:AlternateContent>
        <p:spPr>
          <a:xfrm>
            <a:off x="762000" y="762000"/>
            <a:ext cx="7238949" cy="6387350"/>
          </a:xfrm>
          <a:prstGeom prst="rect">
            <a:avLst/>
          </a:prstGeom>
        </p:spPr>
      </p:pic>
      <p:pic>
        <p:nvPicPr>
          <p:cNvPr id="5" name="Picture 1"/>
          <p:cNvPicPr>
            <a:picLocks noChangeAspect="1" noChangeArrowheads="1"/>
          </p:cNvPicPr>
          <p:nvPr/>
        </p:nvPicPr>
        <p:blipFill>
          <a:blip r:embed="rId5"/>
          <a:srcRect/>
          <a:stretch>
            <a:fillRect/>
          </a:stretch>
        </p:blipFill>
        <p:spPr bwMode="auto">
          <a:xfrm>
            <a:off x="7962900" y="785794"/>
            <a:ext cx="1181100" cy="1371600"/>
          </a:xfrm>
          <a:prstGeom prst="rect">
            <a:avLst/>
          </a:prstGeom>
          <a:noFill/>
          <a:ln w="9525">
            <a:noFill/>
            <a:miter lim="800000"/>
            <a:headEnd/>
            <a:tailEnd/>
          </a:ln>
          <a:effectLst/>
        </p:spPr>
      </p:pic>
      <p:sp>
        <p:nvSpPr>
          <p:cNvPr id="6" name="Slide Number Placeholder 5"/>
          <p:cNvSpPr>
            <a:spLocks noGrp="1"/>
          </p:cNvSpPr>
          <p:nvPr>
            <p:ph type="sldNum" sz="quarter" idx="12"/>
          </p:nvPr>
        </p:nvSpPr>
        <p:spPr/>
        <p:txBody>
          <a:bodyPr/>
          <a:lstStyle/>
          <a:p>
            <a:fld id="{8AF02B71-8991-4516-A01E-F1A9ACD28BDC}" type="slidenum">
              <a:rPr lang="en-US" smtClean="0"/>
              <a:pPr/>
              <a:t>16</a:t>
            </a:fld>
            <a:endParaRPr lang="en-US"/>
          </a:p>
        </p:txBody>
      </p:sp>
      <p:sp>
        <p:nvSpPr>
          <p:cNvPr id="7" name="TextBox 6"/>
          <p:cNvSpPr txBox="1"/>
          <p:nvPr/>
        </p:nvSpPr>
        <p:spPr>
          <a:xfrm>
            <a:off x="5857884" y="5572140"/>
            <a:ext cx="3143272" cy="646331"/>
          </a:xfrm>
          <a:prstGeom prst="rect">
            <a:avLst/>
          </a:prstGeom>
          <a:noFill/>
        </p:spPr>
        <p:txBody>
          <a:bodyPr wrap="square" rtlCol="0">
            <a:spAutoFit/>
          </a:bodyPr>
          <a:lstStyle/>
          <a:p>
            <a:r>
              <a:rPr lang="en-US" sz="1800" dirty="0"/>
              <a:t>CA: Cellular Automata</a:t>
            </a:r>
          </a:p>
          <a:p>
            <a:r>
              <a:rPr lang="en-US" sz="1800" dirty="0"/>
              <a:t>CC: Cellular Constructor</a:t>
            </a: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GB" dirty="0">
                <a:effectLst>
                  <a:outerShdw blurRad="38100" dist="38100" dir="2700000" algn="tl">
                    <a:srgbClr val="000000">
                      <a:alpha val="43137"/>
                    </a:srgbClr>
                  </a:outerShdw>
                </a:effectLst>
              </a:rPr>
              <a:t>IAS Memory Formats</a:t>
            </a:r>
          </a:p>
        </p:txBody>
      </p:sp>
      <p:sp>
        <p:nvSpPr>
          <p:cNvPr id="22531" name="Rectangle 3"/>
          <p:cNvSpPr>
            <a:spLocks noGrp="1" noChangeArrowheads="1"/>
          </p:cNvSpPr>
          <p:nvPr>
            <p:ph idx="1"/>
          </p:nvPr>
        </p:nvSpPr>
        <p:spPr>
          <a:xfrm>
            <a:off x="4038600" y="1219200"/>
            <a:ext cx="3962400" cy="1600200"/>
          </a:xfrm>
        </p:spPr>
        <p:txBody>
          <a:bodyPr>
            <a:noAutofit/>
          </a:bodyPr>
          <a:lstStyle/>
          <a:p>
            <a:pPr marL="228600" lvl="1">
              <a:lnSpc>
                <a:spcPct val="90000"/>
              </a:lnSpc>
              <a:spcBef>
                <a:spcPts val="2000"/>
              </a:spcBef>
              <a:buClr>
                <a:schemeClr val="accent1"/>
              </a:buClr>
            </a:pPr>
            <a:r>
              <a:rPr lang="en-US" dirty="0">
                <a:solidFill>
                  <a:schemeClr val="tx1"/>
                </a:solidFill>
              </a:rPr>
              <a:t>Both data and instructions are stored there </a:t>
            </a:r>
          </a:p>
          <a:p>
            <a:pPr marL="228600" lvl="1">
              <a:lnSpc>
                <a:spcPct val="90000"/>
              </a:lnSpc>
              <a:spcBef>
                <a:spcPts val="2000"/>
              </a:spcBef>
              <a:buClr>
                <a:schemeClr val="accent1"/>
              </a:buClr>
            </a:pPr>
            <a:r>
              <a:rPr lang="en-US" dirty="0">
                <a:solidFill>
                  <a:schemeClr val="tx1"/>
                </a:solidFill>
              </a:rPr>
              <a:t>Numbers are represented in binary form and each instruction is a binary code</a:t>
            </a:r>
          </a:p>
          <a:p>
            <a:pPr>
              <a:lnSpc>
                <a:spcPct val="90000"/>
              </a:lnSpc>
            </a:pPr>
            <a:endParaRPr lang="en-GB" dirty="0">
              <a:solidFill>
                <a:schemeClr val="tx1"/>
              </a:solidFill>
            </a:endParaRPr>
          </a:p>
        </p:txBody>
      </p:sp>
      <p:sp>
        <p:nvSpPr>
          <p:cNvPr id="29" name="Content Placeholder 28"/>
          <p:cNvSpPr>
            <a:spLocks noGrp="1"/>
          </p:cNvSpPr>
          <p:nvPr>
            <p:ph sz="half" idx="4294967295"/>
          </p:nvPr>
        </p:nvSpPr>
        <p:spPr>
          <a:xfrm>
            <a:off x="304800" y="1371600"/>
            <a:ext cx="3779838" cy="1965325"/>
          </a:xfrm>
        </p:spPr>
        <p:txBody>
          <a:bodyPr>
            <a:normAutofit/>
          </a:bodyPr>
          <a:lstStyle/>
          <a:p>
            <a:r>
              <a:rPr lang="en-US" dirty="0">
                <a:solidFill>
                  <a:schemeClr val="tx1"/>
                </a:solidFill>
              </a:rPr>
              <a:t>The memory of the IAS consists of 1000 storage locations (called </a:t>
            </a:r>
            <a:r>
              <a:rPr lang="en-US" b="1" i="1" dirty="0">
                <a:solidFill>
                  <a:schemeClr val="tx1"/>
                </a:solidFill>
              </a:rPr>
              <a:t>words</a:t>
            </a:r>
            <a:r>
              <a:rPr lang="en-US" dirty="0">
                <a:solidFill>
                  <a:schemeClr val="tx1"/>
                </a:solidFill>
              </a:rPr>
              <a:t>) of 40 bits each</a:t>
            </a:r>
          </a:p>
        </p:txBody>
      </p:sp>
      <p:pic>
        <p:nvPicPr>
          <p:cNvPr id="32" name="Picture 31" descr="f2.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t="22727" b="28182"/>
              <a:stretch>
                <a:fillRect/>
              </a:stretch>
            </p:blipFill>
          </mc:Choice>
          <mc:Fallback>
            <p:blipFill>
              <a:blip r:embed="rId4"/>
              <a:srcRect t="22727" b="28182"/>
              <a:stretch>
                <a:fillRect/>
              </a:stretch>
            </p:blipFill>
          </mc:Fallback>
        </mc:AlternateContent>
        <p:spPr>
          <a:xfrm>
            <a:off x="1371600" y="2819400"/>
            <a:ext cx="6357032" cy="4038600"/>
          </a:xfrm>
          <a:prstGeom prst="rect">
            <a:avLst/>
          </a:prstGeom>
        </p:spPr>
      </p:pic>
      <p:sp>
        <p:nvSpPr>
          <p:cNvPr id="6" name="Rectangle 5"/>
          <p:cNvSpPr/>
          <p:nvPr/>
        </p:nvSpPr>
        <p:spPr>
          <a:xfrm>
            <a:off x="7072330" y="3571876"/>
            <a:ext cx="696024" cy="461665"/>
          </a:xfrm>
          <a:prstGeom prst="rect">
            <a:avLst/>
          </a:prstGeom>
        </p:spPr>
        <p:txBody>
          <a:bodyPr wrap="none">
            <a:spAutoFit/>
          </a:bodyPr>
          <a:lstStyle/>
          <a:p>
            <a:r>
              <a:rPr kumimoji="1" lang="en-US" dirty="0"/>
              <a:t>data</a:t>
            </a:r>
            <a:endParaRPr lang="en-US" dirty="0"/>
          </a:p>
        </p:txBody>
      </p:sp>
      <p:sp>
        <p:nvSpPr>
          <p:cNvPr id="7" name="Rectangle 6"/>
          <p:cNvSpPr/>
          <p:nvPr/>
        </p:nvSpPr>
        <p:spPr>
          <a:xfrm>
            <a:off x="7000892" y="5500702"/>
            <a:ext cx="1516762" cy="461665"/>
          </a:xfrm>
          <a:prstGeom prst="rect">
            <a:avLst/>
          </a:prstGeom>
        </p:spPr>
        <p:txBody>
          <a:bodyPr wrap="none">
            <a:spAutoFit/>
          </a:bodyPr>
          <a:lstStyle/>
          <a:p>
            <a:r>
              <a:rPr kumimoji="1" lang="en-US" dirty="0"/>
              <a:t>Instruction</a:t>
            </a:r>
            <a:endParaRPr lang="en-US" dirty="0"/>
          </a:p>
        </p:txBody>
      </p:sp>
      <p:pic>
        <p:nvPicPr>
          <p:cNvPr id="8" name="Picture 1"/>
          <p:cNvPicPr>
            <a:picLocks noChangeAspect="1" noChangeArrowheads="1"/>
          </p:cNvPicPr>
          <p:nvPr/>
        </p:nvPicPr>
        <p:blipFill>
          <a:blip r:embed="rId5"/>
          <a:srcRect/>
          <a:stretch>
            <a:fillRect/>
          </a:stretch>
        </p:blipFill>
        <p:spPr bwMode="auto">
          <a:xfrm>
            <a:off x="7962900" y="1985962"/>
            <a:ext cx="1181100" cy="1371600"/>
          </a:xfrm>
          <a:prstGeom prst="rect">
            <a:avLst/>
          </a:prstGeom>
          <a:noFill/>
          <a:ln w="9525">
            <a:noFill/>
            <a:miter lim="800000"/>
            <a:headEnd/>
            <a:tailEnd/>
          </a:ln>
          <a:effectLst/>
        </p:spPr>
      </p:pic>
      <p:sp>
        <p:nvSpPr>
          <p:cNvPr id="9" name="TextBox 8"/>
          <p:cNvSpPr txBox="1"/>
          <p:nvPr/>
        </p:nvSpPr>
        <p:spPr>
          <a:xfrm>
            <a:off x="5500694" y="5988626"/>
            <a:ext cx="3428992" cy="369332"/>
          </a:xfrm>
          <a:prstGeom prst="rect">
            <a:avLst/>
          </a:prstGeom>
          <a:noFill/>
        </p:spPr>
        <p:txBody>
          <a:bodyPr wrap="square" rtlCol="0">
            <a:spAutoFit/>
          </a:bodyPr>
          <a:lstStyle/>
          <a:p>
            <a:pPr algn="ctr"/>
            <a:r>
              <a:rPr lang="en-US" sz="1800"/>
              <a:t>One word contains 2 instructions</a:t>
            </a:r>
          </a:p>
        </p:txBody>
      </p:sp>
      <p:sp>
        <p:nvSpPr>
          <p:cNvPr id="10" name="Slide Number Placeholder 9"/>
          <p:cNvSpPr>
            <a:spLocks noGrp="1"/>
          </p:cNvSpPr>
          <p:nvPr>
            <p:ph type="sldNum" sz="quarter" idx="12"/>
          </p:nvPr>
        </p:nvSpPr>
        <p:spPr/>
        <p:txBody>
          <a:bodyPr/>
          <a:lstStyle/>
          <a:p>
            <a:fld id="{8AF02B71-8991-4516-A01E-F1A9ACD28BDC}" type="slidenum">
              <a:rPr lang="en-US" smtClean="0"/>
              <a:pPr/>
              <a:t>17</a:t>
            </a:fld>
            <a:endParaRPr lang="en-US"/>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381000" y="214290"/>
            <a:ext cx="3255264" cy="3048000"/>
          </a:xfrm>
        </p:spPr>
        <p:txBody>
          <a:bodyPr>
            <a:noAutofit/>
          </a:bodyPr>
          <a:lstStyle/>
          <a:p>
            <a:pPr algn="ctr"/>
            <a:r>
              <a:rPr lang="en-GB" sz="4000" dirty="0">
                <a:effectLst>
                  <a:outerShdw blurRad="38100" dist="38100" dir="2700000" algn="tl">
                    <a:srgbClr val="000000">
                      <a:alpha val="43137"/>
                    </a:srgbClr>
                  </a:outerShdw>
                </a:effectLst>
              </a:rPr>
              <a:t>Structure </a:t>
            </a:r>
            <a:br>
              <a:rPr lang="en-GB" sz="4000" dirty="0">
                <a:effectLst>
                  <a:outerShdw blurRad="38100" dist="38100" dir="2700000" algn="tl">
                    <a:srgbClr val="000000">
                      <a:alpha val="43137"/>
                    </a:srgbClr>
                  </a:outerShdw>
                </a:effectLst>
              </a:rPr>
            </a:br>
            <a:r>
              <a:rPr lang="en-GB" sz="4000" dirty="0">
                <a:effectLst>
                  <a:outerShdw blurRad="38100" dist="38100" dir="2700000" algn="tl">
                    <a:srgbClr val="000000">
                      <a:alpha val="43137"/>
                    </a:srgbClr>
                  </a:outerShdw>
                </a:effectLst>
              </a:rPr>
              <a:t>of </a:t>
            </a:r>
            <a:br>
              <a:rPr lang="en-GB" sz="4000" dirty="0">
                <a:effectLst>
                  <a:outerShdw blurRad="38100" dist="38100" dir="2700000" algn="tl">
                    <a:srgbClr val="000000">
                      <a:alpha val="43137"/>
                    </a:srgbClr>
                  </a:outerShdw>
                </a:effectLst>
              </a:rPr>
            </a:br>
            <a:r>
              <a:rPr lang="en-GB" sz="4000" dirty="0">
                <a:effectLst>
                  <a:outerShdw blurRad="38100" dist="38100" dir="2700000" algn="tl">
                    <a:srgbClr val="000000">
                      <a:alpha val="43137"/>
                    </a:srgbClr>
                  </a:outerShdw>
                </a:effectLst>
              </a:rPr>
              <a:t>IAS</a:t>
            </a:r>
            <a:br>
              <a:rPr lang="en-GB" sz="4000" dirty="0">
                <a:effectLst>
                  <a:outerShdw blurRad="38100" dist="38100" dir="2700000" algn="tl">
                    <a:srgbClr val="000000">
                      <a:alpha val="43137"/>
                    </a:srgbClr>
                  </a:outerShdw>
                </a:effectLst>
              </a:rPr>
            </a:br>
            <a:r>
              <a:rPr lang="en-GB" sz="4000" dirty="0">
                <a:effectLst>
                  <a:outerShdw blurRad="38100" dist="38100" dir="2700000" algn="tl">
                    <a:srgbClr val="000000">
                      <a:alpha val="43137"/>
                    </a:srgbClr>
                  </a:outerShdw>
                </a:effectLst>
              </a:rPr>
              <a:t>Computer</a:t>
            </a:r>
          </a:p>
        </p:txBody>
      </p:sp>
      <p:sp>
        <p:nvSpPr>
          <p:cNvPr id="5" name="Rectangle 4"/>
          <p:cNvSpPr/>
          <p:nvPr/>
        </p:nvSpPr>
        <p:spPr>
          <a:xfrm>
            <a:off x="219878" y="3753999"/>
            <a:ext cx="3592907" cy="2246769"/>
          </a:xfrm>
          <a:prstGeom prst="rect">
            <a:avLst/>
          </a:prstGeom>
        </p:spPr>
        <p:txBody>
          <a:bodyPr wrap="none">
            <a:spAutoFit/>
          </a:bodyPr>
          <a:lstStyle/>
          <a:p>
            <a:r>
              <a:rPr kumimoji="1" lang="en-US" sz="2000" dirty="0">
                <a:solidFill>
                  <a:schemeClr val="bg1"/>
                </a:solidFill>
              </a:rPr>
              <a:t>AC: Accumulator</a:t>
            </a:r>
          </a:p>
          <a:p>
            <a:r>
              <a:rPr kumimoji="1" lang="en-US" sz="2000" dirty="0">
                <a:solidFill>
                  <a:schemeClr val="bg1"/>
                </a:solidFill>
              </a:rPr>
              <a:t>MQ: Multiplier Quotient</a:t>
            </a:r>
          </a:p>
          <a:p>
            <a:r>
              <a:rPr kumimoji="1" lang="en-US" sz="2000" dirty="0">
                <a:solidFill>
                  <a:schemeClr val="bg1"/>
                </a:solidFill>
              </a:rPr>
              <a:t>MBR: Memory Buffer Register</a:t>
            </a:r>
          </a:p>
          <a:p>
            <a:r>
              <a:rPr kumimoji="1" lang="en-US" sz="2000" dirty="0">
                <a:solidFill>
                  <a:schemeClr val="bg1"/>
                </a:solidFill>
              </a:rPr>
              <a:t>IBR: Instruction Buffer Register</a:t>
            </a:r>
          </a:p>
          <a:p>
            <a:r>
              <a:rPr kumimoji="1" lang="en-US" sz="2000" dirty="0">
                <a:solidFill>
                  <a:schemeClr val="bg1"/>
                </a:solidFill>
              </a:rPr>
              <a:t>PC: program counter</a:t>
            </a:r>
          </a:p>
          <a:p>
            <a:r>
              <a:rPr kumimoji="1" lang="en-US" sz="2000" dirty="0">
                <a:solidFill>
                  <a:schemeClr val="bg1"/>
                </a:solidFill>
              </a:rPr>
              <a:t>IR: Instruction register</a:t>
            </a:r>
          </a:p>
          <a:p>
            <a:r>
              <a:rPr kumimoji="1" lang="en-US" sz="2000" dirty="0">
                <a:solidFill>
                  <a:schemeClr val="bg1"/>
                </a:solidFill>
              </a:rPr>
              <a:t>MAR: Memory Address Register</a:t>
            </a:r>
            <a:endParaRPr lang="en-US" sz="2000" dirty="0">
              <a:solidFill>
                <a:schemeClr val="bg1"/>
              </a:solidFill>
            </a:endParaRPr>
          </a:p>
        </p:txBody>
      </p:sp>
      <p:pic>
        <p:nvPicPr>
          <p:cNvPr id="6" name="Picture 1"/>
          <p:cNvPicPr>
            <a:picLocks noChangeAspect="1" noChangeArrowheads="1"/>
          </p:cNvPicPr>
          <p:nvPr/>
        </p:nvPicPr>
        <p:blipFill>
          <a:blip r:embed="rId3"/>
          <a:srcRect/>
          <a:stretch>
            <a:fillRect/>
          </a:stretch>
        </p:blipFill>
        <p:spPr bwMode="auto">
          <a:xfrm>
            <a:off x="3071802" y="1285860"/>
            <a:ext cx="1181100" cy="1371600"/>
          </a:xfrm>
          <a:prstGeom prst="rect">
            <a:avLst/>
          </a:prstGeom>
          <a:noFill/>
          <a:ln w="9525">
            <a:noFill/>
            <a:miter lim="800000"/>
            <a:headEnd/>
            <a:tailEnd/>
          </a:ln>
          <a:effectLst/>
        </p:spPr>
      </p:pic>
      <p:pic>
        <p:nvPicPr>
          <p:cNvPr id="8" name="Picture 7">
            <a:extLst>
              <a:ext uri="{FF2B5EF4-FFF2-40B4-BE49-F238E27FC236}">
                <a16:creationId xmlns:a16="http://schemas.microsoft.com/office/drawing/2014/main" id="{BC34DBF2-EEC0-4D35-A962-150DD8458721}"/>
              </a:ext>
            </a:extLst>
          </p:cNvPr>
          <p:cNvPicPr>
            <a:picLocks noChangeAspect="1"/>
          </p:cNvPicPr>
          <p:nvPr/>
        </p:nvPicPr>
        <p:blipFill>
          <a:blip r:embed="rId4"/>
          <a:stretch>
            <a:fillRect/>
          </a:stretch>
        </p:blipFill>
        <p:spPr>
          <a:xfrm>
            <a:off x="250598" y="3356992"/>
            <a:ext cx="4321402" cy="2520279"/>
          </a:xfrm>
          <a:prstGeom prst="rect">
            <a:avLst/>
          </a:prstGeom>
        </p:spPr>
      </p:pic>
      <p:pic>
        <p:nvPicPr>
          <p:cNvPr id="10" name="Picture 9">
            <a:extLst>
              <a:ext uri="{FF2B5EF4-FFF2-40B4-BE49-F238E27FC236}">
                <a16:creationId xmlns:a16="http://schemas.microsoft.com/office/drawing/2014/main" id="{4E3303F4-18FD-4EEA-8C82-A48695643876}"/>
              </a:ext>
            </a:extLst>
          </p:cNvPr>
          <p:cNvPicPr>
            <a:picLocks noChangeAspect="1"/>
          </p:cNvPicPr>
          <p:nvPr/>
        </p:nvPicPr>
        <p:blipFill>
          <a:blip r:embed="rId5"/>
          <a:stretch>
            <a:fillRect/>
          </a:stretch>
        </p:blipFill>
        <p:spPr>
          <a:xfrm>
            <a:off x="4589998" y="260648"/>
            <a:ext cx="4446498" cy="6264696"/>
          </a:xfrm>
          <a:prstGeom prst="rect">
            <a:avLst/>
          </a:prstGeom>
        </p:spPr>
      </p:pic>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29454" y="3857628"/>
            <a:ext cx="2257420" cy="1571636"/>
          </a:xfrm>
        </p:spPr>
        <p:txBody>
          <a:bodyPr>
            <a:normAutofit/>
          </a:bodyPr>
          <a:lstStyle/>
          <a:p>
            <a:pPr algn="ctr"/>
            <a:r>
              <a:rPr lang="en-US" sz="2800" dirty="0">
                <a:effectLst>
                  <a:outerShdw blurRad="38100" dist="38100" dir="2700000" algn="tl">
                    <a:srgbClr val="000000">
                      <a:alpha val="43137"/>
                    </a:srgbClr>
                  </a:outerShdw>
                </a:effectLst>
              </a:rPr>
              <a:t>The IAS Instruction </a:t>
            </a:r>
            <a:br>
              <a:rPr lang="en-US" sz="2800" dirty="0">
                <a:effectLst>
                  <a:outerShdw blurRad="38100" dist="38100" dir="2700000" algn="tl">
                    <a:srgbClr val="000000">
                      <a:alpha val="43137"/>
                    </a:srgbClr>
                  </a:outerShdw>
                </a:effectLst>
              </a:rPr>
            </a:br>
            <a:r>
              <a:rPr lang="en-US" sz="2800" dirty="0">
                <a:effectLst>
                  <a:outerShdw blurRad="38100" dist="38100" dir="2700000" algn="tl">
                    <a:srgbClr val="000000">
                      <a:alpha val="43137"/>
                    </a:srgbClr>
                  </a:outerShdw>
                </a:effectLst>
              </a:rPr>
              <a:t>Set</a:t>
            </a:r>
          </a:p>
        </p:txBody>
      </p:sp>
      <p:sp>
        <p:nvSpPr>
          <p:cNvPr id="55" name="TextBox 54"/>
          <p:cNvSpPr txBox="1"/>
          <p:nvPr/>
        </p:nvSpPr>
        <p:spPr>
          <a:xfrm>
            <a:off x="6781832" y="3282735"/>
            <a:ext cx="2362200" cy="646331"/>
          </a:xfrm>
          <a:prstGeom prst="rect">
            <a:avLst/>
          </a:prstGeom>
          <a:blipFill rotWithShape="1">
            <a:blip r:embed="rId4"/>
            <a:tile tx="0" ty="0" sx="100000" sy="100000" flip="none" algn="tl"/>
          </a:blipFill>
        </p:spPr>
        <p:txBody>
          <a:bodyPr wrap="square" rtlCol="0">
            <a:spAutoFit/>
          </a:bodyPr>
          <a:lstStyle/>
          <a:p>
            <a:pPr algn="ctr"/>
            <a:r>
              <a:rPr lang="en-US" sz="3600" dirty="0">
                <a:solidFill>
                  <a:schemeClr val="accent1"/>
                </a:solidFill>
                <a:effectLst>
                  <a:outerShdw blurRad="38100" dist="38100" dir="2700000" algn="tl">
                    <a:srgbClr val="000000">
                      <a:alpha val="43137"/>
                    </a:srgbClr>
                  </a:outerShdw>
                </a:effectLst>
                <a:latin typeface="+mj-lt"/>
                <a:ea typeface="+mj-ea"/>
                <a:cs typeface="+mj-cs"/>
              </a:rPr>
              <a:t>Table 2.1</a:t>
            </a:r>
          </a:p>
        </p:txBody>
      </p:sp>
      <p:sp>
        <p:nvSpPr>
          <p:cNvPr id="56" name="TextBox 55"/>
          <p:cNvSpPr txBox="1"/>
          <p:nvPr/>
        </p:nvSpPr>
        <p:spPr>
          <a:xfrm>
            <a:off x="0" y="6858000"/>
            <a:ext cx="9144000" cy="381000"/>
          </a:xfrm>
          <a:prstGeom prst="rect">
            <a:avLst/>
          </a:prstGeom>
          <a:solidFill>
            <a:schemeClr val="bg1">
              <a:lumMod val="65000"/>
            </a:schemeClr>
          </a:solidFill>
        </p:spPr>
        <p:txBody>
          <a:bodyPr wrap="square" rtlCol="0">
            <a:spAutoFit/>
          </a:bodyPr>
          <a:lstStyle/>
          <a:p>
            <a:endParaRPr lang="en-US" dirty="0"/>
          </a:p>
        </p:txBody>
      </p:sp>
      <p:graphicFrame>
        <p:nvGraphicFramePr>
          <p:cNvPr id="182281" name="Object 9"/>
          <p:cNvGraphicFramePr>
            <a:graphicFrameLocks noChangeAspect="1"/>
          </p:cNvGraphicFramePr>
          <p:nvPr>
            <p:extLst>
              <p:ext uri="{D42A27DB-BD31-4B8C-83A1-F6EECF244321}">
                <p14:modId xmlns:p14="http://schemas.microsoft.com/office/powerpoint/2010/main" val="1208531201"/>
              </p:ext>
            </p:extLst>
          </p:nvPr>
        </p:nvGraphicFramePr>
        <p:xfrm>
          <a:off x="0" y="0"/>
          <a:ext cx="6006107" cy="6858000"/>
        </p:xfrm>
        <a:graphic>
          <a:graphicData uri="http://schemas.openxmlformats.org/presentationml/2006/ole">
            <mc:AlternateContent xmlns:mc="http://schemas.openxmlformats.org/markup-compatibility/2006">
              <mc:Choice xmlns:v="urn:schemas-microsoft-com:vml" Requires="v">
                <p:oleObj spid="_x0000_s1052" name="Document" r:id="rId5" imgW="0" imgH="0" progId="Word.Document.12">
                  <p:link updateAutomatic="1"/>
                </p:oleObj>
              </mc:Choice>
              <mc:Fallback>
                <p:oleObj name="Document" r:id="rId5" imgW="0" imgH="0" progId="Word.Document.12">
                  <p:link updateAutomatic="1"/>
                  <p:pic>
                    <p:nvPicPr>
                      <p:cNvPr id="182281" name="Object 9"/>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0" y="0"/>
                        <a:ext cx="6006107"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182282" name="Picture 10"/>
          <p:cNvPicPr>
            <a:picLocks noChangeAspect="1" noChangeArrowheads="1"/>
          </p:cNvPicPr>
          <p:nvPr/>
        </p:nvPicPr>
        <p:blipFill>
          <a:blip r:embed="rId6"/>
          <a:srcRect/>
          <a:stretch>
            <a:fillRect/>
          </a:stretch>
        </p:blipFill>
        <p:spPr bwMode="auto">
          <a:xfrm>
            <a:off x="71406" y="142852"/>
            <a:ext cx="6902628" cy="6448508"/>
          </a:xfrm>
          <a:prstGeom prst="rect">
            <a:avLst/>
          </a:prstGeom>
          <a:noFill/>
          <a:ln w="9525">
            <a:noFill/>
            <a:miter lim="800000"/>
            <a:headEnd/>
            <a:tailEnd/>
          </a:ln>
          <a:effectLst/>
        </p:spPr>
      </p:pic>
      <p:pic>
        <p:nvPicPr>
          <p:cNvPr id="7" name="Picture 1"/>
          <p:cNvPicPr>
            <a:picLocks noChangeAspect="1" noChangeArrowheads="1"/>
          </p:cNvPicPr>
          <p:nvPr/>
        </p:nvPicPr>
        <p:blipFill>
          <a:blip r:embed="rId7"/>
          <a:srcRect/>
          <a:stretch>
            <a:fillRect/>
          </a:stretch>
        </p:blipFill>
        <p:spPr bwMode="auto">
          <a:xfrm>
            <a:off x="7962900" y="1914524"/>
            <a:ext cx="1181100" cy="1371600"/>
          </a:xfrm>
          <a:prstGeom prst="rect">
            <a:avLst/>
          </a:prstGeom>
          <a:noFill/>
          <a:ln w="9525">
            <a:noFill/>
            <a:miter lim="800000"/>
            <a:headEnd/>
            <a:tailEnd/>
          </a:ln>
          <a:effectLst/>
        </p:spPr>
      </p:pic>
      <p:sp>
        <p:nvSpPr>
          <p:cNvPr id="8" name="Slide Number Placeholder 7"/>
          <p:cNvSpPr>
            <a:spLocks noGrp="1"/>
          </p:cNvSpPr>
          <p:nvPr>
            <p:ph type="sldNum" sz="quarter" idx="12"/>
          </p:nvPr>
        </p:nvSpPr>
        <p:spPr/>
        <p:txBody>
          <a:bodyPr/>
          <a:lstStyle/>
          <a:p>
            <a:fld id="{8AF02B71-8991-4516-A01E-F1A9ACD28BDC}" type="slidenum">
              <a:rPr lang="en-US" smtClean="0"/>
              <a:pPr/>
              <a:t>19</a:t>
            </a:fld>
            <a:endParaRPr lang="en-US"/>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7072330" y="3500438"/>
            <a:ext cx="2071670" cy="1754326"/>
          </a:xfrm>
          <a:prstGeom prst="rect">
            <a:avLst/>
          </a:prstGeom>
          <a:blipFill rotWithShape="1">
            <a:blip r:embed="rId4"/>
            <a:tile tx="0" ty="0" sx="100000" sy="100000" flip="none" algn="tl"/>
          </a:blipFill>
        </p:spPr>
        <p:txBody>
          <a:bodyPr wrap="square" rtlCol="0">
            <a:spAutoFit/>
          </a:bodyPr>
          <a:lstStyle/>
          <a:p>
            <a:pPr algn="ctr"/>
            <a:r>
              <a:rPr lang="en-US" sz="3600" dirty="0">
                <a:solidFill>
                  <a:schemeClr val="accent1"/>
                </a:solidFill>
                <a:effectLst>
                  <a:outerShdw blurRad="38100" dist="38100" dir="2700000" algn="tl">
                    <a:srgbClr val="000000">
                      <a:alpha val="43137"/>
                    </a:srgbClr>
                  </a:outerShdw>
                </a:effectLst>
                <a:latin typeface="+mj-lt"/>
                <a:ea typeface="+mj-ea"/>
                <a:cs typeface="+mj-cs"/>
              </a:rPr>
              <a:t>Run IAS</a:t>
            </a:r>
          </a:p>
          <a:p>
            <a:pPr algn="ctr"/>
            <a:r>
              <a:rPr lang="en-US" sz="3600" dirty="0">
                <a:solidFill>
                  <a:schemeClr val="accent1"/>
                </a:solidFill>
                <a:effectLst>
                  <a:outerShdw blurRad="38100" dist="38100" dir="2700000" algn="tl">
                    <a:srgbClr val="000000">
                      <a:alpha val="43137"/>
                    </a:srgbClr>
                  </a:outerShdw>
                </a:effectLst>
                <a:latin typeface="+mj-lt"/>
                <a:ea typeface="+mj-ea"/>
                <a:cs typeface="+mj-cs"/>
              </a:rPr>
              <a:t>Machine Code</a:t>
            </a:r>
          </a:p>
        </p:txBody>
      </p:sp>
      <p:sp>
        <p:nvSpPr>
          <p:cNvPr id="56" name="TextBox 55"/>
          <p:cNvSpPr txBox="1"/>
          <p:nvPr/>
        </p:nvSpPr>
        <p:spPr>
          <a:xfrm>
            <a:off x="0" y="6858000"/>
            <a:ext cx="9144000" cy="381000"/>
          </a:xfrm>
          <a:prstGeom prst="rect">
            <a:avLst/>
          </a:prstGeom>
          <a:solidFill>
            <a:schemeClr val="bg1">
              <a:lumMod val="65000"/>
            </a:schemeClr>
          </a:solidFill>
        </p:spPr>
        <p:txBody>
          <a:bodyPr wrap="square" rtlCol="0">
            <a:spAutoFit/>
          </a:bodyPr>
          <a:lstStyle/>
          <a:p>
            <a:endParaRPr lang="en-US" dirty="0"/>
          </a:p>
        </p:txBody>
      </p:sp>
      <p:graphicFrame>
        <p:nvGraphicFramePr>
          <p:cNvPr id="182281" name="Object 9"/>
          <p:cNvGraphicFramePr>
            <a:graphicFrameLocks noChangeAspect="1"/>
          </p:cNvGraphicFramePr>
          <p:nvPr>
            <p:extLst>
              <p:ext uri="{D42A27DB-BD31-4B8C-83A1-F6EECF244321}">
                <p14:modId xmlns:p14="http://schemas.microsoft.com/office/powerpoint/2010/main" val="474305222"/>
              </p:ext>
            </p:extLst>
          </p:nvPr>
        </p:nvGraphicFramePr>
        <p:xfrm>
          <a:off x="0" y="0"/>
          <a:ext cx="6006107" cy="6858000"/>
        </p:xfrm>
        <a:graphic>
          <a:graphicData uri="http://schemas.openxmlformats.org/presentationml/2006/ole">
            <mc:AlternateContent xmlns:mc="http://schemas.openxmlformats.org/markup-compatibility/2006">
              <mc:Choice xmlns:v="urn:schemas-microsoft-com:vml" Requires="v">
                <p:oleObj spid="_x0000_s2076" name="Document" r:id="rId5" imgW="0" imgH="0" progId="Word.Document.12">
                  <p:link updateAutomatic="1"/>
                </p:oleObj>
              </mc:Choice>
              <mc:Fallback>
                <p:oleObj name="Document" r:id="rId5" imgW="0" imgH="0" progId="Word.Document.12">
                  <p:link updateAutomatic="1"/>
                  <p:pic>
                    <p:nvPicPr>
                      <p:cNvPr id="182281" name="Object 9"/>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0" y="0"/>
                        <a:ext cx="6006107"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182282" name="Picture 10"/>
          <p:cNvPicPr>
            <a:picLocks noChangeAspect="1" noChangeArrowheads="1"/>
          </p:cNvPicPr>
          <p:nvPr/>
        </p:nvPicPr>
        <p:blipFill>
          <a:blip r:embed="rId6"/>
          <a:srcRect/>
          <a:stretch>
            <a:fillRect/>
          </a:stretch>
        </p:blipFill>
        <p:spPr bwMode="auto">
          <a:xfrm>
            <a:off x="71406" y="44624"/>
            <a:ext cx="6902628" cy="6448508"/>
          </a:xfrm>
          <a:prstGeom prst="rect">
            <a:avLst/>
          </a:prstGeom>
          <a:noFill/>
          <a:ln w="9525">
            <a:noFill/>
            <a:miter lim="800000"/>
            <a:headEnd/>
            <a:tailEnd/>
          </a:ln>
          <a:effectLst/>
        </p:spPr>
      </p:pic>
      <p:pic>
        <p:nvPicPr>
          <p:cNvPr id="7" name="Picture 1"/>
          <p:cNvPicPr>
            <a:picLocks noChangeAspect="1" noChangeArrowheads="1"/>
          </p:cNvPicPr>
          <p:nvPr/>
        </p:nvPicPr>
        <p:blipFill>
          <a:blip r:embed="rId7"/>
          <a:srcRect/>
          <a:stretch>
            <a:fillRect/>
          </a:stretch>
        </p:blipFill>
        <p:spPr bwMode="auto">
          <a:xfrm>
            <a:off x="7962900" y="1914524"/>
            <a:ext cx="1181100" cy="1371600"/>
          </a:xfrm>
          <a:prstGeom prst="rect">
            <a:avLst/>
          </a:prstGeom>
          <a:noFill/>
          <a:ln w="9525">
            <a:noFill/>
            <a:miter lim="800000"/>
            <a:headEnd/>
            <a:tailEnd/>
          </a:ln>
          <a:effectLst/>
        </p:spPr>
      </p:pic>
      <p:sp>
        <p:nvSpPr>
          <p:cNvPr id="8" name="Slide Number Placeholder 7"/>
          <p:cNvSpPr>
            <a:spLocks noGrp="1"/>
          </p:cNvSpPr>
          <p:nvPr>
            <p:ph type="sldNum" sz="quarter" idx="12"/>
          </p:nvPr>
        </p:nvSpPr>
        <p:spPr/>
        <p:txBody>
          <a:bodyPr/>
          <a:lstStyle/>
          <a:p>
            <a:fld id="{8AF02B71-8991-4516-A01E-F1A9ACD28BDC}" type="slidenum">
              <a:rPr lang="en-US" smtClean="0"/>
              <a:pPr/>
              <a:t>20</a:t>
            </a:fld>
            <a:endParaRPr lang="en-US"/>
          </a:p>
        </p:txBody>
      </p:sp>
      <p:sp>
        <p:nvSpPr>
          <p:cNvPr id="9" name="TextBox 8"/>
          <p:cNvSpPr txBox="1"/>
          <p:nvPr/>
        </p:nvSpPr>
        <p:spPr>
          <a:xfrm>
            <a:off x="3428992" y="142852"/>
            <a:ext cx="3500462" cy="6247864"/>
          </a:xfrm>
          <a:prstGeom prst="rect">
            <a:avLst/>
          </a:prstGeom>
          <a:solidFill>
            <a:schemeClr val="bg1"/>
          </a:solidFill>
        </p:spPr>
        <p:txBody>
          <a:bodyPr wrap="square" rtlCol="0">
            <a:spAutoFit/>
          </a:bodyPr>
          <a:lstStyle/>
          <a:p>
            <a:r>
              <a:rPr lang="en-US" sz="2000" dirty="0"/>
              <a:t>Hexadecimal Code:</a:t>
            </a:r>
          </a:p>
          <a:p>
            <a:r>
              <a:rPr lang="en-US" sz="2000" dirty="0"/>
              <a:t>010FA210FB</a:t>
            </a:r>
          </a:p>
          <a:p>
            <a:r>
              <a:rPr lang="en-US" sz="2000" dirty="0"/>
              <a:t>IAS code length: 40 bits</a:t>
            </a:r>
          </a:p>
          <a:p>
            <a:r>
              <a:rPr lang="en-US" sz="2000" b="1" u="sng" dirty="0"/>
              <a:t>Left instruction: 010FA</a:t>
            </a:r>
          </a:p>
          <a:p>
            <a:r>
              <a:rPr lang="en-US" sz="2000" dirty="0" err="1"/>
              <a:t>Opcode</a:t>
            </a:r>
            <a:r>
              <a:rPr lang="en-US" sz="2000" dirty="0"/>
              <a:t>: 01(h)</a:t>
            </a:r>
          </a:p>
          <a:p>
            <a:r>
              <a:rPr lang="en-US" sz="2000" dirty="0"/>
              <a:t>Address: 0FA</a:t>
            </a:r>
          </a:p>
          <a:p>
            <a:r>
              <a:rPr lang="en-US" sz="2000" dirty="0"/>
              <a:t>01(h) </a:t>
            </a:r>
            <a:r>
              <a:rPr lang="en-US" sz="2000" dirty="0">
                <a:sym typeface="Wingdings" pitchFamily="2" charset="2"/>
              </a:rPr>
              <a:t> 0000 0001</a:t>
            </a:r>
          </a:p>
          <a:p>
            <a:r>
              <a:rPr lang="en-US" sz="2000" dirty="0">
                <a:sym typeface="Wingdings" pitchFamily="2" charset="2"/>
              </a:rPr>
              <a:t>Load data in the 0FA memory word to AC</a:t>
            </a:r>
          </a:p>
          <a:p>
            <a:pPr>
              <a:buFont typeface="Wingdings" pitchFamily="2" charset="2"/>
              <a:buChar char="è"/>
            </a:pPr>
            <a:r>
              <a:rPr lang="en-US" sz="2000" dirty="0">
                <a:sym typeface="Wingdings" pitchFamily="2" charset="2"/>
              </a:rPr>
              <a:t>AC = [0FA]</a:t>
            </a:r>
          </a:p>
          <a:p>
            <a:r>
              <a:rPr lang="en-US" sz="2000" b="1" u="sng" dirty="0"/>
              <a:t>Right instruction: 210FB</a:t>
            </a:r>
          </a:p>
          <a:p>
            <a:r>
              <a:rPr lang="en-US" sz="2000" dirty="0" err="1"/>
              <a:t>Opcode</a:t>
            </a:r>
            <a:r>
              <a:rPr lang="en-US" sz="2000" dirty="0"/>
              <a:t>: 21(h)</a:t>
            </a:r>
          </a:p>
          <a:p>
            <a:r>
              <a:rPr lang="en-US" sz="2000" dirty="0"/>
              <a:t>Address: 0FB</a:t>
            </a:r>
          </a:p>
          <a:p>
            <a:r>
              <a:rPr lang="en-US" sz="2000" dirty="0"/>
              <a:t>21(h) </a:t>
            </a:r>
            <a:r>
              <a:rPr lang="en-US" sz="2000" dirty="0">
                <a:sym typeface="Wingdings" pitchFamily="2" charset="2"/>
              </a:rPr>
              <a:t> 0010 0001</a:t>
            </a:r>
          </a:p>
          <a:p>
            <a:r>
              <a:rPr lang="en-US" sz="2000" dirty="0">
                <a:sym typeface="Wingdings" pitchFamily="2" charset="2"/>
              </a:rPr>
              <a:t>Store AC to the 0FB memory word  </a:t>
            </a:r>
          </a:p>
          <a:p>
            <a:pPr>
              <a:buFont typeface="Wingdings" pitchFamily="2" charset="2"/>
              <a:buChar char="è"/>
            </a:pPr>
            <a:r>
              <a:rPr lang="en-US" sz="2000" dirty="0">
                <a:sym typeface="Wingdings" pitchFamily="2" charset="2"/>
              </a:rPr>
              <a:t>[0FB] = AC</a:t>
            </a:r>
          </a:p>
          <a:p>
            <a:endParaRPr lang="en-US" sz="2000" dirty="0">
              <a:sym typeface="Wingdings" pitchFamily="2" charset="2"/>
            </a:endParaRPr>
          </a:p>
          <a:p>
            <a:r>
              <a:rPr lang="en-US" sz="2000" dirty="0">
                <a:solidFill>
                  <a:srgbClr val="FF0000"/>
                </a:solidFill>
                <a:sym typeface="Wingdings" pitchFamily="2" charset="2"/>
              </a:rPr>
              <a:t> [0FB] = [0FA]</a:t>
            </a:r>
            <a:endParaRPr lang="en-US" sz="2000" dirty="0">
              <a:solidFill>
                <a:srgbClr val="FF0000"/>
              </a:solidFill>
            </a:endParaRPr>
          </a:p>
          <a:p>
            <a:endParaRPr lang="en-US" sz="2000" dirty="0"/>
          </a:p>
        </p:txBody>
      </p:sp>
      <p:cxnSp>
        <p:nvCxnSpPr>
          <p:cNvPr id="12" name="Straight Arrow Connector 11"/>
          <p:cNvCxnSpPr/>
          <p:nvPr/>
        </p:nvCxnSpPr>
        <p:spPr>
          <a:xfrm rot="16200000" flipH="1">
            <a:off x="2928926" y="1500174"/>
            <a:ext cx="642942" cy="50006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3" name="Straight Arrow Connector 12"/>
          <p:cNvCxnSpPr/>
          <p:nvPr/>
        </p:nvCxnSpPr>
        <p:spPr>
          <a:xfrm rot="16200000" flipH="1">
            <a:off x="1714480" y="2428868"/>
            <a:ext cx="3000396" cy="71438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7215206" y="5429264"/>
            <a:ext cx="1071570" cy="42862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7</a:t>
            </a:r>
          </a:p>
        </p:txBody>
      </p:sp>
      <p:sp>
        <p:nvSpPr>
          <p:cNvPr id="17" name="Rectangle 16"/>
          <p:cNvSpPr/>
          <p:nvPr/>
        </p:nvSpPr>
        <p:spPr>
          <a:xfrm>
            <a:off x="7215206" y="5857892"/>
            <a:ext cx="1071570" cy="42862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7</a:t>
            </a:r>
          </a:p>
        </p:txBody>
      </p:sp>
      <p:sp>
        <p:nvSpPr>
          <p:cNvPr id="18" name="Rectangle 17"/>
          <p:cNvSpPr/>
          <p:nvPr/>
        </p:nvSpPr>
        <p:spPr>
          <a:xfrm>
            <a:off x="8358214" y="5500702"/>
            <a:ext cx="714348" cy="285752"/>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tx1"/>
                </a:solidFill>
              </a:rPr>
              <a:t>OFA</a:t>
            </a:r>
          </a:p>
        </p:txBody>
      </p:sp>
      <p:sp>
        <p:nvSpPr>
          <p:cNvPr id="19" name="Rectangle 18"/>
          <p:cNvSpPr/>
          <p:nvPr/>
        </p:nvSpPr>
        <p:spPr>
          <a:xfrm>
            <a:off x="8358214" y="5929330"/>
            <a:ext cx="714348" cy="285752"/>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tx1"/>
                </a:solidFill>
              </a:rPr>
              <a:t>OFB</a:t>
            </a:r>
          </a:p>
        </p:txBody>
      </p:sp>
      <p:sp>
        <p:nvSpPr>
          <p:cNvPr id="20" name="Rectangle 19"/>
          <p:cNvSpPr/>
          <p:nvPr/>
        </p:nvSpPr>
        <p:spPr>
          <a:xfrm>
            <a:off x="5715008" y="5572140"/>
            <a:ext cx="1071570" cy="42862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rPr lang="en-US" sz="1800" dirty="0"/>
              <a:t>AC:    7    </a:t>
            </a:r>
          </a:p>
        </p:txBody>
      </p:sp>
      <p:cxnSp>
        <p:nvCxnSpPr>
          <p:cNvPr id="22" name="Straight Arrow Connector 21"/>
          <p:cNvCxnSpPr>
            <a:stCxn id="16" idx="1"/>
            <a:endCxn id="20" idx="3"/>
          </p:cNvCxnSpPr>
          <p:nvPr/>
        </p:nvCxnSpPr>
        <p:spPr>
          <a:xfrm rot="10800000" flipV="1">
            <a:off x="6786578" y="5643578"/>
            <a:ext cx="428628" cy="14287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4" name="Straight Arrow Connector 23"/>
          <p:cNvCxnSpPr>
            <a:stCxn id="20" idx="3"/>
            <a:endCxn id="17" idx="1"/>
          </p:cNvCxnSpPr>
          <p:nvPr/>
        </p:nvCxnSpPr>
        <p:spPr>
          <a:xfrm>
            <a:off x="6786578" y="5786454"/>
            <a:ext cx="428628" cy="28575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3428992" y="6143644"/>
            <a:ext cx="3357586" cy="428628"/>
          </a:xfrm>
          <a:prstGeom prst="rect">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dirty="0">
                <a:solidFill>
                  <a:schemeClr val="tx1"/>
                </a:solidFill>
              </a:rPr>
              <a:t>A part of the exercise 2.7</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1026"/>
          <p:cNvSpPr>
            <a:spLocks noGrp="1" noChangeArrowheads="1"/>
          </p:cNvSpPr>
          <p:nvPr>
            <p:ph type="title"/>
          </p:nvPr>
        </p:nvSpPr>
        <p:spPr>
          <a:xfrm>
            <a:off x="357158" y="484094"/>
            <a:ext cx="7556313" cy="1116106"/>
          </a:xfrm>
        </p:spPr>
        <p:txBody>
          <a:bodyPr/>
          <a:lstStyle/>
          <a:p>
            <a:r>
              <a:rPr lang="en-US" dirty="0">
                <a:effectLst>
                  <a:outerShdw blurRad="38100" dist="38100" dir="2700000" algn="tl">
                    <a:srgbClr val="000000">
                      <a:alpha val="43137"/>
                    </a:srgbClr>
                  </a:outerShdw>
                </a:effectLst>
              </a:rPr>
              <a:t>Commercial Computers: UNIVAC</a:t>
            </a:r>
            <a:br>
              <a:rPr lang="en-US" dirty="0">
                <a:effectLst>
                  <a:outerShdw blurRad="38100" dist="38100" dir="2700000" algn="tl">
                    <a:srgbClr val="000000">
                      <a:alpha val="43137"/>
                    </a:srgbClr>
                  </a:outerShdw>
                </a:effectLst>
              </a:rPr>
            </a:br>
            <a:r>
              <a:rPr lang="en-US" dirty="0">
                <a:effectLst>
                  <a:outerShdw blurRad="38100" dist="38100" dir="2700000" algn="tl">
                    <a:srgbClr val="000000">
                      <a:alpha val="43137"/>
                    </a:srgbClr>
                  </a:outerShdw>
                </a:effectLst>
              </a:rPr>
              <a:t> (Read by yourself)</a:t>
            </a:r>
          </a:p>
        </p:txBody>
      </p:sp>
      <p:sp>
        <p:nvSpPr>
          <p:cNvPr id="44035" name="Rectangle 1027"/>
          <p:cNvSpPr>
            <a:spLocks noGrp="1" noChangeArrowheads="1"/>
          </p:cNvSpPr>
          <p:nvPr>
            <p:ph idx="1"/>
          </p:nvPr>
        </p:nvSpPr>
        <p:spPr/>
        <p:txBody>
          <a:bodyPr>
            <a:normAutofit fontScale="92500" lnSpcReduction="20000"/>
          </a:bodyPr>
          <a:lstStyle/>
          <a:p>
            <a:r>
              <a:rPr lang="en-US" dirty="0">
                <a:solidFill>
                  <a:schemeClr val="tx1"/>
                </a:solidFill>
              </a:rPr>
              <a:t>1947 – Eckert and Mauchly formed the Eckert-Mauchly Computer Corporation to manufacture computers commercially</a:t>
            </a:r>
          </a:p>
          <a:p>
            <a:r>
              <a:rPr lang="en-US" dirty="0">
                <a:solidFill>
                  <a:schemeClr val="tx1"/>
                </a:solidFill>
              </a:rPr>
              <a:t>UNIVAC I (Universal Automatic Computer)</a:t>
            </a:r>
          </a:p>
          <a:p>
            <a:pPr lvl="1"/>
            <a:r>
              <a:rPr lang="en-US" dirty="0">
                <a:solidFill>
                  <a:schemeClr val="tx1"/>
                </a:solidFill>
              </a:rPr>
              <a:t>First successful commercial computer</a:t>
            </a:r>
          </a:p>
          <a:p>
            <a:pPr lvl="1"/>
            <a:r>
              <a:rPr lang="en-US" dirty="0">
                <a:solidFill>
                  <a:schemeClr val="tx1"/>
                </a:solidFill>
              </a:rPr>
              <a:t>Was intended for both scientific and commercial applications</a:t>
            </a:r>
          </a:p>
          <a:p>
            <a:pPr lvl="1"/>
            <a:r>
              <a:rPr lang="en-US" dirty="0">
                <a:solidFill>
                  <a:schemeClr val="tx1"/>
                </a:solidFill>
              </a:rPr>
              <a:t>Commissioned by the US Bureau of Census for 1950 calculations</a:t>
            </a:r>
          </a:p>
          <a:p>
            <a:r>
              <a:rPr lang="en-US" dirty="0">
                <a:solidFill>
                  <a:schemeClr val="tx1"/>
                </a:solidFill>
              </a:rPr>
              <a:t>The Eckert-Mauchly Computer Corporation became part of the UNIVAC division of the Sperry-Rand Corporation</a:t>
            </a:r>
          </a:p>
          <a:p>
            <a:r>
              <a:rPr lang="en-US" dirty="0">
                <a:solidFill>
                  <a:schemeClr val="tx1"/>
                </a:solidFill>
              </a:rPr>
              <a:t>UNIVAC II – delivered in the late 1950’s</a:t>
            </a:r>
          </a:p>
          <a:p>
            <a:pPr lvl="1"/>
            <a:r>
              <a:rPr lang="en-US" dirty="0">
                <a:solidFill>
                  <a:schemeClr val="tx1"/>
                </a:solidFill>
              </a:rPr>
              <a:t>Had greater memory capacity and higher performance</a:t>
            </a:r>
          </a:p>
          <a:p>
            <a:pPr marL="228600" lvl="1">
              <a:spcBef>
                <a:spcPts val="2000"/>
              </a:spcBef>
              <a:buClr>
                <a:schemeClr val="accent1"/>
              </a:buClr>
            </a:pPr>
            <a:r>
              <a:rPr lang="en-US" sz="2054" dirty="0">
                <a:solidFill>
                  <a:schemeClr val="tx1"/>
                </a:solidFill>
              </a:rPr>
              <a:t>Backward compatible</a:t>
            </a:r>
          </a:p>
        </p:txBody>
      </p:sp>
      <p:pic>
        <p:nvPicPr>
          <p:cNvPr id="6" name="Picture 5"/>
          <p:cNvPicPr>
            <a:picLocks noChangeAspect="1"/>
          </p:cNvPicPr>
          <p:nvPr/>
        </p:nvPicPr>
        <p:blipFill>
          <a:blip r:embed="rId3"/>
          <a:stretch>
            <a:fillRect/>
          </a:stretch>
        </p:blipFill>
        <p:spPr>
          <a:xfrm>
            <a:off x="7560425" y="228600"/>
            <a:ext cx="1583575" cy="2057400"/>
          </a:xfrm>
          <a:prstGeom prst="rect">
            <a:avLst/>
          </a:prstGeom>
        </p:spPr>
      </p:pic>
      <p:pic>
        <p:nvPicPr>
          <p:cNvPr id="7" name="Picture 1"/>
          <p:cNvPicPr>
            <a:picLocks noChangeAspect="1" noChangeArrowheads="1"/>
          </p:cNvPicPr>
          <p:nvPr/>
        </p:nvPicPr>
        <p:blipFill>
          <a:blip r:embed="rId4"/>
          <a:srcRect/>
          <a:stretch>
            <a:fillRect/>
          </a:stretch>
        </p:blipFill>
        <p:spPr bwMode="auto">
          <a:xfrm>
            <a:off x="7962900" y="2486028"/>
            <a:ext cx="1181100" cy="1371600"/>
          </a:xfrm>
          <a:prstGeom prst="rect">
            <a:avLst/>
          </a:prstGeom>
          <a:noFill/>
          <a:ln w="9525">
            <a:noFill/>
            <a:miter lim="800000"/>
            <a:headEnd/>
            <a:tailEnd/>
          </a:ln>
          <a:effectLst/>
        </p:spPr>
      </p:pic>
      <p:sp>
        <p:nvSpPr>
          <p:cNvPr id="8" name="Slide Number Placeholder 7"/>
          <p:cNvSpPr>
            <a:spLocks noGrp="1"/>
          </p:cNvSpPr>
          <p:nvPr>
            <p:ph type="sldNum" sz="quarter" idx="12"/>
          </p:nvPr>
        </p:nvSpPr>
        <p:spPr/>
        <p:txBody>
          <a:bodyPr/>
          <a:lstStyle/>
          <a:p>
            <a:fld id="{8AF02B71-8991-4516-A01E-F1A9ACD28BDC}" type="slidenum">
              <a:rPr lang="en-US" smtClean="0"/>
              <a:pPr/>
              <a:t>21</a:t>
            </a:fld>
            <a:endParaRPr lang="en-US"/>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5638800" y="2590800"/>
            <a:ext cx="2286000" cy="1162050"/>
          </a:xfrm>
        </p:spPr>
        <p:txBody>
          <a:bodyPr>
            <a:normAutofit/>
          </a:bodyPr>
          <a:lstStyle/>
          <a:p>
            <a:pPr algn="ctr"/>
            <a:r>
              <a:rPr lang="en-US" sz="6000" dirty="0">
                <a:solidFill>
                  <a:schemeClr val="accent2"/>
                </a:solidFill>
              </a:rPr>
              <a:t>IBM</a:t>
            </a:r>
          </a:p>
        </p:txBody>
      </p:sp>
      <p:sp>
        <p:nvSpPr>
          <p:cNvPr id="45059" name="Rectangle 3"/>
          <p:cNvSpPr>
            <a:spLocks noGrp="1" noChangeArrowheads="1"/>
          </p:cNvSpPr>
          <p:nvPr>
            <p:ph type="body" sz="half" idx="2"/>
          </p:nvPr>
        </p:nvSpPr>
        <p:spPr>
          <a:xfrm>
            <a:off x="381094" y="1219200"/>
            <a:ext cx="4015304" cy="5257800"/>
          </a:xfrm>
        </p:spPr>
        <p:txBody>
          <a:bodyPr>
            <a:normAutofit/>
          </a:bodyPr>
          <a:lstStyle/>
          <a:p>
            <a:pPr marL="228600" indent="-228600">
              <a:lnSpc>
                <a:spcPct val="90000"/>
              </a:lnSpc>
              <a:buClr>
                <a:schemeClr val="bg1"/>
              </a:buClr>
              <a:buFont typeface="Wingdings" pitchFamily="2" charset="2"/>
              <a:buChar char="n"/>
            </a:pPr>
            <a:r>
              <a:rPr lang="en-US" sz="1900" dirty="0"/>
              <a:t>Was the major manufacturer of punched-card processing equipment</a:t>
            </a:r>
          </a:p>
          <a:p>
            <a:pPr marL="228600" indent="-228600">
              <a:lnSpc>
                <a:spcPct val="90000"/>
              </a:lnSpc>
              <a:buClr>
                <a:schemeClr val="bg1"/>
              </a:buClr>
              <a:buFont typeface="Wingdings" pitchFamily="2" charset="2"/>
              <a:buChar char="n"/>
            </a:pPr>
            <a:r>
              <a:rPr lang="en-US" sz="1900" dirty="0"/>
              <a:t>Delivered its first electronic stored-program computer (701) in 1953</a:t>
            </a:r>
          </a:p>
          <a:p>
            <a:pPr marL="685800" lvl="1" indent="-228600">
              <a:lnSpc>
                <a:spcPct val="90000"/>
              </a:lnSpc>
              <a:buClr>
                <a:schemeClr val="bg1"/>
              </a:buClr>
              <a:buFont typeface="Wingdings" pitchFamily="2" charset="2"/>
              <a:buChar char="n"/>
            </a:pPr>
            <a:r>
              <a:rPr lang="en-US" sz="1700" dirty="0">
                <a:solidFill>
                  <a:srgbClr val="FFFFFF"/>
                </a:solidFill>
              </a:rPr>
              <a:t>Intended primarily for scientific applications</a:t>
            </a:r>
          </a:p>
          <a:p>
            <a:pPr marL="228600" lvl="1" indent="-228600">
              <a:lnSpc>
                <a:spcPct val="90000"/>
              </a:lnSpc>
              <a:spcBef>
                <a:spcPts val="2000"/>
              </a:spcBef>
              <a:buClr>
                <a:schemeClr val="bg1"/>
              </a:buClr>
              <a:buFont typeface="Wingdings" pitchFamily="2" charset="2"/>
              <a:buChar char="n"/>
            </a:pPr>
            <a:r>
              <a:rPr lang="en-US" sz="1900" dirty="0">
                <a:solidFill>
                  <a:schemeClr val="bg1"/>
                </a:solidFill>
              </a:rPr>
              <a:t>Introduced 702 product in 1955</a:t>
            </a:r>
          </a:p>
          <a:p>
            <a:pPr marL="685800" lvl="1" indent="-228600">
              <a:buClr>
                <a:schemeClr val="bg1"/>
              </a:buClr>
              <a:buFont typeface="Wingdings" pitchFamily="2" charset="2"/>
              <a:buChar char="n"/>
            </a:pPr>
            <a:r>
              <a:rPr lang="en-US" sz="1700" dirty="0">
                <a:solidFill>
                  <a:srgbClr val="FFFFFF"/>
                </a:solidFill>
              </a:rPr>
              <a:t>Hardware features made it suitable to business applications</a:t>
            </a:r>
          </a:p>
          <a:p>
            <a:pPr marL="228600" lvl="1" indent="-228600">
              <a:lnSpc>
                <a:spcPct val="90000"/>
              </a:lnSpc>
              <a:spcBef>
                <a:spcPts val="2000"/>
              </a:spcBef>
              <a:buClr>
                <a:schemeClr val="bg1"/>
              </a:buClr>
              <a:buFont typeface="Wingdings" pitchFamily="2" charset="2"/>
              <a:buChar char="n"/>
            </a:pPr>
            <a:r>
              <a:rPr lang="en-US" sz="1946" dirty="0">
                <a:solidFill>
                  <a:schemeClr val="bg1"/>
                </a:solidFill>
              </a:rPr>
              <a:t>Series of 700/7000 computers established IBM as the overwhelmingly dominant computer manufacturer</a:t>
            </a:r>
          </a:p>
          <a:p>
            <a:pPr marL="685800" lvl="1" indent="-228600">
              <a:lnSpc>
                <a:spcPct val="90000"/>
              </a:lnSpc>
              <a:buClr>
                <a:schemeClr val="bg1"/>
              </a:buClr>
              <a:buFont typeface="Wingdings" pitchFamily="2" charset="2"/>
              <a:buChar char="n"/>
            </a:pPr>
            <a:endParaRPr lang="en-US" sz="1700" dirty="0">
              <a:solidFill>
                <a:srgbClr val="FFFFFF"/>
              </a:solidFill>
            </a:endParaRPr>
          </a:p>
        </p:txBody>
      </p:sp>
      <p:pic>
        <p:nvPicPr>
          <p:cNvPr id="26" name="Picture Placeholder 25"/>
          <p:cNvPicPr>
            <a:picLocks noGrp="1" noChangeAspect="1"/>
          </p:cNvPicPr>
          <p:nvPr>
            <p:ph type="pic" sz="quarter" idx="15"/>
          </p:nvPr>
        </p:nvPicPr>
        <p:blipFill>
          <a:blip r:embed="rId3"/>
          <a:srcRect t="-22599" b="5000"/>
          <a:stretch>
            <a:fillRect/>
          </a:stretch>
        </p:blipFill>
        <p:spPr>
          <a:xfrm>
            <a:off x="7010400" y="0"/>
            <a:ext cx="1676400" cy="2200275"/>
          </a:xfrm>
          <a:effectLst>
            <a:softEdge rad="76200"/>
          </a:effectLst>
          <a:scene3d>
            <a:camera prst="orthographicFront">
              <a:rot lat="0" lon="11099999" rev="0"/>
            </a:camera>
            <a:lightRig rig="threePt" dir="t"/>
          </a:scene3d>
        </p:spPr>
      </p:pic>
      <p:pic>
        <p:nvPicPr>
          <p:cNvPr id="30" name="Picture 29"/>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4"/>
              <a:stretch>
                <a:fillRect/>
              </a:stretch>
            </p:blipFill>
          </mc:Choice>
          <mc:Fallback>
            <p:blipFill>
              <a:blip r:embed="rId5"/>
              <a:stretch>
                <a:fillRect/>
              </a:stretch>
            </p:blipFill>
          </mc:Fallback>
        </mc:AlternateContent>
        <p:spPr>
          <a:xfrm>
            <a:off x="4724400" y="4800600"/>
            <a:ext cx="1861899" cy="1773237"/>
          </a:xfrm>
          <a:prstGeom prst="rect">
            <a:avLst/>
          </a:prstGeom>
        </p:spPr>
      </p:pic>
      <p:pic>
        <p:nvPicPr>
          <p:cNvPr id="6" name="Picture 1"/>
          <p:cNvPicPr>
            <a:picLocks noChangeAspect="1" noChangeArrowheads="1"/>
          </p:cNvPicPr>
          <p:nvPr/>
        </p:nvPicPr>
        <p:blipFill>
          <a:blip r:embed="rId6"/>
          <a:srcRect/>
          <a:stretch>
            <a:fillRect/>
          </a:stretch>
        </p:blipFill>
        <p:spPr bwMode="auto">
          <a:xfrm>
            <a:off x="7962900" y="2700342"/>
            <a:ext cx="1181100" cy="1371600"/>
          </a:xfrm>
          <a:prstGeom prst="rect">
            <a:avLst/>
          </a:prstGeom>
          <a:noFill/>
          <a:ln w="9525">
            <a:noFill/>
            <a:miter lim="800000"/>
            <a:headEnd/>
            <a:tailEnd/>
          </a:ln>
          <a:effectLst/>
        </p:spPr>
      </p:pic>
      <p:sp>
        <p:nvSpPr>
          <p:cNvPr id="7" name="Slide Number Placeholder 6"/>
          <p:cNvSpPr>
            <a:spLocks noGrp="1"/>
          </p:cNvSpPr>
          <p:nvPr>
            <p:ph type="sldNum" sz="quarter" idx="12"/>
          </p:nvPr>
        </p:nvSpPr>
        <p:spPr/>
        <p:txBody>
          <a:bodyPr/>
          <a:lstStyle/>
          <a:p>
            <a:fld id="{8AF02B71-8991-4516-A01E-F1A9ACD28BDC}" type="slidenum">
              <a:rPr lang="en-US" smtClean="0"/>
              <a:pPr/>
              <a:t>22</a:t>
            </a:fld>
            <a:endParaRPr lang="en-US"/>
          </a:p>
        </p:txBody>
      </p:sp>
      <p:sp>
        <p:nvSpPr>
          <p:cNvPr id="8" name="Rectangle 7"/>
          <p:cNvSpPr/>
          <p:nvPr/>
        </p:nvSpPr>
        <p:spPr>
          <a:xfrm>
            <a:off x="5214942" y="3786190"/>
            <a:ext cx="2491388" cy="461665"/>
          </a:xfrm>
          <a:prstGeom prst="rect">
            <a:avLst/>
          </a:prstGeom>
        </p:spPr>
        <p:txBody>
          <a:bodyPr wrap="none">
            <a:spAutoFit/>
          </a:bodyPr>
          <a:lstStyle/>
          <a:p>
            <a:r>
              <a:rPr lang="en-US" dirty="0">
                <a:effectLst>
                  <a:outerShdw blurRad="38100" dist="38100" dir="2700000" algn="tl">
                    <a:srgbClr val="000000">
                      <a:alpha val="43137"/>
                    </a:srgbClr>
                  </a:outerShdw>
                </a:effectLst>
              </a:rPr>
              <a:t>(Read by yourself)</a:t>
            </a:r>
            <a:endParaRPr lang="en-US" dirty="0"/>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n-GB" dirty="0">
                <a:effectLst>
                  <a:outerShdw blurRad="38100" dist="38100" dir="2700000" algn="tl">
                    <a:srgbClr val="000000">
                      <a:alpha val="43137"/>
                    </a:srgbClr>
                  </a:outerShdw>
                </a:effectLst>
              </a:rPr>
              <a:t>Second Generation:  Transistors</a:t>
            </a:r>
          </a:p>
        </p:txBody>
      </p:sp>
      <p:sp>
        <p:nvSpPr>
          <p:cNvPr id="18435" name="Rectangle 3"/>
          <p:cNvSpPr>
            <a:spLocks noGrp="1" noChangeArrowheads="1"/>
          </p:cNvSpPr>
          <p:nvPr>
            <p:ph idx="1"/>
          </p:nvPr>
        </p:nvSpPr>
        <p:spPr>
          <a:xfrm>
            <a:off x="214282" y="1357298"/>
            <a:ext cx="7556313" cy="5119702"/>
          </a:xfrm>
        </p:spPr>
        <p:txBody>
          <a:bodyPr>
            <a:normAutofit fontScale="85000" lnSpcReduction="20000"/>
          </a:bodyPr>
          <a:lstStyle/>
          <a:p>
            <a:pPr marL="228600" lvl="1">
              <a:spcBef>
                <a:spcPts val="2000"/>
              </a:spcBef>
              <a:buClr>
                <a:schemeClr val="accent1"/>
              </a:buClr>
            </a:pPr>
            <a:r>
              <a:rPr lang="en-GB" sz="2400" dirty="0">
                <a:solidFill>
                  <a:schemeClr val="tx1"/>
                </a:solidFill>
              </a:rPr>
              <a:t>Transistor = Transfer – resistor (</a:t>
            </a:r>
            <a:r>
              <a:rPr lang="en-GB" sz="2400" dirty="0" err="1">
                <a:solidFill>
                  <a:schemeClr val="tx1"/>
                </a:solidFill>
              </a:rPr>
              <a:t>vật</a:t>
            </a:r>
            <a:r>
              <a:rPr lang="en-GB" sz="2400" dirty="0">
                <a:solidFill>
                  <a:schemeClr val="tx1"/>
                </a:solidFill>
              </a:rPr>
              <a:t> </a:t>
            </a:r>
            <a:r>
              <a:rPr lang="en-GB" sz="2400" dirty="0" err="1">
                <a:solidFill>
                  <a:schemeClr val="tx1"/>
                </a:solidFill>
              </a:rPr>
              <a:t>có</a:t>
            </a:r>
            <a:r>
              <a:rPr lang="en-GB" sz="2400" dirty="0">
                <a:solidFill>
                  <a:schemeClr val="tx1"/>
                </a:solidFill>
              </a:rPr>
              <a:t> </a:t>
            </a:r>
            <a:r>
              <a:rPr lang="en-GB" sz="2400" dirty="0" err="1">
                <a:solidFill>
                  <a:schemeClr val="tx1"/>
                </a:solidFill>
              </a:rPr>
              <a:t>thể</a:t>
            </a:r>
            <a:r>
              <a:rPr lang="en-GB" sz="2400" dirty="0">
                <a:solidFill>
                  <a:schemeClr val="tx1"/>
                </a:solidFill>
              </a:rPr>
              <a:t> </a:t>
            </a:r>
            <a:r>
              <a:rPr lang="en-GB" sz="2400" dirty="0" err="1">
                <a:solidFill>
                  <a:schemeClr val="tx1"/>
                </a:solidFill>
              </a:rPr>
              <a:t>truyền-cản</a:t>
            </a:r>
            <a:r>
              <a:rPr lang="en-GB" sz="2400" dirty="0">
                <a:solidFill>
                  <a:schemeClr val="tx1"/>
                </a:solidFill>
              </a:rPr>
              <a:t> </a:t>
            </a:r>
            <a:r>
              <a:rPr lang="en-GB" sz="2400" dirty="0" err="1">
                <a:solidFill>
                  <a:schemeClr val="tx1"/>
                </a:solidFill>
              </a:rPr>
              <a:t>điện</a:t>
            </a:r>
            <a:r>
              <a:rPr lang="en-GB" sz="2400" dirty="0">
                <a:solidFill>
                  <a:schemeClr val="tx1"/>
                </a:solidFill>
              </a:rPr>
              <a:t>)</a:t>
            </a:r>
          </a:p>
          <a:p>
            <a:pPr marL="228600" lvl="1">
              <a:spcBef>
                <a:spcPts val="2000"/>
              </a:spcBef>
              <a:buClr>
                <a:schemeClr val="accent1"/>
              </a:buClr>
            </a:pPr>
            <a:r>
              <a:rPr lang="en-GB" sz="2400" dirty="0">
                <a:solidFill>
                  <a:srgbClr val="8000FF"/>
                </a:solidFill>
              </a:rPr>
              <a:t>Building block:  Composition and operating of transistor</a:t>
            </a:r>
          </a:p>
          <a:p>
            <a:pPr marL="228600" lvl="1">
              <a:spcBef>
                <a:spcPts val="2000"/>
              </a:spcBef>
              <a:buClr>
                <a:schemeClr val="accent1"/>
              </a:buClr>
              <a:buNone/>
            </a:pPr>
            <a:r>
              <a:rPr lang="en-GB" sz="2400" dirty="0">
                <a:solidFill>
                  <a:srgbClr val="8000FF"/>
                </a:solidFill>
              </a:rPr>
              <a:t>      </a:t>
            </a:r>
            <a:r>
              <a:rPr lang="en-GB" sz="2400" dirty="0">
                <a:solidFill>
                  <a:schemeClr val="tx1"/>
                </a:solidFill>
              </a:rPr>
              <a:t>More details: </a:t>
            </a:r>
            <a:r>
              <a:rPr lang="en-GB" sz="2400" dirty="0">
                <a:solidFill>
                  <a:schemeClr val="tx1"/>
                </a:solidFill>
                <a:hlinkClick r:id="rId3"/>
              </a:rPr>
              <a:t>https://en.wikipedia.org/wiki/Transistor</a:t>
            </a:r>
            <a:endParaRPr lang="en-GB" sz="2400" dirty="0">
              <a:solidFill>
                <a:schemeClr val="tx1"/>
              </a:solidFill>
            </a:endParaRPr>
          </a:p>
          <a:p>
            <a:pPr marL="228600" lvl="1">
              <a:spcBef>
                <a:spcPts val="2000"/>
              </a:spcBef>
              <a:buClr>
                <a:schemeClr val="accent1"/>
              </a:buClr>
            </a:pPr>
            <a:r>
              <a:rPr lang="en-GB" sz="2400" dirty="0">
                <a:solidFill>
                  <a:schemeClr val="tx1"/>
                </a:solidFill>
              </a:rPr>
              <a:t>It’s activity is similar to those in vacuum tube</a:t>
            </a:r>
          </a:p>
          <a:p>
            <a:pPr marL="228600" lvl="1">
              <a:spcBef>
                <a:spcPts val="2000"/>
              </a:spcBef>
              <a:buClr>
                <a:schemeClr val="accent1"/>
              </a:buClr>
            </a:pPr>
            <a:r>
              <a:rPr lang="en-GB" sz="2400" dirty="0">
                <a:solidFill>
                  <a:schemeClr val="tx1"/>
                </a:solidFill>
              </a:rPr>
              <a:t>Smaller, Cheaper</a:t>
            </a:r>
          </a:p>
          <a:p>
            <a:pPr marL="228600" lvl="1">
              <a:spcBef>
                <a:spcPts val="2000"/>
              </a:spcBef>
              <a:buClr>
                <a:schemeClr val="accent1"/>
              </a:buClr>
            </a:pPr>
            <a:r>
              <a:rPr lang="en-GB" sz="2400" dirty="0">
                <a:solidFill>
                  <a:schemeClr val="tx1"/>
                </a:solidFill>
              </a:rPr>
              <a:t>Dissipates (phát tán) less heat than a vacuum tube</a:t>
            </a:r>
          </a:p>
          <a:p>
            <a:pPr marL="228600" lvl="1">
              <a:spcBef>
                <a:spcPts val="2000"/>
              </a:spcBef>
              <a:buClr>
                <a:schemeClr val="accent1"/>
              </a:buClr>
            </a:pPr>
            <a:r>
              <a:rPr lang="en-GB" sz="2400" dirty="0">
                <a:solidFill>
                  <a:schemeClr val="tx1"/>
                </a:solidFill>
              </a:rPr>
              <a:t>Is a </a:t>
            </a:r>
            <a:r>
              <a:rPr lang="en-GB" sz="2400" i="1" dirty="0">
                <a:solidFill>
                  <a:schemeClr val="tx1"/>
                </a:solidFill>
              </a:rPr>
              <a:t>solid state device </a:t>
            </a:r>
            <a:r>
              <a:rPr lang="en-GB" sz="2400" dirty="0">
                <a:solidFill>
                  <a:schemeClr val="tx1"/>
                </a:solidFill>
              </a:rPr>
              <a:t>made from silicon</a:t>
            </a:r>
          </a:p>
          <a:p>
            <a:pPr marL="228600" lvl="1">
              <a:spcBef>
                <a:spcPts val="2000"/>
              </a:spcBef>
              <a:buClr>
                <a:schemeClr val="accent1"/>
              </a:buClr>
            </a:pPr>
            <a:r>
              <a:rPr lang="en-GB" sz="2400" dirty="0">
                <a:solidFill>
                  <a:schemeClr val="tx1"/>
                </a:solidFill>
              </a:rPr>
              <a:t>Was invented at Bell Labs in 1947</a:t>
            </a:r>
          </a:p>
          <a:p>
            <a:pPr marL="228600" lvl="1">
              <a:spcBef>
                <a:spcPts val="2000"/>
              </a:spcBef>
              <a:buClr>
                <a:schemeClr val="accent1"/>
              </a:buClr>
            </a:pPr>
            <a:r>
              <a:rPr lang="en-GB" sz="2400" dirty="0">
                <a:solidFill>
                  <a:schemeClr val="tx1"/>
                </a:solidFill>
              </a:rPr>
              <a:t>It was not until the late 1950’s that fully transistorized computers were commercially available</a:t>
            </a:r>
          </a:p>
          <a:p>
            <a:pPr marL="228600" lvl="1">
              <a:spcBef>
                <a:spcPts val="2000"/>
              </a:spcBef>
              <a:buClr>
                <a:schemeClr val="accent1"/>
              </a:buClr>
            </a:pPr>
            <a:r>
              <a:rPr lang="en-GB" sz="2400" dirty="0">
                <a:solidFill>
                  <a:schemeClr val="tx1"/>
                </a:solidFill>
              </a:rPr>
              <a:t>Typical computers: IBM 700/7000 series</a:t>
            </a:r>
          </a:p>
        </p:txBody>
      </p:sp>
      <p:pic>
        <p:nvPicPr>
          <p:cNvPr id="7" name="Picture 2"/>
          <p:cNvPicPr>
            <a:picLocks noChangeAspect="1" noChangeArrowheads="1"/>
          </p:cNvPicPr>
          <p:nvPr/>
        </p:nvPicPr>
        <p:blipFill>
          <a:blip r:embed="rId4"/>
          <a:srcRect/>
          <a:stretch>
            <a:fillRect/>
          </a:stretch>
        </p:blipFill>
        <p:spPr bwMode="auto">
          <a:xfrm>
            <a:off x="6572264" y="3295658"/>
            <a:ext cx="2381250" cy="1419226"/>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8AF02B71-8991-4516-A01E-F1A9ACD28BDC}" type="slidenum">
              <a:rPr lang="en-US" smtClean="0"/>
              <a:pPr/>
              <a:t>23</a:t>
            </a:fld>
            <a:endParaRPr lang="en-US"/>
          </a:p>
        </p:txBody>
      </p:sp>
      <p:pic>
        <p:nvPicPr>
          <p:cNvPr id="239617" name="Picture 1"/>
          <p:cNvPicPr>
            <a:picLocks noChangeAspect="1" noChangeArrowheads="1"/>
          </p:cNvPicPr>
          <p:nvPr/>
        </p:nvPicPr>
        <p:blipFill>
          <a:blip r:embed="rId5"/>
          <a:srcRect/>
          <a:stretch>
            <a:fillRect/>
          </a:stretch>
        </p:blipFill>
        <p:spPr bwMode="auto">
          <a:xfrm>
            <a:off x="7448581" y="1109661"/>
            <a:ext cx="1552575" cy="2105025"/>
          </a:xfrm>
          <a:prstGeom prst="rect">
            <a:avLst/>
          </a:prstGeom>
          <a:noFill/>
          <a:ln w="9525">
            <a:noFill/>
            <a:miter lim="800000"/>
            <a:headEnd/>
            <a:tailEnd/>
          </a:ln>
          <a:effectLst/>
        </p:spPr>
      </p:pic>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609600" y="609600"/>
            <a:ext cx="7556313" cy="1116106"/>
          </a:xfrm>
        </p:spPr>
        <p:txBody>
          <a:bodyPr/>
          <a:lstStyle/>
          <a:p>
            <a:r>
              <a:rPr lang="en-US" dirty="0">
                <a:effectLst>
                  <a:outerShdw blurRad="38100" dist="38100" dir="2700000" algn="tl">
                    <a:srgbClr val="000000">
                      <a:alpha val="43137"/>
                    </a:srgbClr>
                  </a:outerShdw>
                </a:effectLst>
              </a:rPr>
              <a:t>Second Generation Computers</a:t>
            </a:r>
          </a:p>
        </p:txBody>
      </p:sp>
      <p:sp>
        <p:nvSpPr>
          <p:cNvPr id="47107" name="Rectangle 3"/>
          <p:cNvSpPr>
            <a:spLocks noGrp="1" noChangeArrowheads="1"/>
          </p:cNvSpPr>
          <p:nvPr>
            <p:ph sz="half" idx="2"/>
          </p:nvPr>
        </p:nvSpPr>
        <p:spPr>
          <a:xfrm>
            <a:off x="497541" y="1785926"/>
            <a:ext cx="3657600" cy="4105835"/>
          </a:xfrm>
        </p:spPr>
        <p:txBody>
          <a:bodyPr>
            <a:normAutofit lnSpcReduction="10000"/>
          </a:bodyPr>
          <a:lstStyle/>
          <a:p>
            <a:r>
              <a:rPr lang="en-US" dirty="0">
                <a:solidFill>
                  <a:schemeClr val="tx1"/>
                </a:solidFill>
              </a:rPr>
              <a:t>Introduced:</a:t>
            </a:r>
          </a:p>
          <a:p>
            <a:pPr lvl="1"/>
            <a:r>
              <a:rPr lang="en-US" dirty="0">
                <a:solidFill>
                  <a:schemeClr val="tx1"/>
                </a:solidFill>
              </a:rPr>
              <a:t>More complex arithmetic and logic units and control units</a:t>
            </a:r>
          </a:p>
          <a:p>
            <a:pPr lvl="1"/>
            <a:r>
              <a:rPr lang="en-US" dirty="0">
                <a:solidFill>
                  <a:schemeClr val="tx1"/>
                </a:solidFill>
              </a:rPr>
              <a:t>The use of high-level programming languages</a:t>
            </a:r>
          </a:p>
          <a:p>
            <a:pPr lvl="1"/>
            <a:r>
              <a:rPr lang="en-US" dirty="0">
                <a:solidFill>
                  <a:schemeClr val="tx1"/>
                </a:solidFill>
              </a:rPr>
              <a:t>Provision of </a:t>
            </a:r>
            <a:r>
              <a:rPr lang="en-US" i="1" dirty="0">
                <a:solidFill>
                  <a:schemeClr val="tx1"/>
                </a:solidFill>
              </a:rPr>
              <a:t>system software </a:t>
            </a:r>
            <a:r>
              <a:rPr lang="en-US" dirty="0">
                <a:solidFill>
                  <a:schemeClr val="tx1"/>
                </a:solidFill>
              </a:rPr>
              <a:t>which provided the ability to:</a:t>
            </a:r>
          </a:p>
          <a:p>
            <a:pPr lvl="2"/>
            <a:r>
              <a:rPr lang="en-US" dirty="0">
                <a:solidFill>
                  <a:schemeClr val="tx1"/>
                </a:solidFill>
              </a:rPr>
              <a:t>load programs </a:t>
            </a:r>
          </a:p>
          <a:p>
            <a:pPr lvl="2"/>
            <a:r>
              <a:rPr lang="en-US" dirty="0">
                <a:solidFill>
                  <a:schemeClr val="tx1"/>
                </a:solidFill>
              </a:rPr>
              <a:t>move data to peripherals and libraries</a:t>
            </a:r>
          </a:p>
          <a:p>
            <a:pPr lvl="2"/>
            <a:r>
              <a:rPr lang="en-US" dirty="0">
                <a:solidFill>
                  <a:schemeClr val="tx1"/>
                </a:solidFill>
              </a:rPr>
              <a:t>perform common computations</a:t>
            </a:r>
          </a:p>
        </p:txBody>
      </p:sp>
      <p:sp>
        <p:nvSpPr>
          <p:cNvPr id="7" name="Content Placeholder 6"/>
          <p:cNvSpPr>
            <a:spLocks noGrp="1"/>
          </p:cNvSpPr>
          <p:nvPr>
            <p:ph sz="quarter" idx="4"/>
          </p:nvPr>
        </p:nvSpPr>
        <p:spPr>
          <a:xfrm>
            <a:off x="4419600" y="1857364"/>
            <a:ext cx="3581424" cy="3877235"/>
          </a:xfrm>
        </p:spPr>
        <p:txBody>
          <a:bodyPr/>
          <a:lstStyle/>
          <a:p>
            <a:r>
              <a:rPr lang="en-US" dirty="0">
                <a:solidFill>
                  <a:schemeClr val="tx1"/>
                </a:solidFill>
              </a:rPr>
              <a:t> Appearance of the Digital Equipment Corporation (DEC) in 1957</a:t>
            </a:r>
          </a:p>
          <a:p>
            <a:r>
              <a:rPr lang="en-US">
                <a:solidFill>
                  <a:schemeClr val="tx1"/>
                </a:solidFill>
              </a:rPr>
              <a:t>PDP-1 (programmed data processor) was </a:t>
            </a:r>
            <a:r>
              <a:rPr lang="en-US" dirty="0">
                <a:solidFill>
                  <a:schemeClr val="tx1"/>
                </a:solidFill>
              </a:rPr>
              <a:t>DEC’s first computer</a:t>
            </a:r>
          </a:p>
          <a:p>
            <a:r>
              <a:rPr lang="en-US" dirty="0">
                <a:solidFill>
                  <a:schemeClr val="tx1"/>
                </a:solidFill>
              </a:rPr>
              <a:t>This began the mini-computer phenomenon that would become </a:t>
            </a:r>
            <a:r>
              <a:rPr lang="en-US">
                <a:solidFill>
                  <a:schemeClr val="tx1"/>
                </a:solidFill>
              </a:rPr>
              <a:t>so prominent (leading) </a:t>
            </a:r>
            <a:r>
              <a:rPr lang="en-US" dirty="0">
                <a:solidFill>
                  <a:schemeClr val="tx1"/>
                </a:solidFill>
              </a:rPr>
              <a:t>in the third generation</a:t>
            </a:r>
          </a:p>
        </p:txBody>
      </p:sp>
      <p:sp>
        <p:nvSpPr>
          <p:cNvPr id="5" name="Text Placeholder 4"/>
          <p:cNvSpPr>
            <a:spLocks noGrp="1"/>
          </p:cNvSpPr>
          <p:nvPr>
            <p:ph type="body" idx="1"/>
          </p:nvPr>
        </p:nvSpPr>
        <p:spPr>
          <a:xfrm>
            <a:off x="497541" y="1428736"/>
            <a:ext cx="3657600" cy="322729"/>
          </a:xfrm>
        </p:spPr>
        <p:txBody>
          <a:bodyPr/>
          <a:lstStyle/>
          <a:p>
            <a:endParaRPr lang="en-US" dirty="0"/>
          </a:p>
        </p:txBody>
      </p:sp>
      <p:sp>
        <p:nvSpPr>
          <p:cNvPr id="6" name="Text Placeholder 5"/>
          <p:cNvSpPr>
            <a:spLocks noGrp="1"/>
          </p:cNvSpPr>
          <p:nvPr>
            <p:ph type="body" sz="quarter" idx="3"/>
          </p:nvPr>
        </p:nvSpPr>
        <p:spPr>
          <a:xfrm>
            <a:off x="4399878" y="1428736"/>
            <a:ext cx="3657600" cy="322729"/>
          </a:xfrm>
        </p:spPr>
        <p:txBody>
          <a:bodyPr/>
          <a:lstStyle/>
          <a:p>
            <a:endParaRPr lang="en-US" dirty="0"/>
          </a:p>
        </p:txBody>
      </p:sp>
      <p:sp>
        <p:nvSpPr>
          <p:cNvPr id="11" name="TextBox 10"/>
          <p:cNvSpPr txBox="1"/>
          <p:nvPr/>
        </p:nvSpPr>
        <p:spPr>
          <a:xfrm>
            <a:off x="4876800" y="4453467"/>
            <a:ext cx="184666" cy="461665"/>
          </a:xfrm>
          <a:prstGeom prst="rect">
            <a:avLst/>
          </a:prstGeom>
          <a:noFill/>
        </p:spPr>
        <p:txBody>
          <a:bodyPr wrap="none" rtlCol="0">
            <a:spAutoFit/>
          </a:bodyPr>
          <a:lstStyle/>
          <a:p>
            <a:endParaRPr lang="en-US" dirty="0"/>
          </a:p>
        </p:txBody>
      </p:sp>
      <p:pic>
        <p:nvPicPr>
          <p:cNvPr id="9" name="Picture 8"/>
          <p:cNvPicPr>
            <a:picLocks noChangeAspect="1"/>
          </p:cNvPicPr>
          <p:nvPr/>
        </p:nvPicPr>
        <p:blipFill>
          <a:blip r:embed="rId3"/>
          <a:stretch>
            <a:fillRect/>
          </a:stretch>
        </p:blipFill>
        <p:spPr>
          <a:xfrm rot="384418">
            <a:off x="7563844" y="5255078"/>
            <a:ext cx="1499809" cy="1524000"/>
          </a:xfrm>
          <a:prstGeom prst="rect">
            <a:avLst/>
          </a:prstGeom>
        </p:spPr>
      </p:pic>
      <p:sp useBgFill="1">
        <p:nvSpPr>
          <p:cNvPr id="10" name="TextBox 9"/>
          <p:cNvSpPr txBox="1"/>
          <p:nvPr/>
        </p:nvSpPr>
        <p:spPr>
          <a:xfrm>
            <a:off x="8001000" y="838200"/>
            <a:ext cx="864858" cy="1143000"/>
          </a:xfrm>
          <a:prstGeom prst="rect">
            <a:avLst/>
          </a:prstGeom>
        </p:spPr>
        <p:txBody>
          <a:bodyPr wrap="square" rtlCol="0">
            <a:spAutoFit/>
          </a:bodyPr>
          <a:lstStyle/>
          <a:p>
            <a:endParaRPr lang="en-US" dirty="0"/>
          </a:p>
        </p:txBody>
      </p:sp>
      <p:pic>
        <p:nvPicPr>
          <p:cNvPr id="12" name="Picture 2"/>
          <p:cNvPicPr>
            <a:picLocks noChangeAspect="1" noChangeArrowheads="1"/>
          </p:cNvPicPr>
          <p:nvPr/>
        </p:nvPicPr>
        <p:blipFill>
          <a:blip r:embed="rId4"/>
          <a:srcRect/>
          <a:stretch>
            <a:fillRect/>
          </a:stretch>
        </p:blipFill>
        <p:spPr bwMode="auto">
          <a:xfrm>
            <a:off x="4857752" y="5438798"/>
            <a:ext cx="2381250" cy="1419226"/>
          </a:xfrm>
          <a:prstGeom prst="rect">
            <a:avLst/>
          </a:prstGeom>
          <a:noFill/>
          <a:ln w="9525">
            <a:noFill/>
            <a:miter lim="800000"/>
            <a:headEnd/>
            <a:tailEnd/>
          </a:ln>
          <a:effectLst/>
        </p:spPr>
      </p:pic>
      <p:sp>
        <p:nvSpPr>
          <p:cNvPr id="13" name="Slide Number Placeholder 12"/>
          <p:cNvSpPr>
            <a:spLocks noGrp="1"/>
          </p:cNvSpPr>
          <p:nvPr>
            <p:ph type="sldNum" sz="quarter" idx="12"/>
          </p:nvPr>
        </p:nvSpPr>
        <p:spPr/>
        <p:txBody>
          <a:bodyPr/>
          <a:lstStyle/>
          <a:p>
            <a:fld id="{8AF02B71-8991-4516-A01E-F1A9ACD28BDC}" type="slidenum">
              <a:rPr lang="en-US" smtClean="0"/>
              <a:pPr/>
              <a:t>24</a:t>
            </a:fld>
            <a:endParaRPr lang="en-US"/>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32" y="228600"/>
            <a:ext cx="8929686" cy="1200136"/>
          </a:xfrm>
        </p:spPr>
        <p:txBody>
          <a:bodyPr/>
          <a:lstStyle/>
          <a:p>
            <a:pPr algn="ctr"/>
            <a:r>
              <a:rPr lang="en-US" dirty="0">
                <a:effectLst>
                  <a:outerShdw blurRad="38100" dist="38100" dir="2700000" algn="tl">
                    <a:srgbClr val="000000">
                      <a:alpha val="43137"/>
                    </a:srgbClr>
                  </a:outerShdw>
                </a:effectLst>
              </a:rPr>
              <a:t>Table 2.3 : Example Members of the </a:t>
            </a:r>
            <a:br>
              <a:rPr lang="en-US" dirty="0">
                <a:effectLst>
                  <a:outerShdw blurRad="38100" dist="38100" dir="2700000" algn="tl">
                    <a:srgbClr val="000000">
                      <a:alpha val="43137"/>
                    </a:srgbClr>
                  </a:outerShdw>
                </a:effectLst>
              </a:rPr>
            </a:br>
            <a:r>
              <a:rPr lang="en-US" dirty="0">
                <a:effectLst>
                  <a:outerShdw blurRad="38100" dist="38100" dir="2700000" algn="tl">
                    <a:srgbClr val="000000">
                      <a:alpha val="43137"/>
                    </a:srgbClr>
                  </a:outerShdw>
                </a:effectLst>
              </a:rPr>
              <a:t>IBM 700/7000 Series</a:t>
            </a:r>
            <a:br>
              <a:rPr lang="en-US" dirty="0"/>
            </a:br>
            <a:r>
              <a:rPr lang="en-US" dirty="0"/>
              <a:t> </a:t>
            </a:r>
            <a:br>
              <a:rPr lang="en-US" dirty="0"/>
            </a:br>
            <a:endParaRPr lang="en-US" dirty="0"/>
          </a:p>
        </p:txBody>
      </p:sp>
      <p:sp useBgFill="1">
        <p:nvSpPr>
          <p:cNvPr id="12" name="TextBox 11"/>
          <p:cNvSpPr txBox="1"/>
          <p:nvPr/>
        </p:nvSpPr>
        <p:spPr>
          <a:xfrm>
            <a:off x="8839200" y="2667000"/>
            <a:ext cx="304799" cy="3048000"/>
          </a:xfrm>
          <a:prstGeom prst="rect">
            <a:avLst/>
          </a:prstGeom>
        </p:spPr>
        <p:txBody>
          <a:bodyPr wrap="square" rtlCol="0">
            <a:spAutoFit/>
          </a:bodyPr>
          <a:lstStyle/>
          <a:p>
            <a:endParaRPr lang="en-US" dirty="0"/>
          </a:p>
        </p:txBody>
      </p:sp>
      <p:pic>
        <p:nvPicPr>
          <p:cNvPr id="14" name="Picture 13"/>
          <p:cNvPicPr>
            <a:picLocks noChangeAspect="1"/>
          </p:cNvPicPr>
          <p:nvPr/>
        </p:nvPicPr>
        <p:blipFill>
          <a:blip r:embed="rId3"/>
          <a:stretch>
            <a:fillRect/>
          </a:stretch>
        </p:blipFill>
        <p:spPr>
          <a:xfrm>
            <a:off x="428596" y="1099748"/>
            <a:ext cx="1518935" cy="1543434"/>
          </a:xfrm>
          <a:prstGeom prst="rect">
            <a:avLst/>
          </a:prstGeom>
        </p:spPr>
      </p:pic>
      <p:sp>
        <p:nvSpPr>
          <p:cNvPr id="15" name="TextBox 14"/>
          <p:cNvSpPr txBox="1"/>
          <p:nvPr/>
        </p:nvSpPr>
        <p:spPr>
          <a:xfrm>
            <a:off x="1440672" y="1402880"/>
            <a:ext cx="184666" cy="461665"/>
          </a:xfrm>
          <a:prstGeom prst="rect">
            <a:avLst/>
          </a:prstGeom>
          <a:noFill/>
        </p:spPr>
        <p:txBody>
          <a:bodyPr wrap="none" rtlCol="0">
            <a:spAutoFit/>
          </a:bodyPr>
          <a:lstStyle/>
          <a:p>
            <a:endParaRPr lang="en-US" dirty="0"/>
          </a:p>
        </p:txBody>
      </p:sp>
      <p:pic>
        <p:nvPicPr>
          <p:cNvPr id="265217" name="Picture 1"/>
          <p:cNvPicPr>
            <a:picLocks noChangeAspect="1" noChangeArrowheads="1"/>
          </p:cNvPicPr>
          <p:nvPr/>
        </p:nvPicPr>
        <p:blipFill>
          <a:blip r:embed="rId4"/>
          <a:srcRect/>
          <a:stretch>
            <a:fillRect/>
          </a:stretch>
        </p:blipFill>
        <p:spPr bwMode="auto">
          <a:xfrm>
            <a:off x="17026" y="2843190"/>
            <a:ext cx="9109950" cy="3086140"/>
          </a:xfrm>
          <a:prstGeom prst="rect">
            <a:avLst/>
          </a:prstGeom>
          <a:noFill/>
          <a:ln w="9525">
            <a:noFill/>
            <a:miter lim="800000"/>
            <a:headEnd/>
            <a:tailEnd/>
          </a:ln>
          <a:effectLst/>
        </p:spPr>
      </p:pic>
      <p:pic>
        <p:nvPicPr>
          <p:cNvPr id="13" name="Picture 2"/>
          <p:cNvPicPr>
            <a:picLocks noChangeAspect="1" noChangeArrowheads="1"/>
          </p:cNvPicPr>
          <p:nvPr/>
        </p:nvPicPr>
        <p:blipFill>
          <a:blip r:embed="rId5"/>
          <a:srcRect/>
          <a:stretch>
            <a:fillRect/>
          </a:stretch>
        </p:blipFill>
        <p:spPr bwMode="auto">
          <a:xfrm>
            <a:off x="6762750" y="1152518"/>
            <a:ext cx="2381250" cy="1419226"/>
          </a:xfrm>
          <a:prstGeom prst="rect">
            <a:avLst/>
          </a:prstGeom>
          <a:noFill/>
          <a:ln w="9525">
            <a:noFill/>
            <a:miter lim="800000"/>
            <a:headEnd/>
            <a:tailEnd/>
          </a:ln>
          <a:effectLst/>
        </p:spPr>
      </p:pic>
      <p:sp>
        <p:nvSpPr>
          <p:cNvPr id="8" name="Slide Number Placeholder 7"/>
          <p:cNvSpPr>
            <a:spLocks noGrp="1"/>
          </p:cNvSpPr>
          <p:nvPr>
            <p:ph type="sldNum" sz="quarter" idx="12"/>
          </p:nvPr>
        </p:nvSpPr>
        <p:spPr/>
        <p:txBody>
          <a:bodyPr/>
          <a:lstStyle/>
          <a:p>
            <a:fld id="{8AF02B71-8991-4516-A01E-F1A9ACD28BDC}" type="slidenum">
              <a:rPr lang="en-US" smtClean="0"/>
              <a:pPr/>
              <a:t>25</a:t>
            </a:fld>
            <a:endParaRPr lang="en-US"/>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5.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11765" t="20909" r="14118" b="11818"/>
              <a:stretch>
                <a:fillRect/>
              </a:stretch>
            </p:blipFill>
          </mc:Choice>
          <mc:Fallback>
            <p:blipFill>
              <a:blip r:embed="rId4"/>
              <a:srcRect l="11765" t="20909" r="14118" b="11818"/>
              <a:stretch>
                <a:fillRect/>
              </a:stretch>
            </p:blipFill>
          </mc:Fallback>
        </mc:AlternateContent>
        <p:spPr>
          <a:xfrm>
            <a:off x="0" y="0"/>
            <a:ext cx="5865443" cy="6889756"/>
          </a:xfrm>
          <a:prstGeom prst="rect">
            <a:avLst/>
          </a:prstGeom>
        </p:spPr>
      </p:pic>
      <p:sp>
        <p:nvSpPr>
          <p:cNvPr id="78" name="Title 77"/>
          <p:cNvSpPr>
            <a:spLocks noGrp="1"/>
          </p:cNvSpPr>
          <p:nvPr>
            <p:ph type="title" idx="4294967295"/>
          </p:nvPr>
        </p:nvSpPr>
        <p:spPr>
          <a:xfrm>
            <a:off x="5562600" y="785794"/>
            <a:ext cx="3581400" cy="2057400"/>
          </a:xfrm>
        </p:spPr>
        <p:txBody>
          <a:bodyPr/>
          <a:lstStyle/>
          <a:p>
            <a:pPr algn="ctr"/>
            <a:r>
              <a:rPr lang="en-US" dirty="0">
                <a:effectLst>
                  <a:outerShdw blurRad="38100" dist="38100" dir="2700000" algn="tl">
                    <a:srgbClr val="000000">
                      <a:alpha val="43137"/>
                    </a:srgbClr>
                  </a:outerShdw>
                </a:effectLst>
              </a:rPr>
              <a:t>IBM</a:t>
            </a:r>
            <a:br>
              <a:rPr lang="en-US" dirty="0">
                <a:effectLst>
                  <a:outerShdw blurRad="38100" dist="38100" dir="2700000" algn="tl">
                    <a:srgbClr val="000000">
                      <a:alpha val="43137"/>
                    </a:srgbClr>
                  </a:outerShdw>
                </a:effectLst>
              </a:rPr>
            </a:br>
            <a:r>
              <a:rPr lang="en-US" dirty="0">
                <a:effectLst>
                  <a:outerShdw blurRad="38100" dist="38100" dir="2700000" algn="tl">
                    <a:srgbClr val="000000">
                      <a:alpha val="43137"/>
                    </a:srgbClr>
                  </a:outerShdw>
                </a:effectLst>
              </a:rPr>
              <a:t>7094</a:t>
            </a:r>
            <a:br>
              <a:rPr lang="en-US" dirty="0">
                <a:effectLst>
                  <a:outerShdw blurRad="38100" dist="38100" dir="2700000" algn="tl">
                    <a:srgbClr val="000000">
                      <a:alpha val="43137"/>
                    </a:srgbClr>
                  </a:outerShdw>
                </a:effectLst>
              </a:rPr>
            </a:br>
            <a:r>
              <a:rPr lang="en-US" dirty="0">
                <a:effectLst>
                  <a:outerShdw blurRad="38100" dist="38100" dir="2700000" algn="tl">
                    <a:srgbClr val="000000">
                      <a:alpha val="43137"/>
                    </a:srgbClr>
                  </a:outerShdw>
                </a:effectLst>
              </a:rPr>
              <a:t>Configuration</a:t>
            </a:r>
            <a:br>
              <a:rPr lang="en-US" dirty="0">
                <a:effectLst>
                  <a:outerShdw blurRad="38100" dist="38100" dir="2700000" algn="tl">
                    <a:srgbClr val="000000">
                      <a:alpha val="43137"/>
                    </a:srgbClr>
                  </a:outerShdw>
                </a:effectLst>
              </a:rPr>
            </a:br>
            <a:r>
              <a:rPr lang="en-US" sz="2800" dirty="0">
                <a:effectLst>
                  <a:outerShdw blurRad="38100" dist="38100" dir="2700000" algn="tl">
                    <a:srgbClr val="000000">
                      <a:alpha val="43137"/>
                    </a:srgbClr>
                  </a:outerShdw>
                </a:effectLst>
              </a:rPr>
              <a:t>Read by yourself</a:t>
            </a:r>
            <a:endParaRPr lang="en-US" dirty="0">
              <a:effectLst>
                <a:outerShdw blurRad="38100" dist="38100" dir="2700000" algn="tl">
                  <a:srgbClr val="000000">
                    <a:alpha val="43137"/>
                  </a:srgbClr>
                </a:outerShdw>
              </a:effectLst>
            </a:endParaRPr>
          </a:p>
        </p:txBody>
      </p:sp>
      <p:pic>
        <p:nvPicPr>
          <p:cNvPr id="4" name="Picture 2"/>
          <p:cNvPicPr>
            <a:picLocks noChangeAspect="1" noChangeArrowheads="1"/>
          </p:cNvPicPr>
          <p:nvPr/>
        </p:nvPicPr>
        <p:blipFill>
          <a:blip r:embed="rId5"/>
          <a:srcRect/>
          <a:stretch>
            <a:fillRect/>
          </a:stretch>
        </p:blipFill>
        <p:spPr bwMode="auto">
          <a:xfrm>
            <a:off x="6072198" y="3500438"/>
            <a:ext cx="2381250" cy="1419226"/>
          </a:xfrm>
          <a:prstGeom prst="rect">
            <a:avLst/>
          </a:prstGeom>
          <a:noFill/>
          <a:ln w="9525">
            <a:noFill/>
            <a:miter lim="800000"/>
            <a:headEnd/>
            <a:tailEnd/>
          </a:ln>
          <a:effectLst/>
        </p:spPr>
      </p:pic>
      <p:sp>
        <p:nvSpPr>
          <p:cNvPr id="5" name="Rectangle 4"/>
          <p:cNvSpPr/>
          <p:nvPr/>
        </p:nvSpPr>
        <p:spPr>
          <a:xfrm>
            <a:off x="5643570" y="5214950"/>
            <a:ext cx="3357586" cy="1143008"/>
          </a:xfrm>
          <a:prstGeom prst="rect">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r>
              <a:rPr lang="en-US" sz="1400">
                <a:solidFill>
                  <a:schemeClr val="tx1"/>
                </a:solidFill>
              </a:rPr>
              <a:t>Multiplexer (mạch đa hợp) manages centrally some devices. </a:t>
            </a:r>
          </a:p>
          <a:p>
            <a:r>
              <a:rPr lang="en-US" sz="1400">
                <a:solidFill>
                  <a:schemeClr val="tx1"/>
                </a:solidFill>
              </a:rPr>
              <a:t>Mag: magnetic</a:t>
            </a:r>
          </a:p>
          <a:p>
            <a:r>
              <a:rPr lang="en-US" sz="1400">
                <a:solidFill>
                  <a:schemeClr val="tx1"/>
                </a:solidFill>
              </a:rPr>
              <a:t>Drum: magnetic drum for storing data</a:t>
            </a:r>
          </a:p>
        </p:txBody>
      </p:sp>
      <p:sp>
        <p:nvSpPr>
          <p:cNvPr id="6" name="Slide Number Placeholder 5"/>
          <p:cNvSpPr>
            <a:spLocks noGrp="1"/>
          </p:cNvSpPr>
          <p:nvPr>
            <p:ph type="sldNum" sz="quarter" idx="12"/>
          </p:nvPr>
        </p:nvSpPr>
        <p:spPr/>
        <p:txBody>
          <a:bodyPr/>
          <a:lstStyle/>
          <a:p>
            <a:fld id="{8AF02B71-8991-4516-A01E-F1A9ACD28BDC}" type="slidenum">
              <a:rPr lang="en-US" smtClean="0"/>
              <a:pPr/>
              <a:t>26</a:t>
            </a:fld>
            <a:endParaRPr lang="en-US"/>
          </a:p>
        </p:txBody>
      </p:sp>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idx="4294967295"/>
          </p:nvPr>
        </p:nvSpPr>
        <p:spPr>
          <a:xfrm>
            <a:off x="142844" y="381000"/>
            <a:ext cx="8610600" cy="1116012"/>
          </a:xfrm>
        </p:spPr>
        <p:txBody>
          <a:bodyPr/>
          <a:lstStyle/>
          <a:p>
            <a:r>
              <a:rPr lang="en-US" dirty="0">
                <a:effectLst>
                  <a:outerShdw blurRad="38100" dist="38100" dir="2700000" algn="tl">
                    <a:srgbClr val="000000">
                      <a:alpha val="43137"/>
                    </a:srgbClr>
                  </a:outerShdw>
                </a:effectLst>
              </a:rPr>
              <a:t>Third Generation:  Integrated Circuits</a:t>
            </a:r>
            <a:br>
              <a:rPr lang="en-US" dirty="0">
                <a:effectLst>
                  <a:outerShdw blurRad="38100" dist="38100" dir="2700000" algn="tl">
                    <a:srgbClr val="000000">
                      <a:alpha val="43137"/>
                    </a:srgbClr>
                  </a:outerShdw>
                </a:effectLst>
              </a:rPr>
            </a:br>
            <a:r>
              <a:rPr lang="en-US" dirty="0">
                <a:effectLst>
                  <a:outerShdw blurRad="38100" dist="38100" dir="2700000" algn="tl">
                    <a:srgbClr val="000000">
                      <a:alpha val="43137"/>
                    </a:srgbClr>
                  </a:outerShdw>
                </a:effectLst>
              </a:rPr>
              <a:t>IC</a:t>
            </a:r>
          </a:p>
        </p:txBody>
      </p:sp>
      <p:sp>
        <p:nvSpPr>
          <p:cNvPr id="18435" name="Rectangle 3"/>
          <p:cNvSpPr>
            <a:spLocks noGrp="1" noChangeArrowheads="1"/>
          </p:cNvSpPr>
          <p:nvPr>
            <p:ph idx="4294967295"/>
          </p:nvPr>
        </p:nvSpPr>
        <p:spPr>
          <a:xfrm>
            <a:off x="515962" y="2076472"/>
            <a:ext cx="7556500" cy="4495800"/>
          </a:xfrm>
        </p:spPr>
        <p:txBody>
          <a:bodyPr>
            <a:normAutofit fontScale="92500" lnSpcReduction="20000"/>
          </a:bodyPr>
          <a:lstStyle/>
          <a:p>
            <a:r>
              <a:rPr lang="en-GB" sz="2400" dirty="0">
                <a:solidFill>
                  <a:schemeClr val="tx1"/>
                </a:solidFill>
              </a:rPr>
              <a:t>1958 – the invention of the integrated circuit </a:t>
            </a:r>
          </a:p>
          <a:p>
            <a:r>
              <a:rPr lang="en-GB" sz="2400" dirty="0">
                <a:solidFill>
                  <a:schemeClr val="tx1"/>
                </a:solidFill>
              </a:rPr>
              <a:t>All components of a circuit are minimize to micro size. So, all of them are packed in a chip </a:t>
            </a:r>
          </a:p>
          <a:p>
            <a:r>
              <a:rPr lang="en-GB" sz="2400" i="1" dirty="0">
                <a:solidFill>
                  <a:schemeClr val="tx1"/>
                </a:solidFill>
              </a:rPr>
              <a:t>Discrete component</a:t>
            </a:r>
          </a:p>
          <a:p>
            <a:pPr lvl="1"/>
            <a:r>
              <a:rPr lang="en-GB" sz="2000" dirty="0">
                <a:solidFill>
                  <a:schemeClr val="tx1"/>
                </a:solidFill>
              </a:rPr>
              <a:t>Single, self-contained transistor</a:t>
            </a:r>
          </a:p>
          <a:p>
            <a:pPr lvl="1"/>
            <a:r>
              <a:rPr lang="en-GB" sz="2000" dirty="0">
                <a:solidFill>
                  <a:schemeClr val="tx1"/>
                </a:solidFill>
              </a:rPr>
              <a:t>Manufactured separately, packaged in their own containers, and soldered or wired together onto </a:t>
            </a:r>
            <a:r>
              <a:rPr lang="en-GB" sz="2000" dirty="0" err="1">
                <a:solidFill>
                  <a:schemeClr val="tx1"/>
                </a:solidFill>
              </a:rPr>
              <a:t>masonite</a:t>
            </a:r>
            <a:r>
              <a:rPr lang="en-GB" sz="2000" dirty="0">
                <a:solidFill>
                  <a:schemeClr val="tx1"/>
                </a:solidFill>
              </a:rPr>
              <a:t> (like circuit boards)</a:t>
            </a:r>
          </a:p>
          <a:p>
            <a:pPr lvl="1"/>
            <a:r>
              <a:rPr lang="en-GB" sz="2000" dirty="0">
                <a:solidFill>
                  <a:schemeClr val="tx1"/>
                </a:solidFill>
              </a:rPr>
              <a:t>Manufacturing process was expensive and cumbersome (complex)</a:t>
            </a:r>
          </a:p>
          <a:p>
            <a:pPr marL="228600" lvl="1">
              <a:spcBef>
                <a:spcPts val="2000"/>
              </a:spcBef>
              <a:buClr>
                <a:schemeClr val="accent1"/>
              </a:buClr>
            </a:pPr>
            <a:r>
              <a:rPr lang="en-GB" sz="2400" dirty="0">
                <a:solidFill>
                  <a:schemeClr val="tx1"/>
                </a:solidFill>
              </a:rPr>
              <a:t>The two most important members of the third generation were the IBM System/360 and the DEC PDP-8 </a:t>
            </a:r>
          </a:p>
          <a:p>
            <a:pPr lvl="1"/>
            <a:endParaRPr lang="en-GB" sz="2000" dirty="0">
              <a:solidFill>
                <a:schemeClr val="tx1"/>
              </a:solidFill>
            </a:endParaRPr>
          </a:p>
        </p:txBody>
      </p:sp>
      <p:pic>
        <p:nvPicPr>
          <p:cNvPr id="7" name="Picture 5"/>
          <p:cNvPicPr>
            <a:picLocks noChangeAspect="1" noChangeArrowheads="1"/>
          </p:cNvPicPr>
          <p:nvPr/>
        </p:nvPicPr>
        <p:blipFill>
          <a:blip r:embed="rId3"/>
          <a:srcRect/>
          <a:stretch>
            <a:fillRect/>
          </a:stretch>
        </p:blipFill>
        <p:spPr bwMode="auto">
          <a:xfrm>
            <a:off x="6858016" y="1142984"/>
            <a:ext cx="1817408" cy="1323996"/>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8AF02B71-8991-4516-A01E-F1A9ACD28BDC}" type="slidenum">
              <a:rPr lang="en-US" smtClean="0"/>
              <a:pPr/>
              <a:t>27</a:t>
            </a:fld>
            <a:endParaRPr lang="en-US"/>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1295400" y="533400"/>
            <a:ext cx="7556313" cy="1371600"/>
          </a:xfrm>
        </p:spPr>
        <p:txBody>
          <a:bodyPr/>
          <a:lstStyle/>
          <a:p>
            <a:r>
              <a:rPr lang="en-US" sz="4400" dirty="0">
                <a:effectLst>
                  <a:outerShdw blurRad="38100" dist="38100" dir="2700000" algn="tl">
                    <a:srgbClr val="000000">
                      <a:alpha val="43137"/>
                    </a:srgbClr>
                  </a:outerShdw>
                </a:effectLst>
              </a:rPr>
              <a:t>Microelectronics</a:t>
            </a:r>
          </a:p>
        </p:txBody>
      </p:sp>
      <p:pic>
        <p:nvPicPr>
          <p:cNvPr id="4" name="Picture 3" descr="f6.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t="29091" b="31818"/>
              <a:stretch>
                <a:fillRect/>
              </a:stretch>
            </p:blipFill>
          </mc:Choice>
          <mc:Fallback>
            <p:blipFill>
              <a:blip r:embed="rId4"/>
              <a:srcRect t="29091" b="31818"/>
              <a:stretch>
                <a:fillRect/>
              </a:stretch>
            </p:blipFill>
          </mc:Fallback>
        </mc:AlternateContent>
        <p:spPr>
          <a:xfrm>
            <a:off x="0" y="1828800"/>
            <a:ext cx="9144000" cy="4724400"/>
          </a:xfrm>
          <a:prstGeom prst="rect">
            <a:avLst/>
          </a:prstGeom>
        </p:spPr>
      </p:pic>
      <p:pic>
        <p:nvPicPr>
          <p:cNvPr id="5" name="Picture 5"/>
          <p:cNvPicPr>
            <a:picLocks noChangeAspect="1" noChangeArrowheads="1"/>
          </p:cNvPicPr>
          <p:nvPr/>
        </p:nvPicPr>
        <p:blipFill>
          <a:blip r:embed="rId5"/>
          <a:srcRect/>
          <a:stretch>
            <a:fillRect/>
          </a:stretch>
        </p:blipFill>
        <p:spPr bwMode="auto">
          <a:xfrm>
            <a:off x="6215074" y="1000108"/>
            <a:ext cx="1817408" cy="1323996"/>
          </a:xfrm>
          <a:prstGeom prst="rect">
            <a:avLst/>
          </a:prstGeom>
          <a:noFill/>
          <a:ln w="9525">
            <a:noFill/>
            <a:miter lim="800000"/>
            <a:headEnd/>
            <a:tailEnd/>
          </a:ln>
          <a:effectLst/>
        </p:spPr>
      </p:pic>
      <p:sp>
        <p:nvSpPr>
          <p:cNvPr id="6" name="Slide Number Placeholder 5"/>
          <p:cNvSpPr>
            <a:spLocks noGrp="1"/>
          </p:cNvSpPr>
          <p:nvPr>
            <p:ph type="sldNum" sz="quarter" idx="12"/>
          </p:nvPr>
        </p:nvSpPr>
        <p:spPr/>
        <p:txBody>
          <a:bodyPr/>
          <a:lstStyle/>
          <a:p>
            <a:fld id="{8AF02B71-8991-4516-A01E-F1A9ACD28BDC}" type="slidenum">
              <a:rPr lang="en-US" smtClean="0"/>
              <a:pPr/>
              <a:t>28</a:t>
            </a:fld>
            <a:endParaRPr lang="en-US"/>
          </a:p>
        </p:txBody>
      </p:sp>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p:cNvSpPr>
            <a:spLocks noGrp="1"/>
          </p:cNvSpPr>
          <p:nvPr>
            <p:ph type="title"/>
          </p:nvPr>
        </p:nvSpPr>
        <p:spPr>
          <a:xfrm>
            <a:off x="990600" y="457200"/>
            <a:ext cx="7556313" cy="1116106"/>
          </a:xfrm>
        </p:spPr>
        <p:txBody>
          <a:bodyPr/>
          <a:lstStyle/>
          <a:p>
            <a:r>
              <a:rPr lang="en-US" dirty="0">
                <a:effectLst>
                  <a:outerShdw blurRad="38100" dist="38100" dir="2700000" algn="tl">
                    <a:srgbClr val="000000">
                      <a:alpha val="43137"/>
                    </a:srgbClr>
                  </a:outerShdw>
                </a:effectLst>
              </a:rPr>
              <a:t>Integrated </a:t>
            </a:r>
            <a:br>
              <a:rPr lang="en-US" dirty="0">
                <a:effectLst>
                  <a:outerShdw blurRad="38100" dist="38100" dir="2700000" algn="tl">
                    <a:srgbClr val="000000">
                      <a:alpha val="43137"/>
                    </a:srgbClr>
                  </a:outerShdw>
                </a:effectLst>
              </a:rPr>
            </a:br>
            <a:r>
              <a:rPr lang="en-US" dirty="0">
                <a:effectLst>
                  <a:outerShdw blurRad="38100" dist="38100" dir="2700000" algn="tl">
                    <a:srgbClr val="000000">
                      <a:alpha val="43137"/>
                    </a:srgbClr>
                  </a:outerShdw>
                </a:effectLst>
              </a:rPr>
              <a:t>Circuits</a:t>
            </a:r>
          </a:p>
        </p:txBody>
      </p:sp>
      <p:sp>
        <p:nvSpPr>
          <p:cNvPr id="16" name="Content Placeholder 15"/>
          <p:cNvSpPr>
            <a:spLocks noGrp="1"/>
          </p:cNvSpPr>
          <p:nvPr>
            <p:ph sz="half" idx="1"/>
          </p:nvPr>
        </p:nvSpPr>
        <p:spPr>
          <a:xfrm>
            <a:off x="4343400" y="381000"/>
            <a:ext cx="3657600" cy="2885123"/>
          </a:xfrm>
        </p:spPr>
        <p:txBody>
          <a:bodyPr>
            <a:normAutofit/>
          </a:bodyPr>
          <a:lstStyle/>
          <a:p>
            <a:r>
              <a:rPr lang="en-US" dirty="0">
                <a:solidFill>
                  <a:schemeClr val="tx1"/>
                </a:solidFill>
              </a:rPr>
              <a:t>A </a:t>
            </a:r>
            <a:r>
              <a:rPr lang="en-US" b="1" dirty="0">
                <a:solidFill>
                  <a:schemeClr val="tx1"/>
                </a:solidFill>
              </a:rPr>
              <a:t>computer consists of</a:t>
            </a:r>
            <a:r>
              <a:rPr lang="en-US" dirty="0">
                <a:solidFill>
                  <a:schemeClr val="tx1"/>
                </a:solidFill>
              </a:rPr>
              <a:t> gates, memory cells, and interconnections among these elements</a:t>
            </a:r>
          </a:p>
          <a:p>
            <a:r>
              <a:rPr lang="en-US" dirty="0">
                <a:solidFill>
                  <a:schemeClr val="tx1"/>
                </a:solidFill>
              </a:rPr>
              <a:t>The gates and memory cells are constructed of simple digital electronic components</a:t>
            </a:r>
          </a:p>
        </p:txBody>
      </p:sp>
      <p:sp>
        <p:nvSpPr>
          <p:cNvPr id="17" name="Content Placeholder 16"/>
          <p:cNvSpPr>
            <a:spLocks noGrp="1"/>
          </p:cNvSpPr>
          <p:nvPr>
            <p:ph sz="half" idx="15"/>
          </p:nvPr>
        </p:nvSpPr>
        <p:spPr>
          <a:xfrm>
            <a:off x="498518" y="1785926"/>
            <a:ext cx="3657600" cy="4140200"/>
          </a:xfrm>
        </p:spPr>
        <p:txBody>
          <a:bodyPr>
            <a:normAutofit lnSpcReduction="10000"/>
          </a:bodyPr>
          <a:lstStyle/>
          <a:p>
            <a:r>
              <a:rPr lang="en-US" b="1" dirty="0">
                <a:solidFill>
                  <a:schemeClr val="tx1"/>
                </a:solidFill>
              </a:rPr>
              <a:t>Data storage </a:t>
            </a:r>
            <a:r>
              <a:rPr lang="en-US" dirty="0">
                <a:solidFill>
                  <a:schemeClr val="tx1"/>
                </a:solidFill>
              </a:rPr>
              <a:t>– provided by memory cells</a:t>
            </a:r>
          </a:p>
          <a:p>
            <a:r>
              <a:rPr lang="en-US" b="1" dirty="0">
                <a:solidFill>
                  <a:schemeClr val="tx1"/>
                </a:solidFill>
              </a:rPr>
              <a:t>Data processing </a:t>
            </a:r>
            <a:r>
              <a:rPr lang="en-US" dirty="0">
                <a:solidFill>
                  <a:schemeClr val="tx1"/>
                </a:solidFill>
              </a:rPr>
              <a:t>– provided by gates</a:t>
            </a:r>
          </a:p>
          <a:p>
            <a:r>
              <a:rPr lang="en-US" b="1" dirty="0">
                <a:solidFill>
                  <a:schemeClr val="tx1"/>
                </a:solidFill>
              </a:rPr>
              <a:t>Data movement </a:t>
            </a:r>
            <a:r>
              <a:rPr lang="en-US" dirty="0">
                <a:solidFill>
                  <a:schemeClr val="tx1"/>
                </a:solidFill>
              </a:rPr>
              <a:t>– the paths among components are used to move data from memory to memory and from memory through gates to memory</a:t>
            </a:r>
          </a:p>
          <a:p>
            <a:r>
              <a:rPr lang="en-US" b="1" dirty="0">
                <a:solidFill>
                  <a:schemeClr val="tx1"/>
                </a:solidFill>
              </a:rPr>
              <a:t>Control </a:t>
            </a:r>
            <a:r>
              <a:rPr lang="en-US" dirty="0">
                <a:solidFill>
                  <a:schemeClr val="tx1"/>
                </a:solidFill>
              </a:rPr>
              <a:t>– the paths among components can carry control signals</a:t>
            </a:r>
          </a:p>
        </p:txBody>
      </p:sp>
      <p:sp>
        <p:nvSpPr>
          <p:cNvPr id="18" name="Content Placeholder 17"/>
          <p:cNvSpPr>
            <a:spLocks noGrp="1"/>
          </p:cNvSpPr>
          <p:nvPr>
            <p:ph sz="half" idx="16"/>
          </p:nvPr>
        </p:nvSpPr>
        <p:spPr>
          <a:xfrm>
            <a:off x="4410074" y="2895600"/>
            <a:ext cx="4376767" cy="3240024"/>
          </a:xfrm>
        </p:spPr>
        <p:txBody>
          <a:bodyPr>
            <a:noAutofit/>
          </a:bodyPr>
          <a:lstStyle/>
          <a:p>
            <a:r>
              <a:rPr lang="en-US" dirty="0">
                <a:solidFill>
                  <a:schemeClr val="tx1"/>
                </a:solidFill>
              </a:rPr>
              <a:t>Exploits the fact that such components as transistors, resistors, and conductors can be fabricated from a semiconductor such as silicon</a:t>
            </a:r>
          </a:p>
          <a:p>
            <a:r>
              <a:rPr lang="en-US" dirty="0">
                <a:solidFill>
                  <a:schemeClr val="tx1"/>
                </a:solidFill>
              </a:rPr>
              <a:t>Many transistors can be produced at the same time on a single wafer(thin piece) of silicon</a:t>
            </a:r>
          </a:p>
          <a:p>
            <a:r>
              <a:rPr lang="en-US" dirty="0">
                <a:solidFill>
                  <a:schemeClr val="tx1"/>
                </a:solidFill>
              </a:rPr>
              <a:t>Transistors can be connected with a processor metallization (cover using metal) to form circuits</a:t>
            </a:r>
          </a:p>
        </p:txBody>
      </p:sp>
      <p:pic>
        <p:nvPicPr>
          <p:cNvPr id="6" name="Picture 5"/>
          <p:cNvPicPr>
            <a:picLocks noChangeAspect="1" noChangeArrowheads="1"/>
          </p:cNvPicPr>
          <p:nvPr/>
        </p:nvPicPr>
        <p:blipFill>
          <a:blip r:embed="rId3"/>
          <a:srcRect/>
          <a:stretch>
            <a:fillRect/>
          </a:stretch>
        </p:blipFill>
        <p:spPr bwMode="auto">
          <a:xfrm>
            <a:off x="1785918" y="5357826"/>
            <a:ext cx="1817408" cy="1323996"/>
          </a:xfrm>
          <a:prstGeom prst="rect">
            <a:avLst/>
          </a:prstGeom>
          <a:noFill/>
          <a:ln w="9525">
            <a:noFill/>
            <a:miter lim="800000"/>
            <a:headEnd/>
            <a:tailEnd/>
          </a:ln>
          <a:effectLst/>
        </p:spPr>
      </p:pic>
      <p:sp>
        <p:nvSpPr>
          <p:cNvPr id="7" name="Slide Number Placeholder 6"/>
          <p:cNvSpPr>
            <a:spLocks noGrp="1"/>
          </p:cNvSpPr>
          <p:nvPr>
            <p:ph type="sldNum" sz="quarter" idx="12"/>
          </p:nvPr>
        </p:nvSpPr>
        <p:spPr/>
        <p:txBody>
          <a:bodyPr/>
          <a:lstStyle/>
          <a:p>
            <a:fld id="{8AF02B71-8991-4516-A01E-F1A9ACD28BDC}" type="slidenum">
              <a:rPr lang="en-US" smtClean="0"/>
              <a:pPr/>
              <a:t>29</a:t>
            </a:fld>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after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 calcmode="lin" valueType="num">
                                      <p:cBhvr>
                                        <p:cTn id="7" dur="2000" fill="hold"/>
                                        <p:tgtEl>
                                          <p:spTgt spid="17">
                                            <p:txEl>
                                              <p:pRg st="0" end="0"/>
                                            </p:txEl>
                                          </p:spTgt>
                                        </p:tgtEl>
                                        <p:attrNameLst>
                                          <p:attrName>ppt_w</p:attrName>
                                        </p:attrNameLst>
                                      </p:cBhvr>
                                      <p:tavLst>
                                        <p:tav tm="0">
                                          <p:val>
                                            <p:strVal val="#ppt_w+.3"/>
                                          </p:val>
                                        </p:tav>
                                        <p:tav tm="100000">
                                          <p:val>
                                            <p:strVal val="#ppt_w"/>
                                          </p:val>
                                        </p:tav>
                                      </p:tavLst>
                                    </p:anim>
                                    <p:anim calcmode="lin" valueType="num">
                                      <p:cBhvr>
                                        <p:cTn id="8" dur="2000" fill="hold"/>
                                        <p:tgtEl>
                                          <p:spTgt spid="17">
                                            <p:txEl>
                                              <p:pRg st="0" end="0"/>
                                            </p:txEl>
                                          </p:spTgt>
                                        </p:tgtEl>
                                        <p:attrNameLst>
                                          <p:attrName>ppt_h</p:attrName>
                                        </p:attrNameLst>
                                      </p:cBhvr>
                                      <p:tavLst>
                                        <p:tav tm="0">
                                          <p:val>
                                            <p:strVal val="#ppt_h"/>
                                          </p:val>
                                        </p:tav>
                                        <p:tav tm="100000">
                                          <p:val>
                                            <p:strVal val="#ppt_h"/>
                                          </p:val>
                                        </p:tav>
                                      </p:tavLst>
                                    </p:anim>
                                    <p:animEffect transition="in" filter="fade">
                                      <p:cBhvr>
                                        <p:cTn id="9" dur="2000"/>
                                        <p:tgtEl>
                                          <p:spTgt spid="17">
                                            <p:txEl>
                                              <p:pRg st="0" end="0"/>
                                            </p:txEl>
                                          </p:spTgt>
                                        </p:tgtEl>
                                      </p:cBhvr>
                                    </p:animEffect>
                                  </p:childTnLst>
                                </p:cTn>
                              </p:par>
                            </p:childTnLst>
                          </p:cTn>
                        </p:par>
                        <p:par>
                          <p:cTn id="10" fill="hold">
                            <p:stCondLst>
                              <p:cond delay="2000"/>
                            </p:stCondLst>
                            <p:childTnLst>
                              <p:par>
                                <p:cTn id="11" presetID="50" presetClass="entr" presetSubtype="0" decel="100000" fill="hold" grpId="0" nodeType="afterEffect">
                                  <p:stCondLst>
                                    <p:cond delay="0"/>
                                  </p:stCondLst>
                                  <p:childTnLst>
                                    <p:set>
                                      <p:cBhvr>
                                        <p:cTn id="12" dur="1" fill="hold">
                                          <p:stCondLst>
                                            <p:cond delay="0"/>
                                          </p:stCondLst>
                                        </p:cTn>
                                        <p:tgtEl>
                                          <p:spTgt spid="17">
                                            <p:txEl>
                                              <p:pRg st="1" end="1"/>
                                            </p:txEl>
                                          </p:spTgt>
                                        </p:tgtEl>
                                        <p:attrNameLst>
                                          <p:attrName>style.visibility</p:attrName>
                                        </p:attrNameLst>
                                      </p:cBhvr>
                                      <p:to>
                                        <p:strVal val="visible"/>
                                      </p:to>
                                    </p:set>
                                    <p:anim calcmode="lin" valueType="num">
                                      <p:cBhvr>
                                        <p:cTn id="13" dur="2000" fill="hold"/>
                                        <p:tgtEl>
                                          <p:spTgt spid="17">
                                            <p:txEl>
                                              <p:pRg st="1" end="1"/>
                                            </p:txEl>
                                          </p:spTgt>
                                        </p:tgtEl>
                                        <p:attrNameLst>
                                          <p:attrName>ppt_w</p:attrName>
                                        </p:attrNameLst>
                                      </p:cBhvr>
                                      <p:tavLst>
                                        <p:tav tm="0">
                                          <p:val>
                                            <p:strVal val="#ppt_w+.3"/>
                                          </p:val>
                                        </p:tav>
                                        <p:tav tm="100000">
                                          <p:val>
                                            <p:strVal val="#ppt_w"/>
                                          </p:val>
                                        </p:tav>
                                      </p:tavLst>
                                    </p:anim>
                                    <p:anim calcmode="lin" valueType="num">
                                      <p:cBhvr>
                                        <p:cTn id="14" dur="2000" fill="hold"/>
                                        <p:tgtEl>
                                          <p:spTgt spid="17">
                                            <p:txEl>
                                              <p:pRg st="1" end="1"/>
                                            </p:txEl>
                                          </p:spTgt>
                                        </p:tgtEl>
                                        <p:attrNameLst>
                                          <p:attrName>ppt_h</p:attrName>
                                        </p:attrNameLst>
                                      </p:cBhvr>
                                      <p:tavLst>
                                        <p:tav tm="0">
                                          <p:val>
                                            <p:strVal val="#ppt_h"/>
                                          </p:val>
                                        </p:tav>
                                        <p:tav tm="100000">
                                          <p:val>
                                            <p:strVal val="#ppt_h"/>
                                          </p:val>
                                        </p:tav>
                                      </p:tavLst>
                                    </p:anim>
                                    <p:animEffect transition="in" filter="fade">
                                      <p:cBhvr>
                                        <p:cTn id="15" dur="2000"/>
                                        <p:tgtEl>
                                          <p:spTgt spid="17">
                                            <p:txEl>
                                              <p:pRg st="1" end="1"/>
                                            </p:txEl>
                                          </p:spTgt>
                                        </p:tgtEl>
                                      </p:cBhvr>
                                    </p:animEffect>
                                  </p:childTnLst>
                                </p:cTn>
                              </p:par>
                            </p:childTnLst>
                          </p:cTn>
                        </p:par>
                        <p:par>
                          <p:cTn id="16" fill="hold">
                            <p:stCondLst>
                              <p:cond delay="4000"/>
                            </p:stCondLst>
                            <p:childTnLst>
                              <p:par>
                                <p:cTn id="17" presetID="50" presetClass="entr" presetSubtype="0" decel="100000" fill="hold" grpId="0" nodeType="afterEffect">
                                  <p:stCondLst>
                                    <p:cond delay="0"/>
                                  </p:stCondLst>
                                  <p:childTnLst>
                                    <p:set>
                                      <p:cBhvr>
                                        <p:cTn id="18" dur="1" fill="hold">
                                          <p:stCondLst>
                                            <p:cond delay="0"/>
                                          </p:stCondLst>
                                        </p:cTn>
                                        <p:tgtEl>
                                          <p:spTgt spid="17">
                                            <p:txEl>
                                              <p:pRg st="2" end="2"/>
                                            </p:txEl>
                                          </p:spTgt>
                                        </p:tgtEl>
                                        <p:attrNameLst>
                                          <p:attrName>style.visibility</p:attrName>
                                        </p:attrNameLst>
                                      </p:cBhvr>
                                      <p:to>
                                        <p:strVal val="visible"/>
                                      </p:to>
                                    </p:set>
                                    <p:anim calcmode="lin" valueType="num">
                                      <p:cBhvr>
                                        <p:cTn id="19" dur="2000" fill="hold"/>
                                        <p:tgtEl>
                                          <p:spTgt spid="17">
                                            <p:txEl>
                                              <p:pRg st="2" end="2"/>
                                            </p:txEl>
                                          </p:spTgt>
                                        </p:tgtEl>
                                        <p:attrNameLst>
                                          <p:attrName>ppt_w</p:attrName>
                                        </p:attrNameLst>
                                      </p:cBhvr>
                                      <p:tavLst>
                                        <p:tav tm="0">
                                          <p:val>
                                            <p:strVal val="#ppt_w+.3"/>
                                          </p:val>
                                        </p:tav>
                                        <p:tav tm="100000">
                                          <p:val>
                                            <p:strVal val="#ppt_w"/>
                                          </p:val>
                                        </p:tav>
                                      </p:tavLst>
                                    </p:anim>
                                    <p:anim calcmode="lin" valueType="num">
                                      <p:cBhvr>
                                        <p:cTn id="20" dur="2000" fill="hold"/>
                                        <p:tgtEl>
                                          <p:spTgt spid="17">
                                            <p:txEl>
                                              <p:pRg st="2" end="2"/>
                                            </p:txEl>
                                          </p:spTgt>
                                        </p:tgtEl>
                                        <p:attrNameLst>
                                          <p:attrName>ppt_h</p:attrName>
                                        </p:attrNameLst>
                                      </p:cBhvr>
                                      <p:tavLst>
                                        <p:tav tm="0">
                                          <p:val>
                                            <p:strVal val="#ppt_h"/>
                                          </p:val>
                                        </p:tav>
                                        <p:tav tm="100000">
                                          <p:val>
                                            <p:strVal val="#ppt_h"/>
                                          </p:val>
                                        </p:tav>
                                      </p:tavLst>
                                    </p:anim>
                                    <p:animEffect transition="in" filter="fade">
                                      <p:cBhvr>
                                        <p:cTn id="21" dur="2000"/>
                                        <p:tgtEl>
                                          <p:spTgt spid="17">
                                            <p:txEl>
                                              <p:pRg st="2" end="2"/>
                                            </p:txEl>
                                          </p:spTgt>
                                        </p:tgtEl>
                                      </p:cBhvr>
                                    </p:animEffect>
                                  </p:childTnLst>
                                </p:cTn>
                              </p:par>
                            </p:childTnLst>
                          </p:cTn>
                        </p:par>
                        <p:par>
                          <p:cTn id="22" fill="hold">
                            <p:stCondLst>
                              <p:cond delay="6000"/>
                            </p:stCondLst>
                            <p:childTnLst>
                              <p:par>
                                <p:cTn id="23" presetID="50" presetClass="entr" presetSubtype="0" decel="100000" fill="hold" grpId="0" nodeType="afterEffect">
                                  <p:stCondLst>
                                    <p:cond delay="0"/>
                                  </p:stCondLst>
                                  <p:childTnLst>
                                    <p:set>
                                      <p:cBhvr>
                                        <p:cTn id="24" dur="1" fill="hold">
                                          <p:stCondLst>
                                            <p:cond delay="0"/>
                                          </p:stCondLst>
                                        </p:cTn>
                                        <p:tgtEl>
                                          <p:spTgt spid="17">
                                            <p:txEl>
                                              <p:pRg st="3" end="3"/>
                                            </p:txEl>
                                          </p:spTgt>
                                        </p:tgtEl>
                                        <p:attrNameLst>
                                          <p:attrName>style.visibility</p:attrName>
                                        </p:attrNameLst>
                                      </p:cBhvr>
                                      <p:to>
                                        <p:strVal val="visible"/>
                                      </p:to>
                                    </p:set>
                                    <p:anim calcmode="lin" valueType="num">
                                      <p:cBhvr>
                                        <p:cTn id="25" dur="2000" fill="hold"/>
                                        <p:tgtEl>
                                          <p:spTgt spid="17">
                                            <p:txEl>
                                              <p:pRg st="3" end="3"/>
                                            </p:txEl>
                                          </p:spTgt>
                                        </p:tgtEl>
                                        <p:attrNameLst>
                                          <p:attrName>ppt_w</p:attrName>
                                        </p:attrNameLst>
                                      </p:cBhvr>
                                      <p:tavLst>
                                        <p:tav tm="0">
                                          <p:val>
                                            <p:strVal val="#ppt_w+.3"/>
                                          </p:val>
                                        </p:tav>
                                        <p:tav tm="100000">
                                          <p:val>
                                            <p:strVal val="#ppt_w"/>
                                          </p:val>
                                        </p:tav>
                                      </p:tavLst>
                                    </p:anim>
                                    <p:anim calcmode="lin" valueType="num">
                                      <p:cBhvr>
                                        <p:cTn id="26" dur="2000" fill="hold"/>
                                        <p:tgtEl>
                                          <p:spTgt spid="17">
                                            <p:txEl>
                                              <p:pRg st="3" end="3"/>
                                            </p:txEl>
                                          </p:spTgt>
                                        </p:tgtEl>
                                        <p:attrNameLst>
                                          <p:attrName>ppt_h</p:attrName>
                                        </p:attrNameLst>
                                      </p:cBhvr>
                                      <p:tavLst>
                                        <p:tav tm="0">
                                          <p:val>
                                            <p:strVal val="#ppt_h"/>
                                          </p:val>
                                        </p:tav>
                                        <p:tav tm="100000">
                                          <p:val>
                                            <p:strVal val="#ppt_h"/>
                                          </p:val>
                                        </p:tav>
                                      </p:tavLst>
                                    </p:anim>
                                    <p:animEffect transition="in" filter="fade">
                                      <p:cBhvr>
                                        <p:cTn id="27" dur="2000"/>
                                        <p:tgtEl>
                                          <p:spTgt spid="17">
                                            <p:txEl>
                                              <p:pRg st="3" end="3"/>
                                            </p:txEl>
                                          </p:spTgt>
                                        </p:tgtEl>
                                      </p:cBhvr>
                                    </p:animEffect>
                                  </p:childTnLst>
                                </p:cTn>
                              </p:par>
                            </p:childTnLst>
                          </p:cTn>
                        </p:par>
                        <p:par>
                          <p:cTn id="28" fill="hold">
                            <p:stCondLst>
                              <p:cond delay="8000"/>
                            </p:stCondLst>
                            <p:childTnLst>
                              <p:par>
                                <p:cTn id="29" presetID="50" presetClass="entr" presetSubtype="0" decel="100000" fill="hold" grpId="0" nodeType="afterEffect">
                                  <p:stCondLst>
                                    <p:cond delay="0"/>
                                  </p:stCondLst>
                                  <p:childTnLst>
                                    <p:set>
                                      <p:cBhvr>
                                        <p:cTn id="30" dur="1" fill="hold">
                                          <p:stCondLst>
                                            <p:cond delay="0"/>
                                          </p:stCondLst>
                                        </p:cTn>
                                        <p:tgtEl>
                                          <p:spTgt spid="16">
                                            <p:txEl>
                                              <p:pRg st="0" end="0"/>
                                            </p:txEl>
                                          </p:spTgt>
                                        </p:tgtEl>
                                        <p:attrNameLst>
                                          <p:attrName>style.visibility</p:attrName>
                                        </p:attrNameLst>
                                      </p:cBhvr>
                                      <p:to>
                                        <p:strVal val="visible"/>
                                      </p:to>
                                    </p:set>
                                    <p:anim calcmode="lin" valueType="num">
                                      <p:cBhvr>
                                        <p:cTn id="31" dur="1000" fill="hold"/>
                                        <p:tgtEl>
                                          <p:spTgt spid="16">
                                            <p:txEl>
                                              <p:pRg st="0" end="0"/>
                                            </p:txEl>
                                          </p:spTgt>
                                        </p:tgtEl>
                                        <p:attrNameLst>
                                          <p:attrName>ppt_w</p:attrName>
                                        </p:attrNameLst>
                                      </p:cBhvr>
                                      <p:tavLst>
                                        <p:tav tm="0">
                                          <p:val>
                                            <p:strVal val="#ppt_w+.3"/>
                                          </p:val>
                                        </p:tav>
                                        <p:tav tm="100000">
                                          <p:val>
                                            <p:strVal val="#ppt_w"/>
                                          </p:val>
                                        </p:tav>
                                      </p:tavLst>
                                    </p:anim>
                                    <p:anim calcmode="lin" valueType="num">
                                      <p:cBhvr>
                                        <p:cTn id="32" dur="1000" fill="hold"/>
                                        <p:tgtEl>
                                          <p:spTgt spid="16">
                                            <p:txEl>
                                              <p:pRg st="0" end="0"/>
                                            </p:txEl>
                                          </p:spTgt>
                                        </p:tgtEl>
                                        <p:attrNameLst>
                                          <p:attrName>ppt_h</p:attrName>
                                        </p:attrNameLst>
                                      </p:cBhvr>
                                      <p:tavLst>
                                        <p:tav tm="0">
                                          <p:val>
                                            <p:strVal val="#ppt_h"/>
                                          </p:val>
                                        </p:tav>
                                        <p:tav tm="100000">
                                          <p:val>
                                            <p:strVal val="#ppt_h"/>
                                          </p:val>
                                        </p:tav>
                                      </p:tavLst>
                                    </p:anim>
                                    <p:animEffect transition="in" filter="fade">
                                      <p:cBhvr>
                                        <p:cTn id="33" dur="1000"/>
                                        <p:tgtEl>
                                          <p:spTgt spid="16">
                                            <p:txEl>
                                              <p:pRg st="0" end="0"/>
                                            </p:txEl>
                                          </p:spTgt>
                                        </p:tgtEl>
                                      </p:cBhvr>
                                    </p:animEffect>
                                  </p:childTnLst>
                                </p:cTn>
                              </p:par>
                            </p:childTnLst>
                          </p:cTn>
                        </p:par>
                        <p:par>
                          <p:cTn id="34" fill="hold">
                            <p:stCondLst>
                              <p:cond delay="9000"/>
                            </p:stCondLst>
                            <p:childTnLst>
                              <p:par>
                                <p:cTn id="35" presetID="50" presetClass="entr" presetSubtype="0" decel="100000" fill="hold" grpId="0" nodeType="afterEffect">
                                  <p:stCondLst>
                                    <p:cond delay="0"/>
                                  </p:stCondLst>
                                  <p:childTnLst>
                                    <p:set>
                                      <p:cBhvr>
                                        <p:cTn id="36" dur="1" fill="hold">
                                          <p:stCondLst>
                                            <p:cond delay="0"/>
                                          </p:stCondLst>
                                        </p:cTn>
                                        <p:tgtEl>
                                          <p:spTgt spid="16">
                                            <p:txEl>
                                              <p:pRg st="1" end="1"/>
                                            </p:txEl>
                                          </p:spTgt>
                                        </p:tgtEl>
                                        <p:attrNameLst>
                                          <p:attrName>style.visibility</p:attrName>
                                        </p:attrNameLst>
                                      </p:cBhvr>
                                      <p:to>
                                        <p:strVal val="visible"/>
                                      </p:to>
                                    </p:set>
                                    <p:anim calcmode="lin" valueType="num">
                                      <p:cBhvr>
                                        <p:cTn id="37" dur="1000" fill="hold"/>
                                        <p:tgtEl>
                                          <p:spTgt spid="16">
                                            <p:txEl>
                                              <p:pRg st="1" end="1"/>
                                            </p:txEl>
                                          </p:spTgt>
                                        </p:tgtEl>
                                        <p:attrNameLst>
                                          <p:attrName>ppt_w</p:attrName>
                                        </p:attrNameLst>
                                      </p:cBhvr>
                                      <p:tavLst>
                                        <p:tav tm="0">
                                          <p:val>
                                            <p:strVal val="#ppt_w+.3"/>
                                          </p:val>
                                        </p:tav>
                                        <p:tav tm="100000">
                                          <p:val>
                                            <p:strVal val="#ppt_w"/>
                                          </p:val>
                                        </p:tav>
                                      </p:tavLst>
                                    </p:anim>
                                    <p:anim calcmode="lin" valueType="num">
                                      <p:cBhvr>
                                        <p:cTn id="38" dur="1000" fill="hold"/>
                                        <p:tgtEl>
                                          <p:spTgt spid="16">
                                            <p:txEl>
                                              <p:pRg st="1" end="1"/>
                                            </p:txEl>
                                          </p:spTgt>
                                        </p:tgtEl>
                                        <p:attrNameLst>
                                          <p:attrName>ppt_h</p:attrName>
                                        </p:attrNameLst>
                                      </p:cBhvr>
                                      <p:tavLst>
                                        <p:tav tm="0">
                                          <p:val>
                                            <p:strVal val="#ppt_h"/>
                                          </p:val>
                                        </p:tav>
                                        <p:tav tm="100000">
                                          <p:val>
                                            <p:strVal val="#ppt_h"/>
                                          </p:val>
                                        </p:tav>
                                      </p:tavLst>
                                    </p:anim>
                                    <p:animEffect transition="in" filter="fade">
                                      <p:cBhvr>
                                        <p:cTn id="39" dur="1000"/>
                                        <p:tgtEl>
                                          <p:spTgt spid="16">
                                            <p:txEl>
                                              <p:pRg st="1" end="1"/>
                                            </p:txEl>
                                          </p:spTgt>
                                        </p:tgtEl>
                                      </p:cBhvr>
                                    </p:animEffect>
                                  </p:childTnLst>
                                </p:cTn>
                              </p:par>
                            </p:childTnLst>
                          </p:cTn>
                        </p:par>
                        <p:par>
                          <p:cTn id="40" fill="hold">
                            <p:stCondLst>
                              <p:cond delay="10000"/>
                            </p:stCondLst>
                            <p:childTnLst>
                              <p:par>
                                <p:cTn id="41" presetID="50" presetClass="entr" presetSubtype="0" decel="100000" fill="hold" grpId="0" nodeType="afterEffect">
                                  <p:stCondLst>
                                    <p:cond delay="0"/>
                                  </p:stCondLst>
                                  <p:childTnLst>
                                    <p:set>
                                      <p:cBhvr>
                                        <p:cTn id="42" dur="1" fill="hold">
                                          <p:stCondLst>
                                            <p:cond delay="0"/>
                                          </p:stCondLst>
                                        </p:cTn>
                                        <p:tgtEl>
                                          <p:spTgt spid="18">
                                            <p:txEl>
                                              <p:pRg st="0" end="0"/>
                                            </p:txEl>
                                          </p:spTgt>
                                        </p:tgtEl>
                                        <p:attrNameLst>
                                          <p:attrName>style.visibility</p:attrName>
                                        </p:attrNameLst>
                                      </p:cBhvr>
                                      <p:to>
                                        <p:strVal val="visible"/>
                                      </p:to>
                                    </p:set>
                                    <p:anim calcmode="lin" valueType="num">
                                      <p:cBhvr>
                                        <p:cTn id="43" dur="1000" fill="hold"/>
                                        <p:tgtEl>
                                          <p:spTgt spid="18">
                                            <p:txEl>
                                              <p:pRg st="0" end="0"/>
                                            </p:txEl>
                                          </p:spTgt>
                                        </p:tgtEl>
                                        <p:attrNameLst>
                                          <p:attrName>ppt_w</p:attrName>
                                        </p:attrNameLst>
                                      </p:cBhvr>
                                      <p:tavLst>
                                        <p:tav tm="0">
                                          <p:val>
                                            <p:strVal val="#ppt_w+.3"/>
                                          </p:val>
                                        </p:tav>
                                        <p:tav tm="100000">
                                          <p:val>
                                            <p:strVal val="#ppt_w"/>
                                          </p:val>
                                        </p:tav>
                                      </p:tavLst>
                                    </p:anim>
                                    <p:anim calcmode="lin" valueType="num">
                                      <p:cBhvr>
                                        <p:cTn id="44" dur="1000" fill="hold"/>
                                        <p:tgtEl>
                                          <p:spTgt spid="18">
                                            <p:txEl>
                                              <p:pRg st="0" end="0"/>
                                            </p:txEl>
                                          </p:spTgt>
                                        </p:tgtEl>
                                        <p:attrNameLst>
                                          <p:attrName>ppt_h</p:attrName>
                                        </p:attrNameLst>
                                      </p:cBhvr>
                                      <p:tavLst>
                                        <p:tav tm="0">
                                          <p:val>
                                            <p:strVal val="#ppt_h"/>
                                          </p:val>
                                        </p:tav>
                                        <p:tav tm="100000">
                                          <p:val>
                                            <p:strVal val="#ppt_h"/>
                                          </p:val>
                                        </p:tav>
                                      </p:tavLst>
                                    </p:anim>
                                    <p:animEffect transition="in" filter="fade">
                                      <p:cBhvr>
                                        <p:cTn id="45" dur="1000"/>
                                        <p:tgtEl>
                                          <p:spTgt spid="18">
                                            <p:txEl>
                                              <p:pRg st="0" end="0"/>
                                            </p:txEl>
                                          </p:spTgt>
                                        </p:tgtEl>
                                      </p:cBhvr>
                                    </p:animEffect>
                                  </p:childTnLst>
                                </p:cTn>
                              </p:par>
                            </p:childTnLst>
                          </p:cTn>
                        </p:par>
                        <p:par>
                          <p:cTn id="46" fill="hold">
                            <p:stCondLst>
                              <p:cond delay="11000"/>
                            </p:stCondLst>
                            <p:childTnLst>
                              <p:par>
                                <p:cTn id="47" presetID="50" presetClass="entr" presetSubtype="0" decel="100000" fill="hold" grpId="0" nodeType="afterEffect">
                                  <p:stCondLst>
                                    <p:cond delay="0"/>
                                  </p:stCondLst>
                                  <p:childTnLst>
                                    <p:set>
                                      <p:cBhvr>
                                        <p:cTn id="48" dur="1" fill="hold">
                                          <p:stCondLst>
                                            <p:cond delay="0"/>
                                          </p:stCondLst>
                                        </p:cTn>
                                        <p:tgtEl>
                                          <p:spTgt spid="18">
                                            <p:txEl>
                                              <p:pRg st="1" end="1"/>
                                            </p:txEl>
                                          </p:spTgt>
                                        </p:tgtEl>
                                        <p:attrNameLst>
                                          <p:attrName>style.visibility</p:attrName>
                                        </p:attrNameLst>
                                      </p:cBhvr>
                                      <p:to>
                                        <p:strVal val="visible"/>
                                      </p:to>
                                    </p:set>
                                    <p:anim calcmode="lin" valueType="num">
                                      <p:cBhvr>
                                        <p:cTn id="49" dur="1000" fill="hold"/>
                                        <p:tgtEl>
                                          <p:spTgt spid="18">
                                            <p:txEl>
                                              <p:pRg st="1" end="1"/>
                                            </p:txEl>
                                          </p:spTgt>
                                        </p:tgtEl>
                                        <p:attrNameLst>
                                          <p:attrName>ppt_w</p:attrName>
                                        </p:attrNameLst>
                                      </p:cBhvr>
                                      <p:tavLst>
                                        <p:tav tm="0">
                                          <p:val>
                                            <p:strVal val="#ppt_w+.3"/>
                                          </p:val>
                                        </p:tav>
                                        <p:tav tm="100000">
                                          <p:val>
                                            <p:strVal val="#ppt_w"/>
                                          </p:val>
                                        </p:tav>
                                      </p:tavLst>
                                    </p:anim>
                                    <p:anim calcmode="lin" valueType="num">
                                      <p:cBhvr>
                                        <p:cTn id="50" dur="1000" fill="hold"/>
                                        <p:tgtEl>
                                          <p:spTgt spid="18">
                                            <p:txEl>
                                              <p:pRg st="1" end="1"/>
                                            </p:txEl>
                                          </p:spTgt>
                                        </p:tgtEl>
                                        <p:attrNameLst>
                                          <p:attrName>ppt_h</p:attrName>
                                        </p:attrNameLst>
                                      </p:cBhvr>
                                      <p:tavLst>
                                        <p:tav tm="0">
                                          <p:val>
                                            <p:strVal val="#ppt_h"/>
                                          </p:val>
                                        </p:tav>
                                        <p:tav tm="100000">
                                          <p:val>
                                            <p:strVal val="#ppt_h"/>
                                          </p:val>
                                        </p:tav>
                                      </p:tavLst>
                                    </p:anim>
                                    <p:animEffect transition="in" filter="fade">
                                      <p:cBhvr>
                                        <p:cTn id="51" dur="1000"/>
                                        <p:tgtEl>
                                          <p:spTgt spid="18">
                                            <p:txEl>
                                              <p:pRg st="1" end="1"/>
                                            </p:txEl>
                                          </p:spTgt>
                                        </p:tgtEl>
                                      </p:cBhvr>
                                    </p:animEffect>
                                  </p:childTnLst>
                                </p:cTn>
                              </p:par>
                            </p:childTnLst>
                          </p:cTn>
                        </p:par>
                        <p:par>
                          <p:cTn id="52" fill="hold">
                            <p:stCondLst>
                              <p:cond delay="12000"/>
                            </p:stCondLst>
                            <p:childTnLst>
                              <p:par>
                                <p:cTn id="53" presetID="50" presetClass="entr" presetSubtype="0" decel="100000" fill="hold" grpId="0" nodeType="afterEffect">
                                  <p:stCondLst>
                                    <p:cond delay="0"/>
                                  </p:stCondLst>
                                  <p:childTnLst>
                                    <p:set>
                                      <p:cBhvr>
                                        <p:cTn id="54" dur="1" fill="hold">
                                          <p:stCondLst>
                                            <p:cond delay="0"/>
                                          </p:stCondLst>
                                        </p:cTn>
                                        <p:tgtEl>
                                          <p:spTgt spid="18">
                                            <p:txEl>
                                              <p:pRg st="2" end="2"/>
                                            </p:txEl>
                                          </p:spTgt>
                                        </p:tgtEl>
                                        <p:attrNameLst>
                                          <p:attrName>style.visibility</p:attrName>
                                        </p:attrNameLst>
                                      </p:cBhvr>
                                      <p:to>
                                        <p:strVal val="visible"/>
                                      </p:to>
                                    </p:set>
                                    <p:anim calcmode="lin" valueType="num">
                                      <p:cBhvr>
                                        <p:cTn id="55" dur="1000" fill="hold"/>
                                        <p:tgtEl>
                                          <p:spTgt spid="18">
                                            <p:txEl>
                                              <p:pRg st="2" end="2"/>
                                            </p:txEl>
                                          </p:spTgt>
                                        </p:tgtEl>
                                        <p:attrNameLst>
                                          <p:attrName>ppt_w</p:attrName>
                                        </p:attrNameLst>
                                      </p:cBhvr>
                                      <p:tavLst>
                                        <p:tav tm="0">
                                          <p:val>
                                            <p:strVal val="#ppt_w+.3"/>
                                          </p:val>
                                        </p:tav>
                                        <p:tav tm="100000">
                                          <p:val>
                                            <p:strVal val="#ppt_w"/>
                                          </p:val>
                                        </p:tav>
                                      </p:tavLst>
                                    </p:anim>
                                    <p:anim calcmode="lin" valueType="num">
                                      <p:cBhvr>
                                        <p:cTn id="56" dur="1000" fill="hold"/>
                                        <p:tgtEl>
                                          <p:spTgt spid="18">
                                            <p:txEl>
                                              <p:pRg st="2" end="2"/>
                                            </p:txEl>
                                          </p:spTgt>
                                        </p:tgtEl>
                                        <p:attrNameLst>
                                          <p:attrName>ppt_h</p:attrName>
                                        </p:attrNameLst>
                                      </p:cBhvr>
                                      <p:tavLst>
                                        <p:tav tm="0">
                                          <p:val>
                                            <p:strVal val="#ppt_h"/>
                                          </p:val>
                                        </p:tav>
                                        <p:tav tm="100000">
                                          <p:val>
                                            <p:strVal val="#ppt_h"/>
                                          </p:val>
                                        </p:tav>
                                      </p:tavLst>
                                    </p:anim>
                                    <p:animEffect transition="in" filter="fade">
                                      <p:cBhvr>
                                        <p:cTn id="57" dur="1000"/>
                                        <p:tgtEl>
                                          <p:spTgt spid="1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p"/>
      <p:bldP spid="17" grpId="0" build="p"/>
      <p:bldP spid="18"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914400"/>
            <a:ext cx="2819400" cy="4164106"/>
          </a:xfrm>
        </p:spPr>
        <p:txBody>
          <a:bodyPr/>
          <a:lstStyle/>
          <a:p>
            <a:pPr algn="ctr"/>
            <a:r>
              <a:rPr lang="en-US" dirty="0">
                <a:effectLst>
                  <a:outerShdw blurRad="38100" dist="38100" dir="2700000" algn="tl">
                    <a:srgbClr val="000000">
                      <a:alpha val="43137"/>
                    </a:srgbClr>
                  </a:outerShdw>
                </a:effectLst>
              </a:rPr>
              <a:t>Wafer, </a:t>
            </a:r>
            <a:br>
              <a:rPr lang="en-US" dirty="0">
                <a:effectLst>
                  <a:outerShdw blurRad="38100" dist="38100" dir="2700000" algn="tl">
                    <a:srgbClr val="000000">
                      <a:alpha val="43137"/>
                    </a:srgbClr>
                  </a:outerShdw>
                </a:effectLst>
              </a:rPr>
            </a:br>
            <a:r>
              <a:rPr lang="en-US" dirty="0">
                <a:effectLst>
                  <a:outerShdw blurRad="38100" dist="38100" dir="2700000" algn="tl">
                    <a:srgbClr val="000000">
                      <a:alpha val="43137"/>
                    </a:srgbClr>
                  </a:outerShdw>
                </a:effectLst>
              </a:rPr>
              <a:t>Chip,</a:t>
            </a:r>
            <a:br>
              <a:rPr lang="en-US" dirty="0">
                <a:effectLst>
                  <a:outerShdw blurRad="38100" dist="38100" dir="2700000" algn="tl">
                    <a:srgbClr val="000000">
                      <a:alpha val="43137"/>
                    </a:srgbClr>
                  </a:outerShdw>
                </a:effectLst>
              </a:rPr>
            </a:br>
            <a:r>
              <a:rPr lang="en-US" dirty="0">
                <a:effectLst>
                  <a:outerShdw blurRad="38100" dist="38100" dir="2700000" algn="tl">
                    <a:srgbClr val="000000">
                      <a:alpha val="43137"/>
                    </a:srgbClr>
                  </a:outerShdw>
                </a:effectLst>
              </a:rPr>
              <a:t>and </a:t>
            </a:r>
            <a:br>
              <a:rPr lang="en-US" dirty="0">
                <a:effectLst>
                  <a:outerShdw blurRad="38100" dist="38100" dir="2700000" algn="tl">
                    <a:srgbClr val="000000">
                      <a:alpha val="43137"/>
                    </a:srgbClr>
                  </a:outerShdw>
                </a:effectLst>
              </a:rPr>
            </a:br>
            <a:r>
              <a:rPr lang="en-US" dirty="0">
                <a:effectLst>
                  <a:outerShdw blurRad="38100" dist="38100" dir="2700000" algn="tl">
                    <a:srgbClr val="000000">
                      <a:alpha val="43137"/>
                    </a:srgbClr>
                  </a:outerShdw>
                </a:effectLst>
              </a:rPr>
              <a:t>Gate</a:t>
            </a:r>
            <a:br>
              <a:rPr lang="en-US" dirty="0">
                <a:effectLst>
                  <a:outerShdw blurRad="38100" dist="38100" dir="2700000" algn="tl">
                    <a:srgbClr val="000000">
                      <a:alpha val="43137"/>
                    </a:srgbClr>
                  </a:outerShdw>
                </a:effectLst>
              </a:rPr>
            </a:br>
            <a:r>
              <a:rPr lang="en-US" dirty="0">
                <a:effectLst>
                  <a:outerShdw blurRad="38100" dist="38100" dir="2700000" algn="tl">
                    <a:srgbClr val="000000">
                      <a:alpha val="43137"/>
                    </a:srgbClr>
                  </a:outerShdw>
                </a:effectLst>
              </a:rPr>
              <a:t>Relationship</a:t>
            </a:r>
          </a:p>
        </p:txBody>
      </p:sp>
      <p:pic>
        <p:nvPicPr>
          <p:cNvPr id="4" name="Picture 3" descr="f7.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8235" t="28182" r="10588" b="12727"/>
              <a:stretch>
                <a:fillRect/>
              </a:stretch>
            </p:blipFill>
          </mc:Choice>
          <mc:Fallback>
            <p:blipFill>
              <a:blip r:embed="rId4"/>
              <a:srcRect l="8235" t="28182" r="10588" b="12727"/>
              <a:stretch>
                <a:fillRect/>
              </a:stretch>
            </p:blipFill>
          </mc:Fallback>
        </mc:AlternateContent>
        <p:spPr>
          <a:xfrm>
            <a:off x="1600200" y="304800"/>
            <a:ext cx="7279923" cy="6857999"/>
          </a:xfrm>
          <a:prstGeom prst="rect">
            <a:avLst/>
          </a:prstGeom>
        </p:spPr>
      </p:pic>
      <p:pic>
        <p:nvPicPr>
          <p:cNvPr id="5" name="Picture 4"/>
          <p:cNvPicPr>
            <a:picLocks noChangeAspect="1" noChangeArrowheads="1"/>
          </p:cNvPicPr>
          <p:nvPr/>
        </p:nvPicPr>
        <p:blipFill>
          <a:blip r:embed="rId5"/>
          <a:srcRect/>
          <a:stretch>
            <a:fillRect/>
          </a:stretch>
        </p:blipFill>
        <p:spPr bwMode="auto">
          <a:xfrm>
            <a:off x="7326592" y="2071678"/>
            <a:ext cx="1817408" cy="1323996"/>
          </a:xfrm>
          <a:prstGeom prst="rect">
            <a:avLst/>
          </a:prstGeom>
          <a:noFill/>
          <a:ln w="9525">
            <a:noFill/>
            <a:miter lim="800000"/>
            <a:headEnd/>
            <a:tailEnd/>
          </a:ln>
          <a:effectLst/>
        </p:spPr>
      </p:pic>
      <p:sp>
        <p:nvSpPr>
          <p:cNvPr id="6" name="TextBox 5"/>
          <p:cNvSpPr txBox="1"/>
          <p:nvPr/>
        </p:nvSpPr>
        <p:spPr>
          <a:xfrm>
            <a:off x="5500694" y="1282471"/>
            <a:ext cx="2214578" cy="646331"/>
          </a:xfrm>
          <a:prstGeom prst="rect">
            <a:avLst/>
          </a:prstGeom>
          <a:noFill/>
        </p:spPr>
        <p:txBody>
          <a:bodyPr wrap="square" rtlCol="0">
            <a:spAutoFit/>
          </a:bodyPr>
          <a:lstStyle/>
          <a:p>
            <a:r>
              <a:rPr lang="en-US" sz="1800"/>
              <a:t>Wafer: a thin piece of silicon (&lt; 1 mm)</a:t>
            </a:r>
          </a:p>
        </p:txBody>
      </p:sp>
      <p:sp>
        <p:nvSpPr>
          <p:cNvPr id="7" name="Slide Number Placeholder 6"/>
          <p:cNvSpPr>
            <a:spLocks noGrp="1"/>
          </p:cNvSpPr>
          <p:nvPr>
            <p:ph type="sldNum" sz="quarter" idx="12"/>
          </p:nvPr>
        </p:nvSpPr>
        <p:spPr/>
        <p:txBody>
          <a:bodyPr/>
          <a:lstStyle/>
          <a:p>
            <a:fld id="{8AF02B71-8991-4516-A01E-F1A9ACD28BDC}" type="slidenum">
              <a:rPr lang="en-US" smtClean="0"/>
              <a:pPr/>
              <a:t>30</a:t>
            </a:fld>
            <a:endParaRPr lang="en-US"/>
          </a:p>
        </p:txBody>
      </p:sp>
      <p:sp>
        <p:nvSpPr>
          <p:cNvPr id="8" name="Rectangle 7"/>
          <p:cNvSpPr/>
          <p:nvPr/>
        </p:nvSpPr>
        <p:spPr>
          <a:xfrm>
            <a:off x="857224" y="142852"/>
            <a:ext cx="7000924" cy="461665"/>
          </a:xfrm>
          <a:prstGeom prst="rect">
            <a:avLst/>
          </a:prstGeom>
        </p:spPr>
        <p:txBody>
          <a:bodyPr wrap="square">
            <a:spAutoFit/>
          </a:bodyPr>
          <a:lstStyle/>
          <a:p>
            <a:r>
              <a:rPr lang="en-US" dirty="0"/>
              <a:t>More details: https://en.wikipedia.org/wiki/Silicon</a:t>
            </a:r>
          </a:p>
        </p:txBody>
      </p:sp>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2929" name="Picture 1"/>
          <p:cNvPicPr>
            <a:picLocks noChangeAspect="1" noChangeArrowheads="1"/>
          </p:cNvPicPr>
          <p:nvPr/>
        </p:nvPicPr>
        <p:blipFill>
          <a:blip r:embed="rId3"/>
          <a:srcRect/>
          <a:stretch>
            <a:fillRect/>
          </a:stretch>
        </p:blipFill>
        <p:spPr bwMode="auto">
          <a:xfrm>
            <a:off x="-32" y="1928802"/>
            <a:ext cx="9068362" cy="4193616"/>
          </a:xfrm>
          <a:prstGeom prst="rect">
            <a:avLst/>
          </a:prstGeom>
          <a:noFill/>
          <a:ln w="9525">
            <a:noFill/>
            <a:miter lim="800000"/>
            <a:headEnd/>
            <a:tailEnd/>
          </a:ln>
          <a:effectLst/>
        </p:spPr>
      </p:pic>
      <p:sp>
        <p:nvSpPr>
          <p:cNvPr id="2" name="Title 1"/>
          <p:cNvSpPr>
            <a:spLocks noGrp="1"/>
          </p:cNvSpPr>
          <p:nvPr>
            <p:ph type="title"/>
          </p:nvPr>
        </p:nvSpPr>
        <p:spPr>
          <a:xfrm>
            <a:off x="785786" y="195258"/>
            <a:ext cx="6597487" cy="519098"/>
          </a:xfrm>
        </p:spPr>
        <p:txBody>
          <a:bodyPr/>
          <a:lstStyle/>
          <a:p>
            <a:r>
              <a:rPr lang="en-US" dirty="0"/>
              <a:t>Chip Growth</a:t>
            </a:r>
          </a:p>
        </p:txBody>
      </p:sp>
      <p:sp>
        <p:nvSpPr>
          <p:cNvPr id="5" name="Rectangle 4"/>
          <p:cNvSpPr/>
          <p:nvPr/>
        </p:nvSpPr>
        <p:spPr>
          <a:xfrm>
            <a:off x="6858016" y="6143668"/>
            <a:ext cx="1285884" cy="5714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rPr lang="en-US" sz="1600" dirty="0"/>
              <a:t>m: million</a:t>
            </a:r>
          </a:p>
          <a:p>
            <a:r>
              <a:rPr lang="en-US" sz="1600" dirty="0"/>
              <a:t>b</a:t>
            </a:r>
            <a:r>
              <a:rPr lang="en-US" sz="1600"/>
              <a:t>n</a:t>
            </a:r>
            <a:r>
              <a:rPr lang="en-US" sz="1600" dirty="0"/>
              <a:t>: billion</a:t>
            </a:r>
          </a:p>
        </p:txBody>
      </p:sp>
      <p:sp>
        <p:nvSpPr>
          <p:cNvPr id="6" name="Rectangle 5"/>
          <p:cNvSpPr/>
          <p:nvPr/>
        </p:nvSpPr>
        <p:spPr>
          <a:xfrm>
            <a:off x="3643306" y="6143644"/>
            <a:ext cx="1000132" cy="35719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t>Year</a:t>
            </a:r>
          </a:p>
        </p:txBody>
      </p:sp>
      <p:sp>
        <p:nvSpPr>
          <p:cNvPr id="7" name="Rectangle 6"/>
          <p:cNvSpPr/>
          <p:nvPr/>
        </p:nvSpPr>
        <p:spPr>
          <a:xfrm>
            <a:off x="7929554" y="2214554"/>
            <a:ext cx="1214446" cy="7143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t>Number of transistors</a:t>
            </a:r>
          </a:p>
        </p:txBody>
      </p:sp>
      <p:sp>
        <p:nvSpPr>
          <p:cNvPr id="8" name="Rectangle 7"/>
          <p:cNvSpPr/>
          <p:nvPr/>
        </p:nvSpPr>
        <p:spPr>
          <a:xfrm>
            <a:off x="71406" y="1357298"/>
            <a:ext cx="7786742" cy="461665"/>
          </a:xfrm>
          <a:prstGeom prst="rect">
            <a:avLst/>
          </a:prstGeom>
        </p:spPr>
        <p:txBody>
          <a:bodyPr wrap="square">
            <a:spAutoFit/>
          </a:bodyPr>
          <a:lstStyle/>
          <a:p>
            <a:r>
              <a:rPr lang="en-US" dirty="0"/>
              <a:t>Figure 2.8 Growth in Transistor Count on Integrated Circuits</a:t>
            </a:r>
          </a:p>
        </p:txBody>
      </p:sp>
      <p:pic>
        <p:nvPicPr>
          <p:cNvPr id="9" name="Picture 8"/>
          <p:cNvPicPr>
            <a:picLocks noChangeAspect="1" noChangeArrowheads="1"/>
          </p:cNvPicPr>
          <p:nvPr/>
        </p:nvPicPr>
        <p:blipFill>
          <a:blip r:embed="rId4"/>
          <a:srcRect/>
          <a:stretch>
            <a:fillRect/>
          </a:stretch>
        </p:blipFill>
        <p:spPr bwMode="auto">
          <a:xfrm>
            <a:off x="4214810" y="2285992"/>
            <a:ext cx="1817408" cy="1323996"/>
          </a:xfrm>
          <a:prstGeom prst="rect">
            <a:avLst/>
          </a:prstGeom>
          <a:noFill/>
          <a:ln w="9525">
            <a:noFill/>
            <a:miter lim="800000"/>
            <a:headEnd/>
            <a:tailEnd/>
          </a:ln>
          <a:effectLst/>
        </p:spPr>
      </p:pic>
      <p:sp>
        <p:nvSpPr>
          <p:cNvPr id="10" name="Slide Number Placeholder 9"/>
          <p:cNvSpPr>
            <a:spLocks noGrp="1"/>
          </p:cNvSpPr>
          <p:nvPr>
            <p:ph type="sldNum" sz="quarter" idx="12"/>
          </p:nvPr>
        </p:nvSpPr>
        <p:spPr/>
        <p:txBody>
          <a:bodyPr/>
          <a:lstStyle/>
          <a:p>
            <a:fld id="{8AF02B71-8991-4516-A01E-F1A9ACD28BDC}" type="slidenum">
              <a:rPr lang="en-US" smtClean="0"/>
              <a:pPr/>
              <a:t>31</a:t>
            </a:fld>
            <a:endParaRPr lang="en-US"/>
          </a:p>
        </p:txBody>
      </p:sp>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0" name="Rectangle 4"/>
          <p:cNvSpPr>
            <a:spLocks noGrp="1" noChangeArrowheads="1"/>
          </p:cNvSpPr>
          <p:nvPr>
            <p:ph type="title" idx="4294967295"/>
          </p:nvPr>
        </p:nvSpPr>
        <p:spPr>
          <a:xfrm>
            <a:off x="228600" y="0"/>
            <a:ext cx="3048000" cy="990600"/>
          </a:xfrm>
        </p:spPr>
        <p:txBody>
          <a:bodyPr/>
          <a:lstStyle/>
          <a:p>
            <a:r>
              <a:rPr lang="en-US" dirty="0">
                <a:solidFill>
                  <a:schemeClr val="accent3"/>
                </a:solidFill>
                <a:effectLst>
                  <a:outerShdw blurRad="38100" dist="38100" dir="2700000" algn="tl">
                    <a:srgbClr val="000000">
                      <a:alpha val="43137"/>
                    </a:srgbClr>
                  </a:outerShdw>
                </a:effectLst>
              </a:rPr>
              <a:t>Moore’s Law</a:t>
            </a:r>
          </a:p>
        </p:txBody>
      </p:sp>
      <p:graphicFrame>
        <p:nvGraphicFramePr>
          <p:cNvPr id="43" name="Content Placeholder 42"/>
          <p:cNvGraphicFramePr>
            <a:graphicFrameLocks noGrp="1"/>
          </p:cNvGraphicFramePr>
          <p:nvPr>
            <p:ph idx="4294967295"/>
          </p:nvPr>
        </p:nvGraphicFramePr>
        <p:xfrm>
          <a:off x="571528" y="1000108"/>
          <a:ext cx="8001000" cy="5791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3"/>
          <p:cNvPicPr>
            <a:picLocks noChangeAspect="1" noChangeArrowheads="1"/>
          </p:cNvPicPr>
          <p:nvPr/>
        </p:nvPicPr>
        <p:blipFill>
          <a:blip r:embed="rId8"/>
          <a:srcRect/>
          <a:stretch>
            <a:fillRect/>
          </a:stretch>
        </p:blipFill>
        <p:spPr bwMode="auto">
          <a:xfrm>
            <a:off x="5000628" y="1000108"/>
            <a:ext cx="1817408" cy="1323996"/>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8AF02B71-8991-4516-A01E-F1A9ACD28BDC}" type="slidenum">
              <a:rPr lang="en-US" smtClean="0"/>
              <a:pPr/>
              <a:t>32</a:t>
            </a:fld>
            <a:endParaRPr lang="en-US"/>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effectLst>
                  <a:outerShdw blurRad="38100" dist="38100" dir="2700000" algn="tl">
                    <a:srgbClr val="000000">
                      <a:alpha val="43137"/>
                    </a:srgbClr>
                  </a:outerShdw>
                </a:effectLst>
              </a:rPr>
              <a:t>Table 2.4: Characteristics of the </a:t>
            </a:r>
            <a:br>
              <a:rPr lang="en-US" dirty="0">
                <a:effectLst>
                  <a:outerShdw blurRad="38100" dist="38100" dir="2700000" algn="tl">
                    <a:srgbClr val="000000">
                      <a:alpha val="43137"/>
                    </a:srgbClr>
                  </a:outerShdw>
                </a:effectLst>
              </a:rPr>
            </a:br>
            <a:r>
              <a:rPr lang="en-US" dirty="0">
                <a:effectLst>
                  <a:outerShdw blurRad="38100" dist="38100" dir="2700000" algn="tl">
                    <a:srgbClr val="000000">
                      <a:alpha val="43137"/>
                    </a:srgbClr>
                  </a:outerShdw>
                </a:effectLst>
              </a:rPr>
              <a:t>System/360 Family</a:t>
            </a:r>
          </a:p>
        </p:txBody>
      </p:sp>
      <p:sp>
        <p:nvSpPr>
          <p:cNvPr id="4" name="TextBox 3"/>
          <p:cNvSpPr txBox="1"/>
          <p:nvPr/>
        </p:nvSpPr>
        <p:spPr>
          <a:xfrm>
            <a:off x="0" y="6019800"/>
            <a:ext cx="9144000" cy="1079733"/>
          </a:xfrm>
          <a:prstGeom prst="rect">
            <a:avLst/>
          </a:prstGeom>
          <a:blipFill rotWithShape="1">
            <a:blip r:embed="rId4"/>
            <a:tile tx="0" ty="0" sx="100000" sy="100000" flip="none" algn="tl"/>
          </a:blipFill>
        </p:spPr>
        <p:txBody>
          <a:bodyPr wrap="square" rtlCol="0">
            <a:spAutoFit/>
          </a:bodyPr>
          <a:lstStyle/>
          <a:p>
            <a:endParaRPr lang="en-US" dirty="0"/>
          </a:p>
        </p:txBody>
      </p:sp>
      <p:graphicFrame>
        <p:nvGraphicFramePr>
          <p:cNvPr id="199683" name="Object 3"/>
          <p:cNvGraphicFramePr>
            <a:graphicFrameLocks noChangeAspect="1"/>
          </p:cNvGraphicFramePr>
          <p:nvPr>
            <p:extLst>
              <p:ext uri="{D42A27DB-BD31-4B8C-83A1-F6EECF244321}">
                <p14:modId xmlns:p14="http://schemas.microsoft.com/office/powerpoint/2010/main" val="1081475864"/>
              </p:ext>
            </p:extLst>
          </p:nvPr>
        </p:nvGraphicFramePr>
        <p:xfrm>
          <a:off x="23530" y="3075405"/>
          <a:ext cx="9120470" cy="3782595"/>
        </p:xfrm>
        <a:graphic>
          <a:graphicData uri="http://schemas.openxmlformats.org/presentationml/2006/ole">
            <mc:AlternateContent xmlns:mc="http://schemas.openxmlformats.org/markup-compatibility/2006">
              <mc:Choice xmlns:v="urn:schemas-microsoft-com:vml" Requires="v">
                <p:oleObj spid="_x0000_s3100" name="Document" r:id="rId5" imgW="0" imgH="0" progId="Word.Document.12">
                  <p:link updateAutomatic="1"/>
                </p:oleObj>
              </mc:Choice>
              <mc:Fallback>
                <p:oleObj name="Document" r:id="rId5" imgW="0" imgH="0" progId="Word.Document.12">
                  <p:link updateAutomatic="1"/>
                  <p:pic>
                    <p:nvPicPr>
                      <p:cNvPr id="199683" name="Object 3"/>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23530" y="3075405"/>
                        <a:ext cx="9120470" cy="3782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TextBox 5"/>
          <p:cNvSpPr txBox="1"/>
          <p:nvPr/>
        </p:nvSpPr>
        <p:spPr>
          <a:xfrm>
            <a:off x="0" y="6324600"/>
            <a:ext cx="9144000" cy="584776"/>
          </a:xfrm>
          <a:prstGeom prst="rect">
            <a:avLst/>
          </a:prstGeom>
          <a:blipFill rotWithShape="1">
            <a:blip r:embed="rId4"/>
            <a:tile tx="0" ty="0" sx="100000" sy="100000" flip="none" algn="tl"/>
          </a:blipFill>
        </p:spPr>
        <p:txBody>
          <a:bodyPr wrap="square" rtlCol="0">
            <a:spAutoFit/>
          </a:bodyPr>
          <a:lstStyle/>
          <a:p>
            <a:pPr algn="ctr"/>
            <a:r>
              <a:rPr lang="en-US" sz="1600" dirty="0">
                <a:latin typeface="+mn-lt"/>
              </a:rPr>
              <a:t>Table 2.4 Characteristics of the System/360 Family</a:t>
            </a:r>
          </a:p>
          <a:p>
            <a:pPr algn="ctr"/>
            <a:endParaRPr lang="en-US" sz="1600" dirty="0">
              <a:latin typeface="+mn-lt"/>
            </a:endParaRPr>
          </a:p>
        </p:txBody>
      </p:sp>
      <p:pic>
        <p:nvPicPr>
          <p:cNvPr id="199684" name="Picture 4"/>
          <p:cNvPicPr>
            <a:picLocks noChangeAspect="1" noChangeArrowheads="1"/>
          </p:cNvPicPr>
          <p:nvPr/>
        </p:nvPicPr>
        <p:blipFill>
          <a:blip r:embed="rId6"/>
          <a:srcRect/>
          <a:stretch>
            <a:fillRect/>
          </a:stretch>
        </p:blipFill>
        <p:spPr bwMode="auto">
          <a:xfrm>
            <a:off x="-20307" y="3214686"/>
            <a:ext cx="9184616" cy="3000396"/>
          </a:xfrm>
          <a:prstGeom prst="rect">
            <a:avLst/>
          </a:prstGeom>
          <a:noFill/>
          <a:ln w="9525">
            <a:noFill/>
            <a:miter lim="800000"/>
            <a:headEnd/>
            <a:tailEnd/>
          </a:ln>
          <a:effectLst/>
        </p:spPr>
      </p:pic>
      <p:pic>
        <p:nvPicPr>
          <p:cNvPr id="7" name="Picture 6"/>
          <p:cNvPicPr>
            <a:picLocks noChangeAspect="1" noChangeArrowheads="1"/>
          </p:cNvPicPr>
          <p:nvPr/>
        </p:nvPicPr>
        <p:blipFill>
          <a:blip r:embed="rId7"/>
          <a:srcRect/>
          <a:stretch>
            <a:fillRect/>
          </a:stretch>
        </p:blipFill>
        <p:spPr bwMode="auto">
          <a:xfrm>
            <a:off x="7215206" y="1643050"/>
            <a:ext cx="1817408" cy="1323996"/>
          </a:xfrm>
          <a:prstGeom prst="rect">
            <a:avLst/>
          </a:prstGeom>
          <a:noFill/>
          <a:ln w="9525">
            <a:noFill/>
            <a:miter lim="800000"/>
            <a:headEnd/>
            <a:tailEnd/>
          </a:ln>
          <a:effectLst/>
        </p:spPr>
      </p:pic>
      <p:sp>
        <p:nvSpPr>
          <p:cNvPr id="8" name="Slide Number Placeholder 7"/>
          <p:cNvSpPr>
            <a:spLocks noGrp="1"/>
          </p:cNvSpPr>
          <p:nvPr>
            <p:ph type="sldNum" sz="quarter" idx="12"/>
          </p:nvPr>
        </p:nvSpPr>
        <p:spPr/>
        <p:txBody>
          <a:bodyPr/>
          <a:lstStyle/>
          <a:p>
            <a:fld id="{8AF02B71-8991-4516-A01E-F1A9ACD28BDC}" type="slidenum">
              <a:rPr lang="en-US" smtClean="0"/>
              <a:pPr/>
              <a:t>33</a:t>
            </a:fld>
            <a:endParaRPr lang="en-US"/>
          </a:p>
        </p:txBody>
      </p:sp>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p:cNvSpPr>
            <a:spLocks noGrp="1"/>
          </p:cNvSpPr>
          <p:nvPr>
            <p:ph type="title" idx="4294967295"/>
          </p:nvPr>
        </p:nvSpPr>
        <p:spPr>
          <a:xfrm>
            <a:off x="0" y="457200"/>
            <a:ext cx="7937500" cy="828660"/>
          </a:xfrm>
        </p:spPr>
        <p:txBody>
          <a:bodyPr/>
          <a:lstStyle/>
          <a:p>
            <a:pPr algn="ctr"/>
            <a:r>
              <a:rPr lang="en-US" dirty="0">
                <a:effectLst>
                  <a:outerShdw blurRad="38100" dist="38100" dir="2700000" algn="tl">
                    <a:srgbClr val="000000">
                      <a:alpha val="43137"/>
                    </a:srgbClr>
                  </a:outerShdw>
                </a:effectLst>
              </a:rPr>
              <a:t>	Table 2.5: Evolution of the PDP-8</a:t>
            </a:r>
            <a:br>
              <a:rPr lang="en-US" dirty="0">
                <a:effectLst>
                  <a:outerShdw blurRad="38100" dist="38100" dir="2700000" algn="tl">
                    <a:srgbClr val="000000">
                      <a:alpha val="43137"/>
                    </a:srgbClr>
                  </a:outerShdw>
                </a:effectLst>
              </a:rPr>
            </a:br>
            <a:r>
              <a:rPr lang="en-US" sz="2800" dirty="0">
                <a:effectLst>
                  <a:outerShdw blurRad="38100" dist="38100" dir="2700000" algn="tl">
                    <a:srgbClr val="000000">
                      <a:alpha val="43137"/>
                    </a:srgbClr>
                  </a:outerShdw>
                </a:effectLst>
              </a:rPr>
              <a:t>(Read by yourself)</a:t>
            </a:r>
            <a:endParaRPr lang="en-US" dirty="0">
              <a:effectLst>
                <a:outerShdw blurRad="38100" dist="38100" dir="2700000" algn="tl">
                  <a:srgbClr val="000000">
                    <a:alpha val="43137"/>
                  </a:srgbClr>
                </a:outerShdw>
              </a:effectLst>
            </a:endParaRPr>
          </a:p>
        </p:txBody>
      </p:sp>
      <p:sp>
        <p:nvSpPr>
          <p:cNvPr id="26" name="TextBox 25"/>
          <p:cNvSpPr txBox="1"/>
          <p:nvPr/>
        </p:nvSpPr>
        <p:spPr>
          <a:xfrm>
            <a:off x="9013907" y="1446575"/>
            <a:ext cx="130093" cy="5106625"/>
          </a:xfrm>
          <a:prstGeom prst="rect">
            <a:avLst/>
          </a:prstGeom>
          <a:blipFill rotWithShape="1">
            <a:blip r:embed="rId4"/>
            <a:tile tx="0" ty="0" sx="100000" sy="100000" flip="none" algn="tl"/>
          </a:blipFill>
        </p:spPr>
        <p:txBody>
          <a:bodyPr wrap="square" rtlCol="0">
            <a:spAutoFit/>
          </a:bodyPr>
          <a:lstStyle/>
          <a:p>
            <a:endParaRPr lang="en-US" dirty="0"/>
          </a:p>
        </p:txBody>
      </p:sp>
      <p:graphicFrame>
        <p:nvGraphicFramePr>
          <p:cNvPr id="201731" name="Object 3"/>
          <p:cNvGraphicFramePr>
            <a:graphicFrameLocks noChangeAspect="1"/>
          </p:cNvGraphicFramePr>
          <p:nvPr>
            <p:extLst>
              <p:ext uri="{D42A27DB-BD31-4B8C-83A1-F6EECF244321}">
                <p14:modId xmlns:p14="http://schemas.microsoft.com/office/powerpoint/2010/main" val="377026661"/>
              </p:ext>
            </p:extLst>
          </p:nvPr>
        </p:nvGraphicFramePr>
        <p:xfrm>
          <a:off x="1" y="2286000"/>
          <a:ext cx="9144000" cy="4010069"/>
        </p:xfrm>
        <a:graphic>
          <a:graphicData uri="http://schemas.openxmlformats.org/presentationml/2006/ole">
            <mc:AlternateContent xmlns:mc="http://schemas.openxmlformats.org/markup-compatibility/2006">
              <mc:Choice xmlns:v="urn:schemas-microsoft-com:vml" Requires="v">
                <p:oleObj spid="_x0000_s4124" name="Document" r:id="rId5" imgW="0" imgH="0" progId="Word.Document.12">
                  <p:link updateAutomatic="1"/>
                </p:oleObj>
              </mc:Choice>
              <mc:Fallback>
                <p:oleObj name="Document" r:id="rId5" imgW="0" imgH="0" progId="Word.Document.12">
                  <p:link updateAutomatic="1"/>
                  <p:pic>
                    <p:nvPicPr>
                      <p:cNvPr id="201731" name="Object 3"/>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1" y="2286000"/>
                        <a:ext cx="9144000" cy="40100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201732" name="Picture 4"/>
          <p:cNvPicPr>
            <a:picLocks noChangeAspect="1" noChangeArrowheads="1"/>
          </p:cNvPicPr>
          <p:nvPr/>
        </p:nvPicPr>
        <p:blipFill>
          <a:blip r:embed="rId6">
            <a:lum contrast="13000"/>
          </a:blip>
          <a:srcRect/>
          <a:stretch>
            <a:fillRect/>
          </a:stretch>
        </p:blipFill>
        <p:spPr bwMode="auto">
          <a:xfrm>
            <a:off x="2" y="3172856"/>
            <a:ext cx="9143998" cy="2542160"/>
          </a:xfrm>
          <a:prstGeom prst="rect">
            <a:avLst/>
          </a:prstGeom>
          <a:noFill/>
          <a:ln w="9525">
            <a:noFill/>
            <a:miter lim="800000"/>
            <a:headEnd/>
            <a:tailEnd/>
          </a:ln>
          <a:effectLst/>
        </p:spPr>
      </p:pic>
      <p:pic>
        <p:nvPicPr>
          <p:cNvPr id="8" name="Picture 7"/>
          <p:cNvPicPr>
            <a:picLocks noChangeAspect="1" noChangeArrowheads="1"/>
          </p:cNvPicPr>
          <p:nvPr/>
        </p:nvPicPr>
        <p:blipFill>
          <a:blip r:embed="rId7"/>
          <a:srcRect/>
          <a:stretch>
            <a:fillRect/>
          </a:stretch>
        </p:blipFill>
        <p:spPr bwMode="auto">
          <a:xfrm>
            <a:off x="7326592" y="1285860"/>
            <a:ext cx="1817408" cy="1323996"/>
          </a:xfrm>
          <a:prstGeom prst="rect">
            <a:avLst/>
          </a:prstGeom>
          <a:noFill/>
          <a:ln w="9525">
            <a:noFill/>
            <a:miter lim="800000"/>
            <a:headEnd/>
            <a:tailEnd/>
          </a:ln>
          <a:effectLst/>
        </p:spPr>
      </p:pic>
      <p:sp>
        <p:nvSpPr>
          <p:cNvPr id="7" name="TextBox 6"/>
          <p:cNvSpPr txBox="1"/>
          <p:nvPr/>
        </p:nvSpPr>
        <p:spPr>
          <a:xfrm>
            <a:off x="0" y="1743006"/>
            <a:ext cx="5572132" cy="707886"/>
          </a:xfrm>
          <a:prstGeom prst="rect">
            <a:avLst/>
          </a:prstGeom>
          <a:noFill/>
        </p:spPr>
        <p:txBody>
          <a:bodyPr wrap="square" rtlCol="0">
            <a:spAutoFit/>
          </a:bodyPr>
          <a:lstStyle/>
          <a:p>
            <a:r>
              <a:rPr lang="en-US" sz="2000" dirty="0"/>
              <a:t>PDP: Programmed Data Processor</a:t>
            </a:r>
          </a:p>
          <a:p>
            <a:r>
              <a:rPr lang="en-US" sz="2000" dirty="0"/>
              <a:t>Produced by </a:t>
            </a:r>
            <a:r>
              <a:rPr lang="en-US" sz="2000" u="sng" dirty="0">
                <a:hlinkClick r:id="rId8" tooltip="Digital Equipment Corporation"/>
              </a:rPr>
              <a:t>Digital Equipment Corporation (DEC)</a:t>
            </a:r>
            <a:endParaRPr lang="en-US" sz="2000" dirty="0"/>
          </a:p>
        </p:txBody>
      </p:sp>
      <p:sp>
        <p:nvSpPr>
          <p:cNvPr id="9" name="Slide Number Placeholder 8"/>
          <p:cNvSpPr>
            <a:spLocks noGrp="1"/>
          </p:cNvSpPr>
          <p:nvPr>
            <p:ph type="sldNum" sz="quarter" idx="12"/>
          </p:nvPr>
        </p:nvSpPr>
        <p:spPr/>
        <p:txBody>
          <a:bodyPr/>
          <a:lstStyle/>
          <a:p>
            <a:fld id="{8AF02B71-8991-4516-A01E-F1A9ACD28BDC}" type="slidenum">
              <a:rPr lang="en-US" smtClean="0"/>
              <a:pPr/>
              <a:t>34</a:t>
            </a:fld>
            <a:endParaRPr lang="en-US"/>
          </a:p>
        </p:txBody>
      </p:sp>
    </p:spTree>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990600" y="762000"/>
            <a:ext cx="7556313" cy="1116106"/>
          </a:xfrm>
        </p:spPr>
        <p:txBody>
          <a:bodyPr/>
          <a:lstStyle/>
          <a:p>
            <a:r>
              <a:rPr lang="en-GB" dirty="0">
                <a:effectLst>
                  <a:outerShdw blurRad="38100" dist="38100" dir="2700000" algn="tl">
                    <a:srgbClr val="000000">
                      <a:alpha val="43137"/>
                    </a:srgbClr>
                  </a:outerShdw>
                </a:effectLst>
              </a:rPr>
              <a:t>DEC - PDP-8 Bus Structure</a:t>
            </a:r>
          </a:p>
        </p:txBody>
      </p:sp>
      <p:pic>
        <p:nvPicPr>
          <p:cNvPr id="5" name="Picture 4"/>
          <p:cNvPicPr>
            <a:picLocks noChangeAspect="1" noChangeArrowheads="1"/>
          </p:cNvPicPr>
          <p:nvPr/>
        </p:nvPicPr>
        <p:blipFill>
          <a:blip r:embed="rId3"/>
          <a:srcRect/>
          <a:stretch>
            <a:fillRect/>
          </a:stretch>
        </p:blipFill>
        <p:spPr bwMode="auto">
          <a:xfrm>
            <a:off x="7326592" y="2000240"/>
            <a:ext cx="1817408" cy="1323996"/>
          </a:xfrm>
          <a:prstGeom prst="rect">
            <a:avLst/>
          </a:prstGeom>
          <a:noFill/>
          <a:ln w="9525">
            <a:noFill/>
            <a:miter lim="800000"/>
            <a:headEnd/>
            <a:tailEnd/>
          </a:ln>
          <a:effectLst/>
        </p:spPr>
      </p:pic>
      <p:pic>
        <p:nvPicPr>
          <p:cNvPr id="248833" name="Picture 1"/>
          <p:cNvPicPr>
            <a:picLocks noChangeAspect="1" noChangeArrowheads="1"/>
          </p:cNvPicPr>
          <p:nvPr/>
        </p:nvPicPr>
        <p:blipFill>
          <a:blip r:embed="rId4"/>
          <a:srcRect/>
          <a:stretch>
            <a:fillRect/>
          </a:stretch>
        </p:blipFill>
        <p:spPr bwMode="auto">
          <a:xfrm>
            <a:off x="276225" y="3538554"/>
            <a:ext cx="8591550" cy="2247900"/>
          </a:xfrm>
          <a:prstGeom prst="rect">
            <a:avLst/>
          </a:prstGeom>
          <a:noFill/>
          <a:ln w="9525">
            <a:noFill/>
            <a:miter lim="800000"/>
            <a:headEnd/>
            <a:tailEnd/>
          </a:ln>
          <a:effectLst/>
        </p:spPr>
      </p:pic>
      <p:sp>
        <p:nvSpPr>
          <p:cNvPr id="6" name="TextBox 5"/>
          <p:cNvSpPr txBox="1"/>
          <p:nvPr/>
        </p:nvSpPr>
        <p:spPr>
          <a:xfrm>
            <a:off x="285720" y="1714488"/>
            <a:ext cx="4929222" cy="707886"/>
          </a:xfrm>
          <a:prstGeom prst="rect">
            <a:avLst/>
          </a:prstGeom>
          <a:noFill/>
        </p:spPr>
        <p:txBody>
          <a:bodyPr wrap="square" rtlCol="0">
            <a:spAutoFit/>
          </a:bodyPr>
          <a:lstStyle/>
          <a:p>
            <a:r>
              <a:rPr lang="en-US" sz="2000"/>
              <a:t>DEC: Digital Equipment Corporation</a:t>
            </a:r>
          </a:p>
          <a:p>
            <a:r>
              <a:rPr lang="en-US" sz="2000"/>
              <a:t>PDP: Programmed Data Processor</a:t>
            </a:r>
          </a:p>
        </p:txBody>
      </p:sp>
      <p:sp>
        <p:nvSpPr>
          <p:cNvPr id="7" name="TextBox 6"/>
          <p:cNvSpPr txBox="1"/>
          <p:nvPr/>
        </p:nvSpPr>
        <p:spPr>
          <a:xfrm>
            <a:off x="428596" y="6072207"/>
            <a:ext cx="3786214" cy="369332"/>
          </a:xfrm>
          <a:prstGeom prst="rect">
            <a:avLst/>
          </a:prstGeom>
          <a:noFill/>
        </p:spPr>
        <p:txBody>
          <a:bodyPr wrap="square" rtlCol="0">
            <a:spAutoFit/>
          </a:bodyPr>
          <a:lstStyle/>
          <a:p>
            <a:r>
              <a:rPr lang="en-US" sz="1800"/>
              <a:t>Omni (Latin) = for all</a:t>
            </a:r>
          </a:p>
        </p:txBody>
      </p:sp>
      <p:sp>
        <p:nvSpPr>
          <p:cNvPr id="8" name="Slide Number Placeholder 7"/>
          <p:cNvSpPr>
            <a:spLocks noGrp="1"/>
          </p:cNvSpPr>
          <p:nvPr>
            <p:ph type="sldNum" sz="quarter" idx="12"/>
          </p:nvPr>
        </p:nvSpPr>
        <p:spPr/>
        <p:txBody>
          <a:bodyPr/>
          <a:lstStyle/>
          <a:p>
            <a:fld id="{8AF02B71-8991-4516-A01E-F1A9ACD28BDC}" type="slidenum">
              <a:rPr lang="en-US" smtClean="0"/>
              <a:pPr/>
              <a:t>35</a:t>
            </a:fld>
            <a:endParaRPr lang="en-US"/>
          </a:p>
        </p:txBody>
      </p:sp>
    </p:spTree>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ext Placeholder 25"/>
          <p:cNvSpPr>
            <a:spLocks noGrp="1"/>
          </p:cNvSpPr>
          <p:nvPr>
            <p:ph type="body" sz="half" idx="2"/>
          </p:nvPr>
        </p:nvSpPr>
        <p:spPr>
          <a:xfrm>
            <a:off x="685800" y="1371600"/>
            <a:ext cx="3429000" cy="2296399"/>
          </a:xfrm>
        </p:spPr>
        <p:txBody>
          <a:bodyPr/>
          <a:lstStyle/>
          <a:p>
            <a:pPr>
              <a:spcBef>
                <a:spcPts val="0"/>
              </a:spcBef>
            </a:pPr>
            <a:r>
              <a:rPr lang="en-US" dirty="0">
                <a:effectLst>
                  <a:outerShdw blurRad="38100" dist="38100" dir="2700000" algn="tl">
                    <a:srgbClr val="000000">
                      <a:alpha val="43137"/>
                    </a:srgbClr>
                  </a:outerShdw>
                </a:effectLst>
              </a:rPr>
              <a:t>Later</a:t>
            </a:r>
          </a:p>
          <a:p>
            <a:pPr>
              <a:spcBef>
                <a:spcPts val="0"/>
              </a:spcBef>
            </a:pPr>
            <a:r>
              <a:rPr lang="en-US" dirty="0">
                <a:effectLst>
                  <a:outerShdw blurRad="38100" dist="38100" dir="2700000" algn="tl">
                    <a:srgbClr val="000000">
                      <a:alpha val="43137"/>
                    </a:srgbClr>
                  </a:outerShdw>
                </a:effectLst>
              </a:rPr>
              <a:t>Generations</a:t>
            </a:r>
          </a:p>
        </p:txBody>
      </p:sp>
      <p:sp>
        <p:nvSpPr>
          <p:cNvPr id="9" name="TextBox 8"/>
          <p:cNvSpPr txBox="1"/>
          <p:nvPr/>
        </p:nvSpPr>
        <p:spPr>
          <a:xfrm>
            <a:off x="7086600" y="533400"/>
            <a:ext cx="1524000" cy="1384995"/>
          </a:xfrm>
          <a:prstGeom prst="rect">
            <a:avLst/>
          </a:prstGeom>
          <a:noFill/>
        </p:spPr>
        <p:txBody>
          <a:bodyPr wrap="square" rtlCol="0">
            <a:spAutoFit/>
          </a:bodyPr>
          <a:lstStyle/>
          <a:p>
            <a:pPr algn="ctr"/>
            <a:r>
              <a:rPr lang="en-US" dirty="0"/>
              <a:t>LSI</a:t>
            </a:r>
          </a:p>
          <a:p>
            <a:pPr algn="ctr"/>
            <a:r>
              <a:rPr lang="en-US" sz="2000" dirty="0"/>
              <a:t>Large </a:t>
            </a:r>
          </a:p>
          <a:p>
            <a:pPr algn="ctr"/>
            <a:r>
              <a:rPr lang="en-US" sz="2000" dirty="0"/>
              <a:t>Scale Integration</a:t>
            </a:r>
          </a:p>
        </p:txBody>
      </p:sp>
      <p:sp>
        <p:nvSpPr>
          <p:cNvPr id="12" name="TextBox 11"/>
          <p:cNvSpPr txBox="1"/>
          <p:nvPr/>
        </p:nvSpPr>
        <p:spPr>
          <a:xfrm>
            <a:off x="4800600" y="2667000"/>
            <a:ext cx="1676400" cy="1384995"/>
          </a:xfrm>
          <a:prstGeom prst="rect">
            <a:avLst/>
          </a:prstGeom>
          <a:noFill/>
        </p:spPr>
        <p:txBody>
          <a:bodyPr wrap="square" rtlCol="0">
            <a:spAutoFit/>
          </a:bodyPr>
          <a:lstStyle/>
          <a:p>
            <a:pPr algn="ctr"/>
            <a:r>
              <a:rPr lang="en-US" dirty="0"/>
              <a:t>VLSI</a:t>
            </a:r>
          </a:p>
          <a:p>
            <a:pPr algn="ctr"/>
            <a:r>
              <a:rPr lang="en-US" sz="2000" dirty="0"/>
              <a:t>Very Large Scale Integration</a:t>
            </a:r>
          </a:p>
        </p:txBody>
      </p:sp>
      <p:sp>
        <p:nvSpPr>
          <p:cNvPr id="13" name="TextBox 12"/>
          <p:cNvSpPr txBox="1"/>
          <p:nvPr/>
        </p:nvSpPr>
        <p:spPr>
          <a:xfrm>
            <a:off x="6781800" y="4495800"/>
            <a:ext cx="2133600" cy="2133600"/>
          </a:xfrm>
          <a:prstGeom prst="rect">
            <a:avLst/>
          </a:prstGeom>
          <a:solidFill>
            <a:srgbClr val="660066">
              <a:alpha val="80000"/>
            </a:srgbClr>
          </a:solidFill>
        </p:spPr>
        <p:txBody>
          <a:bodyPr wrap="square" rtlCol="0">
            <a:noAutofit/>
          </a:bodyPr>
          <a:lstStyle/>
          <a:p>
            <a:pPr algn="ctr"/>
            <a:endParaRPr lang="en-US" dirty="0"/>
          </a:p>
          <a:p>
            <a:pPr algn="ctr"/>
            <a:r>
              <a:rPr lang="en-US" dirty="0"/>
              <a:t>ULSI</a:t>
            </a:r>
          </a:p>
          <a:p>
            <a:pPr algn="ctr"/>
            <a:r>
              <a:rPr lang="en-US" sz="2000" dirty="0"/>
              <a:t>Ultra Large</a:t>
            </a:r>
          </a:p>
          <a:p>
            <a:pPr algn="ctr"/>
            <a:r>
              <a:rPr lang="en-US" sz="2000" dirty="0"/>
              <a:t> Scale </a:t>
            </a:r>
          </a:p>
          <a:p>
            <a:pPr algn="ctr"/>
            <a:r>
              <a:rPr lang="en-US" sz="2000" dirty="0"/>
              <a:t>Integration</a:t>
            </a:r>
          </a:p>
          <a:p>
            <a:pPr algn="ctr"/>
            <a:endParaRPr lang="en-US" sz="2000" dirty="0"/>
          </a:p>
          <a:p>
            <a:pPr algn="ctr"/>
            <a:endParaRPr lang="en-US" sz="2000" dirty="0"/>
          </a:p>
        </p:txBody>
      </p:sp>
      <p:sp>
        <p:nvSpPr>
          <p:cNvPr id="29" name="Title 28"/>
          <p:cNvSpPr>
            <a:spLocks noGrp="1"/>
          </p:cNvSpPr>
          <p:nvPr>
            <p:ph type="ctrTitle"/>
          </p:nvPr>
        </p:nvSpPr>
        <p:spPr>
          <a:xfrm>
            <a:off x="1752600" y="5105400"/>
            <a:ext cx="4038600" cy="1143000"/>
          </a:xfrm>
        </p:spPr>
        <p:txBody>
          <a:bodyPr>
            <a:normAutofit fontScale="90000"/>
          </a:bodyPr>
          <a:lstStyle/>
          <a:p>
            <a:pPr algn="ctr"/>
            <a:r>
              <a:rPr lang="en-US" dirty="0">
                <a:solidFill>
                  <a:srgbClr val="2B142D"/>
                </a:solidFill>
              </a:rPr>
              <a:t>Semiconductor Memory</a:t>
            </a:r>
            <a:br>
              <a:rPr lang="en-US" dirty="0">
                <a:solidFill>
                  <a:srgbClr val="2B142D"/>
                </a:solidFill>
              </a:rPr>
            </a:br>
            <a:r>
              <a:rPr lang="en-US" dirty="0">
                <a:solidFill>
                  <a:srgbClr val="2B142D"/>
                </a:solidFill>
              </a:rPr>
              <a:t>Microprocessors</a:t>
            </a:r>
          </a:p>
        </p:txBody>
      </p:sp>
      <p:pic>
        <p:nvPicPr>
          <p:cNvPr id="8" name="Picture 7"/>
          <p:cNvPicPr>
            <a:picLocks noChangeAspect="1"/>
          </p:cNvPicPr>
          <p:nvPr/>
        </p:nvPicPr>
        <p:blipFill>
          <a:blip r:embed="rId3"/>
          <a:stretch>
            <a:fillRect/>
          </a:stretch>
        </p:blipFill>
        <p:spPr>
          <a:xfrm rot="20096797">
            <a:off x="389684" y="4619341"/>
            <a:ext cx="1548749" cy="1104900"/>
          </a:xfrm>
          <a:prstGeom prst="rect">
            <a:avLst/>
          </a:prstGeom>
        </p:spPr>
      </p:pic>
      <p:pic>
        <p:nvPicPr>
          <p:cNvPr id="10" name="Picture 9"/>
          <p:cNvPicPr>
            <a:picLocks noChangeAspect="1" noChangeArrowheads="1"/>
          </p:cNvPicPr>
          <p:nvPr/>
        </p:nvPicPr>
        <p:blipFill>
          <a:blip r:embed="rId4"/>
          <a:srcRect/>
          <a:stretch>
            <a:fillRect/>
          </a:stretch>
        </p:blipFill>
        <p:spPr bwMode="auto">
          <a:xfrm>
            <a:off x="1500166" y="2857496"/>
            <a:ext cx="1817408" cy="1323996"/>
          </a:xfrm>
          <a:prstGeom prst="rect">
            <a:avLst/>
          </a:prstGeom>
          <a:noFill/>
          <a:ln w="9525">
            <a:noFill/>
            <a:miter lim="800000"/>
            <a:headEnd/>
            <a:tailEnd/>
          </a:ln>
          <a:effectLst/>
        </p:spPr>
      </p:pic>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762000" y="304800"/>
            <a:ext cx="8382000" cy="811306"/>
          </a:xfrm>
        </p:spPr>
        <p:txBody>
          <a:bodyPr/>
          <a:lstStyle/>
          <a:p>
            <a:r>
              <a:rPr lang="en-GB" b="1" dirty="0">
                <a:solidFill>
                  <a:schemeClr val="accent3"/>
                </a:solidFill>
              </a:rPr>
              <a:t>Semiconductor Memory</a:t>
            </a:r>
          </a:p>
        </p:txBody>
      </p:sp>
      <p:graphicFrame>
        <p:nvGraphicFramePr>
          <p:cNvPr id="34" name="Content Placeholder 33"/>
          <p:cNvGraphicFramePr>
            <a:graphicFrameLocks noGrp="1"/>
          </p:cNvGraphicFramePr>
          <p:nvPr>
            <p:ph idx="1"/>
          </p:nvPr>
        </p:nvGraphicFramePr>
        <p:xfrm>
          <a:off x="228600" y="1143000"/>
          <a:ext cx="8610599" cy="5410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6" name="TextBox 65"/>
          <p:cNvSpPr txBox="1"/>
          <p:nvPr/>
        </p:nvSpPr>
        <p:spPr>
          <a:xfrm>
            <a:off x="6959600" y="795867"/>
            <a:ext cx="184666" cy="461665"/>
          </a:xfrm>
          <a:prstGeom prst="rect">
            <a:avLst/>
          </a:prstGeom>
          <a:noFill/>
        </p:spPr>
        <p:txBody>
          <a:bodyPr wrap="none" rtlCol="0">
            <a:spAutoFit/>
          </a:bodyPr>
          <a:lstStyle/>
          <a:p>
            <a:endParaRPr lang="en-US" dirty="0"/>
          </a:p>
        </p:txBody>
      </p:sp>
      <p:sp>
        <p:nvSpPr>
          <p:cNvPr id="67" name="TextBox 66"/>
          <p:cNvSpPr txBox="1"/>
          <p:nvPr/>
        </p:nvSpPr>
        <p:spPr>
          <a:xfrm>
            <a:off x="7924800" y="228600"/>
            <a:ext cx="990600" cy="914399"/>
          </a:xfrm>
          <a:prstGeom prst="rect">
            <a:avLst/>
          </a:prstGeom>
          <a:blipFill rotWithShape="1">
            <a:blip r:embed="rId8"/>
            <a:tile tx="0" ty="0" sx="100000" sy="100000" flip="none" algn="tl"/>
          </a:blipFill>
        </p:spPr>
        <p:txBody>
          <a:bodyPr wrap="square" rtlCol="0">
            <a:spAutoFit/>
          </a:bodyPr>
          <a:lstStyle/>
          <a:p>
            <a:endParaRPr lang="en-US" dirty="0"/>
          </a:p>
        </p:txBody>
      </p:sp>
      <p:sp>
        <p:nvSpPr>
          <p:cNvPr id="6" name="Slide Number Placeholder 5"/>
          <p:cNvSpPr>
            <a:spLocks noGrp="1"/>
          </p:cNvSpPr>
          <p:nvPr>
            <p:ph type="sldNum" sz="quarter" idx="12"/>
          </p:nvPr>
        </p:nvSpPr>
        <p:spPr/>
        <p:txBody>
          <a:bodyPr/>
          <a:lstStyle/>
          <a:p>
            <a:fld id="{8AF02B71-8991-4516-A01E-F1A9ACD28BDC}" type="slidenum">
              <a:rPr lang="en-US" smtClean="0"/>
              <a:pPr/>
              <a:t>37</a:t>
            </a:fld>
            <a:endParaRPr lang="en-US"/>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685800" y="484094"/>
            <a:ext cx="7368987" cy="1116106"/>
          </a:xfrm>
        </p:spPr>
        <p:txBody>
          <a:bodyPr/>
          <a:lstStyle/>
          <a:p>
            <a:r>
              <a:rPr lang="en-GB" dirty="0">
                <a:effectLst>
                  <a:outerShdw blurRad="38100" dist="38100" dir="2700000" algn="tl">
                    <a:srgbClr val="000000">
                      <a:alpha val="43137"/>
                    </a:srgbClr>
                  </a:outerShdw>
                </a:effectLst>
              </a:rPr>
              <a:t>Microprocessors</a:t>
            </a:r>
          </a:p>
        </p:txBody>
      </p:sp>
      <p:sp>
        <p:nvSpPr>
          <p:cNvPr id="28675" name="Rectangle 3"/>
          <p:cNvSpPr>
            <a:spLocks noGrp="1" noChangeArrowheads="1"/>
          </p:cNvSpPr>
          <p:nvPr>
            <p:ph idx="1"/>
          </p:nvPr>
        </p:nvSpPr>
        <p:spPr>
          <a:xfrm>
            <a:off x="498474" y="1447800"/>
            <a:ext cx="7556313" cy="5181600"/>
          </a:xfrm>
        </p:spPr>
        <p:txBody>
          <a:bodyPr>
            <a:normAutofit lnSpcReduction="10000"/>
          </a:bodyPr>
          <a:lstStyle/>
          <a:p>
            <a:r>
              <a:rPr lang="en-GB" dirty="0">
                <a:solidFill>
                  <a:schemeClr val="tx1"/>
                </a:solidFill>
              </a:rPr>
              <a:t>The density of elements on processor chips continued to rise</a:t>
            </a:r>
          </a:p>
          <a:p>
            <a:pPr lvl="1"/>
            <a:r>
              <a:rPr lang="en-GB" dirty="0">
                <a:solidFill>
                  <a:schemeClr val="tx1"/>
                </a:solidFill>
              </a:rPr>
              <a:t>More and more elements were placed on each chip so that fewer and fewer chips were needed to construct a single computer processor</a:t>
            </a:r>
          </a:p>
          <a:p>
            <a:r>
              <a:rPr lang="en-GB" dirty="0">
                <a:solidFill>
                  <a:schemeClr val="tx1"/>
                </a:solidFill>
              </a:rPr>
              <a:t>1971 Intel developed 4004</a:t>
            </a:r>
          </a:p>
          <a:p>
            <a:pPr lvl="1"/>
            <a:r>
              <a:rPr lang="en-GB" dirty="0">
                <a:solidFill>
                  <a:schemeClr val="tx1"/>
                </a:solidFill>
              </a:rPr>
              <a:t>First chip to contain all of the components of a CPU on a single chip</a:t>
            </a:r>
          </a:p>
          <a:p>
            <a:pPr lvl="1"/>
            <a:r>
              <a:rPr lang="en-GB" dirty="0">
                <a:solidFill>
                  <a:schemeClr val="tx1"/>
                </a:solidFill>
              </a:rPr>
              <a:t>Birth of microprocessor</a:t>
            </a:r>
          </a:p>
          <a:p>
            <a:r>
              <a:rPr lang="en-GB" dirty="0">
                <a:solidFill>
                  <a:schemeClr val="tx1"/>
                </a:solidFill>
              </a:rPr>
              <a:t>1972 Intel developed 8008</a:t>
            </a:r>
          </a:p>
          <a:p>
            <a:pPr lvl="1"/>
            <a:r>
              <a:rPr lang="en-GB" dirty="0">
                <a:solidFill>
                  <a:schemeClr val="tx1"/>
                </a:solidFill>
              </a:rPr>
              <a:t>First 8-bit microprocessor</a:t>
            </a:r>
          </a:p>
          <a:p>
            <a:r>
              <a:rPr lang="en-GB" dirty="0">
                <a:solidFill>
                  <a:schemeClr val="tx1"/>
                </a:solidFill>
              </a:rPr>
              <a:t>1974 Intel developed 8080</a:t>
            </a:r>
          </a:p>
          <a:p>
            <a:pPr lvl="1"/>
            <a:r>
              <a:rPr lang="en-GB" dirty="0">
                <a:solidFill>
                  <a:schemeClr val="tx1"/>
                </a:solidFill>
              </a:rPr>
              <a:t>First general purpose microprocessor</a:t>
            </a:r>
          </a:p>
          <a:p>
            <a:pPr lvl="1"/>
            <a:r>
              <a:rPr lang="en-GB" dirty="0">
                <a:solidFill>
                  <a:schemeClr val="tx1"/>
                </a:solidFill>
              </a:rPr>
              <a:t>Faster, has a richer instruction set, has a large addressing capability</a:t>
            </a:r>
          </a:p>
          <a:p>
            <a:endParaRPr lang="en-GB" dirty="0">
              <a:solidFill>
                <a:schemeClr val="tx1"/>
              </a:solidFill>
            </a:endParaRPr>
          </a:p>
        </p:txBody>
      </p:sp>
      <p:pic>
        <p:nvPicPr>
          <p:cNvPr id="4" name="Picture 3"/>
          <p:cNvPicPr>
            <a:picLocks noChangeAspect="1"/>
          </p:cNvPicPr>
          <p:nvPr/>
        </p:nvPicPr>
        <p:blipFill>
          <a:blip r:embed="rId3"/>
          <a:stretch>
            <a:fillRect/>
          </a:stretch>
        </p:blipFill>
        <p:spPr>
          <a:xfrm rot="657724">
            <a:off x="6310058" y="3994177"/>
            <a:ext cx="2095500" cy="1651000"/>
          </a:xfrm>
          <a:prstGeom prst="rect">
            <a:avLst/>
          </a:prstGeom>
          <a:effectLst>
            <a:softEdge rad="177800"/>
          </a:effectLst>
        </p:spPr>
      </p:pic>
      <p:sp>
        <p:nvSpPr>
          <p:cNvPr id="5" name="Slide Number Placeholder 4"/>
          <p:cNvSpPr>
            <a:spLocks noGrp="1"/>
          </p:cNvSpPr>
          <p:nvPr>
            <p:ph type="sldNum" sz="quarter" idx="12"/>
          </p:nvPr>
        </p:nvSpPr>
        <p:spPr/>
        <p:txBody>
          <a:bodyPr/>
          <a:lstStyle/>
          <a:p>
            <a:fld id="{8AF02B71-8991-4516-A01E-F1A9ACD28BDC}" type="slidenum">
              <a:rPr lang="en-US" smtClean="0"/>
              <a:pPr/>
              <a:t>38</a:t>
            </a:fld>
            <a:endParaRPr lang="en-US"/>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34938"/>
            <a:ext cx="8077200" cy="995362"/>
          </a:xfrm>
        </p:spPr>
        <p:txBody>
          <a:bodyPr>
            <a:normAutofit/>
          </a:bodyPr>
          <a:lstStyle/>
          <a:p>
            <a:pPr algn="ctr"/>
            <a:r>
              <a:rPr lang="en-US" dirty="0">
                <a:effectLst>
                  <a:outerShdw blurRad="38100" dist="38100" dir="2700000" algn="tl">
                    <a:srgbClr val="000000">
                      <a:alpha val="43137"/>
                    </a:srgbClr>
                  </a:outerShdw>
                </a:effectLst>
              </a:rPr>
              <a:t>Evolution of Intel Microprocessors</a:t>
            </a:r>
          </a:p>
        </p:txBody>
      </p:sp>
      <p:graphicFrame>
        <p:nvGraphicFramePr>
          <p:cNvPr id="206850" name="Object 2"/>
          <p:cNvGraphicFramePr>
            <a:graphicFrameLocks noChangeAspect="1"/>
          </p:cNvGraphicFramePr>
          <p:nvPr/>
        </p:nvGraphicFramePr>
        <p:xfrm>
          <a:off x="228600" y="1066800"/>
          <a:ext cx="8686800" cy="2410345"/>
        </p:xfrm>
        <a:graphic>
          <a:graphicData uri="http://schemas.openxmlformats.org/presentationml/2006/ole">
            <mc:AlternateContent xmlns:mc="http://schemas.openxmlformats.org/markup-compatibility/2006">
              <mc:Choice xmlns:v="urn:schemas-microsoft-com:vml" Requires="v">
                <p:oleObj spid="_x0000_s5174" name="Document" r:id="rId4" imgW="0" imgH="0" progId="Word.Document.12">
                  <p:embed/>
                </p:oleObj>
              </mc:Choice>
              <mc:Fallback>
                <p:oleObj name="Document" r:id="rId4" imgW="0" imgH="0" progId="Word.Document.12">
                  <p:embed/>
                  <p:pic>
                    <p:nvPicPr>
                      <p:cNvPr id="206850" name="Object 2"/>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228600" y="1066800"/>
                        <a:ext cx="8686800" cy="24103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6851" name="Object 3"/>
          <p:cNvGraphicFramePr>
            <a:graphicFrameLocks noChangeAspect="1"/>
          </p:cNvGraphicFramePr>
          <p:nvPr/>
        </p:nvGraphicFramePr>
        <p:xfrm>
          <a:off x="228600" y="3733800"/>
          <a:ext cx="8686800" cy="3124200"/>
        </p:xfrm>
        <a:graphic>
          <a:graphicData uri="http://schemas.openxmlformats.org/presentationml/2006/ole">
            <mc:AlternateContent xmlns:mc="http://schemas.openxmlformats.org/markup-compatibility/2006">
              <mc:Choice xmlns:v="urn:schemas-microsoft-com:vml" Requires="v">
                <p:oleObj spid="_x0000_s5175" name="Document" r:id="rId5" imgW="0" imgH="0" progId="Word.Document.12">
                  <p:embed/>
                </p:oleObj>
              </mc:Choice>
              <mc:Fallback>
                <p:oleObj name="Document" r:id="rId5" imgW="0" imgH="0" progId="Word.Document.12">
                  <p:embed/>
                  <p:pic>
                    <p:nvPicPr>
                      <p:cNvPr id="206851" name="Object 3"/>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228600" y="3733800"/>
                        <a:ext cx="8686800" cy="312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206853" name="Picture 5"/>
          <p:cNvPicPr>
            <a:picLocks noChangeAspect="1" noChangeArrowheads="1"/>
          </p:cNvPicPr>
          <p:nvPr/>
        </p:nvPicPr>
        <p:blipFill>
          <a:blip r:embed="rId6"/>
          <a:srcRect/>
          <a:stretch>
            <a:fillRect/>
          </a:stretch>
        </p:blipFill>
        <p:spPr bwMode="auto">
          <a:xfrm>
            <a:off x="235491" y="1071546"/>
            <a:ext cx="8673020" cy="5286412"/>
          </a:xfrm>
          <a:prstGeom prst="rect">
            <a:avLst/>
          </a:prstGeom>
          <a:noFill/>
          <a:ln w="9525">
            <a:noFill/>
            <a:miter lim="800000"/>
            <a:headEnd/>
            <a:tailEnd/>
          </a:ln>
          <a:effectLst/>
        </p:spPr>
      </p:pic>
      <p:sp>
        <p:nvSpPr>
          <p:cNvPr id="6" name="Slide Number Placeholder 5"/>
          <p:cNvSpPr>
            <a:spLocks noGrp="1"/>
          </p:cNvSpPr>
          <p:nvPr>
            <p:ph type="sldNum" sz="quarter" idx="12"/>
          </p:nvPr>
        </p:nvSpPr>
        <p:spPr/>
        <p:txBody>
          <a:bodyPr/>
          <a:lstStyle/>
          <a:p>
            <a:fld id="{8AF02B71-8991-4516-A01E-F1A9ACD28BDC}" type="slidenum">
              <a:rPr lang="en-US" smtClean="0"/>
              <a:pPr/>
              <a:t>39</a:t>
            </a:fld>
            <a:endParaRPr lang="en-US"/>
          </a:p>
        </p:txBody>
      </p:sp>
    </p:spTree>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34938"/>
            <a:ext cx="8077200" cy="995362"/>
          </a:xfrm>
        </p:spPr>
        <p:txBody>
          <a:bodyPr>
            <a:normAutofit/>
          </a:bodyPr>
          <a:lstStyle/>
          <a:p>
            <a:pPr algn="ctr"/>
            <a:r>
              <a:rPr lang="en-US" dirty="0">
                <a:effectLst>
                  <a:outerShdw blurRad="38100" dist="38100" dir="2700000" algn="tl">
                    <a:srgbClr val="000000">
                      <a:alpha val="43137"/>
                    </a:srgbClr>
                  </a:outerShdw>
                </a:effectLst>
              </a:rPr>
              <a:t>Evolution of Intel Microprocessors</a:t>
            </a:r>
          </a:p>
        </p:txBody>
      </p:sp>
      <p:graphicFrame>
        <p:nvGraphicFramePr>
          <p:cNvPr id="208900" name="Object 4"/>
          <p:cNvGraphicFramePr>
            <a:graphicFrameLocks noChangeAspect="1"/>
          </p:cNvGraphicFramePr>
          <p:nvPr>
            <p:extLst>
              <p:ext uri="{D42A27DB-BD31-4B8C-83A1-F6EECF244321}">
                <p14:modId xmlns:p14="http://schemas.microsoft.com/office/powerpoint/2010/main" val="623081855"/>
              </p:ext>
            </p:extLst>
          </p:nvPr>
        </p:nvGraphicFramePr>
        <p:xfrm>
          <a:off x="304800" y="1066800"/>
          <a:ext cx="8610600" cy="2654300"/>
        </p:xfrm>
        <a:graphic>
          <a:graphicData uri="http://schemas.openxmlformats.org/presentationml/2006/ole">
            <mc:AlternateContent xmlns:mc="http://schemas.openxmlformats.org/markup-compatibility/2006">
              <mc:Choice xmlns:v="urn:schemas-microsoft-com:vml" Requires="v">
                <p:oleObj spid="_x0000_s6198" name="Document" r:id="rId4" imgW="0" imgH="0" progId="Word.Document.12">
                  <p:link updateAutomatic="1"/>
                </p:oleObj>
              </mc:Choice>
              <mc:Fallback>
                <p:oleObj name="Document" r:id="rId4" imgW="0" imgH="0" progId="Word.Document.12">
                  <p:link updateAutomatic="1"/>
                  <p:pic>
                    <p:nvPicPr>
                      <p:cNvPr id="208900" name="Object 4"/>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304800" y="1066800"/>
                        <a:ext cx="8610600"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8901" name="Object 5"/>
          <p:cNvGraphicFramePr>
            <a:graphicFrameLocks noChangeAspect="1"/>
          </p:cNvGraphicFramePr>
          <p:nvPr>
            <p:extLst>
              <p:ext uri="{D42A27DB-BD31-4B8C-83A1-F6EECF244321}">
                <p14:modId xmlns:p14="http://schemas.microsoft.com/office/powerpoint/2010/main" val="2898798823"/>
              </p:ext>
            </p:extLst>
          </p:nvPr>
        </p:nvGraphicFramePr>
        <p:xfrm>
          <a:off x="304800" y="4038600"/>
          <a:ext cx="8610600" cy="2438400"/>
        </p:xfrm>
        <a:graphic>
          <a:graphicData uri="http://schemas.openxmlformats.org/presentationml/2006/ole">
            <mc:AlternateContent xmlns:mc="http://schemas.openxmlformats.org/markup-compatibility/2006">
              <mc:Choice xmlns:v="urn:schemas-microsoft-com:vml" Requires="v">
                <p:oleObj spid="_x0000_s6199" name="Document" r:id="rId5" imgW="0" imgH="0" progId="Word.Document.12">
                  <p:link updateAutomatic="1"/>
                </p:oleObj>
              </mc:Choice>
              <mc:Fallback>
                <p:oleObj name="Document" r:id="rId5" imgW="0" imgH="0" progId="Word.Document.12">
                  <p:link updateAutomatic="1"/>
                  <p:pic>
                    <p:nvPicPr>
                      <p:cNvPr id="208901" name="Object 5"/>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304800" y="4038600"/>
                        <a:ext cx="8610600" cy="243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208903" name="Picture 7"/>
          <p:cNvPicPr>
            <a:picLocks noChangeAspect="1" noChangeArrowheads="1"/>
          </p:cNvPicPr>
          <p:nvPr/>
        </p:nvPicPr>
        <p:blipFill>
          <a:blip r:embed="rId6"/>
          <a:srcRect/>
          <a:stretch>
            <a:fillRect/>
          </a:stretch>
        </p:blipFill>
        <p:spPr bwMode="auto">
          <a:xfrm>
            <a:off x="71406" y="785794"/>
            <a:ext cx="8979206" cy="6087804"/>
          </a:xfrm>
          <a:prstGeom prst="rect">
            <a:avLst/>
          </a:prstGeom>
          <a:noFill/>
          <a:ln w="9525">
            <a:noFill/>
            <a:miter lim="800000"/>
            <a:headEnd/>
            <a:tailEnd/>
          </a:ln>
          <a:effectLst/>
        </p:spPr>
      </p:pic>
      <p:sp>
        <p:nvSpPr>
          <p:cNvPr id="6" name="Slide Number Placeholder 5"/>
          <p:cNvSpPr>
            <a:spLocks noGrp="1"/>
          </p:cNvSpPr>
          <p:nvPr>
            <p:ph type="sldNum" sz="quarter" idx="12"/>
          </p:nvPr>
        </p:nvSpPr>
        <p:spPr/>
        <p:txBody>
          <a:bodyPr/>
          <a:lstStyle/>
          <a:p>
            <a:fld id="{8AF02B71-8991-4516-A01E-F1A9ACD28BDC}" type="slidenum">
              <a:rPr lang="en-US" smtClean="0"/>
              <a:pPr/>
              <a:t>40</a:t>
            </a:fld>
            <a:endParaRPr lang="en-US"/>
          </a:p>
        </p:txBody>
      </p:sp>
    </p:spTree>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2.2- Designing for Performance </a:t>
            </a:r>
          </a:p>
        </p:txBody>
      </p:sp>
      <p:sp>
        <p:nvSpPr>
          <p:cNvPr id="3" name="Content Placeholder 2"/>
          <p:cNvSpPr>
            <a:spLocks noGrp="1"/>
          </p:cNvSpPr>
          <p:nvPr>
            <p:ph idx="1"/>
          </p:nvPr>
        </p:nvSpPr>
        <p:spPr>
          <a:xfrm>
            <a:off x="498474" y="1785926"/>
            <a:ext cx="7556313" cy="4144963"/>
          </a:xfrm>
        </p:spPr>
        <p:txBody>
          <a:bodyPr>
            <a:noAutofit/>
          </a:bodyPr>
          <a:lstStyle/>
          <a:p>
            <a:pPr marL="0" indent="0">
              <a:buNone/>
            </a:pPr>
            <a:r>
              <a:rPr lang="en-US" sz="2400" dirty="0">
                <a:solidFill>
                  <a:schemeClr val="tx1"/>
                </a:solidFill>
              </a:rPr>
              <a:t>Desktop applications that require the great power of today’s microprocessor-based systems include </a:t>
            </a:r>
          </a:p>
          <a:p>
            <a:pPr>
              <a:buNone/>
            </a:pPr>
            <a:r>
              <a:rPr lang="en-US" sz="2400" dirty="0">
                <a:solidFill>
                  <a:schemeClr val="tx1"/>
                </a:solidFill>
              </a:rPr>
              <a:t>• Image processing </a:t>
            </a:r>
          </a:p>
          <a:p>
            <a:pPr>
              <a:buNone/>
            </a:pPr>
            <a:r>
              <a:rPr lang="en-US" sz="2400" dirty="0">
                <a:solidFill>
                  <a:schemeClr val="tx1"/>
                </a:solidFill>
              </a:rPr>
              <a:t>• Speech recognition </a:t>
            </a:r>
          </a:p>
          <a:p>
            <a:pPr>
              <a:buNone/>
            </a:pPr>
            <a:r>
              <a:rPr lang="en-US" sz="2400" dirty="0">
                <a:solidFill>
                  <a:schemeClr val="tx1"/>
                </a:solidFill>
              </a:rPr>
              <a:t>• Video conferencing </a:t>
            </a:r>
          </a:p>
          <a:p>
            <a:pPr>
              <a:buNone/>
            </a:pPr>
            <a:r>
              <a:rPr lang="en-US" sz="2400" dirty="0">
                <a:solidFill>
                  <a:schemeClr val="tx1"/>
                </a:solidFill>
              </a:rPr>
              <a:t>• Multimedia authoring </a:t>
            </a:r>
          </a:p>
          <a:p>
            <a:pPr>
              <a:buNone/>
            </a:pPr>
            <a:r>
              <a:rPr lang="en-US" sz="2400" dirty="0">
                <a:solidFill>
                  <a:schemeClr val="tx1"/>
                </a:solidFill>
              </a:rPr>
              <a:t>• Voice and video annotation of files </a:t>
            </a:r>
          </a:p>
          <a:p>
            <a:pPr>
              <a:buNone/>
            </a:pPr>
            <a:r>
              <a:rPr lang="en-US" sz="2400" dirty="0">
                <a:solidFill>
                  <a:schemeClr val="tx1"/>
                </a:solidFill>
              </a:rPr>
              <a:t>• Simulation modeling</a:t>
            </a:r>
          </a:p>
        </p:txBody>
      </p:sp>
      <p:sp>
        <p:nvSpPr>
          <p:cNvPr id="4" name="Slide Number Placeholder 3"/>
          <p:cNvSpPr>
            <a:spLocks noGrp="1"/>
          </p:cNvSpPr>
          <p:nvPr>
            <p:ph type="sldNum" sz="quarter" idx="12"/>
          </p:nvPr>
        </p:nvSpPr>
        <p:spPr/>
        <p:txBody>
          <a:bodyPr/>
          <a:lstStyle/>
          <a:p>
            <a:fld id="{8AF02B71-8991-4516-A01E-F1A9ACD28BDC}" type="slidenum">
              <a:rPr lang="en-US" smtClean="0"/>
              <a:pPr/>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474" y="71414"/>
            <a:ext cx="7556313" cy="801766"/>
          </a:xfrm>
        </p:spPr>
        <p:txBody>
          <a:bodyPr/>
          <a:lstStyle/>
          <a:p>
            <a:r>
              <a:rPr lang="en-GB" dirty="0"/>
              <a:t>Microprocessor Speed</a:t>
            </a:r>
            <a:endParaRPr lang="en-US" dirty="0"/>
          </a:p>
        </p:txBody>
      </p:sp>
      <p:sp>
        <p:nvSpPr>
          <p:cNvPr id="5" name="Pie 4"/>
          <p:cNvSpPr/>
          <p:nvPr/>
        </p:nvSpPr>
        <p:spPr>
          <a:xfrm>
            <a:off x="-32" y="1752733"/>
            <a:ext cx="4533787" cy="4533787"/>
          </a:xfrm>
          <a:prstGeom prst="pie">
            <a:avLst>
              <a:gd name="adj1" fmla="val 5400000"/>
              <a:gd name="adj2" fmla="val 16200000"/>
            </a:avLst>
          </a:pr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6" name="Pie 5"/>
          <p:cNvSpPr/>
          <p:nvPr/>
        </p:nvSpPr>
        <p:spPr>
          <a:xfrm>
            <a:off x="595027" y="2716163"/>
            <a:ext cx="3343668" cy="3343668"/>
          </a:xfrm>
          <a:prstGeom prst="pie">
            <a:avLst>
              <a:gd name="adj1" fmla="val 5400000"/>
              <a:gd name="adj2" fmla="val 16200000"/>
            </a:avLst>
          </a:pr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7" name="Pie 6"/>
          <p:cNvSpPr/>
          <p:nvPr/>
        </p:nvSpPr>
        <p:spPr>
          <a:xfrm>
            <a:off x="1190087" y="3679592"/>
            <a:ext cx="2153549" cy="2153549"/>
          </a:xfrm>
          <a:prstGeom prst="pie">
            <a:avLst>
              <a:gd name="adj1" fmla="val 5400000"/>
              <a:gd name="adj2" fmla="val 16200000"/>
            </a:avLst>
          </a:pr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8" name="Pie 7"/>
          <p:cNvSpPr/>
          <p:nvPr/>
        </p:nvSpPr>
        <p:spPr>
          <a:xfrm>
            <a:off x="1785146" y="4643022"/>
            <a:ext cx="963429" cy="963429"/>
          </a:xfrm>
          <a:prstGeom prst="pie">
            <a:avLst>
              <a:gd name="adj1" fmla="val 5400000"/>
              <a:gd name="adj2" fmla="val 16200000"/>
            </a:avLst>
          </a:pr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graphicFrame>
        <p:nvGraphicFramePr>
          <p:cNvPr id="9" name="Table 8"/>
          <p:cNvGraphicFramePr>
            <a:graphicFrameLocks noGrp="1"/>
          </p:cNvGraphicFramePr>
          <p:nvPr>
            <p:extLst>
              <p:ext uri="{D42A27DB-BD31-4B8C-83A1-F6EECF244321}">
                <p14:modId xmlns:p14="http://schemas.microsoft.com/office/powerpoint/2010/main" val="2761910420"/>
              </p:ext>
            </p:extLst>
          </p:nvPr>
        </p:nvGraphicFramePr>
        <p:xfrm>
          <a:off x="2195736" y="1243670"/>
          <a:ext cx="6805420" cy="5400040"/>
        </p:xfrm>
        <a:graphic>
          <a:graphicData uri="http://schemas.openxmlformats.org/drawingml/2006/table">
            <a:tbl>
              <a:tblPr firstRow="1" bandRow="1">
                <a:tableStyleId>{5C22544A-7EE6-4342-B048-85BDC9FD1C3A}</a:tableStyleId>
              </a:tblPr>
              <a:tblGrid>
                <a:gridCol w="1495238">
                  <a:extLst>
                    <a:ext uri="{9D8B030D-6E8A-4147-A177-3AD203B41FA5}">
                      <a16:colId xmlns:a16="http://schemas.microsoft.com/office/drawing/2014/main" val="20000"/>
                    </a:ext>
                  </a:extLst>
                </a:gridCol>
                <a:gridCol w="5310182">
                  <a:extLst>
                    <a:ext uri="{9D8B030D-6E8A-4147-A177-3AD203B41FA5}">
                      <a16:colId xmlns:a16="http://schemas.microsoft.com/office/drawing/2014/main" val="20001"/>
                    </a:ext>
                  </a:extLst>
                </a:gridCol>
              </a:tblGrid>
              <a:tr h="370840">
                <a:tc>
                  <a:txBody>
                    <a:bodyPr/>
                    <a:lstStyle/>
                    <a:p>
                      <a:r>
                        <a:rPr lang="en-US" dirty="0"/>
                        <a:t>Technique</a:t>
                      </a:r>
                    </a:p>
                  </a:txBody>
                  <a:tcPr/>
                </a:tc>
                <a:tc>
                  <a:txBody>
                    <a:bodyPr/>
                    <a:lstStyle/>
                    <a:p>
                      <a:r>
                        <a:rPr lang="en-US" dirty="0"/>
                        <a:t>Description</a:t>
                      </a:r>
                    </a:p>
                  </a:txBody>
                  <a:tcPr/>
                </a:tc>
                <a:extLst>
                  <a:ext uri="{0D108BD9-81ED-4DB2-BD59-A6C34878D82A}">
                    <a16:rowId xmlns:a16="http://schemas.microsoft.com/office/drawing/2014/main" val="10000"/>
                  </a:ext>
                </a:extLst>
              </a:tr>
              <a:tr h="370840">
                <a:tc>
                  <a:txBody>
                    <a:bodyPr/>
                    <a:lstStyle/>
                    <a:p>
                      <a:r>
                        <a:rPr lang="en-US" dirty="0"/>
                        <a:t>Pipelining</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Processor moves data or instructions into a conceptual pipe with all stages of the pipe processing simultaneously</a:t>
                      </a:r>
                    </a:p>
                  </a:txBody>
                  <a:tcPr/>
                </a:tc>
                <a:extLst>
                  <a:ext uri="{0D108BD9-81ED-4DB2-BD59-A6C34878D82A}">
                    <a16:rowId xmlns:a16="http://schemas.microsoft.com/office/drawing/2014/main" val="1000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Branch prediction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Processor looks ahead in the instruction code fetched from memory and predicts which branches, or groups of instructions, are likely to be processed next</a:t>
                      </a:r>
                    </a:p>
                    <a:p>
                      <a:endParaRPr lang="en-US" dirty="0"/>
                    </a:p>
                  </a:txBody>
                  <a:tcPr/>
                </a:tc>
                <a:extLst>
                  <a:ext uri="{0D108BD9-81ED-4DB2-BD59-A6C34878D82A}">
                    <a16:rowId xmlns:a16="http://schemas.microsoft.com/office/drawing/2014/main" val="1000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Data flow analysis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Processor analyzes which instructions are dependent on each other’s results, or data, to create an optimized schedule of instructions</a:t>
                      </a:r>
                    </a:p>
                  </a:txBody>
                  <a:tcPr/>
                </a:tc>
                <a:extLst>
                  <a:ext uri="{0D108BD9-81ED-4DB2-BD59-A6C34878D82A}">
                    <a16:rowId xmlns:a16="http://schemas.microsoft.com/office/drawing/2014/main" val="1000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Speculative (suy đoán)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execution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Using branch prediction and data flow analysis, some processors speculatively execute instructions ahead of their actual appearance in the program execution, holding the results in temporary locations, keeping execution engines as busy as possible</a:t>
                      </a:r>
                    </a:p>
                  </a:txBody>
                  <a:tcPr/>
                </a:tc>
                <a:extLst>
                  <a:ext uri="{0D108BD9-81ED-4DB2-BD59-A6C34878D82A}">
                    <a16:rowId xmlns:a16="http://schemas.microsoft.com/office/drawing/2014/main" val="10004"/>
                  </a:ext>
                </a:extLst>
              </a:tr>
            </a:tbl>
          </a:graphicData>
        </a:graphic>
      </p:graphicFrame>
      <p:sp>
        <p:nvSpPr>
          <p:cNvPr id="10" name="Text Placeholder 3"/>
          <p:cNvSpPr txBox="1">
            <a:spLocks/>
          </p:cNvSpPr>
          <p:nvPr/>
        </p:nvSpPr>
        <p:spPr>
          <a:xfrm>
            <a:off x="228600" y="819136"/>
            <a:ext cx="7559675" cy="609600"/>
          </a:xfrm>
          <a:prstGeom prst="rect">
            <a:avLst/>
          </a:prstGeom>
        </p:spPr>
        <p:txBody>
          <a:bodyPr vert="horz" lIns="91440" tIns="45720" rIns="91440" bIns="45720" rtlCol="0">
            <a:normAutofit fontScale="92500"/>
          </a:bodyPr>
          <a:lstStyle/>
          <a:p>
            <a:pPr marL="228600" marR="0" lvl="0" indent="-228600" algn="l" defTabSz="914400" rtl="0" eaLnBrk="1" fontAlgn="auto" latinLnBrk="0" hangingPunct="1">
              <a:lnSpc>
                <a:spcPct val="100000"/>
              </a:lnSpc>
              <a:spcBef>
                <a:spcPts val="2000"/>
              </a:spcBef>
              <a:spcAft>
                <a:spcPts val="0"/>
              </a:spcAft>
              <a:buClr>
                <a:schemeClr val="accent1"/>
              </a:buClr>
              <a:buSzPct val="75000"/>
              <a:buFont typeface="Wingdings" pitchFamily="2" charset="2"/>
              <a:buNone/>
              <a:tabLst/>
              <a:defRPr/>
            </a:pPr>
            <a:r>
              <a:rPr kumimoji="0" lang="en-US" sz="2000" b="0" i="0" u="none" strike="noStrike" kern="1200" cap="none" spc="0" normalizeH="0" baseline="0" noProof="0" dirty="0">
                <a:ln>
                  <a:noFill/>
                </a:ln>
                <a:solidFill>
                  <a:schemeClr val="tx1"/>
                </a:solidFill>
                <a:effectLst/>
                <a:uLnTx/>
                <a:uFillTx/>
                <a:latin typeface="+mn-lt"/>
                <a:ea typeface="+mn-ea"/>
                <a:cs typeface="+mn-cs"/>
              </a:rPr>
              <a:t>Techniques built into contemporary (current) processors include:</a:t>
            </a:r>
          </a:p>
        </p:txBody>
      </p:sp>
      <p:sp>
        <p:nvSpPr>
          <p:cNvPr id="11" name="Slide Number Placeholder 10"/>
          <p:cNvSpPr>
            <a:spLocks noGrp="1"/>
          </p:cNvSpPr>
          <p:nvPr>
            <p:ph type="sldNum" sz="quarter" idx="12"/>
          </p:nvPr>
        </p:nvSpPr>
        <p:spPr/>
        <p:txBody>
          <a:bodyPr/>
          <a:lstStyle/>
          <a:p>
            <a:fld id="{8AF02B71-8991-4516-A01E-F1A9ACD28BDC}" type="slidenum">
              <a:rPr lang="en-US" smtClean="0"/>
              <a:pPr/>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498475" y="484094"/>
            <a:ext cx="4759325" cy="1344706"/>
          </a:xfrm>
        </p:spPr>
        <p:txBody>
          <a:bodyPr/>
          <a:lstStyle/>
          <a:p>
            <a:r>
              <a:rPr lang="en-US" dirty="0">
                <a:effectLst>
                  <a:outerShdw blurRad="38100" dist="38100" dir="2700000" algn="tl">
                    <a:srgbClr val="000000">
                      <a:alpha val="43137"/>
                    </a:srgbClr>
                  </a:outerShdw>
                </a:effectLst>
              </a:rPr>
              <a:t>Performance </a:t>
            </a:r>
            <a:br>
              <a:rPr lang="en-US" dirty="0">
                <a:effectLst>
                  <a:outerShdw blurRad="38100" dist="38100" dir="2700000" algn="tl">
                    <a:srgbClr val="000000">
                      <a:alpha val="43137"/>
                    </a:srgbClr>
                  </a:outerShdw>
                </a:effectLst>
              </a:rPr>
            </a:br>
            <a:r>
              <a:rPr lang="en-US" dirty="0">
                <a:effectLst>
                  <a:outerShdw blurRad="38100" dist="38100" dir="2700000" algn="tl">
                    <a:srgbClr val="000000">
                      <a:alpha val="43137"/>
                    </a:srgbClr>
                  </a:outerShdw>
                </a:effectLst>
              </a:rPr>
              <a:t>Balance</a:t>
            </a:r>
          </a:p>
        </p:txBody>
      </p:sp>
      <p:graphicFrame>
        <p:nvGraphicFramePr>
          <p:cNvPr id="51" name="Content Placeholder 50"/>
          <p:cNvGraphicFramePr>
            <a:graphicFrameLocks noGrp="1"/>
          </p:cNvGraphicFramePr>
          <p:nvPr>
            <p:ph idx="1"/>
            <p:extLst>
              <p:ext uri="{D42A27DB-BD31-4B8C-83A1-F6EECF244321}">
                <p14:modId xmlns:p14="http://schemas.microsoft.com/office/powerpoint/2010/main" val="1173061328"/>
              </p:ext>
            </p:extLst>
          </p:nvPr>
        </p:nvGraphicFramePr>
        <p:xfrm>
          <a:off x="838200" y="243408"/>
          <a:ext cx="9601199" cy="6858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TextBox 9"/>
          <p:cNvSpPr txBox="1"/>
          <p:nvPr/>
        </p:nvSpPr>
        <p:spPr>
          <a:xfrm>
            <a:off x="0" y="1828800"/>
            <a:ext cx="4419600" cy="2754600"/>
          </a:xfrm>
          <a:prstGeom prst="rect">
            <a:avLst/>
          </a:prstGeom>
          <a:noFill/>
        </p:spPr>
        <p:txBody>
          <a:bodyPr wrap="square" rtlCol="0">
            <a:spAutoFit/>
          </a:bodyPr>
          <a:lstStyle/>
          <a:p>
            <a:pPr lvl="1" indent="-228600" eaLnBrk="1" hangingPunct="1">
              <a:spcBef>
                <a:spcPts val="1200"/>
              </a:spcBef>
              <a:buClr>
                <a:schemeClr val="accent1"/>
              </a:buClr>
              <a:buSzPct val="75000"/>
              <a:buFont typeface="Wingdings" pitchFamily="2" charset="2"/>
              <a:buChar char="n"/>
            </a:pPr>
            <a:r>
              <a:rPr lang="en-US" sz="2000" dirty="0">
                <a:solidFill>
                  <a:schemeClr val="tx1">
                    <a:lumMod val="65000"/>
                    <a:lumOff val="35000"/>
                  </a:schemeClr>
                </a:solidFill>
                <a:latin typeface="+mn-lt"/>
              </a:rPr>
              <a:t>Adjust the organization and</a:t>
            </a:r>
          </a:p>
          <a:p>
            <a:pPr lvl="1" indent="-228600" eaLnBrk="1" hangingPunct="1">
              <a:spcBef>
                <a:spcPts val="0"/>
              </a:spcBef>
              <a:buClr>
                <a:schemeClr val="accent1"/>
              </a:buClr>
              <a:buSzPct val="75000"/>
            </a:pPr>
            <a:r>
              <a:rPr lang="en-US" sz="2000" dirty="0">
                <a:solidFill>
                  <a:schemeClr val="tx1">
                    <a:lumMod val="65000"/>
                    <a:lumOff val="35000"/>
                  </a:schemeClr>
                </a:solidFill>
                <a:latin typeface="+mn-lt"/>
              </a:rPr>
              <a:t>architecture to compensate</a:t>
            </a:r>
          </a:p>
          <a:p>
            <a:pPr lvl="1" indent="-228600" eaLnBrk="1" hangingPunct="1">
              <a:spcBef>
                <a:spcPts val="0"/>
              </a:spcBef>
              <a:buClr>
                <a:schemeClr val="accent1"/>
              </a:buClr>
              <a:buSzPct val="75000"/>
            </a:pPr>
            <a:r>
              <a:rPr lang="en-US" sz="2000" dirty="0">
                <a:solidFill>
                  <a:schemeClr val="tx1">
                    <a:lumMod val="65000"/>
                    <a:lumOff val="35000"/>
                  </a:schemeClr>
                </a:solidFill>
                <a:latin typeface="+mn-lt"/>
              </a:rPr>
              <a:t>for the mismatch among the</a:t>
            </a:r>
          </a:p>
          <a:p>
            <a:pPr lvl="1" indent="-228600" eaLnBrk="1" hangingPunct="1">
              <a:spcBef>
                <a:spcPts val="0"/>
              </a:spcBef>
              <a:buClr>
                <a:schemeClr val="accent1"/>
              </a:buClr>
              <a:buSzPct val="75000"/>
            </a:pPr>
            <a:r>
              <a:rPr lang="en-US" sz="2000" dirty="0">
                <a:solidFill>
                  <a:schemeClr val="tx1">
                    <a:lumMod val="65000"/>
                    <a:lumOff val="35000"/>
                  </a:schemeClr>
                </a:solidFill>
                <a:latin typeface="+mn-lt"/>
              </a:rPr>
              <a:t>capabilities of the various</a:t>
            </a:r>
          </a:p>
          <a:p>
            <a:pPr lvl="1" indent="-228600" eaLnBrk="1" hangingPunct="1">
              <a:spcBef>
                <a:spcPts val="0"/>
              </a:spcBef>
              <a:buClr>
                <a:schemeClr val="accent1"/>
              </a:buClr>
              <a:buSzPct val="75000"/>
            </a:pPr>
            <a:r>
              <a:rPr lang="en-US" sz="2000" dirty="0">
                <a:solidFill>
                  <a:schemeClr val="tx1">
                    <a:lumMod val="65000"/>
                    <a:lumOff val="35000"/>
                  </a:schemeClr>
                </a:solidFill>
                <a:latin typeface="+mn-lt"/>
              </a:rPr>
              <a:t>components</a:t>
            </a:r>
          </a:p>
          <a:p>
            <a:pPr lvl="1" indent="-228600" eaLnBrk="1" hangingPunct="1">
              <a:spcBef>
                <a:spcPts val="1200"/>
              </a:spcBef>
              <a:buClr>
                <a:schemeClr val="accent1"/>
              </a:buClr>
              <a:buSzPct val="75000"/>
              <a:buFont typeface="Wingdings" pitchFamily="2" charset="2"/>
              <a:buChar char="n"/>
            </a:pPr>
            <a:r>
              <a:rPr lang="en-US" sz="2000" dirty="0">
                <a:solidFill>
                  <a:schemeClr val="tx1">
                    <a:lumMod val="65000"/>
                    <a:lumOff val="35000"/>
                  </a:schemeClr>
                </a:solidFill>
                <a:latin typeface="+mn-lt"/>
              </a:rPr>
              <a:t>Architectural examples </a:t>
            </a:r>
          </a:p>
          <a:p>
            <a:pPr lvl="1" indent="-228600" eaLnBrk="1" hangingPunct="1">
              <a:spcBef>
                <a:spcPts val="0"/>
              </a:spcBef>
              <a:buClr>
                <a:schemeClr val="accent1"/>
              </a:buClr>
              <a:buSzPct val="75000"/>
            </a:pPr>
            <a:r>
              <a:rPr lang="en-US" sz="2000" dirty="0">
                <a:solidFill>
                  <a:schemeClr val="tx1">
                    <a:lumMod val="65000"/>
                    <a:lumOff val="35000"/>
                  </a:schemeClr>
                </a:solidFill>
                <a:latin typeface="+mn-lt"/>
              </a:rPr>
              <a:t>include:</a:t>
            </a:r>
          </a:p>
          <a:p>
            <a:pPr lvl="1" indent="-228600" eaLnBrk="1" hangingPunct="1">
              <a:spcBef>
                <a:spcPts val="600"/>
              </a:spcBef>
              <a:buClr>
                <a:schemeClr val="accent1">
                  <a:lumMod val="60000"/>
                  <a:lumOff val="40000"/>
                </a:schemeClr>
              </a:buClr>
              <a:buSzPct val="75000"/>
              <a:buFont typeface="Wingdings" pitchFamily="2" charset="2"/>
              <a:buChar char="n"/>
            </a:pPr>
            <a:endParaRPr lang="en-US" sz="1800" dirty="0">
              <a:solidFill>
                <a:schemeClr val="tx1">
                  <a:lumMod val="65000"/>
                  <a:lumOff val="35000"/>
                </a:schemeClr>
              </a:solidFill>
              <a:latin typeface="+mn-lt"/>
            </a:endParaRPr>
          </a:p>
        </p:txBody>
      </p:sp>
      <p:sp>
        <p:nvSpPr>
          <p:cNvPr id="5" name="Slide Number Placeholder 4"/>
          <p:cNvSpPr>
            <a:spLocks noGrp="1"/>
          </p:cNvSpPr>
          <p:nvPr>
            <p:ph type="sldNum" sz="quarter" idx="12"/>
          </p:nvPr>
        </p:nvSpPr>
        <p:spPr/>
        <p:txBody>
          <a:bodyPr/>
          <a:lstStyle/>
          <a:p>
            <a:fld id="{8AF02B71-8991-4516-A01E-F1A9ACD28BDC}" type="slidenum">
              <a:rPr lang="en-US" smtClean="0"/>
              <a:pPr/>
              <a:t>43</a:t>
            </a:fld>
            <a:endParaRPr lang="en-US"/>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idx="4294967295"/>
          </p:nvPr>
        </p:nvSpPr>
        <p:spPr>
          <a:xfrm>
            <a:off x="381000" y="0"/>
            <a:ext cx="7772400" cy="1116013"/>
          </a:xfrm>
        </p:spPr>
        <p:txBody>
          <a:bodyPr/>
          <a:lstStyle/>
          <a:p>
            <a:r>
              <a:rPr lang="en-US" dirty="0"/>
              <a:t>Typical I/O Device Data Rates</a:t>
            </a:r>
          </a:p>
        </p:txBody>
      </p:sp>
      <p:pic>
        <p:nvPicPr>
          <p:cNvPr id="351233" name="Picture 1"/>
          <p:cNvPicPr>
            <a:picLocks noChangeAspect="1" noChangeArrowheads="1"/>
          </p:cNvPicPr>
          <p:nvPr/>
        </p:nvPicPr>
        <p:blipFill>
          <a:blip r:embed="rId3"/>
          <a:srcRect/>
          <a:stretch>
            <a:fillRect/>
          </a:stretch>
        </p:blipFill>
        <p:spPr bwMode="auto">
          <a:xfrm>
            <a:off x="214282" y="861672"/>
            <a:ext cx="8715436" cy="5853476"/>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8AF02B71-8991-4516-A01E-F1A9ACD28BDC}" type="slidenum">
              <a:rPr lang="en-US" smtClean="0"/>
              <a:pPr/>
              <a:t>44</a:t>
            </a:fld>
            <a:endParaRPr lang="en-US"/>
          </a:p>
        </p:txBody>
      </p:sp>
    </p:spTree>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10" name="Rectangle 6"/>
          <p:cNvSpPr>
            <a:spLocks noGrp="1" noChangeArrowheads="1"/>
          </p:cNvSpPr>
          <p:nvPr>
            <p:ph type="title"/>
          </p:nvPr>
        </p:nvSpPr>
        <p:spPr/>
        <p:txBody>
          <a:bodyPr/>
          <a:lstStyle/>
          <a:p>
            <a:r>
              <a:rPr lang="en-GB" dirty="0">
                <a:effectLst>
                  <a:outerShdw blurRad="38100" dist="38100" dir="2700000" algn="tl">
                    <a:srgbClr val="000000">
                      <a:alpha val="43137"/>
                    </a:srgbClr>
                  </a:outerShdw>
                </a:effectLst>
              </a:rPr>
              <a:t>Improvements in Chip Organization and Architecture</a:t>
            </a:r>
          </a:p>
        </p:txBody>
      </p:sp>
      <p:sp>
        <p:nvSpPr>
          <p:cNvPr id="98311" name="Rectangle 7"/>
          <p:cNvSpPr>
            <a:spLocks noGrp="1" noChangeArrowheads="1"/>
          </p:cNvSpPr>
          <p:nvPr>
            <p:ph idx="1"/>
          </p:nvPr>
        </p:nvSpPr>
        <p:spPr>
          <a:xfrm>
            <a:off x="498474" y="1981200"/>
            <a:ext cx="8145492" cy="4144963"/>
          </a:xfrm>
        </p:spPr>
        <p:txBody>
          <a:bodyPr>
            <a:noAutofit/>
          </a:bodyPr>
          <a:lstStyle/>
          <a:p>
            <a:r>
              <a:rPr lang="en-GB" sz="2400" b="1" dirty="0">
                <a:solidFill>
                  <a:schemeClr val="tx1"/>
                </a:solidFill>
              </a:rPr>
              <a:t>Increase hardware speed of processor</a:t>
            </a:r>
          </a:p>
          <a:p>
            <a:pPr lvl="1"/>
            <a:r>
              <a:rPr lang="en-GB" sz="2000" dirty="0">
                <a:solidFill>
                  <a:schemeClr val="tx1"/>
                </a:solidFill>
              </a:rPr>
              <a:t>Fundamentally due to shrinking logic gate size</a:t>
            </a:r>
          </a:p>
          <a:p>
            <a:pPr lvl="2"/>
            <a:r>
              <a:rPr lang="en-GB" sz="2000" dirty="0">
                <a:solidFill>
                  <a:schemeClr val="tx1"/>
                </a:solidFill>
              </a:rPr>
              <a:t>More gates, packed more tightly, increasing clock rate</a:t>
            </a:r>
          </a:p>
          <a:p>
            <a:pPr lvl="2"/>
            <a:r>
              <a:rPr lang="en-GB" sz="2000" dirty="0">
                <a:solidFill>
                  <a:schemeClr val="tx1"/>
                </a:solidFill>
              </a:rPr>
              <a:t>Propagation time for signals reduced</a:t>
            </a:r>
          </a:p>
          <a:p>
            <a:r>
              <a:rPr lang="en-GB" sz="2400" b="1" dirty="0">
                <a:solidFill>
                  <a:schemeClr val="tx1"/>
                </a:solidFill>
              </a:rPr>
              <a:t>Increase size and speed of caches</a:t>
            </a:r>
          </a:p>
          <a:p>
            <a:pPr lvl="1"/>
            <a:r>
              <a:rPr lang="en-GB" sz="2000" dirty="0">
                <a:solidFill>
                  <a:schemeClr val="tx1"/>
                </a:solidFill>
              </a:rPr>
              <a:t>Dedicating part of processor chip </a:t>
            </a:r>
          </a:p>
          <a:p>
            <a:pPr lvl="2"/>
            <a:r>
              <a:rPr lang="en-GB" sz="2000" dirty="0">
                <a:solidFill>
                  <a:schemeClr val="tx1"/>
                </a:solidFill>
              </a:rPr>
              <a:t>Cache access times drop significantly</a:t>
            </a:r>
          </a:p>
          <a:p>
            <a:r>
              <a:rPr lang="en-GB" sz="2400" b="1" dirty="0">
                <a:solidFill>
                  <a:schemeClr val="tx1"/>
                </a:solidFill>
              </a:rPr>
              <a:t>Change processor organization and architecture</a:t>
            </a:r>
          </a:p>
          <a:p>
            <a:pPr lvl="1"/>
            <a:r>
              <a:rPr lang="en-GB" sz="2000" dirty="0">
                <a:solidFill>
                  <a:schemeClr val="tx1"/>
                </a:solidFill>
              </a:rPr>
              <a:t>Increase effective speed of instruction execution</a:t>
            </a:r>
          </a:p>
          <a:p>
            <a:pPr lvl="1"/>
            <a:r>
              <a:rPr lang="en-GB" sz="2000" dirty="0">
                <a:solidFill>
                  <a:schemeClr val="tx1"/>
                </a:solidFill>
              </a:rPr>
              <a:t>Parallelism</a:t>
            </a:r>
          </a:p>
          <a:p>
            <a:pPr>
              <a:buFontTx/>
              <a:buNone/>
            </a:pPr>
            <a:endParaRPr lang="en-GB" sz="2400" dirty="0">
              <a:solidFill>
                <a:schemeClr val="tx1"/>
              </a:solidFill>
            </a:endParaRPr>
          </a:p>
        </p:txBody>
      </p:sp>
      <p:sp>
        <p:nvSpPr>
          <p:cNvPr id="4" name="Slide Number Placeholder 3"/>
          <p:cNvSpPr>
            <a:spLocks noGrp="1"/>
          </p:cNvSpPr>
          <p:nvPr>
            <p:ph type="sldNum" sz="quarter" idx="12"/>
          </p:nvPr>
        </p:nvSpPr>
        <p:spPr/>
        <p:txBody>
          <a:bodyPr/>
          <a:lstStyle/>
          <a:p>
            <a:fld id="{8AF02B71-8991-4516-A01E-F1A9ACD28BDC}" type="slidenum">
              <a:rPr lang="en-US" smtClean="0"/>
              <a:pPr/>
              <a:t>45</a:t>
            </a:fld>
            <a:endParaRPr lang="en-US"/>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2" name="Rectangle 4"/>
          <p:cNvSpPr>
            <a:spLocks noGrp="1" noChangeArrowheads="1"/>
          </p:cNvSpPr>
          <p:nvPr>
            <p:ph type="title"/>
          </p:nvPr>
        </p:nvSpPr>
        <p:spPr/>
        <p:txBody>
          <a:bodyPr/>
          <a:lstStyle/>
          <a:p>
            <a:r>
              <a:rPr lang="en-GB" dirty="0">
                <a:effectLst>
                  <a:outerShdw blurRad="38100" dist="38100" dir="2700000" algn="tl">
                    <a:srgbClr val="000000">
                      <a:alpha val="43137"/>
                    </a:srgbClr>
                  </a:outerShdw>
                </a:effectLst>
              </a:rPr>
              <a:t>Problems with Clock Speed and Login Density</a:t>
            </a:r>
          </a:p>
        </p:txBody>
      </p:sp>
      <p:sp>
        <p:nvSpPr>
          <p:cNvPr id="99333" name="Rectangle 5"/>
          <p:cNvSpPr>
            <a:spLocks noGrp="1" noChangeArrowheads="1"/>
          </p:cNvSpPr>
          <p:nvPr>
            <p:ph idx="1"/>
          </p:nvPr>
        </p:nvSpPr>
        <p:spPr>
          <a:xfrm>
            <a:off x="498474" y="1857364"/>
            <a:ext cx="8288368" cy="4343400"/>
          </a:xfrm>
        </p:spPr>
        <p:txBody>
          <a:bodyPr>
            <a:noAutofit/>
          </a:bodyPr>
          <a:lstStyle/>
          <a:p>
            <a:r>
              <a:rPr lang="en-GB" sz="2400" dirty="0">
                <a:solidFill>
                  <a:schemeClr val="tx1"/>
                </a:solidFill>
              </a:rPr>
              <a:t>Power</a:t>
            </a:r>
          </a:p>
          <a:p>
            <a:pPr lvl="1"/>
            <a:r>
              <a:rPr lang="en-GB" sz="2000" dirty="0">
                <a:solidFill>
                  <a:schemeClr val="tx1"/>
                </a:solidFill>
              </a:rPr>
              <a:t>Power density increases with density of logic and clock speed</a:t>
            </a:r>
          </a:p>
          <a:p>
            <a:pPr lvl="1"/>
            <a:r>
              <a:rPr lang="en-GB" sz="2000" dirty="0">
                <a:solidFill>
                  <a:schemeClr val="tx1"/>
                </a:solidFill>
              </a:rPr>
              <a:t>Dissipating heat</a:t>
            </a:r>
          </a:p>
          <a:p>
            <a:r>
              <a:rPr lang="en-GB" sz="2400" dirty="0">
                <a:solidFill>
                  <a:schemeClr val="tx1"/>
                </a:solidFill>
              </a:rPr>
              <a:t>RC (Resistance and Capacitance) delay</a:t>
            </a:r>
          </a:p>
          <a:p>
            <a:pPr lvl="1"/>
            <a:r>
              <a:rPr lang="en-GB" sz="2000" dirty="0">
                <a:solidFill>
                  <a:schemeClr val="tx1"/>
                </a:solidFill>
              </a:rPr>
              <a:t>Speed at which electrons flow limited by resistance and capacitance of metal wires connecting them</a:t>
            </a:r>
          </a:p>
          <a:p>
            <a:pPr lvl="1"/>
            <a:r>
              <a:rPr lang="en-GB" sz="2000" dirty="0">
                <a:solidFill>
                  <a:schemeClr val="tx1"/>
                </a:solidFill>
              </a:rPr>
              <a:t>Delay increases as RC product increases</a:t>
            </a:r>
          </a:p>
          <a:p>
            <a:pPr lvl="1"/>
            <a:r>
              <a:rPr lang="en-GB" sz="2000" b="1" dirty="0">
                <a:solidFill>
                  <a:srgbClr val="FF0000"/>
                </a:solidFill>
              </a:rPr>
              <a:t>Wire interconnects thinner, increasing resistance</a:t>
            </a:r>
          </a:p>
          <a:p>
            <a:pPr lvl="1"/>
            <a:r>
              <a:rPr lang="en-GB" sz="2000" b="1" dirty="0">
                <a:solidFill>
                  <a:srgbClr val="FF0000"/>
                </a:solidFill>
              </a:rPr>
              <a:t>Wires closer together, increasing capacitance</a:t>
            </a:r>
          </a:p>
          <a:p>
            <a:r>
              <a:rPr lang="en-GB" sz="2400" dirty="0">
                <a:solidFill>
                  <a:schemeClr val="tx1"/>
                </a:solidFill>
              </a:rPr>
              <a:t>Memory latency</a:t>
            </a:r>
          </a:p>
          <a:p>
            <a:pPr lvl="1"/>
            <a:r>
              <a:rPr lang="en-GB" sz="2000" dirty="0">
                <a:solidFill>
                  <a:schemeClr val="tx1"/>
                </a:solidFill>
              </a:rPr>
              <a:t>Memory speeds lag (slow down) processor speeds</a:t>
            </a:r>
          </a:p>
        </p:txBody>
      </p:sp>
      <p:sp>
        <p:nvSpPr>
          <p:cNvPr id="4" name="Slide Number Placeholder 3"/>
          <p:cNvSpPr>
            <a:spLocks noGrp="1"/>
          </p:cNvSpPr>
          <p:nvPr>
            <p:ph type="sldNum" sz="quarter" idx="12"/>
          </p:nvPr>
        </p:nvSpPr>
        <p:spPr/>
        <p:txBody>
          <a:bodyPr/>
          <a:lstStyle/>
          <a:p>
            <a:fld id="{8AF02B71-8991-4516-A01E-F1A9ACD28BDC}" type="slidenum">
              <a:rPr lang="en-US" smtClean="0"/>
              <a:pPr/>
              <a:t>46</a:t>
            </a:fld>
            <a:endParaRPr lang="en-US"/>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a:xfrm>
            <a:off x="428596" y="71414"/>
            <a:ext cx="4557714" cy="838184"/>
          </a:xfrm>
        </p:spPr>
        <p:txBody>
          <a:bodyPr>
            <a:normAutofit/>
          </a:bodyPr>
          <a:lstStyle/>
          <a:p>
            <a:pPr algn="ctr"/>
            <a:r>
              <a:rPr lang="en-GB" sz="3200" dirty="0">
                <a:effectLst>
                  <a:outerShdw blurRad="38100" dist="38100" dir="2700000" algn="tl">
                    <a:srgbClr val="000000">
                      <a:alpha val="43137"/>
                    </a:srgbClr>
                  </a:outerShdw>
                </a:effectLst>
              </a:rPr>
              <a:t>Processor Trends</a:t>
            </a:r>
          </a:p>
        </p:txBody>
      </p:sp>
      <p:pic>
        <p:nvPicPr>
          <p:cNvPr id="4" name="Picture 3" descr="f1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8235" t="20000" r="3529" b="30000"/>
              <a:stretch>
                <a:fillRect/>
              </a:stretch>
            </p:blipFill>
          </mc:Choice>
          <mc:Fallback>
            <p:blipFill>
              <a:blip r:embed="rId4"/>
              <a:srcRect l="8235" t="20000" r="3529" b="30000"/>
              <a:stretch>
                <a:fillRect/>
              </a:stretch>
            </p:blipFill>
          </mc:Fallback>
        </mc:AlternateContent>
        <p:spPr>
          <a:xfrm>
            <a:off x="71438" y="714356"/>
            <a:ext cx="9072594" cy="6000768"/>
          </a:xfrm>
          <a:prstGeom prst="rect">
            <a:avLst/>
          </a:prstGeom>
        </p:spPr>
      </p:pic>
      <p:sp>
        <p:nvSpPr>
          <p:cNvPr id="15" name="TextBox 14"/>
          <p:cNvSpPr txBox="1"/>
          <p:nvPr/>
        </p:nvSpPr>
        <p:spPr>
          <a:xfrm>
            <a:off x="8720667" y="1049867"/>
            <a:ext cx="184666" cy="461665"/>
          </a:xfrm>
          <a:prstGeom prst="rect">
            <a:avLst/>
          </a:prstGeom>
          <a:noFill/>
        </p:spPr>
        <p:txBody>
          <a:bodyPr wrap="none" rtlCol="0">
            <a:spAutoFit/>
          </a:bodyPr>
          <a:lstStyle/>
          <a:p>
            <a:endParaRPr lang="en-US" dirty="0"/>
          </a:p>
        </p:txBody>
      </p:sp>
      <p:cxnSp>
        <p:nvCxnSpPr>
          <p:cNvPr id="6" name="Straight Arrow Connector 5"/>
          <p:cNvCxnSpPr/>
          <p:nvPr/>
        </p:nvCxnSpPr>
        <p:spPr>
          <a:xfrm rot="16200000" flipH="1">
            <a:off x="1821637" y="3393281"/>
            <a:ext cx="2071702" cy="1428760"/>
          </a:xfrm>
          <a:prstGeom prst="straightConnector1">
            <a:avLst/>
          </a:prstGeom>
          <a:ln w="9525">
            <a:solidFill>
              <a:srgbClr val="00B050"/>
            </a:solidFill>
            <a:prstDash val="sysDash"/>
            <a:tailEnd type="arrow"/>
          </a:ln>
        </p:spPr>
        <p:style>
          <a:lnRef idx="2">
            <a:schemeClr val="accent1"/>
          </a:lnRef>
          <a:fillRef idx="0">
            <a:schemeClr val="accent1"/>
          </a:fillRef>
          <a:effectRef idx="1">
            <a:schemeClr val="accent1"/>
          </a:effectRef>
          <a:fontRef idx="minor">
            <a:schemeClr val="tx1"/>
          </a:fontRef>
        </p:style>
      </p:cxnSp>
      <p:cxnSp>
        <p:nvCxnSpPr>
          <p:cNvPr id="7" name="Straight Arrow Connector 6"/>
          <p:cNvCxnSpPr/>
          <p:nvPr/>
        </p:nvCxnSpPr>
        <p:spPr>
          <a:xfrm rot="16200000" flipH="1">
            <a:off x="2500297" y="3071809"/>
            <a:ext cx="2000264" cy="1428761"/>
          </a:xfrm>
          <a:prstGeom prst="straightConnector1">
            <a:avLst/>
          </a:prstGeom>
          <a:ln w="9525">
            <a:solidFill>
              <a:schemeClr val="accent2">
                <a:lumMod val="75000"/>
                <a:lumOff val="25000"/>
              </a:schemeClr>
            </a:solidFill>
            <a:prstDash val="sysDash"/>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8"/>
          <p:cNvCxnSpPr/>
          <p:nvPr/>
        </p:nvCxnSpPr>
        <p:spPr>
          <a:xfrm rot="16200000" flipH="1">
            <a:off x="3679024" y="2750339"/>
            <a:ext cx="1500199" cy="1000134"/>
          </a:xfrm>
          <a:prstGeom prst="straightConnector1">
            <a:avLst/>
          </a:prstGeom>
          <a:ln w="9525">
            <a:solidFill>
              <a:srgbClr val="FF0000"/>
            </a:solidFill>
            <a:prstDash val="sysDash"/>
            <a:tailEnd type="arrow"/>
          </a:ln>
        </p:spPr>
        <p:style>
          <a:lnRef idx="2">
            <a:schemeClr val="accent1"/>
          </a:lnRef>
          <a:fillRef idx="0">
            <a:schemeClr val="accent1"/>
          </a:fillRef>
          <a:effectRef idx="1">
            <a:schemeClr val="accent1"/>
          </a:effectRef>
          <a:fontRef idx="minor">
            <a:schemeClr val="tx1"/>
          </a:fontRef>
        </p:style>
      </p:cxnSp>
      <p:cxnSp>
        <p:nvCxnSpPr>
          <p:cNvPr id="11" name="Straight Arrow Connector 10"/>
          <p:cNvCxnSpPr/>
          <p:nvPr/>
        </p:nvCxnSpPr>
        <p:spPr>
          <a:xfrm rot="16200000" flipH="1">
            <a:off x="4571999" y="2357430"/>
            <a:ext cx="928695" cy="642944"/>
          </a:xfrm>
          <a:prstGeom prst="straightConnector1">
            <a:avLst/>
          </a:prstGeom>
          <a:ln w="9525">
            <a:solidFill>
              <a:srgbClr val="002060"/>
            </a:solidFill>
            <a:prstDash val="sysDash"/>
            <a:tailEnd type="arrow"/>
          </a:ln>
        </p:spPr>
        <p:style>
          <a:lnRef idx="2">
            <a:schemeClr val="accent1"/>
          </a:lnRef>
          <a:fillRef idx="0">
            <a:schemeClr val="accent1"/>
          </a:fillRef>
          <a:effectRef idx="1">
            <a:schemeClr val="accent1"/>
          </a:effectRef>
          <a:fontRef idx="minor">
            <a:schemeClr val="tx1"/>
          </a:fontRef>
        </p:style>
      </p:cxnSp>
      <p:sp>
        <p:nvSpPr>
          <p:cNvPr id="10" name="Slide Number Placeholder 9"/>
          <p:cNvSpPr>
            <a:spLocks noGrp="1"/>
          </p:cNvSpPr>
          <p:nvPr>
            <p:ph type="sldNum" sz="quarter" idx="12"/>
          </p:nvPr>
        </p:nvSpPr>
        <p:spPr/>
        <p:txBody>
          <a:bodyPr/>
          <a:lstStyle/>
          <a:p>
            <a:fld id="{8AF02B71-8991-4516-A01E-F1A9ACD28BDC}" type="slidenum">
              <a:rPr lang="en-US" smtClean="0"/>
              <a:pPr/>
              <a:t>47</a:t>
            </a:fld>
            <a:endParaRPr lang="en-US"/>
          </a:p>
        </p:txBody>
      </p:sp>
    </p:spTree>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8" name="Rectangle 4"/>
          <p:cNvSpPr>
            <a:spLocks noGrp="1" noChangeArrowheads="1"/>
          </p:cNvSpPr>
          <p:nvPr>
            <p:ph type="title"/>
          </p:nvPr>
        </p:nvSpPr>
        <p:spPr>
          <a:xfrm>
            <a:off x="374833" y="428604"/>
            <a:ext cx="7769067" cy="801766"/>
          </a:xfrm>
        </p:spPr>
        <p:txBody>
          <a:bodyPr/>
          <a:lstStyle/>
          <a:p>
            <a:pPr>
              <a:spcBef>
                <a:spcPts val="600"/>
              </a:spcBef>
              <a:spcAft>
                <a:spcPts val="600"/>
              </a:spcAft>
            </a:pPr>
            <a:r>
              <a:rPr lang="en-GB" dirty="0">
                <a:effectLst>
                  <a:outerShdw blurRad="38100" dist="38100" dir="2700000" algn="tl">
                    <a:srgbClr val="000000">
                      <a:alpha val="43137"/>
                    </a:srgbClr>
                  </a:outerShdw>
                </a:effectLst>
              </a:rPr>
              <a:t>2.3- Multicore, MICs, </a:t>
            </a:r>
            <a:r>
              <a:rPr lang="en-GB">
                <a:effectLst>
                  <a:outerShdw blurRad="38100" dist="38100" dir="2700000" algn="tl">
                    <a:srgbClr val="000000">
                      <a:alpha val="43137"/>
                    </a:srgbClr>
                  </a:outerShdw>
                </a:effectLst>
              </a:rPr>
              <a:t>and GPGPUs</a:t>
            </a:r>
            <a:endParaRPr lang="en-GB" dirty="0"/>
          </a:p>
        </p:txBody>
      </p:sp>
      <p:sp>
        <p:nvSpPr>
          <p:cNvPr id="103429" name="Rectangle 5"/>
          <p:cNvSpPr>
            <a:spLocks noGrp="1" noChangeArrowheads="1"/>
          </p:cNvSpPr>
          <p:nvPr>
            <p:ph sz="half" idx="2"/>
          </p:nvPr>
        </p:nvSpPr>
        <p:spPr>
          <a:xfrm>
            <a:off x="497540" y="2447365"/>
            <a:ext cx="8074987" cy="2696147"/>
          </a:xfrm>
        </p:spPr>
        <p:txBody>
          <a:bodyPr>
            <a:normAutofit lnSpcReduction="10000"/>
          </a:bodyPr>
          <a:lstStyle/>
          <a:p>
            <a:r>
              <a:rPr lang="en-GB" sz="2800" dirty="0">
                <a:solidFill>
                  <a:schemeClr val="tx1"/>
                </a:solidFill>
              </a:rPr>
              <a:t>Multicore CPU: CPU has some cores running concurrently.</a:t>
            </a:r>
          </a:p>
          <a:p>
            <a:r>
              <a:rPr lang="en-GB" sz="2800" dirty="0">
                <a:solidFill>
                  <a:schemeClr val="tx1"/>
                </a:solidFill>
              </a:rPr>
              <a:t>MIC: Many integrated core</a:t>
            </a:r>
          </a:p>
          <a:p>
            <a:r>
              <a:rPr lang="en-GB" sz="2800">
                <a:solidFill>
                  <a:schemeClr val="tx1"/>
                </a:solidFill>
              </a:rPr>
              <a:t>GPGPU: General Purpose Graphical </a:t>
            </a:r>
            <a:r>
              <a:rPr lang="en-GB" sz="2800" dirty="0">
                <a:solidFill>
                  <a:schemeClr val="tx1"/>
                </a:solidFill>
              </a:rPr>
              <a:t>Processing Unit</a:t>
            </a:r>
          </a:p>
        </p:txBody>
      </p:sp>
      <p:sp>
        <p:nvSpPr>
          <p:cNvPr id="4" name="Slide Number Placeholder 3"/>
          <p:cNvSpPr>
            <a:spLocks noGrp="1"/>
          </p:cNvSpPr>
          <p:nvPr>
            <p:ph type="sldNum" sz="quarter" idx="12"/>
          </p:nvPr>
        </p:nvSpPr>
        <p:spPr/>
        <p:txBody>
          <a:bodyPr/>
          <a:lstStyle/>
          <a:p>
            <a:fld id="{8AF02B71-8991-4516-A01E-F1A9ACD28BDC}" type="slidenum">
              <a:rPr lang="en-US" smtClean="0"/>
              <a:pPr/>
              <a:t>48</a:t>
            </a:fld>
            <a:endParaRPr lang="en-US"/>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0" name="Content Placeholder 19"/>
          <p:cNvGraphicFramePr>
            <a:graphicFrameLocks noGrp="1"/>
          </p:cNvGraphicFramePr>
          <p:nvPr>
            <p:ph idx="4294967295"/>
          </p:nvPr>
        </p:nvGraphicFramePr>
        <p:xfrm>
          <a:off x="533400" y="381000"/>
          <a:ext cx="8229600" cy="6248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2404" name="Rectangle 4"/>
          <p:cNvSpPr>
            <a:spLocks noGrp="1" noChangeArrowheads="1"/>
          </p:cNvSpPr>
          <p:nvPr>
            <p:ph type="title" idx="4294967295"/>
          </p:nvPr>
        </p:nvSpPr>
        <p:spPr>
          <a:xfrm>
            <a:off x="533400" y="457200"/>
            <a:ext cx="7556500" cy="1116012"/>
          </a:xfrm>
        </p:spPr>
        <p:txBody>
          <a:bodyPr/>
          <a:lstStyle/>
          <a:p>
            <a:r>
              <a:rPr lang="en-GB" dirty="0">
                <a:effectLst>
                  <a:outerShdw blurRad="38100" dist="38100" dir="2700000" algn="tl">
                    <a:srgbClr val="000000">
                      <a:alpha val="43137"/>
                    </a:srgbClr>
                  </a:outerShdw>
                </a:effectLst>
              </a:rPr>
              <a:t>Multicore</a:t>
            </a:r>
          </a:p>
        </p:txBody>
      </p:sp>
      <p:sp>
        <p:nvSpPr>
          <p:cNvPr id="28" name="TextBox 27"/>
          <p:cNvSpPr txBox="1"/>
          <p:nvPr/>
        </p:nvSpPr>
        <p:spPr>
          <a:xfrm>
            <a:off x="186267" y="1811867"/>
            <a:ext cx="184666" cy="461665"/>
          </a:xfrm>
          <a:prstGeom prst="rect">
            <a:avLst/>
          </a:prstGeom>
          <a:noFill/>
        </p:spPr>
        <p:txBody>
          <a:bodyPr wrap="none" rtlCol="0">
            <a:spAutoFit/>
          </a:bodyPr>
          <a:lstStyle/>
          <a:p>
            <a:endParaRPr lang="en-US" dirty="0"/>
          </a:p>
        </p:txBody>
      </p:sp>
      <p:sp>
        <p:nvSpPr>
          <p:cNvPr id="30" name="TextBox 29"/>
          <p:cNvSpPr txBox="1"/>
          <p:nvPr/>
        </p:nvSpPr>
        <p:spPr>
          <a:xfrm>
            <a:off x="321733" y="795867"/>
            <a:ext cx="184666" cy="461665"/>
          </a:xfrm>
          <a:prstGeom prst="rect">
            <a:avLst/>
          </a:prstGeom>
          <a:noFill/>
        </p:spPr>
        <p:txBody>
          <a:bodyPr wrap="none" rtlCol="0">
            <a:spAutoFit/>
          </a:bodyPr>
          <a:lstStyle/>
          <a:p>
            <a:endParaRPr lang="en-US" dirty="0"/>
          </a:p>
        </p:txBody>
      </p:sp>
      <p:sp>
        <p:nvSpPr>
          <p:cNvPr id="6" name="Slide Number Placeholder 5"/>
          <p:cNvSpPr>
            <a:spLocks noGrp="1"/>
          </p:cNvSpPr>
          <p:nvPr>
            <p:ph type="sldNum" sz="quarter" idx="12"/>
          </p:nvPr>
        </p:nvSpPr>
        <p:spPr/>
        <p:txBody>
          <a:bodyPr/>
          <a:lstStyle/>
          <a:p>
            <a:fld id="{8AF02B71-8991-4516-A01E-F1A9ACD28BDC}" type="slidenum">
              <a:rPr lang="en-US" smtClean="0"/>
              <a:pPr/>
              <a:t>49</a:t>
            </a:fld>
            <a:endParaRPr lang="en-US"/>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8" name="Rectangle 4"/>
          <p:cNvSpPr>
            <a:spLocks noGrp="1" noChangeArrowheads="1"/>
          </p:cNvSpPr>
          <p:nvPr>
            <p:ph type="title"/>
          </p:nvPr>
        </p:nvSpPr>
        <p:spPr>
          <a:xfrm>
            <a:off x="498474" y="484094"/>
            <a:ext cx="7556313" cy="1344706"/>
          </a:xfrm>
        </p:spPr>
        <p:txBody>
          <a:bodyPr/>
          <a:lstStyle/>
          <a:p>
            <a:pPr>
              <a:spcBef>
                <a:spcPts val="600"/>
              </a:spcBef>
              <a:spcAft>
                <a:spcPts val="600"/>
              </a:spcAft>
            </a:pPr>
            <a:r>
              <a:rPr lang="en-GB" dirty="0">
                <a:effectLst>
                  <a:outerShdw blurRad="38100" dist="38100" dir="2700000" algn="tl">
                    <a:srgbClr val="000000">
                      <a:alpha val="43137"/>
                    </a:srgbClr>
                  </a:outerShdw>
                </a:effectLst>
              </a:rPr>
              <a:t>Many Integrated Core (MIC)</a:t>
            </a:r>
            <a:br>
              <a:rPr lang="en-GB" dirty="0">
                <a:effectLst>
                  <a:outerShdw blurRad="38100" dist="38100" dir="2700000" algn="tl">
                    <a:srgbClr val="000000">
                      <a:alpha val="43137"/>
                    </a:srgbClr>
                  </a:outerShdw>
                </a:effectLst>
              </a:rPr>
            </a:br>
            <a:r>
              <a:rPr lang="en-US" dirty="0">
                <a:effectLst>
                  <a:outerShdw blurRad="38100" dist="38100" dir="2700000" algn="tl">
                    <a:srgbClr val="000000">
                      <a:alpha val="43137"/>
                    </a:srgbClr>
                  </a:outerShdw>
                </a:effectLst>
              </a:rPr>
              <a:t>Graphics Processing Unit (GPU)</a:t>
            </a:r>
            <a:br>
              <a:rPr lang="en-US" dirty="0"/>
            </a:br>
            <a:endParaRPr lang="en-GB" dirty="0"/>
          </a:p>
        </p:txBody>
      </p:sp>
      <p:sp>
        <p:nvSpPr>
          <p:cNvPr id="103429" name="Rectangle 5"/>
          <p:cNvSpPr>
            <a:spLocks noGrp="1" noChangeArrowheads="1"/>
          </p:cNvSpPr>
          <p:nvPr>
            <p:ph sz="half" idx="2"/>
          </p:nvPr>
        </p:nvSpPr>
        <p:spPr>
          <a:xfrm>
            <a:off x="202545" y="2571744"/>
            <a:ext cx="4155141" cy="3357586"/>
          </a:xfrm>
        </p:spPr>
        <p:txBody>
          <a:bodyPr>
            <a:noAutofit/>
          </a:bodyPr>
          <a:lstStyle/>
          <a:p>
            <a:r>
              <a:rPr lang="en-GB" sz="2000" dirty="0">
                <a:solidFill>
                  <a:schemeClr val="tx1"/>
                </a:solidFill>
              </a:rPr>
              <a:t>Leap (fast growth) in performance as well as the challenges in developing software to exploit such a large number of cores</a:t>
            </a:r>
          </a:p>
          <a:p>
            <a:r>
              <a:rPr lang="en-GB" sz="2000" dirty="0">
                <a:solidFill>
                  <a:schemeClr val="tx1"/>
                </a:solidFill>
              </a:rPr>
              <a:t>The multicore and MIC strategy involves a homogeneous (same kind)  collection of general purpose processors on a single chip</a:t>
            </a:r>
          </a:p>
        </p:txBody>
      </p:sp>
      <p:sp>
        <p:nvSpPr>
          <p:cNvPr id="16" name="Content Placeholder 15"/>
          <p:cNvSpPr>
            <a:spLocks noGrp="1"/>
          </p:cNvSpPr>
          <p:nvPr>
            <p:ph sz="quarter" idx="4"/>
          </p:nvPr>
        </p:nvSpPr>
        <p:spPr>
          <a:xfrm>
            <a:off x="4429124" y="2500306"/>
            <a:ext cx="4714876" cy="3500462"/>
          </a:xfrm>
        </p:spPr>
        <p:txBody>
          <a:bodyPr>
            <a:noAutofit/>
          </a:bodyPr>
          <a:lstStyle/>
          <a:p>
            <a:r>
              <a:rPr lang="en-US" sz="2000" dirty="0">
                <a:solidFill>
                  <a:schemeClr val="tx1"/>
                </a:solidFill>
              </a:rPr>
              <a:t>Core designed to perform parallel operations on graphics data</a:t>
            </a:r>
          </a:p>
          <a:p>
            <a:r>
              <a:rPr lang="en-US" sz="2000" dirty="0">
                <a:solidFill>
                  <a:schemeClr val="tx1"/>
                </a:solidFill>
              </a:rPr>
              <a:t>Traditionally found on a plug-in graphics card, it is used to encode and render 2D and 3D graphics as well as process video</a:t>
            </a:r>
          </a:p>
          <a:p>
            <a:r>
              <a:rPr lang="en-US" sz="2000" dirty="0">
                <a:solidFill>
                  <a:schemeClr val="tx1"/>
                </a:solidFill>
              </a:rPr>
              <a:t>Used as vector processors for a variety of applications that require repetitive computations</a:t>
            </a:r>
          </a:p>
        </p:txBody>
      </p:sp>
      <p:sp>
        <p:nvSpPr>
          <p:cNvPr id="5" name="Text Placeholder 4"/>
          <p:cNvSpPr>
            <a:spLocks noGrp="1"/>
          </p:cNvSpPr>
          <p:nvPr>
            <p:ph type="body" idx="1"/>
          </p:nvPr>
        </p:nvSpPr>
        <p:spPr>
          <a:xfrm>
            <a:off x="285720" y="2214554"/>
            <a:ext cx="3657600" cy="322729"/>
          </a:xfrm>
        </p:spPr>
        <p:txBody>
          <a:bodyPr/>
          <a:lstStyle/>
          <a:p>
            <a:r>
              <a:rPr lang="en-US" b="1" dirty="0"/>
              <a:t>MIC	</a:t>
            </a:r>
            <a:endParaRPr lang="en-US" sz="3000" b="1" dirty="0">
              <a:solidFill>
                <a:schemeClr val="accent1"/>
              </a:solidFill>
            </a:endParaRPr>
          </a:p>
        </p:txBody>
      </p:sp>
      <p:sp>
        <p:nvSpPr>
          <p:cNvPr id="15" name="Text Placeholder 14"/>
          <p:cNvSpPr>
            <a:spLocks noGrp="1"/>
          </p:cNvSpPr>
          <p:nvPr>
            <p:ph type="body" sz="quarter" idx="3"/>
          </p:nvPr>
        </p:nvSpPr>
        <p:spPr>
          <a:xfrm>
            <a:off x="4572000" y="2177577"/>
            <a:ext cx="3657600" cy="322729"/>
          </a:xfrm>
        </p:spPr>
        <p:txBody>
          <a:bodyPr/>
          <a:lstStyle/>
          <a:p>
            <a:r>
              <a:rPr lang="en-US" b="1" dirty="0"/>
              <a:t>GPU</a:t>
            </a:r>
          </a:p>
        </p:txBody>
      </p:sp>
      <p:sp>
        <p:nvSpPr>
          <p:cNvPr id="7" name="Slide Number Placeholder 6"/>
          <p:cNvSpPr>
            <a:spLocks noGrp="1"/>
          </p:cNvSpPr>
          <p:nvPr>
            <p:ph type="sldNum" sz="quarter" idx="12"/>
          </p:nvPr>
        </p:nvSpPr>
        <p:spPr/>
        <p:txBody>
          <a:bodyPr/>
          <a:lstStyle/>
          <a:p>
            <a:fld id="{8AF02B71-8991-4516-A01E-F1A9ACD28BDC}" type="slidenum">
              <a:rPr lang="en-US" smtClean="0"/>
              <a:pPr/>
              <a:t>50</a:t>
            </a:fld>
            <a:endParaRPr lang="en-US"/>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idx="4294967295"/>
          </p:nvPr>
        </p:nvSpPr>
        <p:spPr>
          <a:xfrm>
            <a:off x="428596" y="214290"/>
            <a:ext cx="7861300" cy="1116013"/>
          </a:xfrm>
        </p:spPr>
        <p:txBody>
          <a:bodyPr/>
          <a:lstStyle/>
          <a:p>
            <a:r>
              <a:rPr lang="en-US" sz="3200" b="1" dirty="0">
                <a:effectLst>
                  <a:outerShdw blurRad="38100" dist="38100" dir="2700000" algn="tl">
                    <a:srgbClr val="000000">
                      <a:alpha val="43137"/>
                    </a:srgbClr>
                  </a:outerShdw>
                </a:effectLst>
              </a:rPr>
              <a:t>Read by Yourself</a:t>
            </a:r>
            <a:endParaRPr lang="en-GB" sz="3200" b="1" dirty="0">
              <a:effectLst>
                <a:outerShdw blurRad="38100" dist="38100" dir="2700000" algn="tl">
                  <a:srgbClr val="000000">
                    <a:alpha val="43137"/>
                  </a:srgbClr>
                </a:outerShdw>
              </a:effectLst>
            </a:endParaRPr>
          </a:p>
        </p:txBody>
      </p:sp>
      <p:sp>
        <p:nvSpPr>
          <p:cNvPr id="4" name="Rectangle 3"/>
          <p:cNvSpPr/>
          <p:nvPr/>
        </p:nvSpPr>
        <p:spPr>
          <a:xfrm>
            <a:off x="714348" y="2000240"/>
            <a:ext cx="7500990" cy="954107"/>
          </a:xfrm>
          <a:prstGeom prst="rect">
            <a:avLst/>
          </a:prstGeom>
        </p:spPr>
        <p:txBody>
          <a:bodyPr wrap="square">
            <a:spAutoFit/>
          </a:bodyPr>
          <a:lstStyle/>
          <a:p>
            <a:r>
              <a:rPr lang="en-US" sz="2800" b="1" dirty="0"/>
              <a:t>2.4- The Evolution of The Intel x86 Architecture</a:t>
            </a:r>
          </a:p>
          <a:p>
            <a:r>
              <a:rPr lang="en-US" sz="2800" b="1" dirty="0"/>
              <a:t>2.5- Embedded Systems and the ARM</a:t>
            </a:r>
          </a:p>
        </p:txBody>
      </p:sp>
      <p:sp>
        <p:nvSpPr>
          <p:cNvPr id="6" name="Rectangle 5"/>
          <p:cNvSpPr/>
          <p:nvPr/>
        </p:nvSpPr>
        <p:spPr>
          <a:xfrm>
            <a:off x="428596" y="3835320"/>
            <a:ext cx="8358246" cy="2308324"/>
          </a:xfrm>
          <a:prstGeom prst="rect">
            <a:avLst/>
          </a:prstGeom>
        </p:spPr>
        <p:txBody>
          <a:bodyPr wrap="square">
            <a:spAutoFit/>
          </a:bodyPr>
          <a:lstStyle/>
          <a:p>
            <a:r>
              <a:rPr lang="en-US" b="1" dirty="0"/>
              <a:t>CISC</a:t>
            </a:r>
            <a:r>
              <a:rPr lang="en-US" dirty="0"/>
              <a:t>: Complex Instruction Set Computer, CPU is equipped a large set of instructions </a:t>
            </a:r>
          </a:p>
          <a:p>
            <a:r>
              <a:rPr lang="en-US" b="1" dirty="0"/>
              <a:t>RISC</a:t>
            </a:r>
            <a:r>
              <a:rPr lang="en-US" dirty="0"/>
              <a:t>: Reduced Instruction Set Computer, CPU is equipped basic instructions only based on the thinking: A high instruction is created using some basic instructions. </a:t>
            </a:r>
          </a:p>
          <a:p>
            <a:r>
              <a:rPr lang="en-US" b="1" dirty="0"/>
              <a:t>ARM</a:t>
            </a:r>
            <a:r>
              <a:rPr lang="en-US" dirty="0"/>
              <a:t>: Advanced RISC Machine</a:t>
            </a:r>
          </a:p>
        </p:txBody>
      </p:sp>
      <p:sp>
        <p:nvSpPr>
          <p:cNvPr id="7" name="Rectangle 6"/>
          <p:cNvSpPr/>
          <p:nvPr/>
        </p:nvSpPr>
        <p:spPr>
          <a:xfrm>
            <a:off x="71406" y="3357562"/>
            <a:ext cx="3214710" cy="42862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Some definitions:</a:t>
            </a:r>
          </a:p>
        </p:txBody>
      </p:sp>
      <p:sp>
        <p:nvSpPr>
          <p:cNvPr id="8" name="Slide Number Placeholder 7"/>
          <p:cNvSpPr>
            <a:spLocks noGrp="1"/>
          </p:cNvSpPr>
          <p:nvPr>
            <p:ph type="sldNum" sz="quarter" idx="12"/>
          </p:nvPr>
        </p:nvSpPr>
        <p:spPr/>
        <p:txBody>
          <a:bodyPr/>
          <a:lstStyle/>
          <a:p>
            <a:fld id="{8AF02B71-8991-4516-A01E-F1A9ACD28BDC}" type="slidenum">
              <a:rPr lang="en-US" smtClean="0"/>
              <a:pPr/>
              <a:t>51</a:t>
            </a:fld>
            <a:endParaRPr lang="en-US"/>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a:xfrm>
            <a:off x="285720" y="457200"/>
            <a:ext cx="7970679" cy="1116106"/>
          </a:xfrm>
        </p:spPr>
        <p:txBody>
          <a:bodyPr/>
          <a:lstStyle/>
          <a:p>
            <a:r>
              <a:rPr lang="en-GB" sz="4400" dirty="0">
                <a:effectLst>
                  <a:outerShdw blurRad="38100" dist="38100" dir="2700000" algn="tl">
                    <a:srgbClr val="000000">
                      <a:alpha val="43137"/>
                    </a:srgbClr>
                  </a:outerShdw>
                </a:effectLst>
              </a:rPr>
              <a:t>2.6- Performance Assessment</a:t>
            </a:r>
          </a:p>
        </p:txBody>
      </p:sp>
      <p:sp>
        <p:nvSpPr>
          <p:cNvPr id="4" name="Rectangle 3"/>
          <p:cNvSpPr/>
          <p:nvPr/>
        </p:nvSpPr>
        <p:spPr>
          <a:xfrm>
            <a:off x="428596" y="2571744"/>
            <a:ext cx="8358246" cy="2677656"/>
          </a:xfrm>
          <a:prstGeom prst="rect">
            <a:avLst/>
          </a:prstGeom>
        </p:spPr>
        <p:txBody>
          <a:bodyPr wrap="square">
            <a:spAutoFit/>
          </a:bodyPr>
          <a:lstStyle/>
          <a:p>
            <a:pPr marL="457200" indent="-457200"/>
            <a:r>
              <a:rPr lang="en-US" b="1" u="sng" dirty="0"/>
              <a:t>Factors</a:t>
            </a:r>
          </a:p>
          <a:p>
            <a:pPr marL="914400" lvl="1" indent="-457200"/>
            <a:r>
              <a:rPr lang="en-US" dirty="0"/>
              <a:t>Clock Speed and Instructions per Second</a:t>
            </a:r>
          </a:p>
          <a:p>
            <a:pPr marL="914400" lvl="1" indent="-457200"/>
            <a:r>
              <a:rPr lang="en-US" dirty="0"/>
              <a:t>Instruction execution rate</a:t>
            </a:r>
          </a:p>
          <a:p>
            <a:pPr marL="457200" indent="-457200"/>
            <a:r>
              <a:rPr lang="en-US" b="1" u="sng" dirty="0"/>
              <a:t>Methods</a:t>
            </a:r>
            <a:r>
              <a:rPr lang="en-US" dirty="0"/>
              <a:t>: Benchmarks</a:t>
            </a:r>
          </a:p>
          <a:p>
            <a:pPr marL="457200" indent="-457200"/>
            <a:r>
              <a:rPr lang="en-US" b="1" u="sng" dirty="0"/>
              <a:t>Some laws</a:t>
            </a:r>
            <a:r>
              <a:rPr lang="en-US" dirty="0"/>
              <a:t>: Read by yourself</a:t>
            </a:r>
          </a:p>
          <a:p>
            <a:pPr marL="914400" lvl="1" indent="-457200"/>
            <a:r>
              <a:rPr lang="en-US" dirty="0"/>
              <a:t>Amdahl’s Law</a:t>
            </a:r>
          </a:p>
          <a:p>
            <a:pPr marL="914400" lvl="1" indent="-457200"/>
            <a:r>
              <a:rPr lang="en-US" dirty="0"/>
              <a:t>Little’s Law</a:t>
            </a:r>
          </a:p>
        </p:txBody>
      </p:sp>
      <p:sp>
        <p:nvSpPr>
          <p:cNvPr id="5" name="Rectangle 4"/>
          <p:cNvSpPr/>
          <p:nvPr/>
        </p:nvSpPr>
        <p:spPr>
          <a:xfrm>
            <a:off x="214282" y="1643050"/>
            <a:ext cx="6286544" cy="42862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Factors affect on computer performance:</a:t>
            </a:r>
          </a:p>
        </p:txBody>
      </p:sp>
      <p:sp>
        <p:nvSpPr>
          <p:cNvPr id="6" name="Slide Number Placeholder 5"/>
          <p:cNvSpPr>
            <a:spLocks noGrp="1"/>
          </p:cNvSpPr>
          <p:nvPr>
            <p:ph type="sldNum" sz="quarter" idx="12"/>
          </p:nvPr>
        </p:nvSpPr>
        <p:spPr/>
        <p:txBody>
          <a:bodyPr/>
          <a:lstStyle/>
          <a:p>
            <a:fld id="{8AF02B71-8991-4516-A01E-F1A9ACD28BDC}" type="slidenum">
              <a:rPr lang="en-US" smtClean="0"/>
              <a:pPr/>
              <a:t>52</a:t>
            </a:fld>
            <a:endParaRPr lang="en-US"/>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a:xfrm>
            <a:off x="914400" y="457200"/>
            <a:ext cx="7556313" cy="1116106"/>
          </a:xfrm>
        </p:spPr>
        <p:txBody>
          <a:bodyPr/>
          <a:lstStyle/>
          <a:p>
            <a:r>
              <a:rPr lang="en-GB" sz="4400" dirty="0">
                <a:effectLst>
                  <a:outerShdw blurRad="38100" dist="38100" dir="2700000" algn="tl">
                    <a:srgbClr val="000000">
                      <a:alpha val="43137"/>
                    </a:srgbClr>
                  </a:outerShdw>
                </a:effectLst>
              </a:rPr>
              <a:t>System Clock</a:t>
            </a:r>
          </a:p>
        </p:txBody>
      </p:sp>
      <p:sp>
        <p:nvSpPr>
          <p:cNvPr id="5" name="Rectangle 4"/>
          <p:cNvSpPr/>
          <p:nvPr/>
        </p:nvSpPr>
        <p:spPr>
          <a:xfrm>
            <a:off x="285720" y="1845784"/>
            <a:ext cx="8643998" cy="4154984"/>
          </a:xfrm>
          <a:prstGeom prst="rect">
            <a:avLst/>
          </a:prstGeom>
        </p:spPr>
        <p:txBody>
          <a:bodyPr wrap="square">
            <a:spAutoFit/>
          </a:bodyPr>
          <a:lstStyle/>
          <a:p>
            <a:pPr>
              <a:buFontTx/>
              <a:buChar char="-"/>
            </a:pPr>
            <a:r>
              <a:rPr kumimoji="1" lang="en-US" dirty="0"/>
              <a:t>  Digital devices need pulses to operate. Pulses are created by a clock generator (a hardware using </a:t>
            </a:r>
            <a:r>
              <a:rPr lang="en-US" dirty="0">
                <a:latin typeface="Times New Roman" pitchFamily="18" charset="0"/>
                <a:cs typeface="Times New Roman" pitchFamily="18" charset="0"/>
              </a:rPr>
              <a:t>crystal oscillator)</a:t>
            </a:r>
            <a:endParaRPr kumimoji="1" lang="en-US" dirty="0"/>
          </a:p>
          <a:p>
            <a:pPr>
              <a:buFontTx/>
              <a:buChar char="-"/>
            </a:pPr>
            <a:r>
              <a:rPr kumimoji="1" lang="en-US" dirty="0"/>
              <a:t>  The rate of pulses is known as the </a:t>
            </a:r>
            <a:r>
              <a:rPr kumimoji="1" lang="en-US" b="1" dirty="0"/>
              <a:t>clock rate, or clock speed. </a:t>
            </a:r>
          </a:p>
          <a:p>
            <a:pPr>
              <a:buFontTx/>
              <a:buChar char="-"/>
            </a:pPr>
            <a:r>
              <a:rPr kumimoji="1" lang="en-US" dirty="0"/>
              <a:t>  The time between pulses is the </a:t>
            </a:r>
            <a:r>
              <a:rPr kumimoji="1" lang="en-US" b="1" dirty="0"/>
              <a:t>cycle time.</a:t>
            </a:r>
          </a:p>
          <a:p>
            <a:pPr>
              <a:buFontTx/>
              <a:buChar char="-"/>
            </a:pPr>
            <a:r>
              <a:rPr kumimoji="1" lang="en-US" dirty="0"/>
              <a:t>  One increment, or pulse, of the clock is referred to as a clock cycle, or a clock tick. </a:t>
            </a:r>
          </a:p>
          <a:p>
            <a:pPr>
              <a:buFontTx/>
              <a:buChar char="-"/>
            </a:pPr>
            <a:r>
              <a:rPr kumimoji="1" lang="en-US" dirty="0"/>
              <a:t>  Unit: cycles per second, Hertz (Hz)</a:t>
            </a:r>
          </a:p>
          <a:p>
            <a:pPr>
              <a:buFontTx/>
              <a:buChar char="-"/>
            </a:pPr>
            <a:r>
              <a:rPr kumimoji="1" lang="en-US" dirty="0"/>
              <a:t>  Operations performed by a processor, such as fetching an instruction, decoding the instruction, performing an arithmetic operation, and so on, are governed by a system clock.</a:t>
            </a:r>
          </a:p>
          <a:p>
            <a:r>
              <a:rPr lang="en-US" dirty="0">
                <a:sym typeface="Wingdings" pitchFamily="2" charset="2"/>
              </a:rPr>
              <a:t> High clock rate  High performance. </a:t>
            </a:r>
            <a:endParaRPr lang="en-US" dirty="0"/>
          </a:p>
        </p:txBody>
      </p:sp>
      <p:sp>
        <p:nvSpPr>
          <p:cNvPr id="4" name="Slide Number Placeholder 3"/>
          <p:cNvSpPr>
            <a:spLocks noGrp="1"/>
          </p:cNvSpPr>
          <p:nvPr>
            <p:ph type="sldNum" sz="quarter" idx="12"/>
          </p:nvPr>
        </p:nvSpPr>
        <p:spPr/>
        <p:txBody>
          <a:bodyPr/>
          <a:lstStyle/>
          <a:p>
            <a:fld id="{8AF02B71-8991-4516-A01E-F1A9ACD28BDC}" type="slidenum">
              <a:rPr lang="en-US" smtClean="0"/>
              <a:pPr/>
              <a:t>53</a:t>
            </a:fld>
            <a:endParaRPr lang="en-US"/>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a:xfrm>
            <a:off x="500034" y="457200"/>
            <a:ext cx="7970679" cy="1116106"/>
          </a:xfrm>
        </p:spPr>
        <p:txBody>
          <a:bodyPr/>
          <a:lstStyle/>
          <a:p>
            <a:r>
              <a:rPr lang="en-GB" sz="4400" dirty="0">
                <a:effectLst>
                  <a:outerShdw blurRad="38100" dist="38100" dir="2700000" algn="tl">
                    <a:srgbClr val="000000">
                      <a:alpha val="43137"/>
                    </a:srgbClr>
                  </a:outerShdw>
                </a:effectLst>
              </a:rPr>
              <a:t>Instruction Execution Rate</a:t>
            </a:r>
          </a:p>
        </p:txBody>
      </p:sp>
      <p:sp>
        <p:nvSpPr>
          <p:cNvPr id="5" name="Rectangle 4"/>
          <p:cNvSpPr/>
          <p:nvPr/>
        </p:nvSpPr>
        <p:spPr>
          <a:xfrm>
            <a:off x="285720" y="1930778"/>
            <a:ext cx="8643998" cy="2062103"/>
          </a:xfrm>
          <a:prstGeom prst="rect">
            <a:avLst/>
          </a:prstGeom>
        </p:spPr>
        <p:txBody>
          <a:bodyPr wrap="square">
            <a:spAutoFit/>
          </a:bodyPr>
          <a:lstStyle/>
          <a:p>
            <a:pPr>
              <a:buFontTx/>
              <a:buChar char="-"/>
            </a:pPr>
            <a:r>
              <a:rPr kumimoji="1" lang="en-US" sz="3200" dirty="0"/>
              <a:t>Unit: MIPS (millions of instructions per second)</a:t>
            </a:r>
          </a:p>
          <a:p>
            <a:pPr>
              <a:buFontTx/>
              <a:buChar char="-"/>
            </a:pPr>
            <a:r>
              <a:rPr kumimoji="1" lang="en-US" sz="3200" dirty="0"/>
              <a:t> Unit: MFLOPs (</a:t>
            </a:r>
            <a:r>
              <a:rPr lang="en-US" sz="3200" dirty="0"/>
              <a:t>Floating-point performance is expressed as millions of floating-point operations per second)</a:t>
            </a:r>
          </a:p>
        </p:txBody>
      </p:sp>
      <p:pic>
        <p:nvPicPr>
          <p:cNvPr id="325633" name="Picture 1"/>
          <p:cNvPicPr>
            <a:picLocks noChangeAspect="1" noChangeArrowheads="1"/>
          </p:cNvPicPr>
          <p:nvPr/>
        </p:nvPicPr>
        <p:blipFill>
          <a:blip r:embed="rId3"/>
          <a:srcRect/>
          <a:stretch>
            <a:fillRect/>
          </a:stretch>
        </p:blipFill>
        <p:spPr bwMode="auto">
          <a:xfrm>
            <a:off x="642910" y="4643446"/>
            <a:ext cx="7439025" cy="619125"/>
          </a:xfrm>
          <a:prstGeom prst="rect">
            <a:avLst/>
          </a:prstGeom>
          <a:noFill/>
          <a:ln w="9525">
            <a:noFill/>
            <a:miter lim="800000"/>
            <a:headEnd/>
            <a:tailEnd/>
          </a:ln>
          <a:effectLst/>
        </p:spPr>
      </p:pic>
      <p:sp>
        <p:nvSpPr>
          <p:cNvPr id="6" name="Slide Number Placeholder 5"/>
          <p:cNvSpPr>
            <a:spLocks noGrp="1"/>
          </p:cNvSpPr>
          <p:nvPr>
            <p:ph type="sldNum" sz="quarter" idx="12"/>
          </p:nvPr>
        </p:nvSpPr>
        <p:spPr/>
        <p:txBody>
          <a:bodyPr/>
          <a:lstStyle/>
          <a:p>
            <a:fld id="{8AF02B71-8991-4516-A01E-F1A9ACD28BDC}" type="slidenum">
              <a:rPr lang="en-US" smtClean="0"/>
              <a:pPr/>
              <a:t>54</a:t>
            </a:fld>
            <a:endParaRPr lang="en-US"/>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a:xfrm>
            <a:off x="500034" y="457200"/>
            <a:ext cx="7970679" cy="1116106"/>
          </a:xfrm>
        </p:spPr>
        <p:txBody>
          <a:bodyPr/>
          <a:lstStyle/>
          <a:p>
            <a:r>
              <a:rPr lang="en-GB" sz="4400" dirty="0">
                <a:effectLst>
                  <a:outerShdw blurRad="38100" dist="38100" dir="2700000" algn="tl">
                    <a:srgbClr val="000000">
                      <a:alpha val="43137"/>
                    </a:srgbClr>
                  </a:outerShdw>
                </a:effectLst>
              </a:rPr>
              <a:t>Benchmark</a:t>
            </a:r>
          </a:p>
        </p:txBody>
      </p:sp>
      <p:sp>
        <p:nvSpPr>
          <p:cNvPr id="5" name="Rectangle 4"/>
          <p:cNvSpPr/>
          <p:nvPr/>
        </p:nvSpPr>
        <p:spPr>
          <a:xfrm>
            <a:off x="285720" y="1959012"/>
            <a:ext cx="8643998" cy="4401205"/>
          </a:xfrm>
          <a:prstGeom prst="rect">
            <a:avLst/>
          </a:prstGeom>
        </p:spPr>
        <p:txBody>
          <a:bodyPr wrap="square">
            <a:spAutoFit/>
          </a:bodyPr>
          <a:lstStyle/>
          <a:p>
            <a:pPr>
              <a:buFontTx/>
              <a:buChar char="-"/>
            </a:pPr>
            <a:r>
              <a:rPr lang="en-US" sz="2800" dirty="0"/>
              <a:t>A test used to measure hardware or software performance. </a:t>
            </a:r>
          </a:p>
          <a:p>
            <a:pPr>
              <a:buFontTx/>
              <a:buChar char="-"/>
            </a:pPr>
            <a:r>
              <a:rPr lang="en-US" sz="2800" dirty="0"/>
              <a:t>Benchmarks for hardware use programs that test the capabilities of the equipment</a:t>
            </a:r>
          </a:p>
          <a:p>
            <a:pPr>
              <a:buFontTx/>
              <a:buChar char="-"/>
            </a:pPr>
            <a:r>
              <a:rPr lang="en-US" sz="2800" dirty="0"/>
              <a:t> Benchmarks for software determine the efficiency, accuracy, or speed of a program in performing a particular task, such as recalculating data in a spreadsheet. </a:t>
            </a:r>
          </a:p>
          <a:p>
            <a:pPr>
              <a:buFontTx/>
              <a:buChar char="-"/>
            </a:pPr>
            <a:r>
              <a:rPr lang="en-US" sz="2800" dirty="0"/>
              <a:t>The same data is used with each program tested, so the resulting scores can be compared to see which programs perform well and in what areas. </a:t>
            </a:r>
          </a:p>
          <a:p>
            <a:r>
              <a:rPr lang="en-US" sz="2800" dirty="0"/>
              <a:t>(MS Computer Dictionary)</a:t>
            </a:r>
          </a:p>
        </p:txBody>
      </p:sp>
      <p:sp>
        <p:nvSpPr>
          <p:cNvPr id="4" name="Slide Number Placeholder 3"/>
          <p:cNvSpPr>
            <a:spLocks noGrp="1"/>
          </p:cNvSpPr>
          <p:nvPr>
            <p:ph type="sldNum" sz="quarter" idx="12"/>
          </p:nvPr>
        </p:nvSpPr>
        <p:spPr/>
        <p:txBody>
          <a:bodyPr/>
          <a:lstStyle/>
          <a:p>
            <a:fld id="{8AF02B71-8991-4516-A01E-F1A9ACD28BDC}" type="slidenum">
              <a:rPr lang="en-US" smtClean="0"/>
              <a:pPr/>
              <a:t>55</a:t>
            </a:fld>
            <a:endParaRPr lang="en-US"/>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642910" y="228600"/>
            <a:ext cx="5757890" cy="838200"/>
          </a:xfrm>
        </p:spPr>
        <p:txBody>
          <a:bodyPr/>
          <a:lstStyle/>
          <a:p>
            <a:r>
              <a:rPr lang="en-US" dirty="0">
                <a:effectLst>
                  <a:outerShdw blurRad="38100" dist="38100" dir="2700000" algn="tl">
                    <a:srgbClr val="000000">
                      <a:alpha val="43137"/>
                    </a:srgbClr>
                  </a:outerShdw>
                </a:effectLst>
              </a:rPr>
              <a:t>Benchmarks …</a:t>
            </a:r>
          </a:p>
        </p:txBody>
      </p:sp>
      <p:sp>
        <p:nvSpPr>
          <p:cNvPr id="5" name="Content Placeholder 4"/>
          <p:cNvSpPr>
            <a:spLocks noGrp="1"/>
          </p:cNvSpPr>
          <p:nvPr>
            <p:ph sz="half" idx="4294967295"/>
          </p:nvPr>
        </p:nvSpPr>
        <p:spPr>
          <a:xfrm>
            <a:off x="142844" y="1219200"/>
            <a:ext cx="7924800" cy="3048000"/>
          </a:xfrm>
          <a:ln w="57150" cmpd="thinThick">
            <a:solidFill>
              <a:schemeClr val="accent1"/>
            </a:solidFill>
          </a:ln>
        </p:spPr>
        <p:txBody>
          <a:bodyPr>
            <a:noAutofit/>
          </a:bodyPr>
          <a:lstStyle/>
          <a:p>
            <a:pPr>
              <a:buNone/>
            </a:pPr>
            <a:r>
              <a:rPr lang="en-US" sz="1800" dirty="0">
                <a:solidFill>
                  <a:schemeClr val="tx1"/>
                </a:solidFill>
              </a:rPr>
              <a:t>For example, consider this high-level language statement:</a:t>
            </a:r>
          </a:p>
          <a:p>
            <a:pPr>
              <a:buNone/>
            </a:pPr>
            <a:r>
              <a:rPr lang="en-US" sz="1800" dirty="0">
                <a:solidFill>
                  <a:schemeClr val="tx1"/>
                </a:solidFill>
              </a:rPr>
              <a:t>A = B + C /* assume all quantities in main memory */</a:t>
            </a:r>
            <a:endParaRPr lang="en-US" sz="1000" dirty="0">
              <a:solidFill>
                <a:schemeClr val="tx1"/>
              </a:solidFill>
            </a:endParaRPr>
          </a:p>
          <a:p>
            <a:pPr>
              <a:buNone/>
            </a:pPr>
            <a:endParaRPr lang="en-US" sz="800" dirty="0">
              <a:solidFill>
                <a:schemeClr val="tx1"/>
              </a:solidFill>
            </a:endParaRPr>
          </a:p>
          <a:p>
            <a:pPr>
              <a:lnSpc>
                <a:spcPct val="120000"/>
              </a:lnSpc>
              <a:spcBef>
                <a:spcPts val="0"/>
              </a:spcBef>
              <a:buNone/>
            </a:pPr>
            <a:r>
              <a:rPr lang="en-US" sz="1800" dirty="0">
                <a:solidFill>
                  <a:schemeClr val="tx1"/>
                </a:solidFill>
              </a:rPr>
              <a:t>With a traditional instruction set architecture, referred to as a complex instruction set computer (CISC), this instruction can be compiled into one processor instruction:</a:t>
            </a:r>
          </a:p>
          <a:p>
            <a:pPr algn="ctr">
              <a:lnSpc>
                <a:spcPct val="120000"/>
              </a:lnSpc>
              <a:spcBef>
                <a:spcPts val="0"/>
              </a:spcBef>
              <a:buNone/>
            </a:pPr>
            <a:endParaRPr lang="en-US" sz="800" dirty="0">
              <a:solidFill>
                <a:schemeClr val="tx1"/>
              </a:solidFill>
            </a:endParaRPr>
          </a:p>
          <a:p>
            <a:pPr algn="ctr">
              <a:lnSpc>
                <a:spcPct val="120000"/>
              </a:lnSpc>
              <a:spcBef>
                <a:spcPts val="0"/>
              </a:spcBef>
              <a:buNone/>
            </a:pPr>
            <a:r>
              <a:rPr lang="en-US" sz="1800" dirty="0">
                <a:solidFill>
                  <a:schemeClr val="tx1"/>
                </a:solidFill>
              </a:rPr>
              <a:t>add mem(B), mem(C), mem (A)</a:t>
            </a:r>
          </a:p>
        </p:txBody>
      </p:sp>
      <p:sp>
        <p:nvSpPr>
          <p:cNvPr id="6" name="Content Placeholder 5"/>
          <p:cNvSpPr>
            <a:spLocks noGrp="1"/>
          </p:cNvSpPr>
          <p:nvPr>
            <p:ph sz="half" idx="4294967295"/>
          </p:nvPr>
        </p:nvSpPr>
        <p:spPr>
          <a:xfrm>
            <a:off x="142844" y="4267200"/>
            <a:ext cx="7620000" cy="2286000"/>
          </a:xfrm>
          <a:ln w="73025" cmpd="thickThin">
            <a:solidFill>
              <a:schemeClr val="accent1"/>
            </a:solidFill>
          </a:ln>
        </p:spPr>
        <p:txBody>
          <a:bodyPr>
            <a:normAutofit/>
          </a:bodyPr>
          <a:lstStyle/>
          <a:p>
            <a:pPr>
              <a:lnSpc>
                <a:spcPct val="110000"/>
              </a:lnSpc>
              <a:spcBef>
                <a:spcPts val="0"/>
              </a:spcBef>
              <a:buNone/>
            </a:pPr>
            <a:r>
              <a:rPr lang="en-US" dirty="0">
                <a:solidFill>
                  <a:schemeClr val="tx1"/>
                </a:solidFill>
              </a:rPr>
              <a:t>On a typical RISC machine, the compilation would look something like this:</a:t>
            </a:r>
          </a:p>
          <a:p>
            <a:pPr algn="ctr">
              <a:lnSpc>
                <a:spcPct val="110000"/>
              </a:lnSpc>
              <a:spcBef>
                <a:spcPts val="0"/>
              </a:spcBef>
              <a:buNone/>
            </a:pPr>
            <a:r>
              <a:rPr lang="en-US" dirty="0">
                <a:solidFill>
                  <a:schemeClr val="tx1"/>
                </a:solidFill>
              </a:rPr>
              <a:t>load mem(B), reg(1);</a:t>
            </a:r>
          </a:p>
          <a:p>
            <a:pPr algn="ctr">
              <a:lnSpc>
                <a:spcPct val="110000"/>
              </a:lnSpc>
              <a:spcBef>
                <a:spcPts val="0"/>
              </a:spcBef>
              <a:buNone/>
            </a:pPr>
            <a:r>
              <a:rPr lang="en-US" dirty="0">
                <a:solidFill>
                  <a:schemeClr val="tx1"/>
                </a:solidFill>
              </a:rPr>
              <a:t>load mem(C), reg(2);</a:t>
            </a:r>
          </a:p>
          <a:p>
            <a:pPr algn="ctr">
              <a:lnSpc>
                <a:spcPct val="110000"/>
              </a:lnSpc>
              <a:spcBef>
                <a:spcPts val="0"/>
              </a:spcBef>
              <a:buNone/>
            </a:pPr>
            <a:r>
              <a:rPr lang="en-US" dirty="0">
                <a:solidFill>
                  <a:schemeClr val="tx1"/>
                </a:solidFill>
              </a:rPr>
              <a:t>add reg(1), reg(2), reg(3);</a:t>
            </a:r>
          </a:p>
          <a:p>
            <a:pPr algn="ctr">
              <a:lnSpc>
                <a:spcPct val="110000"/>
              </a:lnSpc>
              <a:spcBef>
                <a:spcPts val="0"/>
              </a:spcBef>
              <a:buNone/>
            </a:pPr>
            <a:r>
              <a:rPr lang="en-US" dirty="0">
                <a:solidFill>
                  <a:schemeClr val="tx1"/>
                </a:solidFill>
              </a:rPr>
              <a:t>store reg(3), mem (A)</a:t>
            </a:r>
          </a:p>
        </p:txBody>
      </p:sp>
      <p:pic>
        <p:nvPicPr>
          <p:cNvPr id="7" name="Picture 6"/>
          <p:cNvPicPr>
            <a:picLocks noChangeAspect="1"/>
          </p:cNvPicPr>
          <p:nvPr/>
        </p:nvPicPr>
        <p:blipFill>
          <a:blip r:embed="rId3"/>
          <a:stretch>
            <a:fillRect/>
          </a:stretch>
        </p:blipFill>
        <p:spPr>
          <a:xfrm rot="1420986">
            <a:off x="7357165" y="594008"/>
            <a:ext cx="1321596" cy="1244858"/>
          </a:xfrm>
          <a:prstGeom prst="rect">
            <a:avLst/>
          </a:prstGeom>
        </p:spPr>
      </p:pic>
      <p:sp>
        <p:nvSpPr>
          <p:cNvPr id="8" name="Rectangle 7"/>
          <p:cNvSpPr/>
          <p:nvPr/>
        </p:nvSpPr>
        <p:spPr>
          <a:xfrm>
            <a:off x="7000892" y="3286124"/>
            <a:ext cx="2143108" cy="2308324"/>
          </a:xfrm>
          <a:prstGeom prst="rect">
            <a:avLst/>
          </a:prstGeom>
          <a:solidFill>
            <a:srgbClr val="FFFF00"/>
          </a:solidFill>
        </p:spPr>
        <p:txBody>
          <a:bodyPr wrap="square">
            <a:spAutoFit/>
          </a:bodyPr>
          <a:lstStyle/>
          <a:p>
            <a:r>
              <a:rPr kumimoji="1" lang="en-US" dirty="0"/>
              <a:t>2 codes may  need the same amount of time when they execute on 2 machines.</a:t>
            </a:r>
          </a:p>
        </p:txBody>
      </p:sp>
      <p:sp>
        <p:nvSpPr>
          <p:cNvPr id="9" name="Slide Number Placeholder 8"/>
          <p:cNvSpPr>
            <a:spLocks noGrp="1"/>
          </p:cNvSpPr>
          <p:nvPr>
            <p:ph type="sldNum" sz="quarter" idx="12"/>
          </p:nvPr>
        </p:nvSpPr>
        <p:spPr/>
        <p:txBody>
          <a:bodyPr/>
          <a:lstStyle/>
          <a:p>
            <a:fld id="{8AF02B71-8991-4516-A01E-F1A9ACD28BDC}" type="slidenum">
              <a:rPr lang="en-US" smtClean="0"/>
              <a:pPr/>
              <a:t>56</a:t>
            </a:fld>
            <a:endParaRPr lang="en-US"/>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a:xfrm>
            <a:off x="500034" y="457200"/>
            <a:ext cx="7970679" cy="1116106"/>
          </a:xfrm>
        </p:spPr>
        <p:txBody>
          <a:bodyPr/>
          <a:lstStyle/>
          <a:p>
            <a:r>
              <a:rPr lang="en-GB" sz="4400" dirty="0">
                <a:effectLst>
                  <a:outerShdw blurRad="38100" dist="38100" dir="2700000" algn="tl">
                    <a:srgbClr val="000000">
                      <a:alpha val="43137"/>
                    </a:srgbClr>
                  </a:outerShdw>
                </a:effectLst>
              </a:rPr>
              <a:t>Benchmark</a:t>
            </a:r>
          </a:p>
        </p:txBody>
      </p:sp>
      <p:sp>
        <p:nvSpPr>
          <p:cNvPr id="5" name="Rectangle 4"/>
          <p:cNvSpPr/>
          <p:nvPr/>
        </p:nvSpPr>
        <p:spPr>
          <a:xfrm>
            <a:off x="285720" y="1749217"/>
            <a:ext cx="8643998" cy="4832092"/>
          </a:xfrm>
          <a:prstGeom prst="rect">
            <a:avLst/>
          </a:prstGeom>
        </p:spPr>
        <p:txBody>
          <a:bodyPr wrap="square">
            <a:spAutoFit/>
          </a:bodyPr>
          <a:lstStyle/>
          <a:p>
            <a:pPr>
              <a:buFontTx/>
              <a:buChar char="-"/>
            </a:pPr>
            <a:r>
              <a:rPr lang="en-US" sz="2800" dirty="0"/>
              <a:t>The design of fair benchmarks is something of an art, because various combinations of hardware and software can exhibit widely variable performance under different conditions. Often, after a benchmark has become a standard, developers try to optimize a product to run that benchmark faster than similar products run it in order to enhance sales (MS Computer Dictionary)</a:t>
            </a:r>
          </a:p>
          <a:p>
            <a:r>
              <a:rPr lang="en-US" sz="2800" dirty="0">
                <a:sym typeface="Wingdings" pitchFamily="2" charset="2"/>
              </a:rPr>
              <a:t> B</a:t>
            </a:r>
            <a:r>
              <a:rPr lang="en-US" sz="2800" dirty="0"/>
              <a:t>eginning in the late 1980s and early 1990s, industry and academic interest shifted to measuring the performance of systems using a set of benchmark programs</a:t>
            </a:r>
          </a:p>
        </p:txBody>
      </p:sp>
      <p:sp>
        <p:nvSpPr>
          <p:cNvPr id="4" name="Slide Number Placeholder 3"/>
          <p:cNvSpPr>
            <a:spLocks noGrp="1"/>
          </p:cNvSpPr>
          <p:nvPr>
            <p:ph type="sldNum" sz="quarter" idx="12"/>
          </p:nvPr>
        </p:nvSpPr>
        <p:spPr/>
        <p:txBody>
          <a:bodyPr/>
          <a:lstStyle/>
          <a:p>
            <a:fld id="{8AF02B71-8991-4516-A01E-F1A9ACD28BDC}" type="slidenum">
              <a:rPr lang="en-US" smtClean="0"/>
              <a:pPr/>
              <a:t>57</a:t>
            </a:fld>
            <a:endParaRPr lang="en-US"/>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ChangeArrowheads="1"/>
          </p:cNvSpPr>
          <p:nvPr>
            <p:ph type="title"/>
          </p:nvPr>
        </p:nvSpPr>
        <p:spPr>
          <a:xfrm>
            <a:off x="214282" y="738190"/>
            <a:ext cx="8858280" cy="690546"/>
          </a:xfrm>
        </p:spPr>
        <p:txBody>
          <a:bodyPr/>
          <a:lstStyle/>
          <a:p>
            <a:r>
              <a:rPr lang="en-GB" dirty="0"/>
              <a:t>Desirable Benchmark Characteristics</a:t>
            </a:r>
          </a:p>
        </p:txBody>
      </p:sp>
      <p:sp>
        <p:nvSpPr>
          <p:cNvPr id="6" name="Rectangle 5"/>
          <p:cNvSpPr/>
          <p:nvPr/>
        </p:nvSpPr>
        <p:spPr>
          <a:xfrm>
            <a:off x="428596" y="1714488"/>
            <a:ext cx="8072494" cy="4031873"/>
          </a:xfrm>
          <a:prstGeom prst="rect">
            <a:avLst/>
          </a:prstGeom>
        </p:spPr>
        <p:txBody>
          <a:bodyPr wrap="square">
            <a:spAutoFit/>
          </a:bodyPr>
          <a:lstStyle/>
          <a:p>
            <a:pPr marL="457200" indent="-457200">
              <a:buAutoNum type="arabicPeriod"/>
            </a:pPr>
            <a:r>
              <a:rPr lang="en-US" sz="3200" dirty="0"/>
              <a:t>It is written in a high-level language, making it portable across different machines. </a:t>
            </a:r>
          </a:p>
          <a:p>
            <a:pPr marL="457200" indent="-457200">
              <a:buAutoNum type="arabicPeriod"/>
            </a:pPr>
            <a:r>
              <a:rPr lang="en-US" sz="3200" dirty="0"/>
              <a:t>It is representative of a particular kind of programming style, such </a:t>
            </a:r>
            <a:r>
              <a:rPr lang="en-US" sz="3200"/>
              <a:t>as system </a:t>
            </a:r>
            <a:r>
              <a:rPr lang="en-US" sz="3200" dirty="0"/>
              <a:t>programming, numerical programming, or commercial programming. </a:t>
            </a:r>
          </a:p>
          <a:p>
            <a:pPr marL="457200" indent="-457200">
              <a:buAutoNum type="arabicPeriod"/>
            </a:pPr>
            <a:r>
              <a:rPr lang="en-US" sz="3200" dirty="0"/>
              <a:t>It can be measured easily. </a:t>
            </a:r>
          </a:p>
          <a:p>
            <a:pPr marL="457200" indent="-457200">
              <a:buAutoNum type="arabicPeriod"/>
            </a:pPr>
            <a:r>
              <a:rPr lang="en-US" sz="3200" dirty="0"/>
              <a:t>It has wide distribution.</a:t>
            </a:r>
          </a:p>
        </p:txBody>
      </p:sp>
      <p:sp>
        <p:nvSpPr>
          <p:cNvPr id="4" name="Slide Number Placeholder 3"/>
          <p:cNvSpPr>
            <a:spLocks noGrp="1"/>
          </p:cNvSpPr>
          <p:nvPr>
            <p:ph type="sldNum" sz="quarter" idx="12"/>
          </p:nvPr>
        </p:nvSpPr>
        <p:spPr/>
        <p:txBody>
          <a:bodyPr/>
          <a:lstStyle/>
          <a:p>
            <a:fld id="{8AF02B71-8991-4516-A01E-F1A9ACD28BDC}" type="slidenum">
              <a:rPr lang="en-US" smtClean="0"/>
              <a:pPr/>
              <a:t>58</a:t>
            </a:fld>
            <a:endParaRPr lang="en-US"/>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ChangeArrowheads="1"/>
          </p:cNvSpPr>
          <p:nvPr>
            <p:ph type="title"/>
          </p:nvPr>
        </p:nvSpPr>
        <p:spPr>
          <a:xfrm>
            <a:off x="498474" y="484094"/>
            <a:ext cx="7556313" cy="1268506"/>
          </a:xfrm>
        </p:spPr>
        <p:txBody>
          <a:bodyPr/>
          <a:lstStyle/>
          <a:p>
            <a:r>
              <a:rPr lang="en-GB" dirty="0"/>
              <a:t>System Performance Evaluation Corporation (SPEC)</a:t>
            </a:r>
          </a:p>
        </p:txBody>
      </p:sp>
      <p:sp>
        <p:nvSpPr>
          <p:cNvPr id="7" name="Content Placeholder 6"/>
          <p:cNvSpPr>
            <a:spLocks noGrp="1"/>
          </p:cNvSpPr>
          <p:nvPr>
            <p:ph idx="1"/>
          </p:nvPr>
        </p:nvSpPr>
        <p:spPr>
          <a:xfrm>
            <a:off x="285720" y="1857364"/>
            <a:ext cx="8572560" cy="4144963"/>
          </a:xfrm>
        </p:spPr>
        <p:txBody>
          <a:bodyPr>
            <a:noAutofit/>
          </a:bodyPr>
          <a:lstStyle/>
          <a:p>
            <a:r>
              <a:rPr lang="en-US" sz="2800" dirty="0">
                <a:solidFill>
                  <a:schemeClr val="tx1"/>
                </a:solidFill>
              </a:rPr>
              <a:t>Benchmark suite</a:t>
            </a:r>
          </a:p>
          <a:p>
            <a:pPr lvl="1"/>
            <a:r>
              <a:rPr lang="en-US" sz="2400" dirty="0">
                <a:solidFill>
                  <a:schemeClr val="tx1"/>
                </a:solidFill>
              </a:rPr>
              <a:t>A collection of programs, defined in a high-level language</a:t>
            </a:r>
          </a:p>
          <a:p>
            <a:pPr lvl="1"/>
            <a:r>
              <a:rPr lang="en-US" sz="2400" dirty="0">
                <a:solidFill>
                  <a:schemeClr val="tx1"/>
                </a:solidFill>
              </a:rPr>
              <a:t>Attempts to provide a representative test of a computer in a particular application or system programming area</a:t>
            </a:r>
          </a:p>
          <a:p>
            <a:pPr marL="228600" lvl="1">
              <a:spcBef>
                <a:spcPts val="2000"/>
              </a:spcBef>
              <a:buClr>
                <a:schemeClr val="accent1"/>
              </a:buClr>
            </a:pPr>
            <a:r>
              <a:rPr lang="en-US" sz="2800" dirty="0">
                <a:solidFill>
                  <a:schemeClr val="tx1"/>
                </a:solidFill>
              </a:rPr>
              <a:t>SPEC</a:t>
            </a:r>
          </a:p>
          <a:p>
            <a:pPr lvl="1"/>
            <a:r>
              <a:rPr lang="en-US" sz="2400" dirty="0">
                <a:solidFill>
                  <a:schemeClr val="tx1"/>
                </a:solidFill>
              </a:rPr>
              <a:t>An industry consortium</a:t>
            </a:r>
          </a:p>
          <a:p>
            <a:pPr lvl="1"/>
            <a:r>
              <a:rPr lang="en-US" sz="2400" dirty="0">
                <a:solidFill>
                  <a:schemeClr val="tx1"/>
                </a:solidFill>
              </a:rPr>
              <a:t>Defines and maintains the best known collection of benchmark suites</a:t>
            </a:r>
          </a:p>
          <a:p>
            <a:pPr lvl="1"/>
            <a:r>
              <a:rPr lang="en-US" sz="2400" dirty="0">
                <a:solidFill>
                  <a:schemeClr val="tx1"/>
                </a:solidFill>
              </a:rPr>
              <a:t>Performance measurements are widely used for comparison and research purposes</a:t>
            </a:r>
            <a:endParaRPr lang="en-US" sz="2800" dirty="0">
              <a:solidFill>
                <a:schemeClr val="tx1"/>
              </a:solidFill>
            </a:endParaRPr>
          </a:p>
        </p:txBody>
      </p:sp>
      <p:sp>
        <p:nvSpPr>
          <p:cNvPr id="4" name="Slide Number Placeholder 3"/>
          <p:cNvSpPr>
            <a:spLocks noGrp="1"/>
          </p:cNvSpPr>
          <p:nvPr>
            <p:ph type="sldNum" sz="quarter" idx="12"/>
          </p:nvPr>
        </p:nvSpPr>
        <p:spPr/>
        <p:txBody>
          <a:bodyPr/>
          <a:lstStyle/>
          <a:p>
            <a:fld id="{8AF02B71-8991-4516-A01E-F1A9ACD28BDC}" type="slidenum">
              <a:rPr lang="en-US" smtClean="0"/>
              <a:pPr/>
              <a:t>59</a:t>
            </a:fld>
            <a:endParaRPr lang="en-US"/>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Title 61"/>
          <p:cNvSpPr>
            <a:spLocks noGrp="1"/>
          </p:cNvSpPr>
          <p:nvPr>
            <p:ph type="title"/>
          </p:nvPr>
        </p:nvSpPr>
        <p:spPr>
          <a:xfrm>
            <a:off x="381000" y="2362200"/>
            <a:ext cx="3255264" cy="1162050"/>
          </a:xfrm>
        </p:spPr>
        <p:txBody>
          <a:bodyPr>
            <a:noAutofit/>
          </a:bodyPr>
          <a:lstStyle/>
          <a:p>
            <a:pPr algn="ctr"/>
            <a:r>
              <a:rPr lang="en-US" sz="4400" dirty="0">
                <a:effectLst>
                  <a:outerShdw blurRad="38100" dist="38100" dir="2700000" algn="tl">
                    <a:srgbClr val="000000">
                      <a:alpha val="43137"/>
                    </a:srgbClr>
                  </a:outerShdw>
                </a:effectLst>
              </a:rPr>
              <a:t>SPEC </a:t>
            </a:r>
            <a:br>
              <a:rPr lang="en-US" sz="4400" dirty="0">
                <a:effectLst>
                  <a:outerShdw blurRad="38100" dist="38100" dir="2700000" algn="tl">
                    <a:srgbClr val="000000">
                      <a:alpha val="43137"/>
                    </a:srgbClr>
                  </a:outerShdw>
                </a:effectLst>
              </a:rPr>
            </a:br>
            <a:br>
              <a:rPr lang="en-US" sz="4400" dirty="0">
                <a:effectLst>
                  <a:outerShdw blurRad="38100" dist="38100" dir="2700000" algn="tl">
                    <a:srgbClr val="000000">
                      <a:alpha val="43137"/>
                    </a:srgbClr>
                  </a:outerShdw>
                </a:effectLst>
              </a:rPr>
            </a:br>
            <a:r>
              <a:rPr lang="en-US" sz="4400" dirty="0">
                <a:effectLst>
                  <a:outerShdw blurRad="38100" dist="38100" dir="2700000" algn="tl">
                    <a:srgbClr val="000000">
                      <a:alpha val="43137"/>
                    </a:srgbClr>
                  </a:outerShdw>
                </a:effectLst>
              </a:rPr>
              <a:t>CPU2006</a:t>
            </a:r>
          </a:p>
        </p:txBody>
      </p:sp>
      <p:sp>
        <p:nvSpPr>
          <p:cNvPr id="66" name="Content Placeholder 65"/>
          <p:cNvSpPr>
            <a:spLocks noGrp="1"/>
          </p:cNvSpPr>
          <p:nvPr>
            <p:ph idx="1"/>
          </p:nvPr>
        </p:nvSpPr>
        <p:spPr>
          <a:xfrm>
            <a:off x="3857620" y="285728"/>
            <a:ext cx="5072098" cy="6100785"/>
          </a:xfrm>
        </p:spPr>
        <p:txBody>
          <a:bodyPr>
            <a:noAutofit/>
          </a:bodyPr>
          <a:lstStyle/>
          <a:p>
            <a:r>
              <a:rPr lang="en-US" sz="2200" dirty="0">
                <a:solidFill>
                  <a:schemeClr val="tx1"/>
                </a:solidFill>
              </a:rPr>
              <a:t>Best known SPEC benchmark suite</a:t>
            </a:r>
          </a:p>
          <a:p>
            <a:r>
              <a:rPr lang="en-US" sz="2200" dirty="0">
                <a:solidFill>
                  <a:schemeClr val="tx1"/>
                </a:solidFill>
              </a:rPr>
              <a:t>Industry standard suite for processor intensive applications</a:t>
            </a:r>
          </a:p>
          <a:p>
            <a:r>
              <a:rPr lang="en-US" sz="2200" dirty="0">
                <a:solidFill>
                  <a:schemeClr val="tx1"/>
                </a:solidFill>
              </a:rPr>
              <a:t>Appropriate for measuring performance for applications that spend most of their time doing computation rather than I/O</a:t>
            </a:r>
          </a:p>
          <a:p>
            <a:r>
              <a:rPr lang="en-US" sz="2200" dirty="0">
                <a:solidFill>
                  <a:schemeClr val="tx1"/>
                </a:solidFill>
              </a:rPr>
              <a:t>Consists of 17 floating point programs written in C, C++, and Fortran and 12 integer programs written in C and C++</a:t>
            </a:r>
          </a:p>
          <a:p>
            <a:r>
              <a:rPr lang="en-US" sz="2200" dirty="0">
                <a:solidFill>
                  <a:schemeClr val="tx1"/>
                </a:solidFill>
              </a:rPr>
              <a:t>Suite contains over 3 million lines of code</a:t>
            </a:r>
          </a:p>
          <a:p>
            <a:r>
              <a:rPr lang="en-US" sz="2200" dirty="0">
                <a:solidFill>
                  <a:schemeClr val="tx1"/>
                </a:solidFill>
              </a:rPr>
              <a:t>Fifth generation of processor intensive suites from SPEC</a:t>
            </a:r>
          </a:p>
        </p:txBody>
      </p:sp>
      <p:pic>
        <p:nvPicPr>
          <p:cNvPr id="72" name="Picture 71"/>
          <p:cNvPicPr>
            <a:picLocks noChangeAspect="1"/>
          </p:cNvPicPr>
          <p:nvPr/>
        </p:nvPicPr>
        <p:blipFill>
          <a:blip r:embed="rId3"/>
          <a:stretch>
            <a:fillRect/>
          </a:stretch>
        </p:blipFill>
        <p:spPr>
          <a:xfrm>
            <a:off x="1066800" y="4191000"/>
            <a:ext cx="2082800" cy="2044700"/>
          </a:xfrm>
          <a:prstGeom prst="rect">
            <a:avLst/>
          </a:prstGeom>
        </p:spPr>
      </p:pic>
    </p:spTree>
  </p:cSld>
  <p:clrMapOvr>
    <a:masterClrMapping/>
  </p:clrMapOvr>
  <p:transition spd="me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title"/>
          </p:nvPr>
        </p:nvSpPr>
        <p:spPr>
          <a:xfrm>
            <a:off x="304800" y="1905000"/>
            <a:ext cx="3255264" cy="1162050"/>
          </a:xfrm>
        </p:spPr>
        <p:txBody>
          <a:bodyPr>
            <a:noAutofit/>
          </a:bodyPr>
          <a:lstStyle/>
          <a:p>
            <a:pPr algn="ctr"/>
            <a:r>
              <a:rPr lang="en-GB" sz="4400">
                <a:effectLst>
                  <a:outerShdw blurRad="38100" dist="38100" dir="2700000" algn="tl">
                    <a:srgbClr val="000000">
                      <a:alpha val="43137"/>
                    </a:srgbClr>
                  </a:outerShdw>
                </a:effectLst>
              </a:rPr>
              <a:t>Amdahl’s Law</a:t>
            </a:r>
            <a:br>
              <a:rPr lang="en-GB" sz="4400">
                <a:effectLst>
                  <a:outerShdw blurRad="38100" dist="38100" dir="2700000" algn="tl">
                    <a:srgbClr val="000000">
                      <a:alpha val="43137"/>
                    </a:srgbClr>
                  </a:outerShdw>
                </a:effectLst>
              </a:rPr>
            </a:br>
            <a:r>
              <a:rPr lang="en-GB" sz="4400">
                <a:effectLst>
                  <a:outerShdw blurRad="38100" dist="38100" dir="2700000" algn="tl">
                    <a:srgbClr val="000000">
                      <a:alpha val="43137"/>
                    </a:srgbClr>
                  </a:outerShdw>
                </a:effectLst>
              </a:rPr>
              <a:t>(Read by yourself)</a:t>
            </a:r>
            <a:endParaRPr lang="en-GB" sz="4400" dirty="0">
              <a:effectLst>
                <a:outerShdw blurRad="38100" dist="38100" dir="2700000" algn="tl">
                  <a:srgbClr val="000000">
                    <a:alpha val="43137"/>
                  </a:srgbClr>
                </a:outerShdw>
              </a:effectLst>
            </a:endParaRPr>
          </a:p>
        </p:txBody>
      </p:sp>
      <p:sp>
        <p:nvSpPr>
          <p:cNvPr id="120835" name="Rectangle 3"/>
          <p:cNvSpPr>
            <a:spLocks noGrp="1" noChangeArrowheads="1"/>
          </p:cNvSpPr>
          <p:nvPr>
            <p:ph idx="1"/>
          </p:nvPr>
        </p:nvSpPr>
        <p:spPr>
          <a:xfrm>
            <a:off x="3857620" y="71414"/>
            <a:ext cx="5072097" cy="6096000"/>
          </a:xfrm>
        </p:spPr>
        <p:txBody>
          <a:bodyPr>
            <a:noAutofit/>
          </a:bodyPr>
          <a:lstStyle/>
          <a:p>
            <a:r>
              <a:rPr lang="en-GB" sz="2400" dirty="0">
                <a:solidFill>
                  <a:schemeClr val="tx1"/>
                </a:solidFill>
              </a:rPr>
              <a:t>Gene Amdahl [AMDA67]</a:t>
            </a:r>
          </a:p>
          <a:p>
            <a:r>
              <a:rPr lang="en-GB" sz="2400" dirty="0">
                <a:solidFill>
                  <a:schemeClr val="tx1"/>
                </a:solidFill>
              </a:rPr>
              <a:t>Deals with the </a:t>
            </a:r>
            <a:r>
              <a:rPr lang="en-GB" sz="2400" b="1" u="sng" dirty="0">
                <a:solidFill>
                  <a:schemeClr val="tx1"/>
                </a:solidFill>
              </a:rPr>
              <a:t>potential speedup of a program using multiple processors</a:t>
            </a:r>
            <a:r>
              <a:rPr lang="en-GB" sz="2400" dirty="0">
                <a:solidFill>
                  <a:schemeClr val="tx1"/>
                </a:solidFill>
              </a:rPr>
              <a:t> compared to a single processor</a:t>
            </a:r>
          </a:p>
          <a:p>
            <a:r>
              <a:rPr lang="en-GB" sz="2400" dirty="0">
                <a:solidFill>
                  <a:schemeClr val="tx1"/>
                </a:solidFill>
              </a:rPr>
              <a:t>Illustrates the problems facing industry in the development of multi-core machines</a:t>
            </a:r>
          </a:p>
          <a:p>
            <a:pPr lvl="1"/>
            <a:r>
              <a:rPr lang="en-GB" sz="2400" u="sng" dirty="0">
                <a:solidFill>
                  <a:schemeClr val="tx1"/>
                </a:solidFill>
              </a:rPr>
              <a:t>Software must be adapted to a highly parallel execution environment to exploit the power of parallel processing</a:t>
            </a:r>
          </a:p>
          <a:p>
            <a:r>
              <a:rPr lang="en-GB" sz="2400" dirty="0">
                <a:solidFill>
                  <a:schemeClr val="tx1"/>
                </a:solidFill>
              </a:rPr>
              <a:t>Can be generalized to evaluate and design technical improvement in a computer system</a:t>
            </a:r>
          </a:p>
        </p:txBody>
      </p:sp>
      <p:pic>
        <p:nvPicPr>
          <p:cNvPr id="4" name="Picture 3"/>
          <p:cNvPicPr>
            <a:picLocks noChangeAspect="1"/>
          </p:cNvPicPr>
          <p:nvPr/>
        </p:nvPicPr>
        <p:blipFill>
          <a:blip r:embed="rId3"/>
          <a:stretch>
            <a:fillRect/>
          </a:stretch>
        </p:blipFill>
        <p:spPr>
          <a:xfrm>
            <a:off x="914400" y="4267200"/>
            <a:ext cx="2010551" cy="1981200"/>
          </a:xfrm>
          <a:prstGeom prst="rect">
            <a:avLst/>
          </a:prstGeom>
        </p:spPr>
      </p:pic>
    </p:spTree>
  </p:cSld>
  <p:clrMapOvr>
    <a:masterClrMapping/>
  </p:clrMapOvr>
  <p:transition spd="me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a:xfrm>
            <a:off x="762000" y="171448"/>
            <a:ext cx="7556313" cy="614346"/>
          </a:xfrm>
        </p:spPr>
        <p:txBody>
          <a:bodyPr/>
          <a:lstStyle/>
          <a:p>
            <a:r>
              <a:rPr lang="en-GB" b="1">
                <a:effectLst>
                  <a:outerShdw blurRad="38100" dist="38100" dir="2700000" algn="tl">
                    <a:srgbClr val="000000">
                      <a:alpha val="43137"/>
                    </a:srgbClr>
                  </a:outerShdw>
                </a:effectLst>
              </a:rPr>
              <a:t>Amdahl’s Law </a:t>
            </a:r>
            <a:r>
              <a:rPr lang="en-GB">
                <a:effectLst>
                  <a:outerShdw blurRad="38100" dist="38100" dir="2700000" algn="tl">
                    <a:srgbClr val="000000">
                      <a:alpha val="43137"/>
                    </a:srgbClr>
                  </a:outerShdw>
                </a:effectLst>
              </a:rPr>
              <a:t>(Read by yourself)</a:t>
            </a:r>
            <a:endParaRPr lang="en-GB" b="1" dirty="0">
              <a:effectLst>
                <a:outerShdw blurRad="38100" dist="38100" dir="2700000" algn="tl">
                  <a:srgbClr val="000000">
                    <a:alpha val="43137"/>
                  </a:srgbClr>
                </a:outerShdw>
              </a:effectLst>
            </a:endParaRPr>
          </a:p>
        </p:txBody>
      </p:sp>
      <p:pic>
        <p:nvPicPr>
          <p:cNvPr id="9" name="Picture 8" descr="f14.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4706" t="21818" b="15455"/>
              <a:stretch>
                <a:fillRect/>
              </a:stretch>
            </p:blipFill>
          </mc:Choice>
          <mc:Fallback>
            <p:blipFill>
              <a:blip r:embed="rId4"/>
              <a:srcRect l="-4706" t="21818" b="15455"/>
              <a:stretch>
                <a:fillRect/>
              </a:stretch>
            </p:blipFill>
          </mc:Fallback>
        </mc:AlternateContent>
        <p:spPr>
          <a:xfrm>
            <a:off x="762000" y="1362202"/>
            <a:ext cx="7088913" cy="5495822"/>
          </a:xfrm>
          <a:prstGeom prst="rect">
            <a:avLst/>
          </a:prstGeom>
        </p:spPr>
      </p:pic>
      <p:pic>
        <p:nvPicPr>
          <p:cNvPr id="360450" name="Picture 2"/>
          <p:cNvPicPr>
            <a:picLocks noChangeAspect="1" noChangeArrowheads="1"/>
          </p:cNvPicPr>
          <p:nvPr/>
        </p:nvPicPr>
        <p:blipFill>
          <a:blip r:embed="rId5"/>
          <a:srcRect/>
          <a:stretch>
            <a:fillRect/>
          </a:stretch>
        </p:blipFill>
        <p:spPr bwMode="auto">
          <a:xfrm>
            <a:off x="538086" y="870482"/>
            <a:ext cx="8105880" cy="697402"/>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8AF02B71-8991-4516-A01E-F1A9ACD28BDC}" type="slidenum">
              <a:rPr lang="en-US" smtClean="0"/>
              <a:pPr/>
              <a:t>62</a:t>
            </a:fld>
            <a:endParaRPr lang="en-US"/>
          </a:p>
        </p:txBody>
      </p:sp>
    </p:spTree>
  </p:cSld>
  <p:clrMapOvr>
    <a:masterClrMapping/>
  </p:clrMapOvr>
  <p:transition spd="me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457200"/>
            <a:ext cx="5105408" cy="1116106"/>
          </a:xfrm>
        </p:spPr>
        <p:txBody>
          <a:bodyPr/>
          <a:lstStyle/>
          <a:p>
            <a:r>
              <a:rPr lang="en-US" b="1">
                <a:effectLst>
                  <a:outerShdw blurRad="38100" dist="38100" dir="2700000" algn="tl">
                    <a:srgbClr val="000000">
                      <a:alpha val="43137"/>
                    </a:srgbClr>
                  </a:outerShdw>
                </a:effectLst>
              </a:rPr>
              <a:t>Little’s Law </a:t>
            </a:r>
            <a:r>
              <a:rPr lang="en-GB" sz="2000">
                <a:effectLst>
                  <a:outerShdw blurRad="38100" dist="38100" dir="2700000" algn="tl">
                    <a:srgbClr val="000000">
                      <a:alpha val="43137"/>
                    </a:srgbClr>
                  </a:outerShdw>
                </a:effectLst>
              </a:rPr>
              <a:t> (Read by yourself)</a:t>
            </a:r>
            <a:endParaRPr lang="en-US" sz="24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500034" y="1071546"/>
            <a:ext cx="7554753" cy="5481654"/>
          </a:xfrm>
        </p:spPr>
        <p:txBody>
          <a:bodyPr>
            <a:noAutofit/>
          </a:bodyPr>
          <a:lstStyle/>
          <a:p>
            <a:r>
              <a:rPr lang="en-US" sz="1600" dirty="0">
                <a:solidFill>
                  <a:schemeClr val="tx1"/>
                </a:solidFill>
              </a:rPr>
              <a:t>The general setup is that we have a steady state system to which items arrive at an average rate of  </a:t>
            </a:r>
            <a:r>
              <a:rPr lang="el-GR" sz="1600">
                <a:solidFill>
                  <a:schemeClr val="tx1"/>
                </a:solidFill>
                <a:latin typeface="Arial Unicode MS"/>
                <a:ea typeface="Arial Unicode MS"/>
                <a:cs typeface="Arial Unicode MS"/>
              </a:rPr>
              <a:t>λ</a:t>
            </a:r>
            <a:r>
              <a:rPr lang="en-US" sz="1600" dirty="0">
                <a:solidFill>
                  <a:schemeClr val="tx1"/>
                </a:solidFill>
              </a:rPr>
              <a:t> items per unit time. The items stay in the system an average of W units of time. Finally, there is an average of L units in the system at any one time. Little’s Law relates these three variables as L = </a:t>
            </a:r>
            <a:r>
              <a:rPr lang="el-GR" sz="1600">
                <a:solidFill>
                  <a:schemeClr val="tx1"/>
                </a:solidFill>
                <a:latin typeface="Arial Unicode MS"/>
                <a:ea typeface="Arial Unicode MS"/>
                <a:cs typeface="Arial Unicode MS"/>
              </a:rPr>
              <a:t>λ </a:t>
            </a:r>
            <a:r>
              <a:rPr lang="en-US" sz="1600" dirty="0">
                <a:solidFill>
                  <a:schemeClr val="tx1"/>
                </a:solidFill>
              </a:rPr>
              <a:t>W.</a:t>
            </a:r>
          </a:p>
          <a:p>
            <a:r>
              <a:rPr lang="en-US" sz="1600" dirty="0">
                <a:solidFill>
                  <a:schemeClr val="tx1"/>
                </a:solidFill>
              </a:rPr>
              <a:t>Fundamental and simple relation with broad applications</a:t>
            </a:r>
          </a:p>
          <a:p>
            <a:r>
              <a:rPr lang="en-US" sz="1600" dirty="0">
                <a:solidFill>
                  <a:schemeClr val="tx1"/>
                </a:solidFill>
              </a:rPr>
              <a:t>Can be applied to almost any system that is statistically in steady state, and in which there is no leakage</a:t>
            </a:r>
          </a:p>
          <a:p>
            <a:r>
              <a:rPr lang="en-US" sz="1600" dirty="0">
                <a:solidFill>
                  <a:schemeClr val="tx1"/>
                </a:solidFill>
              </a:rPr>
              <a:t>Queuing system</a:t>
            </a:r>
          </a:p>
          <a:p>
            <a:pPr lvl="1"/>
            <a:r>
              <a:rPr lang="en-US" sz="1600" dirty="0">
                <a:solidFill>
                  <a:schemeClr val="tx1"/>
                </a:solidFill>
              </a:rPr>
              <a:t>If server is idle an item is served immediately, otherwise an arriving item joins a queue</a:t>
            </a:r>
          </a:p>
          <a:p>
            <a:pPr lvl="1"/>
            <a:r>
              <a:rPr lang="en-US" sz="1600" dirty="0">
                <a:solidFill>
                  <a:schemeClr val="tx1"/>
                </a:solidFill>
              </a:rPr>
              <a:t>There can be a single queue for a single server or for multiple servers, or multiples queues with one being for each of multiple servers</a:t>
            </a:r>
          </a:p>
          <a:p>
            <a:r>
              <a:rPr lang="en-US" sz="1600" dirty="0">
                <a:solidFill>
                  <a:schemeClr val="tx1"/>
                </a:solidFill>
              </a:rPr>
              <a:t>Average number of items in a queuing system equals the average rate at which items arrive multiplied by the  time that an item spends in the system</a:t>
            </a:r>
          </a:p>
          <a:p>
            <a:pPr lvl="1"/>
            <a:r>
              <a:rPr lang="en-US" sz="1600" dirty="0">
                <a:solidFill>
                  <a:schemeClr val="tx1"/>
                </a:solidFill>
              </a:rPr>
              <a:t>Relationship requires very few assumptions</a:t>
            </a:r>
          </a:p>
          <a:p>
            <a:pPr lvl="1"/>
            <a:r>
              <a:rPr lang="en-US" sz="1600" dirty="0">
                <a:solidFill>
                  <a:schemeClr val="tx1"/>
                </a:solidFill>
              </a:rPr>
              <a:t>Because of its simplicity and generality it is extremely useful</a:t>
            </a:r>
          </a:p>
        </p:txBody>
      </p:sp>
      <p:pic>
        <p:nvPicPr>
          <p:cNvPr id="361474" name="Picture 2"/>
          <p:cNvPicPr>
            <a:picLocks noChangeAspect="1" noChangeArrowheads="1"/>
          </p:cNvPicPr>
          <p:nvPr/>
        </p:nvPicPr>
        <p:blipFill>
          <a:blip r:embed="rId3"/>
          <a:srcRect/>
          <a:stretch>
            <a:fillRect/>
          </a:stretch>
        </p:blipFill>
        <p:spPr bwMode="auto">
          <a:xfrm>
            <a:off x="5748340" y="214290"/>
            <a:ext cx="2181246" cy="706602"/>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8AF02B71-8991-4516-A01E-F1A9ACD28BDC}" type="slidenum">
              <a:rPr lang="en-US" smtClean="0"/>
              <a:pPr/>
              <a:t>63</a:t>
            </a:fld>
            <a:endParaRPr lang="en-US"/>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474" y="71414"/>
            <a:ext cx="7556313" cy="785818"/>
          </a:xfrm>
        </p:spPr>
        <p:txBody>
          <a:bodyPr/>
          <a:lstStyle/>
          <a:p>
            <a:r>
              <a:rPr lang="en-US" dirty="0"/>
              <a:t>Questions </a:t>
            </a:r>
            <a:r>
              <a:rPr lang="en-US" sz="2400" dirty="0"/>
              <a:t>(Use your notebook)</a:t>
            </a:r>
            <a:endParaRPr lang="en-US" dirty="0"/>
          </a:p>
        </p:txBody>
      </p:sp>
      <p:sp>
        <p:nvSpPr>
          <p:cNvPr id="3" name="Content Placeholder 2"/>
          <p:cNvSpPr>
            <a:spLocks noGrp="1"/>
          </p:cNvSpPr>
          <p:nvPr>
            <p:ph idx="1"/>
          </p:nvPr>
        </p:nvSpPr>
        <p:spPr>
          <a:xfrm>
            <a:off x="498474" y="714356"/>
            <a:ext cx="7573988" cy="3571899"/>
          </a:xfrm>
        </p:spPr>
        <p:txBody>
          <a:bodyPr>
            <a:noAutofit/>
          </a:bodyPr>
          <a:lstStyle/>
          <a:p>
            <a:pPr>
              <a:buNone/>
            </a:pPr>
            <a:r>
              <a:rPr lang="en-GB" sz="1600" kern="700" dirty="0">
                <a:solidFill>
                  <a:srgbClr val="8000FF"/>
                </a:solidFill>
              </a:rPr>
              <a:t>Building blocks:  Composition and operating of vacuum tube/transistor</a:t>
            </a:r>
            <a:endParaRPr lang="en-US" sz="1600" kern="700" dirty="0">
              <a:solidFill>
                <a:schemeClr val="tx1"/>
              </a:solidFill>
            </a:endParaRPr>
          </a:p>
          <a:p>
            <a:pPr>
              <a:buNone/>
            </a:pPr>
            <a:r>
              <a:rPr lang="en-US" sz="1600" kern="700" dirty="0">
                <a:solidFill>
                  <a:schemeClr val="tx1"/>
                </a:solidFill>
              </a:rPr>
              <a:t>2.1 What is a stored program computer?</a:t>
            </a:r>
          </a:p>
          <a:p>
            <a:pPr>
              <a:buNone/>
            </a:pPr>
            <a:r>
              <a:rPr lang="en-US" sz="1600" kern="700" dirty="0">
                <a:solidFill>
                  <a:schemeClr val="tx1"/>
                </a:solidFill>
              </a:rPr>
              <a:t>2.2 What are the four main components of any general-purpose computer? </a:t>
            </a:r>
          </a:p>
          <a:p>
            <a:pPr>
              <a:buNone/>
            </a:pPr>
            <a:r>
              <a:rPr lang="en-US" sz="1600" kern="700" dirty="0">
                <a:solidFill>
                  <a:schemeClr val="tx1"/>
                </a:solidFill>
              </a:rPr>
              <a:t>2.3 At the integrated circuit level, what are the three principal constituents of a computer system? </a:t>
            </a:r>
          </a:p>
          <a:p>
            <a:pPr>
              <a:buNone/>
            </a:pPr>
            <a:r>
              <a:rPr lang="en-US" sz="1600" kern="700" dirty="0">
                <a:solidFill>
                  <a:schemeClr val="tx1"/>
                </a:solidFill>
              </a:rPr>
              <a:t>2.4 Explain Moore’s law. </a:t>
            </a:r>
          </a:p>
          <a:p>
            <a:pPr>
              <a:buNone/>
            </a:pPr>
            <a:r>
              <a:rPr lang="en-US" sz="1600" kern="700" dirty="0">
                <a:solidFill>
                  <a:schemeClr val="tx1"/>
                </a:solidFill>
              </a:rPr>
              <a:t>2.5 List and explain the key characteristics of a computer family. </a:t>
            </a:r>
          </a:p>
          <a:p>
            <a:pPr>
              <a:buNone/>
            </a:pPr>
            <a:r>
              <a:rPr lang="en-US" sz="1600" kern="700" dirty="0">
                <a:solidFill>
                  <a:schemeClr val="tx1"/>
                </a:solidFill>
              </a:rPr>
              <a:t>2.6 What is the key distinguishing feature of a microprocessor?</a:t>
            </a:r>
          </a:p>
          <a:p>
            <a:pPr>
              <a:buNone/>
            </a:pPr>
            <a:r>
              <a:rPr lang="en-US" sz="1600" b="1" u="sng" kern="700" dirty="0">
                <a:solidFill>
                  <a:schemeClr val="tx1"/>
                </a:solidFill>
              </a:rPr>
              <a:t>2.7- Refer to the table 2.1</a:t>
            </a:r>
          </a:p>
        </p:txBody>
      </p:sp>
      <p:pic>
        <p:nvPicPr>
          <p:cNvPr id="269314" name="Picture 2"/>
          <p:cNvPicPr>
            <a:picLocks noChangeAspect="1" noChangeArrowheads="1"/>
          </p:cNvPicPr>
          <p:nvPr/>
        </p:nvPicPr>
        <p:blipFill>
          <a:blip r:embed="rId2"/>
          <a:srcRect/>
          <a:stretch>
            <a:fillRect/>
          </a:stretch>
        </p:blipFill>
        <p:spPr bwMode="auto">
          <a:xfrm>
            <a:off x="571472" y="4786322"/>
            <a:ext cx="5895975" cy="1781175"/>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8AF02B71-8991-4516-A01E-F1A9ACD28BDC}" type="slidenum">
              <a:rPr lang="en-US" smtClean="0"/>
              <a:pPr/>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762000" y="228600"/>
            <a:ext cx="3428999" cy="1116106"/>
          </a:xfrm>
        </p:spPr>
        <p:txBody>
          <a:bodyPr>
            <a:normAutofit/>
          </a:bodyPr>
          <a:lstStyle/>
          <a:p>
            <a:r>
              <a:rPr lang="en-US" sz="4400" dirty="0"/>
              <a:t>Summary</a:t>
            </a:r>
          </a:p>
        </p:txBody>
      </p:sp>
      <p:sp>
        <p:nvSpPr>
          <p:cNvPr id="30" name="Content Placeholder 29"/>
          <p:cNvSpPr>
            <a:spLocks noGrp="1"/>
          </p:cNvSpPr>
          <p:nvPr>
            <p:ph sz="half" idx="2"/>
          </p:nvPr>
        </p:nvSpPr>
        <p:spPr>
          <a:xfrm>
            <a:off x="457200" y="2514600"/>
            <a:ext cx="3657600" cy="4343400"/>
          </a:xfrm>
        </p:spPr>
        <p:txBody>
          <a:bodyPr>
            <a:normAutofit/>
          </a:bodyPr>
          <a:lstStyle/>
          <a:p>
            <a:pPr>
              <a:spcBef>
                <a:spcPts val="600"/>
              </a:spcBef>
            </a:pPr>
            <a:r>
              <a:rPr lang="en-US" dirty="0"/>
              <a:t>First generation computers</a:t>
            </a:r>
          </a:p>
          <a:p>
            <a:pPr lvl="1"/>
            <a:r>
              <a:rPr lang="en-US" dirty="0"/>
              <a:t>Vacuum tubes</a:t>
            </a:r>
          </a:p>
          <a:p>
            <a:pPr marL="228600" lvl="1">
              <a:buClr>
                <a:schemeClr val="accent1"/>
              </a:buClr>
            </a:pPr>
            <a:r>
              <a:rPr lang="en-US" dirty="0"/>
              <a:t>Second generation computers</a:t>
            </a:r>
          </a:p>
          <a:p>
            <a:pPr lvl="1"/>
            <a:r>
              <a:rPr lang="en-US" dirty="0"/>
              <a:t>Transistors</a:t>
            </a:r>
          </a:p>
          <a:p>
            <a:pPr marL="228600" lvl="1">
              <a:buClr>
                <a:schemeClr val="accent1"/>
              </a:buClr>
            </a:pPr>
            <a:r>
              <a:rPr lang="en-US" dirty="0"/>
              <a:t>Third generation computers</a:t>
            </a:r>
          </a:p>
          <a:p>
            <a:pPr lvl="1"/>
            <a:r>
              <a:rPr lang="en-US" dirty="0"/>
              <a:t>Integrated circuits</a:t>
            </a:r>
          </a:p>
          <a:p>
            <a:pPr marL="228600" lvl="1">
              <a:spcBef>
                <a:spcPts val="1800"/>
              </a:spcBef>
              <a:buClr>
                <a:schemeClr val="accent1"/>
              </a:buClr>
            </a:pPr>
            <a:r>
              <a:rPr lang="en-US" dirty="0"/>
              <a:t>Performance designs</a:t>
            </a:r>
          </a:p>
          <a:p>
            <a:pPr lvl="1"/>
            <a:r>
              <a:rPr lang="en-US" dirty="0"/>
              <a:t>Microprocessor speed</a:t>
            </a:r>
          </a:p>
          <a:p>
            <a:pPr lvl="1"/>
            <a:r>
              <a:rPr lang="en-US" dirty="0"/>
              <a:t>Performance balance</a:t>
            </a:r>
          </a:p>
          <a:p>
            <a:pPr lvl="1"/>
            <a:r>
              <a:rPr lang="en-US" dirty="0"/>
              <a:t>Chip organization and architecture</a:t>
            </a:r>
          </a:p>
        </p:txBody>
      </p:sp>
      <p:sp>
        <p:nvSpPr>
          <p:cNvPr id="32" name="Content Placeholder 31"/>
          <p:cNvSpPr>
            <a:spLocks noGrp="1"/>
          </p:cNvSpPr>
          <p:nvPr>
            <p:ph sz="quarter" idx="4"/>
          </p:nvPr>
        </p:nvSpPr>
        <p:spPr>
          <a:xfrm>
            <a:off x="4495800" y="2133600"/>
            <a:ext cx="3810000" cy="4724400"/>
          </a:xfrm>
        </p:spPr>
        <p:txBody>
          <a:bodyPr>
            <a:normAutofit/>
          </a:bodyPr>
          <a:lstStyle/>
          <a:p>
            <a:pPr marL="228600" lvl="1">
              <a:spcBef>
                <a:spcPts val="1800"/>
              </a:spcBef>
              <a:buClr>
                <a:schemeClr val="accent1"/>
              </a:buClr>
            </a:pPr>
            <a:r>
              <a:rPr lang="en-US" dirty="0"/>
              <a:t>Multi-core</a:t>
            </a:r>
          </a:p>
          <a:p>
            <a:pPr marL="228600" lvl="1">
              <a:spcBef>
                <a:spcPts val="1800"/>
              </a:spcBef>
              <a:buClr>
                <a:schemeClr val="accent1"/>
              </a:buClr>
            </a:pPr>
            <a:r>
              <a:rPr lang="en-US" dirty="0"/>
              <a:t>MICs</a:t>
            </a:r>
          </a:p>
          <a:p>
            <a:pPr marL="228600" lvl="1">
              <a:spcBef>
                <a:spcPts val="1800"/>
              </a:spcBef>
              <a:buClr>
                <a:schemeClr val="accent1"/>
              </a:buClr>
            </a:pPr>
            <a:r>
              <a:rPr lang="en-US" dirty="0"/>
              <a:t>GPGPUs</a:t>
            </a:r>
          </a:p>
          <a:p>
            <a:pPr marL="228600" lvl="1">
              <a:spcBef>
                <a:spcPts val="1800"/>
              </a:spcBef>
              <a:buClr>
                <a:schemeClr val="accent1"/>
              </a:buClr>
            </a:pPr>
            <a:r>
              <a:rPr lang="en-US" dirty="0"/>
              <a:t>Performance assessment</a:t>
            </a:r>
          </a:p>
          <a:p>
            <a:pPr lvl="1"/>
            <a:r>
              <a:rPr lang="en-US" dirty="0"/>
              <a:t>Clock speed and instructions per second</a:t>
            </a:r>
          </a:p>
          <a:p>
            <a:pPr lvl="1"/>
            <a:r>
              <a:rPr lang="en-US" dirty="0"/>
              <a:t>Benchmarks</a:t>
            </a:r>
          </a:p>
          <a:p>
            <a:pPr lvl="1"/>
            <a:r>
              <a:rPr lang="en-US" dirty="0"/>
              <a:t>Amdahl’s Law</a:t>
            </a:r>
          </a:p>
          <a:p>
            <a:pPr lvl="1"/>
            <a:r>
              <a:rPr lang="en-US" dirty="0"/>
              <a:t>Little’s Law</a:t>
            </a:r>
          </a:p>
        </p:txBody>
      </p:sp>
      <p:sp>
        <p:nvSpPr>
          <p:cNvPr id="44035" name="Rectangle 3"/>
          <p:cNvSpPr>
            <a:spLocks noGrp="1" noChangeArrowheads="1"/>
          </p:cNvSpPr>
          <p:nvPr>
            <p:ph type="body" idx="1"/>
          </p:nvPr>
        </p:nvSpPr>
        <p:spPr>
          <a:xfrm>
            <a:off x="533400" y="1219200"/>
            <a:ext cx="3657600" cy="1098177"/>
          </a:xfrm>
        </p:spPr>
        <p:txBody>
          <a:bodyPr>
            <a:normAutofit/>
          </a:bodyPr>
          <a:lstStyle/>
          <a:p>
            <a:endParaRPr lang="en-US" sz="800" dirty="0"/>
          </a:p>
          <a:p>
            <a:endParaRPr lang="en-US" sz="800" dirty="0"/>
          </a:p>
          <a:p>
            <a:r>
              <a:rPr lang="en-US" sz="3200" dirty="0"/>
              <a:t>Chapter 2</a:t>
            </a:r>
          </a:p>
          <a:p>
            <a:endParaRPr lang="en-US" dirty="0"/>
          </a:p>
        </p:txBody>
      </p:sp>
      <p:sp>
        <p:nvSpPr>
          <p:cNvPr id="31" name="Text Placeholder 30"/>
          <p:cNvSpPr>
            <a:spLocks noGrp="1"/>
          </p:cNvSpPr>
          <p:nvPr>
            <p:ph type="body" sz="quarter" idx="3"/>
          </p:nvPr>
        </p:nvSpPr>
        <p:spPr>
          <a:xfrm>
            <a:off x="4343400" y="228600"/>
            <a:ext cx="3657600" cy="1707776"/>
          </a:xfrm>
        </p:spPr>
        <p:txBody>
          <a:bodyPr/>
          <a:lstStyle/>
          <a:p>
            <a:r>
              <a:rPr lang="en-US" sz="2800" dirty="0">
                <a:solidFill>
                  <a:schemeClr val="tx2"/>
                </a:solidFill>
                <a:latin typeface="+mj-lt"/>
                <a:ea typeface="+mj-ea"/>
                <a:cs typeface="+mj-cs"/>
              </a:rPr>
              <a:t>Computer Evolution and Performance</a:t>
            </a:r>
            <a:endParaRPr lang="en-US" sz="2800" dirty="0">
              <a:solidFill>
                <a:schemeClr val="tx2"/>
              </a:solidFill>
            </a:endParaRPr>
          </a:p>
        </p:txBody>
      </p:sp>
      <p:sp>
        <p:nvSpPr>
          <p:cNvPr id="7" name="Slide Number Placeholder 6"/>
          <p:cNvSpPr>
            <a:spLocks noGrp="1"/>
          </p:cNvSpPr>
          <p:nvPr>
            <p:ph type="sldNum" sz="quarter" idx="12"/>
          </p:nvPr>
        </p:nvSpPr>
        <p:spPr/>
        <p:txBody>
          <a:bodyPr/>
          <a:lstStyle/>
          <a:p>
            <a:fld id="{8AF02B71-8991-4516-A01E-F1A9ACD28BDC}" type="slidenum">
              <a:rPr lang="en-US" smtClean="0"/>
              <a:pPr/>
              <a:t>65</a:t>
            </a:fld>
            <a:endParaRPr lang="en-US"/>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16632"/>
            <a:ext cx="8064896" cy="1116106"/>
          </a:xfrm>
        </p:spPr>
        <p:txBody>
          <a:bodyPr/>
          <a:lstStyle/>
          <a:p>
            <a:r>
              <a:rPr lang="en-US" sz="1600" b="1"/>
              <a:t>01.  The ENIAC was designed to help the Army’s _________, which was the agency responsible for developing range and trajectory tables for new weapons.</a:t>
            </a:r>
            <a:br>
              <a:rPr lang="en-US" sz="1600"/>
            </a:br>
            <a:r>
              <a:rPr lang="en-US" sz="1600"/>
              <a:t> </a:t>
            </a:r>
            <a:br>
              <a:rPr lang="en-US" sz="1600"/>
            </a:br>
            <a:r>
              <a:rPr lang="en-US" sz="1600" b="1"/>
              <a:t>02.  The first task of the __________ was to perform a series of complex calculations that were used to help determine the feasibility of the hydrogen bomb.</a:t>
            </a:r>
            <a:br>
              <a:rPr lang="en-US" sz="1600"/>
            </a:br>
            <a:r>
              <a:rPr lang="en-US" sz="1600"/>
              <a:t> </a:t>
            </a:r>
            <a:br>
              <a:rPr lang="en-US" sz="1600"/>
            </a:br>
            <a:r>
              <a:rPr lang="en-US" sz="1600" b="1"/>
              <a:t>03.  The first publication of the idea of the stored-program concept was in a proposal by John von Neumann for a new computer known as the ________.</a:t>
            </a:r>
            <a:br>
              <a:rPr lang="en-US" sz="1600"/>
            </a:br>
            <a:r>
              <a:rPr lang="en-US" sz="1600"/>
              <a:t> </a:t>
            </a:r>
            <a:br>
              <a:rPr lang="en-US" sz="1600"/>
            </a:br>
            <a:r>
              <a:rPr lang="en-US" sz="1600" b="1"/>
              <a:t>04.  The IAS computer consists of a main memory, an ALU, I/O, and a _________.</a:t>
            </a:r>
            <a:br>
              <a:rPr lang="en-US" sz="1600"/>
            </a:br>
            <a:r>
              <a:rPr lang="en-US" sz="1600"/>
              <a:t> </a:t>
            </a:r>
            <a:br>
              <a:rPr lang="en-US" sz="1600"/>
            </a:br>
            <a:r>
              <a:rPr lang="en-US" sz="1600" b="1"/>
              <a:t>05.  The __________ was the first successful commercial computer and was commissioned by the Bureau of the Census for the 1950 calculations.</a:t>
            </a:r>
            <a:br>
              <a:rPr lang="en-US" sz="1600"/>
            </a:br>
            <a:r>
              <a:rPr lang="en-US" sz="1600"/>
              <a:t> </a:t>
            </a:r>
            <a:br>
              <a:rPr lang="en-US" sz="1600"/>
            </a:br>
            <a:r>
              <a:rPr lang="en-US" sz="1600" b="1"/>
              <a:t>06.  A __________ is an independent I/O module with its own processor and instruction set.</a:t>
            </a:r>
            <a:br>
              <a:rPr lang="en-US" sz="1600"/>
            </a:br>
            <a:r>
              <a:rPr lang="en-US" sz="1600"/>
              <a:t> </a:t>
            </a:r>
            <a:br>
              <a:rPr lang="en-US" sz="1600"/>
            </a:br>
            <a:r>
              <a:rPr lang="en-US" sz="1600" b="1"/>
              <a:t>07.  The __________ is the central termination point for data channels, the CPU, and memory.</a:t>
            </a:r>
            <a:br>
              <a:rPr lang="en-US" sz="1600"/>
            </a:br>
            <a:r>
              <a:rPr lang="en-US" sz="1600"/>
              <a:t> </a:t>
            </a:r>
            <a:br>
              <a:rPr lang="en-US" sz="1600"/>
            </a:br>
            <a:r>
              <a:rPr lang="en-US" sz="1600" b="1"/>
              <a:t>08.  The term __________ system refers to the use of electronics and software within a product, designed to perform a dedicated function, as opposed to a general-purpose computer such as a laptop or desktop system.</a:t>
            </a:r>
            <a:br>
              <a:rPr lang="en-US"/>
            </a:br>
            <a:endParaRPr lang="en-US"/>
          </a:p>
        </p:txBody>
      </p:sp>
      <p:sp>
        <p:nvSpPr>
          <p:cNvPr id="5" name="Slide Number Placeholder 4"/>
          <p:cNvSpPr>
            <a:spLocks noGrp="1"/>
          </p:cNvSpPr>
          <p:nvPr>
            <p:ph type="sldNum" sz="quarter" idx="12"/>
          </p:nvPr>
        </p:nvSpPr>
        <p:spPr/>
        <p:txBody>
          <a:bodyPr/>
          <a:lstStyle/>
          <a:p>
            <a:fld id="{8AF02B71-8991-4516-A01E-F1A9ACD28BDC}" type="slidenum">
              <a:rPr lang="en-US" smtClean="0"/>
              <a:pPr/>
              <a:t>66</a:t>
            </a:fld>
            <a:endParaRPr lang="en-US"/>
          </a:p>
        </p:txBody>
      </p:sp>
    </p:spTree>
    <p:extLst>
      <p:ext uri="{BB962C8B-B14F-4D97-AF65-F5344CB8AC3E}">
        <p14:creationId xmlns:p14="http://schemas.microsoft.com/office/powerpoint/2010/main" val="3724467545"/>
      </p:ext>
    </p:extLst>
  </p:cSld>
  <p:clrMapOvr>
    <a:masterClrMapping/>
  </p:clrMapOvr>
</p:sld>
</file>

<file path=ppt/theme/theme1.xml><?xml version="1.0" encoding="utf-8"?>
<a:theme xmlns:a="http://schemas.openxmlformats.org/drawingml/2006/main" name="Advantage">
  <a:themeElements>
    <a:clrScheme name="Advantage">
      <a:dk1>
        <a:sysClr val="windowText" lastClr="000000"/>
      </a:dk1>
      <a:lt1>
        <a:sysClr val="window" lastClr="FFFFFF"/>
      </a:lt1>
      <a:dk2>
        <a:srgbClr val="2B142D"/>
      </a:dk2>
      <a:lt2>
        <a:srgbClr val="C3AFCC"/>
      </a:lt2>
      <a:accent1>
        <a:srgbClr val="663366"/>
      </a:accent1>
      <a:accent2>
        <a:srgbClr val="330F42"/>
      </a:accent2>
      <a:accent3>
        <a:srgbClr val="666699"/>
      </a:accent3>
      <a:accent4>
        <a:srgbClr val="999966"/>
      </a:accent4>
      <a:accent5>
        <a:srgbClr val="F7901E"/>
      </a:accent5>
      <a:accent6>
        <a:srgbClr val="A3A101"/>
      </a:accent6>
      <a:hlink>
        <a:srgbClr val="BC5FBC"/>
      </a:hlink>
      <a:folHlink>
        <a:srgbClr val="9775A7"/>
      </a:folHlink>
    </a:clrScheme>
    <a:fontScheme name="Advantage">
      <a:majorFont>
        <a:latin typeface="Rockwell"/>
        <a:ea typeface=""/>
        <a:cs typeface=""/>
        <a:font script="Jpan" typeface="ＭＳ ゴシック"/>
      </a:majorFont>
      <a:minorFont>
        <a:latin typeface="Rockwell"/>
        <a:ea typeface=""/>
        <a:cs typeface=""/>
        <a:font script="Jpan" typeface="ＭＳ ゴシック"/>
      </a:minorFont>
    </a:fontScheme>
    <a:fmtScheme name="Advantage">
      <a:fillStyleLst>
        <a:solidFill>
          <a:schemeClr val="phClr"/>
        </a:solidFill>
        <a:gradFill rotWithShape="1">
          <a:gsLst>
            <a:gs pos="0">
              <a:schemeClr val="phClr">
                <a:tint val="100000"/>
                <a:shade val="40000"/>
                <a:alpha val="100000"/>
                <a:satMod val="150000"/>
                <a:lumMod val="100000"/>
              </a:schemeClr>
            </a:gs>
            <a:gs pos="100000">
              <a:schemeClr val="phClr">
                <a:tint val="70000"/>
                <a:shade val="100000"/>
                <a:alpha val="100000"/>
                <a:satMod val="200000"/>
                <a:lumMod val="100000"/>
              </a:schemeClr>
            </a:gs>
          </a:gsLst>
          <a:lin ang="6000000" scaled="1"/>
        </a:gradFill>
        <a:gradFill rotWithShape="1">
          <a:gsLst>
            <a:gs pos="0">
              <a:schemeClr val="phClr">
                <a:shade val="40000"/>
                <a:alpha val="100000"/>
                <a:satMod val="150000"/>
                <a:lumMod val="100000"/>
              </a:schemeClr>
            </a:gs>
            <a:gs pos="100000">
              <a:schemeClr val="phClr">
                <a:tint val="70000"/>
                <a:shade val="100000"/>
                <a:alpha val="100000"/>
                <a:satMod val="200000"/>
                <a:lumMod val="100000"/>
              </a:schemeClr>
            </a:gs>
          </a:gsLst>
          <a:lin ang="54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innerShdw blurRad="50800" dist="25400" dir="13500000">
              <a:srgbClr val="FFFFFF">
                <a:alpha val="75000"/>
              </a:srgbClr>
            </a:innerShdw>
            <a:outerShdw blurRad="63500" dist="25400" dir="5400000" rotWithShape="0">
              <a:srgbClr val="808080">
                <a:alpha val="75000"/>
              </a:srgbClr>
            </a:outerShdw>
          </a:effectLst>
        </a:effectStyle>
        <a:effectStyle>
          <a:effectLst/>
          <a:scene3d>
            <a:camera prst="orthographicFront">
              <a:rot lat="0" lon="0" rev="0"/>
            </a:camera>
            <a:lightRig rig="twoPt" dir="tl">
              <a:rot lat="0" lon="0" rev="4500000"/>
            </a:lightRig>
          </a:scene3d>
          <a:sp3d>
            <a:bevelT w="63500" h="50800"/>
          </a:sp3d>
        </a:effectStyle>
      </a:effectStyleLst>
      <a:bgFillStyleLst>
        <a:solidFill>
          <a:schemeClr val="phClr"/>
        </a:solidFill>
        <a:gradFill rotWithShape="1">
          <a:gsLst>
            <a:gs pos="0">
              <a:schemeClr val="phClr">
                <a:tint val="40000"/>
                <a:satMod val="1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Advantage.thmx</Template>
  <TotalTime>42684</TotalTime>
  <Words>22479</Words>
  <Application>Microsoft Office PowerPoint</Application>
  <PresentationFormat>On-screen Show (4:3)</PresentationFormat>
  <Paragraphs>2065</Paragraphs>
  <Slides>66</Slides>
  <Notes>60</Notes>
  <HiddenSlides>0</HiddenSlides>
  <MMClips>0</MMClips>
  <ScaleCrop>false</ScaleCrop>
  <HeadingPairs>
    <vt:vector size="10" baseType="variant">
      <vt:variant>
        <vt:lpstr>Fonts Used</vt:lpstr>
      </vt:variant>
      <vt:variant>
        <vt:i4>9</vt:i4>
      </vt:variant>
      <vt:variant>
        <vt:lpstr>Theme</vt:lpstr>
      </vt:variant>
      <vt:variant>
        <vt:i4>1</vt:i4>
      </vt:variant>
      <vt:variant>
        <vt:lpstr>Links</vt:lpstr>
      </vt:variant>
      <vt:variant>
        <vt:i4>6</vt:i4>
      </vt:variant>
      <vt:variant>
        <vt:lpstr>Embedded OLE Servers</vt:lpstr>
      </vt:variant>
      <vt:variant>
        <vt:i4>1</vt:i4>
      </vt:variant>
      <vt:variant>
        <vt:lpstr>Slide Titles</vt:lpstr>
      </vt:variant>
      <vt:variant>
        <vt:i4>66</vt:i4>
      </vt:variant>
    </vt:vector>
  </HeadingPairs>
  <TitlesOfParts>
    <vt:vector size="83" baseType="lpstr">
      <vt:lpstr>Arial</vt:lpstr>
      <vt:lpstr>Arial Unicode MS</vt:lpstr>
      <vt:lpstr>Calibri_7_54</vt:lpstr>
      <vt:lpstr>Calibri-Bold_20_54</vt:lpstr>
      <vt:lpstr>Rockwell</vt:lpstr>
      <vt:lpstr>Segoe UI Web (Vietnamese)</vt:lpstr>
      <vt:lpstr>Times New Roman</vt:lpstr>
      <vt:lpstr>TimesTen-Roman</vt:lpstr>
      <vt:lpstr>Wingdings</vt:lpstr>
      <vt:lpstr>Advantage</vt:lpstr>
      <vt:lpstr>Macintosh%20HD:Users:kevinmclaughlin:Desktop:COA9e%20PPT+TestBank:COA9e%20Tables:T02-Evolution.doc!OLE_LINK2</vt:lpstr>
      <vt:lpstr>???</vt:lpstr>
      <vt:lpstr>!OLE_LINK3</vt:lpstr>
      <vt:lpstr>Macintosh%20HD:Users:kevinmclaughlin:Desktop:COA9e%20PPT+TestBank:COA9e%20Tables:T02-Evolution-Horizontal.doc!OLE_LINK4</vt:lpstr>
      <vt:lpstr>Macintosh%20HD:Users:kevinmclaughlin:Desktop:COA9e%20PPT+TestBank:COA9e%20Tables:T02-Evolution-Horizontal.doc!OLE_LINK5</vt:lpstr>
      <vt:lpstr>Macintosh%20HD:Users:kevinmclaughlin:Desktop:COA9e%20PPT+TestBank:COA9e%20Tables:T02-Evolution-Horizontal.doc!OLE_LINK6</vt:lpstr>
      <vt:lpstr>Document</vt:lpstr>
      <vt:lpstr>William Stallings : Computer Organization  and Architecture,  9th Edition</vt:lpstr>
      <vt:lpstr>Objectives</vt:lpstr>
      <vt:lpstr>Objectives</vt:lpstr>
      <vt:lpstr>Contents</vt:lpstr>
      <vt:lpstr>Number Systems: Definition</vt:lpstr>
      <vt:lpstr>Number Systems:  Representing a quantity</vt:lpstr>
      <vt:lpstr>Number Systems: Counting</vt:lpstr>
      <vt:lpstr>Number Systems: Conversions (Decimal  Binary/Hexa  expansion)</vt:lpstr>
      <vt:lpstr>Number Systems: Conversions (Decimal  Binary/Hexa  expansion) …</vt:lpstr>
      <vt:lpstr>Number Systems: Conversions (Binary  Hexa  expansion)</vt:lpstr>
      <vt:lpstr>2.1- History of Computers</vt:lpstr>
      <vt:lpstr>First Generation:  Vacuum Tubes </vt:lpstr>
      <vt:lpstr>First Generation:   ENIAC Computer  (Read by yourself)  </vt:lpstr>
      <vt:lpstr>ENIAC: Characteristics</vt:lpstr>
      <vt:lpstr>John von Neumann</vt:lpstr>
      <vt:lpstr>Structure of von Neumann Machine</vt:lpstr>
      <vt:lpstr>IAS Memory Formats</vt:lpstr>
      <vt:lpstr>Structure  of  IAS Computer</vt:lpstr>
      <vt:lpstr>The IAS Instruction  Set</vt:lpstr>
      <vt:lpstr>PowerPoint Presentation</vt:lpstr>
      <vt:lpstr>Commercial Computers: UNIVAC  (Read by yourself)</vt:lpstr>
      <vt:lpstr>IBM</vt:lpstr>
      <vt:lpstr>Second Generation:  Transistors</vt:lpstr>
      <vt:lpstr>Second Generation Computers</vt:lpstr>
      <vt:lpstr>Table 2.3 : Example Members of the  IBM 700/7000 Series   </vt:lpstr>
      <vt:lpstr>IBM 7094 Configuration Read by yourself</vt:lpstr>
      <vt:lpstr>Third Generation:  Integrated Circuits IC</vt:lpstr>
      <vt:lpstr>Microelectronics</vt:lpstr>
      <vt:lpstr>Integrated  Circuits</vt:lpstr>
      <vt:lpstr>Wafer,  Chip, and  Gate Relationship</vt:lpstr>
      <vt:lpstr>Chip Growth</vt:lpstr>
      <vt:lpstr>Moore’s Law</vt:lpstr>
      <vt:lpstr>Table 2.4: Characteristics of the  System/360 Family</vt:lpstr>
      <vt:lpstr> Table 2.5: Evolution of the PDP-8 (Read by yourself)</vt:lpstr>
      <vt:lpstr>DEC - PDP-8 Bus Structure</vt:lpstr>
      <vt:lpstr>Semiconductor Memory Microprocessors</vt:lpstr>
      <vt:lpstr>Semiconductor Memory</vt:lpstr>
      <vt:lpstr>Microprocessors</vt:lpstr>
      <vt:lpstr>Evolution of Intel Microprocessors</vt:lpstr>
      <vt:lpstr>Evolution of Intel Microprocessors</vt:lpstr>
      <vt:lpstr>2.2- Designing for Performance </vt:lpstr>
      <vt:lpstr>Microprocessor Speed</vt:lpstr>
      <vt:lpstr>Performance  Balance</vt:lpstr>
      <vt:lpstr>Typical I/O Device Data Rates</vt:lpstr>
      <vt:lpstr>Improvements in Chip Organization and Architecture</vt:lpstr>
      <vt:lpstr>Problems with Clock Speed and Login Density</vt:lpstr>
      <vt:lpstr>Processor Trends</vt:lpstr>
      <vt:lpstr>2.3- Multicore, MICs, and GPGPUs</vt:lpstr>
      <vt:lpstr>Multicore</vt:lpstr>
      <vt:lpstr>Many Integrated Core (MIC) Graphics Processing Unit (GPU) </vt:lpstr>
      <vt:lpstr>Read by Yourself</vt:lpstr>
      <vt:lpstr>2.6- Performance Assessment</vt:lpstr>
      <vt:lpstr>System Clock</vt:lpstr>
      <vt:lpstr>Instruction Execution Rate</vt:lpstr>
      <vt:lpstr>Benchmark</vt:lpstr>
      <vt:lpstr>Benchmarks …</vt:lpstr>
      <vt:lpstr>Benchmark</vt:lpstr>
      <vt:lpstr>Desirable Benchmark Characteristics</vt:lpstr>
      <vt:lpstr>System Performance Evaluation Corporation (SPEC)</vt:lpstr>
      <vt:lpstr>SPEC   CPU2006</vt:lpstr>
      <vt:lpstr>Amdahl’s Law (Read by yourself)</vt:lpstr>
      <vt:lpstr>Amdahl’s Law (Read by yourself)</vt:lpstr>
      <vt:lpstr>Little’s Law  (Read by yourself)</vt:lpstr>
      <vt:lpstr>Questions (Use your notebook)</vt:lpstr>
      <vt:lpstr>Summary</vt:lpstr>
      <vt:lpstr>01.  The ENIAC was designed to help the Army’s _________, which was the agency responsible for developing range and trajectory tables for new weapons.   02.  The first task of the __________ was to perform a series of complex calculations that were used to help determine the feasibility of the hydrogen bomb.   03.  The first publication of the idea of the stored-program concept was in a proposal by John von Neumann for a new computer known as the ________.   04.  The IAS computer consists of a main memory, an ALU, I/O, and a _________.   05.  The __________ was the first successful commercial computer and was commissioned by the Bureau of the Census for the 1950 calculations.   06.  A __________ is an independent I/O module with its own processor and instruction set.   07.  The __________ is the central termination point for data channels, the CPU, and memory.   08.  The term __________ system refers to the use of electronics and software within a product, designed to perform a dedicated function, as opposed to a general-purpose computer such as a laptop or desktop system.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02 Computer Evolution and Performance</dc:title>
  <dc:creator>Adrian J Pullin</dc:creator>
  <cp:lastModifiedBy>Tong Phuoc Quan (FE FPTU HCM)</cp:lastModifiedBy>
  <cp:revision>377</cp:revision>
  <dcterms:created xsi:type="dcterms:W3CDTF">2012-06-10T04:05:19Z</dcterms:created>
  <dcterms:modified xsi:type="dcterms:W3CDTF">2022-01-08T10:16:48Z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Type">
    <vt:i4>1</vt:i4>
  </property>
  <property fmtid="{D5CDD505-2E9C-101B-9397-08002B2CF9AE}" pid="3" name="GraphicType">
    <vt:i4>1</vt:i4>
  </property>
  <property fmtid="{D5CDD505-2E9C-101B-9397-08002B2CF9AE}" pid="4" name="Compression">
    <vt:i4>100</vt:i4>
  </property>
  <property fmtid="{D5CDD505-2E9C-101B-9397-08002B2CF9AE}" pid="5" name="ScreenSize">
    <vt:i4>2</vt:i4>
  </property>
  <property fmtid="{D5CDD505-2E9C-101B-9397-08002B2CF9AE}" pid="6" name="ScreenUsage">
    <vt:i4>1</vt:i4>
  </property>
  <property fmtid="{D5CDD505-2E9C-101B-9397-08002B2CF9AE}" pid="7" name="MailAddress">
    <vt:lpwstr>a.j.pullin@newi.ac.uk</vt:lpwstr>
  </property>
  <property fmtid="{D5CDD505-2E9C-101B-9397-08002B2CF9AE}" pid="8" name="HomePage">
    <vt:lpwstr>http://www.newi.ac.uk/pullina/default.htm</vt:lpwstr>
  </property>
  <property fmtid="{D5CDD505-2E9C-101B-9397-08002B2CF9AE}" pid="9" name="Other">
    <vt:lpwstr/>
  </property>
  <property fmtid="{D5CDD505-2E9C-101B-9397-08002B2CF9AE}" pid="10" name="DownloadOriginal">
    <vt:bool>true</vt:bool>
  </property>
  <property fmtid="{D5CDD505-2E9C-101B-9397-08002B2CF9AE}" pid="11" name="DownloadIEButton">
    <vt:bool>false</vt:bool>
  </property>
  <property fmtid="{D5CDD505-2E9C-101B-9397-08002B2CF9AE}" pid="12" name="UseBrowserColor">
    <vt:bool>true</vt:bool>
  </property>
  <property fmtid="{D5CDD505-2E9C-101B-9397-08002B2CF9AE}" pid="13" name="BackColor">
    <vt:i4>15132390</vt:i4>
  </property>
  <property fmtid="{D5CDD505-2E9C-101B-9397-08002B2CF9AE}" pid="14" name="TextColor">
    <vt:i4>0</vt:i4>
  </property>
  <property fmtid="{D5CDD505-2E9C-101B-9397-08002B2CF9AE}" pid="15" name="LinkColor">
    <vt:i4>16711782</vt:i4>
  </property>
  <property fmtid="{D5CDD505-2E9C-101B-9397-08002B2CF9AE}" pid="16" name="VisitedColor">
    <vt:i4>10040268</vt:i4>
  </property>
  <property fmtid="{D5CDD505-2E9C-101B-9397-08002B2CF9AE}" pid="17" name="TransparentButton">
    <vt:i4>0</vt:i4>
  </property>
  <property fmtid="{D5CDD505-2E9C-101B-9397-08002B2CF9AE}" pid="18" name="ButtonType">
    <vt:i4>3</vt:i4>
  </property>
  <property fmtid="{D5CDD505-2E9C-101B-9397-08002B2CF9AE}" pid="19" name="ShowNotes">
    <vt:bool>false</vt:bool>
  </property>
  <property fmtid="{D5CDD505-2E9C-101B-9397-08002B2CF9AE}" pid="20" name="NavBtnPos">
    <vt:i4>3</vt:i4>
  </property>
  <property fmtid="{D5CDD505-2E9C-101B-9397-08002B2CF9AE}" pid="21" name="OutputDir">
    <vt:lpwstr>H:\Data\Networks\Notes\HTML</vt:lpwstr>
  </property>
</Properties>
</file>