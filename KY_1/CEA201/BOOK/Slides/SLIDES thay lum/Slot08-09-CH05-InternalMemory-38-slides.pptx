
<file path=[Content_Types].xml><?xml version="1.0" encoding="utf-8"?>
<Types xmlns="http://schemas.openxmlformats.org/package/2006/content-types">
  <Default Extension="jpeg" ContentType="image/jpeg"/>
  <Default Extension="pdf" ContentType="application/pd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notesMasterIdLst>
    <p:notesMasterId r:id="rId42"/>
  </p:notesMasterIdLst>
  <p:handoutMasterIdLst>
    <p:handoutMasterId r:id="rId43"/>
  </p:handoutMasterIdLst>
  <p:sldIdLst>
    <p:sldId id="351" r:id="rId2"/>
    <p:sldId id="352" r:id="rId3"/>
    <p:sldId id="353" r:id="rId4"/>
    <p:sldId id="354" r:id="rId5"/>
    <p:sldId id="355" r:id="rId6"/>
    <p:sldId id="327" r:id="rId7"/>
    <p:sldId id="273" r:id="rId8"/>
    <p:sldId id="341" r:id="rId9"/>
    <p:sldId id="325" r:id="rId10"/>
    <p:sldId id="308" r:id="rId11"/>
    <p:sldId id="343" r:id="rId12"/>
    <p:sldId id="344" r:id="rId13"/>
    <p:sldId id="309" r:id="rId14"/>
    <p:sldId id="277" r:id="rId15"/>
    <p:sldId id="278" r:id="rId16"/>
    <p:sldId id="279" r:id="rId17"/>
    <p:sldId id="333" r:id="rId18"/>
    <p:sldId id="310" r:id="rId19"/>
    <p:sldId id="311" r:id="rId20"/>
    <p:sldId id="359" r:id="rId21"/>
    <p:sldId id="345" r:id="rId22"/>
    <p:sldId id="357" r:id="rId23"/>
    <p:sldId id="347" r:id="rId24"/>
    <p:sldId id="348" r:id="rId25"/>
    <p:sldId id="360" r:id="rId26"/>
    <p:sldId id="361" r:id="rId27"/>
    <p:sldId id="349" r:id="rId28"/>
    <p:sldId id="346" r:id="rId29"/>
    <p:sldId id="302" r:id="rId30"/>
    <p:sldId id="303" r:id="rId31"/>
    <p:sldId id="326" r:id="rId32"/>
    <p:sldId id="350" r:id="rId33"/>
    <p:sldId id="328" r:id="rId34"/>
    <p:sldId id="305" r:id="rId35"/>
    <p:sldId id="329" r:id="rId36"/>
    <p:sldId id="330" r:id="rId37"/>
    <p:sldId id="334" r:id="rId38"/>
    <p:sldId id="331" r:id="rId39"/>
    <p:sldId id="358" r:id="rId40"/>
    <p:sldId id="338" r:id="rId4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8000"/>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38" autoAdjust="0"/>
    <p:restoredTop sz="95529" autoAdjust="0"/>
  </p:normalViewPr>
  <p:slideViewPr>
    <p:cSldViewPr>
      <p:cViewPr>
        <p:scale>
          <a:sx n="90" d="100"/>
          <a:sy n="90" d="100"/>
        </p:scale>
        <p:origin x="662" y="19"/>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_rels/viewProps.xml.rels><?xml version="1.0" encoding="UTF-8" standalone="yes"?>
<Relationships xmlns="http://schemas.openxmlformats.org/package/2006/relationships"><Relationship Id="rId8" Type="http://schemas.openxmlformats.org/officeDocument/2006/relationships/slide" Target="slides/slide29.xml"/><Relationship Id="rId13" Type="http://schemas.openxmlformats.org/officeDocument/2006/relationships/slide" Target="slides/slide40.xml"/><Relationship Id="rId3" Type="http://schemas.openxmlformats.org/officeDocument/2006/relationships/slide" Target="slides/slide8.xml"/><Relationship Id="rId7" Type="http://schemas.openxmlformats.org/officeDocument/2006/relationships/slide" Target="slides/slide22.xml"/><Relationship Id="rId12" Type="http://schemas.openxmlformats.org/officeDocument/2006/relationships/slide" Target="slides/slide38.xml"/><Relationship Id="rId2" Type="http://schemas.openxmlformats.org/officeDocument/2006/relationships/slide" Target="slides/slide7.xml"/><Relationship Id="rId1" Type="http://schemas.openxmlformats.org/officeDocument/2006/relationships/slide" Target="slides/slide1.xml"/><Relationship Id="rId6" Type="http://schemas.openxmlformats.org/officeDocument/2006/relationships/slide" Target="slides/slide18.xml"/><Relationship Id="rId11" Type="http://schemas.openxmlformats.org/officeDocument/2006/relationships/slide" Target="slides/slide36.xml"/><Relationship Id="rId5" Type="http://schemas.openxmlformats.org/officeDocument/2006/relationships/slide" Target="slides/slide10.xml"/><Relationship Id="rId10" Type="http://schemas.openxmlformats.org/officeDocument/2006/relationships/slide" Target="slides/slide34.xml"/><Relationship Id="rId4" Type="http://schemas.openxmlformats.org/officeDocument/2006/relationships/slide" Target="slides/slide9.xml"/><Relationship Id="rId9" Type="http://schemas.openxmlformats.org/officeDocument/2006/relationships/slide" Target="slides/slide3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3BE324-DA86-ED4B-A593-27E2A934B691}"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CA404423-6AB9-EB4A-85D9-76B337FDB174}">
      <dgm:prSet/>
      <dgm:spPr>
        <a:ln>
          <a:solidFill>
            <a:schemeClr val="accent3"/>
          </a:solidFill>
        </a:ln>
      </dgm:spPr>
      <dgm:t>
        <a:bodyPr/>
        <a:lstStyle/>
        <a:p>
          <a:pPr rtl="0"/>
          <a:r>
            <a:rPr lang="en-US" dirty="0">
              <a:effectLst>
                <a:outerShdw blurRad="38100" dist="38100" dir="2700000" algn="tl">
                  <a:srgbClr val="000000">
                    <a:alpha val="43137"/>
                  </a:srgbClr>
                </a:outerShdw>
              </a:effectLst>
            </a:rPr>
            <a:t>EPROM</a:t>
          </a:r>
        </a:p>
      </dgm:t>
    </dgm:pt>
    <dgm:pt modelId="{87E0A1A0-3D6C-E44A-A686-A38CE1113DBF}" type="parTrans" cxnId="{387B7D78-C7C4-444B-B9AC-A3B1F7827C2E}">
      <dgm:prSet/>
      <dgm:spPr/>
      <dgm:t>
        <a:bodyPr/>
        <a:lstStyle/>
        <a:p>
          <a:endParaRPr lang="en-US"/>
        </a:p>
      </dgm:t>
    </dgm:pt>
    <dgm:pt modelId="{FE595A42-11C2-5545-9CAC-BEFD7802AE55}" type="sibTrans" cxnId="{387B7D78-C7C4-444B-B9AC-A3B1F7827C2E}">
      <dgm:prSet/>
      <dgm:spPr/>
      <dgm:t>
        <a:bodyPr/>
        <a:lstStyle/>
        <a:p>
          <a:endParaRPr lang="en-US"/>
        </a:p>
      </dgm:t>
    </dgm:pt>
    <dgm:pt modelId="{49316F22-BDD9-D344-8DF7-6042A787739E}">
      <dgm:prSet/>
      <dgm:spPr>
        <a:ln>
          <a:solidFill>
            <a:schemeClr val="accent1"/>
          </a:solidFill>
        </a:ln>
      </dgm:spPr>
      <dgm:t>
        <a:bodyPr/>
        <a:lstStyle/>
        <a:p>
          <a:pPr rtl="0"/>
          <a:r>
            <a:rPr lang="en-US" b="1" dirty="0">
              <a:effectLst>
                <a:outerShdw blurRad="38100" dist="38100" dir="2700000" algn="tl">
                  <a:srgbClr val="000000">
                    <a:alpha val="43137"/>
                  </a:srgbClr>
                </a:outerShdw>
              </a:effectLst>
            </a:rPr>
            <a:t>Erasable programmable read-only memory</a:t>
          </a:r>
        </a:p>
      </dgm:t>
    </dgm:pt>
    <dgm:pt modelId="{B0AB3EC3-0FBB-3B4A-B331-5C9FEEF4572D}" type="parTrans" cxnId="{EBD9BF48-6EF2-FC4F-9767-F5F9F3682BE3}">
      <dgm:prSet/>
      <dgm:spPr/>
      <dgm:t>
        <a:bodyPr/>
        <a:lstStyle/>
        <a:p>
          <a:endParaRPr lang="en-US"/>
        </a:p>
      </dgm:t>
    </dgm:pt>
    <dgm:pt modelId="{A1F0993D-402E-E94A-83D8-125058334C98}" type="sibTrans" cxnId="{EBD9BF48-6EF2-FC4F-9767-F5F9F3682BE3}">
      <dgm:prSet/>
      <dgm:spPr/>
      <dgm:t>
        <a:bodyPr/>
        <a:lstStyle/>
        <a:p>
          <a:endParaRPr lang="en-US"/>
        </a:p>
      </dgm:t>
    </dgm:pt>
    <dgm:pt modelId="{A4CBAA80-C409-2A44-AF1F-158DEAC61387}">
      <dgm:prSet/>
      <dgm:spPr>
        <a:ln>
          <a:solidFill>
            <a:schemeClr val="accent1"/>
          </a:solidFill>
        </a:ln>
      </dgm:spPr>
      <dgm:t>
        <a:bodyPr/>
        <a:lstStyle/>
        <a:p>
          <a:pPr rtl="0"/>
          <a:r>
            <a:rPr lang="en-US" b="1" dirty="0">
              <a:effectLst>
                <a:outerShdw blurRad="38100" dist="38100" dir="2700000" algn="tl">
                  <a:srgbClr val="000000">
                    <a:alpha val="43137"/>
                  </a:srgbClr>
                </a:outerShdw>
              </a:effectLst>
            </a:rPr>
            <a:t>Erasure process can be performed repeatedly</a:t>
          </a:r>
        </a:p>
      </dgm:t>
    </dgm:pt>
    <dgm:pt modelId="{3B600059-A870-FC48-B37A-5F576F53E857}" type="parTrans" cxnId="{C28F1EA8-43F5-A844-BF09-5E2D8CFA211A}">
      <dgm:prSet/>
      <dgm:spPr/>
      <dgm:t>
        <a:bodyPr/>
        <a:lstStyle/>
        <a:p>
          <a:endParaRPr lang="en-US"/>
        </a:p>
      </dgm:t>
    </dgm:pt>
    <dgm:pt modelId="{7715F170-5F76-1B4A-8FDA-E988BD0AFEC0}" type="sibTrans" cxnId="{C28F1EA8-43F5-A844-BF09-5E2D8CFA211A}">
      <dgm:prSet/>
      <dgm:spPr/>
      <dgm:t>
        <a:bodyPr/>
        <a:lstStyle/>
        <a:p>
          <a:endParaRPr lang="en-US"/>
        </a:p>
      </dgm:t>
    </dgm:pt>
    <dgm:pt modelId="{9D8833F6-FFF2-0043-8E19-662F3ECC0C69}">
      <dgm:prSet/>
      <dgm:spPr>
        <a:ln>
          <a:solidFill>
            <a:schemeClr val="accent1"/>
          </a:solidFill>
        </a:ln>
      </dgm:spPr>
      <dgm:t>
        <a:bodyPr/>
        <a:lstStyle/>
        <a:p>
          <a:pPr rtl="0"/>
          <a:r>
            <a:rPr lang="en-US" b="1" dirty="0">
              <a:effectLst>
                <a:outerShdw blurRad="38100" dist="38100" dir="2700000" algn="tl">
                  <a:srgbClr val="000000">
                    <a:alpha val="43137"/>
                  </a:srgbClr>
                </a:outerShdw>
              </a:effectLst>
            </a:rPr>
            <a:t>More expensive than PROM but it has the advantage of the multiple update capability </a:t>
          </a:r>
        </a:p>
      </dgm:t>
    </dgm:pt>
    <dgm:pt modelId="{3B768F97-B4E7-2F4E-9C97-87DEA25921EC}" type="parTrans" cxnId="{7CF9623A-666F-6647-802A-A95493F8EBAC}">
      <dgm:prSet/>
      <dgm:spPr/>
      <dgm:t>
        <a:bodyPr/>
        <a:lstStyle/>
        <a:p>
          <a:endParaRPr lang="en-US"/>
        </a:p>
      </dgm:t>
    </dgm:pt>
    <dgm:pt modelId="{94D34039-8F97-4244-BD50-B01B3B91FF83}" type="sibTrans" cxnId="{7CF9623A-666F-6647-802A-A95493F8EBAC}">
      <dgm:prSet/>
      <dgm:spPr/>
      <dgm:t>
        <a:bodyPr/>
        <a:lstStyle/>
        <a:p>
          <a:endParaRPr lang="en-US"/>
        </a:p>
      </dgm:t>
    </dgm:pt>
    <dgm:pt modelId="{DF8EF88C-8D84-8C43-B810-AFB4651BAA39}">
      <dgm:prSet/>
      <dgm:spPr>
        <a:ln>
          <a:solidFill>
            <a:schemeClr val="accent3"/>
          </a:solidFill>
        </a:ln>
      </dgm:spPr>
      <dgm:t>
        <a:bodyPr/>
        <a:lstStyle/>
        <a:p>
          <a:pPr rtl="0"/>
          <a:r>
            <a:rPr lang="en-US" dirty="0">
              <a:effectLst>
                <a:outerShdw blurRad="38100" dist="38100" dir="2700000" algn="tl">
                  <a:srgbClr val="000000">
                    <a:alpha val="43137"/>
                  </a:srgbClr>
                </a:outerShdw>
              </a:effectLst>
            </a:rPr>
            <a:t>EEPROM</a:t>
          </a:r>
        </a:p>
      </dgm:t>
    </dgm:pt>
    <dgm:pt modelId="{DEF28F56-1015-8A41-A6BA-78C83248F303}" type="parTrans" cxnId="{EF616C56-3C8C-964B-9057-3E238C0F0AAC}">
      <dgm:prSet/>
      <dgm:spPr/>
      <dgm:t>
        <a:bodyPr/>
        <a:lstStyle/>
        <a:p>
          <a:endParaRPr lang="en-US"/>
        </a:p>
      </dgm:t>
    </dgm:pt>
    <dgm:pt modelId="{78B9242F-3EF8-2747-B1F7-03FF22C29C4C}" type="sibTrans" cxnId="{EF616C56-3C8C-964B-9057-3E238C0F0AAC}">
      <dgm:prSet/>
      <dgm:spPr/>
      <dgm:t>
        <a:bodyPr/>
        <a:lstStyle/>
        <a:p>
          <a:endParaRPr lang="en-US"/>
        </a:p>
      </dgm:t>
    </dgm:pt>
    <dgm:pt modelId="{90B5EB81-C31A-0E4D-847F-0FF7DA55B788}">
      <dgm:prSet/>
      <dgm:spPr>
        <a:ln>
          <a:solidFill>
            <a:schemeClr val="accent1"/>
          </a:solidFill>
        </a:ln>
      </dgm:spPr>
      <dgm:t>
        <a:bodyPr/>
        <a:lstStyle/>
        <a:p>
          <a:pPr rtl="0"/>
          <a:r>
            <a:rPr lang="en-US" b="1" dirty="0">
              <a:effectLst>
                <a:outerShdw blurRad="38100" dist="38100" dir="2700000" algn="tl">
                  <a:srgbClr val="000000">
                    <a:alpha val="43137"/>
                  </a:srgbClr>
                </a:outerShdw>
              </a:effectLst>
            </a:rPr>
            <a:t>Electrically erasable programmable read-only memory</a:t>
          </a:r>
        </a:p>
      </dgm:t>
    </dgm:pt>
    <dgm:pt modelId="{73B3EB71-008F-4542-BCD6-0C44942298C8}" type="parTrans" cxnId="{DC9A8752-C01B-5A47-B511-EA531B99815E}">
      <dgm:prSet/>
      <dgm:spPr/>
      <dgm:t>
        <a:bodyPr/>
        <a:lstStyle/>
        <a:p>
          <a:endParaRPr lang="en-US"/>
        </a:p>
      </dgm:t>
    </dgm:pt>
    <dgm:pt modelId="{D7E515D4-956F-D843-9334-9C7B173CAC8C}" type="sibTrans" cxnId="{DC9A8752-C01B-5A47-B511-EA531B99815E}">
      <dgm:prSet/>
      <dgm:spPr/>
      <dgm:t>
        <a:bodyPr/>
        <a:lstStyle/>
        <a:p>
          <a:endParaRPr lang="en-US"/>
        </a:p>
      </dgm:t>
    </dgm:pt>
    <dgm:pt modelId="{0C2DECDD-0A85-9C48-9279-DE771DF08233}">
      <dgm:prSet/>
      <dgm:spPr>
        <a:ln>
          <a:solidFill>
            <a:schemeClr val="accent1"/>
          </a:solidFill>
        </a:ln>
      </dgm:spPr>
      <dgm:t>
        <a:bodyPr/>
        <a:lstStyle/>
        <a:p>
          <a:pPr rtl="0"/>
          <a:r>
            <a:rPr lang="en-US" b="1" dirty="0">
              <a:effectLst>
                <a:outerShdw blurRad="38100" dist="38100" dir="2700000" algn="tl">
                  <a:srgbClr val="000000">
                    <a:alpha val="43137"/>
                  </a:srgbClr>
                </a:outerShdw>
              </a:effectLst>
            </a:rPr>
            <a:t>Can be written into at any time without erasing prior contents</a:t>
          </a:r>
        </a:p>
      </dgm:t>
    </dgm:pt>
    <dgm:pt modelId="{7764EC7D-F093-5B49-9AF0-7FACFB74B2BE}" type="parTrans" cxnId="{829B5222-6AED-A54A-AE19-EB32E3669E38}">
      <dgm:prSet/>
      <dgm:spPr/>
      <dgm:t>
        <a:bodyPr/>
        <a:lstStyle/>
        <a:p>
          <a:endParaRPr lang="en-US"/>
        </a:p>
      </dgm:t>
    </dgm:pt>
    <dgm:pt modelId="{4343323C-71F6-BB4A-B543-569B7D0B8E56}" type="sibTrans" cxnId="{829B5222-6AED-A54A-AE19-EB32E3669E38}">
      <dgm:prSet/>
      <dgm:spPr/>
      <dgm:t>
        <a:bodyPr/>
        <a:lstStyle/>
        <a:p>
          <a:endParaRPr lang="en-US"/>
        </a:p>
      </dgm:t>
    </dgm:pt>
    <dgm:pt modelId="{5CC91DBC-94A1-3243-BEC9-77629274AACC}">
      <dgm:prSet/>
      <dgm:spPr>
        <a:ln>
          <a:solidFill>
            <a:schemeClr val="accent1"/>
          </a:solidFill>
        </a:ln>
      </dgm:spPr>
      <dgm:t>
        <a:bodyPr/>
        <a:lstStyle/>
        <a:p>
          <a:pPr rtl="0"/>
          <a:r>
            <a:rPr lang="en-US" b="1" dirty="0">
              <a:effectLst>
                <a:outerShdw blurRad="38100" dist="38100" dir="2700000" algn="tl">
                  <a:srgbClr val="000000">
                    <a:alpha val="43137"/>
                  </a:srgbClr>
                </a:outerShdw>
              </a:effectLst>
            </a:rPr>
            <a:t>Combines the advantage of non-volatility with the flexibility of being updatable in place</a:t>
          </a:r>
        </a:p>
      </dgm:t>
    </dgm:pt>
    <dgm:pt modelId="{9A103E3D-8B8B-C740-A2C5-157681EBE064}" type="parTrans" cxnId="{29AEF786-463E-A14E-A0A0-C5390116F01B}">
      <dgm:prSet/>
      <dgm:spPr/>
      <dgm:t>
        <a:bodyPr/>
        <a:lstStyle/>
        <a:p>
          <a:endParaRPr lang="en-US"/>
        </a:p>
      </dgm:t>
    </dgm:pt>
    <dgm:pt modelId="{0176042C-95E5-A140-AA3A-0A69EA4BB932}" type="sibTrans" cxnId="{29AEF786-463E-A14E-A0A0-C5390116F01B}">
      <dgm:prSet/>
      <dgm:spPr/>
      <dgm:t>
        <a:bodyPr/>
        <a:lstStyle/>
        <a:p>
          <a:endParaRPr lang="en-US"/>
        </a:p>
      </dgm:t>
    </dgm:pt>
    <dgm:pt modelId="{6CF8E079-9113-B341-949B-0C8FE1D54943}">
      <dgm:prSet/>
      <dgm:spPr>
        <a:ln>
          <a:solidFill>
            <a:schemeClr val="accent1"/>
          </a:solidFill>
        </a:ln>
      </dgm:spPr>
      <dgm:t>
        <a:bodyPr/>
        <a:lstStyle/>
        <a:p>
          <a:pPr rtl="0"/>
          <a:r>
            <a:rPr lang="en-US" b="1" dirty="0">
              <a:effectLst>
                <a:outerShdw blurRad="38100" dist="38100" dir="2700000" algn="tl">
                  <a:srgbClr val="000000">
                    <a:alpha val="43137"/>
                  </a:srgbClr>
                </a:outerShdw>
              </a:effectLst>
            </a:rPr>
            <a:t>More expensive than EPROM </a:t>
          </a:r>
        </a:p>
      </dgm:t>
    </dgm:pt>
    <dgm:pt modelId="{812DAFDD-DC6D-0B46-9650-4CDE2DDDB542}" type="parTrans" cxnId="{107BD4BB-EE41-8846-BB28-31BC5309E10B}">
      <dgm:prSet/>
      <dgm:spPr/>
      <dgm:t>
        <a:bodyPr/>
        <a:lstStyle/>
        <a:p>
          <a:endParaRPr lang="en-US"/>
        </a:p>
      </dgm:t>
    </dgm:pt>
    <dgm:pt modelId="{05CA5228-BB03-DB49-AF01-BB0808759185}" type="sibTrans" cxnId="{107BD4BB-EE41-8846-BB28-31BC5309E10B}">
      <dgm:prSet/>
      <dgm:spPr/>
      <dgm:t>
        <a:bodyPr/>
        <a:lstStyle/>
        <a:p>
          <a:endParaRPr lang="en-US"/>
        </a:p>
      </dgm:t>
    </dgm:pt>
    <dgm:pt modelId="{770FE41B-0D6A-BE46-8DE9-86FE2A665892}">
      <dgm:prSet/>
      <dgm:spPr>
        <a:ln>
          <a:solidFill>
            <a:schemeClr val="accent3"/>
          </a:solidFill>
        </a:ln>
      </dgm:spPr>
      <dgm:t>
        <a:bodyPr/>
        <a:lstStyle/>
        <a:p>
          <a:pPr rtl="0"/>
          <a:r>
            <a:rPr lang="en-US" dirty="0">
              <a:effectLst>
                <a:outerShdw blurRad="38100" dist="38100" dir="2700000" algn="tl">
                  <a:srgbClr val="000000">
                    <a:alpha val="43137"/>
                  </a:srgbClr>
                </a:outerShdw>
              </a:effectLst>
            </a:rPr>
            <a:t>Flash Memory</a:t>
          </a:r>
        </a:p>
      </dgm:t>
    </dgm:pt>
    <dgm:pt modelId="{6355C11E-EB04-F340-BF3E-8BF03EE0722F}" type="parTrans" cxnId="{480F4E87-8507-814B-A575-458F5CE9CAFD}">
      <dgm:prSet/>
      <dgm:spPr/>
      <dgm:t>
        <a:bodyPr/>
        <a:lstStyle/>
        <a:p>
          <a:endParaRPr lang="en-US"/>
        </a:p>
      </dgm:t>
    </dgm:pt>
    <dgm:pt modelId="{3CDBA012-2FB2-4447-813E-6E60F77BCDA8}" type="sibTrans" cxnId="{480F4E87-8507-814B-A575-458F5CE9CAFD}">
      <dgm:prSet/>
      <dgm:spPr/>
      <dgm:t>
        <a:bodyPr/>
        <a:lstStyle/>
        <a:p>
          <a:endParaRPr lang="en-US"/>
        </a:p>
      </dgm:t>
    </dgm:pt>
    <dgm:pt modelId="{300B7704-EB88-0641-811A-C749A83EA426}">
      <dgm:prSet/>
      <dgm:spPr>
        <a:ln>
          <a:solidFill>
            <a:schemeClr val="accent1"/>
          </a:solidFill>
        </a:ln>
      </dgm:spPr>
      <dgm:t>
        <a:bodyPr/>
        <a:lstStyle/>
        <a:p>
          <a:pPr rtl="0"/>
          <a:r>
            <a:rPr lang="en-US" b="1" dirty="0">
              <a:effectLst>
                <a:outerShdw blurRad="38100" dist="38100" dir="2700000" algn="tl">
                  <a:srgbClr val="000000">
                    <a:alpha val="43137"/>
                  </a:srgbClr>
                </a:outerShdw>
              </a:effectLst>
            </a:rPr>
            <a:t>Intermediate between EPROM and EEPROM in both cost and functionality</a:t>
          </a:r>
        </a:p>
      </dgm:t>
    </dgm:pt>
    <dgm:pt modelId="{AABC2E9F-7452-C24F-B639-5D50CBED447C}" type="parTrans" cxnId="{8F3D9F74-F63D-C64B-A465-F7575AB5F59C}">
      <dgm:prSet/>
      <dgm:spPr/>
      <dgm:t>
        <a:bodyPr/>
        <a:lstStyle/>
        <a:p>
          <a:endParaRPr lang="en-US"/>
        </a:p>
      </dgm:t>
    </dgm:pt>
    <dgm:pt modelId="{0E6A06E8-568A-2C48-A7AD-2FDA807B86E2}" type="sibTrans" cxnId="{8F3D9F74-F63D-C64B-A465-F7575AB5F59C}">
      <dgm:prSet/>
      <dgm:spPr/>
      <dgm:t>
        <a:bodyPr/>
        <a:lstStyle/>
        <a:p>
          <a:endParaRPr lang="en-US"/>
        </a:p>
      </dgm:t>
    </dgm:pt>
    <dgm:pt modelId="{F1E0DF61-5B75-6A44-B10A-18FC603A31B1}">
      <dgm:prSet/>
      <dgm:spPr>
        <a:ln>
          <a:solidFill>
            <a:schemeClr val="accent1"/>
          </a:solidFill>
        </a:ln>
      </dgm:spPr>
      <dgm:t>
        <a:bodyPr/>
        <a:lstStyle/>
        <a:p>
          <a:pPr rtl="0"/>
          <a:r>
            <a:rPr lang="en-US" b="1" dirty="0">
              <a:effectLst>
                <a:outerShdw blurRad="38100" dist="38100" dir="2700000" algn="tl">
                  <a:srgbClr val="000000">
                    <a:alpha val="43137"/>
                  </a:srgbClr>
                </a:outerShdw>
              </a:effectLst>
            </a:rPr>
            <a:t>Uses an electrical erasing technology, does not provide byte-level erasure</a:t>
          </a:r>
        </a:p>
      </dgm:t>
    </dgm:pt>
    <dgm:pt modelId="{A70A8BE2-DCCA-CC41-A04A-99DC6522C741}" type="parTrans" cxnId="{1410B755-6ED9-E748-8BFB-77A5A3935B42}">
      <dgm:prSet/>
      <dgm:spPr/>
      <dgm:t>
        <a:bodyPr/>
        <a:lstStyle/>
        <a:p>
          <a:endParaRPr lang="en-US"/>
        </a:p>
      </dgm:t>
    </dgm:pt>
    <dgm:pt modelId="{58DE4856-0A2D-5C4B-A519-E9C0BCD26CDD}" type="sibTrans" cxnId="{1410B755-6ED9-E748-8BFB-77A5A3935B42}">
      <dgm:prSet/>
      <dgm:spPr/>
      <dgm:t>
        <a:bodyPr/>
        <a:lstStyle/>
        <a:p>
          <a:endParaRPr lang="en-US"/>
        </a:p>
      </dgm:t>
    </dgm:pt>
    <dgm:pt modelId="{58F3BE6D-D555-5045-A6D7-6E7040258DBA}">
      <dgm:prSet/>
      <dgm:spPr>
        <a:ln>
          <a:solidFill>
            <a:schemeClr val="accent1"/>
          </a:solidFill>
        </a:ln>
      </dgm:spPr>
      <dgm:t>
        <a:bodyPr/>
        <a:lstStyle/>
        <a:p>
          <a:pPr rtl="0"/>
          <a:r>
            <a:rPr lang="en-US" b="1" dirty="0">
              <a:effectLst>
                <a:outerShdw blurRad="38100" dist="38100" dir="2700000" algn="tl">
                  <a:srgbClr val="000000">
                    <a:alpha val="43137"/>
                  </a:srgbClr>
                </a:outerShdw>
              </a:effectLst>
            </a:rPr>
            <a:t>Microchip is organized so that a section of memory cells are erased in a single action or “flash”</a:t>
          </a:r>
        </a:p>
      </dgm:t>
    </dgm:pt>
    <dgm:pt modelId="{819336ED-ACC3-744E-ADDB-9033BDDCF9AB}" type="parTrans" cxnId="{C338AD96-B6B3-2847-8FC3-E0A1DC3B58F8}">
      <dgm:prSet/>
      <dgm:spPr/>
      <dgm:t>
        <a:bodyPr/>
        <a:lstStyle/>
        <a:p>
          <a:endParaRPr lang="en-US"/>
        </a:p>
      </dgm:t>
    </dgm:pt>
    <dgm:pt modelId="{BC224F86-9FC0-ED46-8347-22166A83EB87}" type="sibTrans" cxnId="{C338AD96-B6B3-2847-8FC3-E0A1DC3B58F8}">
      <dgm:prSet/>
      <dgm:spPr/>
      <dgm:t>
        <a:bodyPr/>
        <a:lstStyle/>
        <a:p>
          <a:endParaRPr lang="en-US"/>
        </a:p>
      </dgm:t>
    </dgm:pt>
    <dgm:pt modelId="{CD367AB6-D8AE-B349-B7FD-90FB0C3AD718}" type="pres">
      <dgm:prSet presAssocID="{D23BE324-DA86-ED4B-A593-27E2A934B691}" presName="theList" presStyleCnt="0">
        <dgm:presLayoutVars>
          <dgm:dir/>
          <dgm:animLvl val="lvl"/>
          <dgm:resizeHandles val="exact"/>
        </dgm:presLayoutVars>
      </dgm:prSet>
      <dgm:spPr/>
    </dgm:pt>
    <dgm:pt modelId="{BD3E26C3-DE7F-B549-B7CE-FF3E6FF5938C}" type="pres">
      <dgm:prSet presAssocID="{CA404423-6AB9-EB4A-85D9-76B337FDB174}" presName="compNode" presStyleCnt="0"/>
      <dgm:spPr/>
    </dgm:pt>
    <dgm:pt modelId="{761E5B8F-DCD7-AF41-837F-D9BECF9DFF49}" type="pres">
      <dgm:prSet presAssocID="{CA404423-6AB9-EB4A-85D9-76B337FDB174}" presName="aNode" presStyleLbl="bgShp" presStyleIdx="0" presStyleCnt="3"/>
      <dgm:spPr/>
    </dgm:pt>
    <dgm:pt modelId="{FF0D77B0-D959-1948-A50C-07160BB098BA}" type="pres">
      <dgm:prSet presAssocID="{CA404423-6AB9-EB4A-85D9-76B337FDB174}" presName="textNode" presStyleLbl="bgShp" presStyleIdx="0" presStyleCnt="3"/>
      <dgm:spPr/>
    </dgm:pt>
    <dgm:pt modelId="{3B14CCCB-3000-B04C-B43A-6A8AB9A54764}" type="pres">
      <dgm:prSet presAssocID="{CA404423-6AB9-EB4A-85D9-76B337FDB174}" presName="compChildNode" presStyleCnt="0"/>
      <dgm:spPr/>
    </dgm:pt>
    <dgm:pt modelId="{38674BA3-1D56-8947-AEC4-F807DD5E0F43}" type="pres">
      <dgm:prSet presAssocID="{CA404423-6AB9-EB4A-85D9-76B337FDB174}" presName="theInnerList" presStyleCnt="0"/>
      <dgm:spPr/>
    </dgm:pt>
    <dgm:pt modelId="{9A46DF24-6254-7645-B937-0A6718251E0E}" type="pres">
      <dgm:prSet presAssocID="{49316F22-BDD9-D344-8DF7-6042A787739E}" presName="childNode" presStyleLbl="node1" presStyleIdx="0" presStyleCnt="10">
        <dgm:presLayoutVars>
          <dgm:bulletEnabled val="1"/>
        </dgm:presLayoutVars>
      </dgm:prSet>
      <dgm:spPr/>
    </dgm:pt>
    <dgm:pt modelId="{0A2C7B95-B658-8449-B000-610F7B48CC45}" type="pres">
      <dgm:prSet presAssocID="{49316F22-BDD9-D344-8DF7-6042A787739E}" presName="aSpace2" presStyleCnt="0"/>
      <dgm:spPr/>
    </dgm:pt>
    <dgm:pt modelId="{2E09FDE4-D0D4-534C-925E-72DB36DC377B}" type="pres">
      <dgm:prSet presAssocID="{A4CBAA80-C409-2A44-AF1F-158DEAC61387}" presName="childNode" presStyleLbl="node1" presStyleIdx="1" presStyleCnt="10">
        <dgm:presLayoutVars>
          <dgm:bulletEnabled val="1"/>
        </dgm:presLayoutVars>
      </dgm:prSet>
      <dgm:spPr/>
    </dgm:pt>
    <dgm:pt modelId="{A70A6D78-2E7B-1142-8055-D888E3005FE8}" type="pres">
      <dgm:prSet presAssocID="{A4CBAA80-C409-2A44-AF1F-158DEAC61387}" presName="aSpace2" presStyleCnt="0"/>
      <dgm:spPr/>
    </dgm:pt>
    <dgm:pt modelId="{6EA9746E-83BF-C141-962A-D5914E659DB9}" type="pres">
      <dgm:prSet presAssocID="{9D8833F6-FFF2-0043-8E19-662F3ECC0C69}" presName="childNode" presStyleLbl="node1" presStyleIdx="2" presStyleCnt="10">
        <dgm:presLayoutVars>
          <dgm:bulletEnabled val="1"/>
        </dgm:presLayoutVars>
      </dgm:prSet>
      <dgm:spPr/>
    </dgm:pt>
    <dgm:pt modelId="{BD492923-C8C8-4748-8994-9407284111D9}" type="pres">
      <dgm:prSet presAssocID="{CA404423-6AB9-EB4A-85D9-76B337FDB174}" presName="aSpace" presStyleCnt="0"/>
      <dgm:spPr/>
    </dgm:pt>
    <dgm:pt modelId="{AC98779B-2D02-8F4A-B3EC-2298B6FCBCD5}" type="pres">
      <dgm:prSet presAssocID="{DF8EF88C-8D84-8C43-B810-AFB4651BAA39}" presName="compNode" presStyleCnt="0"/>
      <dgm:spPr/>
    </dgm:pt>
    <dgm:pt modelId="{06A8ABCA-51AB-7C44-A93E-8766E44BBFCB}" type="pres">
      <dgm:prSet presAssocID="{DF8EF88C-8D84-8C43-B810-AFB4651BAA39}" presName="aNode" presStyleLbl="bgShp" presStyleIdx="1" presStyleCnt="3"/>
      <dgm:spPr/>
    </dgm:pt>
    <dgm:pt modelId="{A29DDF9C-1AED-6F47-B745-E0CED4A18B8F}" type="pres">
      <dgm:prSet presAssocID="{DF8EF88C-8D84-8C43-B810-AFB4651BAA39}" presName="textNode" presStyleLbl="bgShp" presStyleIdx="1" presStyleCnt="3"/>
      <dgm:spPr/>
    </dgm:pt>
    <dgm:pt modelId="{AEC2EFDA-9B6B-EE41-85B9-2126240993F9}" type="pres">
      <dgm:prSet presAssocID="{DF8EF88C-8D84-8C43-B810-AFB4651BAA39}" presName="compChildNode" presStyleCnt="0"/>
      <dgm:spPr/>
    </dgm:pt>
    <dgm:pt modelId="{E5FF24A8-D124-0844-8DEF-4163689BE9C6}" type="pres">
      <dgm:prSet presAssocID="{DF8EF88C-8D84-8C43-B810-AFB4651BAA39}" presName="theInnerList" presStyleCnt="0"/>
      <dgm:spPr/>
    </dgm:pt>
    <dgm:pt modelId="{BD02C517-69F7-5D4E-A179-BA93C73CFD2C}" type="pres">
      <dgm:prSet presAssocID="{90B5EB81-C31A-0E4D-847F-0FF7DA55B788}" presName="childNode" presStyleLbl="node1" presStyleIdx="3" presStyleCnt="10">
        <dgm:presLayoutVars>
          <dgm:bulletEnabled val="1"/>
        </dgm:presLayoutVars>
      </dgm:prSet>
      <dgm:spPr/>
    </dgm:pt>
    <dgm:pt modelId="{CE5857B1-214F-544E-8E9C-5F1AEBF2AF65}" type="pres">
      <dgm:prSet presAssocID="{90B5EB81-C31A-0E4D-847F-0FF7DA55B788}" presName="aSpace2" presStyleCnt="0"/>
      <dgm:spPr/>
    </dgm:pt>
    <dgm:pt modelId="{1E8C0409-4787-3248-94C2-AEB8C99A4F95}" type="pres">
      <dgm:prSet presAssocID="{0C2DECDD-0A85-9C48-9279-DE771DF08233}" presName="childNode" presStyleLbl="node1" presStyleIdx="4" presStyleCnt="10">
        <dgm:presLayoutVars>
          <dgm:bulletEnabled val="1"/>
        </dgm:presLayoutVars>
      </dgm:prSet>
      <dgm:spPr/>
    </dgm:pt>
    <dgm:pt modelId="{A2487613-1EB7-FC4A-8FC1-5377F378A13E}" type="pres">
      <dgm:prSet presAssocID="{0C2DECDD-0A85-9C48-9279-DE771DF08233}" presName="aSpace2" presStyleCnt="0"/>
      <dgm:spPr/>
    </dgm:pt>
    <dgm:pt modelId="{482E95BE-A6F3-634C-BDD0-F34D94BB52CE}" type="pres">
      <dgm:prSet presAssocID="{5CC91DBC-94A1-3243-BEC9-77629274AACC}" presName="childNode" presStyleLbl="node1" presStyleIdx="5" presStyleCnt="10">
        <dgm:presLayoutVars>
          <dgm:bulletEnabled val="1"/>
        </dgm:presLayoutVars>
      </dgm:prSet>
      <dgm:spPr/>
    </dgm:pt>
    <dgm:pt modelId="{D8F3325B-3618-C341-9CD0-441B3AD31487}" type="pres">
      <dgm:prSet presAssocID="{5CC91DBC-94A1-3243-BEC9-77629274AACC}" presName="aSpace2" presStyleCnt="0"/>
      <dgm:spPr/>
    </dgm:pt>
    <dgm:pt modelId="{408F0A18-5EE1-CE4C-9645-EA7FCA285619}" type="pres">
      <dgm:prSet presAssocID="{6CF8E079-9113-B341-949B-0C8FE1D54943}" presName="childNode" presStyleLbl="node1" presStyleIdx="6" presStyleCnt="10">
        <dgm:presLayoutVars>
          <dgm:bulletEnabled val="1"/>
        </dgm:presLayoutVars>
      </dgm:prSet>
      <dgm:spPr/>
    </dgm:pt>
    <dgm:pt modelId="{EA6F8F03-DA78-2A45-B90C-F2D064919D06}" type="pres">
      <dgm:prSet presAssocID="{DF8EF88C-8D84-8C43-B810-AFB4651BAA39}" presName="aSpace" presStyleCnt="0"/>
      <dgm:spPr/>
    </dgm:pt>
    <dgm:pt modelId="{FAC54BA9-4FEE-5F45-BF58-4B89D7621CEB}" type="pres">
      <dgm:prSet presAssocID="{770FE41B-0D6A-BE46-8DE9-86FE2A665892}" presName="compNode" presStyleCnt="0"/>
      <dgm:spPr/>
    </dgm:pt>
    <dgm:pt modelId="{48677A78-52B6-7B45-9BF1-CBA2C4872099}" type="pres">
      <dgm:prSet presAssocID="{770FE41B-0D6A-BE46-8DE9-86FE2A665892}" presName="aNode" presStyleLbl="bgShp" presStyleIdx="2" presStyleCnt="3"/>
      <dgm:spPr/>
    </dgm:pt>
    <dgm:pt modelId="{0414F7A4-1CC0-F143-82FF-D58C6494D706}" type="pres">
      <dgm:prSet presAssocID="{770FE41B-0D6A-BE46-8DE9-86FE2A665892}" presName="textNode" presStyleLbl="bgShp" presStyleIdx="2" presStyleCnt="3"/>
      <dgm:spPr/>
    </dgm:pt>
    <dgm:pt modelId="{929A2FF6-088D-E24B-80BE-10ABB2677823}" type="pres">
      <dgm:prSet presAssocID="{770FE41B-0D6A-BE46-8DE9-86FE2A665892}" presName="compChildNode" presStyleCnt="0"/>
      <dgm:spPr/>
    </dgm:pt>
    <dgm:pt modelId="{F9374679-3789-F14B-B149-3664B9ACB328}" type="pres">
      <dgm:prSet presAssocID="{770FE41B-0D6A-BE46-8DE9-86FE2A665892}" presName="theInnerList" presStyleCnt="0"/>
      <dgm:spPr/>
    </dgm:pt>
    <dgm:pt modelId="{BF72B8B5-A8A6-834B-A98F-81FAF85D1BED}" type="pres">
      <dgm:prSet presAssocID="{300B7704-EB88-0641-811A-C749A83EA426}" presName="childNode" presStyleLbl="node1" presStyleIdx="7" presStyleCnt="10">
        <dgm:presLayoutVars>
          <dgm:bulletEnabled val="1"/>
        </dgm:presLayoutVars>
      </dgm:prSet>
      <dgm:spPr/>
    </dgm:pt>
    <dgm:pt modelId="{8566CE8D-1FB3-6D40-BCBD-55B6B7BF7EBD}" type="pres">
      <dgm:prSet presAssocID="{300B7704-EB88-0641-811A-C749A83EA426}" presName="aSpace2" presStyleCnt="0"/>
      <dgm:spPr/>
    </dgm:pt>
    <dgm:pt modelId="{0A9157C7-4363-1844-9081-88D1FC6FF148}" type="pres">
      <dgm:prSet presAssocID="{F1E0DF61-5B75-6A44-B10A-18FC603A31B1}" presName="childNode" presStyleLbl="node1" presStyleIdx="8" presStyleCnt="10">
        <dgm:presLayoutVars>
          <dgm:bulletEnabled val="1"/>
        </dgm:presLayoutVars>
      </dgm:prSet>
      <dgm:spPr/>
    </dgm:pt>
    <dgm:pt modelId="{75759C3E-795C-9646-98C5-802E7AFE7940}" type="pres">
      <dgm:prSet presAssocID="{F1E0DF61-5B75-6A44-B10A-18FC603A31B1}" presName="aSpace2" presStyleCnt="0"/>
      <dgm:spPr/>
    </dgm:pt>
    <dgm:pt modelId="{73C35733-9ED5-034E-91F6-DD776EDA2725}" type="pres">
      <dgm:prSet presAssocID="{58F3BE6D-D555-5045-A6D7-6E7040258DBA}" presName="childNode" presStyleLbl="node1" presStyleIdx="9" presStyleCnt="10">
        <dgm:presLayoutVars>
          <dgm:bulletEnabled val="1"/>
        </dgm:presLayoutVars>
      </dgm:prSet>
      <dgm:spPr/>
    </dgm:pt>
  </dgm:ptLst>
  <dgm:cxnLst>
    <dgm:cxn modelId="{BD82340B-B93F-314B-9BD7-A1CAF4A011E3}" type="presOf" srcId="{DF8EF88C-8D84-8C43-B810-AFB4651BAA39}" destId="{06A8ABCA-51AB-7C44-A93E-8766E44BBFCB}" srcOrd="0" destOrd="0" presId="urn:microsoft.com/office/officeart/2005/8/layout/lProcess2"/>
    <dgm:cxn modelId="{7831C511-053C-784F-9C39-D5F285FBF365}" type="presOf" srcId="{F1E0DF61-5B75-6A44-B10A-18FC603A31B1}" destId="{0A9157C7-4363-1844-9081-88D1FC6FF148}" srcOrd="0" destOrd="0" presId="urn:microsoft.com/office/officeart/2005/8/layout/lProcess2"/>
    <dgm:cxn modelId="{829B5222-6AED-A54A-AE19-EB32E3669E38}" srcId="{DF8EF88C-8D84-8C43-B810-AFB4651BAA39}" destId="{0C2DECDD-0A85-9C48-9279-DE771DF08233}" srcOrd="1" destOrd="0" parTransId="{7764EC7D-F093-5B49-9AF0-7FACFB74B2BE}" sibTransId="{4343323C-71F6-BB4A-B543-569B7D0B8E56}"/>
    <dgm:cxn modelId="{EACCF22D-8636-0B4F-B779-7F23E4506E92}" type="presOf" srcId="{D23BE324-DA86-ED4B-A593-27E2A934B691}" destId="{CD367AB6-D8AE-B349-B7FD-90FB0C3AD718}" srcOrd="0" destOrd="0" presId="urn:microsoft.com/office/officeart/2005/8/layout/lProcess2"/>
    <dgm:cxn modelId="{FFC83930-A2F1-8847-83FF-08ABD3358CE8}" type="presOf" srcId="{58F3BE6D-D555-5045-A6D7-6E7040258DBA}" destId="{73C35733-9ED5-034E-91F6-DD776EDA2725}" srcOrd="0" destOrd="0" presId="urn:microsoft.com/office/officeart/2005/8/layout/lProcess2"/>
    <dgm:cxn modelId="{E49CF535-720E-DA4D-BEA3-BF34863B6C01}" type="presOf" srcId="{90B5EB81-C31A-0E4D-847F-0FF7DA55B788}" destId="{BD02C517-69F7-5D4E-A179-BA93C73CFD2C}" srcOrd="0" destOrd="0" presId="urn:microsoft.com/office/officeart/2005/8/layout/lProcess2"/>
    <dgm:cxn modelId="{7CF9623A-666F-6647-802A-A95493F8EBAC}" srcId="{CA404423-6AB9-EB4A-85D9-76B337FDB174}" destId="{9D8833F6-FFF2-0043-8E19-662F3ECC0C69}" srcOrd="2" destOrd="0" parTransId="{3B768F97-B4E7-2F4E-9C97-87DEA25921EC}" sibTransId="{94D34039-8F97-4244-BD50-B01B3B91FF83}"/>
    <dgm:cxn modelId="{66049963-1F81-0147-9650-38F3D98BA50B}" type="presOf" srcId="{CA404423-6AB9-EB4A-85D9-76B337FDB174}" destId="{761E5B8F-DCD7-AF41-837F-D9BECF9DFF49}" srcOrd="0" destOrd="0" presId="urn:microsoft.com/office/officeart/2005/8/layout/lProcess2"/>
    <dgm:cxn modelId="{3AE1AA46-2B67-8448-9EC0-35138ED8B17F}" type="presOf" srcId="{CA404423-6AB9-EB4A-85D9-76B337FDB174}" destId="{FF0D77B0-D959-1948-A50C-07160BB098BA}" srcOrd="1" destOrd="0" presId="urn:microsoft.com/office/officeart/2005/8/layout/lProcess2"/>
    <dgm:cxn modelId="{EBD9BF48-6EF2-FC4F-9767-F5F9F3682BE3}" srcId="{CA404423-6AB9-EB4A-85D9-76B337FDB174}" destId="{49316F22-BDD9-D344-8DF7-6042A787739E}" srcOrd="0" destOrd="0" parTransId="{B0AB3EC3-0FBB-3B4A-B331-5C9FEEF4572D}" sibTransId="{A1F0993D-402E-E94A-83D8-125058334C98}"/>
    <dgm:cxn modelId="{DC9A8752-C01B-5A47-B511-EA531B99815E}" srcId="{DF8EF88C-8D84-8C43-B810-AFB4651BAA39}" destId="{90B5EB81-C31A-0E4D-847F-0FF7DA55B788}" srcOrd="0" destOrd="0" parTransId="{73B3EB71-008F-4542-BCD6-0C44942298C8}" sibTransId="{D7E515D4-956F-D843-9334-9C7B173CAC8C}"/>
    <dgm:cxn modelId="{8F3D9F74-F63D-C64B-A465-F7575AB5F59C}" srcId="{770FE41B-0D6A-BE46-8DE9-86FE2A665892}" destId="{300B7704-EB88-0641-811A-C749A83EA426}" srcOrd="0" destOrd="0" parTransId="{AABC2E9F-7452-C24F-B639-5D50CBED447C}" sibTransId="{0E6A06E8-568A-2C48-A7AD-2FDA807B86E2}"/>
    <dgm:cxn modelId="{1410B755-6ED9-E748-8BFB-77A5A3935B42}" srcId="{770FE41B-0D6A-BE46-8DE9-86FE2A665892}" destId="{F1E0DF61-5B75-6A44-B10A-18FC603A31B1}" srcOrd="1" destOrd="0" parTransId="{A70A8BE2-DCCA-CC41-A04A-99DC6522C741}" sibTransId="{58DE4856-0A2D-5C4B-A519-E9C0BCD26CDD}"/>
    <dgm:cxn modelId="{EF616C56-3C8C-964B-9057-3E238C0F0AAC}" srcId="{D23BE324-DA86-ED4B-A593-27E2A934B691}" destId="{DF8EF88C-8D84-8C43-B810-AFB4651BAA39}" srcOrd="1" destOrd="0" parTransId="{DEF28F56-1015-8A41-A6BA-78C83248F303}" sibTransId="{78B9242F-3EF8-2747-B1F7-03FF22C29C4C}"/>
    <dgm:cxn modelId="{387B7D78-C7C4-444B-B9AC-A3B1F7827C2E}" srcId="{D23BE324-DA86-ED4B-A593-27E2A934B691}" destId="{CA404423-6AB9-EB4A-85D9-76B337FDB174}" srcOrd="0" destOrd="0" parTransId="{87E0A1A0-3D6C-E44A-A686-A38CE1113DBF}" sibTransId="{FE595A42-11C2-5545-9CAC-BEFD7802AE55}"/>
    <dgm:cxn modelId="{0FC86279-6947-3848-A988-83DDFB9DF0E1}" type="presOf" srcId="{6CF8E079-9113-B341-949B-0C8FE1D54943}" destId="{408F0A18-5EE1-CE4C-9645-EA7FCA285619}" srcOrd="0" destOrd="0" presId="urn:microsoft.com/office/officeart/2005/8/layout/lProcess2"/>
    <dgm:cxn modelId="{29AEF786-463E-A14E-A0A0-C5390116F01B}" srcId="{DF8EF88C-8D84-8C43-B810-AFB4651BAA39}" destId="{5CC91DBC-94A1-3243-BEC9-77629274AACC}" srcOrd="2" destOrd="0" parTransId="{9A103E3D-8B8B-C740-A2C5-157681EBE064}" sibTransId="{0176042C-95E5-A140-AA3A-0A69EA4BB932}"/>
    <dgm:cxn modelId="{480F4E87-8507-814B-A575-458F5CE9CAFD}" srcId="{D23BE324-DA86-ED4B-A593-27E2A934B691}" destId="{770FE41B-0D6A-BE46-8DE9-86FE2A665892}" srcOrd="2" destOrd="0" parTransId="{6355C11E-EB04-F340-BF3E-8BF03EE0722F}" sibTransId="{3CDBA012-2FB2-4447-813E-6E60F77BCDA8}"/>
    <dgm:cxn modelId="{38228795-759C-B643-96B7-35BE38BE6B59}" type="presOf" srcId="{9D8833F6-FFF2-0043-8E19-662F3ECC0C69}" destId="{6EA9746E-83BF-C141-962A-D5914E659DB9}" srcOrd="0" destOrd="0" presId="urn:microsoft.com/office/officeart/2005/8/layout/lProcess2"/>
    <dgm:cxn modelId="{C338AD96-B6B3-2847-8FC3-E0A1DC3B58F8}" srcId="{770FE41B-0D6A-BE46-8DE9-86FE2A665892}" destId="{58F3BE6D-D555-5045-A6D7-6E7040258DBA}" srcOrd="2" destOrd="0" parTransId="{819336ED-ACC3-744E-ADDB-9033BDDCF9AB}" sibTransId="{BC224F86-9FC0-ED46-8347-22166A83EB87}"/>
    <dgm:cxn modelId="{00DF459D-A9C6-B94B-B2F9-8A117B2FFE4E}" type="presOf" srcId="{0C2DECDD-0A85-9C48-9279-DE771DF08233}" destId="{1E8C0409-4787-3248-94C2-AEB8C99A4F95}" srcOrd="0" destOrd="0" presId="urn:microsoft.com/office/officeart/2005/8/layout/lProcess2"/>
    <dgm:cxn modelId="{C28F1EA8-43F5-A844-BF09-5E2D8CFA211A}" srcId="{CA404423-6AB9-EB4A-85D9-76B337FDB174}" destId="{A4CBAA80-C409-2A44-AF1F-158DEAC61387}" srcOrd="1" destOrd="0" parTransId="{3B600059-A870-FC48-B37A-5F576F53E857}" sibTransId="{7715F170-5F76-1B4A-8FDA-E988BD0AFEC0}"/>
    <dgm:cxn modelId="{107BD4BB-EE41-8846-BB28-31BC5309E10B}" srcId="{DF8EF88C-8D84-8C43-B810-AFB4651BAA39}" destId="{6CF8E079-9113-B341-949B-0C8FE1D54943}" srcOrd="3" destOrd="0" parTransId="{812DAFDD-DC6D-0B46-9650-4CDE2DDDB542}" sibTransId="{05CA5228-BB03-DB49-AF01-BB0808759185}"/>
    <dgm:cxn modelId="{805D58BE-7D92-EE46-B76D-6E655B1BBC5F}" type="presOf" srcId="{300B7704-EB88-0641-811A-C749A83EA426}" destId="{BF72B8B5-A8A6-834B-A98F-81FAF85D1BED}" srcOrd="0" destOrd="0" presId="urn:microsoft.com/office/officeart/2005/8/layout/lProcess2"/>
    <dgm:cxn modelId="{DBB70CC5-CCE4-434B-B3B4-A739FAA794FD}" type="presOf" srcId="{770FE41B-0D6A-BE46-8DE9-86FE2A665892}" destId="{48677A78-52B6-7B45-9BF1-CBA2C4872099}" srcOrd="0" destOrd="0" presId="urn:microsoft.com/office/officeart/2005/8/layout/lProcess2"/>
    <dgm:cxn modelId="{7A5222CA-F569-244D-91FD-552374EC365B}" type="presOf" srcId="{770FE41B-0D6A-BE46-8DE9-86FE2A665892}" destId="{0414F7A4-1CC0-F143-82FF-D58C6494D706}" srcOrd="1" destOrd="0" presId="urn:microsoft.com/office/officeart/2005/8/layout/lProcess2"/>
    <dgm:cxn modelId="{F242E8DD-8E32-8D47-AB3E-B96F210C3186}" type="presOf" srcId="{49316F22-BDD9-D344-8DF7-6042A787739E}" destId="{9A46DF24-6254-7645-B937-0A6718251E0E}" srcOrd="0" destOrd="0" presId="urn:microsoft.com/office/officeart/2005/8/layout/lProcess2"/>
    <dgm:cxn modelId="{38C1ACE3-ADD9-484E-BECB-35D38C8F94FD}" type="presOf" srcId="{DF8EF88C-8D84-8C43-B810-AFB4651BAA39}" destId="{A29DDF9C-1AED-6F47-B745-E0CED4A18B8F}" srcOrd="1" destOrd="0" presId="urn:microsoft.com/office/officeart/2005/8/layout/lProcess2"/>
    <dgm:cxn modelId="{847392EC-C6B2-AD4F-B45C-C16011E5B9AE}" type="presOf" srcId="{5CC91DBC-94A1-3243-BEC9-77629274AACC}" destId="{482E95BE-A6F3-634C-BDD0-F34D94BB52CE}" srcOrd="0" destOrd="0" presId="urn:microsoft.com/office/officeart/2005/8/layout/lProcess2"/>
    <dgm:cxn modelId="{F782B8ED-15BB-B94F-83DF-0A3F836AB3F0}" type="presOf" srcId="{A4CBAA80-C409-2A44-AF1F-158DEAC61387}" destId="{2E09FDE4-D0D4-534C-925E-72DB36DC377B}" srcOrd="0" destOrd="0" presId="urn:microsoft.com/office/officeart/2005/8/layout/lProcess2"/>
    <dgm:cxn modelId="{902E48A6-A2FD-3640-8700-F8F910A65AFB}" type="presParOf" srcId="{CD367AB6-D8AE-B349-B7FD-90FB0C3AD718}" destId="{BD3E26C3-DE7F-B549-B7CE-FF3E6FF5938C}" srcOrd="0" destOrd="0" presId="urn:microsoft.com/office/officeart/2005/8/layout/lProcess2"/>
    <dgm:cxn modelId="{210ADB8E-8AF6-0C40-B892-64D9A8174A8F}" type="presParOf" srcId="{BD3E26C3-DE7F-B549-B7CE-FF3E6FF5938C}" destId="{761E5B8F-DCD7-AF41-837F-D9BECF9DFF49}" srcOrd="0" destOrd="0" presId="urn:microsoft.com/office/officeart/2005/8/layout/lProcess2"/>
    <dgm:cxn modelId="{BADD0C68-0DBA-9046-9566-D80F39DB804B}" type="presParOf" srcId="{BD3E26C3-DE7F-B549-B7CE-FF3E6FF5938C}" destId="{FF0D77B0-D959-1948-A50C-07160BB098BA}" srcOrd="1" destOrd="0" presId="urn:microsoft.com/office/officeart/2005/8/layout/lProcess2"/>
    <dgm:cxn modelId="{4B5FA3EE-6D12-3844-AACE-9166C226DC6A}" type="presParOf" srcId="{BD3E26C3-DE7F-B549-B7CE-FF3E6FF5938C}" destId="{3B14CCCB-3000-B04C-B43A-6A8AB9A54764}" srcOrd="2" destOrd="0" presId="urn:microsoft.com/office/officeart/2005/8/layout/lProcess2"/>
    <dgm:cxn modelId="{314A003D-C589-8D44-ADF7-692DB16367ED}" type="presParOf" srcId="{3B14CCCB-3000-B04C-B43A-6A8AB9A54764}" destId="{38674BA3-1D56-8947-AEC4-F807DD5E0F43}" srcOrd="0" destOrd="0" presId="urn:microsoft.com/office/officeart/2005/8/layout/lProcess2"/>
    <dgm:cxn modelId="{C2CC91C9-C677-404B-B912-C01C832CB5A4}" type="presParOf" srcId="{38674BA3-1D56-8947-AEC4-F807DD5E0F43}" destId="{9A46DF24-6254-7645-B937-0A6718251E0E}" srcOrd="0" destOrd="0" presId="urn:microsoft.com/office/officeart/2005/8/layout/lProcess2"/>
    <dgm:cxn modelId="{DC583AA1-7161-454A-821E-81392E8FE373}" type="presParOf" srcId="{38674BA3-1D56-8947-AEC4-F807DD5E0F43}" destId="{0A2C7B95-B658-8449-B000-610F7B48CC45}" srcOrd="1" destOrd="0" presId="urn:microsoft.com/office/officeart/2005/8/layout/lProcess2"/>
    <dgm:cxn modelId="{BF1C333A-6903-1447-AB04-88B330E50B37}" type="presParOf" srcId="{38674BA3-1D56-8947-AEC4-F807DD5E0F43}" destId="{2E09FDE4-D0D4-534C-925E-72DB36DC377B}" srcOrd="2" destOrd="0" presId="urn:microsoft.com/office/officeart/2005/8/layout/lProcess2"/>
    <dgm:cxn modelId="{ABE4464D-B651-3247-97CF-F1CD6206FC85}" type="presParOf" srcId="{38674BA3-1D56-8947-AEC4-F807DD5E0F43}" destId="{A70A6D78-2E7B-1142-8055-D888E3005FE8}" srcOrd="3" destOrd="0" presId="urn:microsoft.com/office/officeart/2005/8/layout/lProcess2"/>
    <dgm:cxn modelId="{2576DD42-7351-9448-B951-54B9D25ABAAF}" type="presParOf" srcId="{38674BA3-1D56-8947-AEC4-F807DD5E0F43}" destId="{6EA9746E-83BF-C141-962A-D5914E659DB9}" srcOrd="4" destOrd="0" presId="urn:microsoft.com/office/officeart/2005/8/layout/lProcess2"/>
    <dgm:cxn modelId="{F0B21444-E861-054B-A1B4-03B745E46E5B}" type="presParOf" srcId="{CD367AB6-D8AE-B349-B7FD-90FB0C3AD718}" destId="{BD492923-C8C8-4748-8994-9407284111D9}" srcOrd="1" destOrd="0" presId="urn:microsoft.com/office/officeart/2005/8/layout/lProcess2"/>
    <dgm:cxn modelId="{B94E27C4-F53B-FB49-9C68-F148A1A4A18B}" type="presParOf" srcId="{CD367AB6-D8AE-B349-B7FD-90FB0C3AD718}" destId="{AC98779B-2D02-8F4A-B3EC-2298B6FCBCD5}" srcOrd="2" destOrd="0" presId="urn:microsoft.com/office/officeart/2005/8/layout/lProcess2"/>
    <dgm:cxn modelId="{F269EECA-E01D-2C40-A380-E5F024E86712}" type="presParOf" srcId="{AC98779B-2D02-8F4A-B3EC-2298B6FCBCD5}" destId="{06A8ABCA-51AB-7C44-A93E-8766E44BBFCB}" srcOrd="0" destOrd="0" presId="urn:microsoft.com/office/officeart/2005/8/layout/lProcess2"/>
    <dgm:cxn modelId="{02B568A9-6337-A040-ADAF-DD0923CFAD36}" type="presParOf" srcId="{AC98779B-2D02-8F4A-B3EC-2298B6FCBCD5}" destId="{A29DDF9C-1AED-6F47-B745-E0CED4A18B8F}" srcOrd="1" destOrd="0" presId="urn:microsoft.com/office/officeart/2005/8/layout/lProcess2"/>
    <dgm:cxn modelId="{C1CEB526-A40E-E84B-8564-865665ACFF75}" type="presParOf" srcId="{AC98779B-2D02-8F4A-B3EC-2298B6FCBCD5}" destId="{AEC2EFDA-9B6B-EE41-85B9-2126240993F9}" srcOrd="2" destOrd="0" presId="urn:microsoft.com/office/officeart/2005/8/layout/lProcess2"/>
    <dgm:cxn modelId="{79696558-F260-9D4D-84F8-B9C74AE528E1}" type="presParOf" srcId="{AEC2EFDA-9B6B-EE41-85B9-2126240993F9}" destId="{E5FF24A8-D124-0844-8DEF-4163689BE9C6}" srcOrd="0" destOrd="0" presId="urn:microsoft.com/office/officeart/2005/8/layout/lProcess2"/>
    <dgm:cxn modelId="{111840C0-17D1-3343-AFD0-FE49003B3A04}" type="presParOf" srcId="{E5FF24A8-D124-0844-8DEF-4163689BE9C6}" destId="{BD02C517-69F7-5D4E-A179-BA93C73CFD2C}" srcOrd="0" destOrd="0" presId="urn:microsoft.com/office/officeart/2005/8/layout/lProcess2"/>
    <dgm:cxn modelId="{283CBBA3-D075-8642-AD40-C612729C73B9}" type="presParOf" srcId="{E5FF24A8-D124-0844-8DEF-4163689BE9C6}" destId="{CE5857B1-214F-544E-8E9C-5F1AEBF2AF65}" srcOrd="1" destOrd="0" presId="urn:microsoft.com/office/officeart/2005/8/layout/lProcess2"/>
    <dgm:cxn modelId="{E978C5B5-BF6D-4C40-925A-72CA12CAC922}" type="presParOf" srcId="{E5FF24A8-D124-0844-8DEF-4163689BE9C6}" destId="{1E8C0409-4787-3248-94C2-AEB8C99A4F95}" srcOrd="2" destOrd="0" presId="urn:microsoft.com/office/officeart/2005/8/layout/lProcess2"/>
    <dgm:cxn modelId="{2570F881-A665-1342-9B2E-B01EB03DF8B2}" type="presParOf" srcId="{E5FF24A8-D124-0844-8DEF-4163689BE9C6}" destId="{A2487613-1EB7-FC4A-8FC1-5377F378A13E}" srcOrd="3" destOrd="0" presId="urn:microsoft.com/office/officeart/2005/8/layout/lProcess2"/>
    <dgm:cxn modelId="{E8D18BC3-B829-2541-A59B-B37BF1516B60}" type="presParOf" srcId="{E5FF24A8-D124-0844-8DEF-4163689BE9C6}" destId="{482E95BE-A6F3-634C-BDD0-F34D94BB52CE}" srcOrd="4" destOrd="0" presId="urn:microsoft.com/office/officeart/2005/8/layout/lProcess2"/>
    <dgm:cxn modelId="{B74FCDE3-2329-B043-83D6-C662E073A888}" type="presParOf" srcId="{E5FF24A8-D124-0844-8DEF-4163689BE9C6}" destId="{D8F3325B-3618-C341-9CD0-441B3AD31487}" srcOrd="5" destOrd="0" presId="urn:microsoft.com/office/officeart/2005/8/layout/lProcess2"/>
    <dgm:cxn modelId="{9CC203ED-4B5B-534B-9735-F7C5B6F10A0C}" type="presParOf" srcId="{E5FF24A8-D124-0844-8DEF-4163689BE9C6}" destId="{408F0A18-5EE1-CE4C-9645-EA7FCA285619}" srcOrd="6" destOrd="0" presId="urn:microsoft.com/office/officeart/2005/8/layout/lProcess2"/>
    <dgm:cxn modelId="{2EAA6539-C03E-E541-B6F2-ED21CD302975}" type="presParOf" srcId="{CD367AB6-D8AE-B349-B7FD-90FB0C3AD718}" destId="{EA6F8F03-DA78-2A45-B90C-F2D064919D06}" srcOrd="3" destOrd="0" presId="urn:microsoft.com/office/officeart/2005/8/layout/lProcess2"/>
    <dgm:cxn modelId="{BD02521C-5AA7-174B-BCB0-9E75189D3134}" type="presParOf" srcId="{CD367AB6-D8AE-B349-B7FD-90FB0C3AD718}" destId="{FAC54BA9-4FEE-5F45-BF58-4B89D7621CEB}" srcOrd="4" destOrd="0" presId="urn:microsoft.com/office/officeart/2005/8/layout/lProcess2"/>
    <dgm:cxn modelId="{76DF4981-3091-9540-BA07-759DD1B35E4A}" type="presParOf" srcId="{FAC54BA9-4FEE-5F45-BF58-4B89D7621CEB}" destId="{48677A78-52B6-7B45-9BF1-CBA2C4872099}" srcOrd="0" destOrd="0" presId="urn:microsoft.com/office/officeart/2005/8/layout/lProcess2"/>
    <dgm:cxn modelId="{594DBAE6-8A59-FA43-885F-F9F32B948305}" type="presParOf" srcId="{FAC54BA9-4FEE-5F45-BF58-4B89D7621CEB}" destId="{0414F7A4-1CC0-F143-82FF-D58C6494D706}" srcOrd="1" destOrd="0" presId="urn:microsoft.com/office/officeart/2005/8/layout/lProcess2"/>
    <dgm:cxn modelId="{2BCED26E-11BD-EB46-808B-10510FABE80F}" type="presParOf" srcId="{FAC54BA9-4FEE-5F45-BF58-4B89D7621CEB}" destId="{929A2FF6-088D-E24B-80BE-10ABB2677823}" srcOrd="2" destOrd="0" presId="urn:microsoft.com/office/officeart/2005/8/layout/lProcess2"/>
    <dgm:cxn modelId="{02DC1FAE-63C4-A440-A465-EFD243DC40CD}" type="presParOf" srcId="{929A2FF6-088D-E24B-80BE-10ABB2677823}" destId="{F9374679-3789-F14B-B149-3664B9ACB328}" srcOrd="0" destOrd="0" presId="urn:microsoft.com/office/officeart/2005/8/layout/lProcess2"/>
    <dgm:cxn modelId="{857FBA00-DCC3-604D-8FB4-AF5B43ADFC8C}" type="presParOf" srcId="{F9374679-3789-F14B-B149-3664B9ACB328}" destId="{BF72B8B5-A8A6-834B-A98F-81FAF85D1BED}" srcOrd="0" destOrd="0" presId="urn:microsoft.com/office/officeart/2005/8/layout/lProcess2"/>
    <dgm:cxn modelId="{07CC1912-738E-5F40-A535-4458FBA6828F}" type="presParOf" srcId="{F9374679-3789-F14B-B149-3664B9ACB328}" destId="{8566CE8D-1FB3-6D40-BCBD-55B6B7BF7EBD}" srcOrd="1" destOrd="0" presId="urn:microsoft.com/office/officeart/2005/8/layout/lProcess2"/>
    <dgm:cxn modelId="{E3D70086-748A-8142-825C-7CC14A8D7132}" type="presParOf" srcId="{F9374679-3789-F14B-B149-3664B9ACB328}" destId="{0A9157C7-4363-1844-9081-88D1FC6FF148}" srcOrd="2" destOrd="0" presId="urn:microsoft.com/office/officeart/2005/8/layout/lProcess2"/>
    <dgm:cxn modelId="{DEAF8E55-B566-8F48-AE78-039469E22955}" type="presParOf" srcId="{F9374679-3789-F14B-B149-3664B9ACB328}" destId="{75759C3E-795C-9646-98C5-802E7AFE7940}" srcOrd="3" destOrd="0" presId="urn:microsoft.com/office/officeart/2005/8/layout/lProcess2"/>
    <dgm:cxn modelId="{C0227F09-4554-B348-A2E3-B9653F0615A4}" type="presParOf" srcId="{F9374679-3789-F14B-B149-3664B9ACB328}" destId="{73C35733-9ED5-034E-91F6-DD776EDA2725}"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C817E8-824B-8943-989C-AC83F97FCEAD}" type="doc">
      <dgm:prSet loTypeId="urn:microsoft.com/office/officeart/2005/8/layout/target1" loCatId="relationship" qsTypeId="urn:microsoft.com/office/officeart/2005/8/quickstyle/simple4" qsCatId="simple" csTypeId="urn:microsoft.com/office/officeart/2005/8/colors/accent1_2" csCatId="accent1" phldr="1"/>
      <dgm:spPr/>
      <dgm:t>
        <a:bodyPr/>
        <a:lstStyle/>
        <a:p>
          <a:endParaRPr lang="en-US"/>
        </a:p>
      </dgm:t>
    </dgm:pt>
    <dgm:pt modelId="{8CC0052F-FF76-2841-9D77-5726AA5F128B}">
      <dgm:prSet custT="1"/>
      <dgm:spPr>
        <a:solidFill>
          <a:schemeClr val="accent6">
            <a:lumMod val="20000"/>
            <a:lumOff val="80000"/>
          </a:schemeClr>
        </a:solidFill>
      </dgm:spPr>
      <dgm:t>
        <a:bodyPr/>
        <a:lstStyle/>
        <a:p>
          <a:pPr rtl="0"/>
          <a:r>
            <a:rPr lang="en-US" sz="1600" b="1" dirty="0">
              <a:solidFill>
                <a:srgbClr val="FF0000"/>
              </a:solidFill>
            </a:rPr>
            <a:t>Composed of a collection of DRAM chips</a:t>
          </a:r>
        </a:p>
      </dgm:t>
    </dgm:pt>
    <dgm:pt modelId="{B86741C3-1DFA-3D47-A6E7-5C205CDFFFD9}" type="parTrans" cxnId="{E9857345-CAA6-5D4F-AAEB-1391A388DF2D}">
      <dgm:prSet/>
      <dgm:spPr/>
      <dgm:t>
        <a:bodyPr/>
        <a:lstStyle/>
        <a:p>
          <a:endParaRPr lang="en-US"/>
        </a:p>
      </dgm:t>
    </dgm:pt>
    <dgm:pt modelId="{E9C89165-FDC3-684D-8717-3E5D4F4689B5}" type="sibTrans" cxnId="{E9857345-CAA6-5D4F-AAEB-1391A388DF2D}">
      <dgm:prSet/>
      <dgm:spPr/>
      <dgm:t>
        <a:bodyPr/>
        <a:lstStyle/>
        <a:p>
          <a:endParaRPr lang="en-US"/>
        </a:p>
      </dgm:t>
    </dgm:pt>
    <dgm:pt modelId="{979CCC9C-C88B-4F4D-AC0F-0A951907E2F1}">
      <dgm:prSet custT="1"/>
      <dgm:spPr>
        <a:solidFill>
          <a:schemeClr val="accent6">
            <a:lumMod val="20000"/>
            <a:lumOff val="80000"/>
          </a:schemeClr>
        </a:solidFill>
      </dgm:spPr>
      <dgm:t>
        <a:bodyPr/>
        <a:lstStyle/>
        <a:p>
          <a:pPr rtl="0"/>
          <a:r>
            <a:rPr lang="en-GB" sz="1600" b="1" dirty="0">
              <a:solidFill>
                <a:srgbClr val="008000"/>
              </a:solidFill>
            </a:rPr>
            <a:t>Grouped together to form a </a:t>
          </a:r>
          <a:r>
            <a:rPr lang="en-GB" sz="1600" b="1" i="1" dirty="0">
              <a:solidFill>
                <a:srgbClr val="008000"/>
              </a:solidFill>
            </a:rPr>
            <a:t>memory bank</a:t>
          </a:r>
        </a:p>
      </dgm:t>
    </dgm:pt>
    <dgm:pt modelId="{CA737E00-0781-E140-AE5B-C7AE2F5D54AA}" type="parTrans" cxnId="{C4DC0A6C-5994-F74B-88A6-38B4EF570B12}">
      <dgm:prSet/>
      <dgm:spPr/>
      <dgm:t>
        <a:bodyPr/>
        <a:lstStyle/>
        <a:p>
          <a:endParaRPr lang="en-US"/>
        </a:p>
      </dgm:t>
    </dgm:pt>
    <dgm:pt modelId="{6B148C8B-8EEA-D744-9011-54543658C65B}" type="sibTrans" cxnId="{C4DC0A6C-5994-F74B-88A6-38B4EF570B12}">
      <dgm:prSet/>
      <dgm:spPr/>
      <dgm:t>
        <a:bodyPr/>
        <a:lstStyle/>
        <a:p>
          <a:endParaRPr lang="en-US"/>
        </a:p>
      </dgm:t>
    </dgm:pt>
    <dgm:pt modelId="{A804BAA3-A403-9E4D-9F00-DDDAF19AB792}">
      <dgm:prSet custT="1"/>
      <dgm:spPr>
        <a:solidFill>
          <a:schemeClr val="accent6">
            <a:lumMod val="20000"/>
            <a:lumOff val="80000"/>
          </a:schemeClr>
        </a:solidFill>
      </dgm:spPr>
      <dgm:t>
        <a:bodyPr/>
        <a:lstStyle/>
        <a:p>
          <a:pPr rtl="0"/>
          <a:r>
            <a:rPr lang="en-US" sz="1600" b="1" dirty="0">
              <a:solidFill>
                <a:srgbClr val="0000CC"/>
              </a:solidFill>
            </a:rPr>
            <a:t>Each bank is independently able to service a memory read or write request</a:t>
          </a:r>
        </a:p>
      </dgm:t>
    </dgm:pt>
    <dgm:pt modelId="{8F848074-08CD-D04A-BCAF-96E598B657A5}" type="parTrans" cxnId="{E1896FBA-2D33-4640-A1D4-BE8984060BE5}">
      <dgm:prSet/>
      <dgm:spPr/>
      <dgm:t>
        <a:bodyPr/>
        <a:lstStyle/>
        <a:p>
          <a:endParaRPr lang="en-US"/>
        </a:p>
      </dgm:t>
    </dgm:pt>
    <dgm:pt modelId="{7B5B54EB-22EA-464C-B494-49CB79BA132C}" type="sibTrans" cxnId="{E1896FBA-2D33-4640-A1D4-BE8984060BE5}">
      <dgm:prSet/>
      <dgm:spPr/>
      <dgm:t>
        <a:bodyPr/>
        <a:lstStyle/>
        <a:p>
          <a:endParaRPr lang="en-US"/>
        </a:p>
      </dgm:t>
    </dgm:pt>
    <dgm:pt modelId="{6990B913-075B-F24B-BBAD-DFEE2609734F}">
      <dgm:prSet custT="1"/>
      <dgm:spPr>
        <a:solidFill>
          <a:schemeClr val="accent6">
            <a:lumMod val="20000"/>
            <a:lumOff val="80000"/>
          </a:schemeClr>
        </a:solidFill>
      </dgm:spPr>
      <dgm:t>
        <a:bodyPr/>
        <a:lstStyle/>
        <a:p>
          <a:pPr rtl="0"/>
          <a:r>
            <a:rPr lang="en-US" sz="1600" b="1" i="1" dirty="0">
              <a:solidFill>
                <a:srgbClr val="FF0000"/>
              </a:solidFill>
            </a:rPr>
            <a:t>K</a:t>
          </a:r>
          <a:r>
            <a:rPr lang="en-US" sz="1600" b="1" dirty="0">
              <a:solidFill>
                <a:srgbClr val="FF0000"/>
              </a:solidFill>
            </a:rPr>
            <a:t> banks can service </a:t>
          </a:r>
          <a:r>
            <a:rPr lang="en-US" sz="1600" b="1" i="1" dirty="0">
              <a:solidFill>
                <a:srgbClr val="FF0000"/>
              </a:solidFill>
            </a:rPr>
            <a:t>K</a:t>
          </a:r>
          <a:r>
            <a:rPr lang="en-US" sz="1600" b="1" dirty="0">
              <a:solidFill>
                <a:srgbClr val="FF0000"/>
              </a:solidFill>
            </a:rPr>
            <a:t> requests simultaneously, increasing memory read or write rates by a factor of </a:t>
          </a:r>
          <a:r>
            <a:rPr lang="en-US" sz="1600" b="1" i="1" dirty="0">
              <a:solidFill>
                <a:srgbClr val="FF0000"/>
              </a:solidFill>
            </a:rPr>
            <a:t>K</a:t>
          </a:r>
          <a:endParaRPr lang="en-US" sz="1600" b="1" dirty="0">
            <a:solidFill>
              <a:srgbClr val="FF0000"/>
            </a:solidFill>
          </a:endParaRPr>
        </a:p>
      </dgm:t>
    </dgm:pt>
    <dgm:pt modelId="{A6B922CC-A229-714D-9271-B899C3F9E94D}" type="parTrans" cxnId="{247FDD88-A0E0-1744-834B-0F8FDFFB38ED}">
      <dgm:prSet/>
      <dgm:spPr/>
      <dgm:t>
        <a:bodyPr/>
        <a:lstStyle/>
        <a:p>
          <a:endParaRPr lang="en-US"/>
        </a:p>
      </dgm:t>
    </dgm:pt>
    <dgm:pt modelId="{EDDA628D-F276-0A46-AAC4-AE129E4624C7}" type="sibTrans" cxnId="{247FDD88-A0E0-1744-834B-0F8FDFFB38ED}">
      <dgm:prSet/>
      <dgm:spPr/>
      <dgm:t>
        <a:bodyPr/>
        <a:lstStyle/>
        <a:p>
          <a:endParaRPr lang="en-US"/>
        </a:p>
      </dgm:t>
    </dgm:pt>
    <dgm:pt modelId="{9ED157BA-69A5-9144-AB59-6B93FD55C0B8}">
      <dgm:prSet custT="1"/>
      <dgm:spPr>
        <a:solidFill>
          <a:schemeClr val="accent6">
            <a:lumMod val="20000"/>
            <a:lumOff val="80000"/>
          </a:schemeClr>
        </a:solidFill>
      </dgm:spPr>
      <dgm:t>
        <a:bodyPr/>
        <a:lstStyle/>
        <a:p>
          <a:pPr rtl="0"/>
          <a:r>
            <a:rPr lang="en-GB" sz="1600" b="1" dirty="0">
              <a:solidFill>
                <a:srgbClr val="008000"/>
              </a:solidFill>
            </a:rPr>
            <a:t>If consecutive words of memory are stored in different banks, the transfer of a block of memory is speeded up</a:t>
          </a:r>
        </a:p>
      </dgm:t>
    </dgm:pt>
    <dgm:pt modelId="{3BA5516E-3B52-0840-A909-851E6F7B1BF8}" type="parTrans" cxnId="{A4FC8BA6-1F1E-3147-AB97-75C1101DCC1F}">
      <dgm:prSet/>
      <dgm:spPr/>
      <dgm:t>
        <a:bodyPr/>
        <a:lstStyle/>
        <a:p>
          <a:endParaRPr lang="en-US"/>
        </a:p>
      </dgm:t>
    </dgm:pt>
    <dgm:pt modelId="{83D41E0C-5C58-4344-AFC3-1412D617C9DB}" type="sibTrans" cxnId="{A4FC8BA6-1F1E-3147-AB97-75C1101DCC1F}">
      <dgm:prSet/>
      <dgm:spPr/>
      <dgm:t>
        <a:bodyPr/>
        <a:lstStyle/>
        <a:p>
          <a:endParaRPr lang="en-US"/>
        </a:p>
      </dgm:t>
    </dgm:pt>
    <dgm:pt modelId="{B590D48F-C700-A745-A5D0-19C43AEA5E83}" type="pres">
      <dgm:prSet presAssocID="{22C817E8-824B-8943-989C-AC83F97FCEAD}" presName="composite" presStyleCnt="0">
        <dgm:presLayoutVars>
          <dgm:chMax val="5"/>
          <dgm:dir/>
          <dgm:resizeHandles val="exact"/>
        </dgm:presLayoutVars>
      </dgm:prSet>
      <dgm:spPr/>
    </dgm:pt>
    <dgm:pt modelId="{91CD37D8-A6C9-7347-9185-E44226E72FC7}" type="pres">
      <dgm:prSet presAssocID="{8CC0052F-FF76-2841-9D77-5726AA5F128B}" presName="circle1" presStyleLbl="lnNode1" presStyleIdx="0" presStyleCnt="5"/>
      <dgm:spPr/>
    </dgm:pt>
    <dgm:pt modelId="{7F2462F4-CE27-CB47-B974-0D649D5F1522}" type="pres">
      <dgm:prSet presAssocID="{8CC0052F-FF76-2841-9D77-5726AA5F128B}" presName="text1" presStyleLbl="revTx" presStyleIdx="0" presStyleCnt="5" custScaleY="92720" custLinFactNeighborY="9959">
        <dgm:presLayoutVars>
          <dgm:bulletEnabled val="1"/>
        </dgm:presLayoutVars>
      </dgm:prSet>
      <dgm:spPr/>
    </dgm:pt>
    <dgm:pt modelId="{ECCACFBC-6FE8-3A49-AD2B-79E2DA2407EC}" type="pres">
      <dgm:prSet presAssocID="{8CC0052F-FF76-2841-9D77-5726AA5F128B}" presName="line1" presStyleLbl="callout" presStyleIdx="0" presStyleCnt="10"/>
      <dgm:spPr>
        <a:ln>
          <a:solidFill>
            <a:schemeClr val="accent3"/>
          </a:solidFill>
        </a:ln>
      </dgm:spPr>
    </dgm:pt>
    <dgm:pt modelId="{F321CC0B-6111-EA4D-945B-E997A707C6AB}" type="pres">
      <dgm:prSet presAssocID="{8CC0052F-FF76-2841-9D77-5726AA5F128B}" presName="d1" presStyleLbl="callout" presStyleIdx="1" presStyleCnt="10"/>
      <dgm:spPr>
        <a:ln>
          <a:solidFill>
            <a:schemeClr val="accent3"/>
          </a:solidFill>
        </a:ln>
      </dgm:spPr>
    </dgm:pt>
    <dgm:pt modelId="{2AEFFE6D-02DD-AC47-A7D7-6F0F49D69E25}" type="pres">
      <dgm:prSet presAssocID="{979CCC9C-C88B-4F4D-AC0F-0A951907E2F1}" presName="circle2" presStyleLbl="lnNode1" presStyleIdx="1" presStyleCnt="5"/>
      <dgm:spPr/>
    </dgm:pt>
    <dgm:pt modelId="{CC87624B-73C2-8F41-B7C2-96066902C80B}" type="pres">
      <dgm:prSet presAssocID="{979CCC9C-C88B-4F4D-AC0F-0A951907E2F1}" presName="text2" presStyleLbl="revTx" presStyleIdx="1" presStyleCnt="5" custScaleY="63936">
        <dgm:presLayoutVars>
          <dgm:bulletEnabled val="1"/>
        </dgm:presLayoutVars>
      </dgm:prSet>
      <dgm:spPr/>
    </dgm:pt>
    <dgm:pt modelId="{FD651CF9-2939-7340-9033-50955A68CD2B}" type="pres">
      <dgm:prSet presAssocID="{979CCC9C-C88B-4F4D-AC0F-0A951907E2F1}" presName="line2" presStyleLbl="callout" presStyleIdx="2" presStyleCnt="10"/>
      <dgm:spPr>
        <a:ln>
          <a:solidFill>
            <a:schemeClr val="accent3"/>
          </a:solidFill>
        </a:ln>
      </dgm:spPr>
    </dgm:pt>
    <dgm:pt modelId="{C67BBE53-21DC-E045-A630-D12DE591D833}" type="pres">
      <dgm:prSet presAssocID="{979CCC9C-C88B-4F4D-AC0F-0A951907E2F1}" presName="d2" presStyleLbl="callout" presStyleIdx="3" presStyleCnt="10"/>
      <dgm:spPr>
        <a:ln>
          <a:solidFill>
            <a:schemeClr val="accent3"/>
          </a:solidFill>
        </a:ln>
      </dgm:spPr>
    </dgm:pt>
    <dgm:pt modelId="{AAD596D2-E62A-0548-828D-4DCC653CC72D}" type="pres">
      <dgm:prSet presAssocID="{A804BAA3-A403-9E4D-9F00-DDDAF19AB792}" presName="circle3" presStyleLbl="lnNode1" presStyleIdx="2" presStyleCnt="5"/>
      <dgm:spPr/>
    </dgm:pt>
    <dgm:pt modelId="{8EC32DAD-B60A-E04E-9CBE-3880F576FF1B}" type="pres">
      <dgm:prSet presAssocID="{A804BAA3-A403-9E4D-9F00-DDDAF19AB792}" presName="text3" presStyleLbl="revTx" presStyleIdx="2" presStyleCnt="5" custScaleY="112901">
        <dgm:presLayoutVars>
          <dgm:bulletEnabled val="1"/>
        </dgm:presLayoutVars>
      </dgm:prSet>
      <dgm:spPr/>
    </dgm:pt>
    <dgm:pt modelId="{48737FD0-232D-2342-9E7D-C70474E38A8F}" type="pres">
      <dgm:prSet presAssocID="{A804BAA3-A403-9E4D-9F00-DDDAF19AB792}" presName="line3" presStyleLbl="callout" presStyleIdx="4" presStyleCnt="10"/>
      <dgm:spPr>
        <a:ln>
          <a:solidFill>
            <a:schemeClr val="accent3"/>
          </a:solidFill>
        </a:ln>
      </dgm:spPr>
    </dgm:pt>
    <dgm:pt modelId="{B14A19D7-85D7-814F-8401-2C8DDF90F3FB}" type="pres">
      <dgm:prSet presAssocID="{A804BAA3-A403-9E4D-9F00-DDDAF19AB792}" presName="d3" presStyleLbl="callout" presStyleIdx="5" presStyleCnt="10"/>
      <dgm:spPr>
        <a:ln>
          <a:solidFill>
            <a:schemeClr val="accent3"/>
          </a:solidFill>
        </a:ln>
      </dgm:spPr>
    </dgm:pt>
    <dgm:pt modelId="{B34A8773-C811-0D46-9EEB-711305802ED6}" type="pres">
      <dgm:prSet presAssocID="{6990B913-075B-F24B-BBAD-DFEE2609734F}" presName="circle4" presStyleLbl="lnNode1" presStyleIdx="3" presStyleCnt="5"/>
      <dgm:spPr/>
    </dgm:pt>
    <dgm:pt modelId="{835CBABC-C4E5-3D41-92E3-3EE99DB441F4}" type="pres">
      <dgm:prSet presAssocID="{6990B913-075B-F24B-BBAD-DFEE2609734F}" presName="text4" presStyleLbl="revTx" presStyleIdx="3" presStyleCnt="5" custScaleY="176724" custLinFactNeighborY="57616">
        <dgm:presLayoutVars>
          <dgm:bulletEnabled val="1"/>
        </dgm:presLayoutVars>
      </dgm:prSet>
      <dgm:spPr/>
    </dgm:pt>
    <dgm:pt modelId="{7CDB84B8-63BA-6048-9CBF-1CBC25592950}" type="pres">
      <dgm:prSet presAssocID="{6990B913-075B-F24B-BBAD-DFEE2609734F}" presName="line4" presStyleLbl="callout" presStyleIdx="6" presStyleCnt="10"/>
      <dgm:spPr>
        <a:ln>
          <a:solidFill>
            <a:schemeClr val="accent3"/>
          </a:solidFill>
        </a:ln>
      </dgm:spPr>
    </dgm:pt>
    <dgm:pt modelId="{C34E5CC8-DFB0-FC49-82AD-56653AEAF9C3}" type="pres">
      <dgm:prSet presAssocID="{6990B913-075B-F24B-BBAD-DFEE2609734F}" presName="d4" presStyleLbl="callout" presStyleIdx="7" presStyleCnt="10"/>
      <dgm:spPr>
        <a:ln>
          <a:solidFill>
            <a:schemeClr val="accent3"/>
          </a:solidFill>
        </a:ln>
      </dgm:spPr>
    </dgm:pt>
    <dgm:pt modelId="{D10BCEDA-1B03-9849-8E13-497008088137}" type="pres">
      <dgm:prSet presAssocID="{9ED157BA-69A5-9144-AB59-6B93FD55C0B8}" presName="circle5" presStyleLbl="lnNode1" presStyleIdx="4" presStyleCnt="5"/>
      <dgm:spPr/>
    </dgm:pt>
    <dgm:pt modelId="{BC08C46E-80F6-6844-97EA-EFF90289CFDD}" type="pres">
      <dgm:prSet presAssocID="{9ED157BA-69A5-9144-AB59-6B93FD55C0B8}" presName="text5" presStyleLbl="revTx" presStyleIdx="4" presStyleCnt="5" custScaleY="148833" custLinFactY="19942" custLinFactNeighborX="767" custLinFactNeighborY="100000">
        <dgm:presLayoutVars>
          <dgm:bulletEnabled val="1"/>
        </dgm:presLayoutVars>
      </dgm:prSet>
      <dgm:spPr/>
    </dgm:pt>
    <dgm:pt modelId="{926DDFCA-82BF-8A4A-A31C-77A5937B820B}" type="pres">
      <dgm:prSet presAssocID="{9ED157BA-69A5-9144-AB59-6B93FD55C0B8}" presName="line5" presStyleLbl="callout" presStyleIdx="8" presStyleCnt="10" custSzY="460578" custScaleX="124525" custLinFactY="719333" custLinFactNeighborX="-11495" custLinFactNeighborY="800000"/>
      <dgm:spPr>
        <a:ln>
          <a:solidFill>
            <a:schemeClr val="accent3"/>
          </a:solidFill>
        </a:ln>
      </dgm:spPr>
    </dgm:pt>
    <dgm:pt modelId="{F84305B1-C966-5546-B34F-EA12E90FF450}" type="pres">
      <dgm:prSet presAssocID="{9ED157BA-69A5-9144-AB59-6B93FD55C0B8}" presName="d5" presStyleLbl="callout" presStyleIdx="9" presStyleCnt="10" custScaleX="70381" custScaleY="52216"/>
      <dgm:spPr>
        <a:ln>
          <a:solidFill>
            <a:schemeClr val="accent3"/>
          </a:solidFill>
        </a:ln>
      </dgm:spPr>
    </dgm:pt>
  </dgm:ptLst>
  <dgm:cxnLst>
    <dgm:cxn modelId="{FE59DB30-070D-0D45-92D8-88DDEAB185F6}" type="presOf" srcId="{979CCC9C-C88B-4F4D-AC0F-0A951907E2F1}" destId="{CC87624B-73C2-8F41-B7C2-96066902C80B}" srcOrd="0" destOrd="0" presId="urn:microsoft.com/office/officeart/2005/8/layout/target1"/>
    <dgm:cxn modelId="{A9E9C95D-B3DE-4447-8F7E-3FF350FA58D8}" type="presOf" srcId="{8CC0052F-FF76-2841-9D77-5726AA5F128B}" destId="{7F2462F4-CE27-CB47-B974-0D649D5F1522}" srcOrd="0" destOrd="0" presId="urn:microsoft.com/office/officeart/2005/8/layout/target1"/>
    <dgm:cxn modelId="{E9857345-CAA6-5D4F-AAEB-1391A388DF2D}" srcId="{22C817E8-824B-8943-989C-AC83F97FCEAD}" destId="{8CC0052F-FF76-2841-9D77-5726AA5F128B}" srcOrd="0" destOrd="0" parTransId="{B86741C3-1DFA-3D47-A6E7-5C205CDFFFD9}" sibTransId="{E9C89165-FDC3-684D-8717-3E5D4F4689B5}"/>
    <dgm:cxn modelId="{C4DC0A6C-5994-F74B-88A6-38B4EF570B12}" srcId="{22C817E8-824B-8943-989C-AC83F97FCEAD}" destId="{979CCC9C-C88B-4F4D-AC0F-0A951907E2F1}" srcOrd="1" destOrd="0" parTransId="{CA737E00-0781-E140-AE5B-C7AE2F5D54AA}" sibTransId="{6B148C8B-8EEA-D744-9011-54543658C65B}"/>
    <dgm:cxn modelId="{0A0F4B58-ED31-C749-AA58-B06876CDBCC0}" type="presOf" srcId="{22C817E8-824B-8943-989C-AC83F97FCEAD}" destId="{B590D48F-C700-A745-A5D0-19C43AEA5E83}" srcOrd="0" destOrd="0" presId="urn:microsoft.com/office/officeart/2005/8/layout/target1"/>
    <dgm:cxn modelId="{247FDD88-A0E0-1744-834B-0F8FDFFB38ED}" srcId="{22C817E8-824B-8943-989C-AC83F97FCEAD}" destId="{6990B913-075B-F24B-BBAD-DFEE2609734F}" srcOrd="3" destOrd="0" parTransId="{A6B922CC-A229-714D-9271-B899C3F9E94D}" sibTransId="{EDDA628D-F276-0A46-AAC4-AE129E4624C7}"/>
    <dgm:cxn modelId="{BD8A179A-8BFA-4846-97C5-B2A667BBCAF7}" type="presOf" srcId="{6990B913-075B-F24B-BBAD-DFEE2609734F}" destId="{835CBABC-C4E5-3D41-92E3-3EE99DB441F4}" srcOrd="0" destOrd="0" presId="urn:microsoft.com/office/officeart/2005/8/layout/target1"/>
    <dgm:cxn modelId="{262A119C-8248-8B41-93E0-293DEE18E4D4}" type="presOf" srcId="{9ED157BA-69A5-9144-AB59-6B93FD55C0B8}" destId="{BC08C46E-80F6-6844-97EA-EFF90289CFDD}" srcOrd="0" destOrd="0" presId="urn:microsoft.com/office/officeart/2005/8/layout/target1"/>
    <dgm:cxn modelId="{317E91A3-C143-CD47-B32E-CBB8D763A635}" type="presOf" srcId="{A804BAA3-A403-9E4D-9F00-DDDAF19AB792}" destId="{8EC32DAD-B60A-E04E-9CBE-3880F576FF1B}" srcOrd="0" destOrd="0" presId="urn:microsoft.com/office/officeart/2005/8/layout/target1"/>
    <dgm:cxn modelId="{A4FC8BA6-1F1E-3147-AB97-75C1101DCC1F}" srcId="{22C817E8-824B-8943-989C-AC83F97FCEAD}" destId="{9ED157BA-69A5-9144-AB59-6B93FD55C0B8}" srcOrd="4" destOrd="0" parTransId="{3BA5516E-3B52-0840-A909-851E6F7B1BF8}" sibTransId="{83D41E0C-5C58-4344-AFC3-1412D617C9DB}"/>
    <dgm:cxn modelId="{E1896FBA-2D33-4640-A1D4-BE8984060BE5}" srcId="{22C817E8-824B-8943-989C-AC83F97FCEAD}" destId="{A804BAA3-A403-9E4D-9F00-DDDAF19AB792}" srcOrd="2" destOrd="0" parTransId="{8F848074-08CD-D04A-BCAF-96E598B657A5}" sibTransId="{7B5B54EB-22EA-464C-B494-49CB79BA132C}"/>
    <dgm:cxn modelId="{E64FA73A-03F7-D748-9006-10F57AB71EA5}" type="presParOf" srcId="{B590D48F-C700-A745-A5D0-19C43AEA5E83}" destId="{91CD37D8-A6C9-7347-9185-E44226E72FC7}" srcOrd="0" destOrd="0" presId="urn:microsoft.com/office/officeart/2005/8/layout/target1"/>
    <dgm:cxn modelId="{6FC42ACE-C7F6-8A47-A407-768879818A79}" type="presParOf" srcId="{B590D48F-C700-A745-A5D0-19C43AEA5E83}" destId="{7F2462F4-CE27-CB47-B974-0D649D5F1522}" srcOrd="1" destOrd="0" presId="urn:microsoft.com/office/officeart/2005/8/layout/target1"/>
    <dgm:cxn modelId="{508373F7-D0C0-7044-AD85-C58105646B9F}" type="presParOf" srcId="{B590D48F-C700-A745-A5D0-19C43AEA5E83}" destId="{ECCACFBC-6FE8-3A49-AD2B-79E2DA2407EC}" srcOrd="2" destOrd="0" presId="urn:microsoft.com/office/officeart/2005/8/layout/target1"/>
    <dgm:cxn modelId="{3120D8AD-8365-9C43-B53F-7F0C60278222}" type="presParOf" srcId="{B590D48F-C700-A745-A5D0-19C43AEA5E83}" destId="{F321CC0B-6111-EA4D-945B-E997A707C6AB}" srcOrd="3" destOrd="0" presId="urn:microsoft.com/office/officeart/2005/8/layout/target1"/>
    <dgm:cxn modelId="{27164D2D-DE21-5B42-9685-2F6AB44CA508}" type="presParOf" srcId="{B590D48F-C700-A745-A5D0-19C43AEA5E83}" destId="{2AEFFE6D-02DD-AC47-A7D7-6F0F49D69E25}" srcOrd="4" destOrd="0" presId="urn:microsoft.com/office/officeart/2005/8/layout/target1"/>
    <dgm:cxn modelId="{FBF19BBC-3F29-E847-911A-4462521022F4}" type="presParOf" srcId="{B590D48F-C700-A745-A5D0-19C43AEA5E83}" destId="{CC87624B-73C2-8F41-B7C2-96066902C80B}" srcOrd="5" destOrd="0" presId="urn:microsoft.com/office/officeart/2005/8/layout/target1"/>
    <dgm:cxn modelId="{310A9954-8B3B-DD42-9F6F-8FF898AF3AE1}" type="presParOf" srcId="{B590D48F-C700-A745-A5D0-19C43AEA5E83}" destId="{FD651CF9-2939-7340-9033-50955A68CD2B}" srcOrd="6" destOrd="0" presId="urn:microsoft.com/office/officeart/2005/8/layout/target1"/>
    <dgm:cxn modelId="{00D61241-E986-4549-9AD7-E5D661CCB2C8}" type="presParOf" srcId="{B590D48F-C700-A745-A5D0-19C43AEA5E83}" destId="{C67BBE53-21DC-E045-A630-D12DE591D833}" srcOrd="7" destOrd="0" presId="urn:microsoft.com/office/officeart/2005/8/layout/target1"/>
    <dgm:cxn modelId="{FE50CAC7-3AD6-9444-8716-6D7CF709A079}" type="presParOf" srcId="{B590D48F-C700-A745-A5D0-19C43AEA5E83}" destId="{AAD596D2-E62A-0548-828D-4DCC653CC72D}" srcOrd="8" destOrd="0" presId="urn:microsoft.com/office/officeart/2005/8/layout/target1"/>
    <dgm:cxn modelId="{B1B914B5-2219-1648-8BD3-460ADDBC4225}" type="presParOf" srcId="{B590D48F-C700-A745-A5D0-19C43AEA5E83}" destId="{8EC32DAD-B60A-E04E-9CBE-3880F576FF1B}" srcOrd="9" destOrd="0" presId="urn:microsoft.com/office/officeart/2005/8/layout/target1"/>
    <dgm:cxn modelId="{DC28838C-EAC0-6A4B-8DBB-5328673DA012}" type="presParOf" srcId="{B590D48F-C700-A745-A5D0-19C43AEA5E83}" destId="{48737FD0-232D-2342-9E7D-C70474E38A8F}" srcOrd="10" destOrd="0" presId="urn:microsoft.com/office/officeart/2005/8/layout/target1"/>
    <dgm:cxn modelId="{C23D918D-0FF1-624B-ADF8-2A64636733CD}" type="presParOf" srcId="{B590D48F-C700-A745-A5D0-19C43AEA5E83}" destId="{B14A19D7-85D7-814F-8401-2C8DDF90F3FB}" srcOrd="11" destOrd="0" presId="urn:microsoft.com/office/officeart/2005/8/layout/target1"/>
    <dgm:cxn modelId="{D69A0D46-ADB7-4647-B142-DD40B2ECF152}" type="presParOf" srcId="{B590D48F-C700-A745-A5D0-19C43AEA5E83}" destId="{B34A8773-C811-0D46-9EEB-711305802ED6}" srcOrd="12" destOrd="0" presId="urn:microsoft.com/office/officeart/2005/8/layout/target1"/>
    <dgm:cxn modelId="{BC8A4D59-5D21-8E4B-B97A-2B2A3A52CF84}" type="presParOf" srcId="{B590D48F-C700-A745-A5D0-19C43AEA5E83}" destId="{835CBABC-C4E5-3D41-92E3-3EE99DB441F4}" srcOrd="13" destOrd="0" presId="urn:microsoft.com/office/officeart/2005/8/layout/target1"/>
    <dgm:cxn modelId="{103E59E5-3808-E744-AA18-EF4290303A35}" type="presParOf" srcId="{B590D48F-C700-A745-A5D0-19C43AEA5E83}" destId="{7CDB84B8-63BA-6048-9CBF-1CBC25592950}" srcOrd="14" destOrd="0" presId="urn:microsoft.com/office/officeart/2005/8/layout/target1"/>
    <dgm:cxn modelId="{EA22A331-8F45-C649-9FF0-3D5C2D8585CD}" type="presParOf" srcId="{B590D48F-C700-A745-A5D0-19C43AEA5E83}" destId="{C34E5CC8-DFB0-FC49-82AD-56653AEAF9C3}" srcOrd="15" destOrd="0" presId="urn:microsoft.com/office/officeart/2005/8/layout/target1"/>
    <dgm:cxn modelId="{78B86875-2982-D741-878B-223CB05FC40D}" type="presParOf" srcId="{B590D48F-C700-A745-A5D0-19C43AEA5E83}" destId="{D10BCEDA-1B03-9849-8E13-497008088137}" srcOrd="16" destOrd="0" presId="urn:microsoft.com/office/officeart/2005/8/layout/target1"/>
    <dgm:cxn modelId="{CDC74777-1415-1D40-BAB3-C3BC68A9916C}" type="presParOf" srcId="{B590D48F-C700-A745-A5D0-19C43AEA5E83}" destId="{BC08C46E-80F6-6844-97EA-EFF90289CFDD}" srcOrd="17" destOrd="0" presId="urn:microsoft.com/office/officeart/2005/8/layout/target1"/>
    <dgm:cxn modelId="{2F7C4AA5-B040-C24D-B9B1-D9E484B572F9}" type="presParOf" srcId="{B590D48F-C700-A745-A5D0-19C43AEA5E83}" destId="{926DDFCA-82BF-8A4A-A31C-77A5937B820B}" srcOrd="18" destOrd="0" presId="urn:microsoft.com/office/officeart/2005/8/layout/target1"/>
    <dgm:cxn modelId="{5DA876D4-3434-B147-BFF2-EBB2D65EA645}" type="presParOf" srcId="{B590D48F-C700-A745-A5D0-19C43AEA5E83}" destId="{F84305B1-C966-5546-B34F-EA12E90FF450}" srcOrd="19" destOrd="0" presId="urn:microsoft.com/office/officeart/2005/8/layout/targe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32C988-9138-D048-89E7-59624BB9E088}"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63113182-605D-264A-A2F3-4717C57AE887}">
      <dgm:prSet custT="1"/>
      <dgm:spPr>
        <a:solidFill>
          <a:schemeClr val="accent3"/>
        </a:solidFill>
        <a:ln>
          <a:solidFill>
            <a:schemeClr val="accent3"/>
          </a:solidFill>
        </a:ln>
      </dgm:spPr>
      <dgm:t>
        <a:bodyPr/>
        <a:lstStyle/>
        <a:p>
          <a:pPr algn="ctr" rtl="0"/>
          <a:r>
            <a:rPr lang="en-US" sz="2400" dirty="0">
              <a:effectLst>
                <a:outerShdw blurRad="38100" dist="38100" dir="2700000" algn="tl">
                  <a:srgbClr val="000000">
                    <a:alpha val="43137"/>
                  </a:srgbClr>
                </a:outerShdw>
              </a:effectLst>
            </a:rPr>
            <a:t>One of the most widely used forms of DRAM</a:t>
          </a:r>
        </a:p>
      </dgm:t>
    </dgm:pt>
    <dgm:pt modelId="{74571524-0DF1-4E4A-BF6D-B9CC0F235781}" type="parTrans" cxnId="{88D6CC72-7986-7F42-8B5A-69B7DA0D09CE}">
      <dgm:prSet/>
      <dgm:spPr/>
      <dgm:t>
        <a:bodyPr/>
        <a:lstStyle/>
        <a:p>
          <a:endParaRPr lang="en-US"/>
        </a:p>
      </dgm:t>
    </dgm:pt>
    <dgm:pt modelId="{21D05D6F-F0C3-E348-BA9B-285F8AB3C47E}" type="sibTrans" cxnId="{88D6CC72-7986-7F42-8B5A-69B7DA0D09CE}">
      <dgm:prSet/>
      <dgm:spPr>
        <a:ln>
          <a:solidFill>
            <a:schemeClr val="accent4"/>
          </a:solidFill>
        </a:ln>
      </dgm:spPr>
      <dgm:t>
        <a:bodyPr/>
        <a:lstStyle/>
        <a:p>
          <a:endParaRPr lang="en-US" dirty="0"/>
        </a:p>
      </dgm:t>
    </dgm:pt>
    <dgm:pt modelId="{6E2A755A-27A7-9A43-ABE8-C7B1C9F1B514}">
      <dgm:prSet custT="1"/>
      <dgm:spPr/>
      <dgm:t>
        <a:bodyPr/>
        <a:lstStyle/>
        <a:p>
          <a:pPr algn="ctr" rtl="0"/>
          <a:r>
            <a:rPr lang="en-US" sz="2400" dirty="0">
              <a:effectLst>
                <a:outerShdw blurRad="38100" dist="38100" dir="2700000" algn="tl">
                  <a:srgbClr val="000000">
                    <a:alpha val="43137"/>
                  </a:srgbClr>
                </a:outerShdw>
              </a:effectLst>
            </a:rPr>
            <a:t>Exchanges data with the processor synchronized to an external clock signal and running at the full speed of the processor/memory bus without imposing (long while) wait states</a:t>
          </a:r>
        </a:p>
      </dgm:t>
    </dgm:pt>
    <dgm:pt modelId="{136F3C1B-ECD0-454F-95A9-38A6F926E0B1}" type="parTrans" cxnId="{39A1A262-7960-D744-95D5-46FC79C296FF}">
      <dgm:prSet/>
      <dgm:spPr/>
      <dgm:t>
        <a:bodyPr/>
        <a:lstStyle/>
        <a:p>
          <a:endParaRPr lang="en-US"/>
        </a:p>
      </dgm:t>
    </dgm:pt>
    <dgm:pt modelId="{7BBCE3BF-63F8-9D4D-ADFE-BA449CEC380C}" type="sibTrans" cxnId="{39A1A262-7960-D744-95D5-46FC79C296FF}">
      <dgm:prSet/>
      <dgm:spPr>
        <a:ln>
          <a:solidFill>
            <a:schemeClr val="accent3"/>
          </a:solidFill>
        </a:ln>
      </dgm:spPr>
      <dgm:t>
        <a:bodyPr/>
        <a:lstStyle/>
        <a:p>
          <a:endParaRPr lang="en-US" dirty="0"/>
        </a:p>
      </dgm:t>
    </dgm:pt>
    <dgm:pt modelId="{E7EF0B17-15B4-B04D-82EB-5410FE7584B0}">
      <dgm:prSet custT="1"/>
      <dgm:spPr>
        <a:solidFill>
          <a:schemeClr val="accent4"/>
        </a:solidFill>
        <a:ln>
          <a:solidFill>
            <a:schemeClr val="accent4"/>
          </a:solidFill>
        </a:ln>
      </dgm:spPr>
      <dgm:t>
        <a:bodyPr/>
        <a:lstStyle/>
        <a:p>
          <a:pPr rtl="0"/>
          <a:r>
            <a:rPr lang="en-US" sz="1800" dirty="0">
              <a:effectLst>
                <a:outerShdw blurRad="38100" dist="38100" dir="2700000" algn="tl">
                  <a:srgbClr val="000000">
                    <a:alpha val="43137"/>
                  </a:srgbClr>
                </a:outerShdw>
              </a:effectLst>
            </a:rPr>
            <a:t>With synchronous access the DRAM moves data in and out under control of the system clock</a:t>
          </a:r>
        </a:p>
      </dgm:t>
    </dgm:pt>
    <dgm:pt modelId="{C344F373-FEE5-364E-A59E-E642F40DDD92}" type="parTrans" cxnId="{418CAE86-4420-6843-B04D-A5C3D73F4CBF}">
      <dgm:prSet/>
      <dgm:spPr/>
      <dgm:t>
        <a:bodyPr/>
        <a:lstStyle/>
        <a:p>
          <a:endParaRPr lang="en-US"/>
        </a:p>
      </dgm:t>
    </dgm:pt>
    <dgm:pt modelId="{8456D296-674C-CD46-85ED-F3DBF71240CA}" type="sibTrans" cxnId="{418CAE86-4420-6843-B04D-A5C3D73F4CBF}">
      <dgm:prSet/>
      <dgm:spPr/>
      <dgm:t>
        <a:bodyPr/>
        <a:lstStyle/>
        <a:p>
          <a:endParaRPr lang="en-US"/>
        </a:p>
      </dgm:t>
    </dgm:pt>
    <dgm:pt modelId="{493F2ACD-DEEB-B544-B22B-EEE8C659AEA2}">
      <dgm:prSet custT="1"/>
      <dgm:spPr>
        <a:solidFill>
          <a:schemeClr val="accent4"/>
        </a:solidFill>
        <a:ln>
          <a:solidFill>
            <a:schemeClr val="accent4"/>
          </a:solidFill>
        </a:ln>
      </dgm:spPr>
      <dgm:t>
        <a:bodyPr/>
        <a:lstStyle/>
        <a:p>
          <a:pPr rtl="0"/>
          <a:r>
            <a:rPr lang="en-US" sz="1600" dirty="0">
              <a:effectLst>
                <a:outerShdw blurRad="38100" dist="38100" dir="2700000" algn="tl">
                  <a:srgbClr val="000000">
                    <a:alpha val="43137"/>
                  </a:srgbClr>
                </a:outerShdw>
              </a:effectLst>
            </a:rPr>
            <a:t>The processor or other master issues the instruction and address information which is latched by the DRAM</a:t>
          </a:r>
        </a:p>
      </dgm:t>
    </dgm:pt>
    <dgm:pt modelId="{D643B0B2-6CBA-184B-8A4D-0A5119048FE8}" type="parTrans" cxnId="{F0EC800F-5A44-3740-880A-D0E4C9472C67}">
      <dgm:prSet/>
      <dgm:spPr/>
      <dgm:t>
        <a:bodyPr/>
        <a:lstStyle/>
        <a:p>
          <a:endParaRPr lang="en-US"/>
        </a:p>
      </dgm:t>
    </dgm:pt>
    <dgm:pt modelId="{E0C3EFFB-D95E-7C4D-82CC-97976A317D41}" type="sibTrans" cxnId="{F0EC800F-5A44-3740-880A-D0E4C9472C67}">
      <dgm:prSet/>
      <dgm:spPr/>
      <dgm:t>
        <a:bodyPr/>
        <a:lstStyle/>
        <a:p>
          <a:endParaRPr lang="en-US"/>
        </a:p>
      </dgm:t>
    </dgm:pt>
    <dgm:pt modelId="{A204CA6E-5364-894E-A74A-57FED05720C3}">
      <dgm:prSet custT="1"/>
      <dgm:spPr>
        <a:solidFill>
          <a:schemeClr val="accent4"/>
        </a:solidFill>
        <a:ln>
          <a:solidFill>
            <a:schemeClr val="accent4"/>
          </a:solidFill>
        </a:ln>
      </dgm:spPr>
      <dgm:t>
        <a:bodyPr/>
        <a:lstStyle/>
        <a:p>
          <a:pPr rtl="0"/>
          <a:r>
            <a:rPr lang="en-US" sz="1600" dirty="0">
              <a:effectLst>
                <a:outerShdw blurRad="38100" dist="38100" dir="2700000" algn="tl">
                  <a:srgbClr val="000000">
                    <a:alpha val="43137"/>
                  </a:srgbClr>
                </a:outerShdw>
              </a:effectLst>
            </a:rPr>
            <a:t>The DRAM then responds after a set number of clock cycles</a:t>
          </a:r>
        </a:p>
      </dgm:t>
    </dgm:pt>
    <dgm:pt modelId="{2771E78B-E482-FA46-BC31-F62C31BC3859}" type="parTrans" cxnId="{FD9214CB-FD0B-1A4E-AC0E-20DB4792BA6D}">
      <dgm:prSet/>
      <dgm:spPr/>
      <dgm:t>
        <a:bodyPr/>
        <a:lstStyle/>
        <a:p>
          <a:endParaRPr lang="en-US"/>
        </a:p>
      </dgm:t>
    </dgm:pt>
    <dgm:pt modelId="{5D86C4AB-723C-DF4A-96A1-69D601914BC4}" type="sibTrans" cxnId="{FD9214CB-FD0B-1A4E-AC0E-20DB4792BA6D}">
      <dgm:prSet/>
      <dgm:spPr/>
      <dgm:t>
        <a:bodyPr/>
        <a:lstStyle/>
        <a:p>
          <a:endParaRPr lang="en-US"/>
        </a:p>
      </dgm:t>
    </dgm:pt>
    <dgm:pt modelId="{12F3A4AA-2124-7941-86E3-41B406A0C454}">
      <dgm:prSet custT="1"/>
      <dgm:spPr>
        <a:solidFill>
          <a:schemeClr val="accent4"/>
        </a:solidFill>
        <a:ln>
          <a:solidFill>
            <a:schemeClr val="accent4"/>
          </a:solidFill>
        </a:ln>
      </dgm:spPr>
      <dgm:t>
        <a:bodyPr/>
        <a:lstStyle/>
        <a:p>
          <a:pPr rtl="0"/>
          <a:r>
            <a:rPr lang="en-US" sz="1600" dirty="0">
              <a:effectLst>
                <a:outerShdw blurRad="38100" dist="38100" dir="2700000" algn="tl">
                  <a:srgbClr val="000000">
                    <a:alpha val="43137"/>
                  </a:srgbClr>
                </a:outerShdw>
              </a:effectLst>
            </a:rPr>
            <a:t>Meanwhile the master can safely do other tasks while the SDRAM is processing</a:t>
          </a:r>
        </a:p>
      </dgm:t>
    </dgm:pt>
    <dgm:pt modelId="{9605741C-A990-2642-BC2E-59E32D5EA6EE}" type="parTrans" cxnId="{C620BD23-14CB-464A-A8C3-863E248964BD}">
      <dgm:prSet/>
      <dgm:spPr/>
      <dgm:t>
        <a:bodyPr/>
        <a:lstStyle/>
        <a:p>
          <a:endParaRPr lang="en-US"/>
        </a:p>
      </dgm:t>
    </dgm:pt>
    <dgm:pt modelId="{D3A86C7D-AB35-4947-ADFA-A5BA47ADDD6B}" type="sibTrans" cxnId="{C620BD23-14CB-464A-A8C3-863E248964BD}">
      <dgm:prSet/>
      <dgm:spPr/>
      <dgm:t>
        <a:bodyPr/>
        <a:lstStyle/>
        <a:p>
          <a:endParaRPr lang="en-US"/>
        </a:p>
      </dgm:t>
    </dgm:pt>
    <dgm:pt modelId="{AF07D91A-0C82-BF41-8C87-1F50207193A9}" type="pres">
      <dgm:prSet presAssocID="{1832C988-9138-D048-89E7-59624BB9E088}" presName="outerComposite" presStyleCnt="0">
        <dgm:presLayoutVars>
          <dgm:chMax val="5"/>
          <dgm:dir/>
          <dgm:resizeHandles val="exact"/>
        </dgm:presLayoutVars>
      </dgm:prSet>
      <dgm:spPr/>
    </dgm:pt>
    <dgm:pt modelId="{7570FB3E-C250-0541-A7C9-E9D2A04BE4EA}" type="pres">
      <dgm:prSet presAssocID="{1832C988-9138-D048-89E7-59624BB9E088}" presName="dummyMaxCanvas" presStyleCnt="0">
        <dgm:presLayoutVars/>
      </dgm:prSet>
      <dgm:spPr/>
    </dgm:pt>
    <dgm:pt modelId="{149FECDC-F79B-B344-8AF2-2E06E96ADAA6}" type="pres">
      <dgm:prSet presAssocID="{1832C988-9138-D048-89E7-59624BB9E088}" presName="ThreeNodes_1" presStyleLbl="node1" presStyleIdx="0" presStyleCnt="3" custScaleX="114536" custScaleY="33214" custLinFactNeighborY="-16491">
        <dgm:presLayoutVars>
          <dgm:bulletEnabled val="1"/>
        </dgm:presLayoutVars>
      </dgm:prSet>
      <dgm:spPr/>
    </dgm:pt>
    <dgm:pt modelId="{29FC9BE3-5D17-D947-B223-5867698AAC28}" type="pres">
      <dgm:prSet presAssocID="{1832C988-9138-D048-89E7-59624BB9E088}" presName="ThreeNodes_2" presStyleLbl="node1" presStyleIdx="1" presStyleCnt="3" custScaleX="110531" custLinFactNeighborX="-5278" custLinFactNeighborY="-43016">
        <dgm:presLayoutVars>
          <dgm:bulletEnabled val="1"/>
        </dgm:presLayoutVars>
      </dgm:prSet>
      <dgm:spPr/>
    </dgm:pt>
    <dgm:pt modelId="{6DC128DD-9643-414F-B8E2-C8FCDA5CA536}" type="pres">
      <dgm:prSet presAssocID="{1832C988-9138-D048-89E7-59624BB9E088}" presName="ThreeNodes_3" presStyleLbl="node1" presStyleIdx="2" presStyleCnt="3" custScaleX="101890" custScaleY="126761" custLinFactNeighborX="-5606" custLinFactNeighborY="-33098">
        <dgm:presLayoutVars>
          <dgm:bulletEnabled val="1"/>
        </dgm:presLayoutVars>
      </dgm:prSet>
      <dgm:spPr/>
    </dgm:pt>
    <dgm:pt modelId="{4F5143D0-0BD0-9745-9E26-67D55601F120}" type="pres">
      <dgm:prSet presAssocID="{1832C988-9138-D048-89E7-59624BB9E088}" presName="ThreeConn_1-2" presStyleLbl="fgAccFollowNode1" presStyleIdx="0" presStyleCnt="2" custLinFactNeighborY="-72970">
        <dgm:presLayoutVars>
          <dgm:bulletEnabled val="1"/>
        </dgm:presLayoutVars>
      </dgm:prSet>
      <dgm:spPr/>
    </dgm:pt>
    <dgm:pt modelId="{2D96FBAB-511F-A549-B207-756395476BB0}" type="pres">
      <dgm:prSet presAssocID="{1832C988-9138-D048-89E7-59624BB9E088}" presName="ThreeConn_2-3" presStyleLbl="fgAccFollowNode1" presStyleIdx="1" presStyleCnt="2" custLinFactNeighborY="-75374">
        <dgm:presLayoutVars>
          <dgm:bulletEnabled val="1"/>
        </dgm:presLayoutVars>
      </dgm:prSet>
      <dgm:spPr/>
    </dgm:pt>
    <dgm:pt modelId="{C6A6067D-FAE5-3C42-A284-AAC8AAF954FC}" type="pres">
      <dgm:prSet presAssocID="{1832C988-9138-D048-89E7-59624BB9E088}" presName="ThreeNodes_1_text" presStyleLbl="node1" presStyleIdx="2" presStyleCnt="3">
        <dgm:presLayoutVars>
          <dgm:bulletEnabled val="1"/>
        </dgm:presLayoutVars>
      </dgm:prSet>
      <dgm:spPr/>
    </dgm:pt>
    <dgm:pt modelId="{CD832A54-5AE9-BE4D-8FB0-9E636850F4B4}" type="pres">
      <dgm:prSet presAssocID="{1832C988-9138-D048-89E7-59624BB9E088}" presName="ThreeNodes_2_text" presStyleLbl="node1" presStyleIdx="2" presStyleCnt="3">
        <dgm:presLayoutVars>
          <dgm:bulletEnabled val="1"/>
        </dgm:presLayoutVars>
      </dgm:prSet>
      <dgm:spPr/>
    </dgm:pt>
    <dgm:pt modelId="{D052A974-963D-F74C-9FC9-4CDBE1D45F7A}" type="pres">
      <dgm:prSet presAssocID="{1832C988-9138-D048-89E7-59624BB9E088}" presName="ThreeNodes_3_text" presStyleLbl="node1" presStyleIdx="2" presStyleCnt="3">
        <dgm:presLayoutVars>
          <dgm:bulletEnabled val="1"/>
        </dgm:presLayoutVars>
      </dgm:prSet>
      <dgm:spPr/>
    </dgm:pt>
  </dgm:ptLst>
  <dgm:cxnLst>
    <dgm:cxn modelId="{5B7DAE0B-9DE6-C648-991F-9254CDEEDE84}" type="presOf" srcId="{12F3A4AA-2124-7941-86E3-41B406A0C454}" destId="{6DC128DD-9643-414F-B8E2-C8FCDA5CA536}" srcOrd="0" destOrd="3" presId="urn:microsoft.com/office/officeart/2005/8/layout/vProcess5"/>
    <dgm:cxn modelId="{F0EC800F-5A44-3740-880A-D0E4C9472C67}" srcId="{E7EF0B17-15B4-B04D-82EB-5410FE7584B0}" destId="{493F2ACD-DEEB-B544-B22B-EEE8C659AEA2}" srcOrd="0" destOrd="0" parTransId="{D643B0B2-6CBA-184B-8A4D-0A5119048FE8}" sibTransId="{E0C3EFFB-D95E-7C4D-82CC-97976A317D41}"/>
    <dgm:cxn modelId="{C620BD23-14CB-464A-A8C3-863E248964BD}" srcId="{E7EF0B17-15B4-B04D-82EB-5410FE7584B0}" destId="{12F3A4AA-2124-7941-86E3-41B406A0C454}" srcOrd="2" destOrd="0" parTransId="{9605741C-A990-2642-BC2E-59E32D5EA6EE}" sibTransId="{D3A86C7D-AB35-4947-ADFA-A5BA47ADDD6B}"/>
    <dgm:cxn modelId="{ED64AE29-F99F-9F4A-B9C4-1D6BC9D4D40F}" type="presOf" srcId="{A204CA6E-5364-894E-A74A-57FED05720C3}" destId="{D052A974-963D-F74C-9FC9-4CDBE1D45F7A}" srcOrd="1" destOrd="2" presId="urn:microsoft.com/office/officeart/2005/8/layout/vProcess5"/>
    <dgm:cxn modelId="{5B06832C-EC29-2E4F-AC13-E9A23FBE741C}" type="presOf" srcId="{63113182-605D-264A-A2F3-4717C57AE887}" destId="{C6A6067D-FAE5-3C42-A284-AAC8AAF954FC}" srcOrd="1" destOrd="0" presId="urn:microsoft.com/office/officeart/2005/8/layout/vProcess5"/>
    <dgm:cxn modelId="{E58AAD34-7EEA-AE47-8517-0DA2726A4A86}" type="presOf" srcId="{6E2A755A-27A7-9A43-ABE8-C7B1C9F1B514}" destId="{CD832A54-5AE9-BE4D-8FB0-9E636850F4B4}" srcOrd="1" destOrd="0" presId="urn:microsoft.com/office/officeart/2005/8/layout/vProcess5"/>
    <dgm:cxn modelId="{F60B893F-4FFD-A94D-96FC-16712293262D}" type="presOf" srcId="{493F2ACD-DEEB-B544-B22B-EEE8C659AEA2}" destId="{6DC128DD-9643-414F-B8E2-C8FCDA5CA536}" srcOrd="0" destOrd="1" presId="urn:microsoft.com/office/officeart/2005/8/layout/vProcess5"/>
    <dgm:cxn modelId="{8FA04361-4547-F341-A786-9219754C52F4}" type="presOf" srcId="{6E2A755A-27A7-9A43-ABE8-C7B1C9F1B514}" destId="{29FC9BE3-5D17-D947-B223-5867698AAC28}" srcOrd="0" destOrd="0" presId="urn:microsoft.com/office/officeart/2005/8/layout/vProcess5"/>
    <dgm:cxn modelId="{39A1A262-7960-D744-95D5-46FC79C296FF}" srcId="{1832C988-9138-D048-89E7-59624BB9E088}" destId="{6E2A755A-27A7-9A43-ABE8-C7B1C9F1B514}" srcOrd="1" destOrd="0" parTransId="{136F3C1B-ECD0-454F-95A9-38A6F926E0B1}" sibTransId="{7BBCE3BF-63F8-9D4D-ADFE-BA449CEC380C}"/>
    <dgm:cxn modelId="{39C7B06D-2035-4146-8B94-042E97A4E181}" type="presOf" srcId="{E7EF0B17-15B4-B04D-82EB-5410FE7584B0}" destId="{6DC128DD-9643-414F-B8E2-C8FCDA5CA536}" srcOrd="0" destOrd="0" presId="urn:microsoft.com/office/officeart/2005/8/layout/vProcess5"/>
    <dgm:cxn modelId="{53FD826E-9F1B-4E42-AE76-BF79E7669BFA}" type="presOf" srcId="{63113182-605D-264A-A2F3-4717C57AE887}" destId="{149FECDC-F79B-B344-8AF2-2E06E96ADAA6}" srcOrd="0" destOrd="0" presId="urn:microsoft.com/office/officeart/2005/8/layout/vProcess5"/>
    <dgm:cxn modelId="{88D6CC72-7986-7F42-8B5A-69B7DA0D09CE}" srcId="{1832C988-9138-D048-89E7-59624BB9E088}" destId="{63113182-605D-264A-A2F3-4717C57AE887}" srcOrd="0" destOrd="0" parTransId="{74571524-0DF1-4E4A-BF6D-B9CC0F235781}" sibTransId="{21D05D6F-F0C3-E348-BA9B-285F8AB3C47E}"/>
    <dgm:cxn modelId="{B7E92F58-FA41-3241-AF4F-9783AF7966E6}" type="presOf" srcId="{21D05D6F-F0C3-E348-BA9B-285F8AB3C47E}" destId="{4F5143D0-0BD0-9745-9E26-67D55601F120}" srcOrd="0" destOrd="0" presId="urn:microsoft.com/office/officeart/2005/8/layout/vProcess5"/>
    <dgm:cxn modelId="{851D7F7A-FF14-204A-8286-359AEA361127}" type="presOf" srcId="{493F2ACD-DEEB-B544-B22B-EEE8C659AEA2}" destId="{D052A974-963D-F74C-9FC9-4CDBE1D45F7A}" srcOrd="1" destOrd="1" presId="urn:microsoft.com/office/officeart/2005/8/layout/vProcess5"/>
    <dgm:cxn modelId="{1D3BD47D-F807-0145-8021-C907978BA295}" type="presOf" srcId="{E7EF0B17-15B4-B04D-82EB-5410FE7584B0}" destId="{D052A974-963D-F74C-9FC9-4CDBE1D45F7A}" srcOrd="1" destOrd="0" presId="urn:microsoft.com/office/officeart/2005/8/layout/vProcess5"/>
    <dgm:cxn modelId="{418CAE86-4420-6843-B04D-A5C3D73F4CBF}" srcId="{1832C988-9138-D048-89E7-59624BB9E088}" destId="{E7EF0B17-15B4-B04D-82EB-5410FE7584B0}" srcOrd="2" destOrd="0" parTransId="{C344F373-FEE5-364E-A59E-E642F40DDD92}" sibTransId="{8456D296-674C-CD46-85ED-F3DBF71240CA}"/>
    <dgm:cxn modelId="{860BA9A9-DD8D-6F46-9EDE-8304E0C4AD2A}" type="presOf" srcId="{A204CA6E-5364-894E-A74A-57FED05720C3}" destId="{6DC128DD-9643-414F-B8E2-C8FCDA5CA536}" srcOrd="0" destOrd="2" presId="urn:microsoft.com/office/officeart/2005/8/layout/vProcess5"/>
    <dgm:cxn modelId="{FD9214CB-FD0B-1A4E-AC0E-20DB4792BA6D}" srcId="{E7EF0B17-15B4-B04D-82EB-5410FE7584B0}" destId="{A204CA6E-5364-894E-A74A-57FED05720C3}" srcOrd="1" destOrd="0" parTransId="{2771E78B-E482-FA46-BC31-F62C31BC3859}" sibTransId="{5D86C4AB-723C-DF4A-96A1-69D601914BC4}"/>
    <dgm:cxn modelId="{5D3ED2E9-1084-954B-9B72-05BCA4639676}" type="presOf" srcId="{1832C988-9138-D048-89E7-59624BB9E088}" destId="{AF07D91A-0C82-BF41-8C87-1F50207193A9}" srcOrd="0" destOrd="0" presId="urn:microsoft.com/office/officeart/2005/8/layout/vProcess5"/>
    <dgm:cxn modelId="{ABB0B1EB-B1EC-FD41-86D9-CA9454B37948}" type="presOf" srcId="{12F3A4AA-2124-7941-86E3-41B406A0C454}" destId="{D052A974-963D-F74C-9FC9-4CDBE1D45F7A}" srcOrd="1" destOrd="3" presId="urn:microsoft.com/office/officeart/2005/8/layout/vProcess5"/>
    <dgm:cxn modelId="{92EE25F6-2974-884B-A781-D3BEBA130B57}" type="presOf" srcId="{7BBCE3BF-63F8-9D4D-ADFE-BA449CEC380C}" destId="{2D96FBAB-511F-A549-B207-756395476BB0}" srcOrd="0" destOrd="0" presId="urn:microsoft.com/office/officeart/2005/8/layout/vProcess5"/>
    <dgm:cxn modelId="{7D0652B1-666E-B641-961C-671743EE5FC9}" type="presParOf" srcId="{AF07D91A-0C82-BF41-8C87-1F50207193A9}" destId="{7570FB3E-C250-0541-A7C9-E9D2A04BE4EA}" srcOrd="0" destOrd="0" presId="urn:microsoft.com/office/officeart/2005/8/layout/vProcess5"/>
    <dgm:cxn modelId="{954187B3-03BA-444A-A50C-8F2F6300FA13}" type="presParOf" srcId="{AF07D91A-0C82-BF41-8C87-1F50207193A9}" destId="{149FECDC-F79B-B344-8AF2-2E06E96ADAA6}" srcOrd="1" destOrd="0" presId="urn:microsoft.com/office/officeart/2005/8/layout/vProcess5"/>
    <dgm:cxn modelId="{EFF71C5C-6022-3643-B216-02A70CAC99B1}" type="presParOf" srcId="{AF07D91A-0C82-BF41-8C87-1F50207193A9}" destId="{29FC9BE3-5D17-D947-B223-5867698AAC28}" srcOrd="2" destOrd="0" presId="urn:microsoft.com/office/officeart/2005/8/layout/vProcess5"/>
    <dgm:cxn modelId="{52093660-6CB6-9C42-AD24-C85A0A8C765A}" type="presParOf" srcId="{AF07D91A-0C82-BF41-8C87-1F50207193A9}" destId="{6DC128DD-9643-414F-B8E2-C8FCDA5CA536}" srcOrd="3" destOrd="0" presId="urn:microsoft.com/office/officeart/2005/8/layout/vProcess5"/>
    <dgm:cxn modelId="{45036449-2B70-CD40-B4E3-3CE52FE6D105}" type="presParOf" srcId="{AF07D91A-0C82-BF41-8C87-1F50207193A9}" destId="{4F5143D0-0BD0-9745-9E26-67D55601F120}" srcOrd="4" destOrd="0" presId="urn:microsoft.com/office/officeart/2005/8/layout/vProcess5"/>
    <dgm:cxn modelId="{0C2A8643-0EFB-FB4C-8561-E02F28997420}" type="presParOf" srcId="{AF07D91A-0C82-BF41-8C87-1F50207193A9}" destId="{2D96FBAB-511F-A549-B207-756395476BB0}" srcOrd="5" destOrd="0" presId="urn:microsoft.com/office/officeart/2005/8/layout/vProcess5"/>
    <dgm:cxn modelId="{39C28B83-9A45-0A40-96D9-2DAF85257FD4}" type="presParOf" srcId="{AF07D91A-0C82-BF41-8C87-1F50207193A9}" destId="{C6A6067D-FAE5-3C42-A284-AAC8AAF954FC}" srcOrd="6" destOrd="0" presId="urn:microsoft.com/office/officeart/2005/8/layout/vProcess5"/>
    <dgm:cxn modelId="{304D1422-0585-5C46-9DB8-CED161B03DEB}" type="presParOf" srcId="{AF07D91A-0C82-BF41-8C87-1F50207193A9}" destId="{CD832A54-5AE9-BE4D-8FB0-9E636850F4B4}" srcOrd="7" destOrd="0" presId="urn:microsoft.com/office/officeart/2005/8/layout/vProcess5"/>
    <dgm:cxn modelId="{36824D36-C3E5-894D-AB64-610F63792719}" type="presParOf" srcId="{AF07D91A-0C82-BF41-8C87-1F50207193A9}" destId="{D052A974-963D-F74C-9FC9-4CDBE1D45F7A}"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252968C-5492-A841-9761-7340C08155A7}" type="doc">
      <dgm:prSet loTypeId="urn:microsoft.com/office/officeart/2005/8/layout/venn1" loCatId="relationship" qsTypeId="urn:microsoft.com/office/officeart/2005/8/quickstyle/simple4" qsCatId="simple" csTypeId="urn:microsoft.com/office/officeart/2005/8/colors/accent1_2" csCatId="accent1"/>
      <dgm:spPr/>
      <dgm:t>
        <a:bodyPr/>
        <a:lstStyle/>
        <a:p>
          <a:endParaRPr lang="en-US"/>
        </a:p>
      </dgm:t>
    </dgm:pt>
    <dgm:pt modelId="{3CB2E2A5-2BE4-734C-AC5F-486E24A24CA2}">
      <dgm:prSet/>
      <dgm:spPr/>
      <dgm:t>
        <a:bodyPr/>
        <a:lstStyle/>
        <a:p>
          <a:pPr rtl="0"/>
          <a:r>
            <a:rPr lang="en-US" dirty="0"/>
            <a:t>Developed by Rambus</a:t>
          </a:r>
        </a:p>
      </dgm:t>
    </dgm:pt>
    <dgm:pt modelId="{9172D2B7-41D9-B042-9C4F-802C29EF9176}" type="parTrans" cxnId="{BBF2F4C8-EAE5-D145-970E-71E52C960ACB}">
      <dgm:prSet/>
      <dgm:spPr/>
      <dgm:t>
        <a:bodyPr/>
        <a:lstStyle/>
        <a:p>
          <a:endParaRPr lang="en-US"/>
        </a:p>
      </dgm:t>
    </dgm:pt>
    <dgm:pt modelId="{C4AF1E9C-B4D6-1F4F-AEB1-4EE3F8057CD5}" type="sibTrans" cxnId="{BBF2F4C8-EAE5-D145-970E-71E52C960ACB}">
      <dgm:prSet/>
      <dgm:spPr/>
      <dgm:t>
        <a:bodyPr/>
        <a:lstStyle/>
        <a:p>
          <a:endParaRPr lang="en-US"/>
        </a:p>
      </dgm:t>
    </dgm:pt>
    <dgm:pt modelId="{AA39A1DD-0474-904C-BDCC-ED84EBE5E467}">
      <dgm:prSet/>
      <dgm:spPr/>
      <dgm:t>
        <a:bodyPr/>
        <a:lstStyle/>
        <a:p>
          <a:pPr rtl="0"/>
          <a:r>
            <a:rPr lang="en-US" dirty="0"/>
            <a:t>Adopted by Intel for its Pentium and Itanium processors</a:t>
          </a:r>
        </a:p>
      </dgm:t>
    </dgm:pt>
    <dgm:pt modelId="{74E53D34-1296-4C46-B832-D6A389913080}" type="parTrans" cxnId="{5AF0702D-963B-8E48-9582-9A7AE19BE9FF}">
      <dgm:prSet/>
      <dgm:spPr/>
      <dgm:t>
        <a:bodyPr/>
        <a:lstStyle/>
        <a:p>
          <a:endParaRPr lang="en-US"/>
        </a:p>
      </dgm:t>
    </dgm:pt>
    <dgm:pt modelId="{5396A017-314D-544F-8357-3C9FB85DBAAF}" type="sibTrans" cxnId="{5AF0702D-963B-8E48-9582-9A7AE19BE9FF}">
      <dgm:prSet/>
      <dgm:spPr/>
      <dgm:t>
        <a:bodyPr/>
        <a:lstStyle/>
        <a:p>
          <a:endParaRPr lang="en-US"/>
        </a:p>
      </dgm:t>
    </dgm:pt>
    <dgm:pt modelId="{A3032B90-58EB-0D49-8682-EB0533BAB1D4}">
      <dgm:prSet/>
      <dgm:spPr/>
      <dgm:t>
        <a:bodyPr/>
        <a:lstStyle/>
        <a:p>
          <a:pPr rtl="0"/>
          <a:r>
            <a:rPr lang="en-US" dirty="0"/>
            <a:t>Has become the main competitor to SDRAM</a:t>
          </a:r>
        </a:p>
      </dgm:t>
    </dgm:pt>
    <dgm:pt modelId="{B9B4C640-12D0-FF42-B962-46D9DF067470}" type="parTrans" cxnId="{3D9B8152-0DF5-4D47-86D1-BB59DEE22995}">
      <dgm:prSet/>
      <dgm:spPr/>
      <dgm:t>
        <a:bodyPr/>
        <a:lstStyle/>
        <a:p>
          <a:endParaRPr lang="en-US"/>
        </a:p>
      </dgm:t>
    </dgm:pt>
    <dgm:pt modelId="{41995D75-1062-BA43-9E89-E456B5B21581}" type="sibTrans" cxnId="{3D9B8152-0DF5-4D47-86D1-BB59DEE22995}">
      <dgm:prSet/>
      <dgm:spPr/>
      <dgm:t>
        <a:bodyPr/>
        <a:lstStyle/>
        <a:p>
          <a:endParaRPr lang="en-US"/>
        </a:p>
      </dgm:t>
    </dgm:pt>
    <dgm:pt modelId="{AFD16067-9DF0-E146-9C57-98ACF9D6D854}">
      <dgm:prSet/>
      <dgm:spPr/>
      <dgm:t>
        <a:bodyPr/>
        <a:lstStyle/>
        <a:p>
          <a:pPr rtl="0"/>
          <a:r>
            <a:rPr lang="en-US" dirty="0"/>
            <a:t>Chips are vertical packages with all pins on one side</a:t>
          </a:r>
        </a:p>
      </dgm:t>
    </dgm:pt>
    <dgm:pt modelId="{1720FF5C-888C-9D49-B487-4659623EB114}" type="parTrans" cxnId="{C756F11B-4AF7-C646-8261-3482A1C60825}">
      <dgm:prSet/>
      <dgm:spPr/>
      <dgm:t>
        <a:bodyPr/>
        <a:lstStyle/>
        <a:p>
          <a:endParaRPr lang="en-US"/>
        </a:p>
      </dgm:t>
    </dgm:pt>
    <dgm:pt modelId="{049CBE4E-8BC4-F146-990C-CE087A24DC39}" type="sibTrans" cxnId="{C756F11B-4AF7-C646-8261-3482A1C60825}">
      <dgm:prSet/>
      <dgm:spPr/>
      <dgm:t>
        <a:bodyPr/>
        <a:lstStyle/>
        <a:p>
          <a:endParaRPr lang="en-US"/>
        </a:p>
      </dgm:t>
    </dgm:pt>
    <dgm:pt modelId="{A99D7C27-4A65-D242-ACE6-BA958BD55218}">
      <dgm:prSet/>
      <dgm:spPr/>
      <dgm:t>
        <a:bodyPr/>
        <a:lstStyle/>
        <a:p>
          <a:pPr rtl="0"/>
          <a:r>
            <a:rPr lang="en-US" dirty="0"/>
            <a:t>Exchanges data with the processor over 28 wires no more than 12 centimeters long</a:t>
          </a:r>
        </a:p>
      </dgm:t>
    </dgm:pt>
    <dgm:pt modelId="{FB9049C9-4F34-094C-B18F-A841D82454D5}" type="parTrans" cxnId="{B8AA7C38-BE6D-244D-9F39-4370B6887E42}">
      <dgm:prSet/>
      <dgm:spPr/>
      <dgm:t>
        <a:bodyPr/>
        <a:lstStyle/>
        <a:p>
          <a:endParaRPr lang="en-US"/>
        </a:p>
      </dgm:t>
    </dgm:pt>
    <dgm:pt modelId="{0F2CD972-0658-E944-9AB8-A9AE8F34034E}" type="sibTrans" cxnId="{B8AA7C38-BE6D-244D-9F39-4370B6887E42}">
      <dgm:prSet/>
      <dgm:spPr/>
      <dgm:t>
        <a:bodyPr/>
        <a:lstStyle/>
        <a:p>
          <a:endParaRPr lang="en-US"/>
        </a:p>
      </dgm:t>
    </dgm:pt>
    <dgm:pt modelId="{3585A296-D216-5C40-ACB6-0856FA67A4F5}">
      <dgm:prSet/>
      <dgm:spPr/>
      <dgm:t>
        <a:bodyPr/>
        <a:lstStyle/>
        <a:p>
          <a:pPr rtl="0"/>
          <a:r>
            <a:rPr lang="en-US" dirty="0"/>
            <a:t>Bus can address up to 320 RDRAM chips and is rated at 1.6 GBps</a:t>
          </a:r>
        </a:p>
      </dgm:t>
    </dgm:pt>
    <dgm:pt modelId="{126AD7A6-D5ED-A749-BD29-0C88806D4620}" type="parTrans" cxnId="{C916337B-3E21-F94B-A3D9-616270A65FAE}">
      <dgm:prSet/>
      <dgm:spPr/>
      <dgm:t>
        <a:bodyPr/>
        <a:lstStyle/>
        <a:p>
          <a:endParaRPr lang="en-US"/>
        </a:p>
      </dgm:t>
    </dgm:pt>
    <dgm:pt modelId="{62109C25-FDC9-1D4F-B2B2-4EED0A1B398B}" type="sibTrans" cxnId="{C916337B-3E21-F94B-A3D9-616270A65FAE}">
      <dgm:prSet/>
      <dgm:spPr/>
      <dgm:t>
        <a:bodyPr/>
        <a:lstStyle/>
        <a:p>
          <a:endParaRPr lang="en-US"/>
        </a:p>
      </dgm:t>
    </dgm:pt>
    <dgm:pt modelId="{650CCBC2-4F3E-FB4B-AD54-EC423A876824}">
      <dgm:prSet/>
      <dgm:spPr/>
      <dgm:t>
        <a:bodyPr/>
        <a:lstStyle/>
        <a:p>
          <a:pPr rtl="0"/>
          <a:r>
            <a:rPr lang="en-US" dirty="0"/>
            <a:t>Bus delivers address and control information using an asynchronous block-oriented protocol</a:t>
          </a:r>
        </a:p>
      </dgm:t>
    </dgm:pt>
    <dgm:pt modelId="{7A20264E-0B38-3343-8CD1-2AFD0F7E75DE}" type="parTrans" cxnId="{F0A49F8B-6345-E34A-B85F-ECD2E110B666}">
      <dgm:prSet/>
      <dgm:spPr/>
      <dgm:t>
        <a:bodyPr/>
        <a:lstStyle/>
        <a:p>
          <a:endParaRPr lang="en-US"/>
        </a:p>
      </dgm:t>
    </dgm:pt>
    <dgm:pt modelId="{5ED9AB13-6902-2F4A-BA2E-9CDB8AB76C71}" type="sibTrans" cxnId="{F0A49F8B-6345-E34A-B85F-ECD2E110B666}">
      <dgm:prSet/>
      <dgm:spPr/>
      <dgm:t>
        <a:bodyPr/>
        <a:lstStyle/>
        <a:p>
          <a:endParaRPr lang="en-US"/>
        </a:p>
      </dgm:t>
    </dgm:pt>
    <dgm:pt modelId="{E2A7B169-1684-0747-90A7-CBD9E5DAA53E}">
      <dgm:prSet/>
      <dgm:spPr/>
      <dgm:t>
        <a:bodyPr/>
        <a:lstStyle/>
        <a:p>
          <a:pPr rtl="0"/>
          <a:r>
            <a:rPr lang="en-US" dirty="0"/>
            <a:t>Gets a memory request over the high-speed bus</a:t>
          </a:r>
        </a:p>
      </dgm:t>
    </dgm:pt>
    <dgm:pt modelId="{55B51CB4-5671-104A-8B1F-A427D1A45C07}" type="parTrans" cxnId="{E53B0A69-C1B7-464D-BCCE-42BC6EB0804D}">
      <dgm:prSet/>
      <dgm:spPr/>
      <dgm:t>
        <a:bodyPr/>
        <a:lstStyle/>
        <a:p>
          <a:endParaRPr lang="en-US"/>
        </a:p>
      </dgm:t>
    </dgm:pt>
    <dgm:pt modelId="{5E451F7B-4699-9C47-9802-E896898F3BD3}" type="sibTrans" cxnId="{E53B0A69-C1B7-464D-BCCE-42BC6EB0804D}">
      <dgm:prSet/>
      <dgm:spPr/>
      <dgm:t>
        <a:bodyPr/>
        <a:lstStyle/>
        <a:p>
          <a:endParaRPr lang="en-US"/>
        </a:p>
      </dgm:t>
    </dgm:pt>
    <dgm:pt modelId="{B6DB22E9-8C11-9442-BEFB-F5D68BF9CA3C}">
      <dgm:prSet/>
      <dgm:spPr/>
      <dgm:t>
        <a:bodyPr/>
        <a:lstStyle/>
        <a:p>
          <a:pPr rtl="0"/>
          <a:r>
            <a:rPr lang="en-US" dirty="0"/>
            <a:t>Request contains the desired address, the type of operation, and the number of bytes in the operation</a:t>
          </a:r>
        </a:p>
      </dgm:t>
    </dgm:pt>
    <dgm:pt modelId="{16175D1B-5DBA-CE4F-8DAC-E0A81D76966D}" type="parTrans" cxnId="{D5EAEA05-82D6-1E49-A8A7-3A36E6F3D729}">
      <dgm:prSet/>
      <dgm:spPr/>
      <dgm:t>
        <a:bodyPr/>
        <a:lstStyle/>
        <a:p>
          <a:endParaRPr lang="en-US"/>
        </a:p>
      </dgm:t>
    </dgm:pt>
    <dgm:pt modelId="{0124C23E-F5EF-2C47-A431-7EC20F37A99D}" type="sibTrans" cxnId="{D5EAEA05-82D6-1E49-A8A7-3A36E6F3D729}">
      <dgm:prSet/>
      <dgm:spPr/>
      <dgm:t>
        <a:bodyPr/>
        <a:lstStyle/>
        <a:p>
          <a:endParaRPr lang="en-US"/>
        </a:p>
      </dgm:t>
    </dgm:pt>
    <dgm:pt modelId="{1DF06283-F931-6544-B222-B536A667D0B2}" type="pres">
      <dgm:prSet presAssocID="{F252968C-5492-A841-9761-7340C08155A7}" presName="compositeShape" presStyleCnt="0">
        <dgm:presLayoutVars>
          <dgm:chMax val="7"/>
          <dgm:dir/>
          <dgm:resizeHandles val="exact"/>
        </dgm:presLayoutVars>
      </dgm:prSet>
      <dgm:spPr/>
    </dgm:pt>
    <dgm:pt modelId="{CFD2902B-E741-464F-B858-9C56E3E4C131}" type="pres">
      <dgm:prSet presAssocID="{3CB2E2A5-2BE4-734C-AC5F-486E24A24CA2}" presName="circ1" presStyleLbl="vennNode1" presStyleIdx="0" presStyleCnt="6"/>
      <dgm:spPr/>
    </dgm:pt>
    <dgm:pt modelId="{8EC11E3E-3ED9-C646-8999-C23416019FC1}" type="pres">
      <dgm:prSet presAssocID="{3CB2E2A5-2BE4-734C-AC5F-486E24A24CA2}" presName="circ1Tx" presStyleLbl="revTx" presStyleIdx="0" presStyleCnt="0">
        <dgm:presLayoutVars>
          <dgm:chMax val="0"/>
          <dgm:chPref val="0"/>
          <dgm:bulletEnabled val="1"/>
        </dgm:presLayoutVars>
      </dgm:prSet>
      <dgm:spPr/>
    </dgm:pt>
    <dgm:pt modelId="{0032B84C-09D1-504B-97A4-D60788A1A75F}" type="pres">
      <dgm:prSet presAssocID="{AA39A1DD-0474-904C-BDCC-ED84EBE5E467}" presName="circ2" presStyleLbl="vennNode1" presStyleIdx="1" presStyleCnt="6"/>
      <dgm:spPr/>
    </dgm:pt>
    <dgm:pt modelId="{B98C07D3-4D37-1E4A-A33F-43EC4E740016}" type="pres">
      <dgm:prSet presAssocID="{AA39A1DD-0474-904C-BDCC-ED84EBE5E467}" presName="circ2Tx" presStyleLbl="revTx" presStyleIdx="0" presStyleCnt="0">
        <dgm:presLayoutVars>
          <dgm:chMax val="0"/>
          <dgm:chPref val="0"/>
          <dgm:bulletEnabled val="1"/>
        </dgm:presLayoutVars>
      </dgm:prSet>
      <dgm:spPr/>
    </dgm:pt>
    <dgm:pt modelId="{33754A0B-882B-654B-9E3F-8B74B4E7DD3F}" type="pres">
      <dgm:prSet presAssocID="{A3032B90-58EB-0D49-8682-EB0533BAB1D4}" presName="circ3" presStyleLbl="vennNode1" presStyleIdx="2" presStyleCnt="6"/>
      <dgm:spPr/>
    </dgm:pt>
    <dgm:pt modelId="{4FB8688A-D97B-6945-8A70-2AF93B570210}" type="pres">
      <dgm:prSet presAssocID="{A3032B90-58EB-0D49-8682-EB0533BAB1D4}" presName="circ3Tx" presStyleLbl="revTx" presStyleIdx="0" presStyleCnt="0">
        <dgm:presLayoutVars>
          <dgm:chMax val="0"/>
          <dgm:chPref val="0"/>
          <dgm:bulletEnabled val="1"/>
        </dgm:presLayoutVars>
      </dgm:prSet>
      <dgm:spPr/>
    </dgm:pt>
    <dgm:pt modelId="{B6EE50AB-3A5D-9C42-B27B-0304100751AD}" type="pres">
      <dgm:prSet presAssocID="{AFD16067-9DF0-E146-9C57-98ACF9D6D854}" presName="circ4" presStyleLbl="vennNode1" presStyleIdx="3" presStyleCnt="6"/>
      <dgm:spPr/>
    </dgm:pt>
    <dgm:pt modelId="{F66940FD-8B7B-F742-9AFA-C95DC9DD422B}" type="pres">
      <dgm:prSet presAssocID="{AFD16067-9DF0-E146-9C57-98ACF9D6D854}" presName="circ4Tx" presStyleLbl="revTx" presStyleIdx="0" presStyleCnt="0">
        <dgm:presLayoutVars>
          <dgm:chMax val="0"/>
          <dgm:chPref val="0"/>
          <dgm:bulletEnabled val="1"/>
        </dgm:presLayoutVars>
      </dgm:prSet>
      <dgm:spPr/>
    </dgm:pt>
    <dgm:pt modelId="{617A31E8-9CD0-F741-91B1-5E43ADD4666F}" type="pres">
      <dgm:prSet presAssocID="{3585A296-D216-5C40-ACB6-0856FA67A4F5}" presName="circ5" presStyleLbl="vennNode1" presStyleIdx="4" presStyleCnt="6"/>
      <dgm:spPr/>
    </dgm:pt>
    <dgm:pt modelId="{1C58BF8D-6788-3F4E-B025-2F3F0AF51CC0}" type="pres">
      <dgm:prSet presAssocID="{3585A296-D216-5C40-ACB6-0856FA67A4F5}" presName="circ5Tx" presStyleLbl="revTx" presStyleIdx="0" presStyleCnt="0">
        <dgm:presLayoutVars>
          <dgm:chMax val="0"/>
          <dgm:chPref val="0"/>
          <dgm:bulletEnabled val="1"/>
        </dgm:presLayoutVars>
      </dgm:prSet>
      <dgm:spPr/>
    </dgm:pt>
    <dgm:pt modelId="{9919920A-9981-594A-80CC-08D0D37C86ED}" type="pres">
      <dgm:prSet presAssocID="{650CCBC2-4F3E-FB4B-AD54-EC423A876824}" presName="circ6" presStyleLbl="vennNode1" presStyleIdx="5" presStyleCnt="6"/>
      <dgm:spPr/>
    </dgm:pt>
    <dgm:pt modelId="{8F746B81-2869-F147-ACC5-30E73A693EC3}" type="pres">
      <dgm:prSet presAssocID="{650CCBC2-4F3E-FB4B-AD54-EC423A876824}" presName="circ6Tx" presStyleLbl="revTx" presStyleIdx="0" presStyleCnt="0">
        <dgm:presLayoutVars>
          <dgm:chMax val="0"/>
          <dgm:chPref val="0"/>
          <dgm:bulletEnabled val="1"/>
        </dgm:presLayoutVars>
      </dgm:prSet>
      <dgm:spPr/>
    </dgm:pt>
  </dgm:ptLst>
  <dgm:cxnLst>
    <dgm:cxn modelId="{D5EAEA05-82D6-1E49-A8A7-3A36E6F3D729}" srcId="{E2A7B169-1684-0747-90A7-CBD9E5DAA53E}" destId="{B6DB22E9-8C11-9442-BEFB-F5D68BF9CA3C}" srcOrd="0" destOrd="0" parTransId="{16175D1B-5DBA-CE4F-8DAC-E0A81D76966D}" sibTransId="{0124C23E-F5EF-2C47-A431-7EC20F37A99D}"/>
    <dgm:cxn modelId="{C756F11B-4AF7-C646-8261-3482A1C60825}" srcId="{F252968C-5492-A841-9761-7340C08155A7}" destId="{AFD16067-9DF0-E146-9C57-98ACF9D6D854}" srcOrd="3" destOrd="0" parTransId="{1720FF5C-888C-9D49-B487-4659623EB114}" sibTransId="{049CBE4E-8BC4-F146-990C-CE087A24DC39}"/>
    <dgm:cxn modelId="{5AF0702D-963B-8E48-9582-9A7AE19BE9FF}" srcId="{F252968C-5492-A841-9761-7340C08155A7}" destId="{AA39A1DD-0474-904C-BDCC-ED84EBE5E467}" srcOrd="1" destOrd="0" parTransId="{74E53D34-1296-4C46-B832-D6A389913080}" sibTransId="{5396A017-314D-544F-8357-3C9FB85DBAAF}"/>
    <dgm:cxn modelId="{B8AA7C38-BE6D-244D-9F39-4370B6887E42}" srcId="{AFD16067-9DF0-E146-9C57-98ACF9D6D854}" destId="{A99D7C27-4A65-D242-ACE6-BA958BD55218}" srcOrd="0" destOrd="0" parTransId="{FB9049C9-4F34-094C-B18F-A841D82454D5}" sibTransId="{0F2CD972-0658-E944-9AB8-A9AE8F34034E}"/>
    <dgm:cxn modelId="{F8BC6A42-C2C0-3C41-8A38-8547460477DB}" type="presOf" srcId="{3585A296-D216-5C40-ACB6-0856FA67A4F5}" destId="{1C58BF8D-6788-3F4E-B025-2F3F0AF51CC0}" srcOrd="0" destOrd="0" presId="urn:microsoft.com/office/officeart/2005/8/layout/venn1"/>
    <dgm:cxn modelId="{61151A45-F82C-CF4C-AFCE-A7D231391314}" type="presOf" srcId="{3CB2E2A5-2BE4-734C-AC5F-486E24A24CA2}" destId="{8EC11E3E-3ED9-C646-8999-C23416019FC1}" srcOrd="0" destOrd="0" presId="urn:microsoft.com/office/officeart/2005/8/layout/venn1"/>
    <dgm:cxn modelId="{E53B0A69-C1B7-464D-BCCE-42BC6EB0804D}" srcId="{650CCBC2-4F3E-FB4B-AD54-EC423A876824}" destId="{E2A7B169-1684-0747-90A7-CBD9E5DAA53E}" srcOrd="0" destOrd="0" parTransId="{55B51CB4-5671-104A-8B1F-A427D1A45C07}" sibTransId="{5E451F7B-4699-9C47-9802-E896898F3BD3}"/>
    <dgm:cxn modelId="{04557D4D-5A7E-334D-97CA-CD508B0B80AF}" type="presOf" srcId="{B6DB22E9-8C11-9442-BEFB-F5D68BF9CA3C}" destId="{8F746B81-2869-F147-ACC5-30E73A693EC3}" srcOrd="0" destOrd="2" presId="urn:microsoft.com/office/officeart/2005/8/layout/venn1"/>
    <dgm:cxn modelId="{3D9B8152-0DF5-4D47-86D1-BB59DEE22995}" srcId="{F252968C-5492-A841-9761-7340C08155A7}" destId="{A3032B90-58EB-0D49-8682-EB0533BAB1D4}" srcOrd="2" destOrd="0" parTransId="{B9B4C640-12D0-FF42-B962-46D9DF067470}" sibTransId="{41995D75-1062-BA43-9E89-E456B5B21581}"/>
    <dgm:cxn modelId="{97EDAE59-A2A3-374A-A4B2-04D5134D17DB}" type="presOf" srcId="{A3032B90-58EB-0D49-8682-EB0533BAB1D4}" destId="{4FB8688A-D97B-6945-8A70-2AF93B570210}" srcOrd="0" destOrd="0" presId="urn:microsoft.com/office/officeart/2005/8/layout/venn1"/>
    <dgm:cxn modelId="{C916337B-3E21-F94B-A3D9-616270A65FAE}" srcId="{F252968C-5492-A841-9761-7340C08155A7}" destId="{3585A296-D216-5C40-ACB6-0856FA67A4F5}" srcOrd="4" destOrd="0" parTransId="{126AD7A6-D5ED-A749-BD29-0C88806D4620}" sibTransId="{62109C25-FDC9-1D4F-B2B2-4EED0A1B398B}"/>
    <dgm:cxn modelId="{F0A49F8B-6345-E34A-B85F-ECD2E110B666}" srcId="{F252968C-5492-A841-9761-7340C08155A7}" destId="{650CCBC2-4F3E-FB4B-AD54-EC423A876824}" srcOrd="5" destOrd="0" parTransId="{7A20264E-0B38-3343-8CD1-2AFD0F7E75DE}" sibTransId="{5ED9AB13-6902-2F4A-BA2E-9CDB8AB76C71}"/>
    <dgm:cxn modelId="{29A9E69B-27ED-6F44-A171-A54650E24F2B}" type="presOf" srcId="{E2A7B169-1684-0747-90A7-CBD9E5DAA53E}" destId="{8F746B81-2869-F147-ACC5-30E73A693EC3}" srcOrd="0" destOrd="1" presId="urn:microsoft.com/office/officeart/2005/8/layout/venn1"/>
    <dgm:cxn modelId="{D1E9849D-E303-AD42-971D-82B934ED4998}" type="presOf" srcId="{AA39A1DD-0474-904C-BDCC-ED84EBE5E467}" destId="{B98C07D3-4D37-1E4A-A33F-43EC4E740016}" srcOrd="0" destOrd="0" presId="urn:microsoft.com/office/officeart/2005/8/layout/venn1"/>
    <dgm:cxn modelId="{21F4DCA2-1A1D-F04F-8F40-9E57F9434132}" type="presOf" srcId="{F252968C-5492-A841-9761-7340C08155A7}" destId="{1DF06283-F931-6544-B222-B536A667D0B2}" srcOrd="0" destOrd="0" presId="urn:microsoft.com/office/officeart/2005/8/layout/venn1"/>
    <dgm:cxn modelId="{3D9BF9A7-D8FC-5845-9A6D-A08FC5397EC9}" type="presOf" srcId="{650CCBC2-4F3E-FB4B-AD54-EC423A876824}" destId="{8F746B81-2869-F147-ACC5-30E73A693EC3}" srcOrd="0" destOrd="0" presId="urn:microsoft.com/office/officeart/2005/8/layout/venn1"/>
    <dgm:cxn modelId="{BBF2F4C8-EAE5-D145-970E-71E52C960ACB}" srcId="{F252968C-5492-A841-9761-7340C08155A7}" destId="{3CB2E2A5-2BE4-734C-AC5F-486E24A24CA2}" srcOrd="0" destOrd="0" parTransId="{9172D2B7-41D9-B042-9C4F-802C29EF9176}" sibTransId="{C4AF1E9C-B4D6-1F4F-AEB1-4EE3F8057CD5}"/>
    <dgm:cxn modelId="{B0B366D8-CE9B-DA4B-B960-BD7807AA59B1}" type="presOf" srcId="{AFD16067-9DF0-E146-9C57-98ACF9D6D854}" destId="{F66940FD-8B7B-F742-9AFA-C95DC9DD422B}" srcOrd="0" destOrd="0" presId="urn:microsoft.com/office/officeart/2005/8/layout/venn1"/>
    <dgm:cxn modelId="{75C610F5-C4C1-514F-BC01-57E729ECD879}" type="presOf" srcId="{A99D7C27-4A65-D242-ACE6-BA958BD55218}" destId="{F66940FD-8B7B-F742-9AFA-C95DC9DD422B}" srcOrd="0" destOrd="1" presId="urn:microsoft.com/office/officeart/2005/8/layout/venn1"/>
    <dgm:cxn modelId="{838BD365-B31D-A24A-8368-627EE59978A4}" type="presParOf" srcId="{1DF06283-F931-6544-B222-B536A667D0B2}" destId="{CFD2902B-E741-464F-B858-9C56E3E4C131}" srcOrd="0" destOrd="0" presId="urn:microsoft.com/office/officeart/2005/8/layout/venn1"/>
    <dgm:cxn modelId="{C5EA08DD-9979-4E44-B275-2A18000734F5}" type="presParOf" srcId="{1DF06283-F931-6544-B222-B536A667D0B2}" destId="{8EC11E3E-3ED9-C646-8999-C23416019FC1}" srcOrd="1" destOrd="0" presId="urn:microsoft.com/office/officeart/2005/8/layout/venn1"/>
    <dgm:cxn modelId="{5FA2316E-967D-994E-88D3-D5BDDE2D537B}" type="presParOf" srcId="{1DF06283-F931-6544-B222-B536A667D0B2}" destId="{0032B84C-09D1-504B-97A4-D60788A1A75F}" srcOrd="2" destOrd="0" presId="urn:microsoft.com/office/officeart/2005/8/layout/venn1"/>
    <dgm:cxn modelId="{8682F5E1-D369-CF44-A3D2-A649C73A1CC7}" type="presParOf" srcId="{1DF06283-F931-6544-B222-B536A667D0B2}" destId="{B98C07D3-4D37-1E4A-A33F-43EC4E740016}" srcOrd="3" destOrd="0" presId="urn:microsoft.com/office/officeart/2005/8/layout/venn1"/>
    <dgm:cxn modelId="{80750A9B-123C-2B4E-8E07-EEDA7F11D036}" type="presParOf" srcId="{1DF06283-F931-6544-B222-B536A667D0B2}" destId="{33754A0B-882B-654B-9E3F-8B74B4E7DD3F}" srcOrd="4" destOrd="0" presId="urn:microsoft.com/office/officeart/2005/8/layout/venn1"/>
    <dgm:cxn modelId="{D53D4E86-0185-364B-94FB-49019740F0BE}" type="presParOf" srcId="{1DF06283-F931-6544-B222-B536A667D0B2}" destId="{4FB8688A-D97B-6945-8A70-2AF93B570210}" srcOrd="5" destOrd="0" presId="urn:microsoft.com/office/officeart/2005/8/layout/venn1"/>
    <dgm:cxn modelId="{E106206E-577D-2C4B-B2ED-B33ED39D0DB5}" type="presParOf" srcId="{1DF06283-F931-6544-B222-B536A667D0B2}" destId="{B6EE50AB-3A5D-9C42-B27B-0304100751AD}" srcOrd="6" destOrd="0" presId="urn:microsoft.com/office/officeart/2005/8/layout/venn1"/>
    <dgm:cxn modelId="{82060B39-D9A1-0D45-9BB2-A10F0AFFA553}" type="presParOf" srcId="{1DF06283-F931-6544-B222-B536A667D0B2}" destId="{F66940FD-8B7B-F742-9AFA-C95DC9DD422B}" srcOrd="7" destOrd="0" presId="urn:microsoft.com/office/officeart/2005/8/layout/venn1"/>
    <dgm:cxn modelId="{E3683362-639C-9E45-9AB2-2C876095092E}" type="presParOf" srcId="{1DF06283-F931-6544-B222-B536A667D0B2}" destId="{617A31E8-9CD0-F741-91B1-5E43ADD4666F}" srcOrd="8" destOrd="0" presId="urn:microsoft.com/office/officeart/2005/8/layout/venn1"/>
    <dgm:cxn modelId="{548318F6-7750-FC4E-8028-5D551763D4D3}" type="presParOf" srcId="{1DF06283-F931-6544-B222-B536A667D0B2}" destId="{1C58BF8D-6788-3F4E-B025-2F3F0AF51CC0}" srcOrd="9" destOrd="0" presId="urn:microsoft.com/office/officeart/2005/8/layout/venn1"/>
    <dgm:cxn modelId="{F5CD2CEF-3FDD-DC42-8419-10DC618AAD20}" type="presParOf" srcId="{1DF06283-F931-6544-B222-B536A667D0B2}" destId="{9919920A-9981-594A-80CC-08D0D37C86ED}" srcOrd="10" destOrd="0" presId="urn:microsoft.com/office/officeart/2005/8/layout/venn1"/>
    <dgm:cxn modelId="{9E50D7DC-0DA1-A345-91D2-B9B281A7B314}" type="presParOf" srcId="{1DF06283-F931-6544-B222-B536A667D0B2}" destId="{8F746B81-2869-F147-ACC5-30E73A693EC3}" srcOrd="11"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1E5B8F-DCD7-AF41-837F-D9BECF9DFF49}">
      <dsp:nvSpPr>
        <dsp:cNvPr id="0" name=""/>
        <dsp:cNvSpPr/>
      </dsp:nvSpPr>
      <dsp:spPr>
        <a:xfrm>
          <a:off x="1041" y="0"/>
          <a:ext cx="2708671" cy="5105400"/>
        </a:xfrm>
        <a:prstGeom prst="roundRect">
          <a:avLst>
            <a:gd name="adj" fmla="val 10000"/>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US" sz="4400" kern="1200" dirty="0">
              <a:effectLst>
                <a:outerShdw blurRad="38100" dist="38100" dir="2700000" algn="tl">
                  <a:srgbClr val="000000">
                    <a:alpha val="43137"/>
                  </a:srgbClr>
                </a:outerShdw>
              </a:effectLst>
            </a:rPr>
            <a:t>EPROM</a:t>
          </a:r>
        </a:p>
      </dsp:txBody>
      <dsp:txXfrm>
        <a:off x="1041" y="0"/>
        <a:ext cx="2708671" cy="1531620"/>
      </dsp:txXfrm>
    </dsp:sp>
    <dsp:sp modelId="{9A46DF24-6254-7645-B937-0A6718251E0E}">
      <dsp:nvSpPr>
        <dsp:cNvPr id="0" name=""/>
        <dsp:cNvSpPr/>
      </dsp:nvSpPr>
      <dsp:spPr>
        <a:xfrm>
          <a:off x="271908" y="1532056"/>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Erasable programmable read-only memory</a:t>
          </a:r>
        </a:p>
      </dsp:txBody>
      <dsp:txXfrm>
        <a:off x="301285" y="1561433"/>
        <a:ext cx="2108183" cy="944252"/>
      </dsp:txXfrm>
    </dsp:sp>
    <dsp:sp modelId="{2E09FDE4-D0D4-534C-925E-72DB36DC377B}">
      <dsp:nvSpPr>
        <dsp:cNvPr id="0" name=""/>
        <dsp:cNvSpPr/>
      </dsp:nvSpPr>
      <dsp:spPr>
        <a:xfrm>
          <a:off x="271908" y="2689371"/>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Erasure process can be performed repeatedly</a:t>
          </a:r>
        </a:p>
      </dsp:txBody>
      <dsp:txXfrm>
        <a:off x="301285" y="2718748"/>
        <a:ext cx="2108183" cy="944252"/>
      </dsp:txXfrm>
    </dsp:sp>
    <dsp:sp modelId="{6EA9746E-83BF-C141-962A-D5914E659DB9}">
      <dsp:nvSpPr>
        <dsp:cNvPr id="0" name=""/>
        <dsp:cNvSpPr/>
      </dsp:nvSpPr>
      <dsp:spPr>
        <a:xfrm>
          <a:off x="271908" y="3846687"/>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More expensive than PROM but it has the advantage of the multiple update capability </a:t>
          </a:r>
        </a:p>
      </dsp:txBody>
      <dsp:txXfrm>
        <a:off x="301285" y="3876064"/>
        <a:ext cx="2108183" cy="944252"/>
      </dsp:txXfrm>
    </dsp:sp>
    <dsp:sp modelId="{06A8ABCA-51AB-7C44-A93E-8766E44BBFCB}">
      <dsp:nvSpPr>
        <dsp:cNvPr id="0" name=""/>
        <dsp:cNvSpPr/>
      </dsp:nvSpPr>
      <dsp:spPr>
        <a:xfrm>
          <a:off x="2912864" y="0"/>
          <a:ext cx="2708671" cy="5105400"/>
        </a:xfrm>
        <a:prstGeom prst="roundRect">
          <a:avLst>
            <a:gd name="adj" fmla="val 10000"/>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US" sz="4400" kern="1200" dirty="0">
              <a:effectLst>
                <a:outerShdw blurRad="38100" dist="38100" dir="2700000" algn="tl">
                  <a:srgbClr val="000000">
                    <a:alpha val="43137"/>
                  </a:srgbClr>
                </a:outerShdw>
              </a:effectLst>
            </a:rPr>
            <a:t>EEPROM</a:t>
          </a:r>
        </a:p>
      </dsp:txBody>
      <dsp:txXfrm>
        <a:off x="2912864" y="0"/>
        <a:ext cx="2708671" cy="1531620"/>
      </dsp:txXfrm>
    </dsp:sp>
    <dsp:sp modelId="{BD02C517-69F7-5D4E-A179-BA93C73CFD2C}">
      <dsp:nvSpPr>
        <dsp:cNvPr id="0" name=""/>
        <dsp:cNvSpPr/>
      </dsp:nvSpPr>
      <dsp:spPr>
        <a:xfrm>
          <a:off x="3183731" y="1531744"/>
          <a:ext cx="2166937" cy="74374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Electrically erasable programmable read-only memory</a:t>
          </a:r>
        </a:p>
      </dsp:txBody>
      <dsp:txXfrm>
        <a:off x="3205515" y="1553528"/>
        <a:ext cx="2123369" cy="700180"/>
      </dsp:txXfrm>
    </dsp:sp>
    <dsp:sp modelId="{1E8C0409-4787-3248-94C2-AEB8C99A4F95}">
      <dsp:nvSpPr>
        <dsp:cNvPr id="0" name=""/>
        <dsp:cNvSpPr/>
      </dsp:nvSpPr>
      <dsp:spPr>
        <a:xfrm>
          <a:off x="3183731" y="2389915"/>
          <a:ext cx="2166937" cy="74374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Can be written into at any time without erasing prior contents</a:t>
          </a:r>
        </a:p>
      </dsp:txBody>
      <dsp:txXfrm>
        <a:off x="3205515" y="2411699"/>
        <a:ext cx="2123369" cy="700180"/>
      </dsp:txXfrm>
    </dsp:sp>
    <dsp:sp modelId="{482E95BE-A6F3-634C-BDD0-F34D94BB52CE}">
      <dsp:nvSpPr>
        <dsp:cNvPr id="0" name=""/>
        <dsp:cNvSpPr/>
      </dsp:nvSpPr>
      <dsp:spPr>
        <a:xfrm>
          <a:off x="3183731" y="3248086"/>
          <a:ext cx="2166937" cy="74374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Combines the advantage of non-volatility with the flexibility of being updatable in place</a:t>
          </a:r>
        </a:p>
      </dsp:txBody>
      <dsp:txXfrm>
        <a:off x="3205515" y="3269870"/>
        <a:ext cx="2123369" cy="700180"/>
      </dsp:txXfrm>
    </dsp:sp>
    <dsp:sp modelId="{408F0A18-5EE1-CE4C-9645-EA7FCA285619}">
      <dsp:nvSpPr>
        <dsp:cNvPr id="0" name=""/>
        <dsp:cNvSpPr/>
      </dsp:nvSpPr>
      <dsp:spPr>
        <a:xfrm>
          <a:off x="3183731" y="4106257"/>
          <a:ext cx="2166937" cy="743748"/>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More expensive than EPROM </a:t>
          </a:r>
        </a:p>
      </dsp:txBody>
      <dsp:txXfrm>
        <a:off x="3205515" y="4128041"/>
        <a:ext cx="2123369" cy="700180"/>
      </dsp:txXfrm>
    </dsp:sp>
    <dsp:sp modelId="{48677A78-52B6-7B45-9BF1-CBA2C4872099}">
      <dsp:nvSpPr>
        <dsp:cNvPr id="0" name=""/>
        <dsp:cNvSpPr/>
      </dsp:nvSpPr>
      <dsp:spPr>
        <a:xfrm>
          <a:off x="5824686" y="0"/>
          <a:ext cx="2708671" cy="5105400"/>
        </a:xfrm>
        <a:prstGeom prst="roundRect">
          <a:avLst>
            <a:gd name="adj" fmla="val 10000"/>
          </a:avLst>
        </a:prstGeom>
        <a:solidFill>
          <a:schemeClr val="accent1">
            <a:tint val="40000"/>
            <a:hueOff val="0"/>
            <a:satOff val="0"/>
            <a:lumOff val="0"/>
            <a:alphaOff val="0"/>
          </a:schemeClr>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1">
          <a:scrgbClr r="0" g="0" b="0"/>
        </a:fillRef>
        <a:effectRef idx="2">
          <a:scrgbClr r="0" g="0" b="0"/>
        </a:effectRef>
        <a:fontRef idx="minor"/>
      </dsp:style>
      <dsp:txBody>
        <a:bodyPr spcFirstLastPara="0" vert="horz" wrap="square" lIns="167640" tIns="167640" rIns="167640" bIns="167640" numCol="1" spcCol="1270" anchor="ctr" anchorCtr="0">
          <a:noAutofit/>
        </a:bodyPr>
        <a:lstStyle/>
        <a:p>
          <a:pPr marL="0" lvl="0" indent="0" algn="ctr" defTabSz="1955800" rtl="0">
            <a:lnSpc>
              <a:spcPct val="90000"/>
            </a:lnSpc>
            <a:spcBef>
              <a:spcPct val="0"/>
            </a:spcBef>
            <a:spcAft>
              <a:spcPct val="35000"/>
            </a:spcAft>
            <a:buNone/>
          </a:pPr>
          <a:r>
            <a:rPr lang="en-US" sz="4400" kern="1200" dirty="0">
              <a:effectLst>
                <a:outerShdw blurRad="38100" dist="38100" dir="2700000" algn="tl">
                  <a:srgbClr val="000000">
                    <a:alpha val="43137"/>
                  </a:srgbClr>
                </a:outerShdw>
              </a:effectLst>
            </a:rPr>
            <a:t>Flash Memory</a:t>
          </a:r>
        </a:p>
      </dsp:txBody>
      <dsp:txXfrm>
        <a:off x="5824686" y="0"/>
        <a:ext cx="2708671" cy="1531620"/>
      </dsp:txXfrm>
    </dsp:sp>
    <dsp:sp modelId="{BF72B8B5-A8A6-834B-A98F-81FAF85D1BED}">
      <dsp:nvSpPr>
        <dsp:cNvPr id="0" name=""/>
        <dsp:cNvSpPr/>
      </dsp:nvSpPr>
      <dsp:spPr>
        <a:xfrm>
          <a:off x="6095553" y="1532056"/>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Intermediate between EPROM and EEPROM in both cost and functionality</a:t>
          </a:r>
        </a:p>
      </dsp:txBody>
      <dsp:txXfrm>
        <a:off x="6124930" y="1561433"/>
        <a:ext cx="2108183" cy="944252"/>
      </dsp:txXfrm>
    </dsp:sp>
    <dsp:sp modelId="{0A9157C7-4363-1844-9081-88D1FC6FF148}">
      <dsp:nvSpPr>
        <dsp:cNvPr id="0" name=""/>
        <dsp:cNvSpPr/>
      </dsp:nvSpPr>
      <dsp:spPr>
        <a:xfrm>
          <a:off x="6095553" y="2689371"/>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Uses an electrical erasing technology, does not provide byte-level erasure</a:t>
          </a:r>
        </a:p>
      </dsp:txBody>
      <dsp:txXfrm>
        <a:off x="6124930" y="2718748"/>
        <a:ext cx="2108183" cy="944252"/>
      </dsp:txXfrm>
    </dsp:sp>
    <dsp:sp modelId="{73C35733-9ED5-034E-91F6-DD776EDA2725}">
      <dsp:nvSpPr>
        <dsp:cNvPr id="0" name=""/>
        <dsp:cNvSpPr/>
      </dsp:nvSpPr>
      <dsp:spPr>
        <a:xfrm>
          <a:off x="6095553" y="3846687"/>
          <a:ext cx="2166937" cy="1003006"/>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solidFill>
            <a:schemeClr val="accent1"/>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2860" rIns="30480" bIns="22860" numCol="1" spcCol="1270" anchor="ctr" anchorCtr="0">
          <a:noAutofit/>
        </a:bodyPr>
        <a:lstStyle/>
        <a:p>
          <a:pPr marL="0" lvl="0" indent="0" algn="ctr" defTabSz="533400" rtl="0">
            <a:lnSpc>
              <a:spcPct val="90000"/>
            </a:lnSpc>
            <a:spcBef>
              <a:spcPct val="0"/>
            </a:spcBef>
            <a:spcAft>
              <a:spcPct val="35000"/>
            </a:spcAft>
            <a:buNone/>
          </a:pPr>
          <a:r>
            <a:rPr lang="en-US" sz="1200" b="1" kern="1200" dirty="0">
              <a:effectLst>
                <a:outerShdw blurRad="38100" dist="38100" dir="2700000" algn="tl">
                  <a:srgbClr val="000000">
                    <a:alpha val="43137"/>
                  </a:srgbClr>
                </a:outerShdw>
              </a:effectLst>
            </a:rPr>
            <a:t>Microchip is organized so that a section of memory cells are erased in a single action or “flash”</a:t>
          </a:r>
        </a:p>
      </dsp:txBody>
      <dsp:txXfrm>
        <a:off x="6124930" y="3876064"/>
        <a:ext cx="2108183" cy="944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BCEDA-1B03-9849-8E13-497008088137}">
      <dsp:nvSpPr>
        <dsp:cNvPr id="0" name=""/>
        <dsp:cNvSpPr/>
      </dsp:nvSpPr>
      <dsp:spPr>
        <a:xfrm>
          <a:off x="1141986" y="1252139"/>
          <a:ext cx="4353948" cy="4353948"/>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B34A8773-C811-0D46-9EEB-711305802ED6}">
      <dsp:nvSpPr>
        <dsp:cNvPr id="0" name=""/>
        <dsp:cNvSpPr/>
      </dsp:nvSpPr>
      <dsp:spPr>
        <a:xfrm>
          <a:off x="1625637" y="1735790"/>
          <a:ext cx="3386645" cy="3386645"/>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AAD596D2-E62A-0548-828D-4DCC653CC72D}">
      <dsp:nvSpPr>
        <dsp:cNvPr id="0" name=""/>
        <dsp:cNvSpPr/>
      </dsp:nvSpPr>
      <dsp:spPr>
        <a:xfrm>
          <a:off x="2109288" y="2219441"/>
          <a:ext cx="2419343" cy="2419343"/>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2AEFFE6D-02DD-AC47-A7D7-6F0F49D69E25}">
      <dsp:nvSpPr>
        <dsp:cNvPr id="0" name=""/>
        <dsp:cNvSpPr/>
      </dsp:nvSpPr>
      <dsp:spPr>
        <a:xfrm>
          <a:off x="2593302" y="2703455"/>
          <a:ext cx="1451316" cy="1451316"/>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91CD37D8-A6C9-7347-9185-E44226E72FC7}">
      <dsp:nvSpPr>
        <dsp:cNvPr id="0" name=""/>
        <dsp:cNvSpPr/>
      </dsp:nvSpPr>
      <dsp:spPr>
        <a:xfrm>
          <a:off x="3076953" y="3187106"/>
          <a:ext cx="484013" cy="484013"/>
        </a:xfrm>
        <a:prstGeom prst="ellipse">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w="12700" cap="flat" cmpd="sng" algn="ctr">
          <a:solidFill>
            <a:schemeClr val="lt1">
              <a:hueOff val="0"/>
              <a:satOff val="0"/>
              <a:lumOff val="0"/>
              <a:alphaOff val="0"/>
            </a:scheme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7F2462F4-CE27-CB47-B974-0D649D5F1522}">
      <dsp:nvSpPr>
        <dsp:cNvPr id="0" name=""/>
        <dsp:cNvSpPr/>
      </dsp:nvSpPr>
      <dsp:spPr>
        <a:xfrm>
          <a:off x="6221592" y="275723"/>
          <a:ext cx="2176974" cy="712661"/>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b="1" kern="1200" dirty="0">
              <a:solidFill>
                <a:srgbClr val="FF0000"/>
              </a:solidFill>
            </a:rPr>
            <a:t>Composed of a collection of DRAM chips</a:t>
          </a:r>
        </a:p>
      </dsp:txBody>
      <dsp:txXfrm>
        <a:off x="6221592" y="275723"/>
        <a:ext cx="2176974" cy="712661"/>
      </dsp:txXfrm>
    </dsp:sp>
    <dsp:sp modelId="{ECCACFBC-6FE8-3A49-AD2B-79E2DA2407EC}">
      <dsp:nvSpPr>
        <dsp:cNvPr id="0" name=""/>
        <dsp:cNvSpPr/>
      </dsp:nvSpPr>
      <dsp:spPr>
        <a:xfrm>
          <a:off x="5677348" y="555507"/>
          <a:ext cx="544243" cy="0"/>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F321CC0B-6111-EA4D-945B-E997A707C6AB}">
      <dsp:nvSpPr>
        <dsp:cNvPr id="0" name=""/>
        <dsp:cNvSpPr/>
      </dsp:nvSpPr>
      <dsp:spPr>
        <a:xfrm rot="5400000">
          <a:off x="3059537" y="814930"/>
          <a:ext cx="2873605" cy="2354760"/>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CC87624B-73C2-8F41-B7C2-96066902C80B}">
      <dsp:nvSpPr>
        <dsp:cNvPr id="0" name=""/>
        <dsp:cNvSpPr/>
      </dsp:nvSpPr>
      <dsp:spPr>
        <a:xfrm>
          <a:off x="6221592" y="1122533"/>
          <a:ext cx="2176974" cy="491422"/>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GB" sz="1600" b="1" kern="1200" dirty="0">
              <a:solidFill>
                <a:srgbClr val="008000"/>
              </a:solidFill>
            </a:rPr>
            <a:t>Grouped together to form a </a:t>
          </a:r>
          <a:r>
            <a:rPr lang="en-GB" sz="1600" b="1" i="1" kern="1200" dirty="0">
              <a:solidFill>
                <a:srgbClr val="008000"/>
              </a:solidFill>
            </a:rPr>
            <a:t>memory bank</a:t>
          </a:r>
        </a:p>
      </dsp:txBody>
      <dsp:txXfrm>
        <a:off x="6221592" y="1122533"/>
        <a:ext cx="2176974" cy="491422"/>
      </dsp:txXfrm>
    </dsp:sp>
    <dsp:sp modelId="{FD651CF9-2939-7340-9033-50955A68CD2B}">
      <dsp:nvSpPr>
        <dsp:cNvPr id="0" name=""/>
        <dsp:cNvSpPr/>
      </dsp:nvSpPr>
      <dsp:spPr>
        <a:xfrm>
          <a:off x="5677348" y="1368244"/>
          <a:ext cx="544243" cy="0"/>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C67BBE53-21DC-E045-A630-D12DE591D833}">
      <dsp:nvSpPr>
        <dsp:cNvPr id="0" name=""/>
        <dsp:cNvSpPr/>
      </dsp:nvSpPr>
      <dsp:spPr>
        <a:xfrm rot="5400000">
          <a:off x="3481797" y="1565913"/>
          <a:ext cx="2392639" cy="1995559"/>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8EC32DAD-B60A-E04E-9CBE-3880F576FF1B}">
      <dsp:nvSpPr>
        <dsp:cNvPr id="0" name=""/>
        <dsp:cNvSpPr/>
      </dsp:nvSpPr>
      <dsp:spPr>
        <a:xfrm>
          <a:off x="6221592" y="1747093"/>
          <a:ext cx="2176974" cy="867776"/>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b="1" kern="1200" dirty="0">
              <a:solidFill>
                <a:srgbClr val="0000CC"/>
              </a:solidFill>
            </a:rPr>
            <a:t>Each bank is independently able to service a memory read or write request</a:t>
          </a:r>
        </a:p>
      </dsp:txBody>
      <dsp:txXfrm>
        <a:off x="6221592" y="1747093"/>
        <a:ext cx="2176974" cy="867776"/>
      </dsp:txXfrm>
    </dsp:sp>
    <dsp:sp modelId="{48737FD0-232D-2342-9E7D-C70474E38A8F}">
      <dsp:nvSpPr>
        <dsp:cNvPr id="0" name=""/>
        <dsp:cNvSpPr/>
      </dsp:nvSpPr>
      <dsp:spPr>
        <a:xfrm>
          <a:off x="5677348" y="2180981"/>
          <a:ext cx="544243" cy="0"/>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B14A19D7-85D7-814F-8401-2C8DDF90F3FB}">
      <dsp:nvSpPr>
        <dsp:cNvPr id="0" name=""/>
        <dsp:cNvSpPr/>
      </dsp:nvSpPr>
      <dsp:spPr>
        <a:xfrm rot="5400000">
          <a:off x="3895858" y="2286201"/>
          <a:ext cx="1886710" cy="1676269"/>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835CBABC-C4E5-3D41-92E3-3EE99DB441F4}">
      <dsp:nvSpPr>
        <dsp:cNvPr id="0" name=""/>
        <dsp:cNvSpPr/>
      </dsp:nvSpPr>
      <dsp:spPr>
        <a:xfrm>
          <a:off x="6221592" y="2739983"/>
          <a:ext cx="2176974" cy="1358330"/>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US" sz="1600" b="1" i="1" kern="1200" dirty="0">
              <a:solidFill>
                <a:srgbClr val="FF0000"/>
              </a:solidFill>
            </a:rPr>
            <a:t>K</a:t>
          </a:r>
          <a:r>
            <a:rPr lang="en-US" sz="1600" b="1" kern="1200" dirty="0">
              <a:solidFill>
                <a:srgbClr val="FF0000"/>
              </a:solidFill>
            </a:rPr>
            <a:t> banks can service </a:t>
          </a:r>
          <a:r>
            <a:rPr lang="en-US" sz="1600" b="1" i="1" kern="1200" dirty="0">
              <a:solidFill>
                <a:srgbClr val="FF0000"/>
              </a:solidFill>
            </a:rPr>
            <a:t>K</a:t>
          </a:r>
          <a:r>
            <a:rPr lang="en-US" sz="1600" b="1" kern="1200" dirty="0">
              <a:solidFill>
                <a:srgbClr val="FF0000"/>
              </a:solidFill>
            </a:rPr>
            <a:t> requests simultaneously, increasing memory read or write rates by a factor of </a:t>
          </a:r>
          <a:r>
            <a:rPr lang="en-US" sz="1600" b="1" i="1" kern="1200" dirty="0">
              <a:solidFill>
                <a:srgbClr val="FF0000"/>
              </a:solidFill>
            </a:rPr>
            <a:t>K</a:t>
          </a:r>
          <a:endParaRPr lang="en-US" sz="1600" b="1" kern="1200" dirty="0">
            <a:solidFill>
              <a:srgbClr val="FF0000"/>
            </a:solidFill>
          </a:endParaRPr>
        </a:p>
      </dsp:txBody>
      <dsp:txXfrm>
        <a:off x="6221592" y="2739983"/>
        <a:ext cx="2176974" cy="1358330"/>
      </dsp:txXfrm>
    </dsp:sp>
    <dsp:sp modelId="{7CDB84B8-63BA-6048-9CBF-1CBC25592950}">
      <dsp:nvSpPr>
        <dsp:cNvPr id="0" name=""/>
        <dsp:cNvSpPr/>
      </dsp:nvSpPr>
      <dsp:spPr>
        <a:xfrm>
          <a:off x="5677348" y="2976302"/>
          <a:ext cx="544243" cy="0"/>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C34E5CC8-DFB0-FC49-82AD-56653AEAF9C3}">
      <dsp:nvSpPr>
        <dsp:cNvPr id="0" name=""/>
        <dsp:cNvSpPr/>
      </dsp:nvSpPr>
      <dsp:spPr>
        <a:xfrm rot="5400000">
          <a:off x="4308031" y="3046691"/>
          <a:ext cx="1439705" cy="1298927"/>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BC08C46E-80F6-6844-97EA-EFF90289CFDD}">
      <dsp:nvSpPr>
        <dsp:cNvPr id="0" name=""/>
        <dsp:cNvSpPr/>
      </dsp:nvSpPr>
      <dsp:spPr>
        <a:xfrm>
          <a:off x="6238289" y="4098319"/>
          <a:ext cx="2176974" cy="1143955"/>
        </a:xfrm>
        <a:prstGeom prst="rect">
          <a:avLst/>
        </a:prstGeom>
        <a:solidFill>
          <a:schemeClr val="accent6">
            <a:lumMod val="20000"/>
            <a:lumOff val="8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ctr" anchorCtr="0">
          <a:noAutofit/>
        </a:bodyPr>
        <a:lstStyle/>
        <a:p>
          <a:pPr marL="0" lvl="0" indent="0" algn="l" defTabSz="711200" rtl="0">
            <a:lnSpc>
              <a:spcPct val="90000"/>
            </a:lnSpc>
            <a:spcBef>
              <a:spcPct val="0"/>
            </a:spcBef>
            <a:spcAft>
              <a:spcPct val="35000"/>
            </a:spcAft>
            <a:buNone/>
          </a:pPr>
          <a:r>
            <a:rPr lang="en-GB" sz="1600" b="1" kern="1200" dirty="0">
              <a:solidFill>
                <a:srgbClr val="008000"/>
              </a:solidFill>
            </a:rPr>
            <a:t>If consecutive words of memory are stored in different banks, the transfer of a block of memory is speeded up</a:t>
          </a:r>
        </a:p>
      </dsp:txBody>
      <dsp:txXfrm>
        <a:off x="6238289" y="4098319"/>
        <a:ext cx="2176974" cy="1143955"/>
      </dsp:txXfrm>
    </dsp:sp>
    <dsp:sp modelId="{926DDFCA-82BF-8A4A-A31C-77A5937B820B}">
      <dsp:nvSpPr>
        <dsp:cNvPr id="0" name=""/>
        <dsp:cNvSpPr/>
      </dsp:nvSpPr>
      <dsp:spPr>
        <a:xfrm>
          <a:off x="5548049" y="5344685"/>
          <a:ext cx="677719" cy="460578"/>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 modelId="{F84305B1-C966-5546-B34F-EA12E90FF450}">
      <dsp:nvSpPr>
        <dsp:cNvPr id="0" name=""/>
        <dsp:cNvSpPr/>
      </dsp:nvSpPr>
      <dsp:spPr>
        <a:xfrm rot="5400000">
          <a:off x="4940434" y="3924391"/>
          <a:ext cx="530473" cy="663942"/>
        </a:xfrm>
        <a:prstGeom prst="line">
          <a:avLst/>
        </a:prstGeom>
        <a:solidFill>
          <a:schemeClr val="accent1">
            <a:hueOff val="0"/>
            <a:satOff val="0"/>
            <a:lumOff val="0"/>
            <a:alphaOff val="0"/>
          </a:schemeClr>
        </a:solidFill>
        <a:ln w="25400" cap="flat" cmpd="sng" algn="ctr">
          <a:solidFill>
            <a:schemeClr val="accent3"/>
          </a:solidFill>
          <a:prstDash val="solid"/>
        </a:ln>
        <a:effectLst/>
      </dsp:spPr>
      <dsp:style>
        <a:lnRef idx="2">
          <a:scrgbClr r="0" g="0" b="0"/>
        </a:lnRef>
        <a:fillRef idx="1">
          <a:scrgbClr r="0" g="0" b="0"/>
        </a:fillRef>
        <a:effectRef idx="1">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9FECDC-F79B-B344-8AF2-2E06E96ADAA6}">
      <dsp:nvSpPr>
        <dsp:cNvPr id="0" name=""/>
        <dsp:cNvSpPr/>
      </dsp:nvSpPr>
      <dsp:spPr>
        <a:xfrm>
          <a:off x="-297895" y="165742"/>
          <a:ext cx="8308716" cy="539083"/>
        </a:xfrm>
        <a:prstGeom prst="roundRect">
          <a:avLst>
            <a:gd name="adj" fmla="val 10000"/>
          </a:avLst>
        </a:prstGeom>
        <a:solidFill>
          <a:schemeClr val="accent3"/>
        </a:solidFill>
        <a:ln>
          <a:solidFill>
            <a:schemeClr val="accent3"/>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One of the most widely used forms of DRAM</a:t>
          </a:r>
        </a:p>
      </dsp:txBody>
      <dsp:txXfrm>
        <a:off x="-282106" y="181531"/>
        <a:ext cx="6380041" cy="507505"/>
      </dsp:txXfrm>
    </dsp:sp>
    <dsp:sp modelId="{29FC9BE3-5D17-D947-B223-5867698AAC28}">
      <dsp:nvSpPr>
        <dsp:cNvPr id="0" name=""/>
        <dsp:cNvSpPr/>
      </dsp:nvSpPr>
      <dsp:spPr>
        <a:xfrm>
          <a:off x="104572" y="1086807"/>
          <a:ext cx="8018184" cy="1623060"/>
        </a:xfrm>
        <a:prstGeom prst="roundRect">
          <a:avLst>
            <a:gd name="adj" fmla="val 10000"/>
          </a:avLst>
        </a:prstGeom>
        <a:gradFill rotWithShape="0">
          <a:gsLst>
            <a:gs pos="0">
              <a:schemeClr val="accent1">
                <a:hueOff val="0"/>
                <a:satOff val="0"/>
                <a:lumOff val="0"/>
                <a:alphaOff val="0"/>
                <a:shade val="40000"/>
                <a:alpha val="100000"/>
                <a:satMod val="150000"/>
                <a:lumMod val="100000"/>
              </a:schemeClr>
            </a:gs>
            <a:gs pos="100000">
              <a:schemeClr val="accent1">
                <a:hueOff val="0"/>
                <a:satOff val="0"/>
                <a:lumOff val="0"/>
                <a:alphaOff val="0"/>
                <a:tint val="70000"/>
                <a:shade val="100000"/>
                <a:alpha val="100000"/>
                <a:satMod val="200000"/>
                <a:lumMod val="100000"/>
              </a:scheme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effectLst>
                <a:outerShdw blurRad="38100" dist="38100" dir="2700000" algn="tl">
                  <a:srgbClr val="000000">
                    <a:alpha val="43137"/>
                  </a:srgbClr>
                </a:outerShdw>
              </a:effectLst>
            </a:rPr>
            <a:t>Exchanges data with the processor synchronized to an external clock signal and running at the full speed of the processor/memory bus without imposing (long while) wait states</a:t>
          </a:r>
        </a:p>
      </dsp:txBody>
      <dsp:txXfrm>
        <a:off x="152110" y="1134345"/>
        <a:ext cx="6049531" cy="1527984"/>
      </dsp:txXfrm>
    </dsp:sp>
    <dsp:sp modelId="{6DC128DD-9643-414F-B8E2-C8FCDA5CA536}">
      <dsp:nvSpPr>
        <dsp:cNvPr id="0" name=""/>
        <dsp:cNvSpPr/>
      </dsp:nvSpPr>
      <dsp:spPr>
        <a:xfrm>
          <a:off x="1034277" y="2924179"/>
          <a:ext cx="7391345" cy="2057407"/>
        </a:xfrm>
        <a:prstGeom prst="roundRect">
          <a:avLst>
            <a:gd name="adj" fmla="val 10000"/>
          </a:avLst>
        </a:prstGeom>
        <a:solidFill>
          <a:schemeClr val="accent4"/>
        </a:solidFill>
        <a:ln>
          <a:solidFill>
            <a:schemeClr val="accent4"/>
          </a:solid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n-US" sz="1800" kern="1200" dirty="0">
              <a:effectLst>
                <a:outerShdw blurRad="38100" dist="38100" dir="2700000" algn="tl">
                  <a:srgbClr val="000000">
                    <a:alpha val="43137"/>
                  </a:srgbClr>
                </a:outerShdw>
              </a:effectLst>
            </a:rPr>
            <a:t>With synchronous access the DRAM moves data in and out under control of the system clock</a:t>
          </a:r>
        </a:p>
        <a:p>
          <a:pPr marL="171450" lvl="1" indent="-171450" algn="l" defTabSz="711200" rtl="0">
            <a:lnSpc>
              <a:spcPct val="90000"/>
            </a:lnSpc>
            <a:spcBef>
              <a:spcPct val="0"/>
            </a:spcBef>
            <a:spcAft>
              <a:spcPct val="15000"/>
            </a:spcAft>
            <a:buChar char="•"/>
          </a:pPr>
          <a:r>
            <a:rPr lang="en-US" sz="1600" kern="1200" dirty="0">
              <a:effectLst>
                <a:outerShdw blurRad="38100" dist="38100" dir="2700000" algn="tl">
                  <a:srgbClr val="000000">
                    <a:alpha val="43137"/>
                  </a:srgbClr>
                </a:outerShdw>
              </a:effectLst>
            </a:rPr>
            <a:t>The processor or other master issues the instruction and address information which is latched by the DRAM</a:t>
          </a:r>
        </a:p>
        <a:p>
          <a:pPr marL="171450" lvl="1" indent="-171450" algn="l" defTabSz="711200" rtl="0">
            <a:lnSpc>
              <a:spcPct val="90000"/>
            </a:lnSpc>
            <a:spcBef>
              <a:spcPct val="0"/>
            </a:spcBef>
            <a:spcAft>
              <a:spcPct val="15000"/>
            </a:spcAft>
            <a:buChar char="•"/>
          </a:pPr>
          <a:r>
            <a:rPr lang="en-US" sz="1600" kern="1200" dirty="0">
              <a:effectLst>
                <a:outerShdw blurRad="38100" dist="38100" dir="2700000" algn="tl">
                  <a:srgbClr val="000000">
                    <a:alpha val="43137"/>
                  </a:srgbClr>
                </a:outerShdw>
              </a:effectLst>
            </a:rPr>
            <a:t>The DRAM then responds after a set number of clock cycles</a:t>
          </a:r>
        </a:p>
        <a:p>
          <a:pPr marL="171450" lvl="1" indent="-171450" algn="l" defTabSz="711200" rtl="0">
            <a:lnSpc>
              <a:spcPct val="90000"/>
            </a:lnSpc>
            <a:spcBef>
              <a:spcPct val="0"/>
            </a:spcBef>
            <a:spcAft>
              <a:spcPct val="15000"/>
            </a:spcAft>
            <a:buChar char="•"/>
          </a:pPr>
          <a:r>
            <a:rPr lang="en-US" sz="1600" kern="1200" dirty="0">
              <a:effectLst>
                <a:outerShdw blurRad="38100" dist="38100" dir="2700000" algn="tl">
                  <a:srgbClr val="000000">
                    <a:alpha val="43137"/>
                  </a:srgbClr>
                </a:outerShdw>
              </a:effectLst>
            </a:rPr>
            <a:t>Meanwhile the master can safely do other tasks while the SDRAM is processing</a:t>
          </a:r>
        </a:p>
      </dsp:txBody>
      <dsp:txXfrm>
        <a:off x="1094536" y="2984438"/>
        <a:ext cx="5543721" cy="1936889"/>
      </dsp:txXfrm>
    </dsp:sp>
    <dsp:sp modelId="{4F5143D0-0BD0-9745-9E26-67D55601F120}">
      <dsp:nvSpPr>
        <dsp:cNvPr id="0" name=""/>
        <dsp:cNvSpPr/>
      </dsp:nvSpPr>
      <dsp:spPr>
        <a:xfrm>
          <a:off x="6428593" y="352408"/>
          <a:ext cx="1054989" cy="10549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4"/>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665966" y="352408"/>
        <a:ext cx="580243" cy="793879"/>
      </dsp:txXfrm>
    </dsp:sp>
    <dsp:sp modelId="{2D96FBAB-511F-A549-B207-756395476BB0}">
      <dsp:nvSpPr>
        <dsp:cNvPr id="0" name=""/>
        <dsp:cNvSpPr/>
      </dsp:nvSpPr>
      <dsp:spPr>
        <a:xfrm>
          <a:off x="7068673" y="2209795"/>
          <a:ext cx="1054989" cy="1054989"/>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3"/>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7306046" y="2209795"/>
        <a:ext cx="580243" cy="7938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D2902B-E741-464F-B858-9C56E3E4C131}">
      <dsp:nvSpPr>
        <dsp:cNvPr id="0" name=""/>
        <dsp:cNvSpPr/>
      </dsp:nvSpPr>
      <dsp:spPr>
        <a:xfrm>
          <a:off x="3514496" y="1578711"/>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EC11E3E-3ED9-C646-8999-C23416019FC1}">
      <dsp:nvSpPr>
        <dsp:cNvPr id="0" name=""/>
        <dsp:cNvSpPr/>
      </dsp:nvSpPr>
      <dsp:spPr>
        <a:xfrm>
          <a:off x="3250120" y="0"/>
          <a:ext cx="2643759" cy="14401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t>Developed by Rambus</a:t>
          </a:r>
        </a:p>
      </dsp:txBody>
      <dsp:txXfrm>
        <a:off x="3250120" y="0"/>
        <a:ext cx="2643759" cy="1440180"/>
      </dsp:txXfrm>
    </dsp:sp>
    <dsp:sp modelId="{0032B84C-09D1-504B-97A4-D60788A1A75F}">
      <dsp:nvSpPr>
        <dsp:cNvPr id="0" name=""/>
        <dsp:cNvSpPr/>
      </dsp:nvSpPr>
      <dsp:spPr>
        <a:xfrm>
          <a:off x="4200992" y="1975104"/>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B98C07D3-4D37-1E4A-A33F-43EC4E740016}">
      <dsp:nvSpPr>
        <dsp:cNvPr id="0" name=""/>
        <dsp:cNvSpPr/>
      </dsp:nvSpPr>
      <dsp:spPr>
        <a:xfrm>
          <a:off x="6472862" y="1371600"/>
          <a:ext cx="2505402" cy="157734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t>Adopted by Intel for its Pentium and Itanium processors</a:t>
          </a:r>
        </a:p>
      </dsp:txBody>
      <dsp:txXfrm>
        <a:off x="6472862" y="1371600"/>
        <a:ext cx="2505402" cy="1577340"/>
      </dsp:txXfrm>
    </dsp:sp>
    <dsp:sp modelId="{33754A0B-882B-654B-9E3F-8B74B4E7DD3F}">
      <dsp:nvSpPr>
        <dsp:cNvPr id="0" name=""/>
        <dsp:cNvSpPr/>
      </dsp:nvSpPr>
      <dsp:spPr>
        <a:xfrm>
          <a:off x="4200992" y="2767888"/>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4FB8688A-D97B-6945-8A70-2AF93B570210}">
      <dsp:nvSpPr>
        <dsp:cNvPr id="0" name=""/>
        <dsp:cNvSpPr/>
      </dsp:nvSpPr>
      <dsp:spPr>
        <a:xfrm>
          <a:off x="6472862" y="3723894"/>
          <a:ext cx="2505402" cy="176250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t>Has become the main competitor to SDRAM</a:t>
          </a:r>
        </a:p>
      </dsp:txBody>
      <dsp:txXfrm>
        <a:off x="6472862" y="3723894"/>
        <a:ext cx="2505402" cy="1762506"/>
      </dsp:txXfrm>
    </dsp:sp>
    <dsp:sp modelId="{B6EE50AB-3A5D-9C42-B27B-0304100751AD}">
      <dsp:nvSpPr>
        <dsp:cNvPr id="0" name=""/>
        <dsp:cNvSpPr/>
      </dsp:nvSpPr>
      <dsp:spPr>
        <a:xfrm>
          <a:off x="3514496" y="3164967"/>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F66940FD-8B7B-F742-9AFA-C95DC9DD422B}">
      <dsp:nvSpPr>
        <dsp:cNvPr id="0" name=""/>
        <dsp:cNvSpPr/>
      </dsp:nvSpPr>
      <dsp:spPr>
        <a:xfrm>
          <a:off x="3250120" y="5417820"/>
          <a:ext cx="2643759" cy="144018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622300" rtl="0">
            <a:lnSpc>
              <a:spcPct val="90000"/>
            </a:lnSpc>
            <a:spcBef>
              <a:spcPct val="0"/>
            </a:spcBef>
            <a:spcAft>
              <a:spcPct val="35000"/>
            </a:spcAft>
            <a:buNone/>
          </a:pPr>
          <a:r>
            <a:rPr lang="en-US" sz="1400" kern="1200" dirty="0"/>
            <a:t>Chips are vertical packages with all pins on one side</a:t>
          </a:r>
        </a:p>
        <a:p>
          <a:pPr marL="57150" lvl="1" indent="-57150" algn="l" defTabSz="488950" rtl="0">
            <a:lnSpc>
              <a:spcPct val="90000"/>
            </a:lnSpc>
            <a:spcBef>
              <a:spcPct val="0"/>
            </a:spcBef>
            <a:spcAft>
              <a:spcPct val="15000"/>
            </a:spcAft>
            <a:buChar char="•"/>
          </a:pPr>
          <a:r>
            <a:rPr lang="en-US" sz="1100" kern="1200" dirty="0"/>
            <a:t>Exchanges data with the processor over 28 wires no more than 12 centimeters long</a:t>
          </a:r>
        </a:p>
      </dsp:txBody>
      <dsp:txXfrm>
        <a:off x="3250120" y="5417820"/>
        <a:ext cx="2643759" cy="1440180"/>
      </dsp:txXfrm>
    </dsp:sp>
    <dsp:sp modelId="{617A31E8-9CD0-F741-91B1-5E43ADD4666F}">
      <dsp:nvSpPr>
        <dsp:cNvPr id="0" name=""/>
        <dsp:cNvSpPr/>
      </dsp:nvSpPr>
      <dsp:spPr>
        <a:xfrm>
          <a:off x="2828000" y="2767888"/>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1C58BF8D-6788-3F4E-B025-2F3F0AF51CC0}">
      <dsp:nvSpPr>
        <dsp:cNvPr id="0" name=""/>
        <dsp:cNvSpPr/>
      </dsp:nvSpPr>
      <dsp:spPr>
        <a:xfrm>
          <a:off x="165734" y="3723894"/>
          <a:ext cx="2505402" cy="176250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r>
            <a:rPr lang="en-US" sz="1400" kern="1200" dirty="0"/>
            <a:t>Bus can address up to 320 RDRAM chips and is rated at 1.6 GBps</a:t>
          </a:r>
        </a:p>
      </dsp:txBody>
      <dsp:txXfrm>
        <a:off x="165734" y="3723894"/>
        <a:ext cx="2505402" cy="1762506"/>
      </dsp:txXfrm>
    </dsp:sp>
    <dsp:sp modelId="{9919920A-9981-594A-80CC-08D0D37C86ED}">
      <dsp:nvSpPr>
        <dsp:cNvPr id="0" name=""/>
        <dsp:cNvSpPr/>
      </dsp:nvSpPr>
      <dsp:spPr>
        <a:xfrm>
          <a:off x="2828000" y="1975104"/>
          <a:ext cx="2115007" cy="2115007"/>
        </a:xfrm>
        <a:prstGeom prst="ellipse">
          <a:avLst/>
        </a:prstGeom>
        <a:gradFill rotWithShape="0">
          <a:gsLst>
            <a:gs pos="0">
              <a:schemeClr val="accent1">
                <a:alpha val="50000"/>
                <a:hueOff val="0"/>
                <a:satOff val="0"/>
                <a:lumOff val="0"/>
                <a:alphaOff val="0"/>
                <a:shade val="40000"/>
                <a:alpha val="100000"/>
                <a:satMod val="150000"/>
                <a:lumMod val="100000"/>
              </a:schemeClr>
            </a:gs>
            <a:gs pos="100000">
              <a:schemeClr val="accent1">
                <a:alpha val="50000"/>
                <a:hueOff val="0"/>
                <a:satOff val="0"/>
                <a:lumOff val="0"/>
                <a:alphaOff val="0"/>
                <a:tint val="70000"/>
                <a:shade val="100000"/>
                <a:alpha val="100000"/>
                <a:satMod val="200000"/>
                <a:lumMod val="100000"/>
              </a:schemeClr>
            </a:gs>
          </a:gsLst>
          <a:lin ang="5400000" scaled="1"/>
        </a:gradFill>
        <a:ln>
          <a:noFill/>
        </a:ln>
        <a:effectLst/>
      </dsp:spPr>
      <dsp:style>
        <a:lnRef idx="0">
          <a:scrgbClr r="0" g="0" b="0"/>
        </a:lnRef>
        <a:fillRef idx="3">
          <a:scrgbClr r="0" g="0" b="0"/>
        </a:fillRef>
        <a:effectRef idx="0">
          <a:scrgbClr r="0" g="0" b="0"/>
        </a:effectRef>
        <a:fontRef idx="minor">
          <a:schemeClr val="tx1"/>
        </a:fontRef>
      </dsp:style>
    </dsp:sp>
    <dsp:sp modelId="{8F746B81-2869-F147-ACC5-30E73A693EC3}">
      <dsp:nvSpPr>
        <dsp:cNvPr id="0" name=""/>
        <dsp:cNvSpPr/>
      </dsp:nvSpPr>
      <dsp:spPr>
        <a:xfrm>
          <a:off x="165734" y="1371600"/>
          <a:ext cx="2505402" cy="176250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1">
          <a:noAutofit/>
        </a:bodyPr>
        <a:lstStyle/>
        <a:p>
          <a:pPr marL="0" lvl="0" indent="0" algn="l" defTabSz="622300" rtl="0">
            <a:lnSpc>
              <a:spcPct val="90000"/>
            </a:lnSpc>
            <a:spcBef>
              <a:spcPct val="0"/>
            </a:spcBef>
            <a:spcAft>
              <a:spcPct val="35000"/>
            </a:spcAft>
            <a:buNone/>
          </a:pPr>
          <a:r>
            <a:rPr lang="en-US" sz="1400" kern="1200" dirty="0"/>
            <a:t>Bus delivers address and control information using an asynchronous block-oriented protocol</a:t>
          </a:r>
        </a:p>
        <a:p>
          <a:pPr marL="57150" lvl="1" indent="-57150" algn="l" defTabSz="488950" rtl="0">
            <a:lnSpc>
              <a:spcPct val="90000"/>
            </a:lnSpc>
            <a:spcBef>
              <a:spcPct val="0"/>
            </a:spcBef>
            <a:spcAft>
              <a:spcPct val="15000"/>
            </a:spcAft>
            <a:buChar char="•"/>
          </a:pPr>
          <a:r>
            <a:rPr lang="en-US" sz="1100" kern="1200" dirty="0"/>
            <a:t>Gets a memory request over the high-speed bus</a:t>
          </a:r>
        </a:p>
        <a:p>
          <a:pPr marL="114300" lvl="2" indent="-57150" algn="l" defTabSz="488950" rtl="0">
            <a:lnSpc>
              <a:spcPct val="90000"/>
            </a:lnSpc>
            <a:spcBef>
              <a:spcPct val="0"/>
            </a:spcBef>
            <a:spcAft>
              <a:spcPct val="15000"/>
            </a:spcAft>
            <a:buChar char="•"/>
          </a:pPr>
          <a:r>
            <a:rPr lang="en-US" sz="1100" kern="1200" dirty="0"/>
            <a:t>Request contains the desired address, the type of operation, and the number of bytes in the operation</a:t>
          </a:r>
        </a:p>
      </dsp:txBody>
      <dsp:txXfrm>
        <a:off x="165734" y="1371600"/>
        <a:ext cx="2505402" cy="1762506"/>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49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951972E4-2FB1-5545-A774-664D41C1D4E1}" type="slidenum">
              <a:rPr lang="en-US"/>
              <a:pPr/>
              <a:t>‹#›</a:t>
            </a:fld>
            <a:endParaRPr lang="en-US" dirty="0"/>
          </a:p>
        </p:txBody>
      </p:sp>
    </p:spTree>
    <p:extLst>
      <p:ext uri="{BB962C8B-B14F-4D97-AF65-F5344CB8AC3E}">
        <p14:creationId xmlns:p14="http://schemas.microsoft.com/office/powerpoint/2010/main" val="1667753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FAF100D4-BB46-6748-84D4-F681254872AC}" type="slidenum">
              <a:rPr lang="en-US"/>
              <a:pPr/>
              <a:t>‹#›</a:t>
            </a:fld>
            <a:endParaRPr lang="en-US" dirty="0"/>
          </a:p>
        </p:txBody>
      </p:sp>
    </p:spTree>
    <p:extLst>
      <p:ext uri="{BB962C8B-B14F-4D97-AF65-F5344CB8AC3E}">
        <p14:creationId xmlns:p14="http://schemas.microsoft.com/office/powerpoint/2010/main" val="25768752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en.wikipedia.org/wiki/Digital_electronics" TargetMode="External"/><Relationship Id="rId3" Type="http://schemas.openxmlformats.org/officeDocument/2006/relationships/hyperlink" Target="https://en.wikipedia.org/wiki/Electronics" TargetMode="External"/><Relationship Id="rId7" Type="http://schemas.openxmlformats.org/officeDocument/2006/relationships/hyperlink" Target="https://en.wikipedia.org/wiki/Sequential_logic"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en.wikipedia.org/wiki/Signal" TargetMode="External"/><Relationship Id="rId5" Type="http://schemas.openxmlformats.org/officeDocument/2006/relationships/hyperlink" Target="https://en.wikipedia.org/wiki/Bistable_multivibrator" TargetMode="External"/><Relationship Id="rId4" Type="http://schemas.openxmlformats.org/officeDocument/2006/relationships/hyperlink" Target="https://en.wikipedia.org/wiki/Electronic_circuit"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Lecture slides prepared for “Computer Organization</a:t>
            </a:r>
            <a:r>
              <a:rPr lang="en-US" baseline="0" dirty="0">
                <a:latin typeface="Times New Roman" pitchFamily="-110" charset="0"/>
              </a:rPr>
              <a:t> and Architecture</a:t>
            </a:r>
            <a:r>
              <a:rPr lang="en-US" dirty="0">
                <a:latin typeface="Times New Roman" pitchFamily="-110" charset="0"/>
              </a:rPr>
              <a:t>”, 9/e, by William Stallings, Chapter 5 “Internal</a:t>
            </a:r>
            <a:r>
              <a:rPr lang="en-US" baseline="0" dirty="0">
                <a:latin typeface="Times New Roman" pitchFamily="-110" charset="0"/>
              </a:rPr>
              <a:t> Memory</a:t>
            </a:r>
            <a:r>
              <a:rPr lang="en-US" dirty="0">
                <a:latin typeface="Times New Roman" pitchFamily="-110" charset="0"/>
              </a:rPr>
              <a:t>”.</a:t>
            </a:r>
            <a:endParaRPr lang="en-AU"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latin typeface="Times New Roman" pitchFamily="-110"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10" charset="0"/>
              </a:rPr>
              <a:t>Adapted</a:t>
            </a:r>
            <a:r>
              <a:rPr lang="en-GB" dirty="0"/>
              <a:t> by </a:t>
            </a:r>
            <a:r>
              <a:rPr lang="en-GB" dirty="0" err="1"/>
              <a:t>Thân</a:t>
            </a:r>
            <a:r>
              <a:rPr lang="en-GB" baseline="0" dirty="0"/>
              <a:t> </a:t>
            </a:r>
            <a:r>
              <a:rPr lang="en-GB" baseline="0" dirty="0" err="1"/>
              <a:t>Văn</a:t>
            </a:r>
            <a:r>
              <a:rPr lang="en-GB" baseline="0" dirty="0"/>
              <a:t> </a:t>
            </a:r>
            <a:r>
              <a:rPr lang="en-GB" baseline="0" dirty="0" err="1"/>
              <a:t>Sử</a:t>
            </a:r>
            <a:endParaRPr lang="en-GB" dirty="0"/>
          </a:p>
          <a:p>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Bộ nhớ chính được cấu trúc như thế nào?</a:t>
            </a:r>
          </a:p>
          <a:p>
            <a:r>
              <a:rPr lang="vi-VN" dirty="0"/>
              <a:t>Liệu bộ nhớ chính có thể gây ra lỗi không?</a:t>
            </a:r>
          </a:p>
          <a:p>
            <a:r>
              <a:rPr lang="vi-VN" dirty="0"/>
              <a:t>Có bao nhiêu loại bộ nhớ?</a:t>
            </a:r>
          </a:p>
          <a:p>
            <a:r>
              <a:rPr lang="vi-VN" dirty="0"/>
              <a:t>Sau khi học chương này, bạn sẽ có thể:</a:t>
            </a:r>
          </a:p>
          <a:p>
            <a:r>
              <a:rPr lang="vi-VN" dirty="0"/>
              <a:t>Trình bày tổng quan về các loại nguyên tắc của bộ nhớ chính bán dẫn.</a:t>
            </a:r>
          </a:p>
          <a:p>
            <a:r>
              <a:rPr lang="vi-VN" dirty="0"/>
              <a:t>Hiểu được hoạt động của một mã cơ bản có thể phát hiện và sửa lỗi singlebit trong các từ 8-bit.</a:t>
            </a:r>
          </a:p>
          <a:p>
            <a:r>
              <a:rPr lang="vi-VN" dirty="0"/>
              <a:t>Tóm tắt các thuộc tính của các tổ chức DRAM hiện đại.</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5.1 </a:t>
            </a:r>
            <a:r>
              <a:rPr lang="en-US" dirty="0" err="1"/>
              <a:t>Bộ</a:t>
            </a:r>
            <a:r>
              <a:rPr lang="en-US" dirty="0"/>
              <a:t> </a:t>
            </a:r>
            <a:r>
              <a:rPr lang="en-US" dirty="0" err="1"/>
              <a:t>nhớ</a:t>
            </a:r>
            <a:r>
              <a:rPr lang="en-US" dirty="0"/>
              <a:t> </a:t>
            </a:r>
            <a:r>
              <a:rPr lang="en-US" dirty="0" err="1"/>
              <a:t>chính</a:t>
            </a:r>
            <a:r>
              <a:rPr lang="en-US" dirty="0"/>
              <a:t> </a:t>
            </a:r>
            <a:r>
              <a:rPr lang="en-US" dirty="0" err="1"/>
              <a:t>bán</a:t>
            </a:r>
            <a:r>
              <a:rPr lang="en-US" dirty="0"/>
              <a:t> </a:t>
            </a:r>
            <a:r>
              <a:rPr lang="en-US" dirty="0" err="1"/>
              <a:t>dẫn</a:t>
            </a:r>
            <a:endParaRPr lang="en-US" dirty="0"/>
          </a:p>
          <a:p>
            <a:r>
              <a:rPr lang="en-US" dirty="0"/>
              <a:t>5.2 </a:t>
            </a:r>
            <a:r>
              <a:rPr lang="en-US" dirty="0" err="1"/>
              <a:t>Sửa</a:t>
            </a:r>
            <a:r>
              <a:rPr lang="en-US" dirty="0"/>
              <a:t> </a:t>
            </a:r>
            <a:r>
              <a:rPr lang="en-US" dirty="0" err="1"/>
              <a:t>lỗi</a:t>
            </a:r>
            <a:endParaRPr lang="en-US" dirty="0"/>
          </a:p>
          <a:p>
            <a:r>
              <a:rPr lang="en-US" dirty="0"/>
              <a:t>5.3 </a:t>
            </a:r>
            <a:r>
              <a:rPr lang="en-US" dirty="0" err="1"/>
              <a:t>Tổ</a:t>
            </a:r>
            <a:r>
              <a:rPr lang="en-US" dirty="0"/>
              <a:t> </a:t>
            </a:r>
            <a:r>
              <a:rPr lang="en-US" dirty="0" err="1"/>
              <a:t>chức</a:t>
            </a:r>
            <a:r>
              <a:rPr lang="en-US" dirty="0"/>
              <a:t> Dram Drama </a:t>
            </a:r>
            <a:r>
              <a:rPr lang="en-US" dirty="0" err="1"/>
              <a:t>tiên</a:t>
            </a:r>
            <a:r>
              <a:rPr lang="en-US" dirty="0"/>
              <a:t> </a:t>
            </a:r>
            <a:r>
              <a:rPr lang="en-US" dirty="0" err="1"/>
              <a:t>tiến</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C</a:t>
            </a:r>
            <a:r>
              <a:rPr lang="en-US" dirty="0"/>
              <a:t>au</a:t>
            </a:r>
            <a:r>
              <a:rPr lang="en-US" baseline="0" dirty="0"/>
              <a:t> </a:t>
            </a:r>
            <a:r>
              <a:rPr lang="en-US" baseline="0" dirty="0" err="1"/>
              <a:t>tao</a:t>
            </a:r>
            <a:endParaRPr lang="vi-VN" dirty="0"/>
          </a:p>
          <a:p>
            <a:r>
              <a:rPr lang="vi-VN" dirty="0"/>
              <a:t>Loại bộ nhớ bán dẫn</a:t>
            </a:r>
          </a:p>
          <a:p>
            <a:r>
              <a:rPr lang="vi-VN" dirty="0"/>
              <a:t>Bộ nhớ RAM động và RAM tĩnh</a:t>
            </a:r>
          </a:p>
          <a:p>
            <a:r>
              <a:rPr lang="vi-VN" dirty="0"/>
              <a:t>Các loại ROM</a:t>
            </a:r>
          </a:p>
          <a:p>
            <a:r>
              <a:rPr lang="vi-VN" dirty="0"/>
              <a:t>Chip Logic</a:t>
            </a:r>
          </a:p>
          <a:p>
            <a:r>
              <a:rPr lang="vi-VN" dirty="0"/>
              <a:t>Đóng gói Chip</a:t>
            </a:r>
          </a:p>
          <a:p>
            <a:r>
              <a:rPr lang="vi-VN" dirty="0"/>
              <a:t>Tổ chức Module</a:t>
            </a:r>
          </a:p>
          <a:p>
            <a:r>
              <a:rPr lang="vi-VN" dirty="0"/>
              <a:t>Bộ nhớ Interleaved</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Yếu tố cơ bản của bộ nhớ bán dẫn là ô nhớ.</a:t>
            </a:r>
          </a:p>
          <a:p>
            <a:r>
              <a:rPr lang="vi-VN" dirty="0"/>
              <a:t>Thuộc tính </a:t>
            </a:r>
            <a:r>
              <a:rPr lang="en-US" dirty="0"/>
              <a:t>cell</a:t>
            </a:r>
            <a:r>
              <a:rPr lang="vi-VN" dirty="0"/>
              <a:t>:</a:t>
            </a:r>
          </a:p>
          <a:p>
            <a:r>
              <a:rPr lang="vi-VN" dirty="0"/>
              <a:t>1-Chúng thể hiện hai trạng thái ổn định (hoặc semistable), có thể được dùng để biểu diễn nhị phân 1 và 0.</a:t>
            </a:r>
          </a:p>
          <a:p>
            <a:r>
              <a:rPr lang="vi-VN" dirty="0"/>
              <a:t>2- Họ có khả năng được ghi vào (ít nhất một lần), để thiết lập </a:t>
            </a:r>
            <a:r>
              <a:rPr lang="en-US" dirty="0" err="1"/>
              <a:t>trang</a:t>
            </a:r>
            <a:r>
              <a:rPr lang="en-US" baseline="0" dirty="0"/>
              <a:t> </a:t>
            </a:r>
            <a:r>
              <a:rPr lang="en-US" baseline="0" dirty="0" err="1"/>
              <a:t>thai</a:t>
            </a:r>
            <a:endParaRPr lang="vi-VN" dirty="0"/>
          </a:p>
          <a:p>
            <a:r>
              <a:rPr lang="vi-VN" dirty="0"/>
              <a:t>3- </a:t>
            </a:r>
            <a:r>
              <a:rPr lang="en-US" dirty="0"/>
              <a:t>C</a:t>
            </a:r>
            <a:r>
              <a:rPr lang="vi-VN" dirty="0"/>
              <a:t>ó khả năng đọc để cảm nhận trạng thái</a:t>
            </a:r>
            <a:endParaRPr lang="en-US" dirty="0"/>
          </a:p>
          <a:p>
            <a:endParaRPr lang="en-US" dirty="0"/>
          </a:p>
          <a:p>
            <a:r>
              <a:rPr lang="en-US" dirty="0"/>
              <a:t>Stable: </a:t>
            </a:r>
            <a:r>
              <a:rPr lang="en-US" dirty="0" err="1"/>
              <a:t>ổn</a:t>
            </a:r>
            <a:r>
              <a:rPr lang="en-US" dirty="0"/>
              <a:t> </a:t>
            </a:r>
            <a:r>
              <a:rPr lang="en-US" dirty="0" err="1"/>
              <a:t>định</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vi-VN" sz="1200" kern="1200" baseline="0" dirty="0">
                <a:solidFill>
                  <a:schemeClr val="tx1"/>
                </a:solidFill>
                <a:latin typeface="Times New Roman" pitchFamily="33" charset="0"/>
                <a:ea typeface="+mn-ea"/>
                <a:cs typeface="+mn-cs"/>
              </a:rPr>
              <a:t>Bảng 5.1 liệt kê các loại chính của bộ nhớ bán dẫn. Phổ biến nhất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được gọi là bộ nhớ truy cập ngẫu nhiên (RAM). Đây là, trên thực tế, một sự lạm dụng của</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vì tất cả các loại được liệt kê trong bảng đều có quyền truy cập ngẫu nhiên. Một sự phân biệt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đặc trưng của bộ nhớ được chỉ định là RAM là nó có thể</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cả hai để đọc dữ liệu từ bộ nhớ và để ghi dữ liệu mới vào bộ nhớ một cách dễ dàng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và nhanh chóng. Cả hai việc đọc và viết đều được thực hiện thông qua việc sử dụng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Tín hiệu điện tử.</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Đặc điểm phân biệt khác của RAM là nó không ổn định. RAM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phải được cung cấp nguồn điện liên tục. Nếu điện bị gián đoạn, thì</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dữ liệu bị mất. Do đó, RAM chỉ có thể được sử dụng như là lưu trữ tạm thời. Hai truyền thống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các dạng RAM được sử dụng trong máy tính là DRAM và SRAM.</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All of the memory types that we will explore in this chapter are random access. That is,</a:t>
            </a:r>
          </a:p>
          <a:p>
            <a:r>
              <a:rPr kumimoji="1" lang="en-US" sz="1200" kern="1200" baseline="0" dirty="0">
                <a:solidFill>
                  <a:schemeClr val="tx1"/>
                </a:solidFill>
                <a:latin typeface="Times New Roman" pitchFamily="33" charset="0"/>
                <a:ea typeface="+mn-ea"/>
                <a:cs typeface="+mn-cs"/>
              </a:rPr>
              <a:t>individual words of memory are directly accessed through wired-in addressing logic.</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Table 5.1 lists the major types of semiconductor memory. The most common</a:t>
            </a:r>
          </a:p>
          <a:p>
            <a:r>
              <a:rPr kumimoji="1" lang="en-US" sz="1200" kern="1200" baseline="0" dirty="0">
                <a:solidFill>
                  <a:schemeClr val="tx1"/>
                </a:solidFill>
                <a:latin typeface="Times New Roman" pitchFamily="33" charset="0"/>
                <a:ea typeface="+mn-ea"/>
                <a:cs typeface="+mn-cs"/>
              </a:rPr>
              <a:t>is referred to as </a:t>
            </a:r>
            <a:r>
              <a:rPr kumimoji="1" lang="en-US" sz="1200" i="1" kern="1200" baseline="0" dirty="0">
                <a:solidFill>
                  <a:schemeClr val="tx1"/>
                </a:solidFill>
                <a:latin typeface="Times New Roman" pitchFamily="33" charset="0"/>
                <a:ea typeface="+mn-ea"/>
                <a:cs typeface="+mn-cs"/>
              </a:rPr>
              <a:t>random-access memory (RAM). </a:t>
            </a:r>
            <a:r>
              <a:rPr kumimoji="1" lang="en-US" sz="1200" i="0" kern="1200" baseline="0" dirty="0">
                <a:solidFill>
                  <a:schemeClr val="tx1"/>
                </a:solidFill>
                <a:latin typeface="Times New Roman" pitchFamily="33" charset="0"/>
                <a:ea typeface="+mn-ea"/>
                <a:cs typeface="+mn-cs"/>
              </a:rPr>
              <a:t>This is, in fact, a misuse of the</a:t>
            </a:r>
          </a:p>
          <a:p>
            <a:r>
              <a:rPr kumimoji="1" lang="en-US" sz="1200" kern="1200" baseline="0" dirty="0">
                <a:solidFill>
                  <a:schemeClr val="tx1"/>
                </a:solidFill>
                <a:latin typeface="Times New Roman" pitchFamily="33" charset="0"/>
                <a:ea typeface="+mn-ea"/>
                <a:cs typeface="+mn-cs"/>
              </a:rPr>
              <a:t>term, because all of the types listed in the table are random access. One distinguishing</a:t>
            </a:r>
          </a:p>
          <a:p>
            <a:r>
              <a:rPr kumimoji="1" lang="en-US" sz="1200" kern="1200" baseline="0" dirty="0">
                <a:solidFill>
                  <a:schemeClr val="tx1"/>
                </a:solidFill>
                <a:latin typeface="Times New Roman" pitchFamily="33" charset="0"/>
                <a:ea typeface="+mn-ea"/>
                <a:cs typeface="+mn-cs"/>
              </a:rPr>
              <a:t>characteristic of memory that is designated as RAM is that it is possible</a:t>
            </a:r>
          </a:p>
          <a:p>
            <a:r>
              <a:rPr kumimoji="1" lang="en-US" sz="1200" kern="1200" baseline="0" dirty="0">
                <a:solidFill>
                  <a:schemeClr val="tx1"/>
                </a:solidFill>
                <a:latin typeface="Times New Roman" pitchFamily="33" charset="0"/>
                <a:ea typeface="+mn-ea"/>
                <a:cs typeface="+mn-cs"/>
              </a:rPr>
              <a:t>both to read data from the memory and to write new data into the memory easily</a:t>
            </a:r>
          </a:p>
          <a:p>
            <a:r>
              <a:rPr kumimoji="1" lang="en-US" sz="1200" kern="1200" baseline="0" dirty="0">
                <a:solidFill>
                  <a:schemeClr val="tx1"/>
                </a:solidFill>
                <a:latin typeface="Times New Roman" pitchFamily="33" charset="0"/>
                <a:ea typeface="+mn-ea"/>
                <a:cs typeface="+mn-cs"/>
              </a:rPr>
              <a:t>and rapidly. Both the reading and writing are accomplished through the use of</a:t>
            </a:r>
          </a:p>
          <a:p>
            <a:r>
              <a:rPr kumimoji="1" lang="en-US" sz="1200" kern="1200" baseline="0" dirty="0">
                <a:solidFill>
                  <a:schemeClr val="tx1"/>
                </a:solidFill>
                <a:latin typeface="Times New Roman" pitchFamily="33" charset="0"/>
                <a:ea typeface="+mn-ea"/>
                <a:cs typeface="+mn-cs"/>
              </a:rPr>
              <a:t>electrical signals.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other distinguishing characteristic of RAM is that it is volatile. A RAM</a:t>
            </a:r>
          </a:p>
          <a:p>
            <a:r>
              <a:rPr kumimoji="1" lang="en-US" sz="1200" kern="1200" baseline="0" dirty="0">
                <a:solidFill>
                  <a:schemeClr val="tx1"/>
                </a:solidFill>
                <a:latin typeface="Times New Roman" pitchFamily="33" charset="0"/>
                <a:ea typeface="+mn-ea"/>
                <a:cs typeface="+mn-cs"/>
              </a:rPr>
              <a:t>must be provided with a constant power supply. If the power is interrupted, then</a:t>
            </a:r>
          </a:p>
          <a:p>
            <a:r>
              <a:rPr kumimoji="1" lang="en-US" sz="1200" kern="1200" baseline="0" dirty="0">
                <a:solidFill>
                  <a:schemeClr val="tx1"/>
                </a:solidFill>
                <a:latin typeface="Times New Roman" pitchFamily="33" charset="0"/>
                <a:ea typeface="+mn-ea"/>
                <a:cs typeface="+mn-cs"/>
              </a:rPr>
              <a:t>the data are lost. Thus, RAM can be used only as temporary storage. The two traditional</a:t>
            </a:r>
          </a:p>
          <a:p>
            <a:r>
              <a:rPr kumimoji="1" lang="en-US" sz="1200" kern="1200" baseline="0" dirty="0">
                <a:solidFill>
                  <a:schemeClr val="tx1"/>
                </a:solidFill>
                <a:latin typeface="Times New Roman" pitchFamily="33" charset="0"/>
                <a:ea typeface="+mn-ea"/>
                <a:cs typeface="+mn-cs"/>
              </a:rPr>
              <a:t>forms of RAM used in computers are DRAM and SRAM.</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B46E6C-3927-A64A-B47C-D19DF1F3234B}" type="slidenum">
              <a:rPr lang="en-US"/>
              <a:pPr/>
              <a:t>7</a:t>
            </a:fld>
            <a:endParaRPr lang="en-US" dirty="0"/>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Tendency: xu </a:t>
            </a:r>
            <a:r>
              <a:rPr kumimoji="1" lang="en-US" sz="1200" kern="1200" baseline="0" dirty="0" err="1">
                <a:solidFill>
                  <a:schemeClr val="tx1"/>
                </a:solidFill>
                <a:latin typeface="Times New Roman" pitchFamily="33" charset="0"/>
                <a:ea typeface="+mn-ea"/>
                <a:cs typeface="+mn-cs"/>
              </a:rPr>
              <a:t>hướng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khuynh</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hướng</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Leak away : </a:t>
            </a:r>
            <a:r>
              <a:rPr kumimoji="1" lang="en-US" sz="1200" kern="1200" baseline="0" dirty="0" err="1">
                <a:solidFill>
                  <a:schemeClr val="tx1"/>
                </a:solidFill>
                <a:latin typeface="Times New Roman" pitchFamily="33" charset="0"/>
                <a:ea typeface="+mn-ea"/>
                <a:cs typeface="+mn-cs"/>
              </a:rPr>
              <a:t>rò</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rĩ</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Công nghệ RAM được chia thành hai công nghệ:</a:t>
            </a:r>
          </a:p>
          <a:p>
            <a:r>
              <a:rPr kumimoji="1" lang="vi-VN" sz="1200" kern="1200" baseline="0" dirty="0">
                <a:solidFill>
                  <a:schemeClr val="tx1"/>
                </a:solidFill>
                <a:latin typeface="Times New Roman" pitchFamily="33" charset="0"/>
                <a:ea typeface="+mn-ea"/>
                <a:cs typeface="+mn-cs"/>
              </a:rPr>
              <a:t>RAM động (DRAM)</a:t>
            </a:r>
          </a:p>
          <a:p>
            <a:r>
              <a:rPr kumimoji="1" lang="vi-VN" sz="1200" kern="1200" baseline="0" dirty="0">
                <a:solidFill>
                  <a:schemeClr val="tx1"/>
                </a:solidFill>
                <a:latin typeface="Times New Roman" pitchFamily="33" charset="0"/>
                <a:ea typeface="+mn-ea"/>
                <a:cs typeface="+mn-cs"/>
              </a:rPr>
              <a:t>RAM tĩnh (SRAM)</a:t>
            </a:r>
          </a:p>
          <a:p>
            <a:r>
              <a:rPr kumimoji="1" lang="vi-VN" sz="1200" kern="1200" baseline="0" dirty="0">
                <a:solidFill>
                  <a:schemeClr val="tx1"/>
                </a:solidFill>
                <a:latin typeface="Times New Roman" pitchFamily="33" charset="0"/>
                <a:ea typeface="+mn-ea"/>
                <a:cs typeface="+mn-cs"/>
              </a:rPr>
              <a:t>DRAM</a:t>
            </a:r>
          </a:p>
          <a:p>
            <a:r>
              <a:rPr kumimoji="1" lang="vi-VN" sz="1200" kern="1200" baseline="0" dirty="0">
                <a:solidFill>
                  <a:schemeClr val="tx1"/>
                </a:solidFill>
                <a:latin typeface="Times New Roman" pitchFamily="33" charset="0"/>
                <a:ea typeface="+mn-ea"/>
                <a:cs typeface="+mn-cs"/>
              </a:rPr>
              <a:t>Được sản xuất với các tế bào lưu trữ dữ liệu như điện tích trên tụ điện (tụ điện)</a:t>
            </a:r>
          </a:p>
          <a:p>
            <a:r>
              <a:rPr kumimoji="1" lang="vi-VN" sz="1200" kern="1200" baseline="0" dirty="0">
                <a:solidFill>
                  <a:schemeClr val="tx1"/>
                </a:solidFill>
                <a:latin typeface="Times New Roman" pitchFamily="33" charset="0"/>
                <a:ea typeface="+mn-ea"/>
                <a:cs typeface="+mn-cs"/>
              </a:rPr>
              <a:t>Sự hiện diện hoặc không có điện tích trong một tụ điện được diễn giải như một nhị phân 1 hoặc 0</a:t>
            </a:r>
          </a:p>
          <a:p>
            <a:r>
              <a:rPr kumimoji="1" lang="vi-VN" sz="1200" kern="1200" baseline="0" dirty="0">
                <a:solidFill>
                  <a:schemeClr val="tx1"/>
                </a:solidFill>
                <a:latin typeface="Times New Roman" pitchFamily="33" charset="0"/>
                <a:ea typeface="+mn-ea"/>
                <a:cs typeface="+mn-cs"/>
              </a:rPr>
              <a:t>Yêu cầu phải trả phí định kỳ làm mới để duy trì bộ nhớ dữ liệu</a:t>
            </a:r>
          </a:p>
          <a:p>
            <a:r>
              <a:rPr kumimoji="1" lang="vi-VN" sz="1200" kern="1200" baseline="0" dirty="0">
                <a:solidFill>
                  <a:schemeClr val="tx1"/>
                </a:solidFill>
                <a:latin typeface="Times New Roman" pitchFamily="33" charset="0"/>
                <a:ea typeface="+mn-ea"/>
                <a:cs typeface="+mn-cs"/>
              </a:rPr>
              <a:t>Thuật ngữ năng động đề cập đến khuynh hướng lưu trữ phí để rò rỉ, thậm chí với quyền lực liên tục áp dụng</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Công nghệ RAM được chia thành hai công nghệ: năng động và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tĩnh. Một bộ nhớ RAM động (DRAM) được thực hiện với các ô lưu trữ dữ liệu như tính phí trên</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tụ điện. Sự hiện diện hoặc không có điện tích trong một tụ điện được diễn giải như một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nhị phân 1 hoặc 0. Bởi vì các tụ điện có khuynh hướng tự nhiên xả, năng động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RAM yêu cầu phải làm mới để duy trì lưu trữ dữ liệu định kỳ. Thuật ngữ</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năng động đề cập đến khuynh hướng này của phí lưu trữ để rò rỉ, thậm chí với sức mạnh</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liên tục áp dụng.</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RAM technology is divided into two technologies: dynamic and</a:t>
            </a:r>
          </a:p>
          <a:p>
            <a:r>
              <a:rPr kumimoji="1" lang="en-US" sz="1200" kern="1200" baseline="0" dirty="0">
                <a:solidFill>
                  <a:schemeClr val="tx1"/>
                </a:solidFill>
                <a:latin typeface="Times New Roman" pitchFamily="33" charset="0"/>
                <a:ea typeface="+mn-ea"/>
                <a:cs typeface="+mn-cs"/>
              </a:rPr>
              <a:t>static. A </a:t>
            </a:r>
            <a:r>
              <a:rPr kumimoji="1" lang="en-US" sz="1200" b="1" kern="1200" baseline="0" dirty="0">
                <a:solidFill>
                  <a:schemeClr val="tx1"/>
                </a:solidFill>
                <a:latin typeface="Times New Roman" pitchFamily="33" charset="0"/>
                <a:ea typeface="+mn-ea"/>
                <a:cs typeface="+mn-cs"/>
              </a:rPr>
              <a:t>dynamic RAM (DRAM) </a:t>
            </a:r>
            <a:r>
              <a:rPr kumimoji="1" lang="en-US" sz="1200" b="0" kern="1200" baseline="0" dirty="0">
                <a:solidFill>
                  <a:schemeClr val="tx1"/>
                </a:solidFill>
                <a:latin typeface="Times New Roman" pitchFamily="33" charset="0"/>
                <a:ea typeface="+mn-ea"/>
                <a:cs typeface="+mn-cs"/>
              </a:rPr>
              <a:t>is made with cells that store data as charge on</a:t>
            </a:r>
          </a:p>
          <a:p>
            <a:r>
              <a:rPr kumimoji="1" lang="en-US" sz="1200" kern="1200" baseline="0" dirty="0">
                <a:solidFill>
                  <a:schemeClr val="tx1"/>
                </a:solidFill>
                <a:latin typeface="Times New Roman" pitchFamily="33" charset="0"/>
                <a:ea typeface="+mn-ea"/>
                <a:cs typeface="+mn-cs"/>
              </a:rPr>
              <a:t>capacitors. The presence or absence of charge in a capacitor is interpreted as a</a:t>
            </a:r>
          </a:p>
          <a:p>
            <a:r>
              <a:rPr kumimoji="1" lang="en-US" sz="1200" kern="1200" baseline="0" dirty="0">
                <a:solidFill>
                  <a:schemeClr val="tx1"/>
                </a:solidFill>
                <a:latin typeface="Times New Roman" pitchFamily="33" charset="0"/>
                <a:ea typeface="+mn-ea"/>
                <a:cs typeface="+mn-cs"/>
              </a:rPr>
              <a:t>binary 1 or 0. Because capacitors have a natural tendency to discharge, dynamic</a:t>
            </a:r>
          </a:p>
          <a:p>
            <a:r>
              <a:rPr kumimoji="1" lang="en-US" sz="1200" kern="1200" baseline="0" dirty="0">
                <a:solidFill>
                  <a:schemeClr val="tx1"/>
                </a:solidFill>
                <a:latin typeface="Times New Roman" pitchFamily="33" charset="0"/>
                <a:ea typeface="+mn-ea"/>
                <a:cs typeface="+mn-cs"/>
              </a:rPr>
              <a:t>RAMs require periodic charge refreshing to maintain data storage. The term</a:t>
            </a:r>
          </a:p>
          <a:p>
            <a:r>
              <a:rPr kumimoji="1" lang="en-US" sz="1200" i="1" kern="1200" baseline="0" dirty="0">
                <a:solidFill>
                  <a:schemeClr val="tx1"/>
                </a:solidFill>
                <a:latin typeface="Times New Roman" pitchFamily="33" charset="0"/>
                <a:ea typeface="+mn-ea"/>
                <a:cs typeface="+mn-cs"/>
              </a:rPr>
              <a:t>dynamic </a:t>
            </a:r>
            <a:r>
              <a:rPr kumimoji="1" lang="en-US" sz="1200" i="0" kern="1200" baseline="0" dirty="0">
                <a:solidFill>
                  <a:schemeClr val="tx1"/>
                </a:solidFill>
                <a:latin typeface="Times New Roman" pitchFamily="33" charset="0"/>
                <a:ea typeface="+mn-ea"/>
                <a:cs typeface="+mn-cs"/>
              </a:rPr>
              <a:t>refers to this tendency of the stored charge to leak away, even with power</a:t>
            </a:r>
          </a:p>
          <a:p>
            <a:r>
              <a:rPr kumimoji="1" lang="en-US" sz="1200" kern="1200" baseline="0" dirty="0">
                <a:solidFill>
                  <a:schemeClr val="tx1"/>
                </a:solidFill>
                <a:latin typeface="Times New Roman" pitchFamily="33" charset="0"/>
                <a:ea typeface="+mn-ea"/>
                <a:cs typeface="+mn-cs"/>
              </a:rPr>
              <a:t>continuously applied.</a:t>
            </a:r>
            <a:endParaRPr lang="en-GB"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B46E6C-3927-A64A-B47C-D19DF1F3234B}" type="slidenum">
              <a:rPr lang="en-US"/>
              <a:pPr/>
              <a:t>8</a:t>
            </a:fld>
            <a:endParaRPr lang="en-US" dirty="0"/>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33" charset="0"/>
                <a:ea typeface="+mn-ea"/>
                <a:cs typeface="+mn-cs"/>
              </a:rPr>
              <a:t>Thiết bị số sử dụng các thành phần logic giống nhau được sử dụng trong bộ xử lý</a:t>
            </a:r>
          </a:p>
          <a:p>
            <a:r>
              <a:rPr kumimoji="1" lang="vi-VN" sz="1200" kern="1200" baseline="0" dirty="0">
                <a:solidFill>
                  <a:schemeClr val="tx1"/>
                </a:solidFill>
                <a:latin typeface="Times New Roman" pitchFamily="33" charset="0"/>
                <a:ea typeface="+mn-ea"/>
                <a:cs typeface="+mn-cs"/>
              </a:rPr>
              <a:t>Các giá trị nhị phân được lưu trữ bằng cách sử dụng các cấu hình cổng logic flip-flop truyền thống</a:t>
            </a:r>
          </a:p>
          <a:p>
            <a:r>
              <a:rPr kumimoji="1" lang="vi-VN" sz="1200" kern="1200" baseline="0" dirty="0">
                <a:solidFill>
                  <a:schemeClr val="tx1"/>
                </a:solidFill>
                <a:latin typeface="Times New Roman" pitchFamily="33" charset="0"/>
                <a:ea typeface="+mn-ea"/>
                <a:cs typeface="+mn-cs"/>
              </a:rPr>
              <a:t>Sẽ giữ dữ liệu của nó miễn là quyền lực được cung cấp cho nó</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Ngược lại, một bộ nhớ RAM tĩnh (SRAM) là một thiết bị số sử dụng</a:t>
            </a:r>
          </a:p>
          <a:p>
            <a:r>
              <a:rPr kumimoji="1" lang="vi-VN" sz="1200" kern="1200" baseline="0" dirty="0">
                <a:solidFill>
                  <a:schemeClr val="tx1"/>
                </a:solidFill>
                <a:latin typeface="Times New Roman" pitchFamily="33" charset="0"/>
                <a:ea typeface="+mn-ea"/>
                <a:cs typeface="+mn-cs"/>
              </a:rPr>
              <a:t>các yếu tố logic giống nhau được sử dụng trong bộ xử lý. Trong một SRAM, các giá trị nhị phân được lưu trữ</a:t>
            </a:r>
          </a:p>
          <a:p>
            <a:r>
              <a:rPr kumimoji="1" lang="vi-VN" sz="1200" kern="1200" baseline="0" dirty="0">
                <a:solidFill>
                  <a:schemeClr val="tx1"/>
                </a:solidFill>
                <a:latin typeface="Times New Roman" pitchFamily="33" charset="0"/>
                <a:ea typeface="+mn-ea"/>
                <a:cs typeface="+mn-cs"/>
              </a:rPr>
              <a:t>sử dụng các cấu hình cổng logic flip-flop truyền thống (xem chương 11 để biết mô tả</a:t>
            </a:r>
          </a:p>
          <a:p>
            <a:r>
              <a:rPr kumimoji="1" lang="vi-VN" sz="1200" kern="1200" baseline="0" dirty="0">
                <a:solidFill>
                  <a:schemeClr val="tx1"/>
                </a:solidFill>
                <a:latin typeface="Times New Roman" pitchFamily="33" charset="0"/>
                <a:ea typeface="+mn-ea"/>
                <a:cs typeface="+mn-cs"/>
              </a:rPr>
              <a:t>của flip-flops). Một bộ nhớ RAM tĩnh sẽ giữ dữ liệu của nó miễn là điện được cung cấp cho nó.</a:t>
            </a:r>
          </a:p>
          <a:p>
            <a:r>
              <a:rPr kumimoji="1" lang="vi-VN" sz="1200" kern="1200" baseline="0" dirty="0">
                <a:solidFill>
                  <a:schemeClr val="tx1"/>
                </a:solidFill>
                <a:latin typeface="Times New Roman" pitchFamily="33" charset="0"/>
                <a:ea typeface="+mn-ea"/>
                <a:cs typeface="+mn-cs"/>
              </a:rPr>
              <a:t>Hình 5.2b là một cấu trúc SRAM điển hình cho mỗi tế bào. Bốn bóng bán dẫn</a:t>
            </a:r>
          </a:p>
          <a:p>
            <a:r>
              <a:rPr kumimoji="1" lang="vi-VN" sz="1200" kern="1200" baseline="0" dirty="0">
                <a:solidFill>
                  <a:schemeClr val="tx1"/>
                </a:solidFill>
                <a:latin typeface="Times New Roman" pitchFamily="33" charset="0"/>
                <a:ea typeface="+mn-ea"/>
                <a:cs typeface="+mn-cs"/>
              </a:rPr>
              <a:t>(T1, T2, T3, T4) được kết nối chéo trong một sự sắp xếp tạo ra logic ổn định</a:t>
            </a:r>
          </a:p>
          <a:p>
            <a:r>
              <a:rPr kumimoji="1" lang="vi-VN" sz="1200" kern="1200" baseline="0" dirty="0">
                <a:solidFill>
                  <a:schemeClr val="tx1"/>
                </a:solidFill>
                <a:latin typeface="Times New Roman" pitchFamily="33" charset="0"/>
                <a:ea typeface="+mn-ea"/>
                <a:cs typeface="+mn-cs"/>
              </a:rPr>
              <a:t>tiểu bang. Trong trạng thái logic 1, điểm C1 cao và điểm C2 thấp; trong trạng thái này, T1 và T4 bị tắt</a:t>
            </a:r>
          </a:p>
          <a:p>
            <a:r>
              <a:rPr kumimoji="1" lang="vi-VN" sz="1200" kern="1200" baseline="0" dirty="0">
                <a:solidFill>
                  <a:schemeClr val="tx1"/>
                </a:solidFill>
                <a:latin typeface="Times New Roman" pitchFamily="33" charset="0"/>
                <a:ea typeface="+mn-ea"/>
                <a:cs typeface="+mn-cs"/>
              </a:rPr>
              <a:t>và T2 và T3 đang bật. Trong trạng thái logic 0, điểm C1 thấp và điểm C2 cao; trong tiểu bang này,</a:t>
            </a:r>
          </a:p>
          <a:p>
            <a:r>
              <a:rPr kumimoji="1" lang="vi-VN" sz="1200" kern="1200" baseline="0" dirty="0">
                <a:solidFill>
                  <a:schemeClr val="tx1"/>
                </a:solidFill>
                <a:latin typeface="Times New Roman" pitchFamily="33" charset="0"/>
                <a:ea typeface="+mn-ea"/>
                <a:cs typeface="+mn-cs"/>
              </a:rPr>
              <a:t>T1 và T4 bật và T2 và T3 tắt. Cả hai quốc gia đều ổn định miễn là trực tiếp</a:t>
            </a:r>
          </a:p>
          <a:p>
            <a:r>
              <a:rPr kumimoji="1" lang="vi-VN" sz="1200" kern="1200" baseline="0" dirty="0">
                <a:solidFill>
                  <a:schemeClr val="tx1"/>
                </a:solidFill>
                <a:latin typeface="Times New Roman" pitchFamily="33" charset="0"/>
                <a:ea typeface="+mn-ea"/>
                <a:cs typeface="+mn-cs"/>
              </a:rPr>
              <a:t>điện áp dòng điện (dc) được áp dụng. Không giống như DRAM, không cần làm mới để giữ lại dữ liệu.</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Như trong DRAM, đường địa chỉ SRAM được sử dụng để mở hoặc đóng một chuyển đổi.</a:t>
            </a:r>
          </a:p>
          <a:p>
            <a:r>
              <a:rPr kumimoji="1" lang="vi-VN" sz="1200" kern="1200" baseline="0" dirty="0">
                <a:solidFill>
                  <a:schemeClr val="tx1"/>
                </a:solidFill>
                <a:latin typeface="Times New Roman" pitchFamily="33" charset="0"/>
                <a:ea typeface="+mn-ea"/>
                <a:cs typeface="+mn-cs"/>
              </a:rPr>
              <a:t>Dòng địa chỉ điều khiển hai bóng bán dẫn (T5 và T6). Khi một tín hiệu được áp dụng cho</a:t>
            </a:r>
          </a:p>
          <a:p>
            <a:r>
              <a:rPr kumimoji="1" lang="vi-VN" sz="1200" kern="1200" baseline="0" dirty="0">
                <a:solidFill>
                  <a:schemeClr val="tx1"/>
                </a:solidFill>
                <a:latin typeface="Times New Roman" pitchFamily="33" charset="0"/>
                <a:ea typeface="+mn-ea"/>
                <a:cs typeface="+mn-cs"/>
              </a:rPr>
              <a:t>dòng này, hai bóng bán dẫn được bật, cho phép hoạt động đọc hoặc ghi. Cho</a:t>
            </a:r>
          </a:p>
          <a:p>
            <a:r>
              <a:rPr kumimoji="1" lang="vi-VN" sz="1200" kern="1200" baseline="0" dirty="0">
                <a:solidFill>
                  <a:schemeClr val="tx1"/>
                </a:solidFill>
                <a:latin typeface="Times New Roman" pitchFamily="33" charset="0"/>
                <a:ea typeface="+mn-ea"/>
                <a:cs typeface="+mn-cs"/>
              </a:rPr>
              <a:t>một hoạt động ghi, giá trị bit mong muốn được áp dụng cho dòng B, trong khi bổ sung của nó</a:t>
            </a:r>
          </a:p>
          <a:p>
            <a:r>
              <a:rPr kumimoji="1" lang="vi-VN" sz="1200" kern="1200" baseline="0" dirty="0">
                <a:solidFill>
                  <a:schemeClr val="tx1"/>
                </a:solidFill>
                <a:latin typeface="Times New Roman" pitchFamily="33" charset="0"/>
                <a:ea typeface="+mn-ea"/>
                <a:cs typeface="+mn-cs"/>
              </a:rPr>
              <a:t>được áp dụng cho dòng B. Điều này buộc bốn bóng bán dẫn (T1, T2, T3, T4) vào đúng</a:t>
            </a:r>
          </a:p>
          <a:p>
            <a:r>
              <a:rPr kumimoji="1" lang="vi-VN" sz="1200" kern="1200" baseline="0" dirty="0">
                <a:solidFill>
                  <a:schemeClr val="tx1"/>
                </a:solidFill>
                <a:latin typeface="Times New Roman" pitchFamily="33" charset="0"/>
                <a:ea typeface="+mn-ea"/>
                <a:cs typeface="+mn-cs"/>
              </a:rPr>
              <a:t>tiểu bang. Đối với hoạt động đọc, giá trị bit được đọc từ dòng B.</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contrast, a </a:t>
            </a:r>
            <a:r>
              <a:rPr kumimoji="1" lang="en-US" sz="1200" b="1" kern="1200" baseline="0" dirty="0">
                <a:solidFill>
                  <a:schemeClr val="tx1"/>
                </a:solidFill>
                <a:latin typeface="Times New Roman" pitchFamily="33" charset="0"/>
                <a:ea typeface="+mn-ea"/>
                <a:cs typeface="+mn-cs"/>
              </a:rPr>
              <a:t>static RAM (SRAM) </a:t>
            </a:r>
            <a:r>
              <a:rPr kumimoji="1" lang="en-US" sz="1200" b="0" kern="1200" baseline="0" dirty="0">
                <a:solidFill>
                  <a:schemeClr val="tx1"/>
                </a:solidFill>
                <a:latin typeface="Times New Roman" pitchFamily="33" charset="0"/>
                <a:ea typeface="+mn-ea"/>
                <a:cs typeface="+mn-cs"/>
              </a:rPr>
              <a:t>is a digital device that uses the</a:t>
            </a:r>
          </a:p>
          <a:p>
            <a:r>
              <a:rPr kumimoji="1" lang="en-US" sz="1200" kern="1200" baseline="0" dirty="0">
                <a:solidFill>
                  <a:schemeClr val="tx1"/>
                </a:solidFill>
                <a:latin typeface="Times New Roman" pitchFamily="33" charset="0"/>
                <a:ea typeface="+mn-ea"/>
                <a:cs typeface="+mn-cs"/>
              </a:rPr>
              <a:t>same logic elements used in the processor. In a SRAM, binary values are stored</a:t>
            </a:r>
          </a:p>
          <a:p>
            <a:r>
              <a:rPr kumimoji="1" lang="en-US" sz="1200" kern="1200" baseline="0" dirty="0">
                <a:solidFill>
                  <a:schemeClr val="tx1"/>
                </a:solidFill>
                <a:latin typeface="Times New Roman" pitchFamily="33" charset="0"/>
                <a:ea typeface="+mn-ea"/>
                <a:cs typeface="+mn-cs"/>
              </a:rPr>
              <a:t>using traditional flip-flop logic-gate configurations (see Chapter 11 for a description</a:t>
            </a:r>
          </a:p>
          <a:p>
            <a:r>
              <a:rPr kumimoji="1" lang="en-US" sz="1200" kern="1200" baseline="0" dirty="0">
                <a:solidFill>
                  <a:schemeClr val="tx1"/>
                </a:solidFill>
                <a:latin typeface="Times New Roman" pitchFamily="33" charset="0"/>
                <a:ea typeface="+mn-ea"/>
                <a:cs typeface="+mn-cs"/>
              </a:rPr>
              <a:t>of flip-flops). A static RAM will hold its data as long as power is supplied to it.</a:t>
            </a:r>
          </a:p>
          <a:p>
            <a:r>
              <a:rPr kumimoji="1" lang="en-US" sz="1200" kern="1200" baseline="0" dirty="0">
                <a:solidFill>
                  <a:schemeClr val="tx1"/>
                </a:solidFill>
                <a:latin typeface="Times New Roman" pitchFamily="33" charset="0"/>
                <a:ea typeface="+mn-ea"/>
                <a:cs typeface="+mn-cs"/>
              </a:rPr>
              <a:t>Figure 5.2b is a typical SRAM structure for an individual cell. Four transistors</a:t>
            </a:r>
          </a:p>
          <a:p>
            <a:r>
              <a:rPr kumimoji="1" lang="en-US" sz="1200" kern="1200" baseline="0" dirty="0">
                <a:solidFill>
                  <a:schemeClr val="tx1"/>
                </a:solidFill>
                <a:latin typeface="Times New Roman" pitchFamily="33" charset="0"/>
                <a:ea typeface="+mn-ea"/>
                <a:cs typeface="+mn-cs"/>
              </a:rPr>
              <a:t>(T</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3</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4</a:t>
            </a:r>
            <a:r>
              <a:rPr kumimoji="1" lang="en-US" sz="1200" kern="1200" baseline="0" dirty="0">
                <a:solidFill>
                  <a:schemeClr val="tx1"/>
                </a:solidFill>
                <a:latin typeface="Times New Roman" pitchFamily="33" charset="0"/>
                <a:ea typeface="+mn-ea"/>
                <a:cs typeface="+mn-cs"/>
              </a:rPr>
              <a:t>) are cross connected in an arrangement that produces a stable logic</a:t>
            </a:r>
          </a:p>
          <a:p>
            <a:r>
              <a:rPr kumimoji="1" lang="en-US" sz="1200" kern="1200" baseline="0" dirty="0">
                <a:solidFill>
                  <a:schemeClr val="tx1"/>
                </a:solidFill>
                <a:latin typeface="Times New Roman" pitchFamily="33" charset="0"/>
                <a:ea typeface="+mn-ea"/>
                <a:cs typeface="+mn-cs"/>
              </a:rPr>
              <a:t>state. In logic state 1, point C</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is high and point C</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is low; in this state, T</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and T</a:t>
            </a:r>
            <a:r>
              <a:rPr kumimoji="1" lang="en-US" sz="1200" kern="1200" baseline="-25000" dirty="0">
                <a:solidFill>
                  <a:schemeClr val="tx1"/>
                </a:solidFill>
                <a:latin typeface="Times New Roman" pitchFamily="33" charset="0"/>
                <a:ea typeface="+mn-ea"/>
                <a:cs typeface="+mn-cs"/>
              </a:rPr>
              <a:t>4</a:t>
            </a:r>
            <a:r>
              <a:rPr kumimoji="1" lang="en-US" sz="1200" kern="1200" baseline="0" dirty="0">
                <a:solidFill>
                  <a:schemeClr val="tx1"/>
                </a:solidFill>
                <a:latin typeface="Times New Roman" pitchFamily="33" charset="0"/>
                <a:ea typeface="+mn-ea"/>
                <a:cs typeface="+mn-cs"/>
              </a:rPr>
              <a:t> are off</a:t>
            </a:r>
          </a:p>
          <a:p>
            <a:r>
              <a:rPr kumimoji="1" lang="en-US" sz="1200" kern="1200" baseline="0" dirty="0">
                <a:solidFill>
                  <a:schemeClr val="tx1"/>
                </a:solidFill>
                <a:latin typeface="Times New Roman" pitchFamily="33" charset="0"/>
                <a:ea typeface="+mn-ea"/>
                <a:cs typeface="+mn-cs"/>
              </a:rPr>
              <a:t>and T</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and T</a:t>
            </a:r>
            <a:r>
              <a:rPr kumimoji="1" lang="en-US" sz="1200" kern="1200" baseline="-25000" dirty="0">
                <a:solidFill>
                  <a:schemeClr val="tx1"/>
                </a:solidFill>
                <a:latin typeface="Times New Roman" pitchFamily="33" charset="0"/>
                <a:ea typeface="+mn-ea"/>
                <a:cs typeface="+mn-cs"/>
              </a:rPr>
              <a:t>3</a:t>
            </a:r>
            <a:r>
              <a:rPr kumimoji="1" lang="en-US" sz="1200" kern="1200" baseline="0" dirty="0">
                <a:solidFill>
                  <a:schemeClr val="tx1"/>
                </a:solidFill>
                <a:latin typeface="Times New Roman" pitchFamily="33" charset="0"/>
                <a:ea typeface="+mn-ea"/>
                <a:cs typeface="+mn-cs"/>
              </a:rPr>
              <a:t> are on. In logic state 0, point C</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is low and point C</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is high; in this state,</a:t>
            </a:r>
          </a:p>
          <a:p>
            <a:r>
              <a:rPr kumimoji="1" lang="en-US" sz="1200" kern="1200" baseline="0" dirty="0">
                <a:solidFill>
                  <a:schemeClr val="tx1"/>
                </a:solidFill>
                <a:latin typeface="Times New Roman" pitchFamily="33" charset="0"/>
                <a:ea typeface="+mn-ea"/>
                <a:cs typeface="+mn-cs"/>
              </a:rPr>
              <a:t>T</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and T</a:t>
            </a:r>
            <a:r>
              <a:rPr kumimoji="1" lang="en-US" sz="1200" kern="1200" baseline="-25000" dirty="0">
                <a:solidFill>
                  <a:schemeClr val="tx1"/>
                </a:solidFill>
                <a:latin typeface="Times New Roman" pitchFamily="33" charset="0"/>
                <a:ea typeface="+mn-ea"/>
                <a:cs typeface="+mn-cs"/>
              </a:rPr>
              <a:t>4</a:t>
            </a:r>
            <a:r>
              <a:rPr kumimoji="1" lang="en-US" sz="1200" kern="1200" baseline="0" dirty="0">
                <a:solidFill>
                  <a:schemeClr val="tx1"/>
                </a:solidFill>
                <a:latin typeface="Times New Roman" pitchFamily="33" charset="0"/>
                <a:ea typeface="+mn-ea"/>
                <a:cs typeface="+mn-cs"/>
              </a:rPr>
              <a:t> are on and T</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and T</a:t>
            </a:r>
            <a:r>
              <a:rPr kumimoji="1" lang="en-US" sz="1200" kern="1200" baseline="-25000" dirty="0">
                <a:solidFill>
                  <a:schemeClr val="tx1"/>
                </a:solidFill>
                <a:latin typeface="Times New Roman" pitchFamily="33" charset="0"/>
                <a:ea typeface="+mn-ea"/>
                <a:cs typeface="+mn-cs"/>
              </a:rPr>
              <a:t>3</a:t>
            </a:r>
            <a:r>
              <a:rPr kumimoji="1" lang="en-US" sz="1200" kern="1200" baseline="0" dirty="0">
                <a:solidFill>
                  <a:schemeClr val="tx1"/>
                </a:solidFill>
                <a:latin typeface="Times New Roman" pitchFamily="33" charset="0"/>
                <a:ea typeface="+mn-ea"/>
                <a:cs typeface="+mn-cs"/>
              </a:rPr>
              <a:t> are off. Both states are stable as long as the direct</a:t>
            </a:r>
          </a:p>
          <a:p>
            <a:r>
              <a:rPr kumimoji="1" lang="en-US" sz="1200" kern="1200" baseline="0" dirty="0">
                <a:solidFill>
                  <a:schemeClr val="tx1"/>
                </a:solidFill>
                <a:latin typeface="Times New Roman" pitchFamily="33" charset="0"/>
                <a:ea typeface="+mn-ea"/>
                <a:cs typeface="+mn-cs"/>
              </a:rPr>
              <a:t>current (dc) voltage is applied. Unlike the DRAM, no refresh is needed to retain data.</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in the DRAM, the SRAM address line is used to open or close a switch.</a:t>
            </a:r>
          </a:p>
          <a:p>
            <a:r>
              <a:rPr kumimoji="1" lang="en-US" sz="1200" kern="1200" baseline="0" dirty="0">
                <a:solidFill>
                  <a:schemeClr val="tx1"/>
                </a:solidFill>
                <a:latin typeface="Times New Roman" pitchFamily="33" charset="0"/>
                <a:ea typeface="+mn-ea"/>
                <a:cs typeface="+mn-cs"/>
              </a:rPr>
              <a:t>The address line controls two transistors (T</a:t>
            </a:r>
            <a:r>
              <a:rPr kumimoji="1" lang="en-US" sz="1200" kern="1200" baseline="-25000" dirty="0">
                <a:solidFill>
                  <a:schemeClr val="tx1"/>
                </a:solidFill>
                <a:latin typeface="Times New Roman" pitchFamily="33" charset="0"/>
                <a:ea typeface="+mn-ea"/>
                <a:cs typeface="+mn-cs"/>
              </a:rPr>
              <a:t>5</a:t>
            </a:r>
            <a:r>
              <a:rPr kumimoji="1" lang="en-US" sz="1200" kern="1200" baseline="0" dirty="0">
                <a:solidFill>
                  <a:schemeClr val="tx1"/>
                </a:solidFill>
                <a:latin typeface="Times New Roman" pitchFamily="33" charset="0"/>
                <a:ea typeface="+mn-ea"/>
                <a:cs typeface="+mn-cs"/>
              </a:rPr>
              <a:t> and T</a:t>
            </a:r>
            <a:r>
              <a:rPr kumimoji="1" lang="en-US" sz="1200" kern="1200" baseline="-25000" dirty="0">
                <a:solidFill>
                  <a:schemeClr val="tx1"/>
                </a:solidFill>
                <a:latin typeface="Times New Roman" pitchFamily="33" charset="0"/>
                <a:ea typeface="+mn-ea"/>
                <a:cs typeface="+mn-cs"/>
              </a:rPr>
              <a:t>6</a:t>
            </a:r>
            <a:r>
              <a:rPr kumimoji="1" lang="en-US" sz="1200" kern="1200" baseline="0" dirty="0">
                <a:solidFill>
                  <a:schemeClr val="tx1"/>
                </a:solidFill>
                <a:latin typeface="Times New Roman" pitchFamily="33" charset="0"/>
                <a:ea typeface="+mn-ea"/>
                <a:cs typeface="+mn-cs"/>
              </a:rPr>
              <a:t>). When a signal is applied to</a:t>
            </a:r>
          </a:p>
          <a:p>
            <a:r>
              <a:rPr kumimoji="1" lang="en-US" sz="1200" kern="1200" baseline="0" dirty="0">
                <a:solidFill>
                  <a:schemeClr val="tx1"/>
                </a:solidFill>
                <a:latin typeface="Times New Roman" pitchFamily="33" charset="0"/>
                <a:ea typeface="+mn-ea"/>
                <a:cs typeface="+mn-cs"/>
              </a:rPr>
              <a:t>this line, the two transistors are switched on, allowing a read or write operation. For</a:t>
            </a:r>
          </a:p>
          <a:p>
            <a:r>
              <a:rPr kumimoji="1" lang="en-US" sz="1200" kern="1200" baseline="0" dirty="0">
                <a:solidFill>
                  <a:schemeClr val="tx1"/>
                </a:solidFill>
                <a:latin typeface="Times New Roman" pitchFamily="33" charset="0"/>
                <a:ea typeface="+mn-ea"/>
                <a:cs typeface="+mn-cs"/>
              </a:rPr>
              <a:t>a write operation, the desired bit value is applied to line B, while its complement</a:t>
            </a:r>
          </a:p>
          <a:p>
            <a:r>
              <a:rPr kumimoji="1" lang="en-US" sz="1200" kern="1200" baseline="0" dirty="0">
                <a:solidFill>
                  <a:schemeClr val="tx1"/>
                </a:solidFill>
                <a:latin typeface="Times New Roman" pitchFamily="33" charset="0"/>
                <a:ea typeface="+mn-ea"/>
                <a:cs typeface="+mn-cs"/>
              </a:rPr>
              <a:t>is applied to line B. This forces the four transistors (T</a:t>
            </a:r>
            <a:r>
              <a:rPr kumimoji="1" lang="en-US" sz="1200" kern="1200" baseline="-25000" dirty="0">
                <a:solidFill>
                  <a:schemeClr val="tx1"/>
                </a:solidFill>
                <a:latin typeface="Times New Roman" pitchFamily="33" charset="0"/>
                <a:ea typeface="+mn-ea"/>
                <a:cs typeface="+mn-cs"/>
              </a:rPr>
              <a:t>1</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2</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3</a:t>
            </a:r>
            <a:r>
              <a:rPr kumimoji="1" lang="en-US" sz="1200" kern="1200" baseline="0" dirty="0">
                <a:solidFill>
                  <a:schemeClr val="tx1"/>
                </a:solidFill>
                <a:latin typeface="Times New Roman" pitchFamily="33" charset="0"/>
                <a:ea typeface="+mn-ea"/>
                <a:cs typeface="+mn-cs"/>
              </a:rPr>
              <a:t>, T</a:t>
            </a:r>
            <a:r>
              <a:rPr kumimoji="1" lang="en-US" sz="1200" kern="1200" baseline="-25000" dirty="0">
                <a:solidFill>
                  <a:schemeClr val="tx1"/>
                </a:solidFill>
                <a:latin typeface="Times New Roman" pitchFamily="33" charset="0"/>
                <a:ea typeface="+mn-ea"/>
                <a:cs typeface="+mn-cs"/>
              </a:rPr>
              <a:t>4</a:t>
            </a:r>
            <a:r>
              <a:rPr kumimoji="1" lang="en-US" sz="1200" kern="1200" baseline="0" dirty="0">
                <a:solidFill>
                  <a:schemeClr val="tx1"/>
                </a:solidFill>
                <a:latin typeface="Times New Roman" pitchFamily="33" charset="0"/>
                <a:ea typeface="+mn-ea"/>
                <a:cs typeface="+mn-cs"/>
              </a:rPr>
              <a:t>) into the proper</a:t>
            </a:r>
          </a:p>
          <a:p>
            <a:r>
              <a:rPr kumimoji="1" lang="en-US" sz="1200" kern="1200" baseline="0" dirty="0">
                <a:solidFill>
                  <a:schemeClr val="tx1"/>
                </a:solidFill>
                <a:latin typeface="Times New Roman" pitchFamily="33" charset="0"/>
                <a:ea typeface="+mn-ea"/>
                <a:cs typeface="+mn-cs"/>
              </a:rPr>
              <a:t>state. For a read operation, the bit value is read from line B.</a:t>
            </a:r>
          </a:p>
          <a:p>
            <a:endParaRPr kumimoji="1" lang="en-US" sz="1200" kern="1200" baseline="0" dirty="0">
              <a:solidFill>
                <a:schemeClr val="tx1"/>
              </a:solidFill>
              <a:latin typeface="Times New Roman" pitchFamily="33" charset="0"/>
              <a:ea typeface="+mn-ea"/>
              <a:cs typeface="+mn-cs"/>
            </a:endParaRPr>
          </a:p>
          <a:p>
            <a:r>
              <a:rPr lang="en-US" b="0" i="0" dirty="0">
                <a:solidFill>
                  <a:srgbClr val="202122"/>
                </a:solidFill>
                <a:effectLst/>
                <a:latin typeface="Arial" panose="020B0604020202020204" pitchFamily="34" charset="0"/>
              </a:rPr>
              <a:t>In </a:t>
            </a:r>
            <a:r>
              <a:rPr lang="en-US" b="0" i="0" u="none" strike="noStrike" dirty="0">
                <a:solidFill>
                  <a:srgbClr val="0645AD"/>
                </a:solidFill>
                <a:effectLst/>
                <a:latin typeface="Arial" panose="020B0604020202020204" pitchFamily="34" charset="0"/>
                <a:hlinkClick r:id="rId3" tooltip="Electronics"/>
              </a:rPr>
              <a:t>electronics</a:t>
            </a:r>
            <a:r>
              <a:rPr lang="en-US" b="0" i="0" dirty="0">
                <a:solidFill>
                  <a:srgbClr val="202122"/>
                </a:solidFill>
                <a:effectLst/>
                <a:latin typeface="Arial" panose="020B0604020202020204" pitchFamily="34" charset="0"/>
              </a:rPr>
              <a:t>, a </a:t>
            </a:r>
            <a:r>
              <a:rPr lang="en-US" b="1" i="0" dirty="0">
                <a:solidFill>
                  <a:srgbClr val="202122"/>
                </a:solidFill>
                <a:effectLst/>
                <a:latin typeface="Arial" panose="020B0604020202020204" pitchFamily="34" charset="0"/>
              </a:rPr>
              <a:t>flip-flop</a:t>
            </a:r>
            <a:r>
              <a:rPr lang="en-US" b="0" i="0" dirty="0">
                <a:solidFill>
                  <a:srgbClr val="202122"/>
                </a:solidFill>
                <a:effectLst/>
                <a:latin typeface="Arial" panose="020B0604020202020204" pitchFamily="34" charset="0"/>
              </a:rPr>
              <a:t> or </a:t>
            </a:r>
            <a:r>
              <a:rPr lang="en-US" b="1" i="0" dirty="0">
                <a:solidFill>
                  <a:srgbClr val="202122"/>
                </a:solidFill>
                <a:effectLst/>
                <a:latin typeface="Arial" panose="020B0604020202020204" pitchFamily="34" charset="0"/>
              </a:rPr>
              <a:t>latch</a:t>
            </a:r>
            <a:r>
              <a:rPr lang="en-US" b="0" i="0" dirty="0">
                <a:solidFill>
                  <a:srgbClr val="202122"/>
                </a:solidFill>
                <a:effectLst/>
                <a:latin typeface="Arial" panose="020B0604020202020204" pitchFamily="34" charset="0"/>
              </a:rPr>
              <a:t> is a </a:t>
            </a:r>
            <a:r>
              <a:rPr lang="en-US" b="0" i="0" u="none" strike="noStrike" dirty="0">
                <a:solidFill>
                  <a:srgbClr val="0645AD"/>
                </a:solidFill>
                <a:effectLst/>
                <a:latin typeface="Arial" panose="020B0604020202020204" pitchFamily="34" charset="0"/>
                <a:hlinkClick r:id="rId4" tooltip="Electronic circuit"/>
              </a:rPr>
              <a:t>circuit</a:t>
            </a:r>
            <a:r>
              <a:rPr lang="en-US" b="0" i="0" dirty="0">
                <a:solidFill>
                  <a:srgbClr val="202122"/>
                </a:solidFill>
                <a:effectLst/>
                <a:latin typeface="Arial" panose="020B0604020202020204" pitchFamily="34" charset="0"/>
              </a:rPr>
              <a:t> that has two stable states and can be used to store state information – a </a:t>
            </a:r>
            <a:r>
              <a:rPr lang="en-US" b="0" i="0" u="none" strike="noStrike" dirty="0">
                <a:solidFill>
                  <a:srgbClr val="0645AD"/>
                </a:solidFill>
                <a:effectLst/>
                <a:latin typeface="Arial" panose="020B0604020202020204" pitchFamily="34" charset="0"/>
                <a:hlinkClick r:id="rId5" tooltip="Bistable multivibrator"/>
              </a:rPr>
              <a:t>bistable multivibrator</a:t>
            </a:r>
            <a:r>
              <a:rPr lang="en-US" b="0" i="0" dirty="0">
                <a:solidFill>
                  <a:srgbClr val="202122"/>
                </a:solidFill>
                <a:effectLst/>
                <a:latin typeface="Arial" panose="020B0604020202020204" pitchFamily="34" charset="0"/>
              </a:rPr>
              <a:t>. The circuit can be made to change state by </a:t>
            </a:r>
            <a:r>
              <a:rPr lang="en-US" b="0" i="0" u="none" strike="noStrike" dirty="0">
                <a:solidFill>
                  <a:srgbClr val="0645AD"/>
                </a:solidFill>
                <a:effectLst/>
                <a:latin typeface="Arial" panose="020B0604020202020204" pitchFamily="34" charset="0"/>
                <a:hlinkClick r:id="rId6" tooltip="Signal"/>
              </a:rPr>
              <a:t>signals</a:t>
            </a:r>
            <a:r>
              <a:rPr lang="en-US" b="0" i="0" dirty="0">
                <a:solidFill>
                  <a:srgbClr val="202122"/>
                </a:solidFill>
                <a:effectLst/>
                <a:latin typeface="Arial" panose="020B0604020202020204" pitchFamily="34" charset="0"/>
              </a:rPr>
              <a:t> applied to one or more control inputs and will have one or two outputs. It is the basic storage element in </a:t>
            </a:r>
            <a:r>
              <a:rPr lang="en-US" b="0" i="0" u="none" strike="noStrike" dirty="0">
                <a:solidFill>
                  <a:srgbClr val="0645AD"/>
                </a:solidFill>
                <a:effectLst/>
                <a:latin typeface="Arial" panose="020B0604020202020204" pitchFamily="34" charset="0"/>
                <a:hlinkClick r:id="rId7" tooltip="Sequential logic"/>
              </a:rPr>
              <a:t>sequential logic</a:t>
            </a:r>
            <a:r>
              <a:rPr lang="en-US" b="0" i="0" dirty="0">
                <a:solidFill>
                  <a:srgbClr val="202122"/>
                </a:solidFill>
                <a:effectLst/>
                <a:latin typeface="Arial" panose="020B0604020202020204" pitchFamily="34" charset="0"/>
              </a:rPr>
              <a:t>. </a:t>
            </a:r>
            <a:r>
              <a:rPr lang="en-US" b="0" i="0">
                <a:solidFill>
                  <a:srgbClr val="202122"/>
                </a:solidFill>
                <a:effectLst/>
                <a:latin typeface="Arial" panose="020B0604020202020204" pitchFamily="34" charset="0"/>
              </a:rPr>
              <a:t>Flip-flops and latches are fundamental building blocks of </a:t>
            </a:r>
            <a:r>
              <a:rPr lang="en-US" b="0" i="0" u="none" strike="noStrike">
                <a:solidFill>
                  <a:srgbClr val="0645AD"/>
                </a:solidFill>
                <a:effectLst/>
                <a:latin typeface="Arial" panose="020B0604020202020204" pitchFamily="34" charset="0"/>
                <a:hlinkClick r:id="rId8" tooltip="Digital electronics"/>
              </a:rPr>
              <a:t>digital electronics</a:t>
            </a:r>
            <a:r>
              <a:rPr lang="en-US" b="0" i="0">
                <a:solidFill>
                  <a:srgbClr val="202122"/>
                </a:solidFill>
                <a:effectLst/>
                <a:latin typeface="Arial" panose="020B0604020202020204" pitchFamily="34" charset="0"/>
              </a:rPr>
              <a:t> systems used in computers, communications, and many other types of systems.</a:t>
            </a:r>
            <a:endParaRPr kumimoji="1" lang="en-US" sz="1200" kern="1200" baseline="0" dirty="0">
              <a:solidFill>
                <a:schemeClr val="tx1"/>
              </a:solidFill>
              <a:latin typeface="Times New Roman" pitchFamily="33" charset="0"/>
              <a:ea typeface="+mn-ea"/>
              <a:cs typeface="+mn-cs"/>
            </a:endParaRPr>
          </a:p>
          <a:p>
            <a:endParaRPr lang="en-GB"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Cả hai biến đổi: Điện phải được liên tục cung cấp vào bộ nhớ để bảo vệ các giá trị bit</a:t>
            </a:r>
          </a:p>
          <a:p>
            <a:r>
              <a:rPr kumimoji="1" lang="vi-VN" sz="1200" kern="1200" baseline="0" dirty="0">
                <a:solidFill>
                  <a:schemeClr val="tx1"/>
                </a:solidFill>
                <a:latin typeface="Times New Roman" pitchFamily="33" charset="0"/>
                <a:ea typeface="+mn-ea"/>
                <a:cs typeface="+mn-cs"/>
              </a:rPr>
              <a:t>Tế bào động</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Đơn giản hơn để xây dựng, nhỏ hơn</a:t>
            </a:r>
          </a:p>
          <a:p>
            <a:r>
              <a:rPr kumimoji="1" lang="vi-VN" sz="1200" kern="1200" baseline="0" dirty="0">
                <a:solidFill>
                  <a:schemeClr val="tx1"/>
                </a:solidFill>
                <a:latin typeface="Times New Roman" pitchFamily="33" charset="0"/>
                <a:ea typeface="+mn-ea"/>
                <a:cs typeface="+mn-cs"/>
              </a:rPr>
              <a:t>  </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(các tế bào nhỏ hơn = nhiều tế bào hơn trên một đơn vị diện tích)</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Ít tốn kém</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Yêu cầu mạch làm mới hỗ trợ</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Có xu hướng được yêu thích cho các yêu cầu bộ nhớ lớn</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Được sử dụng cho bộ nhớ chính</a:t>
            </a:r>
          </a:p>
          <a:p>
            <a:r>
              <a:rPr kumimoji="1" lang="vi-VN" sz="1200" kern="1200" baseline="0" dirty="0">
                <a:solidFill>
                  <a:schemeClr val="tx1"/>
                </a:solidFill>
                <a:latin typeface="Times New Roman" pitchFamily="33" charset="0"/>
                <a:ea typeface="+mn-ea"/>
                <a:cs typeface="+mn-cs"/>
              </a:rPr>
              <a:t>Tĩnh</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Nhanh hơn</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Được sử dụng cho bộ nhớ cache (cả trên và ngoài chip)</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Cả RAM tĩnh và động đều biến đổi; đó là,</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nguoon</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dien</a:t>
            </a:r>
            <a:r>
              <a:rPr kumimoji="1" lang="vi-VN" sz="1200" kern="1200" baseline="0" dirty="0">
                <a:solidFill>
                  <a:schemeClr val="tx1"/>
                </a:solidFill>
                <a:latin typeface="Times New Roman" pitchFamily="33" charset="0"/>
                <a:ea typeface="+mn-ea"/>
                <a:cs typeface="+mn-cs"/>
              </a:rPr>
              <a:t> phải được liên tục cung cấp vào bộ nhớ để bảo vệ các giá trị bit.</a:t>
            </a:r>
          </a:p>
          <a:p>
            <a:r>
              <a:rPr kumimoji="1" lang="vi-VN" sz="1200" kern="1200" baseline="0" dirty="0">
                <a:solidFill>
                  <a:schemeClr val="tx1"/>
                </a:solidFill>
                <a:latin typeface="Times New Roman" pitchFamily="33" charset="0"/>
                <a:ea typeface="+mn-ea"/>
                <a:cs typeface="+mn-cs"/>
              </a:rPr>
              <a:t>Một tế bào bộ nhớ động đơn giản hơn và nhỏ hơn tế bào bộ nhớ tĩnh. Như vậy, một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DRAM là dày đặc hơn (các tế bào nhỏ hơn = nhiều tế bào trên một đơn vị diện tích) và ít tốn kém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hơn một SRAM tương ứng. Mặt khác, một DRAM yêu cầu hỗ trợ</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làm mới mạch. Đối với những bộ nhớ lớn hơn, chi phí cố định của mạch làm mới hơn</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hơn bù đắp bởi chi phí thay đổi nhỏ hơn của các tế bào DRAM. Do đó, DRAMs</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có xu hướng được yêu thích cho các yêu cầu bộ nhớ lớn. Điểm cuối cùng là SRAM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nhanh hơn DRAMs. Do những đặc điểm tương đối này, nên SRAM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được sử dụng cho bộ nhớ cache (cả trên và ngoài chip), và DRAM được sử dụng cho bộ nhớ chính.</a:t>
            </a:r>
            <a:r>
              <a:rPr kumimoji="1" lang="en-US" sz="1200" kern="1200" baseline="0" dirty="0">
                <a:solidFill>
                  <a:schemeClr val="tx1"/>
                </a:solidFill>
                <a:latin typeface="Times New Roman" pitchFamily="33" charset="0"/>
                <a:ea typeface="+mn-ea"/>
                <a:cs typeface="+mn-cs"/>
              </a:rPr>
              <a:t> </a:t>
            </a:r>
          </a:p>
          <a:p>
            <a:r>
              <a:rPr kumimoji="1" lang="en-US" sz="1200" kern="1200" baseline="0" dirty="0">
                <a:solidFill>
                  <a:schemeClr val="tx1"/>
                </a:solidFill>
                <a:latin typeface="Times New Roman" pitchFamily="33" charset="0"/>
                <a:ea typeface="+mn-ea"/>
                <a:cs typeface="+mn-cs"/>
              </a:rPr>
              <a:t>Both static and dynamic RAMs are volatile; that is,</a:t>
            </a:r>
          </a:p>
          <a:p>
            <a:r>
              <a:rPr kumimoji="1" lang="en-US" sz="1200" kern="1200" baseline="0" dirty="0">
                <a:solidFill>
                  <a:schemeClr val="tx1"/>
                </a:solidFill>
                <a:latin typeface="Times New Roman" pitchFamily="33" charset="0"/>
                <a:ea typeface="+mn-ea"/>
                <a:cs typeface="+mn-cs"/>
              </a:rPr>
              <a:t>power must be continuously supplied to the memory to preserve the bit values.</a:t>
            </a:r>
          </a:p>
          <a:p>
            <a:r>
              <a:rPr kumimoji="1" lang="en-US" sz="1200" kern="1200" baseline="0" dirty="0">
                <a:solidFill>
                  <a:schemeClr val="tx1"/>
                </a:solidFill>
                <a:latin typeface="Times New Roman" pitchFamily="33" charset="0"/>
                <a:ea typeface="+mn-ea"/>
                <a:cs typeface="+mn-cs"/>
              </a:rPr>
              <a:t>A dynamic memory cell is simpler and smaller than a static memory cell. Thus, a</a:t>
            </a:r>
          </a:p>
          <a:p>
            <a:r>
              <a:rPr kumimoji="1" lang="en-US" sz="1200" kern="1200" baseline="0" dirty="0">
                <a:solidFill>
                  <a:schemeClr val="tx1"/>
                </a:solidFill>
                <a:latin typeface="Times New Roman" pitchFamily="33" charset="0"/>
                <a:ea typeface="+mn-ea"/>
                <a:cs typeface="+mn-cs"/>
              </a:rPr>
              <a:t>DRAM is more dense (smaller cells = more cells per unit area) and less expensive</a:t>
            </a:r>
          </a:p>
          <a:p>
            <a:r>
              <a:rPr kumimoji="1" lang="en-US" sz="1200" kern="1200" baseline="0" dirty="0">
                <a:solidFill>
                  <a:schemeClr val="tx1"/>
                </a:solidFill>
                <a:latin typeface="Times New Roman" pitchFamily="33" charset="0"/>
                <a:ea typeface="+mn-ea"/>
                <a:cs typeface="+mn-cs"/>
              </a:rPr>
              <a:t>than a corresponding SRAM. On the other hand, a DRAM requires the supporting</a:t>
            </a:r>
          </a:p>
          <a:p>
            <a:r>
              <a:rPr kumimoji="1" lang="en-US" sz="1200" kern="1200" baseline="0" dirty="0">
                <a:solidFill>
                  <a:schemeClr val="tx1"/>
                </a:solidFill>
                <a:latin typeface="Times New Roman" pitchFamily="33" charset="0"/>
                <a:ea typeface="+mn-ea"/>
                <a:cs typeface="+mn-cs"/>
              </a:rPr>
              <a:t>refresh circuitry. For larger memories, the fixed cost of the refresh circuitry is more</a:t>
            </a:r>
          </a:p>
          <a:p>
            <a:r>
              <a:rPr kumimoji="1" lang="en-US" sz="1200" kern="1200" baseline="0" dirty="0">
                <a:solidFill>
                  <a:schemeClr val="tx1"/>
                </a:solidFill>
                <a:latin typeface="Times New Roman" pitchFamily="33" charset="0"/>
                <a:ea typeface="+mn-ea"/>
                <a:cs typeface="+mn-cs"/>
              </a:rPr>
              <a:t>than compensated for by the smaller variable cost of DRAM cells. Thus, DRAMs</a:t>
            </a:r>
          </a:p>
          <a:p>
            <a:r>
              <a:rPr kumimoji="1" lang="en-US" sz="1200" kern="1200" baseline="0" dirty="0">
                <a:solidFill>
                  <a:schemeClr val="tx1"/>
                </a:solidFill>
                <a:latin typeface="Times New Roman" pitchFamily="33" charset="0"/>
                <a:ea typeface="+mn-ea"/>
                <a:cs typeface="+mn-cs"/>
              </a:rPr>
              <a:t>tend to be favored for large memory requirements. A final point is that SRAMs are</a:t>
            </a:r>
          </a:p>
          <a:p>
            <a:r>
              <a:rPr kumimoji="1" lang="en-US" sz="1200" kern="1200" baseline="0" dirty="0">
                <a:solidFill>
                  <a:schemeClr val="tx1"/>
                </a:solidFill>
                <a:latin typeface="Times New Roman" pitchFamily="33" charset="0"/>
                <a:ea typeface="+mn-ea"/>
                <a:cs typeface="+mn-cs"/>
              </a:rPr>
              <a:t>somewhat faster than DRAMs. Because of these relative characteristics, SRAM is</a:t>
            </a:r>
          </a:p>
          <a:p>
            <a:r>
              <a:rPr kumimoji="1" lang="en-US" sz="1200" kern="1200" baseline="0" dirty="0">
                <a:solidFill>
                  <a:schemeClr val="tx1"/>
                </a:solidFill>
                <a:latin typeface="Times New Roman" pitchFamily="33" charset="0"/>
                <a:ea typeface="+mn-ea"/>
                <a:cs typeface="+mn-cs"/>
              </a:rPr>
              <a:t>used for cache memory (both on and off chip), and DRAM is used for main memory.</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488C55-A478-E147-A620-DAE8B070FDAB}" type="slidenum">
              <a:rPr lang="en-US"/>
              <a:pPr/>
              <a:t>10</a:t>
            </a:fld>
            <a:endParaRPr lang="en-US" dirty="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rgbClr val="002060"/>
                </a:solidFill>
              </a:rPr>
              <a:t>fabrication process: qui </a:t>
            </a:r>
            <a:r>
              <a:rPr lang="en-US" sz="1200" dirty="0" err="1">
                <a:solidFill>
                  <a:srgbClr val="002060"/>
                </a:solidFill>
              </a:rPr>
              <a:t>trình</a:t>
            </a:r>
            <a:r>
              <a:rPr lang="en-US" sz="1200" dirty="0">
                <a:solidFill>
                  <a:srgbClr val="002060"/>
                </a:solidFill>
              </a:rPr>
              <a:t> </a:t>
            </a:r>
            <a:r>
              <a:rPr lang="en-US" sz="1200" dirty="0" err="1">
                <a:solidFill>
                  <a:srgbClr val="002060"/>
                </a:solidFill>
              </a:rPr>
              <a:t>chế</a:t>
            </a:r>
            <a:r>
              <a:rPr lang="en-US" sz="1200" dirty="0">
                <a:solidFill>
                  <a:srgbClr val="002060"/>
                </a:solidFill>
              </a:rPr>
              <a:t> </a:t>
            </a:r>
            <a:r>
              <a:rPr lang="en-US" sz="1200" dirty="0" err="1">
                <a:solidFill>
                  <a:srgbClr val="002060"/>
                </a:solidFill>
              </a:rPr>
              <a:t>tạo</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Chứa một mẫu dữ liệu vĩnh viễn không thể thay đổi hoặc thêm vào</a:t>
            </a:r>
          </a:p>
          <a:p>
            <a:r>
              <a:rPr kumimoji="1" lang="vi-VN" sz="1200" kern="1200" baseline="0" dirty="0">
                <a:solidFill>
                  <a:schemeClr val="tx1"/>
                </a:solidFill>
                <a:latin typeface="Times New Roman" pitchFamily="33" charset="0"/>
                <a:ea typeface="+mn-ea"/>
                <a:cs typeface="+mn-cs"/>
              </a:rPr>
              <a:t>Không cần nguồn điện để duy trì các giá trị bit trong bộ nhớ</a:t>
            </a:r>
          </a:p>
          <a:p>
            <a:r>
              <a:rPr kumimoji="1" lang="vi-VN" sz="1200" kern="1200" baseline="0" dirty="0">
                <a:solidFill>
                  <a:schemeClr val="tx1"/>
                </a:solidFill>
                <a:latin typeface="Times New Roman" pitchFamily="33" charset="0"/>
                <a:ea typeface="+mn-ea"/>
                <a:cs typeface="+mn-cs"/>
              </a:rPr>
              <a:t>Dữ liệu hoặc chương trình là vĩnh viễn trong bộ nhớ chính và không bao giờ cần phải được nạp từ một thiết bị lưu trữ thứ cấp</a:t>
            </a:r>
          </a:p>
          <a:p>
            <a:r>
              <a:rPr kumimoji="1" lang="vi-VN" sz="1200" kern="1200" baseline="0" dirty="0">
                <a:solidFill>
                  <a:schemeClr val="tx1"/>
                </a:solidFill>
                <a:latin typeface="Times New Roman" pitchFamily="33" charset="0"/>
                <a:ea typeface="+mn-ea"/>
                <a:cs typeface="+mn-cs"/>
              </a:rPr>
              <a:t>Dữ liệu thực sự có dây vào chip như là một phần của quá trình chế tạo</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Nhược điểm của việc này:</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Không có chỗ cho lỗi, nếu một chút là sai toàn bộ lô ROMs phải được ném ra</a:t>
            </a:r>
          </a:p>
          <a:p>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Bước chèn dữ liệu bao gồm chi phí cố định tương đối lớn</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the name suggests, a </a:t>
            </a:r>
            <a:r>
              <a:rPr kumimoji="1" lang="en-US" sz="1200" b="1" kern="1200" baseline="0" dirty="0">
                <a:solidFill>
                  <a:schemeClr val="tx1"/>
                </a:solidFill>
                <a:latin typeface="Times New Roman" pitchFamily="33" charset="0"/>
                <a:ea typeface="+mn-ea"/>
                <a:cs typeface="+mn-cs"/>
              </a:rPr>
              <a:t>read-only memory (ROM) </a:t>
            </a:r>
            <a:r>
              <a:rPr kumimoji="1" lang="en-US" sz="1200" b="0" kern="1200" baseline="0" dirty="0">
                <a:solidFill>
                  <a:schemeClr val="tx1"/>
                </a:solidFill>
                <a:latin typeface="Times New Roman" pitchFamily="33" charset="0"/>
                <a:ea typeface="+mn-ea"/>
                <a:cs typeface="+mn-cs"/>
              </a:rPr>
              <a:t>contains a permanent pattern</a:t>
            </a:r>
          </a:p>
          <a:p>
            <a:r>
              <a:rPr kumimoji="1" lang="en-US" sz="1200" kern="1200" baseline="0" dirty="0">
                <a:solidFill>
                  <a:schemeClr val="tx1"/>
                </a:solidFill>
                <a:latin typeface="Times New Roman" pitchFamily="33" charset="0"/>
                <a:ea typeface="+mn-ea"/>
                <a:cs typeface="+mn-cs"/>
              </a:rPr>
              <a:t>of data that cannot be changed. A ROM is nonvolatile; that is, no power source is</a:t>
            </a:r>
          </a:p>
          <a:p>
            <a:r>
              <a:rPr kumimoji="1" lang="en-US" sz="1200" kern="1200" baseline="0" dirty="0">
                <a:solidFill>
                  <a:schemeClr val="tx1"/>
                </a:solidFill>
                <a:latin typeface="Times New Roman" pitchFamily="33" charset="0"/>
                <a:ea typeface="+mn-ea"/>
                <a:cs typeface="+mn-cs"/>
              </a:rPr>
              <a:t>required to maintain the bit values in memory. While it is possible to read a ROM,</a:t>
            </a:r>
          </a:p>
          <a:p>
            <a:r>
              <a:rPr kumimoji="1" lang="en-US" sz="1200" kern="1200" baseline="0" dirty="0">
                <a:solidFill>
                  <a:schemeClr val="tx1"/>
                </a:solidFill>
                <a:latin typeface="Times New Roman" pitchFamily="33" charset="0"/>
                <a:ea typeface="+mn-ea"/>
                <a:cs typeface="+mn-cs"/>
              </a:rPr>
              <a:t>it is not possible to write new data into it. An important application of ROMs is</a:t>
            </a:r>
          </a:p>
          <a:p>
            <a:r>
              <a:rPr kumimoji="1" lang="en-US" sz="1200" kern="1200" baseline="0" dirty="0">
                <a:solidFill>
                  <a:schemeClr val="tx1"/>
                </a:solidFill>
                <a:latin typeface="Times New Roman" pitchFamily="33" charset="0"/>
                <a:ea typeface="+mn-ea"/>
                <a:cs typeface="+mn-cs"/>
              </a:rPr>
              <a:t>microprogramming, discussed in Part Four. Other potential applications include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Library subroutines for frequently wanted functions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System programs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Function tables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For a modest-sized requirement, the advantage of ROM is that the data or program</a:t>
            </a:r>
          </a:p>
          <a:p>
            <a:r>
              <a:rPr kumimoji="1" lang="en-US" sz="1200" kern="1200" baseline="0" dirty="0">
                <a:solidFill>
                  <a:schemeClr val="tx1"/>
                </a:solidFill>
                <a:latin typeface="Times New Roman" pitchFamily="33" charset="0"/>
                <a:ea typeface="+mn-ea"/>
                <a:cs typeface="+mn-cs"/>
              </a:rPr>
              <a:t>is permanently in main memory and need never be loaded from a secondary storage</a:t>
            </a:r>
          </a:p>
          <a:p>
            <a:r>
              <a:rPr kumimoji="1" lang="en-US" sz="1200" kern="1200" baseline="0" dirty="0">
                <a:solidFill>
                  <a:schemeClr val="tx1"/>
                </a:solidFill>
                <a:latin typeface="Times New Roman" pitchFamily="33" charset="0"/>
                <a:ea typeface="+mn-ea"/>
                <a:cs typeface="+mn-cs"/>
              </a:rPr>
              <a:t>device.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ROM is created like any other integrated circuit chip, with the data actually</a:t>
            </a:r>
          </a:p>
          <a:p>
            <a:r>
              <a:rPr kumimoji="1" lang="en-US" sz="1200" kern="1200" baseline="0" dirty="0">
                <a:solidFill>
                  <a:schemeClr val="tx1"/>
                </a:solidFill>
                <a:latin typeface="Times New Roman" pitchFamily="33" charset="0"/>
                <a:ea typeface="+mn-ea"/>
                <a:cs typeface="+mn-cs"/>
              </a:rPr>
              <a:t>wired into the chip as part of the fabrication process. This presents two problems: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data insertion step includes a relatively large fixed cost, whether one or</a:t>
            </a:r>
          </a:p>
          <a:p>
            <a:r>
              <a:rPr kumimoji="1" lang="en-US" sz="1200" kern="1200" baseline="0" dirty="0">
                <a:solidFill>
                  <a:schemeClr val="tx1"/>
                </a:solidFill>
                <a:latin typeface="Times New Roman" pitchFamily="33" charset="0"/>
                <a:ea typeface="+mn-ea"/>
                <a:cs typeface="+mn-cs"/>
              </a:rPr>
              <a:t>thousands of copies of a particular ROM are fabricated.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There is no room for error. If one bit is wrong, the whole batch of ROMs must</a:t>
            </a:r>
          </a:p>
          <a:p>
            <a:r>
              <a:rPr kumimoji="1" lang="en-US" sz="1200" kern="1200" baseline="0" dirty="0">
                <a:solidFill>
                  <a:schemeClr val="tx1"/>
                </a:solidFill>
                <a:latin typeface="Times New Roman" pitchFamily="33" charset="0"/>
                <a:ea typeface="+mn-ea"/>
                <a:cs typeface="+mn-cs"/>
              </a:rPr>
              <a:t>be thrown out.</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Thay thế ít tốn kém hơn</a:t>
            </a:r>
          </a:p>
          <a:p>
            <a:r>
              <a:rPr kumimoji="1" lang="vi-VN" sz="1200" kern="1200" baseline="0" dirty="0">
                <a:solidFill>
                  <a:schemeClr val="tx1"/>
                </a:solidFill>
                <a:latin typeface="Times New Roman" pitchFamily="33" charset="0"/>
                <a:ea typeface="+mn-ea"/>
                <a:cs typeface="+mn-cs"/>
              </a:rPr>
              <a:t>Không bay hơi và chỉ có thể viết thành một lần</a:t>
            </a:r>
          </a:p>
          <a:p>
            <a:r>
              <a:rPr kumimoji="1" lang="vi-VN" sz="1200" kern="1200" baseline="0" dirty="0">
                <a:solidFill>
                  <a:schemeClr val="tx1"/>
                </a:solidFill>
                <a:latin typeface="Times New Roman" pitchFamily="33" charset="0"/>
                <a:ea typeface="+mn-ea"/>
                <a:cs typeface="+mn-cs"/>
              </a:rPr>
              <a:t>Quá trình viết được thực hiện bằng điện và có thể được thực hiện bởi nhà cung cấp hoặc khách hàng tại thời điểm muộn hơn so với chế tạo chip ban đầu</a:t>
            </a:r>
          </a:p>
          <a:p>
            <a:r>
              <a:rPr kumimoji="1" lang="vi-VN" sz="1200" kern="1200" baseline="0" dirty="0">
                <a:solidFill>
                  <a:schemeClr val="tx1"/>
                </a:solidFill>
                <a:latin typeface="Times New Roman" pitchFamily="33" charset="0"/>
                <a:ea typeface="+mn-ea"/>
                <a:cs typeface="+mn-cs"/>
              </a:rPr>
              <a:t>Cần thiết bị đặc biệt cho quá trình viết</a:t>
            </a:r>
          </a:p>
          <a:p>
            <a:r>
              <a:rPr kumimoji="1" lang="vi-VN" sz="1200" kern="1200" baseline="0" dirty="0">
                <a:solidFill>
                  <a:schemeClr val="tx1"/>
                </a:solidFill>
                <a:latin typeface="Times New Roman" pitchFamily="33" charset="0"/>
                <a:ea typeface="+mn-ea"/>
                <a:cs typeface="+mn-cs"/>
              </a:rPr>
              <a:t>Cung cấp tính linh hoạt và tiện lợi</a:t>
            </a:r>
          </a:p>
          <a:p>
            <a:r>
              <a:rPr kumimoji="1" lang="vi-VN" sz="1200" kern="1200" baseline="0" dirty="0">
                <a:solidFill>
                  <a:schemeClr val="tx1"/>
                </a:solidFill>
                <a:latin typeface="Times New Roman" pitchFamily="33" charset="0"/>
                <a:ea typeface="+mn-ea"/>
                <a:cs typeface="+mn-cs"/>
              </a:rPr>
              <a:t>Hấp dẫn cho sản xuất khối lượng lớn chạy</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Khi chỉ có một số lượng nhỏ các ROM với một nội dung bộ nhớ cụ thể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cần thiết, một thay thế ít tốn kém là ROM có thể lập trình được (PROM). Giống như</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ROM, PROM không bay hơi và chỉ có thể được ghi vào một lần. Đối với PROM,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quá trình viết được thực hiện bằng điện và có thể được thực hiện bởi nhà cung cấp</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hoặc khách hàng tại một thời điểm muộn hơn so với chế tạo chip ban đầu. Thiết bị đặc biệt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yêu cầu cho quá trình viết hoặc "lập trình". PROM cung cấp tính linh hoạt và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tiện. ROM vẫn còn hấp dẫn đối với việc sản xuất hàng loạt sản phẩm.</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When only a small number of ROMs with a particular memory content is</a:t>
            </a:r>
          </a:p>
          <a:p>
            <a:r>
              <a:rPr kumimoji="1" lang="en-US" sz="1200" kern="1200" baseline="0" dirty="0">
                <a:solidFill>
                  <a:schemeClr val="tx1"/>
                </a:solidFill>
                <a:latin typeface="Times New Roman" pitchFamily="33" charset="0"/>
                <a:ea typeface="+mn-ea"/>
                <a:cs typeface="+mn-cs"/>
              </a:rPr>
              <a:t>needed, a less expensive alternative is the </a:t>
            </a:r>
            <a:r>
              <a:rPr kumimoji="1" lang="en-US" sz="1200" b="1" kern="1200" baseline="0" dirty="0">
                <a:solidFill>
                  <a:schemeClr val="tx1"/>
                </a:solidFill>
                <a:latin typeface="Times New Roman" pitchFamily="33" charset="0"/>
                <a:ea typeface="+mn-ea"/>
                <a:cs typeface="+mn-cs"/>
              </a:rPr>
              <a:t>programmable ROM (PROM). </a:t>
            </a:r>
            <a:r>
              <a:rPr kumimoji="1" lang="en-US" sz="1200" b="0" kern="1200" baseline="0" dirty="0">
                <a:solidFill>
                  <a:schemeClr val="tx1"/>
                </a:solidFill>
                <a:latin typeface="Times New Roman" pitchFamily="33" charset="0"/>
                <a:ea typeface="+mn-ea"/>
                <a:cs typeface="+mn-cs"/>
              </a:rPr>
              <a:t>Like the</a:t>
            </a:r>
          </a:p>
          <a:p>
            <a:r>
              <a:rPr kumimoji="1" lang="en-US" sz="1200" b="0" kern="1200" baseline="0" dirty="0">
                <a:solidFill>
                  <a:schemeClr val="tx1"/>
                </a:solidFill>
                <a:latin typeface="Times New Roman" pitchFamily="33" charset="0"/>
                <a:ea typeface="+mn-ea"/>
                <a:cs typeface="+mn-cs"/>
              </a:rPr>
              <a:t>ROM, the PROM is nonvolatile and may be written into only once. For the PROM,</a:t>
            </a:r>
          </a:p>
          <a:p>
            <a:r>
              <a:rPr kumimoji="1" lang="en-US" sz="1200" b="0" kern="1200" baseline="0" dirty="0">
                <a:solidFill>
                  <a:schemeClr val="tx1"/>
                </a:solidFill>
                <a:latin typeface="Times New Roman" pitchFamily="33" charset="0"/>
                <a:ea typeface="+mn-ea"/>
                <a:cs typeface="+mn-cs"/>
              </a:rPr>
              <a:t>the writing process is performed electrically and may be performed by a supplier</a:t>
            </a:r>
          </a:p>
          <a:p>
            <a:r>
              <a:rPr kumimoji="1" lang="en-US" sz="1200" kern="1200" baseline="0" dirty="0">
                <a:solidFill>
                  <a:schemeClr val="tx1"/>
                </a:solidFill>
                <a:latin typeface="Times New Roman" pitchFamily="33" charset="0"/>
                <a:ea typeface="+mn-ea"/>
                <a:cs typeface="+mn-cs"/>
              </a:rPr>
              <a:t>or customer at a time later than the original chip fabrication. Special equipment is</a:t>
            </a:r>
          </a:p>
          <a:p>
            <a:r>
              <a:rPr kumimoji="1" lang="en-US" sz="1200" kern="1200" baseline="0" dirty="0">
                <a:solidFill>
                  <a:schemeClr val="tx1"/>
                </a:solidFill>
                <a:latin typeface="Times New Roman" pitchFamily="33" charset="0"/>
                <a:ea typeface="+mn-ea"/>
                <a:cs typeface="+mn-cs"/>
              </a:rPr>
              <a:t>required for the writing or “programming” process. PROMs provide flexibility and</a:t>
            </a:r>
          </a:p>
          <a:p>
            <a:r>
              <a:rPr kumimoji="1" lang="en-US" sz="1200" kern="1200" baseline="0" dirty="0">
                <a:solidFill>
                  <a:schemeClr val="tx1"/>
                </a:solidFill>
                <a:latin typeface="Times New Roman" pitchFamily="33" charset="0"/>
                <a:ea typeface="+mn-ea"/>
                <a:cs typeface="+mn-cs"/>
              </a:rPr>
              <a:t>convenience. The ROM remains attractive for high-volume production runs.</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Flash: </a:t>
            </a:r>
            <a:r>
              <a:rPr kumimoji="1" lang="en-US" sz="1200" kern="1200" baseline="0" dirty="0" err="1">
                <a:solidFill>
                  <a:schemeClr val="tx1"/>
                </a:solidFill>
                <a:latin typeface="Times New Roman" pitchFamily="33" charset="0"/>
                <a:ea typeface="+mn-ea"/>
                <a:cs typeface="+mn-cs"/>
              </a:rPr>
              <a:t>bừng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sáng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tia</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sáng</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EPROM</a:t>
            </a:r>
          </a:p>
          <a:p>
            <a:r>
              <a:rPr kumimoji="1" lang="vi-VN" sz="1200" kern="1200" baseline="0" dirty="0">
                <a:solidFill>
                  <a:schemeClr val="tx1"/>
                </a:solidFill>
                <a:latin typeface="Times New Roman" pitchFamily="33" charset="0"/>
                <a:ea typeface="+mn-ea"/>
                <a:cs typeface="+mn-cs"/>
              </a:rPr>
              <a:t>Bộ nhớ chỉ đọc được có thể xóa được lập trình</a:t>
            </a:r>
          </a:p>
          <a:p>
            <a:r>
              <a:rPr kumimoji="1" lang="vi-VN" sz="1200" kern="1200" baseline="0" dirty="0">
                <a:solidFill>
                  <a:schemeClr val="tx1"/>
                </a:solidFill>
                <a:latin typeface="Times New Roman" pitchFamily="33" charset="0"/>
                <a:ea typeface="+mn-ea"/>
                <a:cs typeface="+mn-cs"/>
              </a:rPr>
              <a:t>Xóa quá trình có thể được thực hiện nhiều lần</a:t>
            </a:r>
          </a:p>
          <a:p>
            <a:r>
              <a:rPr kumimoji="1" lang="vi-VN" sz="1200" kern="1200" baseline="0" dirty="0">
                <a:solidFill>
                  <a:schemeClr val="tx1"/>
                </a:solidFill>
                <a:latin typeface="Times New Roman" pitchFamily="33" charset="0"/>
                <a:ea typeface="+mn-ea"/>
                <a:cs typeface="+mn-cs"/>
              </a:rPr>
              <a:t>Đắt hơn PROM nhưng nó có lợi thế của khả năng cập nhật nhiều</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EEPROM</a:t>
            </a:r>
          </a:p>
          <a:p>
            <a:r>
              <a:rPr kumimoji="1" lang="vi-VN" sz="1200" kern="1200" baseline="0" dirty="0">
                <a:solidFill>
                  <a:schemeClr val="tx1"/>
                </a:solidFill>
                <a:latin typeface="Times New Roman" pitchFamily="33" charset="0"/>
                <a:ea typeface="+mn-ea"/>
                <a:cs typeface="+mn-cs"/>
              </a:rPr>
              <a:t>Điện xóa được Programmable Read-Only Memory</a:t>
            </a:r>
          </a:p>
          <a:p>
            <a:r>
              <a:rPr kumimoji="1" lang="vi-VN" sz="1200" kern="1200" baseline="0" dirty="0">
                <a:solidFill>
                  <a:schemeClr val="tx1"/>
                </a:solidFill>
                <a:latin typeface="Times New Roman" pitchFamily="33" charset="0"/>
                <a:ea typeface="+mn-ea"/>
                <a:cs typeface="+mn-cs"/>
              </a:rPr>
              <a:t>Có thể được ghi vào bất kỳ lúc nào mà không xoá nội dung trước</a:t>
            </a:r>
          </a:p>
          <a:p>
            <a:r>
              <a:rPr kumimoji="1" lang="vi-VN" sz="1200" kern="1200" baseline="0" dirty="0">
                <a:solidFill>
                  <a:schemeClr val="tx1"/>
                </a:solidFill>
                <a:latin typeface="Times New Roman" pitchFamily="33" charset="0"/>
                <a:ea typeface="+mn-ea"/>
                <a:cs typeface="+mn-cs"/>
              </a:rPr>
              <a:t>Kết hợp lợi thế của sự không biến động với sự linh hoạt của việc cập nhật được tại chỗ</a:t>
            </a:r>
          </a:p>
          <a:p>
            <a:r>
              <a:rPr kumimoji="1" lang="vi-VN" sz="1200" kern="1200" baseline="0" dirty="0">
                <a:solidFill>
                  <a:schemeClr val="tx1"/>
                </a:solidFill>
                <a:latin typeface="Times New Roman" pitchFamily="33" charset="0"/>
                <a:ea typeface="+mn-ea"/>
                <a:cs typeface="+mn-cs"/>
              </a:rPr>
              <a:t>Đắt hơn EPROM</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Bộ nhớ flash</a:t>
            </a:r>
          </a:p>
          <a:p>
            <a:r>
              <a:rPr kumimoji="1" lang="vi-VN" sz="1200" kern="1200" baseline="0" dirty="0">
                <a:solidFill>
                  <a:schemeClr val="tx1"/>
                </a:solidFill>
                <a:latin typeface="Times New Roman" pitchFamily="33" charset="0"/>
                <a:ea typeface="+mn-ea"/>
                <a:cs typeface="+mn-cs"/>
              </a:rPr>
              <a:t>Trung cấp giữa EPROM và EEPROM cả về chi phí và chức năng</a:t>
            </a:r>
          </a:p>
          <a:p>
            <a:r>
              <a:rPr kumimoji="1" lang="vi-VN" sz="1200" kern="1200" baseline="0" dirty="0">
                <a:solidFill>
                  <a:schemeClr val="tx1"/>
                </a:solidFill>
                <a:latin typeface="Times New Roman" pitchFamily="33" charset="0"/>
                <a:ea typeface="+mn-ea"/>
                <a:cs typeface="+mn-cs"/>
              </a:rPr>
              <a:t>Sử dụng công nghệ tẩy điện tử, không cung cấp xóa bớt cấp độ byte</a:t>
            </a:r>
          </a:p>
          <a:p>
            <a:r>
              <a:rPr kumimoji="1" lang="vi-VN" sz="1200" kern="1200" baseline="0" dirty="0">
                <a:solidFill>
                  <a:schemeClr val="tx1"/>
                </a:solidFill>
                <a:latin typeface="Times New Roman" pitchFamily="33" charset="0"/>
                <a:ea typeface="+mn-ea"/>
                <a:cs typeface="+mn-cs"/>
              </a:rPr>
              <a:t>Microchip được tổ chức sao cho một phần của các ô nhớ bị xóa trong một thao tác đơn hoặc "flash"</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Another variation on read-only memory is the </a:t>
            </a:r>
            <a:r>
              <a:rPr kumimoji="1" lang="en-US" sz="1200" b="1" kern="1200" baseline="0" dirty="0">
                <a:solidFill>
                  <a:schemeClr val="tx1"/>
                </a:solidFill>
                <a:latin typeface="Times New Roman" pitchFamily="33" charset="0"/>
                <a:ea typeface="+mn-ea"/>
                <a:cs typeface="+mn-cs"/>
              </a:rPr>
              <a:t>read-mostly memory, </a:t>
            </a:r>
            <a:r>
              <a:rPr kumimoji="1" lang="en-US" sz="1200" b="0" kern="1200" baseline="0" dirty="0">
                <a:solidFill>
                  <a:schemeClr val="tx1"/>
                </a:solidFill>
                <a:latin typeface="Times New Roman" pitchFamily="33" charset="0"/>
                <a:ea typeface="+mn-ea"/>
                <a:cs typeface="+mn-cs"/>
              </a:rPr>
              <a:t>which is</a:t>
            </a:r>
          </a:p>
          <a:p>
            <a:r>
              <a:rPr kumimoji="1" lang="en-US" sz="1200" kern="1200" baseline="0" dirty="0">
                <a:solidFill>
                  <a:schemeClr val="tx1"/>
                </a:solidFill>
                <a:latin typeface="Times New Roman" pitchFamily="33" charset="0"/>
                <a:ea typeface="+mn-ea"/>
                <a:cs typeface="+mn-cs"/>
              </a:rPr>
              <a:t>useful for applications in which read operations are far more frequent than write</a:t>
            </a:r>
          </a:p>
          <a:p>
            <a:r>
              <a:rPr kumimoji="1" lang="en-US" sz="1200" kern="1200" baseline="0" dirty="0">
                <a:solidFill>
                  <a:schemeClr val="tx1"/>
                </a:solidFill>
                <a:latin typeface="Times New Roman" pitchFamily="33" charset="0"/>
                <a:ea typeface="+mn-ea"/>
                <a:cs typeface="+mn-cs"/>
              </a:rPr>
              <a:t>operations but for which nonvolatile storage is required. There are three common</a:t>
            </a:r>
          </a:p>
          <a:p>
            <a:r>
              <a:rPr kumimoji="1" lang="en-US" sz="1200" kern="1200" baseline="0" dirty="0">
                <a:solidFill>
                  <a:schemeClr val="tx1"/>
                </a:solidFill>
                <a:latin typeface="Times New Roman" pitchFamily="33" charset="0"/>
                <a:ea typeface="+mn-ea"/>
                <a:cs typeface="+mn-cs"/>
              </a:rPr>
              <a:t>forms of read-mostly memory: EPROM, EEPROM, and flash memory.</a:t>
            </a:r>
          </a:p>
          <a:p>
            <a:endParaRPr lang="en-US" dirty="0"/>
          </a:p>
          <a:p>
            <a:r>
              <a:rPr kumimoji="1" lang="en-US" sz="1200" kern="1200" baseline="0" dirty="0">
                <a:solidFill>
                  <a:schemeClr val="tx1"/>
                </a:solidFill>
                <a:latin typeface="Times New Roman" pitchFamily="33" charset="0"/>
                <a:ea typeface="+mn-ea"/>
                <a:cs typeface="+mn-cs"/>
              </a:rPr>
              <a:t>The optically </a:t>
            </a:r>
            <a:r>
              <a:rPr kumimoji="1" lang="en-US" sz="1200" b="1" kern="1200" baseline="0" dirty="0">
                <a:solidFill>
                  <a:schemeClr val="tx1"/>
                </a:solidFill>
                <a:latin typeface="Times New Roman" pitchFamily="33" charset="0"/>
                <a:ea typeface="+mn-ea"/>
                <a:cs typeface="+mn-cs"/>
              </a:rPr>
              <a:t>erasable programmable read-only memory (EPROM) </a:t>
            </a:r>
            <a:r>
              <a:rPr kumimoji="1" lang="en-US" sz="1200" b="0" kern="1200" baseline="0" dirty="0">
                <a:solidFill>
                  <a:schemeClr val="tx1"/>
                </a:solidFill>
                <a:latin typeface="Times New Roman" pitchFamily="33" charset="0"/>
                <a:ea typeface="+mn-ea"/>
                <a:cs typeface="+mn-cs"/>
              </a:rPr>
              <a:t>is read</a:t>
            </a:r>
          </a:p>
          <a:p>
            <a:r>
              <a:rPr kumimoji="1" lang="en-US" sz="1200" kern="1200" baseline="0" dirty="0">
                <a:solidFill>
                  <a:schemeClr val="tx1"/>
                </a:solidFill>
                <a:latin typeface="Times New Roman" pitchFamily="33" charset="0"/>
                <a:ea typeface="+mn-ea"/>
                <a:cs typeface="+mn-cs"/>
              </a:rPr>
              <a:t>and written electrically, as with PROM. However, before a write operation, all the</a:t>
            </a:r>
          </a:p>
          <a:p>
            <a:r>
              <a:rPr kumimoji="1" lang="en-US" sz="1200" kern="1200" baseline="0" dirty="0">
                <a:solidFill>
                  <a:schemeClr val="tx1"/>
                </a:solidFill>
                <a:latin typeface="Times New Roman" pitchFamily="33" charset="0"/>
                <a:ea typeface="+mn-ea"/>
                <a:cs typeface="+mn-cs"/>
              </a:rPr>
              <a:t>storage cells must be erased to the same initial state by exposure of the packaged</a:t>
            </a:r>
          </a:p>
          <a:p>
            <a:r>
              <a:rPr kumimoji="1" lang="en-US" sz="1200" kern="1200" baseline="0" dirty="0">
                <a:solidFill>
                  <a:schemeClr val="tx1"/>
                </a:solidFill>
                <a:latin typeface="Times New Roman" pitchFamily="33" charset="0"/>
                <a:ea typeface="+mn-ea"/>
                <a:cs typeface="+mn-cs"/>
              </a:rPr>
              <a:t>chip to ultraviolet radiation. Erasure is performed by shining an intense ultraviolet</a:t>
            </a:r>
          </a:p>
          <a:p>
            <a:r>
              <a:rPr kumimoji="1" lang="en-US" sz="1200" kern="1200" baseline="0" dirty="0">
                <a:solidFill>
                  <a:schemeClr val="tx1"/>
                </a:solidFill>
                <a:latin typeface="Times New Roman" pitchFamily="33" charset="0"/>
                <a:ea typeface="+mn-ea"/>
                <a:cs typeface="+mn-cs"/>
              </a:rPr>
              <a:t>light through a window that is designed into the memory chip. This erasure process</a:t>
            </a:r>
          </a:p>
          <a:p>
            <a:r>
              <a:rPr kumimoji="1" lang="en-US" sz="1200" kern="1200" baseline="0" dirty="0">
                <a:solidFill>
                  <a:schemeClr val="tx1"/>
                </a:solidFill>
                <a:latin typeface="Times New Roman" pitchFamily="33" charset="0"/>
                <a:ea typeface="+mn-ea"/>
                <a:cs typeface="+mn-cs"/>
              </a:rPr>
              <a:t>can be performed repeatedly; each erasure can take as much as 20 minutes to</a:t>
            </a:r>
          </a:p>
          <a:p>
            <a:r>
              <a:rPr kumimoji="1" lang="en-US" sz="1200" kern="1200" baseline="0" dirty="0">
                <a:solidFill>
                  <a:schemeClr val="tx1"/>
                </a:solidFill>
                <a:latin typeface="Times New Roman" pitchFamily="33" charset="0"/>
                <a:ea typeface="+mn-ea"/>
                <a:cs typeface="+mn-cs"/>
              </a:rPr>
              <a:t>perform. Thus, the EPROM can be altered multiple times and, like the ROM and</a:t>
            </a:r>
          </a:p>
          <a:p>
            <a:r>
              <a:rPr kumimoji="1" lang="en-US" sz="1200" kern="1200" baseline="0" dirty="0">
                <a:solidFill>
                  <a:schemeClr val="tx1"/>
                </a:solidFill>
                <a:latin typeface="Times New Roman" pitchFamily="33" charset="0"/>
                <a:ea typeface="+mn-ea"/>
                <a:cs typeface="+mn-cs"/>
              </a:rPr>
              <a:t>PROM, holds its data virtually indefinitely. For comparable amounts of storage, the</a:t>
            </a:r>
          </a:p>
          <a:p>
            <a:r>
              <a:rPr kumimoji="1" lang="en-US" sz="1200" kern="1200" baseline="0" dirty="0">
                <a:solidFill>
                  <a:schemeClr val="tx1"/>
                </a:solidFill>
                <a:latin typeface="Times New Roman" pitchFamily="33" charset="0"/>
                <a:ea typeface="+mn-ea"/>
                <a:cs typeface="+mn-cs"/>
              </a:rPr>
              <a:t>EPROM is more expensive than PROM, but it has the advantage of the multiple</a:t>
            </a:r>
          </a:p>
          <a:p>
            <a:r>
              <a:rPr kumimoji="1" lang="en-US" sz="1200" kern="1200" baseline="0" dirty="0">
                <a:solidFill>
                  <a:schemeClr val="tx1"/>
                </a:solidFill>
                <a:latin typeface="Times New Roman" pitchFamily="33" charset="0"/>
                <a:ea typeface="+mn-ea"/>
                <a:cs typeface="+mn-cs"/>
              </a:rPr>
              <a:t>update capability.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more attractive form of read-mostly memory is </a:t>
            </a:r>
            <a:r>
              <a:rPr kumimoji="1" lang="en-US" sz="1200" b="1" kern="1200" baseline="0" dirty="0">
                <a:solidFill>
                  <a:schemeClr val="tx1"/>
                </a:solidFill>
                <a:latin typeface="Times New Roman" pitchFamily="33" charset="0"/>
                <a:ea typeface="+mn-ea"/>
                <a:cs typeface="+mn-cs"/>
              </a:rPr>
              <a:t>electrically erasable programmable</a:t>
            </a:r>
          </a:p>
          <a:p>
            <a:r>
              <a:rPr kumimoji="1" lang="en-US" sz="1200" b="1" kern="1200" baseline="0" dirty="0">
                <a:solidFill>
                  <a:schemeClr val="tx1"/>
                </a:solidFill>
                <a:latin typeface="Times New Roman" pitchFamily="33" charset="0"/>
                <a:ea typeface="+mn-ea"/>
                <a:cs typeface="+mn-cs"/>
              </a:rPr>
              <a:t>read-only memory (EEPROM). </a:t>
            </a:r>
            <a:r>
              <a:rPr kumimoji="1" lang="en-US" sz="1200" b="0" kern="1200" baseline="0" dirty="0">
                <a:solidFill>
                  <a:schemeClr val="tx1"/>
                </a:solidFill>
                <a:latin typeface="Times New Roman" pitchFamily="33" charset="0"/>
                <a:ea typeface="+mn-ea"/>
                <a:cs typeface="+mn-cs"/>
              </a:rPr>
              <a:t>This is a read-mostly memory that can</a:t>
            </a:r>
          </a:p>
          <a:p>
            <a:r>
              <a:rPr kumimoji="1" lang="en-US" sz="1200" kern="1200" baseline="0" dirty="0">
                <a:solidFill>
                  <a:schemeClr val="tx1"/>
                </a:solidFill>
                <a:latin typeface="Times New Roman" pitchFamily="33" charset="0"/>
                <a:ea typeface="+mn-ea"/>
                <a:cs typeface="+mn-cs"/>
              </a:rPr>
              <a:t>be written into at any time without erasing prior contents; only the byte or bytes</a:t>
            </a:r>
          </a:p>
          <a:p>
            <a:r>
              <a:rPr kumimoji="1" lang="en-US" sz="1200" kern="1200" baseline="0" dirty="0">
                <a:solidFill>
                  <a:schemeClr val="tx1"/>
                </a:solidFill>
                <a:latin typeface="Times New Roman" pitchFamily="33" charset="0"/>
                <a:ea typeface="+mn-ea"/>
                <a:cs typeface="+mn-cs"/>
              </a:rPr>
              <a:t>addressed are updated. The write operation takes considerably longer than the read</a:t>
            </a:r>
          </a:p>
          <a:p>
            <a:r>
              <a:rPr kumimoji="1" lang="en-US" sz="1200" kern="1200" baseline="0" dirty="0">
                <a:solidFill>
                  <a:schemeClr val="tx1"/>
                </a:solidFill>
                <a:latin typeface="Times New Roman" pitchFamily="33" charset="0"/>
                <a:ea typeface="+mn-ea"/>
                <a:cs typeface="+mn-cs"/>
              </a:rPr>
              <a:t>operation, on the order of several hundred microseconds per byte. The EEPROM</a:t>
            </a:r>
          </a:p>
          <a:p>
            <a:r>
              <a:rPr kumimoji="1" lang="en-US" sz="1200" kern="1200" baseline="0" dirty="0">
                <a:solidFill>
                  <a:schemeClr val="tx1"/>
                </a:solidFill>
                <a:latin typeface="Times New Roman" pitchFamily="33" charset="0"/>
                <a:ea typeface="+mn-ea"/>
                <a:cs typeface="+mn-cs"/>
              </a:rPr>
              <a:t>combines the advantage of non-volatility with the flexibility of being updatable in</a:t>
            </a:r>
          </a:p>
          <a:p>
            <a:r>
              <a:rPr kumimoji="1" lang="en-US" sz="1200" kern="1200" baseline="0" dirty="0">
                <a:solidFill>
                  <a:schemeClr val="tx1"/>
                </a:solidFill>
                <a:latin typeface="Times New Roman" pitchFamily="33" charset="0"/>
                <a:ea typeface="+mn-ea"/>
                <a:cs typeface="+mn-cs"/>
              </a:rPr>
              <a:t>place, using ordinary bus control, address, and data lines. EEPROM is more expensive</a:t>
            </a:r>
          </a:p>
          <a:p>
            <a:r>
              <a:rPr kumimoji="1" lang="en-US" sz="1200" kern="1200" baseline="0" dirty="0">
                <a:solidFill>
                  <a:schemeClr val="tx1"/>
                </a:solidFill>
                <a:latin typeface="Times New Roman" pitchFamily="33" charset="0"/>
                <a:ea typeface="+mn-ea"/>
                <a:cs typeface="+mn-cs"/>
              </a:rPr>
              <a:t>than EPROM and also is less dense, supporting fewer bits per chip.</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Another form of semiconductor memory is </a:t>
            </a:r>
            <a:r>
              <a:rPr kumimoji="1" lang="en-US" sz="1200" b="1" kern="1200" baseline="0" dirty="0">
                <a:solidFill>
                  <a:schemeClr val="tx1"/>
                </a:solidFill>
                <a:latin typeface="Times New Roman" pitchFamily="33" charset="0"/>
                <a:ea typeface="+mn-ea"/>
                <a:cs typeface="+mn-cs"/>
              </a:rPr>
              <a:t>flash memory </a:t>
            </a:r>
            <a:r>
              <a:rPr kumimoji="1" lang="en-US" sz="1200" b="0" kern="1200" baseline="0" dirty="0">
                <a:solidFill>
                  <a:schemeClr val="tx1"/>
                </a:solidFill>
                <a:latin typeface="Times New Roman" pitchFamily="33" charset="0"/>
                <a:ea typeface="+mn-ea"/>
                <a:cs typeface="+mn-cs"/>
              </a:rPr>
              <a:t>(so named because</a:t>
            </a:r>
          </a:p>
          <a:p>
            <a:r>
              <a:rPr kumimoji="1" lang="en-US" sz="1200" kern="1200" baseline="0" dirty="0">
                <a:solidFill>
                  <a:schemeClr val="tx1"/>
                </a:solidFill>
                <a:latin typeface="Times New Roman" pitchFamily="33" charset="0"/>
                <a:ea typeface="+mn-ea"/>
                <a:cs typeface="+mn-cs"/>
              </a:rPr>
              <a:t>of the speed with which it can be reprogrammed). First introduced in the mid-1980s,</a:t>
            </a:r>
          </a:p>
          <a:p>
            <a:r>
              <a:rPr kumimoji="1" lang="en-US" sz="1200" kern="1200" baseline="0" dirty="0">
                <a:solidFill>
                  <a:schemeClr val="tx1"/>
                </a:solidFill>
                <a:latin typeface="Times New Roman" pitchFamily="33" charset="0"/>
                <a:ea typeface="+mn-ea"/>
                <a:cs typeface="+mn-cs"/>
              </a:rPr>
              <a:t>flash memory is intermediate between EPROM and EEPROM in both cost and</a:t>
            </a:r>
          </a:p>
          <a:p>
            <a:r>
              <a:rPr kumimoji="1" lang="en-US" sz="1200" kern="1200" baseline="0" dirty="0">
                <a:solidFill>
                  <a:schemeClr val="tx1"/>
                </a:solidFill>
                <a:latin typeface="Times New Roman" pitchFamily="33" charset="0"/>
                <a:ea typeface="+mn-ea"/>
                <a:cs typeface="+mn-cs"/>
              </a:rPr>
              <a:t>functionality. Like EEPROM, flash memory uses an electrical erasing technology.</a:t>
            </a:r>
          </a:p>
          <a:p>
            <a:r>
              <a:rPr kumimoji="1" lang="en-US" sz="1200" kern="1200" baseline="0" dirty="0">
                <a:solidFill>
                  <a:schemeClr val="tx1"/>
                </a:solidFill>
                <a:latin typeface="Times New Roman" pitchFamily="33" charset="0"/>
                <a:ea typeface="+mn-ea"/>
                <a:cs typeface="+mn-cs"/>
              </a:rPr>
              <a:t>An entire flash memory can be erased in one or a few seconds, which is much faster</a:t>
            </a:r>
          </a:p>
          <a:p>
            <a:r>
              <a:rPr kumimoji="1" lang="en-US" sz="1200" kern="1200" baseline="0" dirty="0">
                <a:solidFill>
                  <a:schemeClr val="tx1"/>
                </a:solidFill>
                <a:latin typeface="Times New Roman" pitchFamily="33" charset="0"/>
                <a:ea typeface="+mn-ea"/>
                <a:cs typeface="+mn-cs"/>
              </a:rPr>
              <a:t>than EPROM. In addition, it is possible to erase just blocks of memory rather than</a:t>
            </a:r>
          </a:p>
          <a:p>
            <a:r>
              <a:rPr kumimoji="1" lang="en-US" sz="1200" kern="1200" baseline="0" dirty="0">
                <a:solidFill>
                  <a:schemeClr val="tx1"/>
                </a:solidFill>
                <a:latin typeface="Times New Roman" pitchFamily="33" charset="0"/>
                <a:ea typeface="+mn-ea"/>
                <a:cs typeface="+mn-cs"/>
              </a:rPr>
              <a:t>an entire chip. Flash memory gets its name because the microchip is organized so</a:t>
            </a:r>
          </a:p>
          <a:p>
            <a:r>
              <a:rPr kumimoji="1" lang="en-US" sz="1200" kern="1200" baseline="0" dirty="0">
                <a:solidFill>
                  <a:schemeClr val="tx1"/>
                </a:solidFill>
                <a:latin typeface="Times New Roman" pitchFamily="33" charset="0"/>
                <a:ea typeface="+mn-ea"/>
                <a:cs typeface="+mn-cs"/>
              </a:rPr>
              <a:t>that a section of memory cells are erased in a single action or “flash.” However,</a:t>
            </a:r>
          </a:p>
          <a:p>
            <a:r>
              <a:rPr kumimoji="1" lang="en-US" sz="1200" kern="1200" baseline="0" dirty="0">
                <a:solidFill>
                  <a:schemeClr val="tx1"/>
                </a:solidFill>
                <a:latin typeface="Times New Roman" pitchFamily="33" charset="0"/>
                <a:ea typeface="+mn-ea"/>
                <a:cs typeface="+mn-cs"/>
              </a:rPr>
              <a:t>flash memory does not provide byte-level erasure. Like EPROM, flash memory</a:t>
            </a:r>
          </a:p>
          <a:p>
            <a:r>
              <a:rPr kumimoji="1" lang="en-US" sz="1200" kern="1200" baseline="0" dirty="0">
                <a:solidFill>
                  <a:schemeClr val="tx1"/>
                </a:solidFill>
                <a:latin typeface="Times New Roman" pitchFamily="33" charset="0"/>
                <a:ea typeface="+mn-ea"/>
                <a:cs typeface="+mn-cs"/>
              </a:rPr>
              <a:t>uses only one transistor per bit, and so achieves the high density (compared with</a:t>
            </a:r>
          </a:p>
          <a:p>
            <a:r>
              <a:rPr kumimoji="1" lang="en-US" sz="1200" kern="1200" baseline="0" dirty="0">
                <a:solidFill>
                  <a:schemeClr val="tx1"/>
                </a:solidFill>
                <a:latin typeface="Times New Roman" pitchFamily="33" charset="0"/>
                <a:ea typeface="+mn-ea"/>
                <a:cs typeface="+mn-cs"/>
              </a:rPr>
              <a:t>EEPROM) of EPROM.</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F20D5B-2603-014D-A0DF-7C73F10603F1}" type="slidenum">
              <a:rPr lang="en-US"/>
              <a:pPr/>
              <a:t>13</a:t>
            </a:fld>
            <a:endParaRPr lang="en-US" dirty="0"/>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33" charset="0"/>
                <a:ea typeface="+mn-ea"/>
                <a:cs typeface="+mn-cs"/>
              </a:rPr>
              <a:t>Hình 5.3 cho thấy một tổ chức điển hình của một bộ nhớ DRAM 16-Mbit. Trong trường hợp này, 4 bit</a:t>
            </a:r>
          </a:p>
          <a:p>
            <a:r>
              <a:rPr kumimoji="1" lang="vi-VN" sz="1200" kern="1200" baseline="0" dirty="0">
                <a:solidFill>
                  <a:schemeClr val="tx1"/>
                </a:solidFill>
                <a:latin typeface="Times New Roman" pitchFamily="33" charset="0"/>
                <a:ea typeface="+mn-ea"/>
                <a:cs typeface="+mn-cs"/>
              </a:rPr>
              <a:t>được đọc hoặc viết tại một thời điểm. Về mặt logic, mảng bộ nhớ được tổ chức như bốn hình vuông</a:t>
            </a:r>
          </a:p>
          <a:p>
            <a:r>
              <a:rPr kumimoji="1" lang="vi-VN" sz="1200" kern="1200" baseline="0" dirty="0">
                <a:solidFill>
                  <a:schemeClr val="tx1"/>
                </a:solidFill>
                <a:latin typeface="Times New Roman" pitchFamily="33" charset="0"/>
                <a:ea typeface="+mn-ea"/>
                <a:cs typeface="+mn-cs"/>
              </a:rPr>
              <a:t>mảng của 2048 bởi 2048 yếu tố. Có thể sắp xếp vật lý khác nhau. Trong bất kỳ</a:t>
            </a:r>
          </a:p>
          <a:p>
            <a:r>
              <a:rPr kumimoji="1" lang="vi-VN" sz="1200" kern="1200" baseline="0" dirty="0">
                <a:solidFill>
                  <a:schemeClr val="tx1"/>
                </a:solidFill>
                <a:latin typeface="Times New Roman" pitchFamily="33" charset="0"/>
                <a:ea typeface="+mn-ea"/>
                <a:cs typeface="+mn-cs"/>
              </a:rPr>
              <a:t>trường hợp, các phần tử của mảng được kết nối bằng cả hai chiều ngang (hàng) và chiều dọc</a:t>
            </a:r>
          </a:p>
          <a:p>
            <a:r>
              <a:rPr kumimoji="1" lang="vi-VN" sz="1200" kern="1200" baseline="0" dirty="0">
                <a:solidFill>
                  <a:schemeClr val="tx1"/>
                </a:solidFill>
                <a:latin typeface="Times New Roman" pitchFamily="33" charset="0"/>
                <a:ea typeface="+mn-ea"/>
                <a:cs typeface="+mn-cs"/>
              </a:rPr>
              <a:t>(cột). Mỗi đường ngang kết nối đến thiết bị đầu cuối Chọn của mỗi ô trong</a:t>
            </a:r>
          </a:p>
          <a:p>
            <a:r>
              <a:rPr kumimoji="1" lang="vi-VN" sz="1200" kern="1200" baseline="0" dirty="0">
                <a:solidFill>
                  <a:schemeClr val="tx1"/>
                </a:solidFill>
                <a:latin typeface="Times New Roman" pitchFamily="33" charset="0"/>
                <a:ea typeface="+mn-ea"/>
                <a:cs typeface="+mn-cs"/>
              </a:rPr>
              <a:t>hàng; mỗi đường thẳng đứng kết nối đến đầu cuối Data-In / Sense của mỗi ô trong cột của nó.</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Dòng địa chỉ cung cấp địa chỉ của từ cần được chọn. Tổng cộng log2W</a:t>
            </a:r>
          </a:p>
          <a:p>
            <a:r>
              <a:rPr kumimoji="1" lang="vi-VN" sz="1200" kern="1200" baseline="0" dirty="0">
                <a:solidFill>
                  <a:schemeClr val="tx1"/>
                </a:solidFill>
                <a:latin typeface="Times New Roman" pitchFamily="33" charset="0"/>
                <a:ea typeface="+mn-ea"/>
                <a:cs typeface="+mn-cs"/>
              </a:rPr>
              <a:t>đường dây là cần thiết. Trong ví dụ của chúng tôi, cần phải có 11 dòng địa chỉ để chọn một trong 2048</a:t>
            </a:r>
          </a:p>
          <a:p>
            <a:r>
              <a:rPr kumimoji="1" lang="vi-VN" sz="1200" kern="1200" baseline="0" dirty="0">
                <a:solidFill>
                  <a:schemeClr val="tx1"/>
                </a:solidFill>
                <a:latin typeface="Times New Roman" pitchFamily="33" charset="0"/>
                <a:ea typeface="+mn-ea"/>
                <a:cs typeface="+mn-cs"/>
              </a:rPr>
              <a:t>hàng. 11 dòng này được đưa vào bộ giải mã hàng, có 11 dòng đầu vào và 2048</a:t>
            </a:r>
          </a:p>
          <a:p>
            <a:r>
              <a:rPr kumimoji="1" lang="vi-VN" sz="1200" kern="1200" baseline="0" dirty="0">
                <a:solidFill>
                  <a:schemeClr val="tx1"/>
                </a:solidFill>
                <a:latin typeface="Times New Roman" pitchFamily="33" charset="0"/>
                <a:ea typeface="+mn-ea"/>
                <a:cs typeface="+mn-cs"/>
              </a:rPr>
              <a:t>đường cho đầu ra. Logic của bộ giải mã kích hoạt một trong những kết quả đầu ra 2048</a:t>
            </a:r>
          </a:p>
          <a:p>
            <a:r>
              <a:rPr kumimoji="1" lang="vi-VN" sz="1200" kern="1200" baseline="0" dirty="0">
                <a:solidFill>
                  <a:schemeClr val="tx1"/>
                </a:solidFill>
                <a:latin typeface="Times New Roman" pitchFamily="33" charset="0"/>
                <a:ea typeface="+mn-ea"/>
                <a:cs typeface="+mn-cs"/>
              </a:rPr>
              <a:t>tùy thuộc vào mẫu bit trên 11 đường vào (211 = 2048).</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Thêm 11 dòng địa chỉ chọn một trong số 2048 cột bằng 4 bit cho mỗi cột.</a:t>
            </a:r>
          </a:p>
          <a:p>
            <a:r>
              <a:rPr kumimoji="1" lang="vi-VN" sz="1200" kern="1200" baseline="0" dirty="0">
                <a:solidFill>
                  <a:schemeClr val="tx1"/>
                </a:solidFill>
                <a:latin typeface="Times New Roman" pitchFamily="33" charset="0"/>
                <a:ea typeface="+mn-ea"/>
                <a:cs typeface="+mn-cs"/>
              </a:rPr>
              <a:t>Bốn đường dữ liệu được sử dụng cho đầu vào và đầu ra của 4 bit đến và đi từ một bộ đệm dữ liệu.</a:t>
            </a:r>
          </a:p>
          <a:p>
            <a:r>
              <a:rPr kumimoji="1" lang="vi-VN" sz="1200" kern="1200" baseline="0" dirty="0">
                <a:solidFill>
                  <a:schemeClr val="tx1"/>
                </a:solidFill>
                <a:latin typeface="Times New Roman" pitchFamily="33" charset="0"/>
                <a:ea typeface="+mn-ea"/>
                <a:cs typeface="+mn-cs"/>
              </a:rPr>
              <a:t>Trên đầu vào (ghi), trình điều khiển bit của mỗi đường bit được kích hoạt cho 1 hoặc 0 theo</a:t>
            </a:r>
          </a:p>
          <a:p>
            <a:r>
              <a:rPr kumimoji="1" lang="vi-VN" sz="1200" kern="1200" baseline="0" dirty="0">
                <a:solidFill>
                  <a:schemeClr val="tx1"/>
                </a:solidFill>
                <a:latin typeface="Times New Roman" pitchFamily="33" charset="0"/>
                <a:ea typeface="+mn-ea"/>
                <a:cs typeface="+mn-cs"/>
              </a:rPr>
              <a:t>giá trị của dòng dữ liệu tương ứng. Trên đầu ra (đọc), giá trị của mỗi đường bit</a:t>
            </a:r>
          </a:p>
          <a:p>
            <a:r>
              <a:rPr kumimoji="1" lang="vi-VN" sz="1200" kern="1200" baseline="0" dirty="0">
                <a:solidFill>
                  <a:schemeClr val="tx1"/>
                </a:solidFill>
                <a:latin typeface="Times New Roman" pitchFamily="33" charset="0"/>
                <a:ea typeface="+mn-ea"/>
                <a:cs typeface="+mn-cs"/>
              </a:rPr>
              <a:t>được truyền qua bộ khuếch đại cảm giác và được trình bày cho các dòng dữ liệu. Dòng hàng</a:t>
            </a:r>
          </a:p>
          <a:p>
            <a:r>
              <a:rPr kumimoji="1" lang="vi-VN" sz="1200" kern="1200" baseline="0" dirty="0">
                <a:solidFill>
                  <a:schemeClr val="tx1"/>
                </a:solidFill>
                <a:latin typeface="Times New Roman" pitchFamily="33" charset="0"/>
                <a:ea typeface="+mn-ea"/>
                <a:cs typeface="+mn-cs"/>
              </a:rPr>
              <a:t>chọn hàng của các tế bào được sử dụng để đọc hoặc viết.</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Bởi vì chỉ có 4 bit được đọc / ghi vào bộ nhớ DRAM này, phải có nhiều</a:t>
            </a:r>
          </a:p>
          <a:p>
            <a:r>
              <a:rPr kumimoji="1" lang="vi-VN" sz="1200" kern="1200" baseline="0" dirty="0">
                <a:solidFill>
                  <a:schemeClr val="tx1"/>
                </a:solidFill>
                <a:latin typeface="Times New Roman" pitchFamily="33" charset="0"/>
                <a:ea typeface="+mn-ea"/>
                <a:cs typeface="+mn-cs"/>
              </a:rPr>
              <a:t>DRAM kết nối với bộ điều khiển bộ nhớ để đọc / ghi một từ dữ liệu lên xe buýt.</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Lưu ý rằng chỉ có 11 dòng địa chỉ (A0-A10), một nửa số bạn</a:t>
            </a:r>
          </a:p>
          <a:p>
            <a:r>
              <a:rPr kumimoji="1" lang="vi-VN" sz="1200" kern="1200" baseline="0" dirty="0">
                <a:solidFill>
                  <a:schemeClr val="tx1"/>
                </a:solidFill>
                <a:latin typeface="Times New Roman" pitchFamily="33" charset="0"/>
                <a:ea typeface="+mn-ea"/>
                <a:cs typeface="+mn-cs"/>
              </a:rPr>
              <a:t>sẽ mong đợi cho một mảng 2048 * 2048. Điều này được thực hiện để tiết kiệm cho số chân.</a:t>
            </a:r>
          </a:p>
          <a:p>
            <a:r>
              <a:rPr kumimoji="1" lang="vi-VN" sz="1200" kern="1200" baseline="0" dirty="0">
                <a:solidFill>
                  <a:schemeClr val="tx1"/>
                </a:solidFill>
                <a:latin typeface="Times New Roman" pitchFamily="33" charset="0"/>
                <a:ea typeface="+mn-ea"/>
                <a:cs typeface="+mn-cs"/>
              </a:rPr>
              <a:t>22 dòng địa chỉ yêu cầu được truyền qua logic chọn bên ngoài chip</a:t>
            </a:r>
          </a:p>
          <a:p>
            <a:r>
              <a:rPr kumimoji="1" lang="vi-VN" sz="1200" kern="1200" baseline="0" dirty="0">
                <a:solidFill>
                  <a:schemeClr val="tx1"/>
                </a:solidFill>
                <a:latin typeface="Times New Roman" pitchFamily="33" charset="0"/>
                <a:ea typeface="+mn-ea"/>
                <a:cs typeface="+mn-cs"/>
              </a:rPr>
              <a:t>và ghép thành 11 dòng địa chỉ. Đầu tiên, 11 tín hiệu địa chỉ được truyền đến</a:t>
            </a:r>
          </a:p>
          <a:p>
            <a:r>
              <a:rPr kumimoji="1" lang="vi-VN" sz="1200" kern="1200" baseline="0" dirty="0">
                <a:solidFill>
                  <a:schemeClr val="tx1"/>
                </a:solidFill>
                <a:latin typeface="Times New Roman" pitchFamily="33" charset="0"/>
                <a:ea typeface="+mn-ea"/>
                <a:cs typeface="+mn-cs"/>
              </a:rPr>
              <a:t>chip để xác định địa chỉ hàng của mảng, và sau đó là 11 tín hiệu địa chỉ khác là</a:t>
            </a:r>
          </a:p>
          <a:p>
            <a:r>
              <a:rPr kumimoji="1" lang="vi-VN" sz="1200" kern="1200" baseline="0" dirty="0">
                <a:solidFill>
                  <a:schemeClr val="tx1"/>
                </a:solidFill>
                <a:latin typeface="Times New Roman" pitchFamily="33" charset="0"/>
                <a:ea typeface="+mn-ea"/>
                <a:cs typeface="+mn-cs"/>
              </a:rPr>
              <a:t>trình bày cho địa chỉ cột.</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Là một sang một bên, địa chỉ multiplexed cộng với việc sử dụng các mảng vuông kết quả trong một</a:t>
            </a:r>
          </a:p>
          <a:p>
            <a:r>
              <a:rPr kumimoji="1" lang="vi-VN" sz="1200" kern="1200" baseline="0" dirty="0">
                <a:solidFill>
                  <a:schemeClr val="tx1"/>
                </a:solidFill>
                <a:latin typeface="Times New Roman" pitchFamily="33" charset="0"/>
                <a:ea typeface="+mn-ea"/>
                <a:cs typeface="+mn-cs"/>
              </a:rPr>
              <a:t>gấp bốn lần kích thước bộ nhớ với mỗi thế hệ chip nhớ mới. Một lần nữa</a:t>
            </a:r>
          </a:p>
          <a:p>
            <a:r>
              <a:rPr kumimoji="1" lang="vi-VN" sz="1200" kern="1200" baseline="0" dirty="0">
                <a:solidFill>
                  <a:schemeClr val="tx1"/>
                </a:solidFill>
                <a:latin typeface="Times New Roman" pitchFamily="33" charset="0"/>
                <a:ea typeface="+mn-ea"/>
                <a:cs typeface="+mn-cs"/>
              </a:rPr>
              <a:t>pin dành cho địa chỉ tăng gấp đôi số hàng và cột, và vì vậy kích thước</a:t>
            </a:r>
          </a:p>
          <a:p>
            <a:r>
              <a:rPr kumimoji="1" lang="vi-VN" sz="1200" kern="1200" baseline="0" dirty="0">
                <a:solidFill>
                  <a:schemeClr val="tx1"/>
                </a:solidFill>
                <a:latin typeface="Times New Roman" pitchFamily="33" charset="0"/>
                <a:ea typeface="+mn-ea"/>
                <a:cs typeface="+mn-cs"/>
              </a:rPr>
              <a:t>bộ nhớ của chip tăng lên 4 lần.</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Hình 5.3 cũng chỉ ra sự bao gồm mạch làm mới. Tất cả DRAM yêu cầu</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một hoạt động làm mới. Một kỹ thuật đơn giản để làm mới là, trong thực tế, để vô hiệu hóa</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DRAM trong khi tất cả các ô dữ liệu được làm tươi. Bộ đếm làm mới thông qua tất cả</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của các giá trị hàng. Đối với mỗi hàng, các dòng đầu ra từ bộ làm mới được cung cấp</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đến bộ giải mã hàng và dòng RAS được kích hoạt. Dữ liệu được đọc và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viết lại vào cùng địa điểm. Điều này làm cho mỗi ô trong hàng được làm mới.</a:t>
            </a:r>
            <a:r>
              <a:rPr kumimoji="1" lang="en-US" sz="1200" kern="1200" baseline="0" dirty="0">
                <a:solidFill>
                  <a:schemeClr val="tx1"/>
                </a:solidFill>
                <a:latin typeface="Times New Roman" pitchFamily="33" charset="0"/>
                <a:ea typeface="+mn-ea"/>
                <a:cs typeface="+mn-cs"/>
              </a:rPr>
              <a:t> </a:t>
            </a:r>
          </a:p>
          <a:p>
            <a:r>
              <a:rPr kumimoji="1" lang="en-US" sz="1200" kern="1200" baseline="0" dirty="0">
                <a:solidFill>
                  <a:schemeClr val="tx1"/>
                </a:solidFill>
                <a:latin typeface="Times New Roman" pitchFamily="33" charset="0"/>
                <a:ea typeface="+mn-ea"/>
                <a:cs typeface="+mn-cs"/>
              </a:rPr>
              <a:t>Figure 5.3 shows a typical organization of a 16-Mbit DRAM. In this case, 4 bits are read or written at a time. Logically, the memory array is organized as four square arrays of 2048 by 2048 elements. Various physical arrangements are possible. In any</a:t>
            </a:r>
          </a:p>
          <a:p>
            <a:r>
              <a:rPr kumimoji="1" lang="en-US" sz="1200" kern="1200" baseline="0" dirty="0">
                <a:solidFill>
                  <a:schemeClr val="tx1"/>
                </a:solidFill>
                <a:latin typeface="Times New Roman" pitchFamily="33" charset="0"/>
                <a:ea typeface="+mn-ea"/>
                <a:cs typeface="+mn-cs"/>
              </a:rPr>
              <a:t>case, the elements of the array are connected by both horizontal (row) and vertical (column) lines. Each horizontal line connects to the Select terminal of each cell in its row; each vertical line connects to the Data-In/Sense terminal of each cell in its column.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Address lines supply the address of the word to be selected. A total of log</a:t>
            </a:r>
            <a:r>
              <a:rPr kumimoji="1" lang="en-US" sz="1200" kern="1200" baseline="-25000" dirty="0">
                <a:solidFill>
                  <a:schemeClr val="tx1"/>
                </a:solidFill>
                <a:latin typeface="Times New Roman" pitchFamily="33" charset="0"/>
                <a:ea typeface="+mn-ea"/>
                <a:cs typeface="+mn-cs"/>
              </a:rPr>
              <a:t>2</a:t>
            </a:r>
            <a:r>
              <a:rPr kumimoji="1" lang="en-US" sz="1200" i="1" kern="1200" baseline="0" dirty="0">
                <a:solidFill>
                  <a:schemeClr val="tx1"/>
                </a:solidFill>
                <a:latin typeface="Times New Roman" pitchFamily="33" charset="0"/>
                <a:ea typeface="+mn-ea"/>
                <a:cs typeface="+mn-cs"/>
              </a:rPr>
              <a:t>W</a:t>
            </a:r>
          </a:p>
          <a:p>
            <a:r>
              <a:rPr kumimoji="1" lang="en-US" sz="1200" kern="1200" baseline="0" dirty="0">
                <a:solidFill>
                  <a:schemeClr val="tx1"/>
                </a:solidFill>
                <a:latin typeface="Times New Roman" pitchFamily="33" charset="0"/>
                <a:ea typeface="+mn-ea"/>
                <a:cs typeface="+mn-cs"/>
              </a:rPr>
              <a:t>lines are needed. In our example, 11 address lines are needed to select one of 2048</a:t>
            </a:r>
          </a:p>
          <a:p>
            <a:r>
              <a:rPr kumimoji="1" lang="en-US" sz="1200" kern="1200" baseline="0" dirty="0">
                <a:solidFill>
                  <a:schemeClr val="tx1"/>
                </a:solidFill>
                <a:latin typeface="Times New Roman" pitchFamily="33" charset="0"/>
                <a:ea typeface="+mn-ea"/>
                <a:cs typeface="+mn-cs"/>
              </a:rPr>
              <a:t>rows. These 11 lines are fed into a row decoder, which has 11 lines of input and 2048</a:t>
            </a:r>
          </a:p>
          <a:p>
            <a:r>
              <a:rPr kumimoji="1" lang="en-US" sz="1200" kern="1200" baseline="0" dirty="0">
                <a:solidFill>
                  <a:schemeClr val="tx1"/>
                </a:solidFill>
                <a:latin typeface="Times New Roman" pitchFamily="33" charset="0"/>
                <a:ea typeface="+mn-ea"/>
                <a:cs typeface="+mn-cs"/>
              </a:rPr>
              <a:t>lines for output. The logic of the decoder activates a single one of the 2048 outputs</a:t>
            </a:r>
          </a:p>
          <a:p>
            <a:r>
              <a:rPr kumimoji="1" lang="en-US" sz="1200" kern="1200" baseline="0" dirty="0">
                <a:solidFill>
                  <a:schemeClr val="tx1"/>
                </a:solidFill>
                <a:latin typeface="Times New Roman" pitchFamily="33" charset="0"/>
                <a:ea typeface="+mn-ea"/>
                <a:cs typeface="+mn-cs"/>
              </a:rPr>
              <a:t>depending on the bit pattern on the 11 input lines (2</a:t>
            </a:r>
            <a:r>
              <a:rPr kumimoji="1" lang="en-US" sz="1200" kern="1200" baseline="30000" dirty="0">
                <a:solidFill>
                  <a:schemeClr val="tx1"/>
                </a:solidFill>
                <a:latin typeface="Times New Roman" pitchFamily="33" charset="0"/>
                <a:ea typeface="+mn-ea"/>
                <a:cs typeface="+mn-cs"/>
              </a:rPr>
              <a:t>11</a:t>
            </a:r>
            <a:r>
              <a:rPr kumimoji="1" lang="en-US" sz="1200" kern="1200" baseline="0" dirty="0">
                <a:solidFill>
                  <a:schemeClr val="tx1"/>
                </a:solidFill>
                <a:latin typeface="Times New Roman" pitchFamily="33" charset="0"/>
                <a:ea typeface="+mn-ea"/>
                <a:cs typeface="+mn-cs"/>
              </a:rPr>
              <a:t> = 2048).</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additional 11 address lines select one of 2048 columns of 4 bits per column.</a:t>
            </a:r>
          </a:p>
          <a:p>
            <a:r>
              <a:rPr kumimoji="1" lang="en-US" sz="1200" kern="1200" baseline="0" dirty="0">
                <a:solidFill>
                  <a:schemeClr val="tx1"/>
                </a:solidFill>
                <a:latin typeface="Times New Roman" pitchFamily="33" charset="0"/>
                <a:ea typeface="+mn-ea"/>
                <a:cs typeface="+mn-cs"/>
              </a:rPr>
              <a:t>Four data lines are used for the input and output of 4 bits to and from a data buffer.</a:t>
            </a:r>
          </a:p>
          <a:p>
            <a:r>
              <a:rPr kumimoji="1" lang="en-US" sz="1200" kern="1200" baseline="0" dirty="0">
                <a:solidFill>
                  <a:schemeClr val="tx1"/>
                </a:solidFill>
                <a:latin typeface="Times New Roman" pitchFamily="33" charset="0"/>
                <a:ea typeface="+mn-ea"/>
                <a:cs typeface="+mn-cs"/>
              </a:rPr>
              <a:t>On input (write), the bit driver of each bit line is activated for a 1 or 0 according to</a:t>
            </a:r>
          </a:p>
          <a:p>
            <a:r>
              <a:rPr kumimoji="1" lang="en-US" sz="1200" kern="1200" baseline="0" dirty="0">
                <a:solidFill>
                  <a:schemeClr val="tx1"/>
                </a:solidFill>
                <a:latin typeface="Times New Roman" pitchFamily="33" charset="0"/>
                <a:ea typeface="+mn-ea"/>
                <a:cs typeface="+mn-cs"/>
              </a:rPr>
              <a:t>the value of the corresponding data line. On output (read), the value of each bit line</a:t>
            </a:r>
          </a:p>
          <a:p>
            <a:r>
              <a:rPr kumimoji="1" lang="en-US" sz="1200" kern="1200" baseline="0" dirty="0">
                <a:solidFill>
                  <a:schemeClr val="tx1"/>
                </a:solidFill>
                <a:latin typeface="Times New Roman" pitchFamily="33" charset="0"/>
                <a:ea typeface="+mn-ea"/>
                <a:cs typeface="+mn-cs"/>
              </a:rPr>
              <a:t>is passed through a sense amplifier and presented to the data lines. The row line</a:t>
            </a:r>
          </a:p>
          <a:p>
            <a:r>
              <a:rPr kumimoji="1" lang="en-US" sz="1200" kern="1200" baseline="0" dirty="0">
                <a:solidFill>
                  <a:schemeClr val="tx1"/>
                </a:solidFill>
                <a:latin typeface="Times New Roman" pitchFamily="33" charset="0"/>
                <a:ea typeface="+mn-ea"/>
                <a:cs typeface="+mn-cs"/>
              </a:rPr>
              <a:t>selects which row of cells is used for reading or writing.</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Because only 4 bits are read/written to this DRAM, there must be multiple</a:t>
            </a:r>
          </a:p>
          <a:p>
            <a:r>
              <a:rPr kumimoji="1" lang="en-US" sz="1200" kern="1200" baseline="0" dirty="0">
                <a:solidFill>
                  <a:schemeClr val="tx1"/>
                </a:solidFill>
                <a:latin typeface="Times New Roman" pitchFamily="33" charset="0"/>
                <a:ea typeface="+mn-ea"/>
                <a:cs typeface="+mn-cs"/>
              </a:rPr>
              <a:t>DRAMs connected to the memory controller to read/write a word of data to the 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Note that there are only 11 address lines (A0–A10), half the number you</a:t>
            </a:r>
          </a:p>
          <a:p>
            <a:r>
              <a:rPr kumimoji="1" lang="en-US" sz="1200" kern="1200" baseline="0" dirty="0">
                <a:solidFill>
                  <a:schemeClr val="tx1"/>
                </a:solidFill>
                <a:latin typeface="Times New Roman" pitchFamily="33" charset="0"/>
                <a:ea typeface="+mn-ea"/>
                <a:cs typeface="+mn-cs"/>
              </a:rPr>
              <a:t>would expect for a 2048 * 2048 array. This is done to save on the number of pins.</a:t>
            </a:r>
          </a:p>
          <a:p>
            <a:r>
              <a:rPr kumimoji="1" lang="en-US" sz="1200" kern="1200" baseline="0" dirty="0">
                <a:solidFill>
                  <a:schemeClr val="tx1"/>
                </a:solidFill>
                <a:latin typeface="Times New Roman" pitchFamily="33" charset="0"/>
                <a:ea typeface="+mn-ea"/>
                <a:cs typeface="+mn-cs"/>
              </a:rPr>
              <a:t>The 22 required address lines are passed through select logic external to the chip</a:t>
            </a:r>
          </a:p>
          <a:p>
            <a:r>
              <a:rPr kumimoji="1" lang="en-US" sz="1200" kern="1200" baseline="0" dirty="0">
                <a:solidFill>
                  <a:schemeClr val="tx1"/>
                </a:solidFill>
                <a:latin typeface="Times New Roman" pitchFamily="33" charset="0"/>
                <a:ea typeface="+mn-ea"/>
                <a:cs typeface="+mn-cs"/>
              </a:rPr>
              <a:t>and multiplexed onto the 11 address lines. First, 11 address signals are passed to the</a:t>
            </a:r>
          </a:p>
          <a:p>
            <a:r>
              <a:rPr kumimoji="1" lang="en-US" sz="1200" kern="1200" baseline="0" dirty="0">
                <a:solidFill>
                  <a:schemeClr val="tx1"/>
                </a:solidFill>
                <a:latin typeface="Times New Roman" pitchFamily="33" charset="0"/>
                <a:ea typeface="+mn-ea"/>
                <a:cs typeface="+mn-cs"/>
              </a:rPr>
              <a:t>chip to define the row address of the array, and then the other 11 address signals are</a:t>
            </a:r>
          </a:p>
          <a:p>
            <a:r>
              <a:rPr kumimoji="1" lang="en-US" sz="1200" kern="1200" baseline="0" dirty="0">
                <a:solidFill>
                  <a:schemeClr val="tx1"/>
                </a:solidFill>
                <a:latin typeface="Times New Roman" pitchFamily="33" charset="0"/>
                <a:ea typeface="+mn-ea"/>
                <a:cs typeface="+mn-cs"/>
              </a:rPr>
              <a:t>presented for the column address. </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an aside, multiplexed addressing plus the use of square arrays result in a</a:t>
            </a:r>
          </a:p>
          <a:p>
            <a:r>
              <a:rPr kumimoji="1" lang="en-US" sz="1200" kern="1200" baseline="0" dirty="0">
                <a:solidFill>
                  <a:schemeClr val="tx1"/>
                </a:solidFill>
                <a:latin typeface="Times New Roman" pitchFamily="33" charset="0"/>
                <a:ea typeface="+mn-ea"/>
                <a:cs typeface="+mn-cs"/>
              </a:rPr>
              <a:t>quadrupling of memory size with each new generation of memory chips. One more</a:t>
            </a:r>
          </a:p>
          <a:p>
            <a:r>
              <a:rPr kumimoji="1" lang="en-US" sz="1200" kern="1200" baseline="0" dirty="0">
                <a:solidFill>
                  <a:schemeClr val="tx1"/>
                </a:solidFill>
                <a:latin typeface="Times New Roman" pitchFamily="33" charset="0"/>
                <a:ea typeface="+mn-ea"/>
                <a:cs typeface="+mn-cs"/>
              </a:rPr>
              <a:t>pin devoted to addressing doubles the number of rows and columns, and so the size</a:t>
            </a:r>
          </a:p>
          <a:p>
            <a:r>
              <a:rPr kumimoji="1" lang="en-US" sz="1200" kern="1200" baseline="0" dirty="0">
                <a:solidFill>
                  <a:schemeClr val="tx1"/>
                </a:solidFill>
                <a:latin typeface="Times New Roman" pitchFamily="33" charset="0"/>
                <a:ea typeface="+mn-ea"/>
                <a:cs typeface="+mn-cs"/>
              </a:rPr>
              <a:t>of the chip memory grows by a factor of 4.</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5.3 also indicates the inclusion of refresh circuitry. All DRAMs require</a:t>
            </a:r>
          </a:p>
          <a:p>
            <a:r>
              <a:rPr kumimoji="1" lang="en-US" sz="1200" kern="1200" baseline="0" dirty="0">
                <a:solidFill>
                  <a:schemeClr val="tx1"/>
                </a:solidFill>
                <a:latin typeface="Times New Roman" pitchFamily="33" charset="0"/>
                <a:ea typeface="+mn-ea"/>
                <a:cs typeface="+mn-cs"/>
              </a:rPr>
              <a:t>a refresh operation. A simple technique for refreshing is, in effect, to disable the</a:t>
            </a:r>
          </a:p>
          <a:p>
            <a:r>
              <a:rPr kumimoji="1" lang="en-US" sz="1200" kern="1200" baseline="0" dirty="0">
                <a:solidFill>
                  <a:schemeClr val="tx1"/>
                </a:solidFill>
                <a:latin typeface="Times New Roman" pitchFamily="33" charset="0"/>
                <a:ea typeface="+mn-ea"/>
                <a:cs typeface="+mn-cs"/>
              </a:rPr>
              <a:t>DRAM chip while all data cells are refreshed. The refresh counter steps through all</a:t>
            </a:r>
          </a:p>
          <a:p>
            <a:r>
              <a:rPr kumimoji="1" lang="en-US" sz="1200" kern="1200" baseline="0" dirty="0">
                <a:solidFill>
                  <a:schemeClr val="tx1"/>
                </a:solidFill>
                <a:latin typeface="Times New Roman" pitchFamily="33" charset="0"/>
                <a:ea typeface="+mn-ea"/>
                <a:cs typeface="+mn-cs"/>
              </a:rPr>
              <a:t>of the row values. For each row, the output lines from the refresh counter are supplied</a:t>
            </a:r>
          </a:p>
          <a:p>
            <a:r>
              <a:rPr kumimoji="1" lang="en-US" sz="1200" kern="1200" baseline="0" dirty="0">
                <a:solidFill>
                  <a:schemeClr val="tx1"/>
                </a:solidFill>
                <a:latin typeface="Times New Roman" pitchFamily="33" charset="0"/>
                <a:ea typeface="+mn-ea"/>
                <a:cs typeface="+mn-cs"/>
              </a:rPr>
              <a:t>to the row decoder and the RAS line is activated. The data are read out and</a:t>
            </a:r>
          </a:p>
          <a:p>
            <a:r>
              <a:rPr kumimoji="1" lang="en-US" sz="1200" kern="1200" baseline="0" dirty="0">
                <a:solidFill>
                  <a:schemeClr val="tx1"/>
                </a:solidFill>
                <a:latin typeface="Times New Roman" pitchFamily="33" charset="0"/>
                <a:ea typeface="+mn-ea"/>
                <a:cs typeface="+mn-cs"/>
              </a:rPr>
              <a:t>written back into the same location. This causes each cell in the row to be refreshed.</a:t>
            </a:r>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B656AF-DF11-D240-8C81-862191AED02B}" type="slidenum">
              <a:rPr lang="en-US"/>
              <a:pPr/>
              <a:t>14</a:t>
            </a:fld>
            <a:endParaRPr lang="en-US" dirty="0"/>
          </a:p>
        </p:txBody>
      </p:sp>
      <p:sp>
        <p:nvSpPr>
          <p:cNvPr id="110594" name="Rectangle 2"/>
          <p:cNvSpPr>
            <a:spLocks noGrp="1" noRot="1" noChangeAspect="1" noChangeArrowheads="1" noTextEdit="1"/>
          </p:cNvSpPr>
          <p:nvPr>
            <p:ph type="sldImg"/>
          </p:nvPr>
        </p:nvSpPr>
        <p:spPr>
          <a:ln/>
        </p:spPr>
      </p:sp>
      <p:sp>
        <p:nvSpPr>
          <p:cNvPr id="110595"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Multiplex : </a:t>
            </a:r>
            <a:r>
              <a:rPr kumimoji="1" lang="en-US" sz="1200" kern="1200" baseline="0" dirty="0" err="1">
                <a:solidFill>
                  <a:schemeClr val="tx1"/>
                </a:solidFill>
                <a:latin typeface="Times New Roman" pitchFamily="33" charset="0"/>
                <a:ea typeface="+mn-ea"/>
                <a:cs typeface="+mn-cs"/>
              </a:rPr>
              <a:t>truyền</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nhiều</a:t>
            </a:r>
            <a:r>
              <a:rPr kumimoji="1" lang="en-US" sz="1200" kern="1200" baseline="0" dirty="0">
                <a:solidFill>
                  <a:schemeClr val="tx1"/>
                </a:solidFill>
                <a:latin typeface="Times New Roman" pitchFamily="33" charset="0"/>
                <a:ea typeface="+mn-ea"/>
                <a:cs typeface="+mn-cs"/>
              </a:rPr>
              <a:t> tin </a:t>
            </a:r>
            <a:r>
              <a:rPr kumimoji="1" lang="en-US" sz="1200" kern="1200" baseline="0" dirty="0" err="1">
                <a:solidFill>
                  <a:schemeClr val="tx1"/>
                </a:solidFill>
                <a:latin typeface="Times New Roman" pitchFamily="33" charset="0"/>
                <a:ea typeface="+mn-ea"/>
                <a:cs typeface="+mn-cs"/>
              </a:rPr>
              <a:t>một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lúc</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was mentioned in Chapter 2, an integrated circuit is mounted on a package that</a:t>
            </a:r>
          </a:p>
          <a:p>
            <a:r>
              <a:rPr kumimoji="1" lang="en-US" sz="1200" kern="1200" baseline="0" dirty="0">
                <a:solidFill>
                  <a:schemeClr val="tx1"/>
                </a:solidFill>
                <a:latin typeface="Times New Roman" pitchFamily="33" charset="0"/>
                <a:ea typeface="+mn-ea"/>
                <a:cs typeface="+mn-cs"/>
              </a:rPr>
              <a:t>contains pins for connection to the outside world.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5.4a shows an example EPROM package, which is an 8-Mbit chip</a:t>
            </a:r>
          </a:p>
          <a:p>
            <a:r>
              <a:rPr kumimoji="1" lang="en-US" sz="1200" kern="1200" baseline="0" dirty="0">
                <a:solidFill>
                  <a:schemeClr val="tx1"/>
                </a:solidFill>
                <a:latin typeface="Times New Roman" pitchFamily="33" charset="0"/>
                <a:ea typeface="+mn-ea"/>
                <a:cs typeface="+mn-cs"/>
              </a:rPr>
              <a:t>organized as 1M * 8. In this case, the organization is treated as a one-word-per-chip</a:t>
            </a:r>
          </a:p>
          <a:p>
            <a:r>
              <a:rPr kumimoji="1" lang="en-US" sz="1200" kern="1200" baseline="0" dirty="0">
                <a:solidFill>
                  <a:schemeClr val="tx1"/>
                </a:solidFill>
                <a:latin typeface="Times New Roman" pitchFamily="33" charset="0"/>
                <a:ea typeface="+mn-ea"/>
                <a:cs typeface="+mn-cs"/>
              </a:rPr>
              <a:t>package. The package includes 32 pins, which is one of the standard chip package</a:t>
            </a:r>
          </a:p>
          <a:p>
            <a:r>
              <a:rPr kumimoji="1" lang="en-US" sz="1200" kern="1200" baseline="0" dirty="0">
                <a:solidFill>
                  <a:schemeClr val="tx1"/>
                </a:solidFill>
                <a:latin typeface="Times New Roman" pitchFamily="33" charset="0"/>
                <a:ea typeface="+mn-ea"/>
                <a:cs typeface="+mn-cs"/>
              </a:rPr>
              <a:t>sizes. The pins support the following signal lines: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address of the word being accessed. For 1M words, a total of 20 (2</a:t>
            </a:r>
            <a:r>
              <a:rPr kumimoji="1" lang="en-US" sz="1200" kern="1200" baseline="30000" dirty="0">
                <a:solidFill>
                  <a:schemeClr val="tx1"/>
                </a:solidFill>
                <a:latin typeface="Times New Roman" pitchFamily="33" charset="0"/>
                <a:ea typeface="+mn-ea"/>
                <a:cs typeface="+mn-cs"/>
              </a:rPr>
              <a:t>20</a:t>
            </a:r>
            <a:r>
              <a:rPr kumimoji="1" lang="en-US" sz="1200" kern="1200" baseline="0" dirty="0">
                <a:solidFill>
                  <a:schemeClr val="tx1"/>
                </a:solidFill>
                <a:latin typeface="Times New Roman" pitchFamily="33" charset="0"/>
                <a:ea typeface="+mn-ea"/>
                <a:cs typeface="+mn-cs"/>
              </a:rPr>
              <a:t> = 1M)</a:t>
            </a:r>
          </a:p>
          <a:p>
            <a:r>
              <a:rPr kumimoji="1" lang="en-US" sz="1200" kern="1200" baseline="0" dirty="0">
                <a:solidFill>
                  <a:schemeClr val="tx1"/>
                </a:solidFill>
                <a:latin typeface="Times New Roman" pitchFamily="33" charset="0"/>
                <a:ea typeface="+mn-ea"/>
                <a:cs typeface="+mn-cs"/>
              </a:rPr>
              <a:t>pins are needed (A0–A19).</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data to be read out, consisting of 8 lines (D0–D7).</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The power supply to the chip (</a:t>
            </a:r>
            <a:r>
              <a:rPr kumimoji="1" lang="en-US" sz="1200" kern="1200" baseline="0" dirty="0" err="1">
                <a:solidFill>
                  <a:schemeClr val="tx1"/>
                </a:solidFill>
                <a:latin typeface="Times New Roman" pitchFamily="33" charset="0"/>
                <a:ea typeface="+mn-ea"/>
                <a:cs typeface="+mn-cs"/>
              </a:rPr>
              <a:t>V</a:t>
            </a:r>
            <a:r>
              <a:rPr kumimoji="1" lang="en-US" sz="1200" kern="1200" baseline="-25000" dirty="0" err="1">
                <a:solidFill>
                  <a:schemeClr val="tx1"/>
                </a:solidFill>
                <a:latin typeface="Times New Roman" pitchFamily="33" charset="0"/>
                <a:ea typeface="+mn-ea"/>
                <a:cs typeface="+mn-cs"/>
              </a:rPr>
              <a:t>cc</a:t>
            </a:r>
            <a:r>
              <a:rPr kumimoji="1" lang="en-US" sz="1200" kern="1200" baseline="0" dirty="0">
                <a:solidFill>
                  <a:schemeClr val="tx1"/>
                </a:solidFill>
                <a:latin typeface="Times New Roman" pitchFamily="33" charset="0"/>
                <a:ea typeface="+mn-ea"/>
                <a:cs typeface="+mn-cs"/>
              </a:rPr>
              <a: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 ground pin (</a:t>
            </a:r>
            <a:r>
              <a:rPr kumimoji="1" lang="en-US" sz="1200" kern="1200" baseline="0" dirty="0" err="1">
                <a:solidFill>
                  <a:schemeClr val="tx1"/>
                </a:solidFill>
                <a:latin typeface="Times New Roman" pitchFamily="33" charset="0"/>
                <a:ea typeface="+mn-ea"/>
                <a:cs typeface="+mn-cs"/>
              </a:rPr>
              <a:t>V</a:t>
            </a:r>
            <a:r>
              <a:rPr kumimoji="1" lang="en-US" sz="1200" kern="1200" baseline="-25000" dirty="0" err="1">
                <a:solidFill>
                  <a:schemeClr val="tx1"/>
                </a:solidFill>
                <a:latin typeface="Times New Roman" pitchFamily="33" charset="0"/>
                <a:ea typeface="+mn-ea"/>
                <a:cs typeface="+mn-cs"/>
              </a:rPr>
              <a:t>ss</a:t>
            </a:r>
            <a:r>
              <a:rPr kumimoji="1" lang="en-US" sz="1200" kern="1200" baseline="0" dirty="0">
                <a:solidFill>
                  <a:schemeClr val="tx1"/>
                </a:solidFill>
                <a:latin typeface="Times New Roman" pitchFamily="33" charset="0"/>
                <a:ea typeface="+mn-ea"/>
                <a:cs typeface="+mn-cs"/>
              </a:rPr>
              <a: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 chip enable (CE) pin. Because there may be more than one memory chip,</a:t>
            </a:r>
          </a:p>
          <a:p>
            <a:r>
              <a:rPr kumimoji="1" lang="en-US" sz="1200" kern="1200" baseline="0" dirty="0">
                <a:solidFill>
                  <a:schemeClr val="tx1"/>
                </a:solidFill>
                <a:latin typeface="Times New Roman" pitchFamily="33" charset="0"/>
                <a:ea typeface="+mn-ea"/>
                <a:cs typeface="+mn-cs"/>
              </a:rPr>
              <a:t>each of which is connected to the same address bus, the CE pin is used to indicate</a:t>
            </a:r>
          </a:p>
          <a:p>
            <a:r>
              <a:rPr kumimoji="1" lang="en-US" sz="1200" kern="1200" baseline="0" dirty="0">
                <a:solidFill>
                  <a:schemeClr val="tx1"/>
                </a:solidFill>
                <a:latin typeface="Times New Roman" pitchFamily="33" charset="0"/>
                <a:ea typeface="+mn-ea"/>
                <a:cs typeface="+mn-cs"/>
              </a:rPr>
              <a:t>whether or not the address is valid for this chip. The CE pin is activated</a:t>
            </a:r>
          </a:p>
          <a:p>
            <a:r>
              <a:rPr kumimoji="1" lang="en-US" sz="1200" kern="1200" baseline="0" dirty="0">
                <a:solidFill>
                  <a:schemeClr val="tx1"/>
                </a:solidFill>
                <a:latin typeface="Times New Roman" pitchFamily="33" charset="0"/>
                <a:ea typeface="+mn-ea"/>
                <a:cs typeface="+mn-cs"/>
              </a:rPr>
              <a:t>by logic connected to the higher-order bits of the address bus (i.e., address bits</a:t>
            </a:r>
          </a:p>
          <a:p>
            <a:r>
              <a:rPr kumimoji="1" lang="en-US" sz="1200" kern="1200" baseline="0" dirty="0">
                <a:solidFill>
                  <a:schemeClr val="tx1"/>
                </a:solidFill>
                <a:latin typeface="Times New Roman" pitchFamily="33" charset="0"/>
                <a:ea typeface="+mn-ea"/>
                <a:cs typeface="+mn-cs"/>
              </a:rPr>
              <a:t>above A19). The use of this signal is illustrated presently.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 program voltage (</a:t>
            </a:r>
            <a:r>
              <a:rPr kumimoji="1" lang="en-US" sz="1200" kern="1200" baseline="0" dirty="0" err="1">
                <a:solidFill>
                  <a:schemeClr val="tx1"/>
                </a:solidFill>
                <a:latin typeface="Times New Roman" pitchFamily="33" charset="0"/>
                <a:ea typeface="+mn-ea"/>
                <a:cs typeface="+mn-cs"/>
              </a:rPr>
              <a:t>V</a:t>
            </a:r>
            <a:r>
              <a:rPr kumimoji="1" lang="en-US" sz="1200" kern="1200" baseline="-25000" dirty="0" err="1">
                <a:solidFill>
                  <a:schemeClr val="tx1"/>
                </a:solidFill>
                <a:latin typeface="Times New Roman" pitchFamily="33" charset="0"/>
                <a:ea typeface="+mn-ea"/>
                <a:cs typeface="+mn-cs"/>
              </a:rPr>
              <a:t>pp</a:t>
            </a:r>
            <a:r>
              <a:rPr kumimoji="1" lang="en-US" sz="1200" kern="1200" baseline="0" dirty="0">
                <a:solidFill>
                  <a:schemeClr val="tx1"/>
                </a:solidFill>
                <a:latin typeface="Times New Roman" pitchFamily="33" charset="0"/>
                <a:ea typeface="+mn-ea"/>
                <a:cs typeface="+mn-cs"/>
              </a:rPr>
              <a:t>) that is supplied during programming (write operations).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typical DRAM pin configuration is shown in Figure 5.4b, for a 16-Mbit chip</a:t>
            </a:r>
          </a:p>
          <a:p>
            <a:r>
              <a:rPr kumimoji="1" lang="en-US" sz="1200" kern="1200" baseline="0" dirty="0">
                <a:solidFill>
                  <a:schemeClr val="tx1"/>
                </a:solidFill>
                <a:latin typeface="Times New Roman" pitchFamily="33" charset="0"/>
                <a:ea typeface="+mn-ea"/>
                <a:cs typeface="+mn-cs"/>
              </a:rPr>
              <a:t>organized as 4M * 4. There are several differences from a ROM chip. Because</a:t>
            </a:r>
          </a:p>
          <a:p>
            <a:r>
              <a:rPr kumimoji="1" lang="en-US" sz="1200" kern="1200" baseline="0" dirty="0">
                <a:solidFill>
                  <a:schemeClr val="tx1"/>
                </a:solidFill>
                <a:latin typeface="Times New Roman" pitchFamily="33" charset="0"/>
                <a:ea typeface="+mn-ea"/>
                <a:cs typeface="+mn-cs"/>
              </a:rPr>
              <a:t>a RAM can be updated, the data pins are input/output. The write enable (WE)</a:t>
            </a:r>
          </a:p>
          <a:p>
            <a:r>
              <a:rPr kumimoji="1" lang="en-US" sz="1200" kern="1200" baseline="0" dirty="0">
                <a:solidFill>
                  <a:schemeClr val="tx1"/>
                </a:solidFill>
                <a:latin typeface="Times New Roman" pitchFamily="33" charset="0"/>
                <a:ea typeface="+mn-ea"/>
                <a:cs typeface="+mn-cs"/>
              </a:rPr>
              <a:t>and output enable (OE) pins indicate whether this is a write or read operation.</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Because the DRAM is accessed by row and column, and the address is multiplexed,</a:t>
            </a:r>
          </a:p>
          <a:p>
            <a:r>
              <a:rPr kumimoji="1" lang="en-US" sz="1200" kern="1200" baseline="0" dirty="0">
                <a:solidFill>
                  <a:schemeClr val="tx1"/>
                </a:solidFill>
                <a:latin typeface="Times New Roman" pitchFamily="33" charset="0"/>
                <a:ea typeface="+mn-ea"/>
                <a:cs typeface="+mn-cs"/>
              </a:rPr>
              <a:t>only 11 address pins are needed to specify the 4M row/column combinations</a:t>
            </a:r>
          </a:p>
          <a:p>
            <a:r>
              <a:rPr kumimoji="1" lang="en-US" sz="1200" kern="1200" baseline="0" dirty="0">
                <a:solidFill>
                  <a:schemeClr val="tx1"/>
                </a:solidFill>
                <a:latin typeface="Times New Roman" pitchFamily="33" charset="0"/>
                <a:ea typeface="+mn-ea"/>
                <a:cs typeface="+mn-cs"/>
              </a:rPr>
              <a:t>(2</a:t>
            </a:r>
            <a:r>
              <a:rPr kumimoji="1" lang="en-US" sz="1200" kern="1200" baseline="30000" dirty="0">
                <a:solidFill>
                  <a:schemeClr val="tx1"/>
                </a:solidFill>
                <a:latin typeface="Times New Roman" pitchFamily="33" charset="0"/>
                <a:ea typeface="+mn-ea"/>
                <a:cs typeface="+mn-cs"/>
              </a:rPr>
              <a:t>11</a:t>
            </a:r>
            <a:r>
              <a:rPr kumimoji="1" lang="en-US" sz="1200" kern="1200" baseline="0" dirty="0">
                <a:solidFill>
                  <a:schemeClr val="tx1"/>
                </a:solidFill>
                <a:latin typeface="Times New Roman" pitchFamily="33" charset="0"/>
                <a:ea typeface="+mn-ea"/>
                <a:cs typeface="+mn-cs"/>
              </a:rPr>
              <a:t> * 2</a:t>
            </a:r>
            <a:r>
              <a:rPr kumimoji="1" lang="en-US" sz="1200" kern="1200" baseline="30000" dirty="0">
                <a:solidFill>
                  <a:schemeClr val="tx1"/>
                </a:solidFill>
                <a:latin typeface="Times New Roman" pitchFamily="33" charset="0"/>
                <a:ea typeface="+mn-ea"/>
                <a:cs typeface="+mn-cs"/>
              </a:rPr>
              <a:t>11</a:t>
            </a:r>
            <a:r>
              <a:rPr kumimoji="1" lang="en-US" sz="1200" kern="1200" baseline="0" dirty="0">
                <a:solidFill>
                  <a:schemeClr val="tx1"/>
                </a:solidFill>
                <a:latin typeface="Times New Roman" pitchFamily="33" charset="0"/>
                <a:ea typeface="+mn-ea"/>
                <a:cs typeface="+mn-cs"/>
              </a:rPr>
              <a:t> = 2</a:t>
            </a:r>
            <a:r>
              <a:rPr kumimoji="1" lang="en-US" sz="1200" kern="1200" baseline="30000" dirty="0">
                <a:solidFill>
                  <a:schemeClr val="tx1"/>
                </a:solidFill>
                <a:latin typeface="Times New Roman" pitchFamily="33" charset="0"/>
                <a:ea typeface="+mn-ea"/>
                <a:cs typeface="+mn-cs"/>
              </a:rPr>
              <a:t>22</a:t>
            </a:r>
            <a:r>
              <a:rPr kumimoji="1" lang="en-US" sz="1200" kern="1200" baseline="0" dirty="0">
                <a:solidFill>
                  <a:schemeClr val="tx1"/>
                </a:solidFill>
                <a:latin typeface="Times New Roman" pitchFamily="33" charset="0"/>
                <a:ea typeface="+mn-ea"/>
                <a:cs typeface="+mn-cs"/>
              </a:rPr>
              <a:t> = 4M). The functions of the row address select (RAS) and column</a:t>
            </a:r>
          </a:p>
          <a:p>
            <a:r>
              <a:rPr kumimoji="1" lang="en-US" sz="1200" kern="1200" baseline="0" dirty="0">
                <a:solidFill>
                  <a:schemeClr val="tx1"/>
                </a:solidFill>
                <a:latin typeface="Times New Roman" pitchFamily="33" charset="0"/>
                <a:ea typeface="+mn-ea"/>
                <a:cs typeface="+mn-cs"/>
              </a:rPr>
              <a:t>address select (CAS) pins were discussed previously. Finally, the no connect (NC)</a:t>
            </a:r>
          </a:p>
          <a:p>
            <a:r>
              <a:rPr kumimoji="1" lang="en-US" sz="1200" kern="1200" baseline="0" dirty="0">
                <a:solidFill>
                  <a:schemeClr val="tx1"/>
                </a:solidFill>
                <a:latin typeface="Times New Roman" pitchFamily="33" charset="0"/>
                <a:ea typeface="+mn-ea"/>
                <a:cs typeface="+mn-cs"/>
              </a:rPr>
              <a:t>pin is provided so that there are an even number of pins.</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948958-CF18-6C41-9FD9-749F2334E737}" type="slidenum">
              <a:rPr lang="en-US"/>
              <a:pPr/>
              <a:t>15</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256*1024=262.144/8(byte/word)=32768/8(8chip)</a:t>
            </a:r>
          </a:p>
          <a:p>
            <a:r>
              <a:rPr kumimoji="1" lang="en-US" sz="1200" kern="1200" baseline="0" dirty="0">
                <a:solidFill>
                  <a:schemeClr val="tx1"/>
                </a:solidFill>
                <a:latin typeface="Times New Roman" pitchFamily="33" charset="0"/>
                <a:ea typeface="+mn-ea"/>
                <a:cs typeface="+mn-cs"/>
              </a:rPr>
              <a:t>Interleaved: xen </a:t>
            </a:r>
            <a:r>
              <a:rPr kumimoji="1" lang="en-US" sz="1200" kern="1200" baseline="0" dirty="0" err="1">
                <a:solidFill>
                  <a:schemeClr val="tx1"/>
                </a:solidFill>
                <a:latin typeface="Times New Roman" pitchFamily="33" charset="0"/>
                <a:ea typeface="+mn-ea"/>
                <a:cs typeface="+mn-cs"/>
              </a:rPr>
              <a:t>kẽ</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256KByte=2048Mbit</a:t>
            </a:r>
          </a:p>
          <a:p>
            <a:r>
              <a:rPr kumimoji="1" lang="vi-VN" sz="1200" kern="1200" baseline="0" dirty="0">
                <a:solidFill>
                  <a:schemeClr val="tx1"/>
                </a:solidFill>
                <a:latin typeface="Times New Roman" pitchFamily="33" charset="0"/>
                <a:ea typeface="+mn-ea"/>
                <a:cs typeface="+mn-cs"/>
              </a:rPr>
              <a:t>Nếu một chip RAM chứa chỉ 1 bit cho mỗi từ, thì rõ ràng chúng ta sẽ cần ít nhất một</a:t>
            </a:r>
          </a:p>
          <a:p>
            <a:r>
              <a:rPr kumimoji="1" lang="vi-VN" sz="1200" kern="1200" baseline="0" dirty="0">
                <a:solidFill>
                  <a:schemeClr val="tx1"/>
                </a:solidFill>
                <a:latin typeface="Times New Roman" pitchFamily="33" charset="0"/>
                <a:ea typeface="+mn-ea"/>
                <a:cs typeface="+mn-cs"/>
              </a:rPr>
              <a:t>số lượng chip bằng số bit mỗi từ. Ví dụ, hình 5.5</a:t>
            </a:r>
          </a:p>
          <a:p>
            <a:r>
              <a:rPr kumimoji="1" lang="vi-VN" sz="1200" kern="1200" baseline="0" dirty="0">
                <a:solidFill>
                  <a:schemeClr val="tx1"/>
                </a:solidFill>
                <a:latin typeface="Times New Roman" pitchFamily="33" charset="0"/>
                <a:ea typeface="+mn-ea"/>
                <a:cs typeface="+mn-cs"/>
              </a:rPr>
              <a:t>cho thấy một mô-đun bộ nhớ bao gồm 256K từ 8-bit có thể được tổ chức như thế nào. Cho</a:t>
            </a:r>
          </a:p>
          <a:p>
            <a:r>
              <a:rPr kumimoji="1" lang="vi-VN" sz="1200" kern="1200" baseline="0" dirty="0">
                <a:solidFill>
                  <a:schemeClr val="tx1"/>
                </a:solidFill>
                <a:latin typeface="Times New Roman" pitchFamily="33" charset="0"/>
                <a:ea typeface="+mn-ea"/>
                <a:cs typeface="+mn-cs"/>
              </a:rPr>
              <a:t>256K từ, một địa chỉ 18-bit là cần thiết và được cung cấp cho mô-đun từ một số</a:t>
            </a:r>
          </a:p>
          <a:p>
            <a:r>
              <a:rPr kumimoji="1" lang="vi-VN" sz="1200" kern="1200" baseline="0" dirty="0">
                <a:solidFill>
                  <a:schemeClr val="tx1"/>
                </a:solidFill>
                <a:latin typeface="Times New Roman" pitchFamily="33" charset="0"/>
                <a:ea typeface="+mn-ea"/>
                <a:cs typeface="+mn-cs"/>
              </a:rPr>
              <a:t>nguồn bên ngoài (ví dụ: dòng địa chỉ của xe buýt mà mô đun được đính kèm).</a:t>
            </a:r>
          </a:p>
          <a:p>
            <a:r>
              <a:rPr kumimoji="1" lang="vi-VN" sz="1200" kern="1200" baseline="0" dirty="0">
                <a:solidFill>
                  <a:schemeClr val="tx1"/>
                </a:solidFill>
                <a:latin typeface="Times New Roman" pitchFamily="33" charset="0"/>
                <a:ea typeface="+mn-ea"/>
                <a:cs typeface="+mn-cs"/>
              </a:rPr>
              <a:t>Địa chỉ này được trình bày cho 8 chip 256-bit 256K * 1, mỗi chip cung cấp đầu vào /</a:t>
            </a:r>
          </a:p>
          <a:p>
            <a:r>
              <a:rPr kumimoji="1" lang="vi-VN" sz="1200" kern="1200" baseline="0" dirty="0">
                <a:solidFill>
                  <a:schemeClr val="tx1"/>
                </a:solidFill>
                <a:latin typeface="Times New Roman" pitchFamily="33" charset="0"/>
                <a:ea typeface="+mn-ea"/>
                <a:cs typeface="+mn-cs"/>
              </a:rPr>
              <a:t>đầu ra của 1 bit.</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If a RAM chip contains only 1 bit per word, then clearly we will need at least a</a:t>
            </a:r>
          </a:p>
          <a:p>
            <a:r>
              <a:rPr kumimoji="1" lang="en-US" sz="1200" kern="1200" baseline="0" dirty="0">
                <a:solidFill>
                  <a:schemeClr val="tx1"/>
                </a:solidFill>
                <a:latin typeface="Times New Roman" pitchFamily="33" charset="0"/>
                <a:ea typeface="+mn-ea"/>
                <a:cs typeface="+mn-cs"/>
              </a:rPr>
              <a:t>number of chips equal to the number of bits per word. As an example, Figure 5.5</a:t>
            </a:r>
          </a:p>
          <a:p>
            <a:r>
              <a:rPr kumimoji="1" lang="en-US" sz="1200" kern="1200" baseline="0" dirty="0">
                <a:solidFill>
                  <a:schemeClr val="tx1"/>
                </a:solidFill>
                <a:latin typeface="Times New Roman" pitchFamily="33" charset="0"/>
                <a:ea typeface="+mn-ea"/>
                <a:cs typeface="+mn-cs"/>
              </a:rPr>
              <a:t>shows how a memory module consisting of 256K 8-bit words could be organized. For</a:t>
            </a:r>
          </a:p>
          <a:p>
            <a:r>
              <a:rPr kumimoji="1" lang="en-US" sz="1200" kern="1200" baseline="0" dirty="0">
                <a:solidFill>
                  <a:schemeClr val="tx1"/>
                </a:solidFill>
                <a:latin typeface="Times New Roman" pitchFamily="33" charset="0"/>
                <a:ea typeface="+mn-ea"/>
                <a:cs typeface="+mn-cs"/>
              </a:rPr>
              <a:t>256K words, an 18-bit address is needed and is supplied to the module from some</a:t>
            </a:r>
          </a:p>
          <a:p>
            <a:r>
              <a:rPr kumimoji="1" lang="en-US" sz="1200" kern="1200" baseline="0" dirty="0">
                <a:solidFill>
                  <a:schemeClr val="tx1"/>
                </a:solidFill>
                <a:latin typeface="Times New Roman" pitchFamily="33" charset="0"/>
                <a:ea typeface="+mn-ea"/>
                <a:cs typeface="+mn-cs"/>
              </a:rPr>
              <a:t>external source (e.g., the address lines of a bus to which the module is attached).</a:t>
            </a:r>
          </a:p>
          <a:p>
            <a:r>
              <a:rPr kumimoji="1" lang="en-US" sz="1200" kern="1200" baseline="0" dirty="0">
                <a:solidFill>
                  <a:schemeClr val="tx1"/>
                </a:solidFill>
                <a:latin typeface="Times New Roman" pitchFamily="33" charset="0"/>
                <a:ea typeface="+mn-ea"/>
                <a:cs typeface="+mn-cs"/>
              </a:rPr>
              <a:t>The address is presented to 8 256K * 1-bit chips, each of which provides the input/</a:t>
            </a:r>
          </a:p>
          <a:p>
            <a:r>
              <a:rPr kumimoji="1" lang="en-US" sz="1200" kern="1200" baseline="0" dirty="0">
                <a:solidFill>
                  <a:schemeClr val="tx1"/>
                </a:solidFill>
                <a:latin typeface="Times New Roman" pitchFamily="33" charset="0"/>
                <a:ea typeface="+mn-ea"/>
                <a:cs typeface="+mn-cs"/>
              </a:rPr>
              <a:t>output of 1 bit.</a:t>
            </a:r>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4945A6-7A93-AA49-8007-21E7FD31E87A}" type="slidenum">
              <a:rPr lang="en-US"/>
              <a:pPr/>
              <a:t>16</a:t>
            </a:fld>
            <a:endParaRPr lang="en-US"/>
          </a:p>
        </p:txBody>
      </p:sp>
      <p:sp>
        <p:nvSpPr>
          <p:cNvPr id="112642" name="Rectangle 2"/>
          <p:cNvSpPr>
            <a:spLocks noGrp="1" noRot="1" noChangeAspect="1" noChangeArrowheads="1" noTextEdit="1"/>
          </p:cNvSpPr>
          <p:nvPr>
            <p:ph type="sldImg"/>
          </p:nvPr>
        </p:nvSpPr>
        <p:spPr>
          <a:ln/>
        </p:spPr>
      </p:sp>
      <p:sp>
        <p:nvSpPr>
          <p:cNvPr id="11264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9+9=18 bit </a:t>
            </a:r>
            <a:r>
              <a:rPr lang="en-US" dirty="0"/>
              <a:t>significant, 2 routed to 32(8X4 </a:t>
            </a:r>
            <a:r>
              <a:rPr lang="en-US" dirty="0" err="1"/>
              <a:t>arrary</a:t>
            </a:r>
            <a:r>
              <a:rPr lang="en-US" dirty="0"/>
              <a:t>) modules, The high-order 2 bits are input to a group select logic module that sends a chip enable signal to one of the four columns of modules</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Tổ chức này hoạt động miễn là kích thước của bộ nhớ bằng với số lượng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bit cho mỗi chip. Trong trường hợp yêu cầu bộ nhớ lớn hơn, một mảng của các chip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cần thiết. Hình 5.6 cho thấy tổ chức có thể của một bộ nhớ bao gồm 1M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từ 8 bit mỗi từ. Trong trường hợp này, chúng ta có bốn cột của chip, mỗi cột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chứa từ 256K được sắp xếp như trong hình 5.5. Đối với từ 1M, 20 dòng địa chỉ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cần thiết. 18 bit ít quan trọng nhất được chuyển đến tất cả 32 mô-đun. Thứ tự cao</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2 bit được nhập vào một mô-đun logic lựa chọn nhóm gửi tín hiệu cho phép một chip</a:t>
            </a:r>
          </a:p>
          <a:p>
            <a:r>
              <a:rPr kumimoji="1" lang="vi-VN" sz="1200" kern="1200" baseline="0" dirty="0">
                <a:solidFill>
                  <a:schemeClr val="tx1"/>
                </a:solidFill>
                <a:latin typeface="Times New Roman" pitchFamily="33" charset="0"/>
                <a:ea typeface="+mn-ea"/>
                <a:cs typeface="+mn-cs"/>
              </a:rPr>
              <a:t>của bốn cột của mô-đun.</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This organization works as long as the size of memory equals the number of</a:t>
            </a:r>
          </a:p>
          <a:p>
            <a:r>
              <a:rPr kumimoji="1" lang="en-US" sz="1200" kern="1200" baseline="0" dirty="0">
                <a:solidFill>
                  <a:schemeClr val="tx1"/>
                </a:solidFill>
                <a:latin typeface="Times New Roman" pitchFamily="33" charset="0"/>
                <a:ea typeface="+mn-ea"/>
                <a:cs typeface="+mn-cs"/>
              </a:rPr>
              <a:t>bits per chip. In the case in which larger memory is required, an array of chips is</a:t>
            </a:r>
          </a:p>
          <a:p>
            <a:r>
              <a:rPr kumimoji="1" lang="en-US" sz="1200" kern="1200" baseline="0" dirty="0">
                <a:solidFill>
                  <a:schemeClr val="tx1"/>
                </a:solidFill>
                <a:latin typeface="Times New Roman" pitchFamily="33" charset="0"/>
                <a:ea typeface="+mn-ea"/>
                <a:cs typeface="+mn-cs"/>
              </a:rPr>
              <a:t>needed. Figure 5.6 shows the possible organization of a memory consisting of 1M</a:t>
            </a:r>
          </a:p>
          <a:p>
            <a:r>
              <a:rPr kumimoji="1" lang="en-US" sz="1200" kern="1200" baseline="0" dirty="0">
                <a:solidFill>
                  <a:schemeClr val="tx1"/>
                </a:solidFill>
                <a:latin typeface="Times New Roman" pitchFamily="33" charset="0"/>
                <a:ea typeface="+mn-ea"/>
                <a:cs typeface="+mn-cs"/>
              </a:rPr>
              <a:t>word by 8 bits per word. In this case, we have four columns of chips, each column</a:t>
            </a:r>
          </a:p>
          <a:p>
            <a:r>
              <a:rPr kumimoji="1" lang="en-US" sz="1200" kern="1200" baseline="0" dirty="0">
                <a:solidFill>
                  <a:schemeClr val="tx1"/>
                </a:solidFill>
                <a:latin typeface="Times New Roman" pitchFamily="33" charset="0"/>
                <a:ea typeface="+mn-ea"/>
                <a:cs typeface="+mn-cs"/>
              </a:rPr>
              <a:t>containing 256K words arranged as in Figure 5.5. For 1M word, 20 address lines are</a:t>
            </a:r>
          </a:p>
          <a:p>
            <a:r>
              <a:rPr kumimoji="1" lang="en-US" sz="1200" kern="1200" baseline="0" dirty="0">
                <a:solidFill>
                  <a:schemeClr val="tx1"/>
                </a:solidFill>
                <a:latin typeface="Times New Roman" pitchFamily="33" charset="0"/>
                <a:ea typeface="+mn-ea"/>
                <a:cs typeface="+mn-cs"/>
              </a:rPr>
              <a:t>needed. The 18 least significant bits are routed to all 32 modules. The high-order</a:t>
            </a:r>
          </a:p>
          <a:p>
            <a:r>
              <a:rPr kumimoji="1" lang="en-US" sz="1200" kern="1200" baseline="0" dirty="0">
                <a:solidFill>
                  <a:schemeClr val="tx1"/>
                </a:solidFill>
                <a:latin typeface="Times New Roman" pitchFamily="33" charset="0"/>
                <a:ea typeface="+mn-ea"/>
                <a:cs typeface="+mn-cs"/>
              </a:rPr>
              <a:t>2 bits are input to a group select logic module that sends a chip enable signal to one</a:t>
            </a:r>
          </a:p>
          <a:p>
            <a:r>
              <a:rPr kumimoji="1" lang="en-US" sz="1200" kern="1200" baseline="0" dirty="0">
                <a:solidFill>
                  <a:schemeClr val="tx1"/>
                </a:solidFill>
                <a:latin typeface="Times New Roman" pitchFamily="33" charset="0"/>
                <a:ea typeface="+mn-ea"/>
                <a:cs typeface="+mn-cs"/>
              </a:rPr>
              <a:t>of the four columns of modules.</a:t>
            </a:r>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a:solidFill>
                  <a:schemeClr val="tx1"/>
                </a:solidFill>
                <a:latin typeface="Times New Roman" pitchFamily="33" charset="0"/>
                <a:ea typeface="+mn-ea"/>
                <a:cs typeface="+mn-cs"/>
              </a:rPr>
              <a:t>Bộ nhớ xen kẻ</a:t>
            </a:r>
          </a:p>
          <a:p>
            <a:r>
              <a:rPr kumimoji="1" lang="vi-VN" sz="1200" kern="1200" baseline="0">
                <a:solidFill>
                  <a:schemeClr val="tx1"/>
                </a:solidFill>
                <a:latin typeface="Times New Roman" pitchFamily="33" charset="0"/>
                <a:ea typeface="+mn-ea"/>
                <a:cs typeface="+mn-cs"/>
              </a:rPr>
              <a:t>Bao </a:t>
            </a:r>
            <a:r>
              <a:rPr kumimoji="1" lang="vi-VN" sz="1200" kern="1200" baseline="0" dirty="0">
                <a:solidFill>
                  <a:schemeClr val="tx1"/>
                </a:solidFill>
                <a:latin typeface="Times New Roman" pitchFamily="33" charset="0"/>
                <a:ea typeface="+mn-ea"/>
                <a:cs typeface="+mn-cs"/>
              </a:rPr>
              <a:t>gồm một tập hợp các chip DRAM</a:t>
            </a:r>
          </a:p>
          <a:p>
            <a:r>
              <a:rPr kumimoji="1" lang="vi-VN" sz="1200" kern="1200" baseline="0" dirty="0">
                <a:solidFill>
                  <a:schemeClr val="tx1"/>
                </a:solidFill>
                <a:latin typeface="Times New Roman" pitchFamily="33" charset="0"/>
                <a:ea typeface="+mn-ea"/>
                <a:cs typeface="+mn-cs"/>
              </a:rPr>
              <a:t>Nhóm lại thành một ngân hàng bộ nhớ</a:t>
            </a:r>
          </a:p>
          <a:p>
            <a:r>
              <a:rPr kumimoji="1" lang="vi-VN" sz="1200" kern="1200" baseline="0" dirty="0">
                <a:solidFill>
                  <a:schemeClr val="tx1"/>
                </a:solidFill>
                <a:latin typeface="Times New Roman" pitchFamily="33" charset="0"/>
                <a:ea typeface="+mn-ea"/>
                <a:cs typeface="+mn-cs"/>
              </a:rPr>
              <a:t>Mỗi ngân hàng đều có thể phục vụ yêu cầu đọc hoặc ghi nhớ</a:t>
            </a:r>
          </a:p>
          <a:p>
            <a:r>
              <a:rPr kumimoji="1" lang="vi-VN" sz="1200" kern="1200" baseline="0" dirty="0">
                <a:solidFill>
                  <a:schemeClr val="tx1"/>
                </a:solidFill>
                <a:latin typeface="Times New Roman" pitchFamily="33" charset="0"/>
                <a:ea typeface="+mn-ea"/>
                <a:cs typeface="+mn-cs"/>
              </a:rPr>
              <a:t>K ngân hàng có thể phục vụ yêu cầu K cùng một lúc, tăng bộ nhớ đọc hoặc ghi các tỷ lệ theo một yếu tố của K</a:t>
            </a:r>
          </a:p>
          <a:p>
            <a:r>
              <a:rPr kumimoji="1" lang="vi-VN" sz="1200" kern="1200" baseline="0" dirty="0">
                <a:solidFill>
                  <a:schemeClr val="tx1"/>
                </a:solidFill>
                <a:latin typeface="Times New Roman" pitchFamily="33" charset="0"/>
                <a:ea typeface="+mn-ea"/>
                <a:cs typeface="+mn-cs"/>
              </a:rPr>
              <a:t>Nếu các từ liên tiếp của bộ nhớ được lưu trữ tại các ngân hàng khác nhau, sự chuyển giao của một khối bộ nhớ được tăng tốc</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Tổ chức này hoạt động miễn là kích thước của bộ nhớ bằng với số lượng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bit cho mỗi chip. Trong trường hợp yêu cầu bộ nhớ lớn hơn, một mảng của các chip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cần thiết. Hình 5.6 cho thấy tổ chức có thể của một bộ nhớ bao gồm 1M</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từ 8 bit mỗi từ. Trong trường hợp này, chúng ta có bốn cột của chip, mỗi cột</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chứa từ 256K được sắp xếp như trong hình 5.5. Đối với từ 1M, 20 dòng địa chỉ là</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cần thiết. 18 bit ít quan trọng nhất được chuyển đến tất cả 32 mô-đun. Thứ tự cao</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2 bit được nhập vào một mô-đun logic lựa chọn nhóm gửi tín hiệu cho phép một chip</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của bốn cột của mô-đun.</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Main memory is composed of a collection of DRAM memory chips. A number of</a:t>
            </a:r>
          </a:p>
          <a:p>
            <a:r>
              <a:rPr kumimoji="1" lang="en-US" sz="1200" kern="1200" baseline="0" dirty="0">
                <a:solidFill>
                  <a:schemeClr val="tx1"/>
                </a:solidFill>
                <a:latin typeface="Times New Roman" pitchFamily="33" charset="0"/>
                <a:ea typeface="+mn-ea"/>
                <a:cs typeface="+mn-cs"/>
              </a:rPr>
              <a:t>chips can be grouped together to form a </a:t>
            </a:r>
            <a:r>
              <a:rPr kumimoji="1" lang="en-US" sz="1200" i="1" kern="1200" baseline="0" dirty="0">
                <a:solidFill>
                  <a:schemeClr val="tx1"/>
                </a:solidFill>
                <a:latin typeface="Times New Roman" pitchFamily="33" charset="0"/>
                <a:ea typeface="+mn-ea"/>
                <a:cs typeface="+mn-cs"/>
              </a:rPr>
              <a:t>memory bank. </a:t>
            </a:r>
            <a:r>
              <a:rPr kumimoji="1" lang="en-US" sz="1200" i="0" kern="1200" baseline="0" dirty="0">
                <a:solidFill>
                  <a:schemeClr val="tx1"/>
                </a:solidFill>
                <a:latin typeface="Times New Roman" pitchFamily="33" charset="0"/>
                <a:ea typeface="+mn-ea"/>
                <a:cs typeface="+mn-cs"/>
              </a:rPr>
              <a:t>It is possible to organize</a:t>
            </a:r>
          </a:p>
          <a:p>
            <a:r>
              <a:rPr kumimoji="1" lang="en-US" sz="1200" kern="1200" baseline="0" dirty="0">
                <a:solidFill>
                  <a:schemeClr val="tx1"/>
                </a:solidFill>
                <a:latin typeface="Times New Roman" pitchFamily="33" charset="0"/>
                <a:ea typeface="+mn-ea"/>
                <a:cs typeface="+mn-cs"/>
              </a:rPr>
              <a:t>the memory banks in a way known as </a:t>
            </a:r>
            <a:r>
              <a:rPr kumimoji="1" lang="en-US" sz="1200" i="1" kern="1200" baseline="0" dirty="0">
                <a:solidFill>
                  <a:schemeClr val="tx1"/>
                </a:solidFill>
                <a:latin typeface="Times New Roman" pitchFamily="33" charset="0"/>
                <a:ea typeface="+mn-ea"/>
                <a:cs typeface="+mn-cs"/>
              </a:rPr>
              <a:t>interleaved memory</a:t>
            </a:r>
            <a:r>
              <a:rPr kumimoji="1" lang="en-US" sz="1200" kern="1200" baseline="0" dirty="0">
                <a:solidFill>
                  <a:schemeClr val="tx1"/>
                </a:solidFill>
                <a:latin typeface="Times New Roman" pitchFamily="33" charset="0"/>
                <a:ea typeface="+mn-ea"/>
                <a:cs typeface="+mn-cs"/>
              </a:rPr>
              <a:t>. Each bank is independently</a:t>
            </a:r>
          </a:p>
          <a:p>
            <a:r>
              <a:rPr kumimoji="1" lang="en-US" sz="1200" kern="1200" baseline="0" dirty="0">
                <a:solidFill>
                  <a:schemeClr val="tx1"/>
                </a:solidFill>
                <a:latin typeface="Times New Roman" pitchFamily="33" charset="0"/>
                <a:ea typeface="+mn-ea"/>
                <a:cs typeface="+mn-cs"/>
              </a:rPr>
              <a:t>able to service a memory read or write request, so that a system with</a:t>
            </a:r>
          </a:p>
          <a:p>
            <a:r>
              <a:rPr kumimoji="1" lang="en-US" sz="1200" i="1" kern="1200" baseline="0" dirty="0">
                <a:solidFill>
                  <a:schemeClr val="tx1"/>
                </a:solidFill>
                <a:latin typeface="Times New Roman" pitchFamily="33" charset="0"/>
                <a:ea typeface="+mn-ea"/>
                <a:cs typeface="+mn-cs"/>
              </a:rPr>
              <a:t>K </a:t>
            </a:r>
            <a:r>
              <a:rPr kumimoji="1" lang="en-US" sz="1200" i="0" kern="1200" baseline="0" dirty="0">
                <a:solidFill>
                  <a:schemeClr val="tx1"/>
                </a:solidFill>
                <a:latin typeface="Times New Roman" pitchFamily="33" charset="0"/>
                <a:ea typeface="+mn-ea"/>
                <a:cs typeface="+mn-cs"/>
              </a:rPr>
              <a:t>banks can service</a:t>
            </a:r>
            <a:r>
              <a:rPr kumimoji="1" lang="en-US" sz="1200" i="1" kern="1200" baseline="0" dirty="0">
                <a:solidFill>
                  <a:schemeClr val="tx1"/>
                </a:solidFill>
                <a:latin typeface="Times New Roman" pitchFamily="33" charset="0"/>
                <a:ea typeface="+mn-ea"/>
                <a:cs typeface="+mn-cs"/>
              </a:rPr>
              <a:t> K </a:t>
            </a:r>
            <a:r>
              <a:rPr kumimoji="1" lang="en-US" sz="1200" i="0" kern="1200" baseline="0" dirty="0">
                <a:solidFill>
                  <a:schemeClr val="tx1"/>
                </a:solidFill>
                <a:latin typeface="Times New Roman" pitchFamily="33" charset="0"/>
                <a:ea typeface="+mn-ea"/>
                <a:cs typeface="+mn-cs"/>
              </a:rPr>
              <a:t>requests simultaneously, increasing memory read or write</a:t>
            </a:r>
          </a:p>
          <a:p>
            <a:r>
              <a:rPr kumimoji="1" lang="en-US" sz="1200" kern="1200" baseline="0" dirty="0">
                <a:solidFill>
                  <a:schemeClr val="tx1"/>
                </a:solidFill>
                <a:latin typeface="Times New Roman" pitchFamily="33" charset="0"/>
                <a:ea typeface="+mn-ea"/>
                <a:cs typeface="+mn-cs"/>
              </a:rPr>
              <a:t>rates by a factor of </a:t>
            </a:r>
            <a:r>
              <a:rPr kumimoji="1" lang="en-US" sz="1200" i="1" kern="1200" baseline="0" dirty="0">
                <a:solidFill>
                  <a:schemeClr val="tx1"/>
                </a:solidFill>
                <a:latin typeface="Times New Roman" pitchFamily="33" charset="0"/>
                <a:ea typeface="+mn-ea"/>
                <a:cs typeface="+mn-cs"/>
              </a:rPr>
              <a:t>K. </a:t>
            </a:r>
            <a:r>
              <a:rPr kumimoji="1" lang="en-US" sz="1200" i="0" kern="1200" baseline="0" dirty="0">
                <a:solidFill>
                  <a:schemeClr val="tx1"/>
                </a:solidFill>
                <a:latin typeface="Times New Roman" pitchFamily="33" charset="0"/>
                <a:ea typeface="+mn-ea"/>
                <a:cs typeface="+mn-cs"/>
              </a:rPr>
              <a:t>If consecutive words of memory are stored in different</a:t>
            </a:r>
          </a:p>
          <a:p>
            <a:r>
              <a:rPr kumimoji="1" lang="en-US" sz="1200" kern="1200" baseline="0" dirty="0">
                <a:solidFill>
                  <a:schemeClr val="tx1"/>
                </a:solidFill>
                <a:latin typeface="Times New Roman" pitchFamily="33" charset="0"/>
                <a:ea typeface="+mn-ea"/>
                <a:cs typeface="+mn-cs"/>
              </a:rPr>
              <a:t>banks, then the transfer of a block of memory is speeded up. Appendix E explores</a:t>
            </a:r>
          </a:p>
          <a:p>
            <a:r>
              <a:rPr kumimoji="1" lang="en-US" sz="1200" kern="1200" baseline="0" dirty="0">
                <a:solidFill>
                  <a:schemeClr val="tx1"/>
                </a:solidFill>
                <a:latin typeface="Times New Roman" pitchFamily="33" charset="0"/>
                <a:ea typeface="+mn-ea"/>
                <a:cs typeface="+mn-cs"/>
              </a:rPr>
              <a:t>the topic of interleaved memory.</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068F92-8AEC-D440-9E10-926B51F83CF2}" type="slidenum">
              <a:rPr lang="en-US"/>
              <a:pPr/>
              <a:t>18</a:t>
            </a:fld>
            <a:endParaRPr lang="en-US" dirty="0"/>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33" charset="0"/>
                <a:ea typeface="+mn-ea"/>
                <a:cs typeface="+mn-cs"/>
              </a:rPr>
              <a:t>Thất bại</a:t>
            </a:r>
            <a:r>
              <a:rPr kumimoji="1" lang="en-US" sz="1200" kern="1200" baseline="0" dirty="0">
                <a:solidFill>
                  <a:schemeClr val="tx1"/>
                </a:solidFill>
                <a:latin typeface="Times New Roman" pitchFamily="33" charset="0"/>
                <a:ea typeface="+mn-ea"/>
                <a:cs typeface="+mn-cs"/>
              </a:rPr>
              <a:t> </a:t>
            </a:r>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Khuyết tật vật lý vĩnh viễn (khuyết tật).</a:t>
            </a:r>
          </a:p>
          <a:p>
            <a:r>
              <a:rPr kumimoji="1" lang="vi-VN" sz="1200" kern="1200" baseline="0" dirty="0">
                <a:solidFill>
                  <a:schemeClr val="tx1"/>
                </a:solidFill>
                <a:latin typeface="Times New Roman" pitchFamily="33" charset="0"/>
                <a:ea typeface="+mn-ea"/>
                <a:cs typeface="+mn-cs"/>
              </a:rPr>
              <a:t>Tế bào nhớ hoặc các tế bào bị ảnh hưởng không thể lưu trữ dữ liệu đáng tin cậy nhưng bị kẹt ở 0 hoặc 1 hoặc chuyển đổi thất thường giữa 0 và 1</a:t>
            </a:r>
          </a:p>
          <a:p>
            <a:r>
              <a:rPr kumimoji="1" lang="vi-VN" sz="1200" kern="1200" baseline="0" dirty="0">
                <a:solidFill>
                  <a:schemeClr val="tx1"/>
                </a:solidFill>
                <a:latin typeface="Times New Roman" pitchFamily="33" charset="0"/>
                <a:ea typeface="+mn-ea"/>
                <a:cs typeface="+mn-cs"/>
              </a:rPr>
              <a:t>Có thể là do:</a:t>
            </a:r>
          </a:p>
          <a:p>
            <a:r>
              <a:rPr kumimoji="1" lang="vi-VN" sz="1200" kern="1200" baseline="0" dirty="0">
                <a:solidFill>
                  <a:schemeClr val="tx1"/>
                </a:solidFill>
                <a:latin typeface="Times New Roman" pitchFamily="33" charset="0"/>
                <a:ea typeface="+mn-ea"/>
                <a:cs typeface="+mn-cs"/>
              </a:rPr>
              <a:t>Khắc nghiệt môi trường khắc nghiệt (ngược đãi)</a:t>
            </a:r>
          </a:p>
          <a:p>
            <a:r>
              <a:rPr kumimoji="1" lang="vi-VN" sz="1200" kern="1200" baseline="0" dirty="0">
                <a:solidFill>
                  <a:schemeClr val="tx1"/>
                </a:solidFill>
                <a:latin typeface="Times New Roman" pitchFamily="33" charset="0"/>
                <a:ea typeface="+mn-ea"/>
                <a:cs typeface="+mn-cs"/>
              </a:rPr>
              <a:t>Các khiếm khuyết sản xuất</a:t>
            </a:r>
          </a:p>
          <a:p>
            <a:r>
              <a:rPr kumimoji="1" lang="vi-VN" sz="1200" kern="1200" baseline="0" dirty="0">
                <a:solidFill>
                  <a:schemeClr val="tx1"/>
                </a:solidFill>
                <a:latin typeface="Times New Roman" pitchFamily="33" charset="0"/>
                <a:ea typeface="+mn-ea"/>
                <a:cs typeface="+mn-cs"/>
              </a:rPr>
              <a:t>Mặc (hao mòn)</a:t>
            </a:r>
          </a:p>
          <a:p>
            <a:r>
              <a:rPr kumimoji="1" lang="vi-VN" sz="1200" kern="1200" baseline="0" dirty="0">
                <a:solidFill>
                  <a:schemeClr val="tx1"/>
                </a:solidFill>
                <a:latin typeface="Times New Roman" pitchFamily="33" charset="0"/>
                <a:ea typeface="+mn-ea"/>
                <a:cs typeface="+mn-cs"/>
              </a:rPr>
              <a:t>Lỗi mềm</a:t>
            </a:r>
          </a:p>
          <a:p>
            <a:r>
              <a:rPr kumimoji="1" lang="vi-VN" sz="1200" kern="1200" baseline="0" dirty="0">
                <a:solidFill>
                  <a:schemeClr val="tx1"/>
                </a:solidFill>
                <a:latin typeface="Times New Roman" pitchFamily="33" charset="0"/>
                <a:ea typeface="+mn-ea"/>
                <a:cs typeface="+mn-cs"/>
              </a:rPr>
              <a:t>Sự kiện ngẫu nhiên, không phá hoại làm thay đổi nội dung của một hoặc nhiều ô nhớ</a:t>
            </a:r>
          </a:p>
          <a:p>
            <a:r>
              <a:rPr kumimoji="1" lang="vi-VN" sz="1200" kern="1200" baseline="0" dirty="0">
                <a:solidFill>
                  <a:schemeClr val="tx1"/>
                </a:solidFill>
                <a:latin typeface="Times New Roman" pitchFamily="33" charset="0"/>
                <a:ea typeface="+mn-ea"/>
                <a:cs typeface="+mn-cs"/>
              </a:rPr>
              <a:t>Không có thiệt hại vĩnh viễn đối với bộ nhớ</a:t>
            </a:r>
          </a:p>
          <a:p>
            <a:r>
              <a:rPr kumimoji="1" lang="vi-VN" sz="1200" kern="1200" baseline="0" dirty="0">
                <a:solidFill>
                  <a:schemeClr val="tx1"/>
                </a:solidFill>
                <a:latin typeface="Times New Roman" pitchFamily="33" charset="0"/>
                <a:ea typeface="+mn-ea"/>
                <a:cs typeface="+mn-cs"/>
              </a:rPr>
              <a:t>Có thể là do:</a:t>
            </a:r>
          </a:p>
          <a:p>
            <a:r>
              <a:rPr kumimoji="1" lang="vi-VN" sz="1200" kern="1200" baseline="0" dirty="0">
                <a:solidFill>
                  <a:schemeClr val="tx1"/>
                </a:solidFill>
                <a:latin typeface="Times New Roman" pitchFamily="33" charset="0"/>
                <a:ea typeface="+mn-ea"/>
                <a:cs typeface="+mn-cs"/>
              </a:rPr>
              <a:t>Vấn đề cung cấp điện</a:t>
            </a:r>
          </a:p>
          <a:p>
            <a:r>
              <a:rPr kumimoji="1" lang="vi-VN" sz="1200" kern="1200" baseline="0" dirty="0">
                <a:solidFill>
                  <a:schemeClr val="tx1"/>
                </a:solidFill>
                <a:latin typeface="Times New Roman" pitchFamily="33" charset="0"/>
                <a:ea typeface="+mn-ea"/>
                <a:cs typeface="+mn-cs"/>
              </a:rPr>
              <a:t>Hạt alpha</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 semiconductor memory system is subject to errors. These can be categorized as</a:t>
            </a:r>
          </a:p>
          <a:p>
            <a:r>
              <a:rPr kumimoji="1" lang="en-US" sz="1200" kern="1200" baseline="0" dirty="0">
                <a:solidFill>
                  <a:schemeClr val="tx1"/>
                </a:solidFill>
                <a:latin typeface="Times New Roman" pitchFamily="33" charset="0"/>
                <a:ea typeface="+mn-ea"/>
                <a:cs typeface="+mn-cs"/>
              </a:rPr>
              <a:t>hard failures and soft errors. A </a:t>
            </a:r>
            <a:r>
              <a:rPr kumimoji="1" lang="en-US" sz="1200" b="1" kern="1200" baseline="0" dirty="0">
                <a:solidFill>
                  <a:schemeClr val="tx1"/>
                </a:solidFill>
                <a:latin typeface="Times New Roman" pitchFamily="33" charset="0"/>
                <a:ea typeface="+mn-ea"/>
                <a:cs typeface="+mn-cs"/>
              </a:rPr>
              <a:t>hard failure </a:t>
            </a:r>
            <a:r>
              <a:rPr kumimoji="1" lang="en-US" sz="1200" b="0" kern="1200" baseline="0" dirty="0">
                <a:solidFill>
                  <a:schemeClr val="tx1"/>
                </a:solidFill>
                <a:latin typeface="Times New Roman" pitchFamily="33" charset="0"/>
                <a:ea typeface="+mn-ea"/>
                <a:cs typeface="+mn-cs"/>
              </a:rPr>
              <a:t>is a permanent physical defect so that</a:t>
            </a:r>
          </a:p>
          <a:p>
            <a:r>
              <a:rPr kumimoji="1" lang="en-US" sz="1200" kern="1200" baseline="0" dirty="0">
                <a:solidFill>
                  <a:schemeClr val="tx1"/>
                </a:solidFill>
                <a:latin typeface="Times New Roman" pitchFamily="33" charset="0"/>
                <a:ea typeface="+mn-ea"/>
                <a:cs typeface="+mn-cs"/>
              </a:rPr>
              <a:t>the memory cell or cells affected cannot reliably store data but become stuck at</a:t>
            </a:r>
          </a:p>
          <a:p>
            <a:r>
              <a:rPr kumimoji="1" lang="en-US" sz="1200" kern="1200" baseline="0" dirty="0">
                <a:solidFill>
                  <a:schemeClr val="tx1"/>
                </a:solidFill>
                <a:latin typeface="Times New Roman" pitchFamily="33" charset="0"/>
                <a:ea typeface="+mn-ea"/>
                <a:cs typeface="+mn-cs"/>
              </a:rPr>
              <a:t>0 or 1 or switch erratically between 0 and 1. Hard errors can be caused by harsh</a:t>
            </a:r>
          </a:p>
          <a:p>
            <a:r>
              <a:rPr kumimoji="1" lang="en-US" sz="1200" kern="1200" baseline="0" dirty="0">
                <a:solidFill>
                  <a:schemeClr val="tx1"/>
                </a:solidFill>
                <a:latin typeface="Times New Roman" pitchFamily="33" charset="0"/>
                <a:ea typeface="+mn-ea"/>
                <a:cs typeface="+mn-cs"/>
              </a:rPr>
              <a:t>environmental abuse, manufacturing defects, and wear. A </a:t>
            </a:r>
            <a:r>
              <a:rPr kumimoji="1" lang="en-US" sz="1200" b="1" kern="1200" baseline="0" dirty="0">
                <a:solidFill>
                  <a:schemeClr val="tx1"/>
                </a:solidFill>
                <a:latin typeface="Times New Roman" pitchFamily="33" charset="0"/>
                <a:ea typeface="+mn-ea"/>
                <a:cs typeface="+mn-cs"/>
              </a:rPr>
              <a:t>soft error </a:t>
            </a:r>
            <a:r>
              <a:rPr kumimoji="1" lang="en-US" sz="1200" b="0" kern="1200" baseline="0" dirty="0">
                <a:solidFill>
                  <a:schemeClr val="tx1"/>
                </a:solidFill>
                <a:latin typeface="Times New Roman" pitchFamily="33" charset="0"/>
                <a:ea typeface="+mn-ea"/>
                <a:cs typeface="+mn-cs"/>
              </a:rPr>
              <a:t>is a random,</a:t>
            </a:r>
          </a:p>
          <a:p>
            <a:r>
              <a:rPr kumimoji="1" lang="en-US" sz="1200" kern="1200" baseline="0" dirty="0">
                <a:solidFill>
                  <a:schemeClr val="tx1"/>
                </a:solidFill>
                <a:latin typeface="Times New Roman" pitchFamily="33" charset="0"/>
                <a:ea typeface="+mn-ea"/>
                <a:cs typeface="+mn-cs"/>
              </a:rPr>
              <a:t>nondestructive event that alters the contents of one or more memory cells without</a:t>
            </a:r>
          </a:p>
          <a:p>
            <a:r>
              <a:rPr kumimoji="1" lang="en-US" sz="1200" kern="1200" baseline="0" dirty="0">
                <a:solidFill>
                  <a:schemeClr val="tx1"/>
                </a:solidFill>
                <a:latin typeface="Times New Roman" pitchFamily="33" charset="0"/>
                <a:ea typeface="+mn-ea"/>
                <a:cs typeface="+mn-cs"/>
              </a:rPr>
              <a:t>damaging the memory. Soft errors can be caused by power supply problems</a:t>
            </a:r>
          </a:p>
          <a:p>
            <a:r>
              <a:rPr kumimoji="1" lang="en-US" sz="1200" kern="1200" baseline="0" dirty="0">
                <a:solidFill>
                  <a:schemeClr val="tx1"/>
                </a:solidFill>
                <a:latin typeface="Times New Roman" pitchFamily="33" charset="0"/>
                <a:ea typeface="+mn-ea"/>
                <a:cs typeface="+mn-cs"/>
              </a:rPr>
              <a:t>or alpha particles. These particles result from radioactive decay and are distressingly</a:t>
            </a:r>
          </a:p>
          <a:p>
            <a:r>
              <a:rPr kumimoji="1" lang="en-US" sz="1200" kern="1200" baseline="0" dirty="0">
                <a:solidFill>
                  <a:schemeClr val="tx1"/>
                </a:solidFill>
                <a:latin typeface="Times New Roman" pitchFamily="33" charset="0"/>
                <a:ea typeface="+mn-ea"/>
                <a:cs typeface="+mn-cs"/>
              </a:rPr>
              <a:t>common because radioactive nuclei are found in small quantities in nearly all</a:t>
            </a:r>
          </a:p>
          <a:p>
            <a:r>
              <a:rPr kumimoji="1" lang="en-US" sz="1200" kern="1200" baseline="0" dirty="0">
                <a:solidFill>
                  <a:schemeClr val="tx1"/>
                </a:solidFill>
                <a:latin typeface="Times New Roman" pitchFamily="33" charset="0"/>
                <a:ea typeface="+mn-ea"/>
                <a:cs typeface="+mn-cs"/>
              </a:rPr>
              <a:t>materials. Both hard and soft errors are clearly undesirable, and most modern main</a:t>
            </a:r>
          </a:p>
          <a:p>
            <a:r>
              <a:rPr kumimoji="1" lang="en-US" sz="1200" kern="1200" baseline="0" dirty="0">
                <a:solidFill>
                  <a:schemeClr val="tx1"/>
                </a:solidFill>
                <a:latin typeface="Times New Roman" pitchFamily="33" charset="0"/>
                <a:ea typeface="+mn-ea"/>
                <a:cs typeface="+mn-cs"/>
              </a:rPr>
              <a:t>memory systems include logic for both detecting and correcting errors.</a:t>
            </a:r>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15CD0F-AC83-3144-A171-B3A02E924D72}" type="slidenum">
              <a:rPr lang="en-US"/>
              <a:pPr/>
              <a:t>19</a:t>
            </a:fld>
            <a:endParaRPr lang="en-US" dirty="0"/>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r>
              <a:rPr kumimoji="1" lang="vi-VN" sz="1200" kern="1200" baseline="0" dirty="0">
                <a:solidFill>
                  <a:schemeClr val="tx1"/>
                </a:solidFill>
                <a:latin typeface="Times New Roman" pitchFamily="33" charset="0"/>
                <a:ea typeface="+mn-ea"/>
                <a:cs typeface="+mn-cs"/>
              </a:rPr>
              <a:t>Không có lỗi nào được phát hiện. Các bit dữ liệu được tìm nạp sẽ được gửi đi.</a:t>
            </a:r>
          </a:p>
          <a:p>
            <a:r>
              <a:rPr kumimoji="1" lang="vi-VN" sz="1200" kern="1200" baseline="0" dirty="0">
                <a:solidFill>
                  <a:schemeClr val="tx1"/>
                </a:solidFill>
                <a:latin typeface="Times New Roman" pitchFamily="33" charset="0"/>
                <a:ea typeface="+mn-ea"/>
                <a:cs typeface="+mn-cs"/>
              </a:rPr>
              <a:t>• Phát hiện lỗi và có thể sửa lỗi. Các bit dữ liệu cộng với các bit điều chỉnh lỗi được đưa vào bộ điều chỉnh, tạo ra một tập hợp các bit M được gửi đi.</a:t>
            </a:r>
          </a:p>
          <a:p>
            <a:r>
              <a:rPr kumimoji="1" lang="vi-VN" sz="1200" kern="1200" baseline="0" dirty="0">
                <a:solidFill>
                  <a:schemeClr val="tx1"/>
                </a:solidFill>
                <a:latin typeface="Times New Roman" pitchFamily="33" charset="0"/>
                <a:ea typeface="+mn-ea"/>
                <a:cs typeface="+mn-cs"/>
              </a:rPr>
              <a:t>• Phát hiện lỗi, nhưng không thể sửa lỗi. Tình trạng này được báo cáo.</a:t>
            </a:r>
          </a:p>
          <a:p>
            <a:r>
              <a:rPr kumimoji="1" lang="vi-VN" sz="1200" kern="1200" baseline="0" dirty="0">
                <a:solidFill>
                  <a:schemeClr val="tx1"/>
                </a:solidFill>
                <a:latin typeface="Times New Roman" pitchFamily="33" charset="0"/>
                <a:ea typeface="+mn-ea"/>
                <a:cs typeface="+mn-cs"/>
              </a:rPr>
              <a:t>Trang trình bày tiếp theo: Ví dụ về chức năng ECC.</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Hình 5.7 minh hoạ về cách thức thực hiện quá trình này. Khi nào</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dữ liệu được ghi vào bộ nhớ, một tính toán, mô tả như là một chức năng f, được thực hiện</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trên dữ liệu để sản xuất một mã. Cả mã và dữ liệu được lưu trữ. Vì vậy,</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nếu một từ M-bit dữ liệu được lưu trữ và mã có chiều dài K bit, sau đó</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kích thước thực tế của từ được lưu trữ là M + K bit.</a:t>
            </a:r>
            <a:r>
              <a:rPr kumimoji="1" lang="en-US" sz="1200" kern="1200" baseline="0" dirty="0">
                <a:solidFill>
                  <a:schemeClr val="tx1"/>
                </a:solidFill>
                <a:latin typeface="Times New Roman" pitchFamily="33" charset="0"/>
                <a:ea typeface="+mn-ea"/>
                <a:cs typeface="+mn-cs"/>
              </a:rPr>
              <a:t> </a:t>
            </a:r>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Khi từ được lưu trữ trước đó được đọc, mã được sử dụng để phát hiện và có thể</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Sửa lỗi. Một bộ bit mã K mới được tạo ra từ các bit dữ liệu M và</a:t>
            </a:r>
          </a:p>
          <a:p>
            <a:r>
              <a:rPr kumimoji="1" lang="vi-VN" sz="1200" kern="1200" baseline="0" dirty="0">
                <a:solidFill>
                  <a:schemeClr val="tx1"/>
                </a:solidFill>
                <a:latin typeface="Times New Roman" pitchFamily="33" charset="0"/>
                <a:ea typeface="+mn-ea"/>
                <a:cs typeface="+mn-cs"/>
              </a:rPr>
              <a:t>so với các bit mã lấy được. So sánh này mang lại một trong ba kết quả:</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Không phát hiện lỗi. Các bit dữ liệu được tìm nạp sẽ được gửi đi.</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Phát hiện lỗi và có thể sửa lỗi. Các bit dữ liệu cộng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các bit điều chỉnh lỗi được đưa vào bộ điều chỉnh, tạo ra một bộ điều chỉnh</a:t>
            </a:r>
          </a:p>
          <a:p>
            <a:r>
              <a:rPr kumimoji="1" lang="vi-VN" sz="1200" kern="1200" baseline="0" dirty="0">
                <a:solidFill>
                  <a:schemeClr val="tx1"/>
                </a:solidFill>
                <a:latin typeface="Times New Roman" pitchFamily="33" charset="0"/>
                <a:ea typeface="+mn-ea"/>
                <a:cs typeface="+mn-cs"/>
              </a:rPr>
              <a:t>M bit được gửi đi.</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Phát hiện lỗi, nhưng không thể sửa lỗi. Tình trạng này được báo cáo.</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Mã hoạt động theo cách này được gọi là các mã sửa lỗi. A</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mã được đặc trưng bởi số lỗi bit trong một từ mà nó có thể chính xác và phát hiện.</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5.7 illustrates in general terms how the process is carried out. When</a:t>
            </a:r>
          </a:p>
          <a:p>
            <a:r>
              <a:rPr kumimoji="1" lang="en-US" sz="1200" kern="1200" baseline="0" dirty="0">
                <a:solidFill>
                  <a:schemeClr val="tx1"/>
                </a:solidFill>
                <a:latin typeface="Times New Roman" pitchFamily="33" charset="0"/>
                <a:ea typeface="+mn-ea"/>
                <a:cs typeface="+mn-cs"/>
              </a:rPr>
              <a:t>data are to be written into memory, a calculation, depicted as a function </a:t>
            </a:r>
            <a:r>
              <a:rPr kumimoji="1" lang="en-US" sz="1200" i="1" kern="1200" baseline="0" dirty="0">
                <a:solidFill>
                  <a:schemeClr val="tx1"/>
                </a:solidFill>
                <a:latin typeface="Times New Roman" pitchFamily="33" charset="0"/>
                <a:ea typeface="+mn-ea"/>
                <a:cs typeface="+mn-cs"/>
              </a:rPr>
              <a:t>f, </a:t>
            </a:r>
            <a:r>
              <a:rPr kumimoji="1" lang="en-US" sz="1200" i="0" kern="1200" baseline="0" dirty="0">
                <a:solidFill>
                  <a:schemeClr val="tx1"/>
                </a:solidFill>
                <a:latin typeface="Times New Roman" pitchFamily="33" charset="0"/>
                <a:ea typeface="+mn-ea"/>
                <a:cs typeface="+mn-cs"/>
              </a:rPr>
              <a:t>is performed</a:t>
            </a:r>
          </a:p>
          <a:p>
            <a:r>
              <a:rPr kumimoji="1" lang="en-US" sz="1200" kern="1200" baseline="0" dirty="0">
                <a:solidFill>
                  <a:schemeClr val="tx1"/>
                </a:solidFill>
                <a:latin typeface="Times New Roman" pitchFamily="33" charset="0"/>
                <a:ea typeface="+mn-ea"/>
                <a:cs typeface="+mn-cs"/>
              </a:rPr>
              <a:t>on the data to produce a code. Both the code and the data are stored. Thus,</a:t>
            </a:r>
          </a:p>
          <a:p>
            <a:r>
              <a:rPr kumimoji="1" lang="en-US" sz="1200" kern="1200" baseline="0" dirty="0">
                <a:solidFill>
                  <a:schemeClr val="tx1"/>
                </a:solidFill>
                <a:latin typeface="Times New Roman" pitchFamily="33" charset="0"/>
                <a:ea typeface="+mn-ea"/>
                <a:cs typeface="+mn-cs"/>
              </a:rPr>
              <a:t>if an </a:t>
            </a:r>
            <a:r>
              <a:rPr kumimoji="1" lang="en-US" sz="1200" i="1" kern="1200" baseline="0" dirty="0">
                <a:solidFill>
                  <a:schemeClr val="tx1"/>
                </a:solidFill>
                <a:latin typeface="Times New Roman" pitchFamily="33" charset="0"/>
                <a:ea typeface="+mn-ea"/>
                <a:cs typeface="+mn-cs"/>
              </a:rPr>
              <a:t>M-</a:t>
            </a:r>
            <a:r>
              <a:rPr kumimoji="1" lang="en-US" sz="1200" i="0" kern="1200" baseline="0" dirty="0">
                <a:solidFill>
                  <a:schemeClr val="tx1"/>
                </a:solidFill>
                <a:latin typeface="Times New Roman" pitchFamily="33" charset="0"/>
                <a:ea typeface="+mn-ea"/>
                <a:cs typeface="+mn-cs"/>
              </a:rPr>
              <a:t>bit word of data is to be stored and the code is of length </a:t>
            </a:r>
            <a:r>
              <a:rPr kumimoji="1" lang="en-US" sz="1200" i="1" kern="1200" baseline="0" dirty="0">
                <a:solidFill>
                  <a:schemeClr val="tx1"/>
                </a:solidFill>
                <a:latin typeface="Times New Roman" pitchFamily="33" charset="0"/>
                <a:ea typeface="+mn-ea"/>
                <a:cs typeface="+mn-cs"/>
              </a:rPr>
              <a:t>K </a:t>
            </a:r>
            <a:r>
              <a:rPr kumimoji="1" lang="en-US" sz="1200" i="0" kern="1200" baseline="0" dirty="0">
                <a:solidFill>
                  <a:schemeClr val="tx1"/>
                </a:solidFill>
                <a:latin typeface="Times New Roman" pitchFamily="33" charset="0"/>
                <a:ea typeface="+mn-ea"/>
                <a:cs typeface="+mn-cs"/>
              </a:rPr>
              <a:t>bits, then the</a:t>
            </a:r>
          </a:p>
          <a:p>
            <a:r>
              <a:rPr kumimoji="1" lang="en-US" sz="1200" kern="1200" baseline="0" dirty="0">
                <a:solidFill>
                  <a:schemeClr val="tx1"/>
                </a:solidFill>
                <a:latin typeface="Times New Roman" pitchFamily="33" charset="0"/>
                <a:ea typeface="+mn-ea"/>
                <a:cs typeface="+mn-cs"/>
              </a:rPr>
              <a:t>actual size of the stored word is </a:t>
            </a:r>
            <a:r>
              <a:rPr kumimoji="1" lang="en-US" sz="1200" i="1" kern="1200" baseline="0" dirty="0">
                <a:solidFill>
                  <a:schemeClr val="tx1"/>
                </a:solidFill>
                <a:latin typeface="Times New Roman" pitchFamily="33" charset="0"/>
                <a:ea typeface="+mn-ea"/>
                <a:cs typeface="+mn-cs"/>
              </a:rPr>
              <a:t>M + K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When the previously stored word is read out, the code is used to detect and possibly</a:t>
            </a:r>
          </a:p>
          <a:p>
            <a:r>
              <a:rPr kumimoji="1" lang="en-US" sz="1200" kern="1200" baseline="0" dirty="0">
                <a:solidFill>
                  <a:schemeClr val="tx1"/>
                </a:solidFill>
                <a:latin typeface="Times New Roman" pitchFamily="33" charset="0"/>
                <a:ea typeface="+mn-ea"/>
                <a:cs typeface="+mn-cs"/>
              </a:rPr>
              <a:t>correct errors. A new set of </a:t>
            </a:r>
            <a:r>
              <a:rPr kumimoji="1" lang="en-US" sz="1200" i="1" kern="1200" baseline="0" dirty="0">
                <a:solidFill>
                  <a:schemeClr val="tx1"/>
                </a:solidFill>
                <a:latin typeface="Times New Roman" pitchFamily="33" charset="0"/>
                <a:ea typeface="+mn-ea"/>
                <a:cs typeface="+mn-cs"/>
              </a:rPr>
              <a:t>K </a:t>
            </a:r>
            <a:r>
              <a:rPr kumimoji="1" lang="en-US" sz="1200" i="0" kern="1200" baseline="0" dirty="0">
                <a:solidFill>
                  <a:schemeClr val="tx1"/>
                </a:solidFill>
                <a:latin typeface="Times New Roman" pitchFamily="33" charset="0"/>
                <a:ea typeface="+mn-ea"/>
                <a:cs typeface="+mn-cs"/>
              </a:rPr>
              <a:t>code bits is generated from the M data bits and</a:t>
            </a:r>
          </a:p>
          <a:p>
            <a:r>
              <a:rPr kumimoji="1" lang="en-US" sz="1200" kern="1200" baseline="0" dirty="0">
                <a:solidFill>
                  <a:schemeClr val="tx1"/>
                </a:solidFill>
                <a:latin typeface="Times New Roman" pitchFamily="33" charset="0"/>
                <a:ea typeface="+mn-ea"/>
                <a:cs typeface="+mn-cs"/>
              </a:rPr>
              <a:t>compared with the fetched code bits. The comparison yields one of three results: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No errors are detected. The fetched data bits are sent out.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An error is detected, and it is possible to correct the error. The data bits plus</a:t>
            </a:r>
          </a:p>
          <a:p>
            <a:r>
              <a:rPr kumimoji="1" lang="en-US" sz="1200" b="1" kern="1200" baseline="0" dirty="0">
                <a:solidFill>
                  <a:schemeClr val="tx1"/>
                </a:solidFill>
                <a:latin typeface="Times New Roman" pitchFamily="33" charset="0"/>
                <a:ea typeface="+mn-ea"/>
                <a:cs typeface="+mn-cs"/>
              </a:rPr>
              <a:t>error correction </a:t>
            </a:r>
            <a:r>
              <a:rPr kumimoji="1" lang="en-US" sz="1200" b="0" kern="1200" baseline="0" dirty="0">
                <a:solidFill>
                  <a:schemeClr val="tx1"/>
                </a:solidFill>
                <a:latin typeface="Times New Roman" pitchFamily="33" charset="0"/>
                <a:ea typeface="+mn-ea"/>
                <a:cs typeface="+mn-cs"/>
              </a:rPr>
              <a:t>bits are fed into a corrector, which produces a corrected set of</a:t>
            </a:r>
          </a:p>
          <a:p>
            <a:r>
              <a:rPr kumimoji="1" lang="en-US" sz="1200" i="1" kern="1200" baseline="0" dirty="0">
                <a:solidFill>
                  <a:schemeClr val="tx1"/>
                </a:solidFill>
                <a:latin typeface="Times New Roman" pitchFamily="33" charset="0"/>
                <a:ea typeface="+mn-ea"/>
                <a:cs typeface="+mn-cs"/>
              </a:rPr>
              <a:t>M </a:t>
            </a:r>
            <a:r>
              <a:rPr kumimoji="1" lang="en-US" sz="1200" i="0" kern="1200" baseline="0" dirty="0">
                <a:solidFill>
                  <a:schemeClr val="tx1"/>
                </a:solidFill>
                <a:latin typeface="Times New Roman" pitchFamily="33" charset="0"/>
                <a:ea typeface="+mn-ea"/>
                <a:cs typeface="+mn-cs"/>
              </a:rPr>
              <a:t>bits to be sent out</a:t>
            </a:r>
            <a:r>
              <a:rPr kumimoji="1" lang="en-US" sz="1200" i="1" kern="1200" baseline="0" dirty="0">
                <a:solidFill>
                  <a:schemeClr val="tx1"/>
                </a:solidFill>
                <a:latin typeface="Times New Roman" pitchFamily="33" charset="0"/>
                <a:ea typeface="+mn-ea"/>
                <a:cs typeface="+mn-cs"/>
              </a:rPr>
              <a:t>.</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An error is detected, but it is not possible to correct it. This condition is reported.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Codes that operate in this fashion are referred to as </a:t>
            </a:r>
            <a:r>
              <a:rPr kumimoji="1" lang="en-US" sz="1200" b="1" kern="1200" baseline="0" dirty="0">
                <a:solidFill>
                  <a:schemeClr val="tx1"/>
                </a:solidFill>
                <a:latin typeface="Times New Roman" pitchFamily="33" charset="0"/>
                <a:ea typeface="+mn-ea"/>
                <a:cs typeface="+mn-cs"/>
              </a:rPr>
              <a:t>error-correcting codes. </a:t>
            </a:r>
            <a:r>
              <a:rPr kumimoji="1" lang="en-US" sz="1200" b="0" kern="1200" baseline="0" dirty="0">
                <a:solidFill>
                  <a:schemeClr val="tx1"/>
                </a:solidFill>
                <a:latin typeface="Times New Roman" pitchFamily="33" charset="0"/>
                <a:ea typeface="+mn-ea"/>
                <a:cs typeface="+mn-cs"/>
              </a:rPr>
              <a:t>A</a:t>
            </a:r>
          </a:p>
          <a:p>
            <a:r>
              <a:rPr kumimoji="1" lang="en-US" sz="1200" kern="1200" baseline="0" dirty="0">
                <a:solidFill>
                  <a:schemeClr val="tx1"/>
                </a:solidFill>
                <a:latin typeface="Times New Roman" pitchFamily="33" charset="0"/>
                <a:ea typeface="+mn-ea"/>
                <a:cs typeface="+mn-cs"/>
              </a:rPr>
              <a:t>code is characterized by the number of bit errors in a word that it can correct and detect.</a:t>
            </a:r>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15CD0F-AC83-3144-A171-B3A02E924D72}" type="slidenum">
              <a:rPr lang="en-US"/>
              <a:pPr/>
              <a:t>20</a:t>
            </a:fld>
            <a:endParaRPr lang="en-US" dirty="0"/>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r>
              <a:rPr lang="vi-VN" dirty="0"/>
              <a:t>Các hoạt động XOR được sử dụng trong các chức năng ECC</a:t>
            </a:r>
          </a:p>
          <a:p>
            <a:r>
              <a:rPr lang="vi-VN" dirty="0"/>
              <a:t>  Dữ liệu đơn giản nhất để kiểm tra là dữ liệu ban đầu  Bản sao của dữ liệu ban đầu được ghi vào bộ nhớ. Dữ liệu 8-bit: 00001111, dữ liệu ECC: 00001111  Bộ nhớ phải tăng lên gấp đôi kích thước</a:t>
            </a:r>
          </a:p>
          <a:p>
            <a:r>
              <a:rPr lang="vi-VN" dirty="0"/>
              <a:t>   XOR một số bit dữ liệu gốc M-bit sang K-bit ECC sẽ làm giảm kích thước bộ nhớ.</a:t>
            </a:r>
          </a:p>
          <a:p>
            <a:r>
              <a:rPr lang="vi-VN" dirty="0"/>
              <a:t>Ví dụ:</a:t>
            </a:r>
          </a:p>
          <a:p>
            <a:r>
              <a:rPr lang="vi-VN" dirty="0"/>
              <a:t>   8 bit  3 bit: 01010110  101</a:t>
            </a:r>
          </a:p>
          <a:p>
            <a:r>
              <a:rPr lang="vi-VN" dirty="0"/>
              <a:t>   8 bit  2 bit: 01010110  00</a:t>
            </a:r>
          </a:p>
          <a:p>
            <a:r>
              <a:rPr lang="vi-VN" dirty="0"/>
              <a:t>   8 bit  1 bit: 01010110  0</a:t>
            </a:r>
          </a:p>
          <a:p>
            <a:r>
              <a:rPr lang="vi-VN" dirty="0"/>
              <a:t>- Ngân hàng bộ nhớ chính bao gồm 9 chip. Tại sao?</a:t>
            </a:r>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Mã đơn giản nhất của mã sửa lỗi là mã Hamming được tạo ra bởi</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Richard Hamming tại Bell Laboratories. Hình 5.8 sử dụng sơ đồ Venn để minh hoạ</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việc sử dụng mã này trên các từ 4-bit (M = 4). Với ba vòng tròn giao nhau,</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có bảy khoang. Chúng tôi chỉ định 4 bit dữ liệu cho các ngăn bên trong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(Hình 5.8a). Các ngăn còn lại được lấp đầy với cái gọi là tính chẵn lẻ</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bit. Mỗi bit chẵn lẻ được chọn sao cho tổng số 1s trong vòng tròn của nó thậm chí còn</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(Hình 5.8b). Như vậy, bởi vì vòng tròn A bao gồm ba dữ liệu 1s, bit chẵn lẻ trong đó</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vòng tròn được đặt thành 1. Bây giờ, nếu một lỗi thay đổi một trong các bit dữ liệu (Hình 5.8c), nó có thể dễ dàng</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tìm. Bằng cách kiểm tra các bit chẵn lẻ, sự khác biệt được tìm thấy trong vòng tròn A và vòng tròn</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C nhưng không trong vòng tròn B. Chỉ có một trong bảy khoang ở A và C nhưng không phải B.</a:t>
            </a:r>
            <a:r>
              <a:rPr kumimoji="1" lang="en-US" sz="1200" kern="1200" baseline="0" dirty="0">
                <a:solidFill>
                  <a:schemeClr val="tx1"/>
                </a:solidFill>
                <a:latin typeface="Times New Roman" pitchFamily="33" charset="0"/>
                <a:ea typeface="+mn-ea"/>
                <a:cs typeface="+mn-cs"/>
              </a:rPr>
              <a:t> </a:t>
            </a:r>
            <a:r>
              <a:rPr kumimoji="1" lang="vi-VN" sz="1200" kern="1200" baseline="0" dirty="0">
                <a:solidFill>
                  <a:schemeClr val="tx1"/>
                </a:solidFill>
                <a:latin typeface="Times New Roman" pitchFamily="33" charset="0"/>
                <a:ea typeface="+mn-ea"/>
                <a:cs typeface="+mn-cs"/>
              </a:rPr>
              <a:t>Do đó, lỗi có thể được sửa bằng cách thay đổi bit đó.</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simplest of the error-correcting codes is the </a:t>
            </a:r>
            <a:r>
              <a:rPr kumimoji="1" lang="en-US" sz="1200" b="1" kern="1200" baseline="0" dirty="0">
                <a:solidFill>
                  <a:schemeClr val="tx1"/>
                </a:solidFill>
                <a:latin typeface="Times New Roman" pitchFamily="33" charset="0"/>
                <a:ea typeface="+mn-ea"/>
                <a:cs typeface="+mn-cs"/>
              </a:rPr>
              <a:t>Hamming code </a:t>
            </a:r>
            <a:r>
              <a:rPr kumimoji="1" lang="en-US" sz="1200" b="0" kern="1200" baseline="0" dirty="0">
                <a:solidFill>
                  <a:schemeClr val="tx1"/>
                </a:solidFill>
                <a:latin typeface="Times New Roman" pitchFamily="33" charset="0"/>
                <a:ea typeface="+mn-ea"/>
                <a:cs typeface="+mn-cs"/>
              </a:rPr>
              <a:t>devised by</a:t>
            </a:r>
          </a:p>
          <a:p>
            <a:r>
              <a:rPr kumimoji="1" lang="en-US" sz="1200" kern="1200" baseline="0" dirty="0">
                <a:solidFill>
                  <a:schemeClr val="tx1"/>
                </a:solidFill>
                <a:latin typeface="Times New Roman" pitchFamily="33" charset="0"/>
                <a:ea typeface="+mn-ea"/>
                <a:cs typeface="+mn-cs"/>
              </a:rPr>
              <a:t>Richard Hamming at Bell Laboratories. Figure 5.8 uses Venn diagrams to illustrate</a:t>
            </a:r>
          </a:p>
          <a:p>
            <a:r>
              <a:rPr kumimoji="1" lang="en-US" sz="1200" kern="1200" baseline="0" dirty="0">
                <a:solidFill>
                  <a:schemeClr val="tx1"/>
                </a:solidFill>
                <a:latin typeface="Times New Roman" pitchFamily="33" charset="0"/>
                <a:ea typeface="+mn-ea"/>
                <a:cs typeface="+mn-cs"/>
              </a:rPr>
              <a:t>the use of this code on 4-bit words (</a:t>
            </a:r>
            <a:r>
              <a:rPr kumimoji="1" lang="en-US" sz="1200" i="1" kern="1200" baseline="0" dirty="0">
                <a:solidFill>
                  <a:schemeClr val="tx1"/>
                </a:solidFill>
                <a:latin typeface="Times New Roman" pitchFamily="33" charset="0"/>
                <a:ea typeface="+mn-ea"/>
                <a:cs typeface="+mn-cs"/>
              </a:rPr>
              <a:t>M = 4). </a:t>
            </a:r>
            <a:r>
              <a:rPr kumimoji="1" lang="en-US" sz="1200" i="0" kern="1200" baseline="0" dirty="0">
                <a:solidFill>
                  <a:schemeClr val="tx1"/>
                </a:solidFill>
                <a:latin typeface="Times New Roman" pitchFamily="33" charset="0"/>
                <a:ea typeface="+mn-ea"/>
                <a:cs typeface="+mn-cs"/>
              </a:rPr>
              <a:t>With three intersecting circles,</a:t>
            </a:r>
          </a:p>
          <a:p>
            <a:r>
              <a:rPr kumimoji="1" lang="en-US" sz="1200" kern="1200" baseline="0" dirty="0">
                <a:solidFill>
                  <a:schemeClr val="tx1"/>
                </a:solidFill>
                <a:latin typeface="Times New Roman" pitchFamily="33" charset="0"/>
                <a:ea typeface="+mn-ea"/>
                <a:cs typeface="+mn-cs"/>
              </a:rPr>
              <a:t>there are seven compartments. We assign the 4 data bits to the inner compartments</a:t>
            </a:r>
          </a:p>
          <a:p>
            <a:r>
              <a:rPr kumimoji="1" lang="en-US" sz="1200" kern="1200" baseline="0" dirty="0">
                <a:solidFill>
                  <a:schemeClr val="tx1"/>
                </a:solidFill>
                <a:latin typeface="Times New Roman" pitchFamily="33" charset="0"/>
                <a:ea typeface="+mn-ea"/>
                <a:cs typeface="+mn-cs"/>
              </a:rPr>
              <a:t>(Figure5.8a). The remaining compartments are filled with what are called </a:t>
            </a:r>
            <a:r>
              <a:rPr kumimoji="1" lang="en-US" sz="1200" i="1" kern="1200" baseline="0" dirty="0">
                <a:solidFill>
                  <a:schemeClr val="tx1"/>
                </a:solidFill>
                <a:latin typeface="Times New Roman" pitchFamily="33" charset="0"/>
                <a:ea typeface="+mn-ea"/>
                <a:cs typeface="+mn-cs"/>
              </a:rPr>
              <a:t>parity</a:t>
            </a:r>
          </a:p>
          <a:p>
            <a:r>
              <a:rPr kumimoji="1" lang="en-US" sz="1200" i="1" kern="1200" baseline="0" dirty="0">
                <a:solidFill>
                  <a:schemeClr val="tx1"/>
                </a:solidFill>
                <a:latin typeface="Times New Roman" pitchFamily="33" charset="0"/>
                <a:ea typeface="+mn-ea"/>
                <a:cs typeface="+mn-cs"/>
              </a:rPr>
              <a:t>bits. </a:t>
            </a:r>
            <a:r>
              <a:rPr kumimoji="1" lang="en-US" sz="1200" i="0" kern="1200" baseline="0" dirty="0">
                <a:solidFill>
                  <a:schemeClr val="tx1"/>
                </a:solidFill>
                <a:latin typeface="Times New Roman" pitchFamily="33" charset="0"/>
                <a:ea typeface="+mn-ea"/>
                <a:cs typeface="+mn-cs"/>
              </a:rPr>
              <a:t>Each parity bit is chosen so that the total number of 1s in its circle is even</a:t>
            </a:r>
          </a:p>
          <a:p>
            <a:r>
              <a:rPr kumimoji="1" lang="en-US" sz="1200" kern="1200" baseline="0" dirty="0">
                <a:solidFill>
                  <a:schemeClr val="tx1"/>
                </a:solidFill>
                <a:latin typeface="Times New Roman" pitchFamily="33" charset="0"/>
                <a:ea typeface="+mn-ea"/>
                <a:cs typeface="+mn-cs"/>
              </a:rPr>
              <a:t>(Figure5.8b). Thus, because circle A includes three data 1s, the parity bit in that</a:t>
            </a:r>
          </a:p>
          <a:p>
            <a:r>
              <a:rPr kumimoji="1" lang="en-US" sz="1200" kern="1200" baseline="0" dirty="0">
                <a:solidFill>
                  <a:schemeClr val="tx1"/>
                </a:solidFill>
                <a:latin typeface="Times New Roman" pitchFamily="33" charset="0"/>
                <a:ea typeface="+mn-ea"/>
                <a:cs typeface="+mn-cs"/>
              </a:rPr>
              <a:t>circle is set to 1. Now, if an error changes one of the data bits (Figure 5.8c), it is easily</a:t>
            </a:r>
          </a:p>
          <a:p>
            <a:r>
              <a:rPr kumimoji="1" lang="en-US" sz="1200" kern="1200" baseline="0" dirty="0">
                <a:solidFill>
                  <a:schemeClr val="tx1"/>
                </a:solidFill>
                <a:latin typeface="Times New Roman" pitchFamily="33" charset="0"/>
                <a:ea typeface="+mn-ea"/>
                <a:cs typeface="+mn-cs"/>
              </a:rPr>
              <a:t>found. By checking the parity bits, discrepancies are found in circle A and circle</a:t>
            </a:r>
          </a:p>
          <a:p>
            <a:r>
              <a:rPr kumimoji="1" lang="en-US" sz="1200" kern="1200" baseline="0" dirty="0">
                <a:solidFill>
                  <a:schemeClr val="tx1"/>
                </a:solidFill>
                <a:latin typeface="Times New Roman" pitchFamily="33" charset="0"/>
                <a:ea typeface="+mn-ea"/>
                <a:cs typeface="+mn-cs"/>
              </a:rPr>
              <a:t>C but not in circle B. Only one of the seven compartments is in A and C but not B.</a:t>
            </a:r>
          </a:p>
          <a:p>
            <a:r>
              <a:rPr kumimoji="1" lang="en-US" sz="1200" kern="1200" baseline="0" dirty="0">
                <a:solidFill>
                  <a:schemeClr val="tx1"/>
                </a:solidFill>
                <a:latin typeface="Times New Roman" pitchFamily="33" charset="0"/>
                <a:ea typeface="+mn-ea"/>
                <a:cs typeface="+mn-cs"/>
              </a:rPr>
              <a:t>The error can therefore be corrected by changing that bit.</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068F92-8AEC-D440-9E10-926B51F83CF2}" type="slidenum">
              <a:rPr lang="en-US"/>
              <a:pPr/>
              <a:t>22</a:t>
            </a:fld>
            <a:endParaRPr lang="en-US" dirty="0"/>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GB"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To achieve these characteristics, the data and check bits are arranged into a</a:t>
            </a:r>
          </a:p>
          <a:p>
            <a:r>
              <a:rPr kumimoji="1" lang="en-US" sz="1200" kern="1200" baseline="0" dirty="0">
                <a:solidFill>
                  <a:schemeClr val="tx1"/>
                </a:solidFill>
                <a:latin typeface="Times New Roman" pitchFamily="33" charset="0"/>
                <a:ea typeface="+mn-ea"/>
                <a:cs typeface="+mn-cs"/>
              </a:rPr>
              <a:t>12-bit word as depicted in Figure 5.9. The bit positions are numbered from 1 to 12.</a:t>
            </a:r>
          </a:p>
          <a:p>
            <a:r>
              <a:rPr kumimoji="1" lang="en-US" sz="1200" kern="1200" baseline="0" dirty="0">
                <a:solidFill>
                  <a:schemeClr val="tx1"/>
                </a:solidFill>
                <a:latin typeface="Times New Roman" pitchFamily="33" charset="0"/>
                <a:ea typeface="+mn-ea"/>
                <a:cs typeface="+mn-cs"/>
              </a:rPr>
              <a:t>Those bit positions whose position numbers are powers of 2 are designated as check</a:t>
            </a:r>
          </a:p>
          <a:p>
            <a:r>
              <a:rPr kumimoji="1" lang="en-US" sz="1200" kern="1200" baseline="0" dirty="0">
                <a:solidFill>
                  <a:schemeClr val="tx1"/>
                </a:solidFill>
                <a:latin typeface="Times New Roman" pitchFamily="33" charset="0"/>
                <a:ea typeface="+mn-ea"/>
                <a:cs typeface="+mn-cs"/>
              </a:rPr>
              <a:t>bits.</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C1: D1, D2, D4,D5,D7 </a:t>
            </a:r>
            <a:r>
              <a:rPr lang="en-US">
                <a:sym typeface="Wingdings" panose="05000000000000000000" pitchFamily="2" charset="2"/>
              </a:rPr>
              <a:t> 1,0,1,1,0 1</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Bit</a:t>
            </a:r>
            <a:r>
              <a:rPr lang="en-US" baseline="0"/>
              <a:t> 5</a:t>
            </a:r>
            <a:endParaRPr lang="en-US"/>
          </a:p>
        </p:txBody>
      </p:sp>
      <p:sp>
        <p:nvSpPr>
          <p:cNvPr id="4" name="Slide Number Placeholder 3"/>
          <p:cNvSpPr>
            <a:spLocks noGrp="1"/>
          </p:cNvSpPr>
          <p:nvPr>
            <p:ph type="sldNum" sz="quarter" idx="10"/>
          </p:nvPr>
        </p:nvSpPr>
        <p:spPr/>
        <p:txBody>
          <a:bodyPr/>
          <a:lstStyle/>
          <a:p>
            <a:fld id="{FAF100D4-BB46-6748-84D4-F681254872AC}" type="slidenum">
              <a:rPr lang="en-US" smtClean="0"/>
              <a:pPr/>
              <a:t>25</a:t>
            </a:fld>
            <a:endParaRPr lang="en-US" dirty="0"/>
          </a:p>
        </p:txBody>
      </p:sp>
    </p:spTree>
    <p:extLst>
      <p:ext uri="{BB962C8B-B14F-4D97-AF65-F5344CB8AC3E}">
        <p14:creationId xmlns:p14="http://schemas.microsoft.com/office/powerpoint/2010/main" val="2240646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a:solidFill>
                  <a:schemeClr val="tx1"/>
                </a:solidFill>
                <a:latin typeface="Times New Roman" pitchFamily="33" charset="0"/>
                <a:ea typeface="+mn-ea"/>
                <a:cs typeface="+mn-cs"/>
              </a:rPr>
              <a:t>The code just described is known as a </a:t>
            </a:r>
            <a:r>
              <a:rPr kumimoji="1" lang="en-US" sz="1200" b="1" kern="1200" baseline="0" dirty="0">
                <a:solidFill>
                  <a:schemeClr val="tx1"/>
                </a:solidFill>
                <a:latin typeface="Times New Roman" pitchFamily="33" charset="0"/>
                <a:ea typeface="+mn-ea"/>
                <a:cs typeface="+mn-cs"/>
              </a:rPr>
              <a:t>single-error-correcting (SEC) code.</a:t>
            </a:r>
          </a:p>
          <a:p>
            <a:r>
              <a:rPr kumimoji="1" lang="en-US" sz="1200" kern="1200" baseline="0" dirty="0">
                <a:solidFill>
                  <a:schemeClr val="tx1"/>
                </a:solidFill>
                <a:latin typeface="Times New Roman" pitchFamily="33" charset="0"/>
                <a:ea typeface="+mn-ea"/>
                <a:cs typeface="+mn-cs"/>
              </a:rPr>
              <a:t>More commonly, semiconductor memory is equipped with a </a:t>
            </a:r>
            <a:r>
              <a:rPr kumimoji="1" lang="en-US" sz="1200" b="1" kern="1200" baseline="0" dirty="0">
                <a:solidFill>
                  <a:schemeClr val="tx1"/>
                </a:solidFill>
                <a:latin typeface="Times New Roman" pitchFamily="33" charset="0"/>
                <a:ea typeface="+mn-ea"/>
                <a:cs typeface="+mn-cs"/>
              </a:rPr>
              <a:t>single-error-correcting,</a:t>
            </a:r>
          </a:p>
          <a:p>
            <a:r>
              <a:rPr kumimoji="1" lang="en-US" sz="1200" b="1" kern="1200" baseline="0" dirty="0">
                <a:solidFill>
                  <a:schemeClr val="tx1"/>
                </a:solidFill>
                <a:latin typeface="Times New Roman" pitchFamily="33" charset="0"/>
                <a:ea typeface="+mn-ea"/>
                <a:cs typeface="+mn-cs"/>
              </a:rPr>
              <a:t>double-error-detecting (SEC-DED) code. </a:t>
            </a:r>
            <a:r>
              <a:rPr kumimoji="1" lang="en-US" sz="1200" b="0" kern="1200" baseline="0" dirty="0">
                <a:solidFill>
                  <a:schemeClr val="tx1"/>
                </a:solidFill>
                <a:latin typeface="Times New Roman" pitchFamily="33" charset="0"/>
                <a:ea typeface="+mn-ea"/>
                <a:cs typeface="+mn-cs"/>
              </a:rPr>
              <a:t>As Table 5.2 shows, such codes require</a:t>
            </a:r>
          </a:p>
          <a:p>
            <a:r>
              <a:rPr kumimoji="1" lang="en-US" sz="1200" kern="1200" baseline="0" dirty="0">
                <a:solidFill>
                  <a:schemeClr val="tx1"/>
                </a:solidFill>
                <a:latin typeface="Times New Roman" pitchFamily="33" charset="0"/>
                <a:ea typeface="+mn-ea"/>
                <a:cs typeface="+mn-cs"/>
              </a:rPr>
              <a:t>one additional bit compared with SEC codes.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5.11 illustrates how such a code works, again with a 4-bit data word.</a:t>
            </a:r>
          </a:p>
          <a:p>
            <a:r>
              <a:rPr kumimoji="1" lang="en-US" sz="1200" kern="1200" baseline="0" dirty="0">
                <a:solidFill>
                  <a:schemeClr val="tx1"/>
                </a:solidFill>
                <a:latin typeface="Times New Roman" pitchFamily="33" charset="0"/>
                <a:ea typeface="+mn-ea"/>
                <a:cs typeface="+mn-cs"/>
              </a:rPr>
              <a:t>The sequence shows that if two errors occur (Figure 5.11c), the checking procedure</a:t>
            </a:r>
          </a:p>
          <a:p>
            <a:r>
              <a:rPr kumimoji="1" lang="en-US" sz="1200" kern="1200" baseline="0" dirty="0">
                <a:solidFill>
                  <a:schemeClr val="tx1"/>
                </a:solidFill>
                <a:latin typeface="Times New Roman" pitchFamily="33" charset="0"/>
                <a:ea typeface="+mn-ea"/>
                <a:cs typeface="+mn-cs"/>
              </a:rPr>
              <a:t>goes astray – chệch hướng (d) and worsens the problem by creating a third error (e). To overcome</a:t>
            </a:r>
          </a:p>
          <a:p>
            <a:r>
              <a:rPr kumimoji="1" lang="en-US" sz="1200" kern="1200" baseline="0" dirty="0">
                <a:solidFill>
                  <a:schemeClr val="tx1"/>
                </a:solidFill>
                <a:latin typeface="Times New Roman" pitchFamily="33" charset="0"/>
                <a:ea typeface="+mn-ea"/>
                <a:cs typeface="+mn-cs"/>
              </a:rPr>
              <a:t>the problem, an eighth bit is added that is set so that the total number of 1s in the</a:t>
            </a:r>
          </a:p>
          <a:p>
            <a:r>
              <a:rPr kumimoji="1" lang="en-US" sz="1200" kern="1200" baseline="0" dirty="0">
                <a:solidFill>
                  <a:schemeClr val="tx1"/>
                </a:solidFill>
                <a:latin typeface="Times New Roman" pitchFamily="33" charset="0"/>
                <a:ea typeface="+mn-ea"/>
                <a:cs typeface="+mn-cs"/>
              </a:rPr>
              <a:t>diagram is even. The extra parity bit catches the error (f).</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An error-correcting code enhances the reliability of the memory at the cost of</a:t>
            </a:r>
          </a:p>
          <a:p>
            <a:r>
              <a:rPr kumimoji="1" lang="en-US" sz="1200" kern="1200" baseline="0" dirty="0">
                <a:solidFill>
                  <a:schemeClr val="tx1"/>
                </a:solidFill>
                <a:latin typeface="Times New Roman" pitchFamily="33" charset="0"/>
                <a:ea typeface="+mn-ea"/>
                <a:cs typeface="+mn-cs"/>
              </a:rPr>
              <a:t>added complexity. With a 1-bit-per-chip organization, an SEC-DED code is generally</a:t>
            </a:r>
          </a:p>
          <a:p>
            <a:r>
              <a:rPr kumimoji="1" lang="en-US" sz="1200" kern="1200" baseline="0" dirty="0">
                <a:solidFill>
                  <a:schemeClr val="tx1"/>
                </a:solidFill>
                <a:latin typeface="Times New Roman" pitchFamily="33" charset="0"/>
                <a:ea typeface="+mn-ea"/>
                <a:cs typeface="+mn-cs"/>
              </a:rPr>
              <a:t>considered adequate. For example, the IBM 30xx implementations used an 8-bit SECDED</a:t>
            </a:r>
          </a:p>
          <a:p>
            <a:r>
              <a:rPr kumimoji="1" lang="en-US" sz="1200" kern="1200" baseline="0" dirty="0">
                <a:solidFill>
                  <a:schemeClr val="tx1"/>
                </a:solidFill>
                <a:latin typeface="Times New Roman" pitchFamily="33" charset="0"/>
                <a:ea typeface="+mn-ea"/>
                <a:cs typeface="+mn-cs"/>
              </a:rPr>
              <a:t>code for each 64 bits of data in main memory. Thus, the size of main memory is</a:t>
            </a:r>
          </a:p>
          <a:p>
            <a:r>
              <a:rPr kumimoji="1" lang="en-US" sz="1200" kern="1200" baseline="0" dirty="0">
                <a:solidFill>
                  <a:schemeClr val="tx1"/>
                </a:solidFill>
                <a:latin typeface="Times New Roman" pitchFamily="33" charset="0"/>
                <a:ea typeface="+mn-ea"/>
                <a:cs typeface="+mn-cs"/>
              </a:rPr>
              <a:t>actually about 12% larger than is apparent to the user. The VAX computers used a 7-bit</a:t>
            </a:r>
          </a:p>
          <a:p>
            <a:r>
              <a:rPr kumimoji="1" lang="en-US" sz="1200" kern="1200" baseline="0" dirty="0">
                <a:solidFill>
                  <a:schemeClr val="tx1"/>
                </a:solidFill>
                <a:latin typeface="Times New Roman" pitchFamily="33" charset="0"/>
                <a:ea typeface="+mn-ea"/>
                <a:cs typeface="+mn-cs"/>
              </a:rPr>
              <a:t>SEC-DED for each 32 bits of memory, for a 22% overhead. A number of contemporary</a:t>
            </a:r>
          </a:p>
          <a:p>
            <a:r>
              <a:rPr kumimoji="1" lang="en-US" sz="1200" kern="1200" baseline="0" dirty="0">
                <a:solidFill>
                  <a:schemeClr val="tx1"/>
                </a:solidFill>
                <a:latin typeface="Times New Roman" pitchFamily="33" charset="0"/>
                <a:ea typeface="+mn-ea"/>
                <a:cs typeface="+mn-cs"/>
              </a:rPr>
              <a:t>DRAMs use 9 check bits for each 128 bits of data, for a 7% overhead [SHAR97].</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Ba cột đầu tiên của Bảng 5.2</a:t>
            </a:r>
          </a:p>
          <a:p>
            <a:r>
              <a:rPr kumimoji="1" lang="vi-VN" sz="1200" kern="1200" baseline="0" dirty="0">
                <a:solidFill>
                  <a:schemeClr val="tx1"/>
                </a:solidFill>
                <a:latin typeface="Times New Roman" pitchFamily="33" charset="0"/>
                <a:ea typeface="+mn-ea"/>
                <a:cs typeface="+mn-cs"/>
              </a:rPr>
              <a:t>liệt kê số lượng các bit kiểm tra yêu cầu cho các độ dài từ dữ liệu khác nhau.</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Để thuận tiện, chúng tôi muốn tạo ra một hội chứng 4-bit cho một dữ liệu 8-bit</a:t>
            </a:r>
          </a:p>
          <a:p>
            <a:r>
              <a:rPr kumimoji="1" lang="vi-VN" sz="1200" kern="1200" baseline="0" dirty="0">
                <a:solidFill>
                  <a:schemeClr val="tx1"/>
                </a:solidFill>
                <a:latin typeface="Times New Roman" pitchFamily="33" charset="0"/>
                <a:ea typeface="+mn-ea"/>
                <a:cs typeface="+mn-cs"/>
              </a:rPr>
              <a:t>từ có các đặc điểm sau:</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Nếu hội chứng có tất cả 0s, không có lỗi đã được phát hiện.</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Nếu hội chứng có chứa một và chỉ một bit được đặt thành 1, thì lỗi có</a:t>
            </a:r>
          </a:p>
          <a:p>
            <a:r>
              <a:rPr kumimoji="1" lang="vi-VN" sz="1200" kern="1200" baseline="0" dirty="0">
                <a:solidFill>
                  <a:schemeClr val="tx1"/>
                </a:solidFill>
                <a:latin typeface="Times New Roman" pitchFamily="33" charset="0"/>
                <a:ea typeface="+mn-ea"/>
                <a:cs typeface="+mn-cs"/>
              </a:rPr>
              <a:t>xảy ra trong một trong 4 kiểm tra bit. Không cần chỉnh sửa.</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 Nếu hội chứng có nhiều hơn một bit đặt thành 1, thì giá trị số</a:t>
            </a:r>
          </a:p>
          <a:p>
            <a:r>
              <a:rPr kumimoji="1" lang="vi-VN" sz="1200" kern="1200" baseline="0" dirty="0">
                <a:solidFill>
                  <a:schemeClr val="tx1"/>
                </a:solidFill>
                <a:latin typeface="Times New Roman" pitchFamily="33" charset="0"/>
                <a:ea typeface="+mn-ea"/>
                <a:cs typeface="+mn-cs"/>
              </a:rPr>
              <a:t>của hội chứng cho thấy vị trí của bit dữ liệu bị lỗi. Bit dữ liệu này là</a:t>
            </a:r>
          </a:p>
          <a:p>
            <a:r>
              <a:rPr kumimoji="1" lang="vi-VN" sz="1200" kern="1200" baseline="0" dirty="0">
                <a:solidFill>
                  <a:schemeClr val="tx1"/>
                </a:solidFill>
                <a:latin typeface="Times New Roman" pitchFamily="33" charset="0"/>
                <a:ea typeface="+mn-ea"/>
                <a:cs typeface="+mn-cs"/>
              </a:rPr>
              <a:t>đảo ngược để chỉnh sửa.</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first three columns of Table 5.2</a:t>
            </a:r>
          </a:p>
          <a:p>
            <a:r>
              <a:rPr kumimoji="1" lang="en-US" sz="1200" kern="1200" baseline="0" dirty="0">
                <a:solidFill>
                  <a:schemeClr val="tx1"/>
                </a:solidFill>
                <a:latin typeface="Times New Roman" pitchFamily="33" charset="0"/>
                <a:ea typeface="+mn-ea"/>
                <a:cs typeface="+mn-cs"/>
              </a:rPr>
              <a:t>lists the number of check bits required for various data word lengths.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For convenience, we would like to generate a 4-bit syndrome for an 8-bit data</a:t>
            </a:r>
          </a:p>
          <a:p>
            <a:r>
              <a:rPr kumimoji="1" lang="en-US" sz="1200" kern="1200" baseline="0" dirty="0">
                <a:solidFill>
                  <a:schemeClr val="tx1"/>
                </a:solidFill>
                <a:latin typeface="Times New Roman" pitchFamily="33" charset="0"/>
                <a:ea typeface="+mn-ea"/>
                <a:cs typeface="+mn-cs"/>
              </a:rPr>
              <a:t>word with the following characteristics: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If the syndrome contains all 0s, no error has been detected.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If the syndrome contains one and only one bit set to 1, then an error has</a:t>
            </a:r>
          </a:p>
          <a:p>
            <a:r>
              <a:rPr kumimoji="1" lang="en-US" sz="1200" kern="1200" baseline="0" dirty="0">
                <a:solidFill>
                  <a:schemeClr val="tx1"/>
                </a:solidFill>
                <a:latin typeface="Times New Roman" pitchFamily="33" charset="0"/>
                <a:ea typeface="+mn-ea"/>
                <a:cs typeface="+mn-cs"/>
              </a:rPr>
              <a:t>occurred in one of the 4 check bits. No correction is needed.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 If the syndrome contains more than one bit set to 1, then the numerical value</a:t>
            </a:r>
          </a:p>
          <a:p>
            <a:r>
              <a:rPr kumimoji="1" lang="en-US" sz="1200" kern="1200" baseline="0" dirty="0">
                <a:solidFill>
                  <a:schemeClr val="tx1"/>
                </a:solidFill>
                <a:latin typeface="Times New Roman" pitchFamily="33" charset="0"/>
                <a:ea typeface="+mn-ea"/>
                <a:cs typeface="+mn-cs"/>
              </a:rPr>
              <a:t>of the syndrome indicates the position of the data bit in error. This data bit is</a:t>
            </a:r>
          </a:p>
          <a:p>
            <a:r>
              <a:rPr kumimoji="1" lang="en-US" sz="1200" kern="1200" baseline="0" dirty="0">
                <a:solidFill>
                  <a:schemeClr val="tx1"/>
                </a:solidFill>
                <a:latin typeface="Times New Roman" pitchFamily="33" charset="0"/>
                <a:ea typeface="+mn-ea"/>
                <a:cs typeface="+mn-cs"/>
              </a:rPr>
              <a:t>inverted for correction.</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AB6520-AEC6-1F4C-A4D2-E0B5E5244B83}" type="slidenum">
              <a:rPr lang="en-US"/>
              <a:pPr/>
              <a:t>29</a:t>
            </a:fld>
            <a:endParaRPr lang="en-US" dirty="0"/>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Interface: </a:t>
            </a:r>
            <a:r>
              <a:rPr lang="en-US" b="0" i="0" dirty="0">
                <a:effectLst/>
                <a:latin typeface="Roboto" panose="02000000000000000000" pitchFamily="2" charset="0"/>
              </a:rPr>
              <a:t>a point where two systems, subjects, organizations, etc. meet and interact.</a:t>
            </a:r>
            <a:endParaRPr kumimoji="1" lang="en-US" sz="1200" kern="1200" baseline="0" dirty="0">
              <a:solidFill>
                <a:schemeClr val="tx1"/>
              </a:solidFill>
              <a:latin typeface="Times New Roman" pitchFamily="33" charset="0"/>
              <a:ea typeface="+mn-ea"/>
              <a:cs typeface="+mn-cs"/>
            </a:endParaRPr>
          </a:p>
          <a:p>
            <a:r>
              <a:rPr kumimoji="1" lang="en-US" sz="1200" kern="1200" baseline="0" dirty="0" err="1">
                <a:solidFill>
                  <a:schemeClr val="tx1"/>
                </a:solidFill>
                <a:latin typeface="Times New Roman" pitchFamily="33" charset="0"/>
                <a:ea typeface="+mn-ea"/>
                <a:cs typeface="+mn-cs"/>
              </a:rPr>
              <a:t>Contrain</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bắt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buộc</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Enhancement: </a:t>
            </a:r>
            <a:r>
              <a:rPr kumimoji="1" lang="en-US" sz="1200" kern="1200" baseline="0" dirty="0" err="1">
                <a:solidFill>
                  <a:schemeClr val="tx1"/>
                </a:solidFill>
                <a:latin typeface="Times New Roman" pitchFamily="33" charset="0"/>
                <a:ea typeface="+mn-ea"/>
                <a:cs typeface="+mn-cs"/>
              </a:rPr>
              <a:t>nâng</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cao</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As discussed in Chapter 2, one of the most critical system bottlenecks when using</a:t>
            </a:r>
          </a:p>
          <a:p>
            <a:r>
              <a:rPr kumimoji="1" lang="en-US" sz="1200" kern="1200" baseline="0" dirty="0">
                <a:solidFill>
                  <a:schemeClr val="tx1"/>
                </a:solidFill>
                <a:latin typeface="Times New Roman" pitchFamily="33" charset="0"/>
                <a:ea typeface="+mn-ea"/>
                <a:cs typeface="+mn-cs"/>
              </a:rPr>
              <a:t>high-performance processors is the interface to main internal memory. This interface</a:t>
            </a:r>
          </a:p>
          <a:p>
            <a:r>
              <a:rPr kumimoji="1" lang="en-US" sz="1200" kern="1200" baseline="0" dirty="0">
                <a:solidFill>
                  <a:schemeClr val="tx1"/>
                </a:solidFill>
                <a:latin typeface="Times New Roman" pitchFamily="33" charset="0"/>
                <a:ea typeface="+mn-ea"/>
                <a:cs typeface="+mn-cs"/>
              </a:rPr>
              <a:t>is the most important pathway in the entire computer system. The basic building</a:t>
            </a:r>
          </a:p>
          <a:p>
            <a:r>
              <a:rPr kumimoji="1" lang="en-US" sz="1200" kern="1200" baseline="0" dirty="0">
                <a:solidFill>
                  <a:schemeClr val="tx1"/>
                </a:solidFill>
                <a:latin typeface="Times New Roman" pitchFamily="33" charset="0"/>
                <a:ea typeface="+mn-ea"/>
                <a:cs typeface="+mn-cs"/>
              </a:rPr>
              <a:t>block of main memory remains the DRAM chip, as it has for decades; until</a:t>
            </a:r>
          </a:p>
          <a:p>
            <a:r>
              <a:rPr kumimoji="1" lang="en-US" sz="1200" kern="1200" baseline="0" dirty="0">
                <a:solidFill>
                  <a:schemeClr val="tx1"/>
                </a:solidFill>
                <a:latin typeface="Times New Roman" pitchFamily="33" charset="0"/>
                <a:ea typeface="+mn-ea"/>
                <a:cs typeface="+mn-cs"/>
              </a:rPr>
              <a:t>recently, there had been no significant changes in DRAM architecture since the</a:t>
            </a:r>
          </a:p>
          <a:p>
            <a:r>
              <a:rPr kumimoji="1" lang="en-US" sz="1200" kern="1200" baseline="0" dirty="0">
                <a:solidFill>
                  <a:schemeClr val="tx1"/>
                </a:solidFill>
                <a:latin typeface="Times New Roman" pitchFamily="33" charset="0"/>
                <a:ea typeface="+mn-ea"/>
                <a:cs typeface="+mn-cs"/>
              </a:rPr>
              <a:t>early 1970s. The traditional DRAM chip is constrained both by its internal architecture</a:t>
            </a:r>
          </a:p>
          <a:p>
            <a:r>
              <a:rPr kumimoji="1" lang="en-US" sz="1200" kern="1200" baseline="0" dirty="0">
                <a:solidFill>
                  <a:schemeClr val="tx1"/>
                </a:solidFill>
                <a:latin typeface="Times New Roman" pitchFamily="33" charset="0"/>
                <a:ea typeface="+mn-ea"/>
                <a:cs typeface="+mn-cs"/>
              </a:rPr>
              <a:t>and by its interface to the processor’s memory bus.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We have seen that one attack on the performance problem of DRAM</a:t>
            </a:r>
          </a:p>
          <a:p>
            <a:r>
              <a:rPr kumimoji="1" lang="en-US" sz="1200" kern="1200" baseline="0" dirty="0">
                <a:solidFill>
                  <a:schemeClr val="tx1"/>
                </a:solidFill>
                <a:latin typeface="Times New Roman" pitchFamily="33" charset="0"/>
                <a:ea typeface="+mn-ea"/>
                <a:cs typeface="+mn-cs"/>
              </a:rPr>
              <a:t>main memory has been to insert one or more levels of high-speed SRAM cache</a:t>
            </a:r>
          </a:p>
          <a:p>
            <a:r>
              <a:rPr kumimoji="1" lang="en-US" sz="1200" kern="1200" baseline="0" dirty="0">
                <a:solidFill>
                  <a:schemeClr val="tx1"/>
                </a:solidFill>
                <a:latin typeface="Times New Roman" pitchFamily="33" charset="0"/>
                <a:ea typeface="+mn-ea"/>
                <a:cs typeface="+mn-cs"/>
              </a:rPr>
              <a:t>between the DRAM main memory and the processor. But SRAM is much costlier</a:t>
            </a:r>
          </a:p>
          <a:p>
            <a:r>
              <a:rPr kumimoji="1" lang="en-US" sz="1200" kern="1200" baseline="0" dirty="0">
                <a:solidFill>
                  <a:schemeClr val="tx1"/>
                </a:solidFill>
                <a:latin typeface="Times New Roman" pitchFamily="33" charset="0"/>
                <a:ea typeface="+mn-ea"/>
                <a:cs typeface="+mn-cs"/>
              </a:rPr>
              <a:t>than DRAM, and expanding cache size beyond a certain point yields diminishing</a:t>
            </a:r>
          </a:p>
          <a:p>
            <a:r>
              <a:rPr kumimoji="1" lang="en-US" sz="1200" kern="1200" baseline="0" dirty="0">
                <a:solidFill>
                  <a:schemeClr val="tx1"/>
                </a:solidFill>
                <a:latin typeface="Times New Roman" pitchFamily="33" charset="0"/>
                <a:ea typeface="+mn-ea"/>
                <a:cs typeface="+mn-cs"/>
              </a:rPr>
              <a:t>returns.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recent years, a number of enhancements to the basic DRAM architecture</a:t>
            </a:r>
          </a:p>
          <a:p>
            <a:r>
              <a:rPr kumimoji="1" lang="en-US" sz="1200" kern="1200" baseline="0" dirty="0">
                <a:solidFill>
                  <a:schemeClr val="tx1"/>
                </a:solidFill>
                <a:latin typeface="Times New Roman" pitchFamily="33" charset="0"/>
                <a:ea typeface="+mn-ea"/>
                <a:cs typeface="+mn-cs"/>
              </a:rPr>
              <a:t>have been explored, and some of these are now on the market. The schemes that currently</a:t>
            </a:r>
          </a:p>
          <a:p>
            <a:r>
              <a:rPr kumimoji="1" lang="en-US" sz="1200" kern="1200" baseline="0" dirty="0">
                <a:solidFill>
                  <a:schemeClr val="tx1"/>
                </a:solidFill>
                <a:latin typeface="Times New Roman" pitchFamily="33" charset="0"/>
                <a:ea typeface="+mn-ea"/>
                <a:cs typeface="+mn-cs"/>
              </a:rPr>
              <a:t>dominate the market are SDRAM, DDR-DRAM, and RDRAM. Table 5.3</a:t>
            </a:r>
          </a:p>
          <a:p>
            <a:r>
              <a:rPr kumimoji="1" lang="en-US" sz="1200" kern="1200" baseline="0" dirty="0">
                <a:solidFill>
                  <a:schemeClr val="tx1"/>
                </a:solidFill>
                <a:latin typeface="Times New Roman" pitchFamily="33" charset="0"/>
                <a:ea typeface="+mn-ea"/>
                <a:cs typeface="+mn-cs"/>
              </a:rPr>
              <a:t>provides a performance comparison. CDRAM has also received considerable attention.</a:t>
            </a:r>
          </a:p>
          <a:p>
            <a:r>
              <a:rPr kumimoji="1" lang="en-US" sz="1200" kern="1200" baseline="0" dirty="0">
                <a:solidFill>
                  <a:schemeClr val="tx1"/>
                </a:solidFill>
                <a:latin typeface="Times New Roman" pitchFamily="33" charset="0"/>
                <a:ea typeface="+mn-ea"/>
                <a:cs typeface="+mn-cs"/>
              </a:rPr>
              <a:t>We examine each of these approaches in this section.</a:t>
            </a:r>
            <a:endParaRPr lang="en-GB"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008C96-8EFC-B24C-8368-E796C58D0EFE}" type="slidenum">
              <a:rPr lang="en-US"/>
              <a:pPr/>
              <a:t>30</a:t>
            </a:fld>
            <a:endParaRPr lang="en-US" dirty="0"/>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r>
              <a:rPr kumimoji="1" lang="en-US" sz="1200" kern="1200" baseline="0" dirty="0">
                <a:solidFill>
                  <a:schemeClr val="tx1"/>
                </a:solidFill>
                <a:latin typeface="Times New Roman" pitchFamily="33" charset="0"/>
                <a:ea typeface="+mn-ea"/>
                <a:cs typeface="+mn-cs"/>
              </a:rPr>
              <a:t>Latched: </a:t>
            </a:r>
            <a:r>
              <a:rPr kumimoji="1" lang="en-US" sz="1200" kern="1200" baseline="0" dirty="0" err="1">
                <a:solidFill>
                  <a:schemeClr val="tx1"/>
                </a:solidFill>
                <a:latin typeface="Times New Roman" pitchFamily="33" charset="0"/>
                <a:ea typeface="+mn-ea"/>
                <a:cs typeface="+mn-cs"/>
              </a:rPr>
              <a:t>chốt</a:t>
            </a:r>
            <a:r>
              <a:rPr kumimoji="1" lang="en-US" sz="1200" kern="1200" baseline="0" dirty="0">
                <a:solidFill>
                  <a:schemeClr val="tx1"/>
                </a:solidFill>
                <a:latin typeface="Times New Roman" pitchFamily="33" charset="0"/>
                <a:ea typeface="+mn-ea"/>
                <a:cs typeface="+mn-cs"/>
              </a:rPr>
              <a:t> </a:t>
            </a:r>
            <a:r>
              <a:rPr kumimoji="1" lang="en-US" sz="1200" kern="1200" baseline="0" dirty="0" err="1">
                <a:solidFill>
                  <a:schemeClr val="tx1"/>
                </a:solidFill>
                <a:latin typeface="Times New Roman" pitchFamily="33" charset="0"/>
                <a:ea typeface="+mn-ea"/>
                <a:cs typeface="+mn-cs"/>
              </a:rPr>
              <a:t>cửa,chặn</a:t>
            </a:r>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Một trong những dạng DRAM được sử dụng rộng rãi nhất</a:t>
            </a:r>
          </a:p>
          <a:p>
            <a:r>
              <a:rPr kumimoji="1" lang="vi-VN" sz="1200" kern="1200" baseline="0" dirty="0">
                <a:solidFill>
                  <a:schemeClr val="tx1"/>
                </a:solidFill>
                <a:latin typeface="Times New Roman" pitchFamily="33" charset="0"/>
                <a:ea typeface="+mn-ea"/>
                <a:cs typeface="+mn-cs"/>
              </a:rPr>
              <a:t>Trao đổi dữ liệu với bộ vi xử lý đồng bộ hóa với tín hiệu đồng hồ bên ngoài và chạy ở tốc độ đầy đủ của bộ xử lý / bus bộ nhớ mà không cần phải chờ đợi trạng thái chờ đợi</a:t>
            </a:r>
          </a:p>
          <a:p>
            <a:r>
              <a:rPr kumimoji="1" lang="vi-VN" sz="1200" kern="1200" baseline="0" dirty="0">
                <a:solidFill>
                  <a:schemeClr val="tx1"/>
                </a:solidFill>
                <a:latin typeface="Times New Roman" pitchFamily="33" charset="0"/>
                <a:ea typeface="+mn-ea"/>
                <a:cs typeface="+mn-cs"/>
              </a:rPr>
              <a:t>Với truy cập đồng bộ, DRAM di chuyển dữ liệu vào và ra dưới sự kiểm soát của đồng hồ hệ thống</a:t>
            </a:r>
          </a:p>
          <a:p>
            <a:r>
              <a:rPr kumimoji="1" lang="vi-VN" sz="1200" kern="1200" baseline="0" dirty="0">
                <a:solidFill>
                  <a:schemeClr val="tx1"/>
                </a:solidFill>
                <a:latin typeface="Times New Roman" pitchFamily="33" charset="0"/>
                <a:ea typeface="+mn-ea"/>
                <a:cs typeface="+mn-cs"/>
              </a:rPr>
              <a:t>Bộ vi xử lý hoặc các chủ thể khác sẽ phát hành thông tin hướng dẫn và địa chỉ đã bị chặn bởi DRAM</a:t>
            </a:r>
          </a:p>
          <a:p>
            <a:r>
              <a:rPr kumimoji="1" lang="vi-VN" sz="1200" kern="1200" baseline="0" dirty="0">
                <a:solidFill>
                  <a:schemeClr val="tx1"/>
                </a:solidFill>
                <a:latin typeface="Times New Roman" pitchFamily="33" charset="0"/>
                <a:ea typeface="+mn-ea"/>
                <a:cs typeface="+mn-cs"/>
              </a:rPr>
              <a:t>DRAM sau đó đáp ứng sau một số chu kỳ đồng hồ</a:t>
            </a:r>
          </a:p>
          <a:p>
            <a:r>
              <a:rPr kumimoji="1" lang="vi-VN" sz="1200" kern="1200" baseline="0" dirty="0">
                <a:solidFill>
                  <a:schemeClr val="tx1"/>
                </a:solidFill>
                <a:latin typeface="Times New Roman" pitchFamily="33" charset="0"/>
                <a:ea typeface="+mn-ea"/>
                <a:cs typeface="+mn-cs"/>
              </a:rPr>
              <a:t>Trong khi đó, tổng thể có thể thực hiện các tác vụ khác một cách an toàn trong khi SDRAM đang xử lý</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One of the most widely used forms of DRAM is the </a:t>
            </a:r>
            <a:r>
              <a:rPr kumimoji="1" lang="en-US" sz="1200" b="1" kern="1200" baseline="0" dirty="0">
                <a:solidFill>
                  <a:schemeClr val="tx1"/>
                </a:solidFill>
                <a:latin typeface="Times New Roman" pitchFamily="33" charset="0"/>
                <a:ea typeface="+mn-ea"/>
                <a:cs typeface="+mn-cs"/>
              </a:rPr>
              <a:t>synchronous DRAM</a:t>
            </a:r>
          </a:p>
          <a:p>
            <a:r>
              <a:rPr kumimoji="1" lang="en-US" sz="1200" b="1" kern="1200" baseline="0" dirty="0">
                <a:solidFill>
                  <a:schemeClr val="tx1"/>
                </a:solidFill>
                <a:latin typeface="Times New Roman" pitchFamily="33" charset="0"/>
                <a:ea typeface="+mn-ea"/>
                <a:cs typeface="+mn-cs"/>
              </a:rPr>
              <a:t>(SDRAM) </a:t>
            </a:r>
            <a:r>
              <a:rPr kumimoji="1" lang="en-US" sz="1200" b="0" kern="1200" baseline="0" dirty="0">
                <a:solidFill>
                  <a:schemeClr val="tx1"/>
                </a:solidFill>
                <a:latin typeface="Times New Roman" pitchFamily="33" charset="0"/>
                <a:ea typeface="+mn-ea"/>
                <a:cs typeface="+mn-cs"/>
              </a:rPr>
              <a:t>[VOGL94]. Unlike the traditional DRAM, which is asynchronous, the</a:t>
            </a:r>
          </a:p>
          <a:p>
            <a:r>
              <a:rPr kumimoji="1" lang="en-US" sz="1200" kern="1200" baseline="0" dirty="0">
                <a:solidFill>
                  <a:schemeClr val="tx1"/>
                </a:solidFill>
                <a:latin typeface="Times New Roman" pitchFamily="33" charset="0"/>
                <a:ea typeface="+mn-ea"/>
                <a:cs typeface="+mn-cs"/>
              </a:rPr>
              <a:t>SDRAM exchanges data with the processor synchronized to an external clock signal</a:t>
            </a:r>
          </a:p>
          <a:p>
            <a:r>
              <a:rPr kumimoji="1" lang="en-US" sz="1200" kern="1200" baseline="0" dirty="0">
                <a:solidFill>
                  <a:schemeClr val="tx1"/>
                </a:solidFill>
                <a:latin typeface="Times New Roman" pitchFamily="33" charset="0"/>
                <a:ea typeface="+mn-ea"/>
                <a:cs typeface="+mn-cs"/>
              </a:rPr>
              <a:t>and running at the full speed of the processor/memory bus without imposing</a:t>
            </a:r>
          </a:p>
          <a:p>
            <a:r>
              <a:rPr kumimoji="1" lang="en-US" sz="1200" kern="1200" baseline="0" dirty="0">
                <a:solidFill>
                  <a:schemeClr val="tx1"/>
                </a:solidFill>
                <a:latin typeface="Times New Roman" pitchFamily="33" charset="0"/>
                <a:ea typeface="+mn-ea"/>
                <a:cs typeface="+mn-cs"/>
              </a:rPr>
              <a:t>wait states.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In a typical DRAM, the processor presents addresses and control levels to</a:t>
            </a:r>
          </a:p>
          <a:p>
            <a:r>
              <a:rPr kumimoji="1" lang="en-US" sz="1200" kern="1200" baseline="0" dirty="0">
                <a:solidFill>
                  <a:schemeClr val="tx1"/>
                </a:solidFill>
                <a:latin typeface="Times New Roman" pitchFamily="33" charset="0"/>
                <a:ea typeface="+mn-ea"/>
                <a:cs typeface="+mn-cs"/>
              </a:rPr>
              <a:t>the memory, indicating that a set of data at a particular location in memory should</a:t>
            </a:r>
          </a:p>
          <a:p>
            <a:r>
              <a:rPr kumimoji="1" lang="en-US" sz="1200" kern="1200" baseline="0" dirty="0">
                <a:solidFill>
                  <a:schemeClr val="tx1"/>
                </a:solidFill>
                <a:latin typeface="Times New Roman" pitchFamily="33" charset="0"/>
                <a:ea typeface="+mn-ea"/>
                <a:cs typeface="+mn-cs"/>
              </a:rPr>
              <a:t>be either read from or written into the DRAM. After a delay, the access time, the</a:t>
            </a:r>
          </a:p>
          <a:p>
            <a:r>
              <a:rPr kumimoji="1" lang="en-US" sz="1200" kern="1200" baseline="0" dirty="0">
                <a:solidFill>
                  <a:schemeClr val="tx1"/>
                </a:solidFill>
                <a:latin typeface="Times New Roman" pitchFamily="33" charset="0"/>
                <a:ea typeface="+mn-ea"/>
                <a:cs typeface="+mn-cs"/>
              </a:rPr>
              <a:t>DRAM either writes or reads the data. During the access-time delay, the DRAM</a:t>
            </a:r>
          </a:p>
          <a:p>
            <a:r>
              <a:rPr kumimoji="1" lang="en-US" sz="1200" kern="1200" baseline="0" dirty="0">
                <a:solidFill>
                  <a:schemeClr val="tx1"/>
                </a:solidFill>
                <a:latin typeface="Times New Roman" pitchFamily="33" charset="0"/>
                <a:ea typeface="+mn-ea"/>
                <a:cs typeface="+mn-cs"/>
              </a:rPr>
              <a:t>performs various internal functions, such as activating the high capacitance of the</a:t>
            </a:r>
          </a:p>
          <a:p>
            <a:r>
              <a:rPr kumimoji="1" lang="en-US" sz="1200" kern="1200" baseline="0" dirty="0">
                <a:solidFill>
                  <a:schemeClr val="tx1"/>
                </a:solidFill>
                <a:latin typeface="Times New Roman" pitchFamily="33" charset="0"/>
                <a:ea typeface="+mn-ea"/>
                <a:cs typeface="+mn-cs"/>
              </a:rPr>
              <a:t>row and column lines, sensing the data, and routing the data out through the output</a:t>
            </a:r>
          </a:p>
          <a:p>
            <a:r>
              <a:rPr kumimoji="1" lang="en-US" sz="1200" kern="1200" baseline="0" dirty="0">
                <a:solidFill>
                  <a:schemeClr val="tx1"/>
                </a:solidFill>
                <a:latin typeface="Times New Roman" pitchFamily="33" charset="0"/>
                <a:ea typeface="+mn-ea"/>
                <a:cs typeface="+mn-cs"/>
              </a:rPr>
              <a:t>buffers. The processor must simply wait through this delay, slowing system</a:t>
            </a:r>
          </a:p>
          <a:p>
            <a:r>
              <a:rPr kumimoji="1" lang="en-US" sz="1200" kern="1200" baseline="0" dirty="0">
                <a:solidFill>
                  <a:schemeClr val="tx1"/>
                </a:solidFill>
                <a:latin typeface="Times New Roman" pitchFamily="33" charset="0"/>
                <a:ea typeface="+mn-ea"/>
                <a:cs typeface="+mn-cs"/>
              </a:rPr>
              <a:t>performance.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With synchronous access, the DRAM moves data in and out under control of</a:t>
            </a:r>
          </a:p>
          <a:p>
            <a:r>
              <a:rPr kumimoji="1" lang="en-US" sz="1200" kern="1200" baseline="0" dirty="0">
                <a:solidFill>
                  <a:schemeClr val="tx1"/>
                </a:solidFill>
                <a:latin typeface="Times New Roman" pitchFamily="33" charset="0"/>
                <a:ea typeface="+mn-ea"/>
                <a:cs typeface="+mn-cs"/>
              </a:rPr>
              <a:t>the system clock. The processor or other master issues the instruction and address</a:t>
            </a:r>
          </a:p>
          <a:p>
            <a:r>
              <a:rPr kumimoji="1" lang="en-US" sz="1200" kern="1200" baseline="0" dirty="0">
                <a:solidFill>
                  <a:schemeClr val="tx1"/>
                </a:solidFill>
                <a:latin typeface="Times New Roman" pitchFamily="33" charset="0"/>
                <a:ea typeface="+mn-ea"/>
                <a:cs typeface="+mn-cs"/>
              </a:rPr>
              <a:t>information, which is latched by the DRAM. The DRAM then responds after a set</a:t>
            </a:r>
          </a:p>
          <a:p>
            <a:r>
              <a:rPr kumimoji="1" lang="en-US" sz="1200" kern="1200" baseline="0" dirty="0">
                <a:solidFill>
                  <a:schemeClr val="tx1"/>
                </a:solidFill>
                <a:latin typeface="Times New Roman" pitchFamily="33" charset="0"/>
                <a:ea typeface="+mn-ea"/>
                <a:cs typeface="+mn-cs"/>
              </a:rPr>
              <a:t>number of clock cycles. Meanwhile, the master can safely do other tasks while the</a:t>
            </a:r>
          </a:p>
          <a:p>
            <a:r>
              <a:rPr kumimoji="1" lang="en-US" sz="1200" kern="1200" baseline="0" dirty="0">
                <a:solidFill>
                  <a:schemeClr val="tx1"/>
                </a:solidFill>
                <a:latin typeface="Times New Roman" pitchFamily="33" charset="0"/>
                <a:ea typeface="+mn-ea"/>
                <a:cs typeface="+mn-cs"/>
              </a:rPr>
              <a:t>SDRAM is processing the request.</a:t>
            </a:r>
            <a:endParaRPr lang="en-GB"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Figure 5.12 shows the internal logic of IBM’s 64-Mb SDRAM [IBM01], which</a:t>
            </a:r>
          </a:p>
          <a:p>
            <a:r>
              <a:rPr kumimoji="1" lang="en-US" sz="1200" kern="1200" baseline="0" dirty="0">
                <a:solidFill>
                  <a:schemeClr val="tx1"/>
                </a:solidFill>
                <a:latin typeface="Times New Roman" pitchFamily="33" charset="0"/>
                <a:ea typeface="+mn-ea"/>
                <a:cs typeface="+mn-cs"/>
              </a:rPr>
              <a:t>is typical of SDRAM organization.</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vi-VN" sz="1200" kern="1200" baseline="0" dirty="0">
                <a:solidFill>
                  <a:schemeClr val="tx1"/>
                </a:solidFill>
                <a:latin typeface="Times New Roman" pitchFamily="33" charset="0"/>
                <a:ea typeface="+mn-ea"/>
                <a:cs typeface="+mn-cs"/>
              </a:rPr>
              <a:t>Bảng 5.4 xác định các bài tập pin khác nhau.</a:t>
            </a:r>
          </a:p>
          <a:p>
            <a:r>
              <a:rPr kumimoji="1" lang="vi-VN" sz="1200" kern="1200" baseline="0" dirty="0">
                <a:solidFill>
                  <a:schemeClr val="tx1"/>
                </a:solidFill>
                <a:latin typeface="Times New Roman" pitchFamily="33" charset="0"/>
                <a:ea typeface="+mn-ea"/>
                <a:cs typeface="+mn-cs"/>
              </a:rPr>
              <a:t>SDRAM sử dụng một chế độ chụp liên tục để loại bỏ thời gian thiết lập địa chỉ và</a:t>
            </a:r>
          </a:p>
          <a:p>
            <a:r>
              <a:rPr kumimoji="1" lang="vi-VN" sz="1200" kern="1200" baseline="0" dirty="0">
                <a:solidFill>
                  <a:schemeClr val="tx1"/>
                </a:solidFill>
                <a:latin typeface="Times New Roman" pitchFamily="33" charset="0"/>
                <a:ea typeface="+mn-ea"/>
                <a:cs typeface="+mn-cs"/>
              </a:rPr>
              <a:t>hàng và cột dòng phí trước thời gian truy cập lần đầu tiên. Trong chế độ chụp liên tục, một loạt</a:t>
            </a:r>
          </a:p>
          <a:p>
            <a:r>
              <a:rPr kumimoji="1" lang="vi-VN" sz="1200" kern="1200" baseline="0" dirty="0">
                <a:solidFill>
                  <a:schemeClr val="tx1"/>
                </a:solidFill>
                <a:latin typeface="Times New Roman" pitchFamily="33" charset="0"/>
                <a:ea typeface="+mn-ea"/>
                <a:cs typeface="+mn-cs"/>
              </a:rPr>
              <a:t>bit dữ liệu có thể được tốc độ nhanh chóng sau khi bit đầu tiên đã được truy cập. Chế độ này</a:t>
            </a:r>
          </a:p>
          <a:p>
            <a:r>
              <a:rPr kumimoji="1" lang="vi-VN" sz="1200" kern="1200" baseline="0" dirty="0">
                <a:solidFill>
                  <a:schemeClr val="tx1"/>
                </a:solidFill>
                <a:latin typeface="Times New Roman" pitchFamily="33" charset="0"/>
                <a:ea typeface="+mn-ea"/>
                <a:cs typeface="+mn-cs"/>
              </a:rPr>
              <a:t>là hữu ích khi tất cả các bit được truy cập theo thứ tự và trong cùng một hàng của</a:t>
            </a:r>
          </a:p>
          <a:p>
            <a:r>
              <a:rPr kumimoji="1" lang="vi-VN" sz="1200" kern="1200" baseline="0" dirty="0">
                <a:solidFill>
                  <a:schemeClr val="tx1"/>
                </a:solidFill>
                <a:latin typeface="Times New Roman" pitchFamily="33" charset="0"/>
                <a:ea typeface="+mn-ea"/>
                <a:cs typeface="+mn-cs"/>
              </a:rPr>
              <a:t>mảng như là truy cập ban đầu. Ngoài ra, SDRAM có nhiều ngân hàng nội bộ</a:t>
            </a:r>
          </a:p>
          <a:p>
            <a:r>
              <a:rPr kumimoji="1" lang="vi-VN" sz="1200" kern="1200" baseline="0" dirty="0">
                <a:solidFill>
                  <a:schemeClr val="tx1"/>
                </a:solidFill>
                <a:latin typeface="Times New Roman" pitchFamily="33" charset="0"/>
                <a:ea typeface="+mn-ea"/>
                <a:cs typeface="+mn-cs"/>
              </a:rPr>
              <a:t>kiến trúc giúp cải thiện cơ hội cho tính song song trên chip.</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Chế độ đăng ký và logic điều khiển liên quan là một đặc điểm chính khác biệt</a:t>
            </a:r>
          </a:p>
          <a:p>
            <a:r>
              <a:rPr kumimoji="1" lang="vi-VN" sz="1200" kern="1200" baseline="0" dirty="0">
                <a:solidFill>
                  <a:schemeClr val="tx1"/>
                </a:solidFill>
                <a:latin typeface="Times New Roman" pitchFamily="33" charset="0"/>
                <a:ea typeface="+mn-ea"/>
                <a:cs typeface="+mn-cs"/>
              </a:rPr>
              <a:t>SDRAMs từ các DRAM thông thường. Nó cung cấp một cơ chế để</a:t>
            </a:r>
          </a:p>
          <a:p>
            <a:r>
              <a:rPr kumimoji="1" lang="vi-VN" sz="1200" kern="1200" baseline="0" dirty="0">
                <a:solidFill>
                  <a:schemeClr val="tx1"/>
                </a:solidFill>
                <a:latin typeface="Times New Roman" pitchFamily="33" charset="0"/>
                <a:ea typeface="+mn-ea"/>
                <a:cs typeface="+mn-cs"/>
              </a:rPr>
              <a:t>tùy chỉnh SDRAM cho phù hợp với nhu cầu hệ thống cụ thể. Đăng ký chế độ chỉ định</a:t>
            </a:r>
          </a:p>
          <a:p>
            <a:r>
              <a:rPr kumimoji="1" lang="vi-VN" sz="1200" kern="1200" baseline="0" dirty="0">
                <a:solidFill>
                  <a:schemeClr val="tx1"/>
                </a:solidFill>
                <a:latin typeface="Times New Roman" pitchFamily="33" charset="0"/>
                <a:ea typeface="+mn-ea"/>
                <a:cs typeface="+mn-cs"/>
              </a:rPr>
              <a:t>chiều dài burst, là số lượng các đơn vị riêng biệt của dữ liệu đồng bộ fed</a:t>
            </a:r>
          </a:p>
          <a:p>
            <a:r>
              <a:rPr kumimoji="1" lang="vi-VN" sz="1200" kern="1200" baseline="0" dirty="0">
                <a:solidFill>
                  <a:schemeClr val="tx1"/>
                </a:solidFill>
                <a:latin typeface="Times New Roman" pitchFamily="33" charset="0"/>
                <a:ea typeface="+mn-ea"/>
                <a:cs typeface="+mn-cs"/>
              </a:rPr>
              <a:t>lên xe buýt. Đăng ký cũng cho phép lập trình để điều chỉnh độ trễ giữa</a:t>
            </a:r>
          </a:p>
          <a:p>
            <a:r>
              <a:rPr kumimoji="1" lang="vi-VN" sz="1200" kern="1200" baseline="0" dirty="0">
                <a:solidFill>
                  <a:schemeClr val="tx1"/>
                </a:solidFill>
                <a:latin typeface="Times New Roman" pitchFamily="33" charset="0"/>
                <a:ea typeface="+mn-ea"/>
                <a:cs typeface="+mn-cs"/>
              </a:rPr>
              <a:t>nhận được yêu cầu đọc và bắt đầu truyền dữ liệu.</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SDRAM hoạt động tốt nhất khi chuyển các khối dữ liệu lớn theo thứ tự,</a:t>
            </a:r>
          </a:p>
          <a:p>
            <a:r>
              <a:rPr kumimoji="1" lang="vi-VN" sz="1200" kern="1200" baseline="0" dirty="0">
                <a:solidFill>
                  <a:schemeClr val="tx1"/>
                </a:solidFill>
                <a:latin typeface="Times New Roman" pitchFamily="33" charset="0"/>
                <a:ea typeface="+mn-ea"/>
                <a:cs typeface="+mn-cs"/>
              </a:rPr>
              <a:t>chẳng hạn như đối với các ứng dụng như xử lý văn bản, bảng tính và đa phương tiện.</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Table 5.4 defines the various pin assignments.</a:t>
            </a:r>
          </a:p>
          <a:p>
            <a:r>
              <a:rPr kumimoji="1" lang="en-US" sz="1200" kern="1200" baseline="0" dirty="0">
                <a:solidFill>
                  <a:schemeClr val="tx1"/>
                </a:solidFill>
                <a:latin typeface="Times New Roman" pitchFamily="33" charset="0"/>
                <a:ea typeface="+mn-ea"/>
                <a:cs typeface="+mn-cs"/>
              </a:rPr>
              <a:t>The SDRAM employs a burst mode to eliminate the address setup time and</a:t>
            </a:r>
          </a:p>
          <a:p>
            <a:r>
              <a:rPr kumimoji="1" lang="en-US" sz="1200" kern="1200" baseline="0" dirty="0">
                <a:solidFill>
                  <a:schemeClr val="tx1"/>
                </a:solidFill>
                <a:latin typeface="Times New Roman" pitchFamily="33" charset="0"/>
                <a:ea typeface="+mn-ea"/>
                <a:cs typeface="+mn-cs"/>
              </a:rPr>
              <a:t>row and column line pre-charge time after the first access. In burst mode, a series of</a:t>
            </a:r>
          </a:p>
          <a:p>
            <a:r>
              <a:rPr kumimoji="1" lang="en-US" sz="1200" kern="1200" baseline="0" dirty="0">
                <a:solidFill>
                  <a:schemeClr val="tx1"/>
                </a:solidFill>
                <a:latin typeface="Times New Roman" pitchFamily="33" charset="0"/>
                <a:ea typeface="+mn-ea"/>
                <a:cs typeface="+mn-cs"/>
              </a:rPr>
              <a:t>data bits can be clocked out rapidly after the first bit has been accessed. This mode</a:t>
            </a:r>
          </a:p>
          <a:p>
            <a:r>
              <a:rPr kumimoji="1" lang="en-US" sz="1200" kern="1200" baseline="0" dirty="0">
                <a:solidFill>
                  <a:schemeClr val="tx1"/>
                </a:solidFill>
                <a:latin typeface="Times New Roman" pitchFamily="33" charset="0"/>
                <a:ea typeface="+mn-ea"/>
                <a:cs typeface="+mn-cs"/>
              </a:rPr>
              <a:t>is useful when all the bits to be accessed are in sequence and in the same row of the</a:t>
            </a:r>
          </a:p>
          <a:p>
            <a:r>
              <a:rPr kumimoji="1" lang="en-US" sz="1200" kern="1200" baseline="0" dirty="0">
                <a:solidFill>
                  <a:schemeClr val="tx1"/>
                </a:solidFill>
                <a:latin typeface="Times New Roman" pitchFamily="33" charset="0"/>
                <a:ea typeface="+mn-ea"/>
                <a:cs typeface="+mn-cs"/>
              </a:rPr>
              <a:t>array as the initial access. In addition, the SDRAM has a multiple-bank internal</a:t>
            </a:r>
          </a:p>
          <a:p>
            <a:r>
              <a:rPr kumimoji="1" lang="en-US" sz="1200" kern="1200" baseline="0" dirty="0">
                <a:solidFill>
                  <a:schemeClr val="tx1"/>
                </a:solidFill>
                <a:latin typeface="Times New Roman" pitchFamily="33" charset="0"/>
                <a:ea typeface="+mn-ea"/>
                <a:cs typeface="+mn-cs"/>
              </a:rPr>
              <a:t>architecture that improves opportunities for on-chip parallelism.</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mode register and associated control logic is another key feature differentiating</a:t>
            </a:r>
          </a:p>
          <a:p>
            <a:r>
              <a:rPr kumimoji="1" lang="en-US" sz="1200" kern="1200" baseline="0" dirty="0">
                <a:solidFill>
                  <a:schemeClr val="tx1"/>
                </a:solidFill>
                <a:latin typeface="Times New Roman" pitchFamily="33" charset="0"/>
                <a:ea typeface="+mn-ea"/>
                <a:cs typeface="+mn-cs"/>
              </a:rPr>
              <a:t>SDRAMs from conventional DRAMs. It provides a mechanism to</a:t>
            </a:r>
          </a:p>
          <a:p>
            <a:r>
              <a:rPr kumimoji="1" lang="en-US" sz="1200" kern="1200" baseline="0" dirty="0">
                <a:solidFill>
                  <a:schemeClr val="tx1"/>
                </a:solidFill>
                <a:latin typeface="Times New Roman" pitchFamily="33" charset="0"/>
                <a:ea typeface="+mn-ea"/>
                <a:cs typeface="+mn-cs"/>
              </a:rPr>
              <a:t>customize the SDRAM to suit specific system needs. The mode register specifies</a:t>
            </a:r>
          </a:p>
          <a:p>
            <a:r>
              <a:rPr kumimoji="1" lang="en-US" sz="1200" kern="1200" baseline="0" dirty="0">
                <a:solidFill>
                  <a:schemeClr val="tx1"/>
                </a:solidFill>
                <a:latin typeface="Times New Roman" pitchFamily="33" charset="0"/>
                <a:ea typeface="+mn-ea"/>
                <a:cs typeface="+mn-cs"/>
              </a:rPr>
              <a:t>the burst length, which is the number of separate units of data synchronously fed</a:t>
            </a:r>
          </a:p>
          <a:p>
            <a:r>
              <a:rPr kumimoji="1" lang="en-US" sz="1200" kern="1200" baseline="0" dirty="0">
                <a:solidFill>
                  <a:schemeClr val="tx1"/>
                </a:solidFill>
                <a:latin typeface="Times New Roman" pitchFamily="33" charset="0"/>
                <a:ea typeface="+mn-ea"/>
                <a:cs typeface="+mn-cs"/>
              </a:rPr>
              <a:t>onto the bus. The register also allows the programmer to adjust the latency between</a:t>
            </a:r>
          </a:p>
          <a:p>
            <a:r>
              <a:rPr kumimoji="1" lang="en-US" sz="1200" kern="1200" baseline="0" dirty="0">
                <a:solidFill>
                  <a:schemeClr val="tx1"/>
                </a:solidFill>
                <a:latin typeface="Times New Roman" pitchFamily="33" charset="0"/>
                <a:ea typeface="+mn-ea"/>
                <a:cs typeface="+mn-cs"/>
              </a:rPr>
              <a:t>receipt of a read request and the beginning of data transfer.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SDRAM performs best when it is transferring large blocks of data serially,</a:t>
            </a:r>
          </a:p>
          <a:p>
            <a:r>
              <a:rPr kumimoji="1" lang="en-US" sz="1200" kern="1200" baseline="0" dirty="0">
                <a:solidFill>
                  <a:schemeClr val="tx1"/>
                </a:solidFill>
                <a:latin typeface="Times New Roman" pitchFamily="33" charset="0"/>
                <a:ea typeface="+mn-ea"/>
                <a:cs typeface="+mn-cs"/>
              </a:rPr>
              <a:t>such as for applications like word processing, spreadsheets, and multimedia.</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Figure 5.13 shows an example of SDRAM operation</a:t>
            </a:r>
          </a:p>
          <a:p>
            <a:r>
              <a:rPr lang="en-US" b="0" i="0" dirty="0">
                <a:solidFill>
                  <a:srgbClr val="202124"/>
                </a:solidFill>
                <a:effectLst/>
                <a:latin typeface="arial" panose="020B0604020202020204" pitchFamily="34" charset="0"/>
              </a:rPr>
              <a:t>A NOP is most commonly used for </a:t>
            </a:r>
            <a:r>
              <a:rPr lang="en-US" b="1" i="0" dirty="0">
                <a:solidFill>
                  <a:srgbClr val="202124"/>
                </a:solidFill>
                <a:effectLst/>
                <a:latin typeface="arial" panose="020B0604020202020204" pitchFamily="34" charset="0"/>
              </a:rPr>
              <a:t>timing purposes</a:t>
            </a:r>
            <a:r>
              <a:rPr lang="en-US" b="0" i="0" dirty="0">
                <a:solidFill>
                  <a:srgbClr val="202124"/>
                </a:solidFill>
                <a:effectLst/>
                <a:latin typeface="arial" panose="020B0604020202020204" pitchFamily="34" charset="0"/>
              </a:rPr>
              <a:t>, to force memory alignment, to prevent hazards(</a:t>
            </a:r>
            <a:r>
              <a:rPr lang="en-US" b="0" i="0" dirty="0" err="1">
                <a:solidFill>
                  <a:srgbClr val="202124"/>
                </a:solidFill>
                <a:effectLst/>
                <a:latin typeface="arial" panose="020B0604020202020204" pitchFamily="34" charset="0"/>
              </a:rPr>
              <a:t>hư</a:t>
            </a:r>
            <a:r>
              <a:rPr lang="en-US" b="0" i="0" dirty="0">
                <a:solidFill>
                  <a:srgbClr val="202124"/>
                </a:solidFill>
                <a:effectLst/>
                <a:latin typeface="arial" panose="020B0604020202020204" pitchFamily="34" charset="0"/>
              </a:rPr>
              <a:t> </a:t>
            </a:r>
            <a:r>
              <a:rPr lang="en-US" b="0" i="0" dirty="0" err="1">
                <a:solidFill>
                  <a:srgbClr val="202124"/>
                </a:solidFill>
                <a:effectLst/>
                <a:latin typeface="arial" panose="020B0604020202020204" pitchFamily="34" charset="0"/>
              </a:rPr>
              <a:t>hại</a:t>
            </a:r>
            <a:r>
              <a:rPr lang="en-US" b="0" i="0" dirty="0">
                <a:solidFill>
                  <a:srgbClr val="202124"/>
                </a:solidFill>
                <a:effectLst/>
                <a:latin typeface="arial" panose="020B0604020202020204" pitchFamily="34" charset="0"/>
              </a:rPr>
              <a:t>), to occupy a branch delay slot, to render void an existing instruction such as a jump, as a target of an execute instruction, or as a place-holder to be replaced by active instructions later on in program development (</a:t>
            </a:r>
            <a:r>
              <a:rPr kumimoji="1" lang="en-US" sz="1200" kern="1200" baseline="0" dirty="0">
                <a:solidFill>
                  <a:schemeClr val="tx1"/>
                </a:solidFill>
                <a:latin typeface="Times New Roman" pitchFamily="33" charset="0"/>
                <a:ea typeface="+mn-ea"/>
                <a:cs typeface="+mn-cs"/>
              </a:rPr>
              <a:t>. </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33</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DFB461-C5EA-4448-92E2-8B17B15DA0F8}" type="slidenum">
              <a:rPr lang="en-US"/>
              <a:pPr/>
              <a:t>34</a:t>
            </a:fld>
            <a:endParaRPr lang="en-US" dirty="0"/>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b="0" i="0" dirty="0">
                <a:solidFill>
                  <a:srgbClr val="4D5156"/>
                </a:solidFill>
                <a:effectLst/>
                <a:latin typeface="arial" panose="020B0604020202020204" pitchFamily="34" charset="0"/>
              </a:rPr>
              <a:t>Block oriented: </a:t>
            </a:r>
            <a:r>
              <a:rPr lang="en-US" b="0" i="0" dirty="0" err="1">
                <a:solidFill>
                  <a:srgbClr val="4D5156"/>
                </a:solidFill>
                <a:effectLst/>
                <a:latin typeface="arial" panose="020B0604020202020204" pitchFamily="34" charset="0"/>
              </a:rPr>
              <a:t>khối</a:t>
            </a:r>
            <a:r>
              <a:rPr lang="en-US" b="0" i="0" dirty="0">
                <a:solidFill>
                  <a:srgbClr val="4D5156"/>
                </a:solidFill>
                <a:effectLst/>
                <a:latin typeface="arial" panose="020B0604020202020204" pitchFamily="34" charset="0"/>
              </a:rPr>
              <a:t> </a:t>
            </a:r>
            <a:r>
              <a:rPr lang="en-US" b="0" i="0" dirty="0" err="1">
                <a:solidFill>
                  <a:srgbClr val="4D5156"/>
                </a:solidFill>
                <a:effectLst/>
                <a:latin typeface="arial" panose="020B0604020202020204" pitchFamily="34" charset="0"/>
              </a:rPr>
              <a:t>định</a:t>
            </a:r>
            <a:r>
              <a:rPr lang="en-US" b="0" i="0" dirty="0">
                <a:solidFill>
                  <a:srgbClr val="4D5156"/>
                </a:solidFill>
                <a:effectLst/>
                <a:latin typeface="arial" panose="020B0604020202020204" pitchFamily="34" charset="0"/>
              </a:rPr>
              <a:t> </a:t>
            </a:r>
            <a:r>
              <a:rPr lang="en-US" b="0" i="0" dirty="0" err="1">
                <a:solidFill>
                  <a:srgbClr val="4D5156"/>
                </a:solidFill>
                <a:effectLst/>
                <a:latin typeface="arial" panose="020B0604020202020204" pitchFamily="34" charset="0"/>
              </a:rPr>
              <a:t>hướng</a:t>
            </a:r>
            <a:endParaRPr lang="en-US" b="0" i="0" dirty="0">
              <a:solidFill>
                <a:srgbClr val="4D5156"/>
              </a:solidFill>
              <a:effectLst/>
              <a:latin typeface="arial" panose="020B0604020202020204" pitchFamily="34" charset="0"/>
            </a:endParaRPr>
          </a:p>
          <a:p>
            <a:r>
              <a:rPr lang="en-US" b="0" i="0" dirty="0">
                <a:solidFill>
                  <a:srgbClr val="4D5156"/>
                </a:solidFill>
                <a:effectLst/>
                <a:latin typeface="arial" panose="020B0604020202020204" pitchFamily="34" charset="0"/>
              </a:rPr>
              <a:t>Address: </a:t>
            </a:r>
            <a:r>
              <a:rPr lang="en-US" b="0" i="0" dirty="0" err="1">
                <a:solidFill>
                  <a:srgbClr val="4D5156"/>
                </a:solidFill>
                <a:effectLst/>
                <a:latin typeface="arial" panose="020B0604020202020204" pitchFamily="34" charset="0"/>
              </a:rPr>
              <a:t>giải</a:t>
            </a:r>
            <a:r>
              <a:rPr lang="en-US" b="0" i="0" dirty="0">
                <a:solidFill>
                  <a:srgbClr val="4D5156"/>
                </a:solidFill>
                <a:effectLst/>
                <a:latin typeface="arial" panose="020B0604020202020204" pitchFamily="34" charset="0"/>
              </a:rPr>
              <a:t> </a:t>
            </a:r>
            <a:r>
              <a:rPr lang="en-US" b="0" i="0" dirty="0" err="1">
                <a:solidFill>
                  <a:srgbClr val="4D5156"/>
                </a:solidFill>
                <a:effectLst/>
                <a:latin typeface="arial" panose="020B0604020202020204" pitchFamily="34" charset="0"/>
              </a:rPr>
              <a:t>quyết</a:t>
            </a:r>
            <a:endParaRPr lang="en-US" b="0" i="0" dirty="0">
              <a:solidFill>
                <a:srgbClr val="4D5156"/>
              </a:solidFill>
              <a:effectLst/>
              <a:latin typeface="arial" panose="020B0604020202020204" pitchFamily="34" charset="0"/>
            </a:endParaRPr>
          </a:p>
          <a:p>
            <a:endParaRPr lang="en-US" b="0" i="0" dirty="0">
              <a:solidFill>
                <a:srgbClr val="4D5156"/>
              </a:solidFill>
              <a:effectLst/>
              <a:latin typeface="arial" panose="020B0604020202020204" pitchFamily="34" charset="0"/>
            </a:endParaRPr>
          </a:p>
          <a:p>
            <a:r>
              <a:rPr lang="en-US" b="0" i="0" dirty="0">
                <a:solidFill>
                  <a:srgbClr val="4D5156"/>
                </a:solidFill>
                <a:effectLst/>
                <a:latin typeface="arial" panose="020B0604020202020204" pitchFamily="34" charset="0"/>
              </a:rPr>
              <a:t>Rambus Incorporated, founded in 1990, is an American technology company that designs, develops and licenses chip interface technologies and architectures that are used in digital electronics products</a:t>
            </a:r>
            <a:endParaRPr kumimoji="1" lang="en-US" sz="1200" kern="1200" baseline="0" dirty="0">
              <a:solidFill>
                <a:schemeClr val="tx1"/>
              </a:solidFill>
              <a:latin typeface="Times New Roman" pitchFamily="33" charset="0"/>
              <a:ea typeface="+mn-ea"/>
              <a:cs typeface="+mn-cs"/>
            </a:endParaRPr>
          </a:p>
          <a:p>
            <a:endParaRPr kumimoji="1" lang="en-US"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RDRAM, được phát triển bởi Rambus [FARM92, CRIS97], đã được Intel thông qua</a:t>
            </a:r>
          </a:p>
          <a:p>
            <a:r>
              <a:rPr kumimoji="1" lang="vi-VN" sz="1200" kern="1200" baseline="0" dirty="0">
                <a:solidFill>
                  <a:schemeClr val="tx1"/>
                </a:solidFill>
                <a:latin typeface="Times New Roman" pitchFamily="33" charset="0"/>
                <a:ea typeface="+mn-ea"/>
                <a:cs typeface="+mn-cs"/>
              </a:rPr>
              <a:t>cho bộ vi xử lý Pentium và Itanium của nó. Nó đã trở thành đối thủ cạnh tranh chính</a:t>
            </a:r>
          </a:p>
          <a:p>
            <a:r>
              <a:rPr kumimoji="1" lang="vi-VN" sz="1200" kern="1200" baseline="0" dirty="0">
                <a:solidFill>
                  <a:schemeClr val="tx1"/>
                </a:solidFill>
                <a:latin typeface="Times New Roman" pitchFamily="33" charset="0"/>
                <a:ea typeface="+mn-ea"/>
                <a:cs typeface="+mn-cs"/>
              </a:rPr>
              <a:t>SDRAM. Chip RDRAM là các gói theo chiều dọc, có tất cả các chân ở một bên. Con chip</a:t>
            </a:r>
          </a:p>
          <a:p>
            <a:r>
              <a:rPr kumimoji="1" lang="vi-VN" sz="1200" kern="1200" baseline="0" dirty="0">
                <a:solidFill>
                  <a:schemeClr val="tx1"/>
                </a:solidFill>
                <a:latin typeface="Times New Roman" pitchFamily="33" charset="0"/>
                <a:ea typeface="+mn-ea"/>
                <a:cs typeface="+mn-cs"/>
              </a:rPr>
              <a:t>trao đổi dữ liệu với bộ vi xử lý trên 28 dây không dài hơn 12 cm.</a:t>
            </a:r>
          </a:p>
          <a:p>
            <a:r>
              <a:rPr kumimoji="1" lang="vi-VN" sz="1200" kern="1200" baseline="0" dirty="0">
                <a:solidFill>
                  <a:schemeClr val="tx1"/>
                </a:solidFill>
                <a:latin typeface="Times New Roman" pitchFamily="33" charset="0"/>
                <a:ea typeface="+mn-ea"/>
                <a:cs typeface="+mn-cs"/>
              </a:rPr>
              <a:t>Bus có thể giải quyết được tới 320 chip RDRAM và được đánh giá ở mức 1,6 GBps.</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Xe buýt RDRAM đặc biệt cung cấp thông tin địa chỉ và kiểm soát sử dụng</a:t>
            </a:r>
          </a:p>
          <a:p>
            <a:r>
              <a:rPr kumimoji="1" lang="vi-VN" sz="1200" kern="1200" baseline="0" dirty="0">
                <a:solidFill>
                  <a:schemeClr val="tx1"/>
                </a:solidFill>
                <a:latin typeface="Times New Roman" pitchFamily="33" charset="0"/>
                <a:ea typeface="+mn-ea"/>
                <a:cs typeface="+mn-cs"/>
              </a:rPr>
              <a:t>một giao thức định hướng khối không đồng bộ. Sau thời gian truy cập 480 ns ban đầu,</a:t>
            </a:r>
          </a:p>
          <a:p>
            <a:r>
              <a:rPr kumimoji="1" lang="vi-VN" sz="1200" kern="1200" baseline="0" dirty="0">
                <a:solidFill>
                  <a:schemeClr val="tx1"/>
                </a:solidFill>
                <a:latin typeface="Times New Roman" pitchFamily="33" charset="0"/>
                <a:ea typeface="+mn-ea"/>
                <a:cs typeface="+mn-cs"/>
              </a:rPr>
              <a:t>điều này tạo ra tốc độ dữ liệu 1,6 GBps. Điều làm cho tốc độ này có thể là xe buýt</a:t>
            </a:r>
          </a:p>
          <a:p>
            <a:r>
              <a:rPr kumimoji="1" lang="vi-VN" sz="1200" kern="1200" baseline="0" dirty="0">
                <a:solidFill>
                  <a:schemeClr val="tx1"/>
                </a:solidFill>
                <a:latin typeface="Times New Roman" pitchFamily="33" charset="0"/>
                <a:ea typeface="+mn-ea"/>
                <a:cs typeface="+mn-cs"/>
              </a:rPr>
              <a:t>chính nó, định nghĩa impedances, clocking, và các tín hiệu rất chính xác. Thay vì</a:t>
            </a:r>
          </a:p>
          <a:p>
            <a:r>
              <a:rPr kumimoji="1" lang="vi-VN" sz="1200" kern="1200" baseline="0" dirty="0">
                <a:solidFill>
                  <a:schemeClr val="tx1"/>
                </a:solidFill>
                <a:latin typeface="Times New Roman" pitchFamily="33" charset="0"/>
                <a:ea typeface="+mn-ea"/>
                <a:cs typeface="+mn-cs"/>
              </a:rPr>
              <a:t>được kiểm soát bởi các tín hiệu RAS, CAS, R / W và CE rõ ràng được sử dụng trong các hệ thống thông thường</a:t>
            </a:r>
          </a:p>
          <a:p>
            <a:r>
              <a:rPr kumimoji="1" lang="vi-VN" sz="1200" kern="1200" baseline="0" dirty="0">
                <a:solidFill>
                  <a:schemeClr val="tx1"/>
                </a:solidFill>
                <a:latin typeface="Times New Roman" pitchFamily="33" charset="0"/>
                <a:ea typeface="+mn-ea"/>
                <a:cs typeface="+mn-cs"/>
              </a:rPr>
              <a:t>DRAMs, một RDRAM nhận được yêu cầu bộ nhớ trên bus tốc độ cao. Điều này</a:t>
            </a:r>
          </a:p>
          <a:p>
            <a:r>
              <a:rPr kumimoji="1" lang="vi-VN" sz="1200" kern="1200" baseline="0" dirty="0">
                <a:solidFill>
                  <a:schemeClr val="tx1"/>
                </a:solidFill>
                <a:latin typeface="Times New Roman" pitchFamily="33" charset="0"/>
                <a:ea typeface="+mn-ea"/>
                <a:cs typeface="+mn-cs"/>
              </a:rPr>
              <a:t>yêu cầu có chứa địa chỉ mong muốn, loại hoạt động và số lượng</a:t>
            </a:r>
          </a:p>
          <a:p>
            <a:r>
              <a:rPr kumimoji="1" lang="vi-VN" sz="1200" kern="1200" baseline="0" dirty="0">
                <a:solidFill>
                  <a:schemeClr val="tx1"/>
                </a:solidFill>
                <a:latin typeface="Times New Roman" pitchFamily="33" charset="0"/>
                <a:ea typeface="+mn-ea"/>
                <a:cs typeface="+mn-cs"/>
              </a:rPr>
              <a:t>byte trong hoạt động</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RDRAM, developed by Rambus [FARM92, CRIS97], has been adopted by Intel</a:t>
            </a:r>
          </a:p>
          <a:p>
            <a:r>
              <a:rPr kumimoji="1" lang="en-US" sz="1200" kern="1200" baseline="0" dirty="0">
                <a:solidFill>
                  <a:schemeClr val="tx1"/>
                </a:solidFill>
                <a:latin typeface="Times New Roman" pitchFamily="33" charset="0"/>
                <a:ea typeface="+mn-ea"/>
                <a:cs typeface="+mn-cs"/>
              </a:rPr>
              <a:t>for its Pentium and Itanium processors. It has become the main competitor to</a:t>
            </a:r>
          </a:p>
          <a:p>
            <a:r>
              <a:rPr kumimoji="1" lang="en-US" sz="1200" kern="1200" baseline="0" dirty="0">
                <a:solidFill>
                  <a:schemeClr val="tx1"/>
                </a:solidFill>
                <a:latin typeface="Times New Roman" pitchFamily="33" charset="0"/>
                <a:ea typeface="+mn-ea"/>
                <a:cs typeface="+mn-cs"/>
              </a:rPr>
              <a:t>SDRAM. RDRAM chips are vertical packages, with all pins on one side. The chip</a:t>
            </a:r>
          </a:p>
          <a:p>
            <a:r>
              <a:rPr kumimoji="1" lang="en-US" sz="1200" kern="1200" baseline="0" dirty="0">
                <a:solidFill>
                  <a:schemeClr val="tx1"/>
                </a:solidFill>
                <a:latin typeface="Times New Roman" pitchFamily="33" charset="0"/>
                <a:ea typeface="+mn-ea"/>
                <a:cs typeface="+mn-cs"/>
              </a:rPr>
              <a:t>exchanges data with the processor over 28 wires no more than 12 centimeters long.</a:t>
            </a:r>
          </a:p>
          <a:p>
            <a:r>
              <a:rPr kumimoji="1" lang="en-US" sz="1200" kern="1200" baseline="0" dirty="0">
                <a:solidFill>
                  <a:schemeClr val="tx1"/>
                </a:solidFill>
                <a:latin typeface="Times New Roman" pitchFamily="33" charset="0"/>
                <a:ea typeface="+mn-ea"/>
                <a:cs typeface="+mn-cs"/>
              </a:rPr>
              <a:t>The bus can address up to 320 RDRAM chips and is rated at 1.6 GBps.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special RDRAM bus delivers address and control information using</a:t>
            </a:r>
          </a:p>
          <a:p>
            <a:r>
              <a:rPr kumimoji="1" lang="en-US" sz="1200" kern="1200" baseline="0" dirty="0">
                <a:solidFill>
                  <a:schemeClr val="tx1"/>
                </a:solidFill>
                <a:latin typeface="Times New Roman" pitchFamily="33" charset="0"/>
                <a:ea typeface="+mn-ea"/>
                <a:cs typeface="+mn-cs"/>
              </a:rPr>
              <a:t>an asynchronous block-oriented protocol. After an initial 480 ns access time,</a:t>
            </a:r>
          </a:p>
          <a:p>
            <a:r>
              <a:rPr kumimoji="1" lang="en-US" sz="1200" kern="1200" baseline="0" dirty="0">
                <a:solidFill>
                  <a:schemeClr val="tx1"/>
                </a:solidFill>
                <a:latin typeface="Times New Roman" pitchFamily="33" charset="0"/>
                <a:ea typeface="+mn-ea"/>
                <a:cs typeface="+mn-cs"/>
              </a:rPr>
              <a:t>this produces the 1.6 GBps data rate. What makes this speed possible is the bus</a:t>
            </a:r>
          </a:p>
          <a:p>
            <a:r>
              <a:rPr kumimoji="1" lang="en-US" sz="1200" kern="1200" baseline="0" dirty="0">
                <a:solidFill>
                  <a:schemeClr val="tx1"/>
                </a:solidFill>
                <a:latin typeface="Times New Roman" pitchFamily="33" charset="0"/>
                <a:ea typeface="+mn-ea"/>
                <a:cs typeface="+mn-cs"/>
              </a:rPr>
              <a:t>itself, which defines impedances, clocking, and signals very precisely. Rather than</a:t>
            </a:r>
          </a:p>
          <a:p>
            <a:r>
              <a:rPr kumimoji="1" lang="en-US" sz="1200" kern="1200" baseline="0" dirty="0">
                <a:solidFill>
                  <a:schemeClr val="tx1"/>
                </a:solidFill>
                <a:latin typeface="Times New Roman" pitchFamily="33" charset="0"/>
                <a:ea typeface="+mn-ea"/>
                <a:cs typeface="+mn-cs"/>
              </a:rPr>
              <a:t>being controlled by the explicit RAS, CAS, R/W, and CE signals used in conventional</a:t>
            </a:r>
          </a:p>
          <a:p>
            <a:r>
              <a:rPr kumimoji="1" lang="en-US" sz="1200" kern="1200" baseline="0" dirty="0">
                <a:solidFill>
                  <a:schemeClr val="tx1"/>
                </a:solidFill>
                <a:latin typeface="Times New Roman" pitchFamily="33" charset="0"/>
                <a:ea typeface="+mn-ea"/>
                <a:cs typeface="+mn-cs"/>
              </a:rPr>
              <a:t>DRAMs, an RDRAM gets a memory request over the high-speed bus. This</a:t>
            </a:r>
          </a:p>
          <a:p>
            <a:r>
              <a:rPr kumimoji="1" lang="en-US" sz="1200" kern="1200" baseline="0" dirty="0">
                <a:solidFill>
                  <a:schemeClr val="tx1"/>
                </a:solidFill>
                <a:latin typeface="Times New Roman" pitchFamily="33" charset="0"/>
                <a:ea typeface="+mn-ea"/>
                <a:cs typeface="+mn-cs"/>
              </a:rPr>
              <a:t>request contains the desired address, the type of operation, and the number of</a:t>
            </a:r>
          </a:p>
          <a:p>
            <a:r>
              <a:rPr kumimoji="1" lang="en-US" sz="1200" kern="1200" baseline="0" dirty="0">
                <a:solidFill>
                  <a:schemeClr val="tx1"/>
                </a:solidFill>
                <a:latin typeface="Times New Roman" pitchFamily="33" charset="0"/>
                <a:ea typeface="+mn-ea"/>
                <a:cs typeface="+mn-cs"/>
              </a:rPr>
              <a:t>bytes in the operation.</a:t>
            </a:r>
            <a:endParaRPr lang="en-GB"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RDRAM, được phát triển bởi Rambus [FARM92, CRIS97], đã được Intel thông qua</a:t>
            </a:r>
          </a:p>
          <a:p>
            <a:r>
              <a:rPr kumimoji="1" lang="vi-VN" sz="1200" kern="1200" baseline="0" dirty="0">
                <a:solidFill>
                  <a:schemeClr val="tx1"/>
                </a:solidFill>
                <a:latin typeface="Times New Roman" pitchFamily="33" charset="0"/>
                <a:ea typeface="+mn-ea"/>
                <a:cs typeface="+mn-cs"/>
              </a:rPr>
              <a:t>cho bộ vi xử lý Pentium và Itanium của nó. Nó đã trở thành đối thủ cạnh tranh chính</a:t>
            </a:r>
          </a:p>
          <a:p>
            <a:r>
              <a:rPr kumimoji="1" lang="vi-VN" sz="1200" kern="1200" baseline="0" dirty="0">
                <a:solidFill>
                  <a:schemeClr val="tx1"/>
                </a:solidFill>
                <a:latin typeface="Times New Roman" pitchFamily="33" charset="0"/>
                <a:ea typeface="+mn-ea"/>
                <a:cs typeface="+mn-cs"/>
              </a:rPr>
              <a:t>SDRAM. Chip RDRAM là các gói theo chiều dọc, có tất cả các chân ở một bên. Con chip</a:t>
            </a:r>
          </a:p>
          <a:p>
            <a:r>
              <a:rPr kumimoji="1" lang="vi-VN" sz="1200" kern="1200" baseline="0" dirty="0">
                <a:solidFill>
                  <a:schemeClr val="tx1"/>
                </a:solidFill>
                <a:latin typeface="Times New Roman" pitchFamily="33" charset="0"/>
                <a:ea typeface="+mn-ea"/>
                <a:cs typeface="+mn-cs"/>
              </a:rPr>
              <a:t>trao đổi dữ liệu với bộ vi xử lý trên 28 dây không dài hơn 12 cm.</a:t>
            </a:r>
          </a:p>
          <a:p>
            <a:r>
              <a:rPr kumimoji="1" lang="vi-VN" sz="1200" kern="1200" baseline="0" dirty="0">
                <a:solidFill>
                  <a:schemeClr val="tx1"/>
                </a:solidFill>
                <a:latin typeface="Times New Roman" pitchFamily="33" charset="0"/>
                <a:ea typeface="+mn-ea"/>
                <a:cs typeface="+mn-cs"/>
              </a:rPr>
              <a:t>Bus có thể giải quyết được tới 320 chip RDRAM và được đánh giá ở mức 1,6 GBps.</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Xe buýt RDRAM đặc biệt cung cấp thông tin địa chỉ và kiểm soát sử dụng</a:t>
            </a:r>
          </a:p>
          <a:p>
            <a:r>
              <a:rPr kumimoji="1" lang="vi-VN" sz="1200" kern="1200" baseline="0" dirty="0">
                <a:solidFill>
                  <a:schemeClr val="tx1"/>
                </a:solidFill>
                <a:latin typeface="Times New Roman" pitchFamily="33" charset="0"/>
                <a:ea typeface="+mn-ea"/>
                <a:cs typeface="+mn-cs"/>
              </a:rPr>
              <a:t>một giao thức định hướng khối không đồng bộ. Sau thời gian truy cập 480 ns ban đầu,</a:t>
            </a:r>
          </a:p>
          <a:p>
            <a:r>
              <a:rPr kumimoji="1" lang="vi-VN" sz="1200" kern="1200" baseline="0" dirty="0">
                <a:solidFill>
                  <a:schemeClr val="tx1"/>
                </a:solidFill>
                <a:latin typeface="Times New Roman" pitchFamily="33" charset="0"/>
                <a:ea typeface="+mn-ea"/>
                <a:cs typeface="+mn-cs"/>
              </a:rPr>
              <a:t>điều này tạo ra tốc độ dữ liệu 1,6 GBps. Điều làm cho tốc độ này có thể là xe buýt</a:t>
            </a:r>
          </a:p>
          <a:p>
            <a:r>
              <a:rPr kumimoji="1" lang="vi-VN" sz="1200" kern="1200" baseline="0" dirty="0">
                <a:solidFill>
                  <a:schemeClr val="tx1"/>
                </a:solidFill>
                <a:latin typeface="Times New Roman" pitchFamily="33" charset="0"/>
                <a:ea typeface="+mn-ea"/>
                <a:cs typeface="+mn-cs"/>
              </a:rPr>
              <a:t>chính nó, định nghĩa impedances, clocking, và các tín hiệu rất chính xác. Thay vì</a:t>
            </a:r>
          </a:p>
          <a:p>
            <a:r>
              <a:rPr kumimoji="1" lang="vi-VN" sz="1200" kern="1200" baseline="0" dirty="0">
                <a:solidFill>
                  <a:schemeClr val="tx1"/>
                </a:solidFill>
                <a:latin typeface="Times New Roman" pitchFamily="33" charset="0"/>
                <a:ea typeface="+mn-ea"/>
                <a:cs typeface="+mn-cs"/>
              </a:rPr>
              <a:t>được kiểm soát bởi các tín hiệu RAS, CAS, R / W và CE rõ ràng được sử dụng trong các hệ thống thông thường</a:t>
            </a:r>
          </a:p>
          <a:p>
            <a:r>
              <a:rPr kumimoji="1" lang="vi-VN" sz="1200" kern="1200" baseline="0" dirty="0">
                <a:solidFill>
                  <a:schemeClr val="tx1"/>
                </a:solidFill>
                <a:latin typeface="Times New Roman" pitchFamily="33" charset="0"/>
                <a:ea typeface="+mn-ea"/>
                <a:cs typeface="+mn-cs"/>
              </a:rPr>
              <a:t>DRAMs, một RDRAM nhận được yêu cầu bộ nhớ trên bus tốc độ cao. Điều này</a:t>
            </a:r>
          </a:p>
          <a:p>
            <a:r>
              <a:rPr kumimoji="1" lang="vi-VN" sz="1200" kern="1200" baseline="0" dirty="0">
                <a:solidFill>
                  <a:schemeClr val="tx1"/>
                </a:solidFill>
                <a:latin typeface="Times New Roman" pitchFamily="33" charset="0"/>
                <a:ea typeface="+mn-ea"/>
                <a:cs typeface="+mn-cs"/>
              </a:rPr>
              <a:t>yêu cầu có chứa địa chỉ mong muốn, loại hoạt động và số lượng</a:t>
            </a:r>
          </a:p>
          <a:p>
            <a:r>
              <a:rPr kumimoji="1" lang="vi-VN" sz="1200" kern="1200" baseline="0" dirty="0">
                <a:solidFill>
                  <a:schemeClr val="tx1"/>
                </a:solidFill>
                <a:latin typeface="Times New Roman" pitchFamily="33" charset="0"/>
                <a:ea typeface="+mn-ea"/>
                <a:cs typeface="+mn-cs"/>
              </a:rPr>
              <a:t>byte trong hoạt động...</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5.14 illustrates the RDRAM layout. The configuration consists of</a:t>
            </a:r>
          </a:p>
          <a:p>
            <a:r>
              <a:rPr kumimoji="1" lang="en-US" sz="1200" kern="1200" baseline="0" dirty="0">
                <a:solidFill>
                  <a:schemeClr val="tx1"/>
                </a:solidFill>
                <a:latin typeface="Times New Roman" pitchFamily="33" charset="0"/>
                <a:ea typeface="+mn-ea"/>
                <a:cs typeface="+mn-cs"/>
              </a:rPr>
              <a:t>a controller and a number of RDRAM modules connected via a common bus.</a:t>
            </a:r>
          </a:p>
          <a:p>
            <a:r>
              <a:rPr kumimoji="1" lang="en-US" sz="1200" kern="1200" baseline="0" dirty="0">
                <a:solidFill>
                  <a:schemeClr val="tx1"/>
                </a:solidFill>
                <a:latin typeface="Times New Roman" pitchFamily="33" charset="0"/>
                <a:ea typeface="+mn-ea"/>
                <a:cs typeface="+mn-cs"/>
              </a:rPr>
              <a:t>The controller is at one end of the configuration, and the far end of the bus is</a:t>
            </a:r>
          </a:p>
          <a:p>
            <a:r>
              <a:rPr kumimoji="1" lang="en-US" sz="1200" kern="1200" baseline="0" dirty="0">
                <a:solidFill>
                  <a:schemeClr val="tx1"/>
                </a:solidFill>
                <a:latin typeface="Times New Roman" pitchFamily="33" charset="0"/>
                <a:ea typeface="+mn-ea"/>
                <a:cs typeface="+mn-cs"/>
              </a:rPr>
              <a:t>a parallel termination of the bus lines. The bus includes 18 data lines (16 actual</a:t>
            </a:r>
          </a:p>
          <a:p>
            <a:r>
              <a:rPr kumimoji="1" lang="en-US" sz="1200" kern="1200" baseline="0" dirty="0">
                <a:solidFill>
                  <a:schemeClr val="tx1"/>
                </a:solidFill>
                <a:latin typeface="Times New Roman" pitchFamily="33" charset="0"/>
                <a:ea typeface="+mn-ea"/>
                <a:cs typeface="+mn-cs"/>
              </a:rPr>
              <a:t>data, two parity) cycling at twice the clock rate; that is, 1 bit is sent at the leading</a:t>
            </a:r>
          </a:p>
          <a:p>
            <a:r>
              <a:rPr kumimoji="1" lang="en-US" sz="1200" kern="1200" baseline="0" dirty="0">
                <a:solidFill>
                  <a:schemeClr val="tx1"/>
                </a:solidFill>
                <a:latin typeface="Times New Roman" pitchFamily="33" charset="0"/>
                <a:ea typeface="+mn-ea"/>
                <a:cs typeface="+mn-cs"/>
              </a:rPr>
              <a:t>and following edge of each clock signal. This results in a signal rate on each</a:t>
            </a:r>
          </a:p>
          <a:p>
            <a:r>
              <a:rPr kumimoji="1" lang="en-US" sz="1200" kern="1200" baseline="0" dirty="0">
                <a:solidFill>
                  <a:schemeClr val="tx1"/>
                </a:solidFill>
                <a:latin typeface="Times New Roman" pitchFamily="33" charset="0"/>
                <a:ea typeface="+mn-ea"/>
                <a:cs typeface="+mn-cs"/>
              </a:rPr>
              <a:t>data line of 800 Mbps. There is a separate set of 8 lines (RC) used for address</a:t>
            </a:r>
          </a:p>
          <a:p>
            <a:r>
              <a:rPr kumimoji="1" lang="en-US" sz="1200" kern="1200" baseline="0" dirty="0">
                <a:solidFill>
                  <a:schemeClr val="tx1"/>
                </a:solidFill>
                <a:latin typeface="Times New Roman" pitchFamily="33" charset="0"/>
                <a:ea typeface="+mn-ea"/>
                <a:cs typeface="+mn-cs"/>
              </a:rPr>
              <a:t>and control signals. There is also a clock signal that starts at the far end from</a:t>
            </a:r>
          </a:p>
          <a:p>
            <a:r>
              <a:rPr kumimoji="1" lang="en-US" sz="1200" kern="1200" baseline="0" dirty="0">
                <a:solidFill>
                  <a:schemeClr val="tx1"/>
                </a:solidFill>
                <a:latin typeface="Times New Roman" pitchFamily="33" charset="0"/>
                <a:ea typeface="+mn-ea"/>
                <a:cs typeface="+mn-cs"/>
              </a:rPr>
              <a:t>the controller propagates to the controller end and then loops back. A RDRAM</a:t>
            </a:r>
          </a:p>
          <a:p>
            <a:r>
              <a:rPr kumimoji="1" lang="en-US" sz="1200" kern="1200" baseline="0" dirty="0">
                <a:solidFill>
                  <a:schemeClr val="tx1"/>
                </a:solidFill>
                <a:latin typeface="Times New Roman" pitchFamily="33" charset="0"/>
                <a:ea typeface="+mn-ea"/>
                <a:cs typeface="+mn-cs"/>
              </a:rPr>
              <a:t>module sends data to the controller synchronously to the clock to master, and the</a:t>
            </a:r>
          </a:p>
          <a:p>
            <a:r>
              <a:rPr kumimoji="1" lang="en-US" sz="1200" kern="1200" baseline="0" dirty="0">
                <a:solidFill>
                  <a:schemeClr val="tx1"/>
                </a:solidFill>
                <a:latin typeface="Times New Roman" pitchFamily="33" charset="0"/>
                <a:ea typeface="+mn-ea"/>
                <a:cs typeface="+mn-cs"/>
              </a:rPr>
              <a:t>controller sends data to an RDRAM synchronously with the clock signal in the</a:t>
            </a:r>
          </a:p>
          <a:p>
            <a:r>
              <a:rPr kumimoji="1" lang="en-US" sz="1200" kern="1200" baseline="0" dirty="0">
                <a:solidFill>
                  <a:schemeClr val="tx1"/>
                </a:solidFill>
                <a:latin typeface="Times New Roman" pitchFamily="33" charset="0"/>
                <a:ea typeface="+mn-ea"/>
                <a:cs typeface="+mn-cs"/>
              </a:rPr>
              <a:t>opposite direction. The remaining bus lines include a reference voltage, ground,</a:t>
            </a:r>
          </a:p>
          <a:p>
            <a:r>
              <a:rPr kumimoji="1" lang="en-US" sz="1200" kern="1200" baseline="0" dirty="0">
                <a:solidFill>
                  <a:schemeClr val="tx1"/>
                </a:solidFill>
                <a:latin typeface="Times New Roman" pitchFamily="33" charset="0"/>
                <a:ea typeface="+mn-ea"/>
                <a:cs typeface="+mn-cs"/>
              </a:rPr>
              <a:t>and power source.</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vi-VN" sz="1200" kern="1200" baseline="0" dirty="0">
                <a:solidFill>
                  <a:schemeClr val="tx1"/>
                </a:solidFill>
                <a:latin typeface="Times New Roman" pitchFamily="33" charset="0"/>
                <a:ea typeface="+mn-ea"/>
                <a:cs typeface="+mn-cs"/>
              </a:rPr>
              <a:t>SDRAM chỉ có thể gửi dữ liệu một lần mỗi chu kỳ đồng hồ </a:t>
            </a:r>
            <a:r>
              <a:rPr kumimoji="1" lang="en-US" sz="1200" kern="1200" baseline="0" dirty="0">
                <a:solidFill>
                  <a:schemeClr val="tx1"/>
                </a:solidFill>
                <a:latin typeface="Times New Roman" pitchFamily="33" charset="0"/>
                <a:ea typeface="+mn-ea"/>
                <a:cs typeface="+mn-cs"/>
              </a:rPr>
              <a:t>bus</a:t>
            </a:r>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SDRAM tốc độ dữ liệu gấp đôi có thể gửi dữ liệu hai lần mỗi chu kỳ đồng hồ, một lần trên cạnh tăng của xung đồng hồ và một lần trên cạnh rơi xuống</a:t>
            </a:r>
          </a:p>
          <a:p>
            <a:r>
              <a:rPr kumimoji="1" lang="vi-VN" sz="1200" kern="1200" baseline="0" dirty="0">
                <a:solidFill>
                  <a:schemeClr val="tx1"/>
                </a:solidFill>
                <a:latin typeface="Times New Roman" pitchFamily="33" charset="0"/>
                <a:ea typeface="+mn-ea"/>
                <a:cs typeface="+mn-cs"/>
              </a:rPr>
              <a:t>Được phát triển bởi Hiệp hội Công nghệ Solid State của JEDEC (Cơ quan tiêu chuẩn hoá kỹ thuật bán dẫn của Tổ chức Công nghiệp Điện tử)</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SDRAM is limited by the fact that it can only send data to the processor once per</a:t>
            </a:r>
          </a:p>
          <a:p>
            <a:r>
              <a:rPr kumimoji="1" lang="en-US" sz="1200" kern="1200" baseline="0" dirty="0">
                <a:solidFill>
                  <a:schemeClr val="tx1"/>
                </a:solidFill>
                <a:latin typeface="Times New Roman" pitchFamily="33" charset="0"/>
                <a:ea typeface="+mn-ea"/>
                <a:cs typeface="+mn-cs"/>
              </a:rPr>
              <a:t>bus clock cycle. A new version of SDRAM, referred to as double-data-rate SDRAM</a:t>
            </a:r>
          </a:p>
          <a:p>
            <a:r>
              <a:rPr kumimoji="1" lang="en-US" sz="1200" kern="1200" baseline="0" dirty="0">
                <a:solidFill>
                  <a:schemeClr val="tx1"/>
                </a:solidFill>
                <a:latin typeface="Times New Roman" pitchFamily="33" charset="0"/>
                <a:ea typeface="+mn-ea"/>
                <a:cs typeface="+mn-cs"/>
              </a:rPr>
              <a:t>can send data twice per clock cycle, once on the rising edge of the clock pulse and</a:t>
            </a:r>
          </a:p>
          <a:p>
            <a:r>
              <a:rPr kumimoji="1" lang="en-US" sz="1200" kern="1200" baseline="0" dirty="0">
                <a:solidFill>
                  <a:schemeClr val="tx1"/>
                </a:solidFill>
                <a:latin typeface="Times New Roman" pitchFamily="33" charset="0"/>
                <a:ea typeface="+mn-ea"/>
                <a:cs typeface="+mn-cs"/>
              </a:rPr>
              <a:t>once on the falling edge.</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DDR DRAM was developed by the JEDEC Solid State Technology</a:t>
            </a:r>
          </a:p>
          <a:p>
            <a:r>
              <a:rPr kumimoji="1" lang="en-US" sz="1200" kern="1200" baseline="0" dirty="0">
                <a:solidFill>
                  <a:schemeClr val="tx1"/>
                </a:solidFill>
                <a:latin typeface="Times New Roman" pitchFamily="33" charset="0"/>
                <a:ea typeface="+mn-ea"/>
                <a:cs typeface="+mn-cs"/>
              </a:rPr>
              <a:t>Association, the Electronic Industries Alliance’s semiconductor-engineering-standardization</a:t>
            </a:r>
          </a:p>
          <a:p>
            <a:r>
              <a:rPr kumimoji="1" lang="en-US" sz="1200" kern="1200" baseline="0" dirty="0">
                <a:solidFill>
                  <a:schemeClr val="tx1"/>
                </a:solidFill>
                <a:latin typeface="Times New Roman" pitchFamily="33" charset="0"/>
                <a:ea typeface="+mn-ea"/>
                <a:cs typeface="+mn-cs"/>
              </a:rPr>
              <a:t>body. Numerous companies make DDR chips, which are widely used in</a:t>
            </a:r>
          </a:p>
          <a:p>
            <a:r>
              <a:rPr kumimoji="1" lang="en-US" sz="1200" kern="1200" baseline="0" dirty="0">
                <a:solidFill>
                  <a:schemeClr val="tx1"/>
                </a:solidFill>
                <a:latin typeface="Times New Roman" pitchFamily="33" charset="0"/>
                <a:ea typeface="+mn-ea"/>
                <a:cs typeface="+mn-cs"/>
              </a:rPr>
              <a:t>desktop computers and servers.</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36</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vi-VN" sz="1200" kern="1200" baseline="0" dirty="0">
                <a:solidFill>
                  <a:schemeClr val="tx1"/>
                </a:solidFill>
                <a:latin typeface="Times New Roman" pitchFamily="33" charset="0"/>
                <a:ea typeface="+mn-ea"/>
                <a:cs typeface="+mn-cs"/>
              </a:rPr>
              <a:t>Hình 5.15 cho thấy thời gian cơ bản để đọc DDR. Truyền dữ liệu được đồng bộ hóa</a:t>
            </a:r>
          </a:p>
          <a:p>
            <a:r>
              <a:rPr kumimoji="1" lang="vi-VN" sz="1200" kern="1200" baseline="0" dirty="0">
                <a:solidFill>
                  <a:schemeClr val="tx1"/>
                </a:solidFill>
                <a:latin typeface="Times New Roman" pitchFamily="33" charset="0"/>
                <a:ea typeface="+mn-ea"/>
                <a:cs typeface="+mn-cs"/>
              </a:rPr>
              <a:t>cho cả cạnh lên và xuống của đồng hồ. Nó cũng được đồng bộ hóa với</a:t>
            </a:r>
          </a:p>
          <a:p>
            <a:r>
              <a:rPr kumimoji="1" lang="vi-VN" sz="1200" kern="1200" baseline="0" dirty="0">
                <a:solidFill>
                  <a:schemeClr val="tx1"/>
                </a:solidFill>
                <a:latin typeface="Times New Roman" pitchFamily="33" charset="0"/>
                <a:ea typeface="+mn-ea"/>
                <a:cs typeface="+mn-cs"/>
              </a:rPr>
              <a:t>tín hiệu strobe dữ liệu hai chiều (DQS) được cung cấp bởi bộ điều khiển bộ nhớ</a:t>
            </a:r>
          </a:p>
          <a:p>
            <a:r>
              <a:rPr kumimoji="1" lang="vi-VN" sz="1200" kern="1200" baseline="0" dirty="0">
                <a:solidFill>
                  <a:schemeClr val="tx1"/>
                </a:solidFill>
                <a:latin typeface="Times New Roman" pitchFamily="33" charset="0"/>
                <a:ea typeface="+mn-ea"/>
                <a:cs typeface="+mn-cs"/>
              </a:rPr>
              <a:t>trong khi đọc và bởi DRAM trong quá trình viết. Trong việc triển khai điển hình,</a:t>
            </a:r>
          </a:p>
          <a:p>
            <a:r>
              <a:rPr kumimoji="1" lang="vi-VN" sz="1200" kern="1200" baseline="0" dirty="0">
                <a:solidFill>
                  <a:schemeClr val="tx1"/>
                </a:solidFill>
                <a:latin typeface="Times New Roman" pitchFamily="33" charset="0"/>
                <a:ea typeface="+mn-ea"/>
                <a:cs typeface="+mn-cs"/>
              </a:rPr>
              <a:t>DQS bị bỏ qua trong quá trình đọc. Giải thích về việc sử dụng DQS trên viết là</a:t>
            </a:r>
          </a:p>
          <a:p>
            <a:r>
              <a:rPr kumimoji="1" lang="vi-VN" sz="1200" kern="1200" baseline="0" dirty="0">
                <a:solidFill>
                  <a:schemeClr val="tx1"/>
                </a:solidFill>
                <a:latin typeface="Times New Roman" pitchFamily="33" charset="0"/>
                <a:ea typeface="+mn-ea"/>
                <a:cs typeface="+mn-cs"/>
              </a:rPr>
              <a:t>vượt quá phạm vi của chúng tôi; xem [JACO08] để biết chi tiết.</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Đã có hai thế hệ cải tiến cho công nghệ DDR.</a:t>
            </a:r>
          </a:p>
          <a:p>
            <a:r>
              <a:rPr kumimoji="1" lang="vi-VN" sz="1200" kern="1200" baseline="0" dirty="0">
                <a:solidFill>
                  <a:schemeClr val="tx1"/>
                </a:solidFill>
                <a:latin typeface="Times New Roman" pitchFamily="33" charset="0"/>
                <a:ea typeface="+mn-ea"/>
                <a:cs typeface="+mn-cs"/>
              </a:rPr>
              <a:t>DDR2 tăng tốc độ truyền dữ liệu bằng cách tăng tần suất hoạt động</a:t>
            </a:r>
          </a:p>
          <a:p>
            <a:r>
              <a:rPr kumimoji="1" lang="vi-VN" sz="1200" kern="1200" baseline="0" dirty="0">
                <a:solidFill>
                  <a:schemeClr val="tx1"/>
                </a:solidFill>
                <a:latin typeface="Times New Roman" pitchFamily="33" charset="0"/>
                <a:ea typeface="+mn-ea"/>
                <a:cs typeface="+mn-cs"/>
              </a:rPr>
              <a:t>của chip RAM và bằng cách tăng prefetch buffer từ 2 bit đến 4 bit</a:t>
            </a:r>
          </a:p>
          <a:p>
            <a:r>
              <a:rPr kumimoji="1" lang="vi-VN" sz="1200" kern="1200" baseline="0" dirty="0">
                <a:solidFill>
                  <a:schemeClr val="tx1"/>
                </a:solidFill>
                <a:latin typeface="Times New Roman" pitchFamily="33" charset="0"/>
                <a:ea typeface="+mn-ea"/>
                <a:cs typeface="+mn-cs"/>
              </a:rPr>
              <a:t>mỗi chip. Prefetch buffer là một bộ nhớ cache nằm trên chip RAM. Các</a:t>
            </a:r>
          </a:p>
          <a:p>
            <a:r>
              <a:rPr kumimoji="1" lang="vi-VN" sz="1200" kern="1200" baseline="0" dirty="0">
                <a:solidFill>
                  <a:schemeClr val="tx1"/>
                </a:solidFill>
                <a:latin typeface="Times New Roman" pitchFamily="33" charset="0"/>
                <a:ea typeface="+mn-ea"/>
                <a:cs typeface="+mn-cs"/>
              </a:rPr>
              <a:t>bộ đệm cho phép các chip RAM để giới thiệu bit được đặt trên xe buýt dữ liệu như</a:t>
            </a:r>
          </a:p>
          <a:p>
            <a:r>
              <a:rPr kumimoji="1" lang="vi-VN" sz="1200" kern="1200" baseline="0" dirty="0">
                <a:solidFill>
                  <a:schemeClr val="tx1"/>
                </a:solidFill>
                <a:latin typeface="Times New Roman" pitchFamily="33" charset="0"/>
                <a:ea typeface="+mn-ea"/>
                <a:cs typeface="+mn-cs"/>
              </a:rPr>
              <a:t>nhanh nhất có thể. DDR3, được giới thiệu trong năm 2007, làm tăng kích thước bộ đệm nạp trước</a:t>
            </a:r>
          </a:p>
          <a:p>
            <a:r>
              <a:rPr kumimoji="1" lang="vi-VN" sz="1200" kern="1200" baseline="0" dirty="0">
                <a:solidFill>
                  <a:schemeClr val="tx1"/>
                </a:solidFill>
                <a:latin typeface="Times New Roman" pitchFamily="33" charset="0"/>
                <a:ea typeface="+mn-ea"/>
                <a:cs typeface="+mn-cs"/>
              </a:rPr>
              <a:t>đến 8 bit.</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Về mặt lý thuyết, một mô đun DDR có thể truyền dữ liệu với tốc độ đồng hồ trong khoảng</a:t>
            </a:r>
          </a:p>
          <a:p>
            <a:r>
              <a:rPr kumimoji="1" lang="vi-VN" sz="1200" kern="1200" baseline="0" dirty="0">
                <a:solidFill>
                  <a:schemeClr val="tx1"/>
                </a:solidFill>
                <a:latin typeface="Times New Roman" pitchFamily="33" charset="0"/>
                <a:ea typeface="+mn-ea"/>
                <a:cs typeface="+mn-cs"/>
              </a:rPr>
              <a:t>200 đến 600 MHz; một môđun DDR2 được truyền với tốc độ từ 400 đến 1066 MHz; và</a:t>
            </a:r>
          </a:p>
          <a:p>
            <a:r>
              <a:rPr kumimoji="1" lang="vi-VN" sz="1200" kern="1200" baseline="0" dirty="0">
                <a:solidFill>
                  <a:schemeClr val="tx1"/>
                </a:solidFill>
                <a:latin typeface="Times New Roman" pitchFamily="33" charset="0"/>
                <a:ea typeface="+mn-ea"/>
                <a:cs typeface="+mn-cs"/>
              </a:rPr>
              <a:t>một mô-đun DDR3 truyền ở tốc độ đồng hồ 800 đến 1600 MHz. Trong thực tế, phần nào</a:t>
            </a:r>
          </a:p>
          <a:p>
            <a:r>
              <a:rPr kumimoji="1" lang="vi-VN" sz="1200" kern="1200" baseline="0" dirty="0">
                <a:solidFill>
                  <a:schemeClr val="tx1"/>
                </a:solidFill>
                <a:latin typeface="Times New Roman" pitchFamily="33" charset="0"/>
                <a:ea typeface="+mn-ea"/>
                <a:cs typeface="+mn-cs"/>
              </a:rPr>
              <a:t>tỷ lệ nhỏ hơn đã đạt được.</a:t>
            </a:r>
          </a:p>
          <a:p>
            <a:endParaRPr kumimoji="1" lang="vi-VN" sz="1200" kern="1200" baseline="0" dirty="0">
              <a:solidFill>
                <a:schemeClr val="tx1"/>
              </a:solidFill>
              <a:latin typeface="Times New Roman" pitchFamily="33" charset="0"/>
              <a:ea typeface="+mn-ea"/>
              <a:cs typeface="+mn-cs"/>
            </a:endParaRPr>
          </a:p>
          <a:p>
            <a:r>
              <a:rPr kumimoji="1" lang="vi-VN" sz="1200" kern="1200" baseline="0" dirty="0">
                <a:solidFill>
                  <a:schemeClr val="tx1"/>
                </a:solidFill>
                <a:latin typeface="Times New Roman" pitchFamily="33" charset="0"/>
                <a:ea typeface="+mn-ea"/>
                <a:cs typeface="+mn-cs"/>
              </a:rPr>
              <a:t>Phụ lục K cung cấp chi tiết hơn về công nghệ DDR.</a:t>
            </a:r>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Figure 5.15 shows the basic timing for a DDR read. The data transfer is synchronized</a:t>
            </a:r>
          </a:p>
          <a:p>
            <a:r>
              <a:rPr kumimoji="1" lang="en-US" sz="1200" kern="1200" baseline="0" dirty="0">
                <a:solidFill>
                  <a:schemeClr val="tx1"/>
                </a:solidFill>
                <a:latin typeface="Times New Roman" pitchFamily="33" charset="0"/>
                <a:ea typeface="+mn-ea"/>
                <a:cs typeface="+mn-cs"/>
              </a:rPr>
              <a:t>to both the rising and falling edge of the clock. It is also synchronized to</a:t>
            </a:r>
          </a:p>
          <a:p>
            <a:r>
              <a:rPr kumimoji="1" lang="en-US" sz="1200" kern="1200" baseline="0" dirty="0">
                <a:solidFill>
                  <a:schemeClr val="tx1"/>
                </a:solidFill>
                <a:latin typeface="Times New Roman" pitchFamily="33" charset="0"/>
                <a:ea typeface="+mn-ea"/>
                <a:cs typeface="+mn-cs"/>
              </a:rPr>
              <a:t>a bidirectional data strobe (DQS) signal that is provided by the memory controller</a:t>
            </a:r>
          </a:p>
          <a:p>
            <a:r>
              <a:rPr kumimoji="1" lang="en-US" sz="1200" kern="1200" baseline="0" dirty="0">
                <a:solidFill>
                  <a:schemeClr val="tx1"/>
                </a:solidFill>
                <a:latin typeface="Times New Roman" pitchFamily="33" charset="0"/>
                <a:ea typeface="+mn-ea"/>
                <a:cs typeface="+mn-cs"/>
              </a:rPr>
              <a:t>during a read and by the DRAM during a write. In typical implementations the</a:t>
            </a:r>
          </a:p>
          <a:p>
            <a:r>
              <a:rPr kumimoji="1" lang="en-US" sz="1200" kern="1200" baseline="0" dirty="0">
                <a:solidFill>
                  <a:schemeClr val="tx1"/>
                </a:solidFill>
                <a:latin typeface="Times New Roman" pitchFamily="33" charset="0"/>
                <a:ea typeface="+mn-ea"/>
                <a:cs typeface="+mn-cs"/>
              </a:rPr>
              <a:t>DQS is ignored during the read. An explanation of the use of DQS on writes is</a:t>
            </a:r>
          </a:p>
          <a:p>
            <a:r>
              <a:rPr kumimoji="1" lang="en-US" sz="1200" kern="1200" baseline="0" dirty="0">
                <a:solidFill>
                  <a:schemeClr val="tx1"/>
                </a:solidFill>
                <a:latin typeface="Times New Roman" pitchFamily="33" charset="0"/>
                <a:ea typeface="+mn-ea"/>
                <a:cs typeface="+mn-cs"/>
              </a:rPr>
              <a:t>beyond our scope; see [JACO08] for details.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There have been two generations of improvement to the DDR technology.</a:t>
            </a:r>
          </a:p>
          <a:p>
            <a:r>
              <a:rPr kumimoji="1" lang="en-US" sz="1200" kern="1200" baseline="0" dirty="0">
                <a:solidFill>
                  <a:schemeClr val="tx1"/>
                </a:solidFill>
                <a:latin typeface="Times New Roman" pitchFamily="33" charset="0"/>
                <a:ea typeface="+mn-ea"/>
                <a:cs typeface="+mn-cs"/>
              </a:rPr>
              <a:t>DDR2 increases the data transfer rate by increasing the operational frequency</a:t>
            </a:r>
          </a:p>
          <a:p>
            <a:r>
              <a:rPr kumimoji="1" lang="en-US" sz="1200" kern="1200" baseline="0" dirty="0">
                <a:solidFill>
                  <a:schemeClr val="tx1"/>
                </a:solidFill>
                <a:latin typeface="Times New Roman" pitchFamily="33" charset="0"/>
                <a:ea typeface="+mn-ea"/>
                <a:cs typeface="+mn-cs"/>
              </a:rPr>
              <a:t>of the RAM chip and by increasing the prefetch buffer from 2 bits to 4 bits</a:t>
            </a:r>
          </a:p>
          <a:p>
            <a:r>
              <a:rPr kumimoji="1" lang="en-US" sz="1200" kern="1200" baseline="0" dirty="0">
                <a:solidFill>
                  <a:schemeClr val="tx1"/>
                </a:solidFill>
                <a:latin typeface="Times New Roman" pitchFamily="33" charset="0"/>
                <a:ea typeface="+mn-ea"/>
                <a:cs typeface="+mn-cs"/>
              </a:rPr>
              <a:t>per chip. The prefetch buffer is a memory cache located on the RAM chip. The</a:t>
            </a:r>
          </a:p>
          <a:p>
            <a:r>
              <a:rPr kumimoji="1" lang="en-US" sz="1200" kern="1200" baseline="0" dirty="0">
                <a:solidFill>
                  <a:schemeClr val="tx1"/>
                </a:solidFill>
                <a:latin typeface="Times New Roman" pitchFamily="33" charset="0"/>
                <a:ea typeface="+mn-ea"/>
                <a:cs typeface="+mn-cs"/>
              </a:rPr>
              <a:t>buffer enables the RAM chip to preposition bits to be placed on the data bus as</a:t>
            </a:r>
          </a:p>
          <a:p>
            <a:r>
              <a:rPr kumimoji="1" lang="en-US" sz="1200" kern="1200" baseline="0" dirty="0">
                <a:solidFill>
                  <a:schemeClr val="tx1"/>
                </a:solidFill>
                <a:latin typeface="Times New Roman" pitchFamily="33" charset="0"/>
                <a:ea typeface="+mn-ea"/>
                <a:cs typeface="+mn-cs"/>
              </a:rPr>
              <a:t>rapidly as possible. DDR3, introduced in 2007, increases the prefetch buffer size</a:t>
            </a:r>
          </a:p>
          <a:p>
            <a:r>
              <a:rPr kumimoji="1" lang="en-US" sz="1200" kern="1200" baseline="0" dirty="0">
                <a:solidFill>
                  <a:schemeClr val="tx1"/>
                </a:solidFill>
                <a:latin typeface="Times New Roman" pitchFamily="33" charset="0"/>
                <a:ea typeface="+mn-ea"/>
                <a:cs typeface="+mn-cs"/>
              </a:rPr>
              <a:t>to 8 bits.</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Theoretically, a DDR module can transfer data at a clock rate in the range of</a:t>
            </a:r>
          </a:p>
          <a:p>
            <a:r>
              <a:rPr kumimoji="1" lang="en-US" sz="1200" kern="1200" baseline="0" dirty="0">
                <a:solidFill>
                  <a:schemeClr val="tx1"/>
                </a:solidFill>
                <a:latin typeface="Times New Roman" pitchFamily="33" charset="0"/>
                <a:ea typeface="+mn-ea"/>
                <a:cs typeface="+mn-cs"/>
              </a:rPr>
              <a:t>200 to 600 MHz; a DDR2 module transfers at a clock rate of 400 to 1066 MHz; and</a:t>
            </a:r>
          </a:p>
          <a:p>
            <a:r>
              <a:rPr kumimoji="1" lang="en-US" sz="1200" kern="1200" baseline="0" dirty="0">
                <a:solidFill>
                  <a:schemeClr val="tx1"/>
                </a:solidFill>
                <a:latin typeface="Times New Roman" pitchFamily="33" charset="0"/>
                <a:ea typeface="+mn-ea"/>
                <a:cs typeface="+mn-cs"/>
              </a:rPr>
              <a:t>a DDR3 module transfers at a clock rate of 800 to 1600 MHz. In practice, somewhat</a:t>
            </a:r>
          </a:p>
          <a:p>
            <a:r>
              <a:rPr kumimoji="1" lang="en-US" sz="1200" kern="1200" baseline="0" dirty="0">
                <a:solidFill>
                  <a:schemeClr val="tx1"/>
                </a:solidFill>
                <a:latin typeface="Times New Roman" pitchFamily="33" charset="0"/>
                <a:ea typeface="+mn-ea"/>
                <a:cs typeface="+mn-cs"/>
              </a:rPr>
              <a:t>smaller rates are achieved.</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Appendix K provides more detail on DDR technology.</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37</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1" kern="1200" baseline="0" dirty="0">
                <a:solidFill>
                  <a:schemeClr val="tx1"/>
                </a:solidFill>
                <a:latin typeface="Times New Roman" pitchFamily="33" charset="0"/>
                <a:ea typeface="+mn-ea"/>
                <a:cs typeface="+mn-cs"/>
              </a:rPr>
              <a:t>Generic : </a:t>
            </a:r>
            <a:r>
              <a:rPr kumimoji="1" lang="en-US" sz="1200" b="1" kern="1200" baseline="0" dirty="0" err="1">
                <a:solidFill>
                  <a:schemeClr val="tx1"/>
                </a:solidFill>
                <a:latin typeface="Times New Roman" pitchFamily="33" charset="0"/>
                <a:ea typeface="+mn-ea"/>
                <a:cs typeface="+mn-cs"/>
              </a:rPr>
              <a:t>chuẩn</a:t>
            </a:r>
            <a:r>
              <a:rPr kumimoji="1" lang="en-US" sz="1200" b="1" kern="1200" baseline="0" dirty="0">
                <a:solidFill>
                  <a:schemeClr val="tx1"/>
                </a:solidFill>
                <a:latin typeface="Times New Roman" pitchFamily="33" charset="0"/>
                <a:ea typeface="+mn-ea"/>
                <a:cs typeface="+mn-cs"/>
              </a:rPr>
              <a:t> </a:t>
            </a:r>
            <a:r>
              <a:rPr kumimoji="1" lang="en-US" sz="1200" b="1" kern="1200" baseline="0" dirty="0" err="1">
                <a:solidFill>
                  <a:schemeClr val="tx1"/>
                </a:solidFill>
                <a:latin typeface="Times New Roman" pitchFamily="33" charset="0"/>
                <a:ea typeface="+mn-ea"/>
                <a:cs typeface="+mn-cs"/>
              </a:rPr>
              <a:t>loại</a:t>
            </a:r>
            <a:endParaRPr kumimoji="1" lang="en-US" sz="1200" b="1" kern="1200" baseline="0" dirty="0">
              <a:solidFill>
                <a:schemeClr val="tx1"/>
              </a:solidFill>
              <a:latin typeface="Times New Roman" pitchFamily="33" charset="0"/>
              <a:ea typeface="+mn-ea"/>
              <a:cs typeface="+mn-cs"/>
            </a:endParaRPr>
          </a:p>
          <a:p>
            <a:r>
              <a:rPr kumimoji="1" lang="vi-VN" sz="1200" b="1" kern="1200" baseline="0" dirty="0">
                <a:solidFill>
                  <a:schemeClr val="tx1"/>
                </a:solidFill>
                <a:latin typeface="Times New Roman" pitchFamily="33" charset="0"/>
                <a:ea typeface="+mn-ea"/>
                <a:cs typeface="+mn-cs"/>
              </a:rPr>
              <a:t>Phát triển bởi Mitsubishi</a:t>
            </a:r>
          </a:p>
          <a:p>
            <a:r>
              <a:rPr kumimoji="1" lang="vi-VN" sz="1200" b="1" kern="1200" baseline="0" dirty="0">
                <a:solidFill>
                  <a:schemeClr val="tx1"/>
                </a:solidFill>
                <a:latin typeface="Times New Roman" pitchFamily="33" charset="0"/>
                <a:ea typeface="+mn-ea"/>
                <a:cs typeface="+mn-cs"/>
              </a:rPr>
              <a:t>Tích hợp một bộ nhớ cache SRAM nhỏ vào một chip DRAM chung</a:t>
            </a:r>
          </a:p>
          <a:p>
            <a:r>
              <a:rPr kumimoji="1" lang="vi-VN" sz="1200" b="1" kern="1200" baseline="0" dirty="0">
                <a:solidFill>
                  <a:schemeClr val="tx1"/>
                </a:solidFill>
                <a:latin typeface="Times New Roman" pitchFamily="33" charset="0"/>
                <a:ea typeface="+mn-ea"/>
                <a:cs typeface="+mn-cs"/>
              </a:rPr>
              <a:t>SRAM trên CDRAM có thể được sử dụng theo hai cách:</a:t>
            </a:r>
          </a:p>
          <a:p>
            <a:r>
              <a:rPr kumimoji="1" lang="vi-VN" sz="1200" b="1" kern="1200" baseline="0" dirty="0">
                <a:solidFill>
                  <a:schemeClr val="tx1"/>
                </a:solidFill>
                <a:latin typeface="Times New Roman" pitchFamily="33" charset="0"/>
                <a:ea typeface="+mn-ea"/>
                <a:cs typeface="+mn-cs"/>
              </a:rPr>
              <a:t>Nó có thể được sử dụng như một bộ nhớ cache thực sự bao gồm một số dòng 64-bit</a:t>
            </a:r>
          </a:p>
          <a:p>
            <a:r>
              <a:rPr kumimoji="1" lang="vi-VN" sz="1200" b="1" kern="1200" baseline="0" dirty="0">
                <a:solidFill>
                  <a:schemeClr val="tx1"/>
                </a:solidFill>
                <a:latin typeface="Times New Roman" pitchFamily="33" charset="0"/>
                <a:ea typeface="+mn-ea"/>
                <a:cs typeface="+mn-cs"/>
              </a:rPr>
              <a:t>Chế độ Cache của CDRAM có hiệu quả để truy cập ngẫu nhiên vào bộ nhớ</a:t>
            </a:r>
          </a:p>
          <a:p>
            <a:r>
              <a:rPr kumimoji="1" lang="vi-VN" sz="1200" b="1" kern="1200" baseline="0" dirty="0">
                <a:solidFill>
                  <a:schemeClr val="tx1"/>
                </a:solidFill>
                <a:latin typeface="Times New Roman" pitchFamily="33" charset="0"/>
                <a:ea typeface="+mn-ea"/>
                <a:cs typeface="+mn-cs"/>
              </a:rPr>
              <a:t>Cũng có thể được sử dụng như một bộ đệm để hỗ trợ truy cập nối tiếp của một khối dữ liệu</a:t>
            </a:r>
            <a:endParaRPr kumimoji="1" lang="en-US" sz="1200" b="1"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Cache DRAM (CDRAM), </a:t>
            </a:r>
            <a:r>
              <a:rPr kumimoji="1" lang="en-US" sz="1200" b="0" kern="1200" baseline="0" dirty="0">
                <a:solidFill>
                  <a:schemeClr val="tx1"/>
                </a:solidFill>
                <a:latin typeface="Times New Roman" pitchFamily="33" charset="0"/>
                <a:ea typeface="+mn-ea"/>
                <a:cs typeface="+mn-cs"/>
              </a:rPr>
              <a:t>developed by Mitsubishi [HIDA90, ZHAN01], integrates</a:t>
            </a:r>
          </a:p>
          <a:p>
            <a:r>
              <a:rPr kumimoji="1" lang="en-US" sz="1200" kern="1200" baseline="0" dirty="0">
                <a:solidFill>
                  <a:schemeClr val="tx1"/>
                </a:solidFill>
                <a:latin typeface="Times New Roman" pitchFamily="33" charset="0"/>
                <a:ea typeface="+mn-ea"/>
                <a:cs typeface="+mn-cs"/>
              </a:rPr>
              <a:t>a small SRAM cache (16 Kb) onto a generic DRAM chip.</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SRAM on the CDRAM can be used in two ways. First, it can be used as a</a:t>
            </a:r>
          </a:p>
          <a:p>
            <a:r>
              <a:rPr kumimoji="1" lang="en-US" sz="1200" kern="1200" baseline="0" dirty="0">
                <a:solidFill>
                  <a:schemeClr val="tx1"/>
                </a:solidFill>
                <a:latin typeface="Times New Roman" pitchFamily="33" charset="0"/>
                <a:ea typeface="+mn-ea"/>
                <a:cs typeface="+mn-cs"/>
              </a:rPr>
              <a:t>true cache, consisting of a number of 64-bit lines. The cache mode of the CDRAM</a:t>
            </a:r>
          </a:p>
          <a:p>
            <a:r>
              <a:rPr kumimoji="1" lang="en-US" sz="1200" kern="1200" baseline="0" dirty="0">
                <a:solidFill>
                  <a:schemeClr val="tx1"/>
                </a:solidFill>
                <a:latin typeface="Times New Roman" pitchFamily="33" charset="0"/>
                <a:ea typeface="+mn-ea"/>
                <a:cs typeface="+mn-cs"/>
              </a:rPr>
              <a:t>is effective for ordinary random access to memory.</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SRAM on the CDRAM can also be used as a buffer to support the serial</a:t>
            </a:r>
          </a:p>
          <a:p>
            <a:r>
              <a:rPr kumimoji="1" lang="en-US" sz="1200" kern="1200" baseline="0" dirty="0">
                <a:solidFill>
                  <a:schemeClr val="tx1"/>
                </a:solidFill>
                <a:latin typeface="Times New Roman" pitchFamily="33" charset="0"/>
                <a:ea typeface="+mn-ea"/>
                <a:cs typeface="+mn-cs"/>
              </a:rPr>
              <a:t>access of a block of data. For example, to refresh a bit-mapped screen, the CDRAM</a:t>
            </a:r>
          </a:p>
          <a:p>
            <a:r>
              <a:rPr kumimoji="1" lang="en-US" sz="1200" kern="1200" baseline="0" dirty="0">
                <a:solidFill>
                  <a:schemeClr val="tx1"/>
                </a:solidFill>
                <a:latin typeface="Times New Roman" pitchFamily="33" charset="0"/>
                <a:ea typeface="+mn-ea"/>
                <a:cs typeface="+mn-cs"/>
              </a:rPr>
              <a:t>can prefetch the data from the DRAM into the SRAM buffer. Subsequent accesses</a:t>
            </a:r>
          </a:p>
          <a:p>
            <a:r>
              <a:rPr kumimoji="1" lang="en-US" sz="1200" kern="1200" baseline="0" dirty="0">
                <a:solidFill>
                  <a:schemeClr val="tx1"/>
                </a:solidFill>
                <a:latin typeface="Times New Roman" pitchFamily="33" charset="0"/>
                <a:ea typeface="+mn-ea"/>
                <a:cs typeface="+mn-cs"/>
              </a:rPr>
              <a:t>to the chip result in accesses solely to the SRAM.</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38</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vi-VN" dirty="0"/>
              <a:t>5.1 Các thuộc tính chính của bộ nhớ bán dẫn là gì?</a:t>
            </a:r>
          </a:p>
          <a:p>
            <a:r>
              <a:rPr lang="vi-VN" dirty="0"/>
              <a:t>5.2 Hai cách diễn đạt của bộ nhớ truy cập ngẫu nhiên là gì?</a:t>
            </a:r>
          </a:p>
          <a:p>
            <a:r>
              <a:rPr lang="vi-VN" dirty="0"/>
              <a:t>  5.3 Khác biệt giữa DRAM và SRAM là gì?</a:t>
            </a:r>
          </a:p>
          <a:p>
            <a:r>
              <a:rPr lang="vi-VN" dirty="0"/>
              <a:t>5.4 Sự khác biệt giữa DRAM và SRAM về các đặc điểm như tốc độ, kích thước và chi phí là gì?</a:t>
            </a:r>
          </a:p>
          <a:p>
            <a:r>
              <a:rPr lang="vi-VN" dirty="0"/>
              <a:t>5.5 Giải thích lý do tại sao một loại RAM được coi là tương tự và kỹ thuật số khác.</a:t>
            </a:r>
          </a:p>
          <a:p>
            <a:r>
              <a:rPr lang="vi-VN" dirty="0"/>
              <a:t>5.6 Một số ứng dụng cho ROM là gì?</a:t>
            </a:r>
          </a:p>
          <a:p>
            <a:r>
              <a:rPr lang="vi-VN" dirty="0"/>
              <a:t>5.7 Sự khác nhau giữa EPROM, EEPROM và bộ nhớ flash là gì?</a:t>
            </a:r>
          </a:p>
          <a:p>
            <a:r>
              <a:rPr lang="vi-VN" dirty="0"/>
              <a:t>5.8 Giải thích chức năng của mỗi chân trong Hình 5.4b. 182 CHƯƠNG 5 / HỆ THỐNG NỘI BỘ</a:t>
            </a:r>
          </a:p>
          <a:p>
            <a:r>
              <a:rPr lang="vi-VN" dirty="0"/>
              <a:t>5.9 Bit chẵn lẻ là gì?</a:t>
            </a:r>
          </a:p>
          <a:p>
            <a:r>
              <a:rPr lang="vi-VN" dirty="0"/>
              <a:t>5.10 Làm thế nào là hội chứng cho mã Hamming giải thích?</a:t>
            </a:r>
          </a:p>
          <a:p>
            <a:r>
              <a:rPr lang="vi-VN" dirty="0"/>
              <a:t>5.11 SDRAM khác với DRAM thông thường như thế nào?</a:t>
            </a:r>
            <a:endParaRPr lang="en-US" dirty="0"/>
          </a:p>
        </p:txBody>
      </p:sp>
      <p:sp>
        <p:nvSpPr>
          <p:cNvPr id="4" name="Slide Number Placeholder 3"/>
          <p:cNvSpPr>
            <a:spLocks noGrp="1"/>
          </p:cNvSpPr>
          <p:nvPr>
            <p:ph type="sldNum" sz="quarter" idx="10"/>
          </p:nvPr>
        </p:nvSpPr>
        <p:spPr/>
        <p:txBody>
          <a:bodyPr/>
          <a:lstStyle/>
          <a:p>
            <a:fld id="{FAF100D4-BB46-6748-84D4-F681254872AC}" type="slidenum">
              <a:rPr lang="en-US" smtClean="0"/>
              <a:pPr/>
              <a:t>39</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5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07/02/2022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07/02/2022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07/02/2022</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a:t>Click icon to add picture</a:t>
            </a:r>
            <a:endParaRPr/>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a:t>Click icon to add picture</a:t>
            </a:r>
            <a:endParaRPr/>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07/02/2022</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07/02/2022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07/02/2022</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07/02/2022</a:t>
            </a:fld>
            <a:endParaRPr/>
          </a:p>
        </p:txBody>
      </p:sp>
      <p:sp>
        <p:nvSpPr>
          <p:cNvPr id="6" name="Footer Placeholder 5"/>
          <p:cNvSpPr>
            <a:spLocks noGrp="1"/>
          </p:cNvSpPr>
          <p:nvPr>
            <p:ph type="ftr" sz="quarter" idx="11"/>
          </p:nvPr>
        </p:nvSpPr>
        <p:spPr/>
        <p:txBody>
          <a:bodyPr/>
          <a:lstStyle/>
          <a:p>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07/02/2022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07/02/2022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07/02/2022</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07/02/2022</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07/02/2022</a:t>
            </a:fld>
            <a:endParaRPr/>
          </a:p>
        </p:txBody>
      </p:sp>
      <p:sp>
        <p:nvSpPr>
          <p:cNvPr id="6" name="Footer Placeholder 5"/>
          <p:cNvSpPr>
            <a:spLocks noGrp="1"/>
          </p:cNvSpPr>
          <p:nvPr>
            <p:ph type="ftr" sz="quarter" idx="11"/>
          </p:nvPr>
        </p:nvSpPr>
        <p:spPr>
          <a:xfrm>
            <a:off x="3859305" y="6423585"/>
            <a:ext cx="3316941" cy="365125"/>
          </a:xfrm>
        </p:spPr>
        <p:txBody>
          <a:bodyPr/>
          <a:lstStyle/>
          <a:p>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07/02/2022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07/02/2022</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07/02/2022</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a:t>Click icon to add picture</a:t>
            </a:r>
            <a:endParaRPr/>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a:t>Click icon to add picture</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07/02/2022</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a:t>Click icon to add picture</a:t>
            </a:r>
            <a:endParaRPr/>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a:t>Click icon to add picture</a:t>
            </a:r>
            <a:endParaRPr/>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a:t>Click icon to add picture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07/02/2022</a:t>
            </a:fld>
            <a:endParaRPr/>
          </a:p>
        </p:txBody>
      </p:sp>
      <p:sp>
        <p:nvSpPr>
          <p:cNvPr id="6" name="Footer Placeholder 5"/>
          <p:cNvSpPr>
            <a:spLocks noGrp="1"/>
          </p:cNvSpPr>
          <p:nvPr>
            <p:ph type="ftr" sz="quarter" idx="11"/>
          </p:nvPr>
        </p:nvSpPr>
        <p:spPr>
          <a:xfrm>
            <a:off x="4191000" y="6423585"/>
            <a:ext cx="3005138" cy="365125"/>
          </a:xfrm>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a:t>Click icon to add picture</a:t>
            </a:r>
            <a:endParaRPr/>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a:t>Click icon to add picture</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07/02/2022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07/02/2022</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07/02/2022</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df"/><Relationship Id="rId2" Type="http://schemas.openxmlformats.org/officeDocument/2006/relationships/notesSlide" Target="../notesSlides/notesSlide27.xml"/><Relationship Id="rId1" Type="http://schemas.openxmlformats.org/officeDocument/2006/relationships/slideLayout" Target="../slideLayouts/slideLayout15.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df"/><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26.wmf"/></Relationships>
</file>

<file path=ppt/slides/_rels/slide35.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a:xfrm>
            <a:off x="142844" y="6443418"/>
            <a:ext cx="8715404" cy="414606"/>
          </a:xfrm>
        </p:spPr>
        <p:txBody>
          <a:bodyPr>
            <a:noAutofit/>
          </a:bodyPr>
          <a:lstStyle/>
          <a:p>
            <a:r>
              <a:rPr lang="en-GB" sz="1800" dirty="0"/>
              <a:t>William Stallings, Computer Organization  and Architecture, 9</a:t>
            </a:r>
            <a:r>
              <a:rPr lang="en-GB" sz="1800" baseline="30000" dirty="0"/>
              <a:t>th</a:t>
            </a:r>
            <a:r>
              <a:rPr lang="en-GB" sz="1800" dirty="0"/>
              <a:t> Edition</a:t>
            </a:r>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
        <p:nvSpPr>
          <p:cNvPr id="5" name="Title 8"/>
          <p:cNvSpPr txBox="1">
            <a:spLocks/>
          </p:cNvSpPr>
          <p:nvPr/>
        </p:nvSpPr>
        <p:spPr>
          <a:xfrm>
            <a:off x="285720" y="5072074"/>
            <a:ext cx="3467096" cy="833718"/>
          </a:xfrm>
          <a:prstGeom prst="rect">
            <a:avLst/>
          </a:prstGeom>
        </p:spPr>
        <p:txBody>
          <a:bodyPr vert="horz" lIns="91440" tIns="45720" rIns="91440" bIns="45720" rtlCol="0" anchor="t" anchorCtr="0">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dirty="0">
                <a:ln>
                  <a:noFill/>
                </a:ln>
                <a:solidFill>
                  <a:schemeClr val="accent1"/>
                </a:solidFill>
                <a:effectLst>
                  <a:outerShdw blurRad="38100" dist="38100" dir="2700000" algn="tl">
                    <a:srgbClr val="000000">
                      <a:alpha val="43137"/>
                    </a:srgbClr>
                  </a:outerShdw>
                </a:effectLst>
                <a:uLnTx/>
                <a:uFillTx/>
                <a:latin typeface="+mj-lt"/>
                <a:ea typeface="+mj-ea"/>
                <a:cs typeface="+mj-cs"/>
              </a:rPr>
              <a:t>Chapter 5</a:t>
            </a:r>
          </a:p>
        </p:txBody>
      </p:sp>
      <p:sp>
        <p:nvSpPr>
          <p:cNvPr id="6" name="Text Placeholder 10"/>
          <p:cNvSpPr txBox="1">
            <a:spLocks/>
          </p:cNvSpPr>
          <p:nvPr/>
        </p:nvSpPr>
        <p:spPr>
          <a:xfrm>
            <a:off x="3857620" y="5214950"/>
            <a:ext cx="5124455" cy="838200"/>
          </a:xfrm>
          <a:prstGeom prst="rect">
            <a:avLst/>
          </a:prstGeom>
        </p:spPr>
        <p:txBody>
          <a:bodyPr>
            <a:normAutofit/>
          </a:bodyPr>
          <a:lstStyle/>
          <a:p>
            <a:pPr marL="228600" marR="0" lvl="0" indent="-228600" algn="l" defTabSz="914400" rtl="0" eaLnBrk="1" fontAlgn="auto" latinLnBrk="0" hangingPunct="1">
              <a:lnSpc>
                <a:spcPct val="100000"/>
              </a:lnSpc>
              <a:spcBef>
                <a:spcPts val="2000"/>
              </a:spcBef>
              <a:spcAft>
                <a:spcPts val="0"/>
              </a:spcAft>
              <a:buClr>
                <a:schemeClr val="accent1"/>
              </a:buClr>
              <a:buSzPct val="75000"/>
              <a:buFont typeface="Wingdings" pitchFamily="2" charset="2"/>
              <a:buChar char="n"/>
              <a:tabLst/>
              <a:defRPr/>
            </a:pPr>
            <a:r>
              <a:rPr kumimoji="0" lang="en-US" sz="4400" b="0" i="0" u="none" strike="noStrike" kern="1200" cap="none" spc="0" normalizeH="0" baseline="0" noProof="0" dirty="0">
                <a:ln>
                  <a:noFill/>
                </a:ln>
                <a:solidFill>
                  <a:srgbClr val="002060"/>
                </a:solidFill>
                <a:effectLst/>
                <a:uLnTx/>
                <a:uFillTx/>
                <a:latin typeface="+mn-lt"/>
                <a:ea typeface="+mn-ea"/>
                <a:cs typeface="+mn-cs"/>
              </a:rPr>
              <a:t>Internal Memory</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Objectives</a:t>
            </a:r>
          </a:p>
        </p:txBody>
      </p:sp>
      <p:sp>
        <p:nvSpPr>
          <p:cNvPr id="3" name="Content Placeholder 2"/>
          <p:cNvSpPr>
            <a:spLocks noGrp="1"/>
          </p:cNvSpPr>
          <p:nvPr>
            <p:ph idx="1"/>
          </p:nvPr>
        </p:nvSpPr>
        <p:spPr>
          <a:xfrm>
            <a:off x="498474" y="1731969"/>
            <a:ext cx="8145492" cy="4840303"/>
          </a:xfrm>
        </p:spPr>
        <p:txBody>
          <a:bodyPr>
            <a:normAutofit fontScale="85000" lnSpcReduction="20000"/>
          </a:bodyPr>
          <a:lstStyle/>
          <a:p>
            <a:r>
              <a:rPr lang="en-US" sz="3200" dirty="0">
                <a:solidFill>
                  <a:srgbClr val="002060"/>
                </a:solidFill>
              </a:rPr>
              <a:t>How are main memory structured?</a:t>
            </a:r>
          </a:p>
          <a:p>
            <a:r>
              <a:rPr lang="en-US" sz="3200" dirty="0">
                <a:solidFill>
                  <a:srgbClr val="002060"/>
                </a:solidFill>
              </a:rPr>
              <a:t>Whether main memory may cause errors?</a:t>
            </a:r>
          </a:p>
          <a:p>
            <a:r>
              <a:rPr lang="en-US" sz="3200" dirty="0">
                <a:solidFill>
                  <a:srgbClr val="002060"/>
                </a:solidFill>
              </a:rPr>
              <a:t>How many types of memory? </a:t>
            </a:r>
          </a:p>
          <a:p>
            <a:r>
              <a:rPr lang="en-US" sz="3200" dirty="0">
                <a:solidFill>
                  <a:srgbClr val="002060"/>
                </a:solidFill>
              </a:rPr>
              <a:t>After studying this chapter, you should be able to: </a:t>
            </a:r>
          </a:p>
          <a:p>
            <a:pPr lvl="1"/>
            <a:r>
              <a:rPr lang="en-US" sz="3000" dirty="0">
                <a:solidFill>
                  <a:srgbClr val="002060"/>
                </a:solidFill>
              </a:rPr>
              <a:t>Present an overview of the principle types of semiconductor main memory. </a:t>
            </a:r>
          </a:p>
          <a:p>
            <a:pPr lvl="1"/>
            <a:r>
              <a:rPr lang="en-US" sz="3000" dirty="0">
                <a:solidFill>
                  <a:srgbClr val="002060"/>
                </a:solidFill>
              </a:rPr>
              <a:t>Understand the operation of a basic code that can detect and correct </a:t>
            </a:r>
            <a:r>
              <a:rPr lang="en-US" sz="3000" dirty="0" err="1">
                <a:solidFill>
                  <a:srgbClr val="002060"/>
                </a:solidFill>
              </a:rPr>
              <a:t>singlebit</a:t>
            </a:r>
            <a:r>
              <a:rPr lang="en-US" sz="3000" dirty="0">
                <a:solidFill>
                  <a:srgbClr val="002060"/>
                </a:solidFill>
              </a:rPr>
              <a:t> errors in 8-bit words. </a:t>
            </a:r>
          </a:p>
          <a:p>
            <a:pPr lvl="1"/>
            <a:r>
              <a:rPr lang="en-US" sz="3000" dirty="0">
                <a:solidFill>
                  <a:srgbClr val="002060"/>
                </a:solidFill>
              </a:rPr>
              <a:t>Summarize the properties of contemporary advanced DRAM organizations.</a:t>
            </a:r>
          </a:p>
          <a:p>
            <a:endParaRPr lang="en-US" sz="3200" dirty="0">
              <a:solidFill>
                <a:srgbClr val="002060"/>
              </a:solidFill>
            </a:endParaRPr>
          </a:p>
          <a:p>
            <a:endParaRPr lang="en-US" sz="3200" dirty="0">
              <a:solidFill>
                <a:srgbClr val="002060"/>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a:t>Contents</a:t>
            </a:r>
            <a:endParaRPr lang="en-US" sz="4000" b="1" dirty="0"/>
          </a:p>
        </p:txBody>
      </p:sp>
      <p:sp>
        <p:nvSpPr>
          <p:cNvPr id="3" name="Content Placeholder 2"/>
          <p:cNvSpPr>
            <a:spLocks noGrp="1"/>
          </p:cNvSpPr>
          <p:nvPr>
            <p:ph idx="1"/>
          </p:nvPr>
        </p:nvSpPr>
        <p:spPr/>
        <p:txBody>
          <a:bodyPr>
            <a:normAutofit/>
          </a:bodyPr>
          <a:lstStyle/>
          <a:p>
            <a:r>
              <a:rPr lang="en-US" sz="2800" dirty="0">
                <a:solidFill>
                  <a:srgbClr val="002060"/>
                </a:solidFill>
              </a:rPr>
              <a:t>5.1 Semiconductor Main Memory</a:t>
            </a:r>
          </a:p>
          <a:p>
            <a:r>
              <a:rPr lang="en-US" sz="2800" dirty="0">
                <a:solidFill>
                  <a:srgbClr val="002060"/>
                </a:solidFill>
              </a:rPr>
              <a:t>5.2 Error Correction</a:t>
            </a:r>
          </a:p>
          <a:p>
            <a:r>
              <a:rPr lang="en-US" sz="2800" dirty="0">
                <a:solidFill>
                  <a:srgbClr val="002060"/>
                </a:solidFill>
              </a:rPr>
              <a:t>5.3 Advanced Dram Organization </a:t>
            </a:r>
          </a:p>
        </p:txBody>
      </p:sp>
      <p:sp>
        <p:nvSpPr>
          <p:cNvPr id="4" name="Rectangle 3"/>
          <p:cNvSpPr/>
          <p:nvPr/>
        </p:nvSpPr>
        <p:spPr>
          <a:xfrm>
            <a:off x="500034" y="4714884"/>
            <a:ext cx="8286808" cy="1569660"/>
          </a:xfrm>
          <a:prstGeom prst="rect">
            <a:avLst/>
          </a:prstGeom>
        </p:spPr>
        <p:txBody>
          <a:bodyPr wrap="square">
            <a:spAutoFit/>
          </a:bodyPr>
          <a:lstStyle/>
          <a:p>
            <a:r>
              <a:rPr lang="en-US" b="1" dirty="0"/>
              <a:t>Semiconductor- </a:t>
            </a:r>
            <a:r>
              <a:rPr lang="vi-VN" b="1" dirty="0"/>
              <a:t>Chất bán dẫn</a:t>
            </a:r>
            <a:r>
              <a:rPr lang="vi-VN" dirty="0"/>
              <a:t> </a:t>
            </a:r>
            <a:r>
              <a:rPr lang="en-US" dirty="0"/>
              <a:t> (</a:t>
            </a:r>
            <a:r>
              <a:rPr lang="en-US" dirty="0" err="1"/>
              <a:t>silic</a:t>
            </a:r>
            <a:r>
              <a:rPr lang="en-US" dirty="0"/>
              <a:t>, germanium) </a:t>
            </a:r>
            <a:r>
              <a:rPr lang="vi-VN" dirty="0"/>
              <a:t>là vật liệu trung gian giữa chất dẫn điện và chất cách điện. Chất bán dẫn </a:t>
            </a:r>
            <a:r>
              <a:rPr lang="en-US" dirty="0"/>
              <a:t>chỉ </a:t>
            </a:r>
            <a:r>
              <a:rPr lang="vi-VN" dirty="0"/>
              <a:t>hoạt động như một chất </a:t>
            </a:r>
            <a:r>
              <a:rPr lang="en-US" dirty="0"/>
              <a:t>dẫn điện ở một điều kiện nào đó</a:t>
            </a:r>
            <a:r>
              <a:rPr lang="vi-VN" dirty="0"/>
              <a:t>.</a:t>
            </a:r>
            <a:r>
              <a:rPr lang="en-US" dirty="0"/>
              <a:t> Chất bán dẫn được dùng để tạo ra các transistor (transfer-resistor).</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65" y="484094"/>
            <a:ext cx="8054787" cy="801766"/>
          </a:xfrm>
        </p:spPr>
        <p:txBody>
          <a:bodyPr/>
          <a:lstStyle/>
          <a:p>
            <a:r>
              <a:rPr lang="en-US" b="1" dirty="0"/>
              <a:t>5.1- Semiconductor Main Memory</a:t>
            </a:r>
          </a:p>
        </p:txBody>
      </p:sp>
      <p:sp>
        <p:nvSpPr>
          <p:cNvPr id="3" name="Content Placeholder 2"/>
          <p:cNvSpPr>
            <a:spLocks noGrp="1"/>
          </p:cNvSpPr>
          <p:nvPr>
            <p:ph idx="1"/>
          </p:nvPr>
        </p:nvSpPr>
        <p:spPr/>
        <p:txBody>
          <a:bodyPr>
            <a:normAutofit fontScale="77500" lnSpcReduction="20000"/>
          </a:bodyPr>
          <a:lstStyle/>
          <a:p>
            <a:r>
              <a:rPr lang="en-US" sz="2800" dirty="0">
                <a:solidFill>
                  <a:srgbClr val="002060"/>
                </a:solidFill>
              </a:rPr>
              <a:t>Organization</a:t>
            </a:r>
          </a:p>
          <a:p>
            <a:r>
              <a:rPr lang="en-US" sz="2800" dirty="0">
                <a:solidFill>
                  <a:srgbClr val="002060"/>
                </a:solidFill>
              </a:rPr>
              <a:t>Semiconductor Memory Types</a:t>
            </a:r>
          </a:p>
          <a:p>
            <a:r>
              <a:rPr lang="en-US" sz="2800" dirty="0">
                <a:solidFill>
                  <a:srgbClr val="002060"/>
                </a:solidFill>
              </a:rPr>
              <a:t>Dynamic RAM and Static RAM</a:t>
            </a:r>
          </a:p>
          <a:p>
            <a:r>
              <a:rPr lang="en-US" sz="2800" dirty="0">
                <a:solidFill>
                  <a:srgbClr val="002060"/>
                </a:solidFill>
              </a:rPr>
              <a:t>Types of ROM</a:t>
            </a:r>
          </a:p>
          <a:p>
            <a:r>
              <a:rPr lang="en-US" sz="2800" dirty="0">
                <a:solidFill>
                  <a:srgbClr val="002060"/>
                </a:solidFill>
              </a:rPr>
              <a:t>Chip Logic</a:t>
            </a:r>
          </a:p>
          <a:p>
            <a:r>
              <a:rPr lang="en-US" sz="2800" dirty="0">
                <a:solidFill>
                  <a:srgbClr val="002060"/>
                </a:solidFill>
              </a:rPr>
              <a:t>Chip Packaging</a:t>
            </a:r>
          </a:p>
          <a:p>
            <a:r>
              <a:rPr lang="en-US" sz="2800" dirty="0">
                <a:solidFill>
                  <a:srgbClr val="002060"/>
                </a:solidFill>
              </a:rPr>
              <a:t>Module Organization</a:t>
            </a:r>
          </a:p>
          <a:p>
            <a:r>
              <a:rPr lang="en-US" sz="2800" dirty="0">
                <a:solidFill>
                  <a:srgbClr val="002060"/>
                </a:solidFill>
              </a:rPr>
              <a:t>Interleaved Memory</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865" y="484094"/>
            <a:ext cx="8054787" cy="801766"/>
          </a:xfrm>
        </p:spPr>
        <p:txBody>
          <a:bodyPr/>
          <a:lstStyle/>
          <a:p>
            <a:r>
              <a:rPr lang="en-US" b="1" dirty="0"/>
              <a:t>Organization</a:t>
            </a:r>
          </a:p>
        </p:txBody>
      </p:sp>
      <p:sp>
        <p:nvSpPr>
          <p:cNvPr id="3" name="Content Placeholder 2"/>
          <p:cNvSpPr>
            <a:spLocks noGrp="1"/>
          </p:cNvSpPr>
          <p:nvPr>
            <p:ph idx="1"/>
          </p:nvPr>
        </p:nvSpPr>
        <p:spPr>
          <a:xfrm>
            <a:off x="428596" y="2624142"/>
            <a:ext cx="8288367" cy="4019568"/>
          </a:xfrm>
        </p:spPr>
        <p:txBody>
          <a:bodyPr>
            <a:normAutofit lnSpcReduction="10000"/>
          </a:bodyPr>
          <a:lstStyle/>
          <a:p>
            <a:r>
              <a:rPr lang="en-US" sz="2800" dirty="0">
                <a:solidFill>
                  <a:srgbClr val="002060"/>
                </a:solidFill>
              </a:rPr>
              <a:t> Basic element of a semiconductor memory is the memory cell.</a:t>
            </a:r>
          </a:p>
          <a:p>
            <a:r>
              <a:rPr lang="en-US" sz="2800" dirty="0">
                <a:solidFill>
                  <a:srgbClr val="002060"/>
                </a:solidFill>
              </a:rPr>
              <a:t>Cell properties:</a:t>
            </a:r>
          </a:p>
          <a:p>
            <a:pPr lvl="1"/>
            <a:r>
              <a:rPr lang="en-US" sz="2600" dirty="0">
                <a:solidFill>
                  <a:srgbClr val="002060"/>
                </a:solidFill>
              </a:rPr>
              <a:t>1-They exhibit two stable (or semistable) states, which can be used to represent binary 1 and 0. </a:t>
            </a:r>
          </a:p>
          <a:p>
            <a:pPr lvl="1"/>
            <a:r>
              <a:rPr lang="en-US" sz="2600" dirty="0">
                <a:solidFill>
                  <a:srgbClr val="002060"/>
                </a:solidFill>
              </a:rPr>
              <a:t>2- They are capable of being written into (at least once), to set the state. </a:t>
            </a:r>
          </a:p>
          <a:p>
            <a:pPr lvl="1"/>
            <a:r>
              <a:rPr lang="en-US" sz="2600" dirty="0">
                <a:solidFill>
                  <a:srgbClr val="002060"/>
                </a:solidFill>
              </a:rPr>
              <a:t>3- They are capable of being read to sense the state</a:t>
            </a:r>
          </a:p>
        </p:txBody>
      </p:sp>
      <p:pic>
        <p:nvPicPr>
          <p:cNvPr id="1026" name="Picture 2"/>
          <p:cNvPicPr>
            <a:picLocks noChangeAspect="1" noChangeArrowheads="1"/>
          </p:cNvPicPr>
          <p:nvPr/>
        </p:nvPicPr>
        <p:blipFill>
          <a:blip r:embed="rId3"/>
          <a:srcRect/>
          <a:stretch>
            <a:fillRect/>
          </a:stretch>
        </p:blipFill>
        <p:spPr bwMode="auto">
          <a:xfrm>
            <a:off x="3643306" y="642918"/>
            <a:ext cx="4562475" cy="1866900"/>
          </a:xfrm>
          <a:prstGeom prst="rect">
            <a:avLst/>
          </a:prstGeom>
          <a:noFill/>
          <a:ln w="9525">
            <a:noFill/>
            <a:miter lim="800000"/>
            <a:headEnd/>
            <a:tailEnd/>
          </a:ln>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idx="4294967295"/>
          </p:nvPr>
        </p:nvSpPr>
        <p:spPr>
          <a:xfrm>
            <a:off x="304800" y="457200"/>
            <a:ext cx="7556500" cy="1116012"/>
          </a:xfrm>
        </p:spPr>
        <p:txBody>
          <a:bodyPr/>
          <a:lstStyle/>
          <a:p>
            <a:r>
              <a:rPr lang="en-GB" dirty="0">
                <a:effectLst>
                  <a:outerShdw blurRad="38100" dist="38100" dir="2700000" algn="tl">
                    <a:srgbClr val="000000">
                      <a:alpha val="43137"/>
                    </a:srgbClr>
                  </a:outerShdw>
                </a:effectLst>
              </a:rPr>
              <a:t>Semiconductor Memory Types</a:t>
            </a:r>
          </a:p>
        </p:txBody>
      </p:sp>
      <p:sp>
        <p:nvSpPr>
          <p:cNvPr id="161797" name="Rectangle 5"/>
          <p:cNvSpPr>
            <a:spLocks noChangeArrowheads="1"/>
          </p:cNvSpPr>
          <p:nvPr/>
        </p:nvSpPr>
        <p:spPr bwMode="auto">
          <a:xfrm>
            <a:off x="1531938" y="1373188"/>
            <a:ext cx="4557712" cy="0"/>
          </a:xfrm>
          <a:prstGeom prst="rect">
            <a:avLst/>
          </a:prstGeom>
          <a:solidFill>
            <a:srgbClr val="CCFFCC"/>
          </a:solidFill>
          <a:ln w="9525">
            <a:noFill/>
            <a:miter lim="800000"/>
            <a:headEnd/>
            <a:tailEnd/>
          </a:ln>
          <a:effectLst/>
        </p:spPr>
        <p:txBody>
          <a:bodyPr wrap="none" lIns="90000" tIns="46800" rIns="90000" bIns="46800" anchor="ctr">
            <a:prstTxWarp prst="textNoShape">
              <a:avLst/>
            </a:prstTxWarp>
            <a:spAutoFit/>
          </a:bodyPr>
          <a:lstStyle/>
          <a:p>
            <a:endParaRPr lang="en-US" dirty="0"/>
          </a:p>
        </p:txBody>
      </p:sp>
      <p:pic>
        <p:nvPicPr>
          <p:cNvPr id="2050" name="Picture 2"/>
          <p:cNvPicPr>
            <a:picLocks noChangeAspect="1" noChangeArrowheads="1"/>
          </p:cNvPicPr>
          <p:nvPr/>
        </p:nvPicPr>
        <p:blipFill>
          <a:blip r:embed="rId3"/>
          <a:srcRect/>
          <a:stretch>
            <a:fillRect/>
          </a:stretch>
        </p:blipFill>
        <p:spPr bwMode="auto">
          <a:xfrm>
            <a:off x="614363" y="1557338"/>
            <a:ext cx="7915275" cy="3743325"/>
          </a:xfrm>
          <a:prstGeom prst="rect">
            <a:avLst/>
          </a:prstGeom>
          <a:noFill/>
          <a:ln w="9525">
            <a:noFill/>
            <a:miter lim="800000"/>
            <a:headEnd/>
            <a:tailEnd/>
          </a:ln>
          <a:effectLst/>
        </p:spPr>
      </p:pic>
      <p:sp>
        <p:nvSpPr>
          <p:cNvPr id="7" name="Rectangle 6"/>
          <p:cNvSpPr/>
          <p:nvPr/>
        </p:nvSpPr>
        <p:spPr>
          <a:xfrm>
            <a:off x="428596" y="5429264"/>
            <a:ext cx="8358246" cy="1200329"/>
          </a:xfrm>
          <a:prstGeom prst="rect">
            <a:avLst/>
          </a:prstGeom>
        </p:spPr>
        <p:txBody>
          <a:bodyPr wrap="square">
            <a:spAutoFit/>
          </a:bodyPr>
          <a:lstStyle/>
          <a:p>
            <a:r>
              <a:rPr kumimoji="1" lang="en-US" dirty="0"/>
              <a:t>All of the memory types that we will explore in this chapter are random access. That is, individual words of memory are directly accessed through wired-in addressing logic.</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xfrm>
            <a:off x="609600" y="533400"/>
            <a:ext cx="7556313" cy="1116106"/>
          </a:xfrm>
        </p:spPr>
        <p:txBody>
          <a:bodyPr/>
          <a:lstStyle/>
          <a:p>
            <a:r>
              <a:rPr lang="en-GB" dirty="0">
                <a:effectLst>
                  <a:outerShdw blurRad="38100" dist="38100" dir="2700000" algn="tl">
                    <a:srgbClr val="000000">
                      <a:alpha val="43137"/>
                    </a:srgbClr>
                  </a:outerShdw>
                </a:effectLst>
              </a:rPr>
              <a:t>Dynamic RAM (DRAM)</a:t>
            </a:r>
          </a:p>
        </p:txBody>
      </p:sp>
      <p:sp>
        <p:nvSpPr>
          <p:cNvPr id="21509" name="Rectangle 5"/>
          <p:cNvSpPr>
            <a:spLocks noGrp="1" noChangeArrowheads="1"/>
          </p:cNvSpPr>
          <p:nvPr>
            <p:ph idx="1"/>
          </p:nvPr>
        </p:nvSpPr>
        <p:spPr>
          <a:xfrm>
            <a:off x="357158" y="2071678"/>
            <a:ext cx="8286808" cy="4572032"/>
          </a:xfrm>
        </p:spPr>
        <p:txBody>
          <a:bodyPr>
            <a:noAutofit/>
          </a:bodyPr>
          <a:lstStyle/>
          <a:p>
            <a:r>
              <a:rPr lang="en-GB" dirty="0">
                <a:solidFill>
                  <a:srgbClr val="002060"/>
                </a:solidFill>
              </a:rPr>
              <a:t>RAM technology is divided into two technologies:</a:t>
            </a:r>
          </a:p>
          <a:p>
            <a:pPr lvl="1"/>
            <a:r>
              <a:rPr lang="en-GB" dirty="0">
                <a:solidFill>
                  <a:srgbClr val="002060"/>
                </a:solidFill>
              </a:rPr>
              <a:t>Dynamic RAM (DRAM)</a:t>
            </a:r>
          </a:p>
          <a:p>
            <a:pPr lvl="1"/>
            <a:r>
              <a:rPr lang="en-GB" dirty="0">
                <a:solidFill>
                  <a:srgbClr val="002060"/>
                </a:solidFill>
              </a:rPr>
              <a:t>Static RAM (SRAM)</a:t>
            </a:r>
          </a:p>
          <a:p>
            <a:pPr marL="228600" lvl="1">
              <a:spcBef>
                <a:spcPts val="2000"/>
              </a:spcBef>
              <a:buClr>
                <a:schemeClr val="accent1"/>
              </a:buClr>
            </a:pPr>
            <a:r>
              <a:rPr lang="en-GB" sz="2000" dirty="0">
                <a:solidFill>
                  <a:srgbClr val="002060"/>
                </a:solidFill>
              </a:rPr>
              <a:t>DRAM</a:t>
            </a:r>
          </a:p>
          <a:p>
            <a:pPr marL="457200" lvl="2">
              <a:spcBef>
                <a:spcPts val="2000"/>
              </a:spcBef>
            </a:pPr>
            <a:r>
              <a:rPr lang="en-GB" sz="2000" dirty="0">
                <a:solidFill>
                  <a:srgbClr val="002060"/>
                </a:solidFill>
              </a:rPr>
              <a:t>Made with cells that store data as charge on capacitors (tụ điện)</a:t>
            </a:r>
          </a:p>
          <a:p>
            <a:pPr marL="457200" lvl="2">
              <a:spcBef>
                <a:spcPts val="2000"/>
              </a:spcBef>
            </a:pPr>
            <a:r>
              <a:rPr lang="en-GB" sz="2000" dirty="0">
                <a:solidFill>
                  <a:srgbClr val="002060"/>
                </a:solidFill>
              </a:rPr>
              <a:t>Presence or absence of charge in a capacitor is interpreted as a binary 1 or 0</a:t>
            </a:r>
          </a:p>
          <a:p>
            <a:pPr marL="457200" lvl="2">
              <a:spcBef>
                <a:spcPts val="2000"/>
              </a:spcBef>
            </a:pPr>
            <a:r>
              <a:rPr lang="en-GB" sz="2000" dirty="0">
                <a:solidFill>
                  <a:srgbClr val="002060"/>
                </a:solidFill>
              </a:rPr>
              <a:t>Requires periodic charge refreshing to maintain data storage</a:t>
            </a:r>
          </a:p>
          <a:p>
            <a:pPr marL="457200" lvl="2">
              <a:spcBef>
                <a:spcPts val="2000"/>
              </a:spcBef>
            </a:pPr>
            <a:r>
              <a:rPr lang="en-GB" sz="2000" dirty="0">
                <a:solidFill>
                  <a:srgbClr val="002060"/>
                </a:solidFill>
              </a:rPr>
              <a:t>The term </a:t>
            </a:r>
            <a:r>
              <a:rPr lang="en-GB" sz="2000" i="1" u="sng" dirty="0">
                <a:solidFill>
                  <a:srgbClr val="002060"/>
                </a:solidFill>
              </a:rPr>
              <a:t>dynamic</a:t>
            </a:r>
            <a:r>
              <a:rPr lang="en-GB" sz="2000" i="1" dirty="0">
                <a:solidFill>
                  <a:srgbClr val="002060"/>
                </a:solidFill>
              </a:rPr>
              <a:t> </a:t>
            </a:r>
            <a:r>
              <a:rPr lang="en-GB" sz="2000" dirty="0">
                <a:solidFill>
                  <a:srgbClr val="002060"/>
                </a:solidFill>
              </a:rPr>
              <a:t>refers to tendency of the stored charge to leak away, even with power continuously applied</a:t>
            </a:r>
          </a:p>
        </p:txBody>
      </p:sp>
      <p:pic>
        <p:nvPicPr>
          <p:cNvPr id="3074" name="Picture 2"/>
          <p:cNvPicPr>
            <a:picLocks noChangeAspect="1" noChangeArrowheads="1"/>
          </p:cNvPicPr>
          <p:nvPr/>
        </p:nvPicPr>
        <p:blipFill>
          <a:blip r:embed="rId3"/>
          <a:srcRect/>
          <a:stretch>
            <a:fillRect/>
          </a:stretch>
        </p:blipFill>
        <p:spPr bwMode="auto">
          <a:xfrm>
            <a:off x="5643570" y="214290"/>
            <a:ext cx="2276475" cy="1847850"/>
          </a:xfrm>
          <a:prstGeom prst="rect">
            <a:avLst/>
          </a:prstGeom>
          <a:noFill/>
          <a:ln w="9525">
            <a:noFill/>
            <a:miter lim="800000"/>
            <a:headEnd/>
            <a:tailEnd/>
          </a:ln>
          <a:effectLst/>
        </p:spPr>
      </p:pic>
      <p:sp>
        <p:nvSpPr>
          <p:cNvPr id="5" name="Rectangle 4"/>
          <p:cNvSpPr/>
          <p:nvPr/>
        </p:nvSpPr>
        <p:spPr>
          <a:xfrm>
            <a:off x="3357554" y="2928934"/>
            <a:ext cx="5357850" cy="5715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How Dram cell works? Read by yourself.</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4"/>
          <p:cNvSpPr>
            <a:spLocks noGrp="1" noChangeArrowheads="1"/>
          </p:cNvSpPr>
          <p:nvPr>
            <p:ph type="title"/>
          </p:nvPr>
        </p:nvSpPr>
        <p:spPr>
          <a:xfrm>
            <a:off x="381000" y="500042"/>
            <a:ext cx="4016633" cy="1357322"/>
          </a:xfrm>
        </p:spPr>
        <p:txBody>
          <a:bodyPr>
            <a:noAutofit/>
          </a:bodyPr>
          <a:lstStyle/>
          <a:p>
            <a:pPr algn="ctr"/>
            <a:r>
              <a:rPr lang="en-GB" sz="4400" dirty="0">
                <a:effectLst>
                  <a:outerShdw blurRad="38100" dist="38100" dir="2700000" algn="tl">
                    <a:srgbClr val="000000">
                      <a:alpha val="43137"/>
                    </a:srgbClr>
                  </a:outerShdw>
                </a:effectLst>
              </a:rPr>
              <a:t>Static RAM (SRAM)</a:t>
            </a:r>
          </a:p>
        </p:txBody>
      </p:sp>
      <p:sp>
        <p:nvSpPr>
          <p:cNvPr id="21509" name="Rectangle 5"/>
          <p:cNvSpPr>
            <a:spLocks noGrp="1" noChangeArrowheads="1"/>
          </p:cNvSpPr>
          <p:nvPr>
            <p:ph type="body" sz="half" idx="2"/>
          </p:nvPr>
        </p:nvSpPr>
        <p:spPr>
          <a:xfrm>
            <a:off x="285720" y="2143116"/>
            <a:ext cx="4015304" cy="3535363"/>
          </a:xfrm>
        </p:spPr>
        <p:txBody>
          <a:bodyPr>
            <a:normAutofit/>
          </a:bodyPr>
          <a:lstStyle/>
          <a:p>
            <a:pPr marL="228600" lvl="1" indent="-182880">
              <a:spcBef>
                <a:spcPts val="2000"/>
              </a:spcBef>
              <a:buClr>
                <a:schemeClr val="bg2"/>
              </a:buClr>
              <a:buFont typeface="Wingdings" charset="2"/>
              <a:buChar char="§"/>
            </a:pPr>
            <a:r>
              <a:rPr lang="en-GB" sz="1800" dirty="0">
                <a:solidFill>
                  <a:schemeClr val="bg1"/>
                </a:solidFill>
              </a:rPr>
              <a:t>Digital device that uses the same logic elements used in the processor</a:t>
            </a:r>
          </a:p>
          <a:p>
            <a:pPr marL="228600" lvl="1" indent="-182880">
              <a:spcBef>
                <a:spcPts val="2000"/>
              </a:spcBef>
              <a:buClr>
                <a:schemeClr val="bg2"/>
              </a:buClr>
              <a:buFont typeface="Wingdings" charset="2"/>
              <a:buChar char="§"/>
            </a:pPr>
            <a:r>
              <a:rPr lang="en-GB" sz="1800" dirty="0">
                <a:solidFill>
                  <a:schemeClr val="bg1"/>
                </a:solidFill>
              </a:rPr>
              <a:t>Binary values are stored using traditional flip-flop logic gate configurations</a:t>
            </a:r>
          </a:p>
          <a:p>
            <a:pPr marL="228600" lvl="1" indent="-182880">
              <a:spcBef>
                <a:spcPts val="2000"/>
              </a:spcBef>
              <a:buClr>
                <a:schemeClr val="bg2"/>
              </a:buClr>
              <a:buFont typeface="Wingdings" charset="2"/>
              <a:buChar char="§"/>
            </a:pPr>
            <a:r>
              <a:rPr lang="en-GB" sz="1800" dirty="0">
                <a:solidFill>
                  <a:schemeClr val="bg1"/>
                </a:solidFill>
              </a:rPr>
              <a:t>Will hold its data as long as power is supplied to it</a:t>
            </a:r>
          </a:p>
          <a:p>
            <a:pPr marL="228600" lvl="1">
              <a:spcBef>
                <a:spcPts val="2000"/>
              </a:spcBef>
              <a:buClr>
                <a:schemeClr val="accent1"/>
              </a:buClr>
            </a:pPr>
            <a:endParaRPr lang="en-GB" sz="2000" dirty="0"/>
          </a:p>
        </p:txBody>
      </p:sp>
      <p:pic>
        <p:nvPicPr>
          <p:cNvPr id="4" name="Picture 3"/>
          <p:cNvPicPr>
            <a:picLocks noChangeAspect="1"/>
          </p:cNvPicPr>
          <p:nvPr/>
        </p:nvPicPr>
        <p:blipFill>
          <a:blip r:embed="rId3"/>
          <a:stretch>
            <a:fillRect/>
          </a:stretch>
        </p:blipFill>
        <p:spPr>
          <a:xfrm>
            <a:off x="1048183" y="5072074"/>
            <a:ext cx="2409966" cy="1670908"/>
          </a:xfrm>
          <a:prstGeom prst="rect">
            <a:avLst/>
          </a:prstGeom>
          <a:effectLst>
            <a:softEdge rad="203200"/>
          </a:effectLst>
        </p:spPr>
      </p:pic>
      <p:pic>
        <p:nvPicPr>
          <p:cNvPr id="5122" name="Picture 2"/>
          <p:cNvPicPr>
            <a:picLocks noChangeAspect="1" noChangeArrowheads="1"/>
          </p:cNvPicPr>
          <p:nvPr/>
        </p:nvPicPr>
        <p:blipFill>
          <a:blip r:embed="rId4"/>
          <a:srcRect/>
          <a:stretch>
            <a:fillRect/>
          </a:stretch>
        </p:blipFill>
        <p:spPr bwMode="auto">
          <a:xfrm>
            <a:off x="4357686" y="681986"/>
            <a:ext cx="4781604" cy="5247344"/>
          </a:xfrm>
          <a:prstGeom prst="rect">
            <a:avLst/>
          </a:prstGeom>
          <a:noFill/>
          <a:ln w="9525">
            <a:noFill/>
            <a:miter lim="800000"/>
            <a:headEnd/>
            <a:tailEnd/>
          </a:ln>
          <a:effectLst/>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838200" y="304800"/>
            <a:ext cx="5886357" cy="833718"/>
          </a:xfrm>
        </p:spPr>
        <p:txBody>
          <a:bodyPr>
            <a:normAutofit/>
          </a:bodyPr>
          <a:lstStyle/>
          <a:p>
            <a:r>
              <a:rPr lang="en-GB" sz="4000" dirty="0">
                <a:effectLst>
                  <a:outerShdw blurRad="38100" dist="38100" dir="2700000" algn="tl">
                    <a:srgbClr val="000000">
                      <a:alpha val="43137"/>
                    </a:srgbClr>
                  </a:outerShdw>
                </a:effectLst>
              </a:rPr>
              <a:t>SRAM </a:t>
            </a:r>
            <a:r>
              <a:rPr lang="en-GB" sz="4000" dirty="0">
                <a:solidFill>
                  <a:schemeClr val="accent3"/>
                </a:solidFill>
                <a:effectLst>
                  <a:outerShdw blurRad="38100" dist="38100" dir="2700000" algn="tl">
                    <a:srgbClr val="000000">
                      <a:alpha val="43137"/>
                    </a:srgbClr>
                  </a:outerShdw>
                </a:effectLst>
              </a:rPr>
              <a:t>versus </a:t>
            </a:r>
            <a:r>
              <a:rPr lang="en-GB" sz="4000" dirty="0">
                <a:effectLst>
                  <a:outerShdw blurRad="38100" dist="38100" dir="2700000" algn="tl">
                    <a:srgbClr val="000000">
                      <a:alpha val="43137"/>
                    </a:srgbClr>
                  </a:outerShdw>
                </a:effectLst>
              </a:rPr>
              <a:t>DRAM</a:t>
            </a:r>
          </a:p>
        </p:txBody>
      </p:sp>
      <p:sp>
        <p:nvSpPr>
          <p:cNvPr id="158723" name="Rectangle 3"/>
          <p:cNvSpPr>
            <a:spLocks noGrp="1" noChangeArrowheads="1"/>
          </p:cNvSpPr>
          <p:nvPr>
            <p:ph type="body" sz="half" idx="2"/>
          </p:nvPr>
        </p:nvSpPr>
        <p:spPr>
          <a:xfrm>
            <a:off x="71406" y="1447800"/>
            <a:ext cx="6858048" cy="5124472"/>
          </a:xfrm>
        </p:spPr>
        <p:txBody>
          <a:bodyPr>
            <a:noAutofit/>
          </a:bodyPr>
          <a:lstStyle/>
          <a:p>
            <a:pPr marL="228600" indent="-228600">
              <a:spcBef>
                <a:spcPts val="2000"/>
              </a:spcBef>
              <a:buFont typeface="Wingdings" pitchFamily="2" charset="2"/>
              <a:buChar char="n"/>
            </a:pPr>
            <a:r>
              <a:rPr lang="en-GB" sz="2400" b="1" dirty="0">
                <a:solidFill>
                  <a:srgbClr val="002060"/>
                </a:solidFill>
              </a:rPr>
              <a:t>Both volatile: </a:t>
            </a:r>
            <a:r>
              <a:rPr lang="en-GB" sz="2000" dirty="0">
                <a:solidFill>
                  <a:srgbClr val="002060"/>
                </a:solidFill>
              </a:rPr>
              <a:t>Power must be continuously supplied to the memory to preserve the bit values</a:t>
            </a:r>
          </a:p>
          <a:p>
            <a:pPr marL="228600" indent="-228600">
              <a:spcBef>
                <a:spcPts val="2000"/>
              </a:spcBef>
              <a:buFont typeface="Wingdings" pitchFamily="2" charset="2"/>
              <a:buChar char="n"/>
            </a:pPr>
            <a:r>
              <a:rPr lang="en-GB" sz="2400" b="1" dirty="0">
                <a:solidFill>
                  <a:schemeClr val="tx1"/>
                </a:solidFill>
              </a:rPr>
              <a:t>Dynamic cell </a:t>
            </a:r>
          </a:p>
          <a:p>
            <a:pPr lvl="1" indent="-228600">
              <a:buFont typeface="Wingdings" pitchFamily="2" charset="2"/>
              <a:buChar char="n"/>
            </a:pPr>
            <a:r>
              <a:rPr lang="en-GB" sz="2000" dirty="0">
                <a:solidFill>
                  <a:schemeClr val="tx1"/>
                </a:solidFill>
              </a:rPr>
              <a:t>Simpler to build, smaller</a:t>
            </a:r>
          </a:p>
          <a:p>
            <a:pPr lvl="1" indent="-228600">
              <a:buFont typeface="Wingdings" pitchFamily="2" charset="2"/>
              <a:buChar char="n"/>
            </a:pPr>
            <a:r>
              <a:rPr lang="en-GB" sz="2000" dirty="0">
                <a:solidFill>
                  <a:schemeClr val="tx1"/>
                </a:solidFill>
              </a:rPr>
              <a:t> (smaller cells = more cells per unit area)</a:t>
            </a:r>
          </a:p>
          <a:p>
            <a:pPr lvl="1" indent="-228600">
              <a:buFont typeface="Wingdings" pitchFamily="2" charset="2"/>
              <a:buChar char="n"/>
            </a:pPr>
            <a:r>
              <a:rPr lang="en-GB" sz="2000" dirty="0">
                <a:solidFill>
                  <a:schemeClr val="tx1"/>
                </a:solidFill>
              </a:rPr>
              <a:t>Less expensive</a:t>
            </a:r>
          </a:p>
          <a:p>
            <a:pPr lvl="1" indent="-228600">
              <a:buFont typeface="Wingdings" pitchFamily="2" charset="2"/>
              <a:buChar char="n"/>
            </a:pPr>
            <a:r>
              <a:rPr lang="en-GB" sz="2000" dirty="0">
                <a:solidFill>
                  <a:schemeClr val="tx1"/>
                </a:solidFill>
              </a:rPr>
              <a:t>Requires the supporting refresh circuitry</a:t>
            </a:r>
          </a:p>
          <a:p>
            <a:pPr lvl="1" indent="-228600">
              <a:buFont typeface="Wingdings" pitchFamily="2" charset="2"/>
              <a:buChar char="n"/>
            </a:pPr>
            <a:r>
              <a:rPr lang="en-GB" sz="2000" dirty="0">
                <a:solidFill>
                  <a:schemeClr val="tx1"/>
                </a:solidFill>
              </a:rPr>
              <a:t>Tend to be favored for large memory requirements</a:t>
            </a:r>
          </a:p>
          <a:p>
            <a:pPr lvl="1" indent="-228600">
              <a:buFont typeface="Wingdings" pitchFamily="2" charset="2"/>
              <a:buChar char="n"/>
            </a:pPr>
            <a:r>
              <a:rPr lang="en-GB" sz="2000" dirty="0">
                <a:solidFill>
                  <a:schemeClr val="tx1"/>
                </a:solidFill>
              </a:rPr>
              <a:t>Used for main memory</a:t>
            </a:r>
          </a:p>
          <a:p>
            <a:pPr marL="228600" indent="-228600">
              <a:spcBef>
                <a:spcPts val="2000"/>
              </a:spcBef>
              <a:buFont typeface="Wingdings" pitchFamily="2" charset="2"/>
              <a:buChar char="n"/>
            </a:pPr>
            <a:r>
              <a:rPr lang="en-GB" sz="2400" b="1" dirty="0">
                <a:solidFill>
                  <a:schemeClr val="tx1"/>
                </a:solidFill>
              </a:rPr>
              <a:t>Static</a:t>
            </a:r>
          </a:p>
          <a:p>
            <a:pPr lvl="1" indent="-228600">
              <a:buFont typeface="Wingdings" pitchFamily="2" charset="2"/>
              <a:buChar char="n"/>
            </a:pPr>
            <a:r>
              <a:rPr lang="en-GB" sz="2000" dirty="0">
                <a:solidFill>
                  <a:schemeClr val="tx1"/>
                </a:solidFill>
              </a:rPr>
              <a:t>Faster</a:t>
            </a:r>
          </a:p>
          <a:p>
            <a:pPr lvl="1" indent="-228600">
              <a:buFont typeface="Wingdings" pitchFamily="2" charset="2"/>
              <a:buChar char="n"/>
            </a:pPr>
            <a:r>
              <a:rPr lang="en-GB" sz="2000" dirty="0">
                <a:solidFill>
                  <a:schemeClr val="tx1"/>
                </a:solidFill>
              </a:rPr>
              <a:t>Used for cache memory (both on and off chip)</a:t>
            </a:r>
          </a:p>
          <a:p>
            <a:endParaRPr lang="en-GB" sz="1600" dirty="0">
              <a:solidFill>
                <a:schemeClr val="tx1"/>
              </a:solidFill>
            </a:endParaRPr>
          </a:p>
        </p:txBody>
      </p:sp>
      <p:sp>
        <p:nvSpPr>
          <p:cNvPr id="8" name="Rectangle 7"/>
          <p:cNvSpPr/>
          <p:nvPr/>
        </p:nvSpPr>
        <p:spPr>
          <a:xfrm>
            <a:off x="7086600" y="838200"/>
            <a:ext cx="1573768" cy="707886"/>
          </a:xfrm>
          <a:prstGeom prst="rect">
            <a:avLst/>
          </a:prstGeom>
        </p:spPr>
        <p:txBody>
          <a:bodyPr wrap="none">
            <a:spAutoFit/>
          </a:bodyPr>
          <a:lstStyle/>
          <a:p>
            <a:r>
              <a:rPr lang="en-GB" sz="4000" dirty="0">
                <a:solidFill>
                  <a:schemeClr val="accent1"/>
                </a:solidFill>
                <a:effectLst>
                  <a:outerShdw blurRad="38100" dist="38100" dir="2700000" algn="tl">
                    <a:srgbClr val="000000">
                      <a:alpha val="43137"/>
                    </a:srgbClr>
                  </a:outerShdw>
                </a:effectLst>
                <a:latin typeface="+mj-lt"/>
                <a:ea typeface="+mj-ea"/>
                <a:cs typeface="+mj-cs"/>
              </a:rPr>
              <a:t>SRAM</a:t>
            </a:r>
            <a:endParaRPr lang="en-US" sz="4000" dirty="0">
              <a:solidFill>
                <a:schemeClr val="accent1"/>
              </a:solidFill>
              <a:effectLst>
                <a:outerShdw blurRad="38100" dist="38100" dir="2700000" algn="tl">
                  <a:srgbClr val="000000">
                    <a:alpha val="43137"/>
                  </a:srgbClr>
                </a:outerShdw>
              </a:effectLst>
              <a:latin typeface="+mj-lt"/>
              <a:ea typeface="+mj-ea"/>
              <a:cs typeface="+mj-cs"/>
            </a:endParaRPr>
          </a:p>
        </p:txBody>
      </p:sp>
      <p:sp>
        <p:nvSpPr>
          <p:cNvPr id="9" name="Rectangle 8"/>
          <p:cNvSpPr/>
          <p:nvPr/>
        </p:nvSpPr>
        <p:spPr>
          <a:xfrm>
            <a:off x="7086600" y="2971800"/>
            <a:ext cx="1675459" cy="707886"/>
          </a:xfrm>
          <a:prstGeom prst="rect">
            <a:avLst/>
          </a:prstGeom>
        </p:spPr>
        <p:txBody>
          <a:bodyPr wrap="none">
            <a:spAutoFit/>
          </a:bodyPr>
          <a:lstStyle/>
          <a:p>
            <a:r>
              <a:rPr lang="en-GB" sz="4000" dirty="0">
                <a:solidFill>
                  <a:srgbClr val="FFFFFF"/>
                </a:solidFill>
                <a:effectLst>
                  <a:outerShdw blurRad="38100" dist="38100" dir="2700000" algn="tl">
                    <a:srgbClr val="000000">
                      <a:alpha val="43137"/>
                    </a:srgbClr>
                  </a:outerShdw>
                </a:effectLst>
                <a:latin typeface="+mj-lt"/>
                <a:ea typeface="+mj-ea"/>
                <a:cs typeface="+mj-cs"/>
              </a:rPr>
              <a:t>DRAM</a:t>
            </a:r>
            <a:endParaRPr lang="en-US" sz="4000" dirty="0">
              <a:solidFill>
                <a:srgbClr val="FFFFFF"/>
              </a:solidFill>
              <a:effectLst>
                <a:outerShdw blurRad="38100" dist="38100" dir="2700000" algn="tl">
                  <a:srgbClr val="000000">
                    <a:alpha val="43137"/>
                  </a:srgbClr>
                </a:outerShdw>
              </a:effectLst>
              <a:latin typeface="+mj-lt"/>
              <a:ea typeface="+mj-ea"/>
              <a:cs typeface="+mj-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4"/>
          <p:cNvSpPr>
            <a:spLocks noGrp="1" noChangeArrowheads="1"/>
          </p:cNvSpPr>
          <p:nvPr>
            <p:ph type="title"/>
          </p:nvPr>
        </p:nvSpPr>
        <p:spPr>
          <a:xfrm>
            <a:off x="685800" y="285728"/>
            <a:ext cx="7556313" cy="676260"/>
          </a:xfrm>
        </p:spPr>
        <p:txBody>
          <a:bodyPr/>
          <a:lstStyle/>
          <a:p>
            <a:r>
              <a:rPr lang="en-US" dirty="0">
                <a:effectLst>
                  <a:outerShdw blurRad="38100" dist="38100" dir="2700000" algn="tl">
                    <a:srgbClr val="000000">
                      <a:alpha val="43137"/>
                    </a:srgbClr>
                  </a:outerShdw>
                </a:effectLst>
              </a:rPr>
              <a:t>Read Only Memory (ROM)</a:t>
            </a:r>
          </a:p>
        </p:txBody>
      </p:sp>
      <p:sp>
        <p:nvSpPr>
          <p:cNvPr id="68613" name="Rectangle 5"/>
          <p:cNvSpPr>
            <a:spLocks noGrp="1" noChangeArrowheads="1"/>
          </p:cNvSpPr>
          <p:nvPr>
            <p:ph idx="1"/>
          </p:nvPr>
        </p:nvSpPr>
        <p:spPr>
          <a:xfrm>
            <a:off x="498474" y="1142984"/>
            <a:ext cx="7556313" cy="4800600"/>
          </a:xfrm>
        </p:spPr>
        <p:txBody>
          <a:bodyPr>
            <a:noAutofit/>
          </a:bodyPr>
          <a:lstStyle/>
          <a:p>
            <a:r>
              <a:rPr lang="en-US" sz="2400" dirty="0">
                <a:solidFill>
                  <a:srgbClr val="002060"/>
                </a:solidFill>
              </a:rPr>
              <a:t>Contains a permanent pattern of data that cannot be  changed or added to</a:t>
            </a:r>
          </a:p>
          <a:p>
            <a:r>
              <a:rPr lang="en-US" sz="2400" dirty="0">
                <a:solidFill>
                  <a:srgbClr val="002060"/>
                </a:solidFill>
              </a:rPr>
              <a:t>No power source is required to maintain the bit values in memory</a:t>
            </a:r>
          </a:p>
          <a:p>
            <a:r>
              <a:rPr lang="en-US" sz="2400" dirty="0">
                <a:solidFill>
                  <a:srgbClr val="002060"/>
                </a:solidFill>
              </a:rPr>
              <a:t>Data or program is permanently in main memory and never needs to be loaded from a secondary storage device</a:t>
            </a:r>
          </a:p>
          <a:p>
            <a:r>
              <a:rPr lang="en-US" sz="2400" dirty="0">
                <a:solidFill>
                  <a:srgbClr val="002060"/>
                </a:solidFill>
              </a:rPr>
              <a:t>Data is actually wired into the chip as part of the fabrication process</a:t>
            </a:r>
          </a:p>
          <a:p>
            <a:pPr lvl="1"/>
            <a:r>
              <a:rPr lang="en-US" sz="2000" dirty="0">
                <a:solidFill>
                  <a:srgbClr val="FF0000"/>
                </a:solidFill>
              </a:rPr>
              <a:t>Disadvantages of this:</a:t>
            </a:r>
          </a:p>
          <a:p>
            <a:pPr lvl="2"/>
            <a:r>
              <a:rPr lang="en-US" sz="2000" dirty="0">
                <a:solidFill>
                  <a:srgbClr val="FF0000"/>
                </a:solidFill>
              </a:rPr>
              <a:t>No room for error, if one bit is wrong the whole batch of ROMs must be thrown out</a:t>
            </a:r>
          </a:p>
          <a:p>
            <a:pPr lvl="2"/>
            <a:r>
              <a:rPr lang="en-US" sz="2000" dirty="0">
                <a:solidFill>
                  <a:srgbClr val="FF0000"/>
                </a:solidFill>
              </a:rPr>
              <a:t>Data insertion step includes a relatively large fixed cost</a:t>
            </a:r>
          </a:p>
          <a:p>
            <a:endParaRPr lang="en-US" sz="2400" dirty="0">
              <a:solidFill>
                <a:srgbClr val="00206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Programmable ROM (PROM)</a:t>
            </a:r>
          </a:p>
        </p:txBody>
      </p:sp>
      <p:sp>
        <p:nvSpPr>
          <p:cNvPr id="3" name="Content Placeholder 2"/>
          <p:cNvSpPr>
            <a:spLocks noGrp="1"/>
          </p:cNvSpPr>
          <p:nvPr>
            <p:ph idx="1"/>
          </p:nvPr>
        </p:nvSpPr>
        <p:spPr>
          <a:xfrm>
            <a:off x="498474" y="1500174"/>
            <a:ext cx="7556313" cy="4144963"/>
          </a:xfrm>
        </p:spPr>
        <p:txBody>
          <a:bodyPr>
            <a:noAutofit/>
          </a:bodyPr>
          <a:lstStyle/>
          <a:p>
            <a:r>
              <a:rPr lang="en-US" sz="2400" dirty="0">
                <a:solidFill>
                  <a:srgbClr val="002060"/>
                </a:solidFill>
              </a:rPr>
              <a:t>Less expensive alternative</a:t>
            </a:r>
          </a:p>
          <a:p>
            <a:r>
              <a:rPr lang="en-US" sz="2400" dirty="0">
                <a:solidFill>
                  <a:srgbClr val="002060"/>
                </a:solidFill>
              </a:rPr>
              <a:t>Nonvolatile and may be written into only once</a:t>
            </a:r>
          </a:p>
          <a:p>
            <a:r>
              <a:rPr lang="en-US" sz="2400" dirty="0">
                <a:solidFill>
                  <a:srgbClr val="002060"/>
                </a:solidFill>
              </a:rPr>
              <a:t>Writing process is performed electrically and may be performed by supplier or customer at a time later than the original chip fabrication</a:t>
            </a:r>
          </a:p>
          <a:p>
            <a:r>
              <a:rPr lang="en-US" sz="2400" dirty="0">
                <a:solidFill>
                  <a:srgbClr val="002060"/>
                </a:solidFill>
              </a:rPr>
              <a:t>Special equipment is required for the writing process</a:t>
            </a:r>
          </a:p>
          <a:p>
            <a:r>
              <a:rPr lang="en-US" sz="2400" dirty="0">
                <a:solidFill>
                  <a:srgbClr val="002060"/>
                </a:solidFill>
              </a:rPr>
              <a:t>Provides flexibility and convenience</a:t>
            </a:r>
          </a:p>
          <a:p>
            <a:r>
              <a:rPr lang="en-US" sz="2400" dirty="0">
                <a:solidFill>
                  <a:srgbClr val="002060"/>
                </a:solidFill>
              </a:rPr>
              <a:t>Attractive for high volume production runs </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7200"/>
            <a:ext cx="9144000" cy="995362"/>
          </a:xfrm>
        </p:spPr>
        <p:txBody>
          <a:bodyPr/>
          <a:lstStyle/>
          <a:p>
            <a:pPr algn="ctr"/>
            <a:r>
              <a:rPr lang="en-US" sz="4000" dirty="0">
                <a:effectLst>
                  <a:outerShdw blurRad="38100" dist="38100" dir="2700000" algn="tl">
                    <a:srgbClr val="000000">
                      <a:alpha val="43137"/>
                    </a:srgbClr>
                  </a:outerShdw>
                </a:effectLst>
                <a:latin typeface="+mn-lt"/>
              </a:rPr>
              <a:t>Read-Mostly Memory</a:t>
            </a:r>
          </a:p>
        </p:txBody>
      </p:sp>
      <p:graphicFrame>
        <p:nvGraphicFramePr>
          <p:cNvPr id="30" name="Content Placeholder 29"/>
          <p:cNvGraphicFramePr>
            <a:graphicFrameLocks noGrp="1"/>
          </p:cNvGraphicFramePr>
          <p:nvPr>
            <p:ph idx="4294967295"/>
          </p:nvPr>
        </p:nvGraphicFramePr>
        <p:xfrm>
          <a:off x="304800" y="1524000"/>
          <a:ext cx="85344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609600" y="304800"/>
            <a:ext cx="7556500" cy="811212"/>
          </a:xfrm>
        </p:spPr>
        <p:txBody>
          <a:bodyPr/>
          <a:lstStyle/>
          <a:p>
            <a:r>
              <a:rPr lang="en-US" dirty="0">
                <a:effectLst>
                  <a:outerShdw blurRad="38100" dist="38100" dir="2700000" algn="tl">
                    <a:srgbClr val="000000">
                      <a:alpha val="43137"/>
                    </a:srgbClr>
                  </a:outerShdw>
                </a:effectLst>
              </a:rPr>
              <a:t>Typical 16 Mb DRAM (4M x 4)</a:t>
            </a:r>
          </a:p>
        </p:txBody>
      </p:sp>
      <p:pic>
        <p:nvPicPr>
          <p:cNvPr id="6146" name="Picture 2"/>
          <p:cNvPicPr>
            <a:picLocks noChangeAspect="1" noChangeArrowheads="1"/>
          </p:cNvPicPr>
          <p:nvPr/>
        </p:nvPicPr>
        <p:blipFill>
          <a:blip r:embed="rId3"/>
          <a:srcRect/>
          <a:stretch>
            <a:fillRect/>
          </a:stretch>
        </p:blipFill>
        <p:spPr bwMode="auto">
          <a:xfrm>
            <a:off x="322682" y="1142984"/>
            <a:ext cx="8498638" cy="5495998"/>
          </a:xfrm>
          <a:prstGeom prst="rect">
            <a:avLst/>
          </a:prstGeom>
          <a:noFill/>
          <a:ln w="9525">
            <a:noFill/>
            <a:miter lim="800000"/>
            <a:headEnd/>
            <a:tailEnd/>
          </a:ln>
          <a:effectLst/>
        </p:spPr>
      </p:pic>
      <p:sp>
        <p:nvSpPr>
          <p:cNvPr id="5" name="Rectangle 4"/>
          <p:cNvSpPr/>
          <p:nvPr/>
        </p:nvSpPr>
        <p:spPr>
          <a:xfrm>
            <a:off x="0" y="3929066"/>
            <a:ext cx="1285852" cy="285752"/>
          </a:xfrm>
          <a:prstGeom prst="rect">
            <a:avLst/>
          </a:prstGeom>
          <a:solidFill>
            <a:srgbClr val="99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002060"/>
                </a:solidFill>
              </a:rPr>
              <a:t>Address lines</a:t>
            </a:r>
          </a:p>
        </p:txBody>
      </p:sp>
      <p:sp>
        <p:nvSpPr>
          <p:cNvPr id="6" name="Rectangle 5"/>
          <p:cNvSpPr/>
          <p:nvPr/>
        </p:nvSpPr>
        <p:spPr>
          <a:xfrm>
            <a:off x="8072462" y="4786322"/>
            <a:ext cx="1071538" cy="285752"/>
          </a:xfrm>
          <a:prstGeom prst="rect">
            <a:avLst/>
          </a:prstGeom>
          <a:solidFill>
            <a:srgbClr val="99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002060"/>
                </a:solidFill>
              </a:rPr>
              <a:t>Data lines</a:t>
            </a:r>
          </a:p>
        </p:txBody>
      </p:sp>
      <p:sp>
        <p:nvSpPr>
          <p:cNvPr id="7" name="Rectangle 6"/>
          <p:cNvSpPr/>
          <p:nvPr/>
        </p:nvSpPr>
        <p:spPr>
          <a:xfrm>
            <a:off x="0" y="1643050"/>
            <a:ext cx="3714776" cy="642942"/>
          </a:xfrm>
          <a:prstGeom prst="rect">
            <a:avLst/>
          </a:prstGeom>
          <a:solidFill>
            <a:srgbClr val="99FF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u="sng" dirty="0">
                <a:solidFill>
                  <a:srgbClr val="002060"/>
                </a:solidFill>
              </a:rPr>
              <a:t>MUl</a:t>
            </a:r>
            <a:r>
              <a:rPr lang="en-US" sz="1200" b="1" dirty="0">
                <a:solidFill>
                  <a:srgbClr val="002060"/>
                </a:solidFill>
              </a:rPr>
              <a:t>tiple</a:t>
            </a:r>
            <a:r>
              <a:rPr lang="en-US" sz="1200" b="1" u="sng" dirty="0">
                <a:solidFill>
                  <a:srgbClr val="002060"/>
                </a:solidFill>
              </a:rPr>
              <a:t>X</a:t>
            </a:r>
            <a:r>
              <a:rPr lang="en-US" sz="1200" b="1" dirty="0">
                <a:solidFill>
                  <a:srgbClr val="002060"/>
                </a:solidFill>
              </a:rPr>
              <a:t>er </a:t>
            </a:r>
            <a:r>
              <a:rPr lang="en-US" sz="1200" dirty="0">
                <a:solidFill>
                  <a:srgbClr val="002060"/>
                </a:solidFill>
              </a:rPr>
              <a:t>is a device that selects one of several  input signals and forwards the selected input into a single line</a:t>
            </a:r>
            <a:endParaRPr lang="en-US" sz="1200" b="1" dirty="0">
              <a:solidFill>
                <a:srgbClr val="002060"/>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0" y="228600"/>
            <a:ext cx="9144000" cy="1116012"/>
          </a:xfrm>
        </p:spPr>
        <p:txBody>
          <a:bodyPr/>
          <a:lstStyle/>
          <a:p>
            <a:pPr algn="ctr"/>
            <a:r>
              <a:rPr lang="en-GB" dirty="0">
                <a:effectLst>
                  <a:outerShdw blurRad="38100" dist="38100" dir="2700000" algn="tl">
                    <a:srgbClr val="000000">
                      <a:alpha val="43137"/>
                    </a:srgbClr>
                  </a:outerShdw>
                </a:effectLst>
              </a:rPr>
              <a:t>Chip Packaging</a:t>
            </a:r>
          </a:p>
        </p:txBody>
      </p:sp>
      <p:pic>
        <p:nvPicPr>
          <p:cNvPr id="7170" name="Picture 2"/>
          <p:cNvPicPr>
            <a:picLocks noChangeAspect="1" noChangeArrowheads="1"/>
          </p:cNvPicPr>
          <p:nvPr/>
        </p:nvPicPr>
        <p:blipFill>
          <a:blip r:embed="rId3"/>
          <a:srcRect/>
          <a:stretch>
            <a:fillRect/>
          </a:stretch>
        </p:blipFill>
        <p:spPr bwMode="auto">
          <a:xfrm>
            <a:off x="785786" y="964930"/>
            <a:ext cx="7572428" cy="5535904"/>
          </a:xfrm>
          <a:prstGeom prst="rect">
            <a:avLst/>
          </a:prstGeom>
          <a:noFill/>
          <a:ln w="9525">
            <a:noFill/>
            <a:miter lim="800000"/>
            <a:headEnd/>
            <a:tailEnd/>
          </a:ln>
          <a:effec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781800" y="1066800"/>
            <a:ext cx="2057400" cy="461665"/>
          </a:xfrm>
          <a:prstGeom prst="rect">
            <a:avLst/>
          </a:prstGeom>
          <a:noFill/>
        </p:spPr>
        <p:txBody>
          <a:bodyPr wrap="square" rtlCol="0">
            <a:spAutoFit/>
          </a:bodyPr>
          <a:lstStyle/>
          <a:p>
            <a:pPr algn="ctr"/>
            <a:r>
              <a:rPr lang="en-US" dirty="0">
                <a:solidFill>
                  <a:schemeClr val="tx2"/>
                </a:solidFill>
                <a:effectLst>
                  <a:outerShdw blurRad="38100" dist="38100" dir="2700000" algn="tl">
                    <a:srgbClr val="000000">
                      <a:alpha val="43137"/>
                    </a:srgbClr>
                  </a:outerShdw>
                </a:effectLst>
                <a:latin typeface="+mn-lt"/>
              </a:rPr>
              <a:t>Figure 5.5</a:t>
            </a:r>
          </a:p>
        </p:txBody>
      </p:sp>
      <p:sp>
        <p:nvSpPr>
          <p:cNvPr id="8" name="TextBox 7"/>
          <p:cNvSpPr txBox="1"/>
          <p:nvPr/>
        </p:nvSpPr>
        <p:spPr>
          <a:xfrm>
            <a:off x="6781800" y="2667000"/>
            <a:ext cx="2057400" cy="1200328"/>
          </a:xfrm>
          <a:prstGeom prst="rect">
            <a:avLst/>
          </a:prstGeom>
          <a:noFill/>
        </p:spPr>
        <p:txBody>
          <a:bodyPr wrap="square" rtlCol="0">
            <a:spAutoFit/>
          </a:bodyPr>
          <a:lstStyle/>
          <a:p>
            <a:pPr algn="ctr"/>
            <a:r>
              <a:rPr lang="en-US" dirty="0">
                <a:solidFill>
                  <a:schemeClr val="bg1"/>
                </a:solidFill>
                <a:effectLst>
                  <a:outerShdw blurRad="38100" dist="38100" dir="2700000" algn="tl">
                    <a:srgbClr val="000000">
                      <a:alpha val="43137"/>
                    </a:srgbClr>
                  </a:outerShdw>
                </a:effectLst>
                <a:latin typeface="+mn-lt"/>
              </a:rPr>
              <a:t>256-KByte </a:t>
            </a:r>
          </a:p>
          <a:p>
            <a:pPr algn="ctr"/>
            <a:r>
              <a:rPr lang="en-US" dirty="0">
                <a:solidFill>
                  <a:schemeClr val="bg1"/>
                </a:solidFill>
                <a:effectLst>
                  <a:outerShdw blurRad="38100" dist="38100" dir="2700000" algn="tl">
                    <a:srgbClr val="000000">
                      <a:alpha val="43137"/>
                    </a:srgbClr>
                  </a:outerShdw>
                </a:effectLst>
                <a:latin typeface="+mn-lt"/>
              </a:rPr>
              <a:t>Memory </a:t>
            </a:r>
          </a:p>
          <a:p>
            <a:pPr algn="ctr"/>
            <a:r>
              <a:rPr lang="en-US" dirty="0">
                <a:solidFill>
                  <a:schemeClr val="bg1"/>
                </a:solidFill>
                <a:effectLst>
                  <a:outerShdw blurRad="38100" dist="38100" dir="2700000" algn="tl">
                    <a:srgbClr val="000000">
                      <a:alpha val="43137"/>
                    </a:srgbClr>
                  </a:outerShdw>
                </a:effectLst>
                <a:latin typeface="+mn-lt"/>
              </a:rPr>
              <a:t>Organization</a:t>
            </a:r>
          </a:p>
        </p:txBody>
      </p:sp>
      <p:sp useBgFill="1">
        <p:nvSpPr>
          <p:cNvPr id="10" name="TextBox 9"/>
          <p:cNvSpPr txBox="1"/>
          <p:nvPr/>
        </p:nvSpPr>
        <p:spPr>
          <a:xfrm>
            <a:off x="214424" y="4684719"/>
            <a:ext cx="471375" cy="461665"/>
          </a:xfrm>
          <a:prstGeom prst="rect">
            <a:avLst/>
          </a:prstGeom>
        </p:spPr>
        <p:txBody>
          <a:bodyPr wrap="square" rtlCol="0">
            <a:spAutoFit/>
          </a:bodyPr>
          <a:lstStyle/>
          <a:p>
            <a:endParaRPr lang="en-US" dirty="0"/>
          </a:p>
        </p:txBody>
      </p:sp>
      <p:pic>
        <p:nvPicPr>
          <p:cNvPr id="8194" name="Picture 2"/>
          <p:cNvPicPr>
            <a:picLocks noChangeAspect="1" noChangeArrowheads="1"/>
          </p:cNvPicPr>
          <p:nvPr/>
        </p:nvPicPr>
        <p:blipFill>
          <a:blip r:embed="rId3"/>
          <a:srcRect/>
          <a:stretch>
            <a:fillRect/>
          </a:stretch>
        </p:blipFill>
        <p:spPr bwMode="auto">
          <a:xfrm>
            <a:off x="357158" y="338082"/>
            <a:ext cx="6162752" cy="6162752"/>
          </a:xfrm>
          <a:prstGeom prst="rect">
            <a:avLst/>
          </a:prstGeom>
          <a:noFill/>
          <a:ln w="9525">
            <a:noFill/>
            <a:miter lim="800000"/>
            <a:headEnd/>
            <a:tailEnd/>
          </a:ln>
          <a:effectLst/>
        </p:spPr>
      </p:pic>
      <p:sp>
        <p:nvSpPr>
          <p:cNvPr id="6" name="TextBox 5"/>
          <p:cNvSpPr txBox="1"/>
          <p:nvPr/>
        </p:nvSpPr>
        <p:spPr>
          <a:xfrm>
            <a:off x="5572132" y="4573984"/>
            <a:ext cx="3286148" cy="1569660"/>
          </a:xfrm>
          <a:prstGeom prst="rect">
            <a:avLst/>
          </a:prstGeom>
          <a:noFill/>
        </p:spPr>
        <p:txBody>
          <a:bodyPr wrap="square" rtlCol="0">
            <a:spAutoFit/>
          </a:bodyPr>
          <a:lstStyle/>
          <a:p>
            <a:r>
              <a:rPr lang="en-US"/>
              <a:t>1chip: 512*512= 2</a:t>
            </a:r>
            <a:r>
              <a:rPr lang="en-US" baseline="30000"/>
              <a:t>18</a:t>
            </a:r>
            <a:r>
              <a:rPr lang="en-US"/>
              <a:t> bits  </a:t>
            </a:r>
          </a:p>
          <a:p>
            <a:r>
              <a:rPr lang="en-US"/>
              <a:t>                         =256kb</a:t>
            </a:r>
          </a:p>
          <a:p>
            <a:r>
              <a:rPr lang="en-US"/>
              <a:t>8 chips </a:t>
            </a:r>
            <a:r>
              <a:rPr lang="en-US">
                <a:sym typeface="Wingdings" pitchFamily="2" charset="2"/>
              </a:rPr>
              <a:t> 256KB</a:t>
            </a:r>
          </a:p>
          <a:p>
            <a:r>
              <a:rPr lang="en-US">
                <a:sym typeface="Wingdings" pitchFamily="2" charset="2"/>
              </a:rPr>
              <a:t>( 8bits/word)</a:t>
            </a:r>
            <a:endParaRPr lang="en-US"/>
          </a:p>
        </p:txBody>
      </p:sp>
      <p:sp>
        <p:nvSpPr>
          <p:cNvPr id="9" name="Rectangle 8"/>
          <p:cNvSpPr/>
          <p:nvPr/>
        </p:nvSpPr>
        <p:spPr>
          <a:xfrm>
            <a:off x="1285852" y="285728"/>
            <a:ext cx="642942" cy="35719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t>MAR</a:t>
            </a:r>
          </a:p>
        </p:txBody>
      </p:sp>
      <p:cxnSp>
        <p:nvCxnSpPr>
          <p:cNvPr id="12" name="Straight Arrow Connector 11"/>
          <p:cNvCxnSpPr>
            <a:stCxn id="9" idx="2"/>
          </p:cNvCxnSpPr>
          <p:nvPr/>
        </p:nvCxnSpPr>
        <p:spPr>
          <a:xfrm rot="5400000">
            <a:off x="1339431" y="732216"/>
            <a:ext cx="357190" cy="17859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685800" y="142852"/>
            <a:ext cx="7556500" cy="623870"/>
          </a:xfrm>
        </p:spPr>
        <p:txBody>
          <a:bodyPr/>
          <a:lstStyle/>
          <a:p>
            <a:r>
              <a:rPr lang="en-GB" dirty="0">
                <a:effectLst>
                  <a:outerShdw blurRad="38100" dist="38100" dir="2700000" algn="tl">
                    <a:srgbClr val="000000">
                      <a:alpha val="43137"/>
                    </a:srgbClr>
                  </a:outerShdw>
                </a:effectLst>
              </a:rPr>
              <a:t>1MByte Module Organization</a:t>
            </a:r>
          </a:p>
        </p:txBody>
      </p:sp>
      <p:pic>
        <p:nvPicPr>
          <p:cNvPr id="9218" name="Picture 2"/>
          <p:cNvPicPr>
            <a:picLocks noChangeAspect="1" noChangeArrowheads="1"/>
          </p:cNvPicPr>
          <p:nvPr/>
        </p:nvPicPr>
        <p:blipFill>
          <a:blip r:embed="rId3"/>
          <a:srcRect/>
          <a:stretch>
            <a:fillRect/>
          </a:stretch>
        </p:blipFill>
        <p:spPr bwMode="auto">
          <a:xfrm>
            <a:off x="780516" y="857232"/>
            <a:ext cx="7582970" cy="5000660"/>
          </a:xfrm>
          <a:prstGeom prst="rect">
            <a:avLst/>
          </a:prstGeom>
          <a:noFill/>
          <a:ln w="9525">
            <a:noFill/>
            <a:miter lim="800000"/>
            <a:headEnd/>
            <a:tailEnd/>
          </a:ln>
          <a:effectLst/>
        </p:spPr>
      </p:pic>
      <p:sp>
        <p:nvSpPr>
          <p:cNvPr id="5" name="Rectangle 4"/>
          <p:cNvSpPr/>
          <p:nvPr/>
        </p:nvSpPr>
        <p:spPr>
          <a:xfrm>
            <a:off x="285720" y="6072206"/>
            <a:ext cx="8358246" cy="400110"/>
          </a:xfrm>
          <a:prstGeom prst="rect">
            <a:avLst/>
          </a:prstGeom>
        </p:spPr>
        <p:txBody>
          <a:bodyPr wrap="square">
            <a:spAutoFit/>
          </a:bodyPr>
          <a:lstStyle/>
          <a:p>
            <a:r>
              <a:rPr kumimoji="1" lang="en-US" sz="2000"/>
              <a:t>E: enable, signal permits the chip operating or not </a:t>
            </a:r>
            <a:endParaRPr lang="en-US" sz="2000"/>
          </a:p>
        </p:txBody>
      </p:sp>
      <p:sp>
        <p:nvSpPr>
          <p:cNvPr id="6" name="Rectangle 5"/>
          <p:cNvSpPr/>
          <p:nvPr/>
        </p:nvSpPr>
        <p:spPr>
          <a:xfrm>
            <a:off x="0" y="2714620"/>
            <a:ext cx="1214414" cy="307777"/>
          </a:xfrm>
          <a:prstGeom prst="rect">
            <a:avLst/>
          </a:prstGeom>
          <a:solidFill>
            <a:srgbClr val="92D050"/>
          </a:solidFill>
        </p:spPr>
        <p:txBody>
          <a:bodyPr wrap="square">
            <a:spAutoFit/>
          </a:bodyPr>
          <a:lstStyle/>
          <a:p>
            <a:pPr algn="ctr"/>
            <a:r>
              <a:rPr kumimoji="1" lang="en-US" sz="1400"/>
              <a:t>Select row </a:t>
            </a:r>
            <a:endParaRPr lang="en-US" sz="1400"/>
          </a:p>
        </p:txBody>
      </p:sp>
      <p:sp>
        <p:nvSpPr>
          <p:cNvPr id="7" name="Rectangle 6"/>
          <p:cNvSpPr/>
          <p:nvPr/>
        </p:nvSpPr>
        <p:spPr>
          <a:xfrm>
            <a:off x="-32" y="1928802"/>
            <a:ext cx="1214446" cy="307777"/>
          </a:xfrm>
          <a:prstGeom prst="rect">
            <a:avLst/>
          </a:prstGeom>
          <a:solidFill>
            <a:srgbClr val="92D050"/>
          </a:solidFill>
        </p:spPr>
        <p:txBody>
          <a:bodyPr wrap="square">
            <a:spAutoFit/>
          </a:bodyPr>
          <a:lstStyle/>
          <a:p>
            <a:pPr algn="ctr"/>
            <a:r>
              <a:rPr kumimoji="1" lang="en-US" sz="1400"/>
              <a:t>Select column</a:t>
            </a:r>
            <a:endParaRPr lang="en-US" sz="1400"/>
          </a:p>
        </p:txBody>
      </p:sp>
      <p:sp>
        <p:nvSpPr>
          <p:cNvPr id="8" name="Rectangle 7"/>
          <p:cNvSpPr/>
          <p:nvPr/>
        </p:nvSpPr>
        <p:spPr>
          <a:xfrm>
            <a:off x="0" y="3214686"/>
            <a:ext cx="1214414" cy="307777"/>
          </a:xfrm>
          <a:prstGeom prst="rect">
            <a:avLst/>
          </a:prstGeom>
          <a:solidFill>
            <a:srgbClr val="92D050"/>
          </a:solidFill>
        </p:spPr>
        <p:txBody>
          <a:bodyPr wrap="square">
            <a:spAutoFit/>
          </a:bodyPr>
          <a:lstStyle/>
          <a:p>
            <a:pPr algn="ctr"/>
            <a:r>
              <a:rPr kumimoji="1" lang="en-US" sz="1400"/>
              <a:t>Enable</a:t>
            </a:r>
            <a:endParaRPr lang="en-US" sz="1400"/>
          </a:p>
        </p:txBody>
      </p:sp>
      <p:sp>
        <p:nvSpPr>
          <p:cNvPr id="9" name="Rectangle 8"/>
          <p:cNvSpPr/>
          <p:nvPr/>
        </p:nvSpPr>
        <p:spPr>
          <a:xfrm>
            <a:off x="8286776" y="2928934"/>
            <a:ext cx="714348" cy="523220"/>
          </a:xfrm>
          <a:prstGeom prst="rect">
            <a:avLst/>
          </a:prstGeom>
          <a:solidFill>
            <a:srgbClr val="92D050"/>
          </a:solidFill>
        </p:spPr>
        <p:txBody>
          <a:bodyPr wrap="square">
            <a:spAutoFit/>
          </a:bodyPr>
          <a:lstStyle/>
          <a:p>
            <a:pPr algn="ctr"/>
            <a:r>
              <a:rPr kumimoji="1" lang="en-US" sz="1400"/>
              <a:t>Data buffer</a:t>
            </a:r>
            <a:endParaRPr lang="en-US" sz="140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idx="4294967295"/>
          </p:nvPr>
        </p:nvSpPr>
        <p:spPr>
          <a:xfrm>
            <a:off x="533400" y="304800"/>
            <a:ext cx="7556500" cy="1116013"/>
          </a:xfrm>
        </p:spPr>
        <p:txBody>
          <a:bodyPr/>
          <a:lstStyle/>
          <a:p>
            <a:r>
              <a:rPr lang="en-GB" dirty="0">
                <a:effectLst>
                  <a:outerShdw blurRad="38100" dist="38100" dir="2700000" algn="tl">
                    <a:srgbClr val="000000">
                      <a:alpha val="43137"/>
                    </a:srgbClr>
                  </a:outerShdw>
                </a:effectLst>
              </a:rPr>
              <a:t>Interleaved Memory</a:t>
            </a:r>
          </a:p>
        </p:txBody>
      </p:sp>
      <p:graphicFrame>
        <p:nvGraphicFramePr>
          <p:cNvPr id="10" name="Content Placeholder 9"/>
          <p:cNvGraphicFramePr>
            <a:graphicFrameLocks noGrp="1"/>
          </p:cNvGraphicFramePr>
          <p:nvPr>
            <p:ph idx="4294967295"/>
            <p:extLst>
              <p:ext uri="{D42A27DB-BD31-4B8C-83A1-F6EECF244321}">
                <p14:modId xmlns:p14="http://schemas.microsoft.com/office/powerpoint/2010/main" val="1442920027"/>
              </p:ext>
            </p:extLst>
          </p:nvPr>
        </p:nvGraphicFramePr>
        <p:xfrm>
          <a:off x="-396552" y="1052736"/>
          <a:ext cx="9540552" cy="58052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ram-11_3"/>
          <p:cNvPicPr>
            <a:picLocks noChangeAspect="1" noChangeArrowheads="1"/>
          </p:cNvPicPr>
          <p:nvPr/>
        </p:nvPicPr>
        <p:blipFill>
          <a:blip r:embed="rId8"/>
          <a:srcRect/>
          <a:stretch>
            <a:fillRect/>
          </a:stretch>
        </p:blipFill>
        <p:spPr bwMode="auto">
          <a:xfrm>
            <a:off x="0" y="4198090"/>
            <a:ext cx="3546546" cy="2659910"/>
          </a:xfrm>
          <a:prstGeom prst="rect">
            <a:avLst/>
          </a:prstGeom>
          <a:noFill/>
          <a:ln w="9525">
            <a:noFill/>
            <a:miter lim="800000"/>
            <a:headEnd/>
            <a:tailEnd/>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762000" y="214290"/>
            <a:ext cx="7556313" cy="752460"/>
          </a:xfrm>
        </p:spPr>
        <p:txBody>
          <a:bodyPr/>
          <a:lstStyle/>
          <a:p>
            <a:r>
              <a:rPr lang="en-US" dirty="0">
                <a:effectLst>
                  <a:outerShdw blurRad="38100" dist="38100" dir="2700000" algn="tl">
                    <a:srgbClr val="000000">
                      <a:alpha val="43137"/>
                    </a:srgbClr>
                  </a:outerShdw>
                </a:effectLst>
              </a:rPr>
              <a:t>5.2- Error Correction</a:t>
            </a:r>
          </a:p>
        </p:txBody>
      </p:sp>
      <p:sp>
        <p:nvSpPr>
          <p:cNvPr id="70659" name="Rectangle 3"/>
          <p:cNvSpPr>
            <a:spLocks noGrp="1" noChangeArrowheads="1"/>
          </p:cNvSpPr>
          <p:nvPr>
            <p:ph idx="1"/>
          </p:nvPr>
        </p:nvSpPr>
        <p:spPr>
          <a:xfrm>
            <a:off x="285720" y="1071546"/>
            <a:ext cx="8643998" cy="5429288"/>
          </a:xfrm>
        </p:spPr>
        <p:txBody>
          <a:bodyPr>
            <a:noAutofit/>
          </a:bodyPr>
          <a:lstStyle/>
          <a:p>
            <a:r>
              <a:rPr lang="en-US" b="1" dirty="0">
                <a:solidFill>
                  <a:srgbClr val="FF0000"/>
                </a:solidFill>
              </a:rPr>
              <a:t>Hard Failure</a:t>
            </a:r>
          </a:p>
          <a:p>
            <a:pPr lvl="1"/>
            <a:r>
              <a:rPr lang="en-US" dirty="0">
                <a:solidFill>
                  <a:srgbClr val="002060"/>
                </a:solidFill>
              </a:rPr>
              <a:t>Permanent physical defect (khuyết tật). </a:t>
            </a:r>
          </a:p>
          <a:p>
            <a:pPr lvl="1"/>
            <a:r>
              <a:rPr lang="en-US" dirty="0">
                <a:solidFill>
                  <a:srgbClr val="002060"/>
                </a:solidFill>
              </a:rPr>
              <a:t>Memory cell or cells affected cannot reliably store data but become stuck at 0 or 1 or switch erratically between 0 and 1</a:t>
            </a:r>
          </a:p>
          <a:p>
            <a:pPr lvl="1"/>
            <a:r>
              <a:rPr lang="en-US" b="1" dirty="0">
                <a:solidFill>
                  <a:srgbClr val="FF0000"/>
                </a:solidFill>
              </a:rPr>
              <a:t>Can be caused by</a:t>
            </a:r>
            <a:r>
              <a:rPr lang="en-US" b="1" dirty="0">
                <a:solidFill>
                  <a:srgbClr val="002060"/>
                </a:solidFill>
              </a:rPr>
              <a:t>: </a:t>
            </a:r>
          </a:p>
          <a:p>
            <a:pPr lvl="2"/>
            <a:r>
              <a:rPr lang="en-US" dirty="0">
                <a:solidFill>
                  <a:srgbClr val="002060"/>
                </a:solidFill>
              </a:rPr>
              <a:t>Harsh (khắc nghiệt) environmental abuse(sự ngược đãi)</a:t>
            </a:r>
          </a:p>
          <a:p>
            <a:pPr lvl="2"/>
            <a:r>
              <a:rPr lang="en-US" dirty="0">
                <a:solidFill>
                  <a:srgbClr val="002060"/>
                </a:solidFill>
              </a:rPr>
              <a:t>Manufacturing defects</a:t>
            </a:r>
          </a:p>
          <a:p>
            <a:pPr lvl="2"/>
            <a:r>
              <a:rPr lang="en-US" dirty="0">
                <a:solidFill>
                  <a:srgbClr val="002060"/>
                </a:solidFill>
              </a:rPr>
              <a:t>Wear (hao mòn)</a:t>
            </a:r>
          </a:p>
          <a:p>
            <a:r>
              <a:rPr lang="en-US" b="1" dirty="0">
                <a:solidFill>
                  <a:srgbClr val="0000CC"/>
                </a:solidFill>
              </a:rPr>
              <a:t>Soft Error</a:t>
            </a:r>
          </a:p>
          <a:p>
            <a:pPr lvl="1"/>
            <a:r>
              <a:rPr lang="en-US" dirty="0">
                <a:solidFill>
                  <a:srgbClr val="002060"/>
                </a:solidFill>
              </a:rPr>
              <a:t>Random, non-destructive event that alters the contents of one or more memory cells </a:t>
            </a:r>
          </a:p>
          <a:p>
            <a:pPr lvl="1"/>
            <a:r>
              <a:rPr lang="en-US" dirty="0">
                <a:solidFill>
                  <a:srgbClr val="002060"/>
                </a:solidFill>
              </a:rPr>
              <a:t>No permanent damage to memory</a:t>
            </a:r>
          </a:p>
          <a:p>
            <a:pPr lvl="1"/>
            <a:r>
              <a:rPr lang="en-US" b="1" dirty="0">
                <a:solidFill>
                  <a:srgbClr val="0000CC"/>
                </a:solidFill>
              </a:rPr>
              <a:t>Can be caused by</a:t>
            </a:r>
            <a:r>
              <a:rPr lang="en-US" dirty="0">
                <a:solidFill>
                  <a:srgbClr val="002060"/>
                </a:solidFill>
              </a:rPr>
              <a:t>: </a:t>
            </a:r>
          </a:p>
          <a:p>
            <a:pPr lvl="2"/>
            <a:r>
              <a:rPr lang="en-US" dirty="0">
                <a:solidFill>
                  <a:srgbClr val="002060"/>
                </a:solidFill>
              </a:rPr>
              <a:t>Power supply problems</a:t>
            </a:r>
          </a:p>
          <a:p>
            <a:pPr lvl="2"/>
            <a:r>
              <a:rPr lang="en-US" dirty="0">
                <a:solidFill>
                  <a:srgbClr val="002060"/>
                </a:solidFill>
              </a:rPr>
              <a:t>Alpha particles </a:t>
            </a:r>
          </a:p>
        </p:txBody>
      </p:sp>
      <p:sp>
        <p:nvSpPr>
          <p:cNvPr id="4" name="Rectangle 3"/>
          <p:cNvSpPr/>
          <p:nvPr/>
        </p:nvSpPr>
        <p:spPr>
          <a:xfrm>
            <a:off x="4214810" y="5357826"/>
            <a:ext cx="4572000" cy="1200329"/>
          </a:xfrm>
          <a:prstGeom prst="rect">
            <a:avLst/>
          </a:prstGeom>
          <a:solidFill>
            <a:schemeClr val="accent6">
              <a:lumMod val="75000"/>
            </a:schemeClr>
          </a:solidFill>
        </p:spPr>
        <p:txBody>
          <a:bodyPr>
            <a:spAutoFit/>
          </a:bodyPr>
          <a:lstStyle/>
          <a:p>
            <a:r>
              <a:rPr lang="en-US" sz="1800" dirty="0">
                <a:solidFill>
                  <a:schemeClr val="bg1"/>
                </a:solidFill>
              </a:rPr>
              <a:t>Alpha particles: Phenomenon in which 2 protons and 2 neutrons  bound together into a particle identical to a helium nucleus (Wiki for  more details).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0" y="134938"/>
            <a:ext cx="9144000" cy="995362"/>
          </a:xfrm>
        </p:spPr>
        <p:txBody>
          <a:bodyPr/>
          <a:lstStyle/>
          <a:p>
            <a:r>
              <a:rPr lang="en-US" dirty="0">
                <a:effectLst>
                  <a:outerShdw blurRad="38100" dist="38100" dir="2700000" algn="tl">
                    <a:srgbClr val="000000">
                      <a:alpha val="43137"/>
                    </a:srgbClr>
                  </a:outerShdw>
                </a:effectLst>
              </a:rPr>
              <a:t>Error Correcting Code (ECC) Function</a:t>
            </a:r>
          </a:p>
        </p:txBody>
      </p:sp>
      <p:sp>
        <p:nvSpPr>
          <p:cNvPr id="8" name="Rectangle 7"/>
          <p:cNvSpPr/>
          <p:nvPr/>
        </p:nvSpPr>
        <p:spPr>
          <a:xfrm>
            <a:off x="2714612" y="2643182"/>
            <a:ext cx="642942" cy="35719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bits</a:t>
            </a:r>
          </a:p>
        </p:txBody>
      </p:sp>
      <p:sp>
        <p:nvSpPr>
          <p:cNvPr id="9" name="Rectangle 8"/>
          <p:cNvSpPr/>
          <p:nvPr/>
        </p:nvSpPr>
        <p:spPr>
          <a:xfrm>
            <a:off x="3500430" y="3500438"/>
            <a:ext cx="642942" cy="35719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i="1" dirty="0">
                <a:solidFill>
                  <a:schemeClr val="tx1"/>
                </a:solidFill>
              </a:rPr>
              <a:t>M+K</a:t>
            </a:r>
          </a:p>
        </p:txBody>
      </p:sp>
      <p:sp>
        <p:nvSpPr>
          <p:cNvPr id="10" name="Rectangle 9"/>
          <p:cNvSpPr/>
          <p:nvPr/>
        </p:nvSpPr>
        <p:spPr>
          <a:xfrm>
            <a:off x="214282" y="4714884"/>
            <a:ext cx="8786842" cy="1938992"/>
          </a:xfrm>
          <a:prstGeom prst="rect">
            <a:avLst/>
          </a:prstGeom>
        </p:spPr>
        <p:txBody>
          <a:bodyPr wrap="square">
            <a:spAutoFit/>
          </a:bodyPr>
          <a:lstStyle/>
          <a:p>
            <a:r>
              <a:rPr kumimoji="1" lang="en-US" sz="2000" dirty="0"/>
              <a:t>• No errors are detected. The fetched data bits are sent out.</a:t>
            </a:r>
          </a:p>
          <a:p>
            <a:r>
              <a:rPr kumimoji="1" lang="en-US" sz="2000" dirty="0"/>
              <a:t>• An error is detected, and it is possible to correct the error. The data bits plus </a:t>
            </a:r>
            <a:r>
              <a:rPr kumimoji="1" lang="en-US" sz="2000" b="1" dirty="0"/>
              <a:t>error correction </a:t>
            </a:r>
            <a:r>
              <a:rPr kumimoji="1" lang="en-US" sz="2000" dirty="0"/>
              <a:t>bits are fed into a corrector, which produces a corrected set of </a:t>
            </a:r>
            <a:r>
              <a:rPr kumimoji="1" lang="en-US" sz="2000" i="1" dirty="0"/>
              <a:t>M </a:t>
            </a:r>
            <a:r>
              <a:rPr kumimoji="1" lang="en-US" sz="2000" dirty="0"/>
              <a:t>bits to be sent out</a:t>
            </a:r>
            <a:r>
              <a:rPr kumimoji="1" lang="en-US" sz="2000" i="1" dirty="0"/>
              <a:t>.</a:t>
            </a:r>
          </a:p>
          <a:p>
            <a:r>
              <a:rPr kumimoji="1" lang="en-US" sz="2000" dirty="0"/>
              <a:t>• An error is detected, but it is not possible to correct it. This condition is reported.</a:t>
            </a:r>
          </a:p>
          <a:p>
            <a:r>
              <a:rPr kumimoji="1" lang="en-US" sz="2000" i="1" dirty="0"/>
              <a:t>Next slide: An example for ECC function</a:t>
            </a:r>
            <a:r>
              <a:rPr kumimoji="1" lang="en-US" sz="2000" dirty="0"/>
              <a:t>.</a:t>
            </a:r>
            <a:endParaRPr lang="en-US" sz="2000" dirty="0"/>
          </a:p>
        </p:txBody>
      </p:sp>
      <p:grpSp>
        <p:nvGrpSpPr>
          <p:cNvPr id="12" name="Group 11"/>
          <p:cNvGrpSpPr/>
          <p:nvPr/>
        </p:nvGrpSpPr>
        <p:grpSpPr>
          <a:xfrm>
            <a:off x="571472" y="1071546"/>
            <a:ext cx="7996854" cy="3429024"/>
            <a:chOff x="571472" y="1071546"/>
            <a:chExt cx="7996854" cy="3429024"/>
          </a:xfrm>
        </p:grpSpPr>
        <p:pic>
          <p:nvPicPr>
            <p:cNvPr id="10243" name="Picture 3"/>
            <p:cNvPicPr>
              <a:picLocks noChangeAspect="1" noChangeArrowheads="1"/>
            </p:cNvPicPr>
            <p:nvPr/>
          </p:nvPicPr>
          <p:blipFill>
            <a:blip r:embed="rId3"/>
            <a:srcRect/>
            <a:stretch>
              <a:fillRect/>
            </a:stretch>
          </p:blipFill>
          <p:spPr bwMode="auto">
            <a:xfrm>
              <a:off x="575674" y="1071546"/>
              <a:ext cx="7992652" cy="3429024"/>
            </a:xfrm>
            <a:prstGeom prst="rect">
              <a:avLst/>
            </a:prstGeom>
            <a:noFill/>
            <a:ln w="9525">
              <a:noFill/>
              <a:miter lim="800000"/>
              <a:headEnd/>
              <a:tailEnd/>
            </a:ln>
            <a:effectLst/>
          </p:spPr>
        </p:pic>
        <p:sp>
          <p:nvSpPr>
            <p:cNvPr id="5" name="Rectangle 4"/>
            <p:cNvSpPr/>
            <p:nvPr/>
          </p:nvSpPr>
          <p:spPr>
            <a:xfrm>
              <a:off x="571472" y="3357562"/>
              <a:ext cx="857256"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t>Write</a:t>
              </a:r>
            </a:p>
          </p:txBody>
        </p:sp>
        <p:sp>
          <p:nvSpPr>
            <p:cNvPr id="6" name="Rectangle 5"/>
            <p:cNvSpPr/>
            <p:nvPr/>
          </p:nvSpPr>
          <p:spPr>
            <a:xfrm>
              <a:off x="4857752" y="3143248"/>
              <a:ext cx="857256" cy="42862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t>Read</a:t>
              </a:r>
            </a:p>
          </p:txBody>
        </p:sp>
        <p:sp>
          <p:nvSpPr>
            <p:cNvPr id="11" name="Rectangle 10"/>
            <p:cNvSpPr/>
            <p:nvPr/>
          </p:nvSpPr>
          <p:spPr>
            <a:xfrm>
              <a:off x="5429256" y="2071678"/>
              <a:ext cx="2500330" cy="4286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solidFill>
                </a:rPr>
                <a:t>No error/Correctable</a:t>
              </a:r>
            </a:p>
          </p:txBody>
        </p:sp>
      </p:gr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0" y="134938"/>
            <a:ext cx="9144000" cy="995362"/>
          </a:xfrm>
        </p:spPr>
        <p:txBody>
          <a:bodyPr/>
          <a:lstStyle/>
          <a:p>
            <a:r>
              <a:rPr lang="en-US">
                <a:effectLst>
                  <a:outerShdw blurRad="38100" dist="38100" dir="2700000" algn="tl">
                    <a:srgbClr val="000000">
                      <a:alpha val="43137"/>
                    </a:srgbClr>
                  </a:outerShdw>
                </a:effectLst>
              </a:rPr>
              <a:t>ECC Function: Examples</a:t>
            </a:r>
            <a:endParaRPr lang="en-US" dirty="0">
              <a:effectLst>
                <a:outerShdw blurRad="38100" dist="38100" dir="2700000" algn="tl">
                  <a:srgbClr val="000000">
                    <a:alpha val="43137"/>
                  </a:srgbClr>
                </a:outerShdw>
              </a:effectLst>
            </a:endParaRPr>
          </a:p>
        </p:txBody>
      </p:sp>
      <p:sp>
        <p:nvSpPr>
          <p:cNvPr id="10" name="Rectangle 9"/>
          <p:cNvSpPr/>
          <p:nvPr/>
        </p:nvSpPr>
        <p:spPr>
          <a:xfrm>
            <a:off x="214282" y="1000109"/>
            <a:ext cx="8786842" cy="4585871"/>
          </a:xfrm>
          <a:prstGeom prst="rect">
            <a:avLst/>
          </a:prstGeom>
        </p:spPr>
        <p:txBody>
          <a:bodyPr wrap="square">
            <a:spAutoFit/>
          </a:bodyPr>
          <a:lstStyle/>
          <a:p>
            <a:r>
              <a:rPr kumimoji="1" lang="en-US" dirty="0"/>
              <a:t>• The XOR operation is </a:t>
            </a:r>
            <a:r>
              <a:rPr kumimoji="1" lang="en-US" dirty="0" err="1"/>
              <a:t>ussually</a:t>
            </a:r>
            <a:r>
              <a:rPr kumimoji="1" lang="en-US" dirty="0"/>
              <a:t> used in ECC functions</a:t>
            </a:r>
          </a:p>
          <a:p>
            <a:pPr>
              <a:buFont typeface="Arial" pitchFamily="34" charset="0"/>
              <a:buChar char="•"/>
            </a:pPr>
            <a:r>
              <a:rPr kumimoji="1" lang="en-US" dirty="0"/>
              <a:t> The most simple data for checking is the original data </a:t>
            </a:r>
            <a:r>
              <a:rPr kumimoji="1" lang="en-US" dirty="0">
                <a:sym typeface="Wingdings" pitchFamily="2" charset="2"/>
              </a:rPr>
              <a:t> A copy of original data is  written to memory . 8-bit data: 00001111, ECC data:  00001111  Memory must be increased  to double size</a:t>
            </a:r>
          </a:p>
          <a:p>
            <a:pPr>
              <a:buFont typeface="Arial" pitchFamily="34" charset="0"/>
              <a:buChar char="•"/>
            </a:pPr>
            <a:r>
              <a:rPr kumimoji="1" lang="en-US" dirty="0">
                <a:sym typeface="Wingdings" pitchFamily="2" charset="2"/>
              </a:rPr>
              <a:t>  XORs some bits of M-bit original data to K-bit ECC will decrease memory size.</a:t>
            </a:r>
          </a:p>
          <a:p>
            <a:pPr>
              <a:buFont typeface="Arial" pitchFamily="34" charset="0"/>
              <a:buChar char="•"/>
            </a:pPr>
            <a:r>
              <a:rPr kumimoji="1" lang="en-US" dirty="0">
                <a:sym typeface="Wingdings" pitchFamily="2" charset="2"/>
              </a:rPr>
              <a:t>Examples:</a:t>
            </a:r>
          </a:p>
          <a:p>
            <a:r>
              <a:rPr kumimoji="1" lang="en-US" dirty="0">
                <a:sym typeface="Wingdings" pitchFamily="2" charset="2"/>
              </a:rPr>
              <a:t>  8 bits  3 bits:      </a:t>
            </a:r>
            <a:r>
              <a:rPr kumimoji="1" lang="en-US" sz="3200" b="1" u="sng" dirty="0">
                <a:solidFill>
                  <a:srgbClr val="FF0000"/>
                </a:solidFill>
                <a:sym typeface="Wingdings" pitchFamily="2" charset="2"/>
              </a:rPr>
              <a:t>010</a:t>
            </a:r>
            <a:r>
              <a:rPr kumimoji="1" lang="en-US" sz="3200" b="1" u="sng" dirty="0">
                <a:solidFill>
                  <a:srgbClr val="0070C0"/>
                </a:solidFill>
                <a:sym typeface="Wingdings" pitchFamily="2" charset="2"/>
              </a:rPr>
              <a:t>101</a:t>
            </a:r>
            <a:r>
              <a:rPr kumimoji="1" lang="en-US" sz="3200" b="1" u="sng" dirty="0">
                <a:solidFill>
                  <a:srgbClr val="008000"/>
                </a:solidFill>
                <a:sym typeface="Wingdings" pitchFamily="2" charset="2"/>
              </a:rPr>
              <a:t>10</a:t>
            </a:r>
            <a:r>
              <a:rPr kumimoji="1" lang="en-US" sz="3200" dirty="0">
                <a:sym typeface="Wingdings" pitchFamily="2" charset="2"/>
              </a:rPr>
              <a:t>   </a:t>
            </a:r>
            <a:r>
              <a:rPr kumimoji="1" lang="en-US" sz="3200" b="1" dirty="0">
                <a:solidFill>
                  <a:srgbClr val="FF0000"/>
                </a:solidFill>
                <a:sym typeface="Wingdings" pitchFamily="2" charset="2"/>
              </a:rPr>
              <a:t>1</a:t>
            </a:r>
            <a:r>
              <a:rPr kumimoji="1" lang="en-US" sz="3200" dirty="0">
                <a:solidFill>
                  <a:srgbClr val="0000CC"/>
                </a:solidFill>
                <a:sym typeface="Wingdings" pitchFamily="2" charset="2"/>
              </a:rPr>
              <a:t>0</a:t>
            </a:r>
            <a:r>
              <a:rPr kumimoji="1" lang="en-US" sz="3200" b="1" dirty="0">
                <a:solidFill>
                  <a:srgbClr val="008000"/>
                </a:solidFill>
                <a:sym typeface="Wingdings" pitchFamily="2" charset="2"/>
              </a:rPr>
              <a:t>1</a:t>
            </a:r>
            <a:endParaRPr kumimoji="1" lang="en-US" b="1" dirty="0">
              <a:solidFill>
                <a:srgbClr val="008000"/>
              </a:solidFill>
            </a:endParaRPr>
          </a:p>
          <a:p>
            <a:r>
              <a:rPr kumimoji="1" lang="en-US" dirty="0">
                <a:sym typeface="Wingdings" pitchFamily="2" charset="2"/>
              </a:rPr>
              <a:t>  8 bits  2 bits:      </a:t>
            </a:r>
            <a:r>
              <a:rPr kumimoji="1" lang="en-US" sz="3200" b="1" u="sng" dirty="0">
                <a:solidFill>
                  <a:srgbClr val="FF0000"/>
                </a:solidFill>
                <a:sym typeface="Wingdings" pitchFamily="2" charset="2"/>
              </a:rPr>
              <a:t>0101</a:t>
            </a:r>
            <a:r>
              <a:rPr kumimoji="1" lang="en-US" sz="3200" b="1" u="sng" dirty="0">
                <a:solidFill>
                  <a:srgbClr val="0000CC"/>
                </a:solidFill>
                <a:sym typeface="Wingdings" pitchFamily="2" charset="2"/>
              </a:rPr>
              <a:t>0110</a:t>
            </a:r>
            <a:r>
              <a:rPr kumimoji="1" lang="en-US" sz="3200" dirty="0">
                <a:sym typeface="Wingdings" pitchFamily="2" charset="2"/>
              </a:rPr>
              <a:t>   </a:t>
            </a:r>
            <a:r>
              <a:rPr kumimoji="1" lang="en-US" sz="3200" b="1" dirty="0">
                <a:solidFill>
                  <a:srgbClr val="FF0000"/>
                </a:solidFill>
                <a:sym typeface="Wingdings" pitchFamily="2" charset="2"/>
              </a:rPr>
              <a:t>0</a:t>
            </a:r>
            <a:r>
              <a:rPr kumimoji="1" lang="en-US" sz="3200" b="1" dirty="0">
                <a:solidFill>
                  <a:srgbClr val="0000CC"/>
                </a:solidFill>
                <a:sym typeface="Wingdings" pitchFamily="2" charset="2"/>
              </a:rPr>
              <a:t>0</a:t>
            </a:r>
            <a:endParaRPr kumimoji="1" lang="en-US" b="1" dirty="0">
              <a:solidFill>
                <a:srgbClr val="008000"/>
              </a:solidFill>
            </a:endParaRPr>
          </a:p>
          <a:p>
            <a:r>
              <a:rPr kumimoji="1" lang="en-US" dirty="0">
                <a:sym typeface="Wingdings" pitchFamily="2" charset="2"/>
              </a:rPr>
              <a:t>  8 bits  1 bits:      </a:t>
            </a:r>
            <a:r>
              <a:rPr kumimoji="1" lang="en-US" sz="3200" b="1" dirty="0">
                <a:sym typeface="Wingdings" pitchFamily="2" charset="2"/>
              </a:rPr>
              <a:t>01010110</a:t>
            </a:r>
            <a:r>
              <a:rPr kumimoji="1" lang="en-US" sz="3200" dirty="0">
                <a:sym typeface="Wingdings" pitchFamily="2" charset="2"/>
              </a:rPr>
              <a:t>   </a:t>
            </a:r>
            <a:r>
              <a:rPr kumimoji="1" lang="en-US" sz="3200" b="1" dirty="0">
                <a:sym typeface="Wingdings" pitchFamily="2" charset="2"/>
              </a:rPr>
              <a:t>0</a:t>
            </a:r>
          </a:p>
          <a:p>
            <a:r>
              <a:rPr kumimoji="1" lang="en-US" b="1" dirty="0">
                <a:sym typeface="Wingdings" pitchFamily="2" charset="2"/>
              </a:rPr>
              <a:t>- Main memory bank usually includes 9 chips. Why?</a:t>
            </a:r>
            <a:endParaRPr kumimoji="1" lang="en-US" b="1" dirty="0"/>
          </a:p>
        </p:txBody>
      </p:sp>
      <p:pic>
        <p:nvPicPr>
          <p:cNvPr id="1027" name="Picture 3"/>
          <p:cNvPicPr>
            <a:picLocks noChangeAspect="1" noChangeArrowheads="1"/>
          </p:cNvPicPr>
          <p:nvPr/>
        </p:nvPicPr>
        <p:blipFill>
          <a:blip r:embed="rId3">
            <a:lum bright="7000" contrast="13000"/>
          </a:blip>
          <a:srcRect/>
          <a:stretch>
            <a:fillRect/>
          </a:stretch>
        </p:blipFill>
        <p:spPr bwMode="auto">
          <a:xfrm>
            <a:off x="2343114" y="5500702"/>
            <a:ext cx="4086274" cy="1188490"/>
          </a:xfrm>
          <a:prstGeom prst="rect">
            <a:avLst/>
          </a:prstGeom>
          <a:noFill/>
          <a:ln w="9525">
            <a:noFill/>
            <a:miter lim="800000"/>
            <a:headEnd/>
            <a:tailEnd/>
          </a:ln>
          <a:effec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3857620" y="871100"/>
            <a:ext cx="5095936" cy="5486858"/>
          </a:xfrm>
          <a:prstGeom prst="rect">
            <a:avLst/>
          </a:prstGeom>
          <a:noFill/>
          <a:ln w="9525">
            <a:noFill/>
            <a:miter lim="800000"/>
            <a:headEnd/>
            <a:tailEnd/>
          </a:ln>
          <a:effectLst/>
        </p:spPr>
      </p:pic>
      <p:sp>
        <p:nvSpPr>
          <p:cNvPr id="22" name="Title 21"/>
          <p:cNvSpPr>
            <a:spLocks noGrp="1"/>
          </p:cNvSpPr>
          <p:nvPr>
            <p:ph type="title"/>
          </p:nvPr>
        </p:nvSpPr>
        <p:spPr>
          <a:xfrm>
            <a:off x="381000" y="357166"/>
            <a:ext cx="3255264" cy="2486020"/>
          </a:xfrm>
        </p:spPr>
        <p:txBody>
          <a:bodyPr>
            <a:normAutofit fontScale="90000"/>
          </a:bodyPr>
          <a:lstStyle/>
          <a:p>
            <a:pPr algn="ctr"/>
            <a:r>
              <a:rPr lang="en-US" sz="4000" dirty="0">
                <a:effectLst>
                  <a:outerShdw blurRad="38100" dist="38100" dir="2700000" algn="tl">
                    <a:srgbClr val="000000">
                      <a:alpha val="43137"/>
                    </a:srgbClr>
                  </a:outerShdw>
                </a:effectLst>
              </a:rPr>
              <a:t>Hamming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Error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Correcting </a:t>
            </a:r>
            <a:br>
              <a:rPr lang="en-US" sz="4000" dirty="0">
                <a:effectLst>
                  <a:outerShdw blurRad="38100" dist="38100" dir="2700000" algn="tl">
                    <a:srgbClr val="000000">
                      <a:alpha val="43137"/>
                    </a:srgbClr>
                  </a:outerShdw>
                </a:effectLst>
              </a:rPr>
            </a:br>
            <a:r>
              <a:rPr lang="en-US" sz="4000" dirty="0">
                <a:effectLst>
                  <a:outerShdw blurRad="38100" dist="38100" dir="2700000" algn="tl">
                    <a:srgbClr val="000000">
                      <a:alpha val="43137"/>
                    </a:srgbClr>
                  </a:outerShdw>
                </a:effectLst>
              </a:rPr>
              <a:t>Code</a:t>
            </a:r>
          </a:p>
        </p:txBody>
      </p:sp>
      <p:sp>
        <p:nvSpPr>
          <p:cNvPr id="4" name="Rectangle 3"/>
          <p:cNvSpPr/>
          <p:nvPr/>
        </p:nvSpPr>
        <p:spPr>
          <a:xfrm>
            <a:off x="428596" y="3000372"/>
            <a:ext cx="3143272" cy="830997"/>
          </a:xfrm>
          <a:prstGeom prst="rect">
            <a:avLst/>
          </a:prstGeom>
        </p:spPr>
        <p:txBody>
          <a:bodyPr wrap="square">
            <a:spAutoFit/>
          </a:bodyPr>
          <a:lstStyle/>
          <a:p>
            <a:r>
              <a:rPr kumimoji="1" lang="en-US" dirty="0">
                <a:solidFill>
                  <a:schemeClr val="bg1"/>
                </a:solidFill>
              </a:rPr>
              <a:t>Richard Hamming at Bell Laboratories</a:t>
            </a:r>
            <a:endParaRPr lang="en-US" dirty="0">
              <a:solidFill>
                <a:schemeClr val="bg1"/>
              </a:solidFill>
            </a:endParaRPr>
          </a:p>
        </p:txBody>
      </p:sp>
      <p:sp>
        <p:nvSpPr>
          <p:cNvPr id="6" name="Rectangle 5"/>
          <p:cNvSpPr/>
          <p:nvPr/>
        </p:nvSpPr>
        <p:spPr>
          <a:xfrm>
            <a:off x="4357686" y="385684"/>
            <a:ext cx="1357290" cy="400110"/>
          </a:xfrm>
          <a:prstGeom prst="rect">
            <a:avLst/>
          </a:prstGeom>
          <a:solidFill>
            <a:schemeClr val="accent6">
              <a:lumMod val="20000"/>
              <a:lumOff val="80000"/>
            </a:schemeClr>
          </a:solidFill>
          <a:ln>
            <a:solidFill>
              <a:schemeClr val="tx1"/>
            </a:solidFill>
          </a:ln>
        </p:spPr>
        <p:txBody>
          <a:bodyPr wrap="square">
            <a:spAutoFit/>
          </a:bodyPr>
          <a:lstStyle/>
          <a:p>
            <a:r>
              <a:rPr kumimoji="1" lang="en-US" sz="2000" dirty="0">
                <a:solidFill>
                  <a:srgbClr val="002060"/>
                </a:solidFill>
              </a:rPr>
              <a:t>Data: 4 bits</a:t>
            </a:r>
            <a:endParaRPr lang="en-US" sz="2000" dirty="0">
              <a:solidFill>
                <a:srgbClr val="002060"/>
              </a:solidFill>
            </a:endParaRPr>
          </a:p>
        </p:txBody>
      </p:sp>
      <p:sp>
        <p:nvSpPr>
          <p:cNvPr id="7" name="Rectangle 6"/>
          <p:cNvSpPr/>
          <p:nvPr/>
        </p:nvSpPr>
        <p:spPr>
          <a:xfrm>
            <a:off x="428596" y="4002480"/>
            <a:ext cx="3143272" cy="1569660"/>
          </a:xfrm>
          <a:prstGeom prst="rect">
            <a:avLst/>
          </a:prstGeom>
          <a:solidFill>
            <a:srgbClr val="99FF99"/>
          </a:solidFill>
        </p:spPr>
        <p:txBody>
          <a:bodyPr wrap="square">
            <a:spAutoFit/>
          </a:bodyPr>
          <a:lstStyle/>
          <a:p>
            <a:r>
              <a:rPr kumimoji="1" lang="en-US" b="1" dirty="0">
                <a:solidFill>
                  <a:srgbClr val="FF0000"/>
                </a:solidFill>
              </a:rPr>
              <a:t>Parity bit (P) =1 if number of 1s is odd. Based on parity bit, data can be corrected.</a:t>
            </a:r>
            <a:endParaRPr lang="en-US" b="1" dirty="0">
              <a:solidFill>
                <a:srgbClr val="FF0000"/>
              </a:solidFill>
            </a:endParaRPr>
          </a:p>
        </p:txBody>
      </p:sp>
      <p:sp>
        <p:nvSpPr>
          <p:cNvPr id="9" name="Rectangle 8"/>
          <p:cNvSpPr/>
          <p:nvPr/>
        </p:nvSpPr>
        <p:spPr>
          <a:xfrm>
            <a:off x="6572264" y="5643578"/>
            <a:ext cx="928694" cy="285752"/>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800" b="1" dirty="0"/>
              <a:t>0 </a:t>
            </a:r>
            <a:r>
              <a:rPr lang="en-US" sz="1800" b="1" dirty="0">
                <a:sym typeface="Wingdings" pitchFamily="2" charset="2"/>
              </a:rPr>
              <a:t> 1</a:t>
            </a:r>
            <a:endParaRPr lang="en-US" sz="1800" b="1" dirty="0"/>
          </a:p>
        </p:txBody>
      </p:sp>
      <p:cxnSp>
        <p:nvCxnSpPr>
          <p:cNvPr id="14" name="Straight Arrow Connector 13"/>
          <p:cNvCxnSpPr>
            <a:endCxn id="9" idx="0"/>
          </p:cNvCxnSpPr>
          <p:nvPr/>
        </p:nvCxnSpPr>
        <p:spPr>
          <a:xfrm rot="5400000">
            <a:off x="6804439" y="5161373"/>
            <a:ext cx="714378" cy="250033"/>
          </a:xfrm>
          <a:prstGeom prst="straightConnector1">
            <a:avLst/>
          </a:prstGeom>
          <a:ln w="12700">
            <a:solidFill>
              <a:srgbClr val="0070C0"/>
            </a:solidFill>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43702" y="285728"/>
            <a:ext cx="2143140" cy="338554"/>
          </a:xfrm>
          <a:prstGeom prst="rect">
            <a:avLst/>
          </a:prstGeom>
          <a:solidFill>
            <a:schemeClr val="accent6">
              <a:lumMod val="20000"/>
              <a:lumOff val="80000"/>
            </a:schemeClr>
          </a:solidFill>
        </p:spPr>
        <p:txBody>
          <a:bodyPr wrap="square" rtlCol="0">
            <a:spAutoFit/>
          </a:bodyPr>
          <a:lstStyle/>
          <a:p>
            <a:pPr algn="ctr"/>
            <a:r>
              <a:rPr lang="en-US" sz="1600"/>
              <a:t>1 XOR 1 XOR 1 = 1</a:t>
            </a:r>
          </a:p>
        </p:txBody>
      </p:sp>
      <p:cxnSp>
        <p:nvCxnSpPr>
          <p:cNvPr id="12" name="Straight Arrow Connector 11"/>
          <p:cNvCxnSpPr>
            <a:stCxn id="10" idx="2"/>
          </p:cNvCxnSpPr>
          <p:nvPr/>
        </p:nvCxnSpPr>
        <p:spPr>
          <a:xfrm rot="5400000">
            <a:off x="7241607" y="1097947"/>
            <a:ext cx="947330" cy="1588"/>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rot="10800000" flipV="1">
            <a:off x="7215206" y="571480"/>
            <a:ext cx="1285884" cy="1071570"/>
          </a:xfrm>
          <a:prstGeom prst="straightConnector1">
            <a:avLst/>
          </a:prstGeom>
          <a:ln w="3175">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71472" y="214290"/>
            <a:ext cx="7746841" cy="752460"/>
          </a:xfrm>
        </p:spPr>
        <p:txBody>
          <a:bodyPr/>
          <a:lstStyle/>
          <a:p>
            <a:r>
              <a:rPr lang="en-US" dirty="0">
                <a:effectLst>
                  <a:outerShdw blurRad="38100" dist="38100" dir="2700000" algn="tl">
                    <a:srgbClr val="000000">
                      <a:alpha val="43137"/>
                    </a:srgbClr>
                  </a:outerShdw>
                </a:effectLst>
              </a:rPr>
              <a:t>Increase in Word Length with ECC</a:t>
            </a:r>
          </a:p>
        </p:txBody>
      </p:sp>
      <p:pic>
        <p:nvPicPr>
          <p:cNvPr id="12290" name="Picture 2"/>
          <p:cNvPicPr>
            <a:picLocks noChangeAspect="1" noChangeArrowheads="1"/>
          </p:cNvPicPr>
          <p:nvPr/>
        </p:nvPicPr>
        <p:blipFill>
          <a:blip r:embed="rId3"/>
          <a:srcRect/>
          <a:stretch>
            <a:fillRect/>
          </a:stretch>
        </p:blipFill>
        <p:spPr bwMode="auto">
          <a:xfrm>
            <a:off x="25873" y="1500175"/>
            <a:ext cx="9092254" cy="3857652"/>
          </a:xfrm>
          <a:prstGeom prst="rect">
            <a:avLst/>
          </a:prstGeom>
          <a:noFill/>
          <a:ln w="9525">
            <a:noFill/>
            <a:miter lim="800000"/>
            <a:headEnd/>
            <a:tailEnd/>
          </a:ln>
          <a:effectLst/>
        </p:spPr>
      </p:pic>
      <p:sp>
        <p:nvSpPr>
          <p:cNvPr id="4" name="TextBox 3"/>
          <p:cNvSpPr txBox="1"/>
          <p:nvPr/>
        </p:nvSpPr>
        <p:spPr>
          <a:xfrm>
            <a:off x="251520" y="5475753"/>
            <a:ext cx="5929354" cy="830997"/>
          </a:xfrm>
          <a:prstGeom prst="rect">
            <a:avLst/>
          </a:prstGeom>
          <a:noFill/>
        </p:spPr>
        <p:txBody>
          <a:bodyPr wrap="square" rtlCol="0">
            <a:spAutoFit/>
          </a:bodyPr>
          <a:lstStyle/>
          <a:p>
            <a:r>
              <a:rPr lang="en-US" dirty="0"/>
              <a:t>Data 4 bits (2</a:t>
            </a:r>
            <a:r>
              <a:rPr lang="en-US" baseline="30000" dirty="0"/>
              <a:t>2</a:t>
            </a:r>
            <a:r>
              <a:rPr lang="en-US" dirty="0"/>
              <a:t>) </a:t>
            </a:r>
            <a:r>
              <a:rPr lang="en-US" dirty="0">
                <a:sym typeface="Wingdings" pitchFamily="2" charset="2"/>
              </a:rPr>
              <a:t> At least 3 bit ECC (2+1) </a:t>
            </a:r>
          </a:p>
          <a:p>
            <a:r>
              <a:rPr lang="en-US" dirty="0">
                <a:sym typeface="Wingdings" pitchFamily="2" charset="2"/>
              </a:rPr>
              <a:t>Data 8 bits (2</a:t>
            </a:r>
            <a:r>
              <a:rPr lang="en-US" baseline="30000" dirty="0">
                <a:sym typeface="Wingdings" pitchFamily="2" charset="2"/>
              </a:rPr>
              <a:t>3</a:t>
            </a:r>
            <a:r>
              <a:rPr lang="en-US" dirty="0">
                <a:sym typeface="Wingdings" pitchFamily="2" charset="2"/>
              </a:rPr>
              <a:t>)   At least 4 bit ECC (3+1)</a:t>
            </a:r>
            <a:endParaRPr 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3400" y="838200"/>
            <a:ext cx="7556313" cy="1116106"/>
          </a:xfrm>
        </p:spPr>
        <p:txBody>
          <a:bodyPr/>
          <a:lstStyle/>
          <a:p>
            <a:r>
              <a:rPr lang="en-US" dirty="0">
                <a:effectLst>
                  <a:outerShdw blurRad="38100" dist="38100" dir="2700000" algn="tl">
                    <a:srgbClr val="000000">
                      <a:alpha val="43137"/>
                    </a:srgbClr>
                  </a:outerShdw>
                </a:effectLst>
              </a:rPr>
              <a:t>Layout of Data Bits and Check Bits</a:t>
            </a:r>
          </a:p>
        </p:txBody>
      </p:sp>
      <p:grpSp>
        <p:nvGrpSpPr>
          <p:cNvPr id="6" name="Group 5"/>
          <p:cNvGrpSpPr/>
          <p:nvPr/>
        </p:nvGrpSpPr>
        <p:grpSpPr>
          <a:xfrm>
            <a:off x="0" y="1643050"/>
            <a:ext cx="9144001" cy="4398500"/>
            <a:chOff x="0" y="1643050"/>
            <a:chExt cx="9144001" cy="4398500"/>
          </a:xfrm>
        </p:grpSpPr>
        <p:pic>
          <p:nvPicPr>
            <p:cNvPr id="7" name="Picture 6"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4545" b="60909"/>
                <a:stretch>
                  <a:fillRect/>
                </a:stretch>
              </p:blipFill>
            </mc:Choice>
            <mc:Fallback>
              <p:blipFill>
                <a:blip r:embed="rId4"/>
                <a:srcRect l="7059" t="4545" b="60909"/>
                <a:stretch>
                  <a:fillRect/>
                </a:stretch>
              </p:blipFill>
            </mc:Fallback>
          </mc:AlternateContent>
          <p:spPr>
            <a:xfrm>
              <a:off x="0" y="1643050"/>
              <a:ext cx="9144001" cy="4398500"/>
            </a:xfrm>
            <a:prstGeom prst="rect">
              <a:avLst/>
            </a:prstGeom>
          </p:spPr>
        </p:pic>
        <p:sp>
          <p:nvSpPr>
            <p:cNvPr id="4" name="TextBox 3"/>
            <p:cNvSpPr txBox="1"/>
            <p:nvPr/>
          </p:nvSpPr>
          <p:spPr>
            <a:xfrm>
              <a:off x="1643042" y="4714884"/>
              <a:ext cx="7215238" cy="461665"/>
            </a:xfrm>
            <a:prstGeom prst="rect">
              <a:avLst/>
            </a:prstGeom>
            <a:noFill/>
          </p:spPr>
          <p:txBody>
            <a:bodyPr wrap="square" rtlCol="0">
              <a:spAutoFit/>
            </a:bodyPr>
            <a:lstStyle/>
            <a:p>
              <a:r>
                <a:rPr lang="en-US"/>
                <a:t> Check positions:  2</a:t>
              </a:r>
              <a:r>
                <a:rPr lang="en-US" baseline="30000"/>
                <a:t>3</a:t>
              </a:r>
              <a:r>
                <a:rPr lang="en-US"/>
                <a:t>                             2</a:t>
              </a:r>
              <a:r>
                <a:rPr lang="en-US" baseline="30000"/>
                <a:t>2</a:t>
              </a:r>
              <a:r>
                <a:rPr lang="en-US"/>
                <a:t>              2</a:t>
              </a:r>
              <a:r>
                <a:rPr lang="en-US" baseline="30000"/>
                <a:t>1</a:t>
              </a:r>
              <a:r>
                <a:rPr lang="en-US"/>
                <a:t>    2</a:t>
              </a:r>
              <a:r>
                <a:rPr lang="en-US" baseline="30000"/>
                <a:t>0</a:t>
              </a:r>
            </a:p>
          </p:txBody>
        </p:sp>
      </p:grpSp>
      <p:sp>
        <p:nvSpPr>
          <p:cNvPr id="8" name="TextBox 7"/>
          <p:cNvSpPr txBox="1"/>
          <p:nvPr/>
        </p:nvSpPr>
        <p:spPr>
          <a:xfrm>
            <a:off x="357158" y="5786454"/>
            <a:ext cx="8429684" cy="461665"/>
          </a:xfrm>
          <a:prstGeom prst="rect">
            <a:avLst/>
          </a:prstGeom>
          <a:noFill/>
        </p:spPr>
        <p:txBody>
          <a:bodyPr wrap="square" rtlCol="0">
            <a:spAutoFit/>
          </a:bodyPr>
          <a:lstStyle/>
          <a:p>
            <a:r>
              <a:rPr lang="en-US"/>
              <a:t>(Algorithm for computing Ci bit  is pre-defined)</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990600" y="214290"/>
            <a:ext cx="7556500" cy="619108"/>
          </a:xfrm>
        </p:spPr>
        <p:txBody>
          <a:bodyPr/>
          <a:lstStyle/>
          <a:p>
            <a:r>
              <a:rPr lang="en-US" dirty="0">
                <a:effectLst>
                  <a:outerShdw blurRad="38100" dist="38100" dir="2700000" algn="tl">
                    <a:srgbClr val="000000">
                      <a:alpha val="43137"/>
                    </a:srgbClr>
                  </a:outerShdw>
                </a:effectLst>
              </a:rPr>
              <a:t>Check Bit Calculation</a:t>
            </a:r>
          </a:p>
        </p:txBody>
      </p:sp>
      <p:sp>
        <p:nvSpPr>
          <p:cNvPr id="8" name="TextBox 7"/>
          <p:cNvSpPr txBox="1"/>
          <p:nvPr/>
        </p:nvSpPr>
        <p:spPr>
          <a:xfrm>
            <a:off x="5429256" y="785794"/>
            <a:ext cx="1071570" cy="461665"/>
          </a:xfrm>
          <a:prstGeom prst="rect">
            <a:avLst/>
          </a:prstGeom>
          <a:noFill/>
        </p:spPr>
        <p:txBody>
          <a:bodyPr wrap="square" rtlCol="0">
            <a:spAutoFit/>
          </a:bodyPr>
          <a:lstStyle/>
          <a:p>
            <a:r>
              <a:rPr lang="en-US"/>
              <a:t>Error</a:t>
            </a:r>
          </a:p>
        </p:txBody>
      </p:sp>
      <p:grpSp>
        <p:nvGrpSpPr>
          <p:cNvPr id="11" name="Group 10"/>
          <p:cNvGrpSpPr/>
          <p:nvPr/>
        </p:nvGrpSpPr>
        <p:grpSpPr>
          <a:xfrm>
            <a:off x="-71470" y="1131153"/>
            <a:ext cx="7731550" cy="5550934"/>
            <a:chOff x="609600" y="1307066"/>
            <a:chExt cx="7731550" cy="5550934"/>
          </a:xfrm>
        </p:grpSpPr>
        <p:pic>
          <p:nvPicPr>
            <p:cNvPr id="4" name="Picture 3"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8182" b="40909"/>
                <a:stretch>
                  <a:fillRect/>
                </a:stretch>
              </p:blipFill>
            </mc:Choice>
            <mc:Fallback>
              <p:blipFill>
                <a:blip r:embed="rId4"/>
                <a:srcRect l="8235" t="8182" b="40909"/>
                <a:stretch>
                  <a:fillRect/>
                </a:stretch>
              </p:blipFill>
            </mc:Fallback>
          </mc:AlternateContent>
          <p:spPr>
            <a:xfrm>
              <a:off x="609600" y="1307066"/>
              <a:ext cx="7731550" cy="5550934"/>
            </a:xfrm>
            <a:prstGeom prst="rect">
              <a:avLst/>
            </a:prstGeom>
          </p:spPr>
        </p:pic>
        <p:sp>
          <p:nvSpPr>
            <p:cNvPr id="7" name="Rectangle 6"/>
            <p:cNvSpPr/>
            <p:nvPr/>
          </p:nvSpPr>
          <p:spPr>
            <a:xfrm>
              <a:off x="5000628" y="3714752"/>
              <a:ext cx="285752" cy="1143008"/>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rot="5400000">
              <a:off x="4571865" y="2033414"/>
              <a:ext cx="2467293" cy="1038258"/>
            </a:xfrm>
            <a:prstGeom prst="straightConnector1">
              <a:avLst/>
            </a:prstGeom>
            <a:ln w="3175">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grpSp>
      <p:sp>
        <p:nvSpPr>
          <p:cNvPr id="12" name="TextBox 11"/>
          <p:cNvSpPr txBox="1"/>
          <p:nvPr/>
        </p:nvSpPr>
        <p:spPr>
          <a:xfrm>
            <a:off x="7358082" y="3429000"/>
            <a:ext cx="1785918" cy="369332"/>
          </a:xfrm>
          <a:prstGeom prst="rect">
            <a:avLst/>
          </a:prstGeom>
          <a:solidFill>
            <a:srgbClr val="FF0000"/>
          </a:solidFill>
        </p:spPr>
        <p:txBody>
          <a:bodyPr wrap="square" rtlCol="0">
            <a:spAutoFit/>
          </a:bodyPr>
          <a:lstStyle/>
          <a:p>
            <a:r>
              <a:rPr lang="en-US" sz="1800">
                <a:solidFill>
                  <a:schemeClr val="bg1"/>
                </a:solidFill>
              </a:rPr>
              <a:t>ECC write: 0111</a:t>
            </a:r>
          </a:p>
        </p:txBody>
      </p:sp>
      <p:sp>
        <p:nvSpPr>
          <p:cNvPr id="14" name="TextBox 13"/>
          <p:cNvSpPr txBox="1"/>
          <p:nvPr/>
        </p:nvSpPr>
        <p:spPr>
          <a:xfrm>
            <a:off x="7358082" y="5417122"/>
            <a:ext cx="1785918" cy="369332"/>
          </a:xfrm>
          <a:prstGeom prst="rect">
            <a:avLst/>
          </a:prstGeom>
          <a:solidFill>
            <a:srgbClr val="FF0000"/>
          </a:solidFill>
        </p:spPr>
        <p:txBody>
          <a:bodyPr wrap="square" rtlCol="0">
            <a:spAutoFit/>
          </a:bodyPr>
          <a:lstStyle/>
          <a:p>
            <a:r>
              <a:rPr lang="en-US" sz="1800">
                <a:solidFill>
                  <a:schemeClr val="bg1"/>
                </a:solidFill>
              </a:rPr>
              <a:t>ECC read: 0001</a:t>
            </a:r>
          </a:p>
        </p:txBody>
      </p:sp>
      <p:sp>
        <p:nvSpPr>
          <p:cNvPr id="15" name="TextBox 14"/>
          <p:cNvSpPr txBox="1"/>
          <p:nvPr/>
        </p:nvSpPr>
        <p:spPr>
          <a:xfrm>
            <a:off x="5572132" y="6000768"/>
            <a:ext cx="3286148" cy="369332"/>
          </a:xfrm>
          <a:prstGeom prst="rect">
            <a:avLst/>
          </a:prstGeom>
          <a:solidFill>
            <a:srgbClr val="FF0000"/>
          </a:solidFill>
        </p:spPr>
        <p:txBody>
          <a:bodyPr wrap="square" rtlCol="0">
            <a:spAutoFit/>
          </a:bodyPr>
          <a:lstStyle/>
          <a:p>
            <a:r>
              <a:rPr lang="en-US" sz="1800">
                <a:solidFill>
                  <a:schemeClr val="bg1"/>
                </a:solidFill>
              </a:rPr>
              <a:t>0111 XOR 0001 != 0 </a:t>
            </a:r>
            <a:r>
              <a:rPr lang="en-US" sz="1800">
                <a:solidFill>
                  <a:schemeClr val="bg1"/>
                </a:solidFill>
                <a:sym typeface="Wingdings" pitchFamily="2" charset="2"/>
              </a:rPr>
              <a:t> Error</a:t>
            </a:r>
            <a:endParaRPr lang="en-US" sz="1800">
              <a:solidFill>
                <a:schemeClr val="bg1"/>
              </a:solidFill>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p:cNvSpPr txBox="1">
            <a:spLocks/>
          </p:cNvSpPr>
          <p:nvPr/>
        </p:nvSpPr>
        <p:spPr>
          <a:xfrm>
            <a:off x="990600" y="214290"/>
            <a:ext cx="7556500" cy="5590974"/>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3600" b="0" kern="1200">
                <a:solidFill>
                  <a:schemeClr val="accent1"/>
                </a:solidFill>
                <a:latin typeface="+mj-lt"/>
                <a:ea typeface="+mj-ea"/>
                <a:cs typeface="+mj-cs"/>
              </a:defRPr>
            </a:lvl1pPr>
          </a:lstStyle>
          <a:p>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Data Write: 11000010</a:t>
            </a:r>
          </a:p>
          <a:p>
            <a:r>
              <a:rPr lang="en-US" dirty="0">
                <a:effectLst>
                  <a:outerShdw blurRad="38100" dist="38100" dir="2700000" algn="tl">
                    <a:srgbClr val="000000">
                      <a:alpha val="43137"/>
                    </a:srgbClr>
                  </a:outerShdw>
                </a:effectLst>
              </a:rPr>
              <a:t>Data Read:   11000000</a:t>
            </a:r>
          </a:p>
          <a:p>
            <a:endParaRPr lang="en-US"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ECC write ?</a:t>
            </a:r>
          </a:p>
          <a:p>
            <a:r>
              <a:rPr lang="en-US" dirty="0">
                <a:effectLst>
                  <a:outerShdw blurRad="38100" dist="38100" dir="2700000" algn="tl">
                    <a:srgbClr val="000000">
                      <a:alpha val="43137"/>
                    </a:srgbClr>
                  </a:outerShdw>
                </a:effectLst>
              </a:rPr>
              <a:t>ECC Read ?</a:t>
            </a:r>
          </a:p>
          <a:p>
            <a:r>
              <a:rPr lang="en-US" dirty="0">
                <a:effectLst>
                  <a:outerShdw blurRad="38100" dist="38100" dir="2700000" algn="tl">
                    <a:srgbClr val="000000">
                      <a:alpha val="43137"/>
                    </a:srgbClr>
                  </a:outerShdw>
                </a:effectLst>
              </a:rPr>
              <a:t>Err ?</a:t>
            </a:r>
          </a:p>
        </p:txBody>
      </p:sp>
    </p:spTree>
    <p:extLst>
      <p:ext uri="{BB962C8B-B14F-4D97-AF65-F5344CB8AC3E}">
        <p14:creationId xmlns:p14="http://schemas.microsoft.com/office/powerpoint/2010/main" val="2889763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4152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48" y="71414"/>
            <a:ext cx="7556313" cy="1116106"/>
          </a:xfrm>
        </p:spPr>
        <p:txBody>
          <a:bodyPr/>
          <a:lstStyle/>
          <a:p>
            <a:r>
              <a:rPr lang="en-US" dirty="0">
                <a:effectLst>
                  <a:outerShdw blurRad="38100" dist="38100" dir="2700000" algn="tl">
                    <a:srgbClr val="000000">
                      <a:alpha val="43137"/>
                    </a:srgbClr>
                  </a:outerShdw>
                </a:effectLst>
              </a:rPr>
              <a:t>Hamming SEC-DED Code</a:t>
            </a:r>
            <a:br>
              <a:rPr lang="en-US" dirty="0">
                <a:effectLst>
                  <a:outerShdw blurRad="38100" dist="38100" dir="2700000" algn="tl">
                    <a:srgbClr val="000000">
                      <a:alpha val="43137"/>
                    </a:srgbClr>
                  </a:outerShdw>
                </a:effectLst>
              </a:rPr>
            </a:br>
            <a:r>
              <a:rPr lang="en-US" sz="1600" b="1" u="sng" dirty="0">
                <a:effectLst>
                  <a:outerShdw blurRad="38100" dist="38100" dir="2700000" algn="tl">
                    <a:srgbClr val="000000">
                      <a:alpha val="43137"/>
                    </a:srgbClr>
                  </a:outerShdw>
                </a:effectLst>
              </a:rPr>
              <a:t>S</a:t>
            </a:r>
            <a:r>
              <a:rPr lang="en-US" sz="1600" dirty="0">
                <a:effectLst>
                  <a:outerShdw blurRad="38100" dist="38100" dir="2700000" algn="tl">
                    <a:srgbClr val="000000">
                      <a:alpha val="43137"/>
                    </a:srgbClr>
                  </a:outerShdw>
                </a:effectLst>
              </a:rPr>
              <a:t>ingle-</a:t>
            </a:r>
            <a:r>
              <a:rPr lang="en-US" sz="1600" b="1" u="sng" dirty="0">
                <a:effectLst>
                  <a:outerShdw blurRad="38100" dist="38100" dir="2700000" algn="tl">
                    <a:srgbClr val="000000">
                      <a:alpha val="43137"/>
                    </a:srgbClr>
                  </a:outerShdw>
                </a:effectLst>
              </a:rPr>
              <a:t>E</a:t>
            </a:r>
            <a:r>
              <a:rPr lang="en-US" sz="1600" dirty="0">
                <a:effectLst>
                  <a:outerShdw blurRad="38100" dist="38100" dir="2700000" algn="tl">
                    <a:srgbClr val="000000">
                      <a:alpha val="43137"/>
                    </a:srgbClr>
                  </a:outerShdw>
                </a:effectLst>
              </a:rPr>
              <a:t>rror </a:t>
            </a:r>
            <a:r>
              <a:rPr lang="en-US" sz="1600" b="1" u="sng" dirty="0">
                <a:effectLst>
                  <a:outerShdw blurRad="38100" dist="38100" dir="2700000" algn="tl">
                    <a:srgbClr val="000000">
                      <a:alpha val="43137"/>
                    </a:srgbClr>
                  </a:outerShdw>
                </a:effectLst>
              </a:rPr>
              <a:t>C</a:t>
            </a:r>
            <a:r>
              <a:rPr lang="en-US" sz="1600" dirty="0">
                <a:effectLst>
                  <a:outerShdw blurRad="38100" dist="38100" dir="2700000" algn="tl">
                    <a:srgbClr val="000000">
                      <a:alpha val="43137"/>
                    </a:srgbClr>
                  </a:outerShdw>
                </a:effectLst>
              </a:rPr>
              <a:t>orrecting/</a:t>
            </a:r>
            <a:r>
              <a:rPr lang="en-US" sz="1600" b="1" u="sng" dirty="0">
                <a:effectLst>
                  <a:outerShdw blurRad="38100" dist="38100" dir="2700000" algn="tl">
                    <a:srgbClr val="000000">
                      <a:alpha val="43137"/>
                    </a:srgbClr>
                  </a:outerShdw>
                </a:effectLst>
              </a:rPr>
              <a:t>D</a:t>
            </a:r>
            <a:r>
              <a:rPr lang="en-US" sz="1600" dirty="0">
                <a:effectLst>
                  <a:outerShdw blurRad="38100" dist="38100" dir="2700000" algn="tl">
                    <a:srgbClr val="000000">
                      <a:alpha val="43137"/>
                    </a:srgbClr>
                  </a:outerShdw>
                </a:effectLst>
              </a:rPr>
              <a:t>ouble-</a:t>
            </a:r>
            <a:r>
              <a:rPr lang="en-US" sz="1600" b="1" u="sng" dirty="0">
                <a:effectLst>
                  <a:outerShdw blurRad="38100" dist="38100" dir="2700000" algn="tl">
                    <a:srgbClr val="000000">
                      <a:alpha val="43137"/>
                    </a:srgbClr>
                  </a:outerShdw>
                </a:effectLst>
              </a:rPr>
              <a:t>E</a:t>
            </a:r>
            <a:r>
              <a:rPr lang="en-US" sz="1600" dirty="0">
                <a:effectLst>
                  <a:outerShdw blurRad="38100" dist="38100" dir="2700000" algn="tl">
                    <a:srgbClr val="000000">
                      <a:alpha val="43137"/>
                    </a:srgbClr>
                  </a:outerShdw>
                </a:effectLst>
              </a:rPr>
              <a:t>rror </a:t>
            </a:r>
            <a:r>
              <a:rPr lang="en-US" sz="1600" b="1" u="sng" dirty="0">
                <a:effectLst>
                  <a:outerShdw blurRad="38100" dist="38100" dir="2700000" algn="tl">
                    <a:srgbClr val="000000">
                      <a:alpha val="43137"/>
                    </a:srgbClr>
                  </a:outerShdw>
                </a:effectLst>
              </a:rPr>
              <a:t>D</a:t>
            </a:r>
            <a:r>
              <a:rPr lang="en-US" sz="1600" dirty="0">
                <a:effectLst>
                  <a:outerShdw blurRad="38100" dist="38100" dir="2700000" algn="tl">
                    <a:srgbClr val="000000">
                      <a:alpha val="43137"/>
                    </a:srgbClr>
                  </a:outerShdw>
                </a:effectLst>
              </a:rPr>
              <a:t>etecting</a:t>
            </a:r>
            <a:endParaRPr lang="en-US" dirty="0">
              <a:effectLst>
                <a:outerShdw blurRad="38100" dist="38100" dir="2700000" algn="tl">
                  <a:srgbClr val="000000">
                    <a:alpha val="43137"/>
                  </a:srgbClr>
                </a:outerShdw>
              </a:effectLst>
            </a:endParaRPr>
          </a:p>
        </p:txBody>
      </p:sp>
      <p:sp>
        <p:nvSpPr>
          <p:cNvPr id="5" name="Rectangle 4"/>
          <p:cNvSpPr/>
          <p:nvPr/>
        </p:nvSpPr>
        <p:spPr>
          <a:xfrm>
            <a:off x="7429520" y="1928802"/>
            <a:ext cx="1714480" cy="3416320"/>
          </a:xfrm>
          <a:prstGeom prst="rect">
            <a:avLst/>
          </a:prstGeom>
        </p:spPr>
        <p:txBody>
          <a:bodyPr wrap="square">
            <a:spAutoFit/>
          </a:bodyPr>
          <a:lstStyle/>
          <a:p>
            <a:r>
              <a:rPr kumimoji="1" lang="en-US" sz="1800" dirty="0"/>
              <a:t>The sequence shows that if two errors occur (Figure 5.11c), the checking procedure</a:t>
            </a:r>
          </a:p>
          <a:p>
            <a:r>
              <a:rPr kumimoji="1" lang="en-US" sz="1800" dirty="0"/>
              <a:t>goes astray – chệch hướng (d) and worsens the problem by creating a third error (e). </a:t>
            </a:r>
          </a:p>
        </p:txBody>
      </p:sp>
      <p:sp>
        <p:nvSpPr>
          <p:cNvPr id="6" name="Rectangle 5"/>
          <p:cNvSpPr/>
          <p:nvPr/>
        </p:nvSpPr>
        <p:spPr>
          <a:xfrm>
            <a:off x="0" y="6072206"/>
            <a:ext cx="9144000" cy="707886"/>
          </a:xfrm>
          <a:prstGeom prst="rect">
            <a:avLst/>
          </a:prstGeom>
        </p:spPr>
        <p:txBody>
          <a:bodyPr wrap="square">
            <a:spAutoFit/>
          </a:bodyPr>
          <a:lstStyle/>
          <a:p>
            <a:r>
              <a:rPr kumimoji="1" lang="en-US" sz="2000" dirty="0"/>
              <a:t>To overcome the problem, an eighth bit is added that is set so that the total number of 1s in the diagram is even. The extra parity bit catches the error (f).</a:t>
            </a:r>
          </a:p>
        </p:txBody>
      </p:sp>
      <p:pic>
        <p:nvPicPr>
          <p:cNvPr id="1026" name="Picture 2"/>
          <p:cNvPicPr>
            <a:picLocks noChangeAspect="1" noChangeArrowheads="1"/>
          </p:cNvPicPr>
          <p:nvPr/>
        </p:nvPicPr>
        <p:blipFill>
          <a:blip r:embed="rId3"/>
          <a:srcRect/>
          <a:stretch>
            <a:fillRect/>
          </a:stretch>
        </p:blipFill>
        <p:spPr bwMode="auto">
          <a:xfrm>
            <a:off x="504760" y="1370442"/>
            <a:ext cx="6210380" cy="4416012"/>
          </a:xfrm>
          <a:prstGeom prst="rect">
            <a:avLst/>
          </a:prstGeom>
          <a:noFill/>
          <a:ln w="9525">
            <a:noFill/>
            <a:miter lim="800000"/>
            <a:headEnd/>
            <a:tailEnd/>
          </a:ln>
          <a:effectLst/>
        </p:spPr>
      </p:pic>
      <p:cxnSp>
        <p:nvCxnSpPr>
          <p:cNvPr id="8" name="Straight Arrow Connector 7"/>
          <p:cNvCxnSpPr/>
          <p:nvPr/>
        </p:nvCxnSpPr>
        <p:spPr>
          <a:xfrm rot="10800000">
            <a:off x="6500826" y="2714620"/>
            <a:ext cx="928694" cy="21431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rot="10800000" flipV="1">
            <a:off x="2000232" y="3857628"/>
            <a:ext cx="5500726" cy="571504"/>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1928794" y="4572008"/>
            <a:ext cx="1928826" cy="71438"/>
          </a:xfrm>
          <a:prstGeom prst="straightConnector1">
            <a:avLst/>
          </a:prstGeom>
          <a:ln w="3175">
            <a:prstDash val="dash"/>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rot="5400000" flipH="1" flipV="1">
            <a:off x="3821901" y="5607859"/>
            <a:ext cx="1000132" cy="642942"/>
          </a:xfrm>
          <a:prstGeom prst="straightConnector1">
            <a:avLst/>
          </a:prstGeom>
          <a:ln>
            <a:solidFill>
              <a:srgbClr val="FF0000"/>
            </a:solidFill>
            <a:prstDash val="dash"/>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4929190" y="4929198"/>
            <a:ext cx="642942" cy="214314"/>
          </a:xfrm>
          <a:prstGeom prst="straightConnector1">
            <a:avLst/>
          </a:prstGeom>
          <a:ln>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4929190" y="4214818"/>
            <a:ext cx="1071570" cy="857256"/>
          </a:xfrm>
          <a:prstGeom prst="straightConnector1">
            <a:avLst/>
          </a:prstGeom>
          <a:ln>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p:nvPr/>
        </p:nvCxnSpPr>
        <p:spPr>
          <a:xfrm rot="5400000" flipH="1" flipV="1">
            <a:off x="4607719" y="4536289"/>
            <a:ext cx="857256" cy="214314"/>
          </a:xfrm>
          <a:prstGeom prst="straightConnector1">
            <a:avLst/>
          </a:prstGeom>
          <a:ln>
            <a:solidFill>
              <a:srgbClr val="FF0000"/>
            </a:solidFill>
            <a:prstDash val="sysDot"/>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457200" y="4648200"/>
            <a:ext cx="8412480" cy="1905000"/>
          </a:xfrm>
          <a:prstGeom prst="rect">
            <a:avLst/>
          </a:prstGeom>
        </p:spPr>
      </p:pic>
      <p:sp>
        <p:nvSpPr>
          <p:cNvPr id="15" name="Rectangle 14"/>
          <p:cNvSpPr/>
          <p:nvPr/>
        </p:nvSpPr>
        <p:spPr>
          <a:xfrm>
            <a:off x="609600" y="1066800"/>
            <a:ext cx="5562600" cy="3016210"/>
          </a:xfrm>
          <a:prstGeom prst="rect">
            <a:avLst/>
          </a:prstGeom>
        </p:spPr>
        <p:txBody>
          <a:bodyPr wrap="square">
            <a:spAutoFit/>
          </a:bodyPr>
          <a:lstStyle/>
          <a:p>
            <a:pPr algn="ctr">
              <a:spcBef>
                <a:spcPts val="1200"/>
              </a:spcBef>
              <a:spcAft>
                <a:spcPts val="0"/>
              </a:spcAft>
            </a:pPr>
            <a:r>
              <a:rPr lang="en-US" sz="3600" dirty="0">
                <a:solidFill>
                  <a:schemeClr val="accent1"/>
                </a:solidFill>
                <a:effectLst>
                  <a:outerShdw blurRad="38100" dist="38100" dir="2700000" algn="tl">
                    <a:srgbClr val="000000">
                      <a:alpha val="43137"/>
                    </a:srgbClr>
                  </a:outerShdw>
                </a:effectLst>
                <a:latin typeface="+mj-lt"/>
                <a:ea typeface="+mj-ea"/>
                <a:cs typeface="+mj-cs"/>
              </a:rPr>
              <a:t>Performance Comparison</a:t>
            </a:r>
          </a:p>
          <a:p>
            <a:pPr algn="ctr">
              <a:spcBef>
                <a:spcPts val="1200"/>
              </a:spcBef>
              <a:spcAft>
                <a:spcPts val="0"/>
              </a:spcAft>
            </a:pPr>
            <a:r>
              <a:rPr lang="en-US" sz="3600" dirty="0">
                <a:solidFill>
                  <a:schemeClr val="accent1"/>
                </a:solidFill>
                <a:effectLst>
                  <a:outerShdw blurRad="38100" dist="38100" dir="2700000" algn="tl">
                    <a:srgbClr val="000000">
                      <a:alpha val="43137"/>
                    </a:srgbClr>
                  </a:outerShdw>
                </a:effectLst>
                <a:latin typeface="+mj-lt"/>
                <a:ea typeface="+mj-ea"/>
                <a:cs typeface="+mj-cs"/>
              </a:rPr>
              <a:t>DRAM Alternatives</a:t>
            </a:r>
          </a:p>
          <a:p>
            <a:pPr algn="ctr"/>
            <a:endParaRPr lang="en-US" sz="3600" dirty="0">
              <a:solidFill>
                <a:schemeClr val="accent1"/>
              </a:solidFill>
              <a:effectLst>
                <a:outerShdw blurRad="38100" dist="38100" dir="2700000" algn="tl">
                  <a:srgbClr val="000000">
                    <a:alpha val="43137"/>
                  </a:srgbClr>
                </a:outerShdw>
              </a:effectLst>
              <a:latin typeface="+mj-lt"/>
              <a:ea typeface="+mj-ea"/>
              <a:cs typeface="+mj-cs"/>
            </a:endParaRPr>
          </a:p>
          <a:p>
            <a:pPr algn="ctr"/>
            <a:endParaRPr lang="en-US" sz="3600" dirty="0">
              <a:solidFill>
                <a:schemeClr val="accent1"/>
              </a:solidFill>
              <a:effectLst>
                <a:outerShdw blurRad="38100" dist="38100" dir="2700000" algn="tl">
                  <a:srgbClr val="000000">
                    <a:alpha val="43137"/>
                  </a:srgbClr>
                </a:outerShdw>
              </a:effectLst>
              <a:latin typeface="+mj-lt"/>
              <a:ea typeface="+mj-ea"/>
              <a:cs typeface="+mj-cs"/>
            </a:endParaRPr>
          </a:p>
        </p:txBody>
      </p:sp>
      <p:sp>
        <p:nvSpPr>
          <p:cNvPr id="16" name="Rectangle 15"/>
          <p:cNvSpPr/>
          <p:nvPr/>
        </p:nvSpPr>
        <p:spPr>
          <a:xfrm>
            <a:off x="2209800" y="6477001"/>
            <a:ext cx="5638800" cy="307777"/>
          </a:xfrm>
          <a:prstGeom prst="rect">
            <a:avLst/>
          </a:prstGeom>
        </p:spPr>
        <p:txBody>
          <a:bodyPr wrap="square">
            <a:spAutoFit/>
          </a:bodyPr>
          <a:lstStyle/>
          <a:p>
            <a:r>
              <a:rPr lang="en-US" sz="1400" b="1" dirty="0"/>
              <a:t>Table 5.3   Performance Comparison of Some DRAM Alternatives</a:t>
            </a:r>
            <a:endParaRPr lang="en-US" sz="1400" dirty="0"/>
          </a:p>
        </p:txBody>
      </p:sp>
      <p:sp>
        <p:nvSpPr>
          <p:cNvPr id="5" name="TextBox 4"/>
          <p:cNvSpPr txBox="1"/>
          <p:nvPr/>
        </p:nvSpPr>
        <p:spPr>
          <a:xfrm>
            <a:off x="7162800" y="914400"/>
            <a:ext cx="1474683" cy="461665"/>
          </a:xfrm>
          <a:prstGeom prst="rect">
            <a:avLst/>
          </a:prstGeom>
          <a:noFill/>
        </p:spPr>
        <p:txBody>
          <a:bodyPr wrap="none" rtlCol="0">
            <a:spAutoFit/>
          </a:bodyPr>
          <a:lstStyle/>
          <a:p>
            <a:r>
              <a:rPr lang="en-US" dirty="0">
                <a:solidFill>
                  <a:schemeClr val="tx2"/>
                </a:solidFill>
                <a:effectLst>
                  <a:outerShdw blurRad="38100" dist="38100" dir="2700000" algn="tl">
                    <a:srgbClr val="000000">
                      <a:alpha val="43137"/>
                    </a:srgbClr>
                  </a:outerShdw>
                </a:effectLst>
                <a:latin typeface="+mn-lt"/>
              </a:rPr>
              <a:t>Table 5.3</a:t>
            </a:r>
          </a:p>
        </p:txBody>
      </p:sp>
      <p:pic>
        <p:nvPicPr>
          <p:cNvPr id="13314" name="Picture 2"/>
          <p:cNvPicPr>
            <a:picLocks noChangeAspect="1" noChangeArrowheads="1"/>
          </p:cNvPicPr>
          <p:nvPr/>
        </p:nvPicPr>
        <p:blipFill>
          <a:blip r:embed="rId5"/>
          <a:srcRect/>
          <a:stretch>
            <a:fillRect/>
          </a:stretch>
        </p:blipFill>
        <p:spPr bwMode="auto">
          <a:xfrm>
            <a:off x="7072330" y="3131337"/>
            <a:ext cx="1571642" cy="995376"/>
          </a:xfrm>
          <a:prstGeom prst="rect">
            <a:avLst/>
          </a:prstGeom>
          <a:noFill/>
          <a:ln w="9525">
            <a:noFill/>
            <a:miter lim="800000"/>
            <a:headEnd/>
            <a:tailEnd/>
          </a:ln>
          <a:effectLst/>
        </p:spPr>
      </p:pic>
      <p:cxnSp>
        <p:nvCxnSpPr>
          <p:cNvPr id="8" name="Straight Arrow Connector 7"/>
          <p:cNvCxnSpPr/>
          <p:nvPr/>
        </p:nvCxnSpPr>
        <p:spPr>
          <a:xfrm rot="5400000" flipH="1" flipV="1">
            <a:off x="7679553" y="4107661"/>
            <a:ext cx="785818" cy="2857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body" sz="half" idx="2"/>
          </p:nvPr>
        </p:nvSpPr>
        <p:spPr>
          <a:xfrm>
            <a:off x="285721" y="1214422"/>
            <a:ext cx="5962680" cy="2928958"/>
          </a:xfrm>
        </p:spPr>
        <p:txBody>
          <a:bodyPr>
            <a:normAutofit/>
          </a:bodyPr>
          <a:lstStyle/>
          <a:p>
            <a:pPr marL="228600" lvl="1" indent="-228600">
              <a:lnSpc>
                <a:spcPct val="90000"/>
              </a:lnSpc>
              <a:spcBef>
                <a:spcPts val="2000"/>
              </a:spcBef>
              <a:buClr>
                <a:schemeClr val="accent1"/>
              </a:buClr>
              <a:buFont typeface="Wingdings" pitchFamily="2" charset="2"/>
              <a:buChar char="n"/>
            </a:pPr>
            <a:r>
              <a:rPr lang="en-US" sz="2000" dirty="0">
                <a:solidFill>
                  <a:srgbClr val="002060"/>
                </a:solidFill>
              </a:rPr>
              <a:t>One of the most critical system bottlenecks when using high-performance processors is the interface to main internal memory</a:t>
            </a:r>
          </a:p>
          <a:p>
            <a:pPr marL="228600" lvl="1" indent="-228600">
              <a:lnSpc>
                <a:spcPct val="90000"/>
              </a:lnSpc>
              <a:spcBef>
                <a:spcPts val="2000"/>
              </a:spcBef>
              <a:buClr>
                <a:schemeClr val="accent1"/>
              </a:buClr>
              <a:buFont typeface="Wingdings" pitchFamily="2" charset="2"/>
              <a:buChar char="n"/>
            </a:pPr>
            <a:r>
              <a:rPr lang="en-US" sz="2000" dirty="0">
                <a:solidFill>
                  <a:srgbClr val="002060"/>
                </a:solidFill>
              </a:rPr>
              <a:t>The traditional DRAM chip is constrained both by its internal architecture and by its interface to the processor’s memory bus</a:t>
            </a:r>
          </a:p>
          <a:p>
            <a:pPr marL="228600" lvl="1" indent="-228600">
              <a:lnSpc>
                <a:spcPct val="90000"/>
              </a:lnSpc>
              <a:spcBef>
                <a:spcPts val="2000"/>
              </a:spcBef>
              <a:buClr>
                <a:schemeClr val="accent1"/>
              </a:buClr>
              <a:buFont typeface="Wingdings" pitchFamily="2" charset="2"/>
              <a:buChar char="n"/>
            </a:pPr>
            <a:r>
              <a:rPr lang="en-US" sz="2000" dirty="0">
                <a:solidFill>
                  <a:srgbClr val="002060"/>
                </a:solidFill>
              </a:rPr>
              <a:t>A number of enhancements to the basic DRAM architecture have been explored:</a:t>
            </a:r>
          </a:p>
        </p:txBody>
      </p:sp>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228600" y="4648200"/>
            <a:ext cx="8656320" cy="1803400"/>
          </a:xfrm>
          <a:prstGeom prst="rect">
            <a:avLst/>
          </a:prstGeom>
        </p:spPr>
      </p:pic>
      <p:sp>
        <p:nvSpPr>
          <p:cNvPr id="6" name="TextBox 5"/>
          <p:cNvSpPr txBox="1"/>
          <p:nvPr/>
        </p:nvSpPr>
        <p:spPr>
          <a:xfrm>
            <a:off x="2057400" y="6324600"/>
            <a:ext cx="5504394" cy="307777"/>
          </a:xfrm>
          <a:prstGeom prst="rect">
            <a:avLst/>
          </a:prstGeom>
          <a:noFill/>
        </p:spPr>
        <p:txBody>
          <a:bodyPr wrap="none" rtlCol="0">
            <a:spAutoFit/>
          </a:bodyPr>
          <a:lstStyle/>
          <a:p>
            <a:r>
              <a:rPr lang="en-US" sz="1400" dirty="0">
                <a:latin typeface="+mn-lt"/>
              </a:rPr>
              <a:t>Table 5.3   Performance Comparison of Some DRAM Alternatives</a:t>
            </a:r>
          </a:p>
        </p:txBody>
      </p:sp>
      <p:sp>
        <p:nvSpPr>
          <p:cNvPr id="7" name="TextBox 6"/>
          <p:cNvSpPr txBox="1"/>
          <p:nvPr/>
        </p:nvSpPr>
        <p:spPr>
          <a:xfrm>
            <a:off x="6781800" y="685800"/>
            <a:ext cx="2057400" cy="830997"/>
          </a:xfrm>
          <a:prstGeom prst="rect">
            <a:avLst/>
          </a:prstGeom>
          <a:noFill/>
        </p:spPr>
        <p:txBody>
          <a:bodyPr wrap="square" rtlCol="0">
            <a:spAutoFit/>
          </a:bodyPr>
          <a:lstStyle/>
          <a:p>
            <a:pPr algn="ctr"/>
            <a:r>
              <a:rPr lang="en-US" dirty="0">
                <a:solidFill>
                  <a:srgbClr val="FFFFFF"/>
                </a:solidFill>
              </a:rPr>
              <a:t>SDRAM</a:t>
            </a:r>
          </a:p>
          <a:p>
            <a:pPr algn="ctr"/>
            <a:endParaRPr lang="en-US" dirty="0">
              <a:solidFill>
                <a:srgbClr val="FFFFFF"/>
              </a:solidFill>
            </a:endParaRPr>
          </a:p>
        </p:txBody>
      </p:sp>
      <p:sp>
        <p:nvSpPr>
          <p:cNvPr id="8" name="TextBox 7"/>
          <p:cNvSpPr txBox="1"/>
          <p:nvPr/>
        </p:nvSpPr>
        <p:spPr>
          <a:xfrm>
            <a:off x="6781800" y="3505200"/>
            <a:ext cx="2057400" cy="830997"/>
          </a:xfrm>
          <a:prstGeom prst="rect">
            <a:avLst/>
          </a:prstGeom>
          <a:noFill/>
        </p:spPr>
        <p:txBody>
          <a:bodyPr wrap="square" rtlCol="0">
            <a:spAutoFit/>
          </a:bodyPr>
          <a:lstStyle/>
          <a:p>
            <a:pPr algn="ctr"/>
            <a:r>
              <a:rPr lang="en-US" dirty="0">
                <a:solidFill>
                  <a:srgbClr val="FFFFFF"/>
                </a:solidFill>
              </a:rPr>
              <a:t>RDRAM</a:t>
            </a:r>
          </a:p>
          <a:p>
            <a:pPr algn="ctr"/>
            <a:endParaRPr lang="en-US" dirty="0">
              <a:solidFill>
                <a:srgbClr val="FFFFFF"/>
              </a:solidFill>
            </a:endParaRPr>
          </a:p>
        </p:txBody>
      </p:sp>
      <p:sp>
        <p:nvSpPr>
          <p:cNvPr id="9" name="TextBox 8"/>
          <p:cNvSpPr txBox="1"/>
          <p:nvPr/>
        </p:nvSpPr>
        <p:spPr>
          <a:xfrm>
            <a:off x="6781800" y="1600200"/>
            <a:ext cx="2057400" cy="1200328"/>
          </a:xfrm>
          <a:prstGeom prst="rect">
            <a:avLst/>
          </a:prstGeom>
          <a:solidFill>
            <a:schemeClr val="accent3"/>
          </a:solidFill>
        </p:spPr>
        <p:txBody>
          <a:bodyPr wrap="square" rtlCol="0">
            <a:spAutoFit/>
          </a:bodyPr>
          <a:lstStyle/>
          <a:p>
            <a:pPr algn="ctr"/>
            <a:endParaRPr lang="en-US" dirty="0">
              <a:solidFill>
                <a:srgbClr val="FFFFFF"/>
              </a:solidFill>
            </a:endParaRPr>
          </a:p>
          <a:p>
            <a:pPr algn="ctr"/>
            <a:r>
              <a:rPr lang="en-US" dirty="0">
                <a:solidFill>
                  <a:srgbClr val="FFFFFF"/>
                </a:solidFill>
              </a:rPr>
              <a:t>DDR-DRAM</a:t>
            </a:r>
          </a:p>
          <a:p>
            <a:pPr algn="ctr"/>
            <a:endParaRPr lang="en-US" dirty="0">
              <a:solidFill>
                <a:srgbClr val="FFFFFF"/>
              </a:solidFill>
            </a:endParaRPr>
          </a:p>
        </p:txBody>
      </p:sp>
      <p:sp useBgFill="1">
        <p:nvSpPr>
          <p:cNvPr id="10" name="TextBox 9"/>
          <p:cNvSpPr txBox="1"/>
          <p:nvPr/>
        </p:nvSpPr>
        <p:spPr>
          <a:xfrm>
            <a:off x="8839200" y="0"/>
            <a:ext cx="314841" cy="4495800"/>
          </a:xfrm>
          <a:prstGeom prst="rect">
            <a:avLst/>
          </a:prstGeom>
        </p:spPr>
        <p:txBody>
          <a:bodyPr wrap="square" rtlCol="0">
            <a:spAutoFit/>
          </a:bodyPr>
          <a:lstStyle/>
          <a:p>
            <a:endParaRPr lang="en-US" dirty="0"/>
          </a:p>
        </p:txBody>
      </p:sp>
      <p:sp useBgFill="1">
        <p:nvSpPr>
          <p:cNvPr id="11" name="TextBox 10"/>
          <p:cNvSpPr txBox="1"/>
          <p:nvPr/>
        </p:nvSpPr>
        <p:spPr>
          <a:xfrm>
            <a:off x="6699250" y="1"/>
            <a:ext cx="158750" cy="4541540"/>
          </a:xfrm>
          <a:prstGeom prst="rect">
            <a:avLst/>
          </a:prstGeom>
        </p:spPr>
        <p:txBody>
          <a:bodyPr wrap="square" rtlCol="0">
            <a:spAutoFit/>
          </a:bodyPr>
          <a:lstStyle/>
          <a:p>
            <a:endParaRPr lang="en-US" dirty="0"/>
          </a:p>
        </p:txBody>
      </p:sp>
      <p:sp>
        <p:nvSpPr>
          <p:cNvPr id="60418" name="Rectangle 2"/>
          <p:cNvSpPr>
            <a:spLocks noGrp="1" noChangeArrowheads="1"/>
          </p:cNvSpPr>
          <p:nvPr>
            <p:ph type="title"/>
          </p:nvPr>
        </p:nvSpPr>
        <p:spPr>
          <a:xfrm>
            <a:off x="32" y="-71462"/>
            <a:ext cx="9144000" cy="990600"/>
          </a:xfrm>
        </p:spPr>
        <p:txBody>
          <a:bodyPr>
            <a:noAutofit/>
          </a:bodyPr>
          <a:lstStyle/>
          <a:p>
            <a:pPr algn="ctr"/>
            <a:r>
              <a:rPr lang="en-US" sz="3600" dirty="0">
                <a:effectLst>
                  <a:outerShdw blurRad="38100" dist="38100" dir="2700000" algn="tl">
                    <a:srgbClr val="000000">
                      <a:alpha val="43137"/>
                    </a:srgbClr>
                  </a:outerShdw>
                </a:effectLst>
              </a:rPr>
              <a:t>5.3- Advanced DRAM Organization</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381000" y="304800"/>
            <a:ext cx="7556500" cy="1116013"/>
          </a:xfrm>
        </p:spPr>
        <p:txBody>
          <a:bodyPr/>
          <a:lstStyle/>
          <a:p>
            <a:r>
              <a:rPr lang="en-US" sz="4000" dirty="0">
                <a:effectLst>
                  <a:outerShdw blurRad="38100" dist="38100" dir="2700000" algn="tl">
                    <a:srgbClr val="000000">
                      <a:alpha val="43137"/>
                    </a:srgbClr>
                  </a:outerShdw>
                </a:effectLst>
              </a:rPr>
              <a:t>Synchronous DRAM (SDRAM)</a:t>
            </a:r>
          </a:p>
        </p:txBody>
      </p:sp>
      <p:graphicFrame>
        <p:nvGraphicFramePr>
          <p:cNvPr id="13" name="Content Placeholder 12"/>
          <p:cNvGraphicFramePr>
            <a:graphicFrameLocks noGrp="1"/>
          </p:cNvGraphicFramePr>
          <p:nvPr>
            <p:ph idx="4294967295"/>
          </p:nvPr>
        </p:nvGraphicFramePr>
        <p:xfrm>
          <a:off x="304800" y="1219200"/>
          <a:ext cx="85344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srcRect/>
          <a:stretch>
            <a:fillRect/>
          </a:stretch>
        </p:blipFill>
        <p:spPr bwMode="auto">
          <a:xfrm>
            <a:off x="642910" y="785794"/>
            <a:ext cx="7932832" cy="5857916"/>
          </a:xfrm>
          <a:prstGeom prst="rect">
            <a:avLst/>
          </a:prstGeom>
          <a:noFill/>
          <a:ln w="28575">
            <a:solidFill>
              <a:schemeClr val="tx1"/>
            </a:solidFill>
            <a:miter lim="800000"/>
            <a:headEnd/>
            <a:tailEnd/>
          </a:ln>
          <a:effectLst/>
        </p:spPr>
      </p:pic>
      <p:sp>
        <p:nvSpPr>
          <p:cNvPr id="160770" name="Rectangle 2"/>
          <p:cNvSpPr>
            <a:spLocks noGrp="1" noChangeArrowheads="1"/>
          </p:cNvSpPr>
          <p:nvPr>
            <p:ph type="title" idx="4294967295"/>
          </p:nvPr>
        </p:nvSpPr>
        <p:spPr>
          <a:xfrm>
            <a:off x="142844" y="28572"/>
            <a:ext cx="3143272" cy="757222"/>
          </a:xfrm>
        </p:spPr>
        <p:txBody>
          <a:bodyPr vert="horz" anchor="ctr" anchorCtr="1"/>
          <a:lstStyle/>
          <a:p>
            <a:pPr algn="ctr"/>
            <a:r>
              <a:rPr lang="en-GB" kern="1300" spc="1000" dirty="0">
                <a:effectLst>
                  <a:outerShdw blurRad="38100" dist="38100" dir="2700000" algn="tl">
                    <a:srgbClr val="000000">
                      <a:alpha val="43137"/>
                    </a:srgbClr>
                  </a:outerShdw>
                </a:effectLst>
              </a:rPr>
              <a:t>SDRAM</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09600" y="533400"/>
            <a:ext cx="7556313" cy="1116106"/>
          </a:xfrm>
        </p:spPr>
        <p:txBody>
          <a:bodyPr/>
          <a:lstStyle/>
          <a:p>
            <a:r>
              <a:rPr lang="en-US" dirty="0">
                <a:effectLst>
                  <a:outerShdw blurRad="38100" dist="38100" dir="2700000" algn="tl">
                    <a:srgbClr val="000000">
                      <a:alpha val="43137"/>
                    </a:srgbClr>
                  </a:outerShdw>
                </a:effectLst>
              </a:rPr>
              <a:t>SDRAM Pin Assignments</a:t>
            </a:r>
          </a:p>
        </p:txBody>
      </p:sp>
      <p:pic>
        <p:nvPicPr>
          <p:cNvPr id="16386" name="Picture 2"/>
          <p:cNvPicPr>
            <a:picLocks noChangeAspect="1" noChangeArrowheads="1"/>
          </p:cNvPicPr>
          <p:nvPr/>
        </p:nvPicPr>
        <p:blipFill>
          <a:blip r:embed="rId3"/>
          <a:srcRect/>
          <a:stretch>
            <a:fillRect/>
          </a:stretch>
        </p:blipFill>
        <p:spPr bwMode="auto">
          <a:xfrm>
            <a:off x="1424681" y="1428736"/>
            <a:ext cx="6294638" cy="5143536"/>
          </a:xfrm>
          <a:prstGeom prst="rect">
            <a:avLst/>
          </a:prstGeom>
          <a:noFill/>
          <a:ln w="9525">
            <a:noFill/>
            <a:miter lim="800000"/>
            <a:headEnd/>
            <a:tailEnd/>
          </a:ln>
          <a:effectLst/>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a:xfrm>
            <a:off x="762000" y="609600"/>
            <a:ext cx="7556313" cy="1116106"/>
          </a:xfrm>
        </p:spPr>
        <p:txBody>
          <a:bodyPr/>
          <a:lstStyle/>
          <a:p>
            <a:r>
              <a:rPr lang="en-GB" dirty="0">
                <a:effectLst>
                  <a:outerShdw blurRad="38100" dist="38100" dir="2700000" algn="tl">
                    <a:srgbClr val="000000">
                      <a:alpha val="43137"/>
                    </a:srgbClr>
                  </a:outerShdw>
                </a:effectLst>
              </a:rPr>
              <a:t>SDRAM Read Timing</a:t>
            </a:r>
          </a:p>
        </p:txBody>
      </p:sp>
      <p:pic>
        <p:nvPicPr>
          <p:cNvPr id="4" name="Picture 3" descr="f1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273" t="16471" r="13636" b="36471"/>
              <a:stretch>
                <a:fillRect/>
              </a:stretch>
            </p:blipFill>
          </mc:Choice>
          <mc:Fallback>
            <p:blipFill>
              <a:blip r:embed="rId4"/>
              <a:srcRect l="7273" t="16471" r="13636" b="36471"/>
              <a:stretch>
                <a:fillRect/>
              </a:stretch>
            </p:blipFill>
          </mc:Fallback>
        </mc:AlternateContent>
        <p:spPr>
          <a:xfrm>
            <a:off x="0" y="2286000"/>
            <a:ext cx="9144000" cy="4204110"/>
          </a:xfrm>
          <a:prstGeom prst="rect">
            <a:avLst/>
          </a:prstGeom>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381000" y="228600"/>
            <a:ext cx="7556500" cy="1116013"/>
          </a:xfrm>
        </p:spPr>
        <p:txBody>
          <a:bodyPr/>
          <a:lstStyle/>
          <a:p>
            <a:r>
              <a:rPr lang="en-US" dirty="0">
                <a:effectLst>
                  <a:outerShdw blurRad="38100" dist="38100" dir="2700000" algn="tl">
                    <a:srgbClr val="000000">
                      <a:alpha val="43137"/>
                    </a:srgbClr>
                  </a:outerShdw>
                </a:effectLst>
              </a:rPr>
              <a:t>RDRAM</a:t>
            </a:r>
          </a:p>
        </p:txBody>
      </p:sp>
      <p:graphicFrame>
        <p:nvGraphicFramePr>
          <p:cNvPr id="40" name="Content Placeholder 39"/>
          <p:cNvGraphicFramePr>
            <a:graphicFrameLocks noGrp="1"/>
          </p:cNvGraphicFramePr>
          <p:nvPr>
            <p:ph idx="4294967295"/>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5" name="Picture 44"/>
          <p:cNvPicPr>
            <a:picLocks noChangeAspect="1"/>
          </p:cNvPicPr>
          <p:nvPr/>
        </p:nvPicPr>
        <p:blipFill>
          <a:blip r:embed="rId8"/>
          <a:stretch>
            <a:fillRect/>
          </a:stretch>
        </p:blipFill>
        <p:spPr>
          <a:xfrm>
            <a:off x="3733800" y="2362200"/>
            <a:ext cx="1828800" cy="1828800"/>
          </a:xfrm>
          <a:prstGeom prst="rect">
            <a:avLst/>
          </a:prstGeom>
          <a:effectLst>
            <a:glow rad="101600">
              <a:schemeClr val="accent1">
                <a:alpha val="75000"/>
              </a:schemeClr>
            </a:glow>
            <a:softEdge rad="12700"/>
          </a:effectLst>
        </p:spPr>
      </p:pic>
      <p:pic>
        <p:nvPicPr>
          <p:cNvPr id="46" name="Picture 45"/>
          <p:cNvPicPr>
            <a:picLocks noChangeAspect="1"/>
          </p:cNvPicPr>
          <p:nvPr/>
        </p:nvPicPr>
        <p:blipFill>
          <a:blip r:embed="rId9"/>
          <a:stretch>
            <a:fillRect/>
          </a:stretch>
        </p:blipFill>
        <p:spPr>
          <a:xfrm>
            <a:off x="4267200" y="3048000"/>
            <a:ext cx="625410" cy="482600"/>
          </a:xfrm>
          <a:prstGeom prst="rect">
            <a:avLst/>
          </a:prstGeom>
          <a:effectLst>
            <a:softEdge rad="101600"/>
          </a:effectLst>
        </p:spPr>
      </p:pic>
      <p:sp>
        <p:nvSpPr>
          <p:cNvPr id="6" name="TextBox 5"/>
          <p:cNvSpPr txBox="1"/>
          <p:nvPr/>
        </p:nvSpPr>
        <p:spPr>
          <a:xfrm>
            <a:off x="285720" y="885750"/>
            <a:ext cx="5357850" cy="400110"/>
          </a:xfrm>
          <a:prstGeom prst="rect">
            <a:avLst/>
          </a:prstGeom>
          <a:solidFill>
            <a:schemeClr val="accent6">
              <a:lumMod val="20000"/>
              <a:lumOff val="80000"/>
            </a:schemeClr>
          </a:solidFill>
        </p:spPr>
        <p:txBody>
          <a:bodyPr wrap="square" rtlCol="0">
            <a:spAutoFit/>
          </a:bodyPr>
          <a:lstStyle/>
          <a:p>
            <a:r>
              <a:rPr lang="en-US" sz="2000"/>
              <a:t>Rambus Dynamic Random Access Memory </a:t>
            </a:r>
          </a:p>
        </p:txBody>
      </p:sp>
      <p:sp>
        <p:nvSpPr>
          <p:cNvPr id="7" name="TextBox 6"/>
          <p:cNvSpPr txBox="1"/>
          <p:nvPr/>
        </p:nvSpPr>
        <p:spPr>
          <a:xfrm>
            <a:off x="0" y="3286124"/>
            <a:ext cx="2786050" cy="369332"/>
          </a:xfrm>
          <a:prstGeom prst="rect">
            <a:avLst/>
          </a:prstGeom>
          <a:solidFill>
            <a:schemeClr val="accent6">
              <a:lumMod val="20000"/>
              <a:lumOff val="80000"/>
            </a:schemeClr>
          </a:solidFill>
        </p:spPr>
        <p:txBody>
          <a:bodyPr wrap="square" rtlCol="0">
            <a:spAutoFit/>
          </a:bodyPr>
          <a:lstStyle/>
          <a:p>
            <a:r>
              <a:rPr lang="en-US" sz="1800"/>
              <a:t>Protocol: pre-defined rule </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685800" y="609600"/>
            <a:ext cx="7556313" cy="1116106"/>
          </a:xfrm>
        </p:spPr>
        <p:txBody>
          <a:bodyPr/>
          <a:lstStyle/>
          <a:p>
            <a:r>
              <a:rPr lang="en-GB" dirty="0">
                <a:effectLst>
                  <a:outerShdw blurRad="38100" dist="38100" dir="2700000" algn="tl">
                    <a:srgbClr val="000000">
                      <a:alpha val="43137"/>
                    </a:srgbClr>
                  </a:outerShdw>
                </a:effectLst>
              </a:rPr>
              <a:t>RDRAM Structure</a:t>
            </a:r>
          </a:p>
        </p:txBody>
      </p:sp>
      <p:pic>
        <p:nvPicPr>
          <p:cNvPr id="4" name="Picture 3"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273" t="14118" r="10000" b="27059"/>
              <a:stretch>
                <a:fillRect/>
              </a:stretch>
            </p:blipFill>
          </mc:Choice>
          <mc:Fallback>
            <p:blipFill>
              <a:blip r:embed="rId4"/>
              <a:srcRect l="7273" t="14118" r="10000" b="27059"/>
              <a:stretch>
                <a:fillRect/>
              </a:stretch>
            </p:blipFill>
          </mc:Fallback>
        </mc:AlternateContent>
        <p:spPr>
          <a:xfrm>
            <a:off x="0" y="1571612"/>
            <a:ext cx="9106484" cy="5003463"/>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6" name="Rectangle 4"/>
          <p:cNvSpPr>
            <a:spLocks noGrp="1" noChangeArrowheads="1"/>
          </p:cNvSpPr>
          <p:nvPr>
            <p:ph type="title"/>
          </p:nvPr>
        </p:nvSpPr>
        <p:spPr>
          <a:xfrm>
            <a:off x="609600" y="533400"/>
            <a:ext cx="7556313" cy="1116106"/>
          </a:xfrm>
        </p:spPr>
        <p:txBody>
          <a:bodyPr/>
          <a:lstStyle/>
          <a:p>
            <a:r>
              <a:rPr lang="en-GB" dirty="0">
                <a:effectLst>
                  <a:outerShdw blurRad="38100" dist="38100" dir="2700000" algn="tl">
                    <a:srgbClr val="000000">
                      <a:alpha val="43137"/>
                    </a:srgbClr>
                  </a:outerShdw>
                </a:effectLst>
              </a:rPr>
              <a:t>Double Data Rate SDRAM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(DDR SDRAM)</a:t>
            </a:r>
          </a:p>
        </p:txBody>
      </p:sp>
      <p:sp>
        <p:nvSpPr>
          <p:cNvPr id="166917" name="Rectangle 5"/>
          <p:cNvSpPr>
            <a:spLocks noGrp="1" noChangeArrowheads="1"/>
          </p:cNvSpPr>
          <p:nvPr>
            <p:ph idx="1"/>
          </p:nvPr>
        </p:nvSpPr>
        <p:spPr>
          <a:xfrm>
            <a:off x="457200" y="2209800"/>
            <a:ext cx="7556313" cy="4373563"/>
          </a:xfrm>
        </p:spPr>
        <p:txBody>
          <a:bodyPr/>
          <a:lstStyle/>
          <a:p>
            <a:r>
              <a:rPr lang="en-GB" dirty="0"/>
              <a:t>SDRAM can only send data once per bus clock cycle</a:t>
            </a:r>
          </a:p>
          <a:p>
            <a:r>
              <a:rPr lang="en-GB" dirty="0"/>
              <a:t>Double-data-rate SDRAM can send data twice per clock cycle, once on the rising edge of the clock pulse and once on the falling edge</a:t>
            </a:r>
          </a:p>
          <a:p>
            <a:r>
              <a:rPr lang="en-GB" dirty="0"/>
              <a:t>Developed by the JEDEC Solid State Technology Association (Electronic Industries Alliance’s semiconductor-engineering-standardization body)</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381000" y="990600"/>
            <a:ext cx="3255264" cy="2438400"/>
          </a:xfrm>
        </p:spPr>
        <p:txBody>
          <a:bodyPr>
            <a:normAutofit/>
          </a:bodyPr>
          <a:lstStyle/>
          <a:p>
            <a:pPr algn="ctr"/>
            <a:r>
              <a:rPr lang="en-GB" sz="3600" dirty="0">
                <a:effectLst>
                  <a:outerShdw blurRad="38100" dist="38100" dir="2700000" algn="tl">
                    <a:srgbClr val="000000">
                      <a:alpha val="43137"/>
                    </a:srgbClr>
                  </a:outerShdw>
                </a:effectLst>
              </a:rPr>
              <a:t>DDR SDRAM </a:t>
            </a:r>
            <a:br>
              <a:rPr lang="en-GB" sz="3600" dirty="0">
                <a:effectLst>
                  <a:outerShdw blurRad="38100" dist="38100" dir="2700000" algn="tl">
                    <a:srgbClr val="000000">
                      <a:alpha val="43137"/>
                    </a:srgbClr>
                  </a:outerShdw>
                </a:effectLst>
              </a:rPr>
            </a:br>
            <a:r>
              <a:rPr lang="en-GB" sz="3600" dirty="0">
                <a:effectLst>
                  <a:outerShdw blurRad="38100" dist="38100" dir="2700000" algn="tl">
                    <a:srgbClr val="000000">
                      <a:alpha val="43137"/>
                    </a:srgbClr>
                  </a:outerShdw>
                </a:effectLst>
              </a:rPr>
              <a:t>Read</a:t>
            </a:r>
            <a:br>
              <a:rPr lang="en-GB" sz="3600" dirty="0">
                <a:effectLst>
                  <a:outerShdw blurRad="38100" dist="38100" dir="2700000" algn="tl">
                    <a:srgbClr val="000000">
                      <a:alpha val="43137"/>
                    </a:srgbClr>
                  </a:outerShdw>
                </a:effectLst>
              </a:rPr>
            </a:br>
            <a:r>
              <a:rPr lang="en-GB" sz="3600" dirty="0">
                <a:effectLst>
                  <a:outerShdw blurRad="38100" dist="38100" dir="2700000" algn="tl">
                    <a:srgbClr val="000000">
                      <a:alpha val="43137"/>
                    </a:srgbClr>
                  </a:outerShdw>
                </a:effectLst>
              </a:rPr>
              <a:t>Timing</a:t>
            </a:r>
          </a:p>
        </p:txBody>
      </p:sp>
      <p:pic>
        <p:nvPicPr>
          <p:cNvPr id="4" name="Picture 3" descr="f1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882" t="6364" r="10588" b="10000"/>
              <a:stretch>
                <a:fillRect/>
              </a:stretch>
            </p:blipFill>
          </mc:Choice>
          <mc:Fallback>
            <p:blipFill>
              <a:blip r:embed="rId4"/>
              <a:srcRect l="5882" t="6364" r="10588" b="10000"/>
              <a:stretch>
                <a:fillRect/>
              </a:stretch>
            </p:blipFill>
          </mc:Fallback>
        </mc:AlternateContent>
        <p:spPr>
          <a:xfrm>
            <a:off x="3851452" y="0"/>
            <a:ext cx="5292548" cy="6858000"/>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40" name="Rectangle 4"/>
          <p:cNvSpPr>
            <a:spLocks noGrp="1" noChangeArrowheads="1"/>
          </p:cNvSpPr>
          <p:nvPr>
            <p:ph type="title"/>
          </p:nvPr>
        </p:nvSpPr>
        <p:spPr>
          <a:xfrm>
            <a:off x="685800" y="533400"/>
            <a:ext cx="7556313" cy="1116106"/>
          </a:xfrm>
        </p:spPr>
        <p:txBody>
          <a:bodyPr/>
          <a:lstStyle/>
          <a:p>
            <a:r>
              <a:rPr lang="en-GB" dirty="0">
                <a:effectLst>
                  <a:outerShdw blurRad="38100" dist="38100" dir="2700000" algn="tl">
                    <a:srgbClr val="000000">
                      <a:alpha val="43137"/>
                    </a:srgbClr>
                  </a:outerShdw>
                </a:effectLst>
              </a:rPr>
              <a:t>Cache DRAM (CDRAM)</a:t>
            </a:r>
          </a:p>
        </p:txBody>
      </p:sp>
      <p:sp>
        <p:nvSpPr>
          <p:cNvPr id="167941" name="Rectangle 5"/>
          <p:cNvSpPr>
            <a:spLocks noGrp="1" noChangeArrowheads="1"/>
          </p:cNvSpPr>
          <p:nvPr>
            <p:ph idx="1"/>
          </p:nvPr>
        </p:nvSpPr>
        <p:spPr>
          <a:xfrm>
            <a:off x="533400" y="2209800"/>
            <a:ext cx="7556313" cy="4144963"/>
          </a:xfrm>
        </p:spPr>
        <p:txBody>
          <a:bodyPr/>
          <a:lstStyle/>
          <a:p>
            <a:r>
              <a:rPr lang="en-GB" dirty="0"/>
              <a:t>Developed by Mitsubishi</a:t>
            </a:r>
          </a:p>
          <a:p>
            <a:r>
              <a:rPr lang="en-GB" dirty="0"/>
              <a:t>Integrates a small SRAM cache onto a generic DRAM chip</a:t>
            </a:r>
          </a:p>
          <a:p>
            <a:r>
              <a:rPr lang="en-GB" dirty="0"/>
              <a:t>SRAM on the CDRAM can be used in two ways:</a:t>
            </a:r>
          </a:p>
          <a:p>
            <a:pPr lvl="1"/>
            <a:r>
              <a:rPr lang="en-GB" dirty="0"/>
              <a:t>It can be used as a true cache consisting of a number of 64-bit lines</a:t>
            </a:r>
          </a:p>
          <a:p>
            <a:pPr lvl="2"/>
            <a:r>
              <a:rPr lang="en-GB" dirty="0"/>
              <a:t>Cache mode of the CDRAM is effective for ordinary random access to memory</a:t>
            </a:r>
          </a:p>
          <a:p>
            <a:pPr lvl="1"/>
            <a:r>
              <a:rPr lang="en-GB" dirty="0"/>
              <a:t>Can also be used as a buffer to support the serial access of a block of data</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74" y="71414"/>
            <a:ext cx="7556313" cy="587452"/>
          </a:xfrm>
        </p:spPr>
        <p:txBody>
          <a:bodyPr/>
          <a:lstStyle/>
          <a:p>
            <a:r>
              <a:rPr lang="en-US" dirty="0"/>
              <a:t>Exercises</a:t>
            </a:r>
          </a:p>
        </p:txBody>
      </p:sp>
      <p:sp>
        <p:nvSpPr>
          <p:cNvPr id="3" name="Content Placeholder 2"/>
          <p:cNvSpPr>
            <a:spLocks noGrp="1"/>
          </p:cNvSpPr>
          <p:nvPr>
            <p:ph idx="1"/>
          </p:nvPr>
        </p:nvSpPr>
        <p:spPr>
          <a:xfrm>
            <a:off x="498474" y="714356"/>
            <a:ext cx="7556313" cy="6104235"/>
          </a:xfrm>
        </p:spPr>
        <p:txBody>
          <a:bodyPr>
            <a:noAutofit/>
          </a:bodyPr>
          <a:lstStyle/>
          <a:p>
            <a:r>
              <a:rPr lang="en-US" sz="1600" dirty="0">
                <a:solidFill>
                  <a:srgbClr val="002060"/>
                </a:solidFill>
              </a:rPr>
              <a:t>5.1 What are the key properties of semiconductor memory? </a:t>
            </a:r>
          </a:p>
          <a:p>
            <a:r>
              <a:rPr lang="en-US" sz="1600" dirty="0">
                <a:solidFill>
                  <a:srgbClr val="002060"/>
                </a:solidFill>
              </a:rPr>
              <a:t>5.2 What are two interpretations of the term random-access memory?</a:t>
            </a:r>
          </a:p>
          <a:p>
            <a:r>
              <a:rPr lang="en-US" sz="1600" dirty="0">
                <a:solidFill>
                  <a:srgbClr val="002060"/>
                </a:solidFill>
              </a:rPr>
              <a:t> 5.3 What is the difference between DRAM and SRAM in terms of application? </a:t>
            </a:r>
          </a:p>
          <a:p>
            <a:r>
              <a:rPr lang="en-US" sz="1600" dirty="0">
                <a:solidFill>
                  <a:srgbClr val="002060"/>
                </a:solidFill>
              </a:rPr>
              <a:t>5.4 What is the difference between DRAM and SRAM in terms of characteristics such as speed, size, and cost? </a:t>
            </a:r>
          </a:p>
          <a:p>
            <a:r>
              <a:rPr lang="en-US" sz="1600" dirty="0">
                <a:solidFill>
                  <a:srgbClr val="002060"/>
                </a:solidFill>
              </a:rPr>
              <a:t>5.5 Explain why one type of RAM is considered to be analog and the other digital. </a:t>
            </a:r>
          </a:p>
          <a:p>
            <a:r>
              <a:rPr lang="en-US" sz="1600" dirty="0">
                <a:solidFill>
                  <a:srgbClr val="002060"/>
                </a:solidFill>
              </a:rPr>
              <a:t>5.6 What are some applications for ROM? </a:t>
            </a:r>
          </a:p>
          <a:p>
            <a:r>
              <a:rPr lang="en-US" sz="1600" dirty="0">
                <a:solidFill>
                  <a:srgbClr val="002060"/>
                </a:solidFill>
              </a:rPr>
              <a:t>5.7 What are the differences among EPROM, EEPROM, and flash memory? </a:t>
            </a:r>
          </a:p>
          <a:p>
            <a:r>
              <a:rPr lang="en-US" sz="1600" dirty="0">
                <a:solidFill>
                  <a:srgbClr val="002060"/>
                </a:solidFill>
              </a:rPr>
              <a:t>5.8 Explain the function of each pin in Figure 5.4b. 182 CHAPTER 5 / INTERNAL MEMORY </a:t>
            </a:r>
          </a:p>
          <a:p>
            <a:r>
              <a:rPr lang="en-US" sz="1600" dirty="0">
                <a:solidFill>
                  <a:srgbClr val="002060"/>
                </a:solidFill>
              </a:rPr>
              <a:t>5.9 What is a parity bit? </a:t>
            </a:r>
          </a:p>
          <a:p>
            <a:r>
              <a:rPr lang="en-US" sz="1600" dirty="0">
                <a:solidFill>
                  <a:srgbClr val="002060"/>
                </a:solidFill>
              </a:rPr>
              <a:t>5.10 How is the syndrome for the Hamming code interpreted? </a:t>
            </a:r>
          </a:p>
          <a:p>
            <a:r>
              <a:rPr lang="en-US" sz="1600" dirty="0">
                <a:solidFill>
                  <a:srgbClr val="002060"/>
                </a:solidFill>
              </a:rPr>
              <a:t>5.11 How does SDRAM differ from ordinary DRAM?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a:t>Summary</a:t>
            </a:r>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a:t>Semiconductor main memory</a:t>
            </a:r>
          </a:p>
          <a:p>
            <a:pPr lvl="1"/>
            <a:r>
              <a:rPr lang="en-US" dirty="0"/>
              <a:t>Organization</a:t>
            </a:r>
          </a:p>
          <a:p>
            <a:pPr lvl="1"/>
            <a:r>
              <a:rPr lang="en-US" dirty="0"/>
              <a:t>DRAM and SRAM</a:t>
            </a:r>
          </a:p>
          <a:p>
            <a:pPr lvl="1"/>
            <a:r>
              <a:rPr lang="en-US" dirty="0"/>
              <a:t>Types of ROM</a:t>
            </a:r>
          </a:p>
          <a:p>
            <a:pPr lvl="1"/>
            <a:r>
              <a:rPr lang="en-US" dirty="0"/>
              <a:t>Chip logic</a:t>
            </a:r>
          </a:p>
          <a:p>
            <a:pPr lvl="1"/>
            <a:r>
              <a:rPr lang="en-US" dirty="0"/>
              <a:t>Chip packaging</a:t>
            </a:r>
          </a:p>
          <a:p>
            <a:pPr lvl="1"/>
            <a:r>
              <a:rPr lang="en-US" dirty="0"/>
              <a:t>Module organization</a:t>
            </a:r>
          </a:p>
          <a:p>
            <a:pPr lvl="1"/>
            <a:r>
              <a:rPr lang="en-US" dirty="0"/>
              <a:t>Interleaved memory</a:t>
            </a:r>
          </a:p>
          <a:p>
            <a:pPr>
              <a:spcBef>
                <a:spcPts val="600"/>
              </a:spcBef>
            </a:pPr>
            <a:r>
              <a:rPr lang="en-US" dirty="0"/>
              <a:t>Error correction</a:t>
            </a:r>
          </a:p>
          <a:p>
            <a:pPr lvl="1"/>
            <a:r>
              <a:rPr lang="en-US" dirty="0"/>
              <a:t>Hard failure</a:t>
            </a:r>
          </a:p>
          <a:p>
            <a:pPr lvl="1"/>
            <a:r>
              <a:rPr lang="en-US" dirty="0"/>
              <a:t>Soft error</a:t>
            </a:r>
          </a:p>
        </p:txBody>
      </p:sp>
      <p:sp>
        <p:nvSpPr>
          <p:cNvPr id="32" name="Content Placeholder 31"/>
          <p:cNvSpPr>
            <a:spLocks noGrp="1"/>
          </p:cNvSpPr>
          <p:nvPr>
            <p:ph sz="quarter" idx="4"/>
          </p:nvPr>
        </p:nvSpPr>
        <p:spPr>
          <a:xfrm>
            <a:off x="4495800" y="2743200"/>
            <a:ext cx="3810000" cy="4343400"/>
          </a:xfrm>
        </p:spPr>
        <p:txBody>
          <a:bodyPr>
            <a:normAutofit/>
          </a:bodyPr>
          <a:lstStyle/>
          <a:p>
            <a:pPr marL="228600" lvl="1">
              <a:spcBef>
                <a:spcPts val="1800"/>
              </a:spcBef>
              <a:buClr>
                <a:schemeClr val="accent1"/>
              </a:buClr>
            </a:pPr>
            <a:r>
              <a:rPr lang="en-US" dirty="0"/>
              <a:t>Hamming code</a:t>
            </a:r>
          </a:p>
          <a:p>
            <a:pPr marL="228600" lvl="1">
              <a:spcBef>
                <a:spcPts val="1800"/>
              </a:spcBef>
              <a:buClr>
                <a:schemeClr val="accent1"/>
              </a:buClr>
            </a:pPr>
            <a:r>
              <a:rPr lang="en-US" dirty="0"/>
              <a:t>Advanced DRAM organization</a:t>
            </a:r>
          </a:p>
          <a:p>
            <a:pPr lvl="1"/>
            <a:r>
              <a:rPr lang="en-US" dirty="0"/>
              <a:t>Synchronous DRAM</a:t>
            </a:r>
          </a:p>
          <a:p>
            <a:pPr lvl="1"/>
            <a:r>
              <a:rPr lang="en-US" dirty="0"/>
              <a:t>Rambus DRAM</a:t>
            </a:r>
          </a:p>
          <a:p>
            <a:pPr lvl="1"/>
            <a:r>
              <a:rPr lang="en-US" dirty="0"/>
              <a:t>DDR SDRAM</a:t>
            </a:r>
          </a:p>
          <a:p>
            <a:pPr lvl="1"/>
            <a:r>
              <a:rPr lang="en-US" dirty="0"/>
              <a:t>Cache DRAM</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a:p>
          <a:p>
            <a:endParaRPr lang="en-US" sz="800" dirty="0"/>
          </a:p>
          <a:p>
            <a:r>
              <a:rPr lang="en-US" sz="3200" dirty="0"/>
              <a:t>Chapter 5</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a:solidFill>
                  <a:schemeClr val="tx2"/>
                </a:solidFill>
                <a:latin typeface="+mj-lt"/>
                <a:ea typeface="+mj-ea"/>
                <a:cs typeface="+mj-cs"/>
              </a:rPr>
              <a:t>Internal</a:t>
            </a:r>
          </a:p>
          <a:p>
            <a:r>
              <a:rPr lang="en-US" sz="2800" dirty="0">
                <a:solidFill>
                  <a:schemeClr val="tx2"/>
                </a:solidFill>
                <a:latin typeface="+mj-lt"/>
                <a:ea typeface="+mj-ea"/>
                <a:cs typeface="+mj-cs"/>
              </a:rPr>
              <a:t>Memory</a:t>
            </a:r>
            <a:endParaRPr lang="en-US" sz="2800" dirty="0">
              <a:solidFill>
                <a:schemeClr val="tx2"/>
              </a:solidFill>
            </a:endParaRPr>
          </a:p>
        </p:txBody>
      </p:sp>
    </p:spTree>
  </p:cSld>
  <p:clrMapOvr>
    <a:masterClrMapping/>
  </p:clrMapOvr>
  <p:transition/>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11576</TotalTime>
  <Words>13203</Words>
  <Application>Microsoft Office PowerPoint</Application>
  <PresentationFormat>On-screen Show (4:3)</PresentationFormat>
  <Paragraphs>1052</Paragraphs>
  <Slides>40</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Arial</vt:lpstr>
      <vt:lpstr>Roboto</vt:lpstr>
      <vt:lpstr>Rockwell</vt:lpstr>
      <vt:lpstr>Times New Roman</vt:lpstr>
      <vt:lpstr>Wingdings</vt:lpstr>
      <vt:lpstr>Advantage</vt:lpstr>
      <vt:lpstr>William Stallings, Computer Organization  and Architecture, 9th Edition</vt:lpstr>
      <vt:lpstr>Objectives</vt:lpstr>
      <vt:lpstr>Contents</vt:lpstr>
      <vt:lpstr>5.1- Semiconductor Main Memory</vt:lpstr>
      <vt:lpstr>Organization</vt:lpstr>
      <vt:lpstr>Semiconductor Memory Types</vt:lpstr>
      <vt:lpstr>Dynamic RAM (DRAM)</vt:lpstr>
      <vt:lpstr>Static RAM (SRAM)</vt:lpstr>
      <vt:lpstr>SRAM versus DRAM</vt:lpstr>
      <vt:lpstr>Read Only Memory (ROM)</vt:lpstr>
      <vt:lpstr>Programmable ROM (PROM)</vt:lpstr>
      <vt:lpstr>Read-Mostly Memory</vt:lpstr>
      <vt:lpstr>Typical 16 Mb DRAM (4M x 4)</vt:lpstr>
      <vt:lpstr>Chip Packaging</vt:lpstr>
      <vt:lpstr>PowerPoint Presentation</vt:lpstr>
      <vt:lpstr>1MByte Module Organization</vt:lpstr>
      <vt:lpstr>Interleaved Memory</vt:lpstr>
      <vt:lpstr>5.2- Error Correction</vt:lpstr>
      <vt:lpstr>Error Correcting Code (ECC) Function</vt:lpstr>
      <vt:lpstr>ECC Function: Examples</vt:lpstr>
      <vt:lpstr>Hamming  Error  Correcting  Code</vt:lpstr>
      <vt:lpstr>Increase in Word Length with ECC</vt:lpstr>
      <vt:lpstr>Layout of Data Bits and Check Bits</vt:lpstr>
      <vt:lpstr>Check Bit Calculation</vt:lpstr>
      <vt:lpstr>PowerPoint Presentation</vt:lpstr>
      <vt:lpstr>PowerPoint Presentation</vt:lpstr>
      <vt:lpstr>Hamming SEC-DED Code Single-Error Correcting/Double-Error Detecting</vt:lpstr>
      <vt:lpstr>PowerPoint Presentation</vt:lpstr>
      <vt:lpstr>5.3- Advanced DRAM Organization</vt:lpstr>
      <vt:lpstr>Synchronous DRAM (SDRAM)</vt:lpstr>
      <vt:lpstr>SDRAM</vt:lpstr>
      <vt:lpstr>SDRAM Pin Assignments</vt:lpstr>
      <vt:lpstr>SDRAM Read Timing</vt:lpstr>
      <vt:lpstr>RDRAM</vt:lpstr>
      <vt:lpstr>RDRAM Structure</vt:lpstr>
      <vt:lpstr>Double Data Rate SDRAM  (DDR SDRAM)</vt:lpstr>
      <vt:lpstr>DDR SDRAM  Read Timing</vt:lpstr>
      <vt:lpstr>Cache DRAM (CDRAM)</vt:lpstr>
      <vt:lpstr>Exercises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05 Internal Memory</dc:title>
  <dc:creator>Adrian J Pullin</dc:creator>
  <cp:lastModifiedBy>Tong Phuoc Quan (FE FPTU HCM)</cp:lastModifiedBy>
  <cp:revision>205</cp:revision>
  <dcterms:created xsi:type="dcterms:W3CDTF">2012-06-20T14:41:03Z</dcterms:created>
  <dcterms:modified xsi:type="dcterms:W3CDTF">2022-02-07T00:50:35Z</dcterms:modified>
</cp:coreProperties>
</file>