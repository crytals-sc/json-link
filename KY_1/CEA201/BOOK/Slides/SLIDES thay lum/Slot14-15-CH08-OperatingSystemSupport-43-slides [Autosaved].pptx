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45"/>
  </p:notesMasterIdLst>
  <p:handoutMasterIdLst>
    <p:handoutMasterId r:id="rId46"/>
  </p:handoutMasterIdLst>
  <p:sldIdLst>
    <p:sldId id="325" r:id="rId2"/>
    <p:sldId id="337" r:id="rId3"/>
    <p:sldId id="338" r:id="rId4"/>
    <p:sldId id="339" r:id="rId5"/>
    <p:sldId id="257" r:id="rId6"/>
    <p:sldId id="259" r:id="rId7"/>
    <p:sldId id="329" r:id="rId8"/>
    <p:sldId id="258" r:id="rId9"/>
    <p:sldId id="260" r:id="rId10"/>
    <p:sldId id="261" r:id="rId11"/>
    <p:sldId id="262" r:id="rId12"/>
    <p:sldId id="263" r:id="rId13"/>
    <p:sldId id="264" r:id="rId14"/>
    <p:sldId id="341" r:id="rId15"/>
    <p:sldId id="265" r:id="rId16"/>
    <p:sldId id="266" r:id="rId17"/>
    <p:sldId id="267" r:id="rId18"/>
    <p:sldId id="330" r:id="rId19"/>
    <p:sldId id="270" r:id="rId20"/>
    <p:sldId id="331" r:id="rId21"/>
    <p:sldId id="271" r:id="rId22"/>
    <p:sldId id="342" r:id="rId23"/>
    <p:sldId id="272" r:id="rId24"/>
    <p:sldId id="273" r:id="rId25"/>
    <p:sldId id="275" r:id="rId26"/>
    <p:sldId id="299" r:id="rId27"/>
    <p:sldId id="311" r:id="rId28"/>
    <p:sldId id="277" r:id="rId29"/>
    <p:sldId id="278" r:id="rId30"/>
    <p:sldId id="340" r:id="rId31"/>
    <p:sldId id="280" r:id="rId32"/>
    <p:sldId id="282" r:id="rId33"/>
    <p:sldId id="286" r:id="rId34"/>
    <p:sldId id="332" r:id="rId35"/>
    <p:sldId id="289" r:id="rId36"/>
    <p:sldId id="290" r:id="rId37"/>
    <p:sldId id="343" r:id="rId38"/>
    <p:sldId id="293" r:id="rId39"/>
    <p:sldId id="301" r:id="rId40"/>
    <p:sldId id="302" r:id="rId41"/>
    <p:sldId id="294" r:id="rId42"/>
    <p:sldId id="344" r:id="rId43"/>
    <p:sldId id="327" r:id="rId4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10"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10"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10"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10"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10" charset="0"/>
        <a:ea typeface="+mn-ea"/>
        <a:cs typeface="+mn-cs"/>
      </a:defRPr>
    </a:lvl5pPr>
    <a:lvl6pPr marL="2286000" algn="l" defTabSz="457200" rtl="0" eaLnBrk="1" latinLnBrk="0" hangingPunct="1">
      <a:defRPr sz="2400" kern="1200">
        <a:solidFill>
          <a:schemeClr val="tx1"/>
        </a:solidFill>
        <a:latin typeface="Times New Roman" pitchFamily="-110" charset="0"/>
        <a:ea typeface="+mn-ea"/>
        <a:cs typeface="+mn-cs"/>
      </a:defRPr>
    </a:lvl6pPr>
    <a:lvl7pPr marL="2743200" algn="l" defTabSz="457200" rtl="0" eaLnBrk="1" latinLnBrk="0" hangingPunct="1">
      <a:defRPr sz="2400" kern="1200">
        <a:solidFill>
          <a:schemeClr val="tx1"/>
        </a:solidFill>
        <a:latin typeface="Times New Roman" pitchFamily="-110" charset="0"/>
        <a:ea typeface="+mn-ea"/>
        <a:cs typeface="+mn-cs"/>
      </a:defRPr>
    </a:lvl7pPr>
    <a:lvl8pPr marL="3200400" algn="l" defTabSz="457200" rtl="0" eaLnBrk="1" latinLnBrk="0" hangingPunct="1">
      <a:defRPr sz="2400" kern="1200">
        <a:solidFill>
          <a:schemeClr val="tx1"/>
        </a:solidFill>
        <a:latin typeface="Times New Roman" pitchFamily="-110" charset="0"/>
        <a:ea typeface="+mn-ea"/>
        <a:cs typeface="+mn-cs"/>
      </a:defRPr>
    </a:lvl8pPr>
    <a:lvl9pPr marL="3657600" algn="l" defTabSz="457200" rtl="0" eaLnBrk="1" latinLnBrk="0" hangingPunct="1">
      <a:defRPr sz="2400" kern="1200">
        <a:solidFill>
          <a:schemeClr val="tx1"/>
        </a:solidFill>
        <a:latin typeface="Times New Roman" pitchFamily="-110"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9155" autoAdjust="0"/>
    <p:restoredTop sz="95355" autoAdjust="0"/>
  </p:normalViewPr>
  <p:slideViewPr>
    <p:cSldViewPr>
      <p:cViewPr>
        <p:scale>
          <a:sx n="90" d="100"/>
          <a:sy n="90" d="100"/>
        </p:scale>
        <p:origin x="629" y="-1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100" d="100"/>
        <a:sy n="100" d="100"/>
      </p:scale>
      <p:origin x="0" y="0"/>
    </p:cViewPr>
  </p:notesTextViewPr>
  <p:sorterViewPr>
    <p:cViewPr>
      <p:scale>
        <a:sx n="66" d="100"/>
        <a:sy n="66" d="100"/>
      </p:scale>
      <p:origin x="0" y="28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14.xml"/><Relationship Id="rId13" Type="http://schemas.openxmlformats.org/officeDocument/2006/relationships/slide" Target="slides/slide22.xml"/><Relationship Id="rId18" Type="http://schemas.openxmlformats.org/officeDocument/2006/relationships/slide" Target="slides/slide34.xml"/><Relationship Id="rId3" Type="http://schemas.openxmlformats.org/officeDocument/2006/relationships/slide" Target="slides/slide6.xml"/><Relationship Id="rId21" Type="http://schemas.openxmlformats.org/officeDocument/2006/relationships/slide" Target="slides/slide41.xml"/><Relationship Id="rId7" Type="http://schemas.openxmlformats.org/officeDocument/2006/relationships/slide" Target="slides/slide13.xml"/><Relationship Id="rId12" Type="http://schemas.openxmlformats.org/officeDocument/2006/relationships/slide" Target="slides/slide21.xml"/><Relationship Id="rId17" Type="http://schemas.openxmlformats.org/officeDocument/2006/relationships/slide" Target="slides/slide32.xml"/><Relationship Id="rId2" Type="http://schemas.openxmlformats.org/officeDocument/2006/relationships/slide" Target="slides/slide5.xml"/><Relationship Id="rId16" Type="http://schemas.openxmlformats.org/officeDocument/2006/relationships/slide" Target="slides/slide31.xml"/><Relationship Id="rId20" Type="http://schemas.openxmlformats.org/officeDocument/2006/relationships/slide" Target="slides/slide37.xml"/><Relationship Id="rId1" Type="http://schemas.openxmlformats.org/officeDocument/2006/relationships/slide" Target="slides/slide1.xml"/><Relationship Id="rId6" Type="http://schemas.openxmlformats.org/officeDocument/2006/relationships/slide" Target="slides/slide12.xml"/><Relationship Id="rId11" Type="http://schemas.openxmlformats.org/officeDocument/2006/relationships/slide" Target="slides/slide19.xml"/><Relationship Id="rId5" Type="http://schemas.openxmlformats.org/officeDocument/2006/relationships/slide" Target="slides/slide11.xml"/><Relationship Id="rId15" Type="http://schemas.openxmlformats.org/officeDocument/2006/relationships/slide" Target="slides/slide24.xml"/><Relationship Id="rId23" Type="http://schemas.openxmlformats.org/officeDocument/2006/relationships/slide" Target="slides/slide43.xml"/><Relationship Id="rId10" Type="http://schemas.openxmlformats.org/officeDocument/2006/relationships/slide" Target="slides/slide16.xml"/><Relationship Id="rId19" Type="http://schemas.openxmlformats.org/officeDocument/2006/relationships/slide" Target="slides/slide36.xml"/><Relationship Id="rId4" Type="http://schemas.openxmlformats.org/officeDocument/2006/relationships/slide" Target="slides/slide10.xml"/><Relationship Id="rId9" Type="http://schemas.openxmlformats.org/officeDocument/2006/relationships/slide" Target="slides/slide15.xml"/><Relationship Id="rId14" Type="http://schemas.openxmlformats.org/officeDocument/2006/relationships/slide" Target="slides/slide23.xml"/><Relationship Id="rId22" Type="http://schemas.openxmlformats.org/officeDocument/2006/relationships/slide" Target="slides/slide4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98E02D-30CC-9449-A818-0AC6C4532802}"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124BEBE8-86C4-2649-8CA2-A1D816B4AEC4}">
      <dgm:prSet custT="1"/>
      <dgm:spPr/>
      <dgm:t>
        <a:bodyPr/>
        <a:lstStyle/>
        <a:p>
          <a:pPr rtl="0"/>
          <a:r>
            <a:rPr lang="en-US" sz="2000">
              <a:effectLst>
                <a:outerShdw blurRad="38100" dist="38100" dir="2700000" algn="tl">
                  <a:srgbClr val="000000">
                    <a:alpha val="43137"/>
                  </a:srgbClr>
                </a:outerShdw>
              </a:effectLst>
            </a:rPr>
            <a:t>Instruction Set Architecture </a:t>
          </a:r>
          <a:r>
            <a:rPr lang="en-US" sz="2000" dirty="0">
              <a:effectLst>
                <a:outerShdw blurRad="38100" dist="38100" dir="2700000" algn="tl">
                  <a:srgbClr val="000000">
                    <a:alpha val="43137"/>
                  </a:srgbClr>
                </a:outerShdw>
              </a:effectLst>
            </a:rPr>
            <a:t>(ISA)</a:t>
          </a:r>
        </a:p>
      </dgm:t>
    </dgm:pt>
    <dgm:pt modelId="{E01D868E-D0F0-CF4C-AF25-84252D8397D3}" type="parTrans" cxnId="{18484A09-DB5C-2144-A236-4633899BFB95}">
      <dgm:prSet/>
      <dgm:spPr/>
      <dgm:t>
        <a:bodyPr/>
        <a:lstStyle/>
        <a:p>
          <a:endParaRPr lang="en-US"/>
        </a:p>
      </dgm:t>
    </dgm:pt>
    <dgm:pt modelId="{A7486556-AB81-3D4C-B517-110F7D24369A}" type="sibTrans" cxnId="{18484A09-DB5C-2144-A236-4633899BFB95}">
      <dgm:prSet/>
      <dgm:spPr/>
      <dgm:t>
        <a:bodyPr/>
        <a:lstStyle/>
        <a:p>
          <a:endParaRPr lang="en-US"/>
        </a:p>
      </dgm:t>
    </dgm:pt>
    <dgm:pt modelId="{B4DB1400-998B-E847-9FB9-E17A4347C97D}">
      <dgm:prSet custT="1"/>
      <dgm:spPr/>
      <dgm:t>
        <a:bodyPr/>
        <a:lstStyle/>
        <a:p>
          <a:pPr rtl="0"/>
          <a:r>
            <a:rPr lang="en-US" sz="1400" dirty="0"/>
            <a:t>Defines the </a:t>
          </a:r>
          <a:r>
            <a:rPr lang="en-US" sz="1400" b="1" dirty="0">
              <a:solidFill>
                <a:srgbClr val="FF0000"/>
              </a:solidFill>
            </a:rPr>
            <a:t>machine language instructions</a:t>
          </a:r>
          <a:r>
            <a:rPr lang="en-US" sz="1400" dirty="0"/>
            <a:t> that a computer can follow</a:t>
          </a:r>
        </a:p>
      </dgm:t>
    </dgm:pt>
    <dgm:pt modelId="{957059A8-73D9-3E41-902E-5C3A34F03008}" type="parTrans" cxnId="{FB475D81-05D9-4B44-84FE-DB4784DD4468}">
      <dgm:prSet/>
      <dgm:spPr/>
      <dgm:t>
        <a:bodyPr/>
        <a:lstStyle/>
        <a:p>
          <a:endParaRPr lang="en-US" dirty="0"/>
        </a:p>
      </dgm:t>
    </dgm:pt>
    <dgm:pt modelId="{2FCC652F-D41A-7A4B-AFB4-AB959B0F94D1}" type="sibTrans" cxnId="{FB475D81-05D9-4B44-84FE-DB4784DD4468}">
      <dgm:prSet/>
      <dgm:spPr/>
      <dgm:t>
        <a:bodyPr/>
        <a:lstStyle/>
        <a:p>
          <a:endParaRPr lang="en-US"/>
        </a:p>
      </dgm:t>
    </dgm:pt>
    <dgm:pt modelId="{DDB6B856-C794-3F41-AB4F-5494052BDB71}">
      <dgm:prSet custT="1"/>
      <dgm:spPr/>
      <dgm:t>
        <a:bodyPr/>
        <a:lstStyle/>
        <a:p>
          <a:pPr rtl="0"/>
          <a:r>
            <a:rPr lang="en-US" sz="1400" b="1" dirty="0">
              <a:solidFill>
                <a:srgbClr val="FF0000"/>
              </a:solidFill>
            </a:rPr>
            <a:t>Boundary </a:t>
          </a:r>
          <a:r>
            <a:rPr lang="en-US" sz="1400" dirty="0"/>
            <a:t>between hardware and software</a:t>
          </a:r>
        </a:p>
      </dgm:t>
    </dgm:pt>
    <dgm:pt modelId="{745137B8-A504-9949-92EB-436B4F44B251}" type="parTrans" cxnId="{1A2CFF3B-84F0-434F-BC24-30A95B1EBB4B}">
      <dgm:prSet/>
      <dgm:spPr/>
      <dgm:t>
        <a:bodyPr/>
        <a:lstStyle/>
        <a:p>
          <a:endParaRPr lang="en-US" dirty="0"/>
        </a:p>
      </dgm:t>
    </dgm:pt>
    <dgm:pt modelId="{3ED65C2D-C08C-8D4D-81E8-66E17AA0713C}" type="sibTrans" cxnId="{1A2CFF3B-84F0-434F-BC24-30A95B1EBB4B}">
      <dgm:prSet/>
      <dgm:spPr/>
      <dgm:t>
        <a:bodyPr/>
        <a:lstStyle/>
        <a:p>
          <a:endParaRPr lang="en-US"/>
        </a:p>
      </dgm:t>
    </dgm:pt>
    <dgm:pt modelId="{19CB2456-F605-D544-8595-DEDA979184A4}">
      <dgm:prSet custT="1"/>
      <dgm:spPr/>
      <dgm:t>
        <a:bodyPr/>
        <a:lstStyle/>
        <a:p>
          <a:pPr rtl="0"/>
          <a:r>
            <a:rPr lang="en-US" sz="2000">
              <a:effectLst>
                <a:outerShdw blurRad="38100" dist="38100" dir="2700000" algn="tl">
                  <a:srgbClr val="000000">
                    <a:alpha val="43137"/>
                  </a:srgbClr>
                </a:outerShdw>
              </a:effectLst>
            </a:rPr>
            <a:t>Application Binary Interface </a:t>
          </a:r>
          <a:r>
            <a:rPr lang="en-US" sz="2000" dirty="0">
              <a:effectLst>
                <a:outerShdw blurRad="38100" dist="38100" dir="2700000" algn="tl">
                  <a:srgbClr val="000000">
                    <a:alpha val="43137"/>
                  </a:srgbClr>
                </a:outerShdw>
              </a:effectLst>
            </a:rPr>
            <a:t>(ABI)</a:t>
          </a:r>
        </a:p>
      </dgm:t>
    </dgm:pt>
    <dgm:pt modelId="{4914149E-0BBC-5248-9120-7E432E30D1AF}" type="parTrans" cxnId="{1139F99B-2B29-AC40-8F2B-88015A1D01D0}">
      <dgm:prSet/>
      <dgm:spPr/>
      <dgm:t>
        <a:bodyPr/>
        <a:lstStyle/>
        <a:p>
          <a:endParaRPr lang="en-US"/>
        </a:p>
      </dgm:t>
    </dgm:pt>
    <dgm:pt modelId="{D33271DF-AFBA-7D4C-A5AC-A0C4E0E05AB6}" type="sibTrans" cxnId="{1139F99B-2B29-AC40-8F2B-88015A1D01D0}">
      <dgm:prSet/>
      <dgm:spPr/>
      <dgm:t>
        <a:bodyPr/>
        <a:lstStyle/>
        <a:p>
          <a:endParaRPr lang="en-US"/>
        </a:p>
      </dgm:t>
    </dgm:pt>
    <dgm:pt modelId="{506DE62E-9CD6-6642-AA9C-4CD014BF194D}">
      <dgm:prSet custT="1"/>
      <dgm:spPr/>
      <dgm:t>
        <a:bodyPr/>
        <a:lstStyle/>
        <a:p>
          <a:pPr rtl="0"/>
          <a:r>
            <a:rPr lang="en-US" sz="1400" dirty="0"/>
            <a:t>Defines </a:t>
          </a:r>
          <a:r>
            <a:rPr lang="en-US" sz="1400" b="1" dirty="0">
              <a:solidFill>
                <a:srgbClr val="0070C0"/>
              </a:solidFill>
            </a:rPr>
            <a:t>a standard for binary portability </a:t>
          </a:r>
          <a:r>
            <a:rPr lang="en-US" sz="1400" dirty="0"/>
            <a:t>across programs</a:t>
          </a:r>
        </a:p>
      </dgm:t>
    </dgm:pt>
    <dgm:pt modelId="{832FE133-3578-4942-A0A5-7563B576782B}" type="parTrans" cxnId="{29025CE2-C80B-5541-8749-27BBC1FD907A}">
      <dgm:prSet/>
      <dgm:spPr/>
      <dgm:t>
        <a:bodyPr/>
        <a:lstStyle/>
        <a:p>
          <a:endParaRPr lang="en-US" dirty="0"/>
        </a:p>
      </dgm:t>
    </dgm:pt>
    <dgm:pt modelId="{D928E5BA-6AB0-284D-B2C7-EEBC83FA4B2F}" type="sibTrans" cxnId="{29025CE2-C80B-5541-8749-27BBC1FD907A}">
      <dgm:prSet/>
      <dgm:spPr/>
      <dgm:t>
        <a:bodyPr/>
        <a:lstStyle/>
        <a:p>
          <a:endParaRPr lang="en-US"/>
        </a:p>
      </dgm:t>
    </dgm:pt>
    <dgm:pt modelId="{0D5FD4E6-21E2-AA48-885E-7C4484E11672}">
      <dgm:prSet custT="1"/>
      <dgm:spPr/>
      <dgm:t>
        <a:bodyPr/>
        <a:lstStyle/>
        <a:p>
          <a:pPr rtl="0"/>
          <a:r>
            <a:rPr lang="en-US" sz="1400" dirty="0"/>
            <a:t>Defines the </a:t>
          </a:r>
          <a:r>
            <a:rPr lang="en-US" sz="1400" b="1" dirty="0">
              <a:solidFill>
                <a:srgbClr val="0070C0"/>
              </a:solidFill>
            </a:rPr>
            <a:t>system call interface to the operating system and the hardware resources</a:t>
          </a:r>
          <a:r>
            <a:rPr lang="en-US" sz="1400" dirty="0"/>
            <a:t> and services available in a system through the user ISA</a:t>
          </a:r>
        </a:p>
      </dgm:t>
    </dgm:pt>
    <dgm:pt modelId="{9F672795-D12A-4A40-8E2C-1998ACCA0397}" type="parTrans" cxnId="{E5E3DD36-C13D-D14D-8FBB-A95C95F8644D}">
      <dgm:prSet/>
      <dgm:spPr/>
      <dgm:t>
        <a:bodyPr/>
        <a:lstStyle/>
        <a:p>
          <a:endParaRPr lang="en-US" dirty="0"/>
        </a:p>
      </dgm:t>
    </dgm:pt>
    <dgm:pt modelId="{075C2D75-E42D-4C4A-B9C4-DA9BDD3CB5C0}" type="sibTrans" cxnId="{E5E3DD36-C13D-D14D-8FBB-A95C95F8644D}">
      <dgm:prSet/>
      <dgm:spPr/>
      <dgm:t>
        <a:bodyPr/>
        <a:lstStyle/>
        <a:p>
          <a:endParaRPr lang="en-US"/>
        </a:p>
      </dgm:t>
    </dgm:pt>
    <dgm:pt modelId="{284C70B2-3774-E146-867F-A0181B004F39}">
      <dgm:prSet custT="1"/>
      <dgm:spPr/>
      <dgm:t>
        <a:bodyPr/>
        <a:lstStyle/>
        <a:p>
          <a:pPr rtl="0"/>
          <a:r>
            <a:rPr lang="en-US" sz="2000">
              <a:effectLst>
                <a:outerShdw blurRad="38100" dist="38100" dir="2700000" algn="tl">
                  <a:srgbClr val="000000">
                    <a:alpha val="43137"/>
                  </a:srgbClr>
                </a:outerShdw>
              </a:effectLst>
            </a:rPr>
            <a:t>Application Programming Interface </a:t>
          </a:r>
          <a:r>
            <a:rPr lang="en-US" sz="2000" dirty="0">
              <a:effectLst>
                <a:outerShdw blurRad="38100" dist="38100" dir="2700000" algn="tl">
                  <a:srgbClr val="000000">
                    <a:alpha val="43137"/>
                  </a:srgbClr>
                </a:outerShdw>
              </a:effectLst>
            </a:rPr>
            <a:t>(API)</a:t>
          </a:r>
        </a:p>
      </dgm:t>
    </dgm:pt>
    <dgm:pt modelId="{FBAA1680-A5D9-3B4F-9762-CC405354FD68}" type="parTrans" cxnId="{A03A94D8-76CF-7C48-B203-03AC810D8E9E}">
      <dgm:prSet/>
      <dgm:spPr/>
      <dgm:t>
        <a:bodyPr/>
        <a:lstStyle/>
        <a:p>
          <a:endParaRPr lang="en-US"/>
        </a:p>
      </dgm:t>
    </dgm:pt>
    <dgm:pt modelId="{0A413757-D05F-A44D-8197-EFEA7D0F6661}" type="sibTrans" cxnId="{A03A94D8-76CF-7C48-B203-03AC810D8E9E}">
      <dgm:prSet/>
      <dgm:spPr/>
      <dgm:t>
        <a:bodyPr/>
        <a:lstStyle/>
        <a:p>
          <a:endParaRPr lang="en-US"/>
        </a:p>
      </dgm:t>
    </dgm:pt>
    <dgm:pt modelId="{6E758BB7-D1F7-B54E-8DC5-90115B787D5A}">
      <dgm:prSet custT="1"/>
      <dgm:spPr/>
      <dgm:t>
        <a:bodyPr/>
        <a:lstStyle/>
        <a:p>
          <a:pPr rtl="0"/>
          <a:r>
            <a:rPr lang="en-US" sz="1400" dirty="0"/>
            <a:t>Gives a </a:t>
          </a:r>
          <a:r>
            <a:rPr lang="en-US" sz="1400" b="1" dirty="0">
              <a:solidFill>
                <a:schemeClr val="accent2">
                  <a:lumMod val="75000"/>
                  <a:lumOff val="25000"/>
                </a:schemeClr>
              </a:solidFill>
            </a:rPr>
            <a:t>program access to the hardware resources and services </a:t>
          </a:r>
          <a:r>
            <a:rPr lang="en-US" sz="1400" dirty="0"/>
            <a:t>available in a system through the user ISA supplemented with </a:t>
          </a:r>
          <a:r>
            <a:rPr lang="en-US" sz="1400" b="1" dirty="0">
              <a:solidFill>
                <a:schemeClr val="accent2">
                  <a:lumMod val="75000"/>
                  <a:lumOff val="25000"/>
                </a:schemeClr>
              </a:solidFill>
            </a:rPr>
            <a:t>high-level language (HLL) library calls</a:t>
          </a:r>
        </a:p>
      </dgm:t>
    </dgm:pt>
    <dgm:pt modelId="{25178829-1AEA-0D4F-983F-5B6B91034EC6}" type="parTrans" cxnId="{1C70EF9D-9899-BE46-977D-2B76B753230D}">
      <dgm:prSet/>
      <dgm:spPr/>
      <dgm:t>
        <a:bodyPr/>
        <a:lstStyle/>
        <a:p>
          <a:endParaRPr lang="en-US" dirty="0"/>
        </a:p>
      </dgm:t>
    </dgm:pt>
    <dgm:pt modelId="{3CDE2DD2-5AA7-8242-A510-78C1AA002CE7}" type="sibTrans" cxnId="{1C70EF9D-9899-BE46-977D-2B76B753230D}">
      <dgm:prSet/>
      <dgm:spPr/>
      <dgm:t>
        <a:bodyPr/>
        <a:lstStyle/>
        <a:p>
          <a:endParaRPr lang="en-US"/>
        </a:p>
      </dgm:t>
    </dgm:pt>
    <dgm:pt modelId="{5D78FA56-ECC5-714B-8226-6AC8F1328207}">
      <dgm:prSet custT="1"/>
      <dgm:spPr/>
      <dgm:t>
        <a:bodyPr/>
        <a:lstStyle/>
        <a:p>
          <a:pPr rtl="0"/>
          <a:r>
            <a:rPr lang="en-US" sz="1400" dirty="0"/>
            <a:t>Using </a:t>
          </a:r>
          <a:r>
            <a:rPr lang="en-US" sz="1400" b="1" dirty="0">
              <a:solidFill>
                <a:schemeClr val="accent2">
                  <a:lumMod val="75000"/>
                  <a:lumOff val="25000"/>
                </a:schemeClr>
              </a:solidFill>
            </a:rPr>
            <a:t>an API enables application software to be ported easily </a:t>
          </a:r>
          <a:r>
            <a:rPr lang="en-US" sz="1400" dirty="0"/>
            <a:t>to other systems that support the same API</a:t>
          </a:r>
        </a:p>
      </dgm:t>
    </dgm:pt>
    <dgm:pt modelId="{12F93348-8EE6-6745-9237-AD103F2A73A5}" type="parTrans" cxnId="{A891628F-78C6-714B-BA9F-F433EFBEF761}">
      <dgm:prSet/>
      <dgm:spPr/>
      <dgm:t>
        <a:bodyPr/>
        <a:lstStyle/>
        <a:p>
          <a:endParaRPr lang="en-US" dirty="0"/>
        </a:p>
      </dgm:t>
    </dgm:pt>
    <dgm:pt modelId="{677B03D9-A8C2-B24F-8F13-7CA5C7664FF4}" type="sibTrans" cxnId="{A891628F-78C6-714B-BA9F-F433EFBEF761}">
      <dgm:prSet/>
      <dgm:spPr/>
      <dgm:t>
        <a:bodyPr/>
        <a:lstStyle/>
        <a:p>
          <a:endParaRPr lang="en-US"/>
        </a:p>
      </dgm:t>
    </dgm:pt>
    <dgm:pt modelId="{D2B474F2-1416-1A45-9FE8-CC8AEBD2ED94}" type="pres">
      <dgm:prSet presAssocID="{4698E02D-30CC-9449-A818-0AC6C4532802}" presName="diagram" presStyleCnt="0">
        <dgm:presLayoutVars>
          <dgm:chPref val="1"/>
          <dgm:dir/>
          <dgm:animOne val="branch"/>
          <dgm:animLvl val="lvl"/>
          <dgm:resizeHandles/>
        </dgm:presLayoutVars>
      </dgm:prSet>
      <dgm:spPr/>
    </dgm:pt>
    <dgm:pt modelId="{BB0AA88F-F44A-7F42-879F-2AE64C4E8BEF}" type="pres">
      <dgm:prSet presAssocID="{124BEBE8-86C4-2649-8CA2-A1D816B4AEC4}" presName="root" presStyleCnt="0"/>
      <dgm:spPr/>
    </dgm:pt>
    <dgm:pt modelId="{1CD57EA1-2F5B-9B44-AEB7-6FD2E768AFFC}" type="pres">
      <dgm:prSet presAssocID="{124BEBE8-86C4-2649-8CA2-A1D816B4AEC4}" presName="rootComposite" presStyleCnt="0"/>
      <dgm:spPr/>
    </dgm:pt>
    <dgm:pt modelId="{C150311E-025D-7344-A9FC-2AA1317E3F60}" type="pres">
      <dgm:prSet presAssocID="{124BEBE8-86C4-2649-8CA2-A1D816B4AEC4}" presName="rootText" presStyleLbl="node1" presStyleIdx="0" presStyleCnt="3"/>
      <dgm:spPr/>
    </dgm:pt>
    <dgm:pt modelId="{80999366-1526-024F-A0FA-5C77637227CF}" type="pres">
      <dgm:prSet presAssocID="{124BEBE8-86C4-2649-8CA2-A1D816B4AEC4}" presName="rootConnector" presStyleLbl="node1" presStyleIdx="0" presStyleCnt="3"/>
      <dgm:spPr/>
    </dgm:pt>
    <dgm:pt modelId="{5DACE3B8-97B3-DF45-8B7C-242993D9751E}" type="pres">
      <dgm:prSet presAssocID="{124BEBE8-86C4-2649-8CA2-A1D816B4AEC4}" presName="childShape" presStyleCnt="0"/>
      <dgm:spPr/>
    </dgm:pt>
    <dgm:pt modelId="{5B513F86-D07D-CC45-AADF-4F581EAF2C88}" type="pres">
      <dgm:prSet presAssocID="{957059A8-73D9-3E41-902E-5C3A34F03008}" presName="Name13" presStyleLbl="parChTrans1D2" presStyleIdx="0" presStyleCnt="6"/>
      <dgm:spPr/>
    </dgm:pt>
    <dgm:pt modelId="{33305FA7-C2B7-ED40-873D-BBCA01E9ADCB}" type="pres">
      <dgm:prSet presAssocID="{B4DB1400-998B-E847-9FB9-E17A4347C97D}" presName="childText" presStyleLbl="bgAcc1" presStyleIdx="0" presStyleCnt="6" custLinFactNeighborY="-2221">
        <dgm:presLayoutVars>
          <dgm:bulletEnabled val="1"/>
        </dgm:presLayoutVars>
      </dgm:prSet>
      <dgm:spPr/>
    </dgm:pt>
    <dgm:pt modelId="{8B292142-3417-9A49-B33C-60015EE3F03C}" type="pres">
      <dgm:prSet presAssocID="{745137B8-A504-9949-92EB-436B4F44B251}" presName="Name13" presStyleLbl="parChTrans1D2" presStyleIdx="1" presStyleCnt="6"/>
      <dgm:spPr/>
    </dgm:pt>
    <dgm:pt modelId="{B4E74E98-2C79-2945-9F4F-74D267D60EC3}" type="pres">
      <dgm:prSet presAssocID="{DDB6B856-C794-3F41-AB4F-5494052BDB71}" presName="childText" presStyleLbl="bgAcc1" presStyleIdx="1" presStyleCnt="6">
        <dgm:presLayoutVars>
          <dgm:bulletEnabled val="1"/>
        </dgm:presLayoutVars>
      </dgm:prSet>
      <dgm:spPr/>
    </dgm:pt>
    <dgm:pt modelId="{E9BB4B5A-32CC-654A-8DFA-B6BCFA0C41D6}" type="pres">
      <dgm:prSet presAssocID="{19CB2456-F605-D544-8595-DEDA979184A4}" presName="root" presStyleCnt="0"/>
      <dgm:spPr/>
    </dgm:pt>
    <dgm:pt modelId="{1FC8A87F-A114-254B-9CA7-4A921B18FB5C}" type="pres">
      <dgm:prSet presAssocID="{19CB2456-F605-D544-8595-DEDA979184A4}" presName="rootComposite" presStyleCnt="0"/>
      <dgm:spPr/>
    </dgm:pt>
    <dgm:pt modelId="{489FB5BC-4218-644F-A04B-E9381F972CA7}" type="pres">
      <dgm:prSet presAssocID="{19CB2456-F605-D544-8595-DEDA979184A4}" presName="rootText" presStyleLbl="node1" presStyleIdx="1" presStyleCnt="3"/>
      <dgm:spPr/>
    </dgm:pt>
    <dgm:pt modelId="{8B6D4C7E-29AD-9044-91B7-CEE92FB3EE22}" type="pres">
      <dgm:prSet presAssocID="{19CB2456-F605-D544-8595-DEDA979184A4}" presName="rootConnector" presStyleLbl="node1" presStyleIdx="1" presStyleCnt="3"/>
      <dgm:spPr/>
    </dgm:pt>
    <dgm:pt modelId="{13E21C3D-3A82-C549-B99E-174B26F3BD60}" type="pres">
      <dgm:prSet presAssocID="{19CB2456-F605-D544-8595-DEDA979184A4}" presName="childShape" presStyleCnt="0"/>
      <dgm:spPr/>
    </dgm:pt>
    <dgm:pt modelId="{FD2B6C68-7AE3-AD44-B0A5-B3647459FECC}" type="pres">
      <dgm:prSet presAssocID="{832FE133-3578-4942-A0A5-7563B576782B}" presName="Name13" presStyleLbl="parChTrans1D2" presStyleIdx="2" presStyleCnt="6"/>
      <dgm:spPr/>
    </dgm:pt>
    <dgm:pt modelId="{5D5EEB6A-69EB-CA4A-B92A-65BBC8B52B6B}" type="pres">
      <dgm:prSet presAssocID="{506DE62E-9CD6-6642-AA9C-4CD014BF194D}" presName="childText" presStyleLbl="bgAcc1" presStyleIdx="2" presStyleCnt="6" custLinFactNeighborY="-2221">
        <dgm:presLayoutVars>
          <dgm:bulletEnabled val="1"/>
        </dgm:presLayoutVars>
      </dgm:prSet>
      <dgm:spPr/>
    </dgm:pt>
    <dgm:pt modelId="{FB7C3B48-6D64-704B-90A6-5F37E3C3BB64}" type="pres">
      <dgm:prSet presAssocID="{9F672795-D12A-4A40-8E2C-1998ACCA0397}" presName="Name13" presStyleLbl="parChTrans1D2" presStyleIdx="3" presStyleCnt="6"/>
      <dgm:spPr/>
    </dgm:pt>
    <dgm:pt modelId="{384D2F7F-49BB-5246-AC8B-04EE48185963}" type="pres">
      <dgm:prSet presAssocID="{0D5FD4E6-21E2-AA48-885E-7C4484E11672}" presName="childText" presStyleLbl="bgAcc1" presStyleIdx="3" presStyleCnt="6" custScaleY="138032">
        <dgm:presLayoutVars>
          <dgm:bulletEnabled val="1"/>
        </dgm:presLayoutVars>
      </dgm:prSet>
      <dgm:spPr/>
    </dgm:pt>
    <dgm:pt modelId="{1D2110AC-4B5C-9743-9F41-0C68D3A5306F}" type="pres">
      <dgm:prSet presAssocID="{284C70B2-3774-E146-867F-A0181B004F39}" presName="root" presStyleCnt="0"/>
      <dgm:spPr/>
    </dgm:pt>
    <dgm:pt modelId="{1121DF80-FA22-D346-B90F-5893D7A8B682}" type="pres">
      <dgm:prSet presAssocID="{284C70B2-3774-E146-867F-A0181B004F39}" presName="rootComposite" presStyleCnt="0"/>
      <dgm:spPr/>
    </dgm:pt>
    <dgm:pt modelId="{E55E10B5-5593-224E-9230-4EEE33A00367}" type="pres">
      <dgm:prSet presAssocID="{284C70B2-3774-E146-867F-A0181B004F39}" presName="rootText" presStyleLbl="node1" presStyleIdx="2" presStyleCnt="3"/>
      <dgm:spPr/>
    </dgm:pt>
    <dgm:pt modelId="{62C3E8FA-50C3-6045-A6EB-AABE46C10363}" type="pres">
      <dgm:prSet presAssocID="{284C70B2-3774-E146-867F-A0181B004F39}" presName="rootConnector" presStyleLbl="node1" presStyleIdx="2" presStyleCnt="3"/>
      <dgm:spPr/>
    </dgm:pt>
    <dgm:pt modelId="{B8205B79-1FF6-2441-89F5-C0A07B04CF03}" type="pres">
      <dgm:prSet presAssocID="{284C70B2-3774-E146-867F-A0181B004F39}" presName="childShape" presStyleCnt="0"/>
      <dgm:spPr/>
    </dgm:pt>
    <dgm:pt modelId="{50BEA580-295E-FC4B-A921-B4CB91D3BCA7}" type="pres">
      <dgm:prSet presAssocID="{25178829-1AEA-0D4F-983F-5B6B91034EC6}" presName="Name13" presStyleLbl="parChTrans1D2" presStyleIdx="4" presStyleCnt="6"/>
      <dgm:spPr/>
    </dgm:pt>
    <dgm:pt modelId="{256EB3DA-A813-204C-9C44-BEE441A8A9C9}" type="pres">
      <dgm:prSet presAssocID="{6E758BB7-D1F7-B54E-8DC5-90115B787D5A}" presName="childText" presStyleLbl="bgAcc1" presStyleIdx="4" presStyleCnt="6" custScaleY="196358" custLinFactNeighborY="-8186">
        <dgm:presLayoutVars>
          <dgm:bulletEnabled val="1"/>
        </dgm:presLayoutVars>
      </dgm:prSet>
      <dgm:spPr/>
    </dgm:pt>
    <dgm:pt modelId="{CD026FB4-5266-8543-8F4A-2A2135869993}" type="pres">
      <dgm:prSet presAssocID="{12F93348-8EE6-6745-9237-AD103F2A73A5}" presName="Name13" presStyleLbl="parChTrans1D2" presStyleIdx="5" presStyleCnt="6"/>
      <dgm:spPr/>
    </dgm:pt>
    <dgm:pt modelId="{FAC786AE-8BBB-AF42-BE5E-D9161738A40A}" type="pres">
      <dgm:prSet presAssocID="{5D78FA56-ECC5-714B-8226-6AC8F1328207}" presName="childText" presStyleLbl="bgAcc1" presStyleIdx="5" presStyleCnt="6" custScaleY="120299" custLinFactNeighborY="-20903">
        <dgm:presLayoutVars>
          <dgm:bulletEnabled val="1"/>
        </dgm:presLayoutVars>
      </dgm:prSet>
      <dgm:spPr/>
    </dgm:pt>
  </dgm:ptLst>
  <dgm:cxnLst>
    <dgm:cxn modelId="{CF96A501-BEF7-174A-ADC1-F6A75D3C14FE}" type="presOf" srcId="{9F672795-D12A-4A40-8E2C-1998ACCA0397}" destId="{FB7C3B48-6D64-704B-90A6-5F37E3C3BB64}" srcOrd="0" destOrd="0" presId="urn:microsoft.com/office/officeart/2005/8/layout/hierarchy3"/>
    <dgm:cxn modelId="{18484A09-DB5C-2144-A236-4633899BFB95}" srcId="{4698E02D-30CC-9449-A818-0AC6C4532802}" destId="{124BEBE8-86C4-2649-8CA2-A1D816B4AEC4}" srcOrd="0" destOrd="0" parTransId="{E01D868E-D0F0-CF4C-AF25-84252D8397D3}" sibTransId="{A7486556-AB81-3D4C-B517-110F7D24369A}"/>
    <dgm:cxn modelId="{27F05021-945D-A641-9A23-AF08F81AD35D}" type="presOf" srcId="{284C70B2-3774-E146-867F-A0181B004F39}" destId="{62C3E8FA-50C3-6045-A6EB-AABE46C10363}" srcOrd="1" destOrd="0" presId="urn:microsoft.com/office/officeart/2005/8/layout/hierarchy3"/>
    <dgm:cxn modelId="{6A95D72F-6C2E-1641-8CD1-85AF41989404}" type="presOf" srcId="{19CB2456-F605-D544-8595-DEDA979184A4}" destId="{489FB5BC-4218-644F-A04B-E9381F972CA7}" srcOrd="0" destOrd="0" presId="urn:microsoft.com/office/officeart/2005/8/layout/hierarchy3"/>
    <dgm:cxn modelId="{E5E3DD36-C13D-D14D-8FBB-A95C95F8644D}" srcId="{19CB2456-F605-D544-8595-DEDA979184A4}" destId="{0D5FD4E6-21E2-AA48-885E-7C4484E11672}" srcOrd="1" destOrd="0" parTransId="{9F672795-D12A-4A40-8E2C-1998ACCA0397}" sibTransId="{075C2D75-E42D-4C4A-B9C4-DA9BDD3CB5C0}"/>
    <dgm:cxn modelId="{1A2CFF3B-84F0-434F-BC24-30A95B1EBB4B}" srcId="{124BEBE8-86C4-2649-8CA2-A1D816B4AEC4}" destId="{DDB6B856-C794-3F41-AB4F-5494052BDB71}" srcOrd="1" destOrd="0" parTransId="{745137B8-A504-9949-92EB-436B4F44B251}" sibTransId="{3ED65C2D-C08C-8D4D-81E8-66E17AA0713C}"/>
    <dgm:cxn modelId="{F051204A-60A6-7049-9DC3-59840B3340F3}" type="presOf" srcId="{957059A8-73D9-3E41-902E-5C3A34F03008}" destId="{5B513F86-D07D-CC45-AADF-4F581EAF2C88}" srcOrd="0" destOrd="0" presId="urn:microsoft.com/office/officeart/2005/8/layout/hierarchy3"/>
    <dgm:cxn modelId="{4218D54B-6E38-E449-9899-3413498AE3F1}" type="presOf" srcId="{506DE62E-9CD6-6642-AA9C-4CD014BF194D}" destId="{5D5EEB6A-69EB-CA4A-B92A-65BBC8B52B6B}" srcOrd="0" destOrd="0" presId="urn:microsoft.com/office/officeart/2005/8/layout/hierarchy3"/>
    <dgm:cxn modelId="{FB31334C-FBAF-9548-B5E0-3AC3730BEA47}" type="presOf" srcId="{745137B8-A504-9949-92EB-436B4F44B251}" destId="{8B292142-3417-9A49-B33C-60015EE3F03C}" srcOrd="0" destOrd="0" presId="urn:microsoft.com/office/officeart/2005/8/layout/hierarchy3"/>
    <dgm:cxn modelId="{B2B1D46F-632F-9244-8A44-5517179A5A94}" type="presOf" srcId="{12F93348-8EE6-6745-9237-AD103F2A73A5}" destId="{CD026FB4-5266-8543-8F4A-2A2135869993}" srcOrd="0" destOrd="0" presId="urn:microsoft.com/office/officeart/2005/8/layout/hierarchy3"/>
    <dgm:cxn modelId="{A04F1B58-AA01-A941-9ED0-369C5D9C85DE}" type="presOf" srcId="{5D78FA56-ECC5-714B-8226-6AC8F1328207}" destId="{FAC786AE-8BBB-AF42-BE5E-D9161738A40A}" srcOrd="0" destOrd="0" presId="urn:microsoft.com/office/officeart/2005/8/layout/hierarchy3"/>
    <dgm:cxn modelId="{FB475D81-05D9-4B44-84FE-DB4784DD4468}" srcId="{124BEBE8-86C4-2649-8CA2-A1D816B4AEC4}" destId="{B4DB1400-998B-E847-9FB9-E17A4347C97D}" srcOrd="0" destOrd="0" parTransId="{957059A8-73D9-3E41-902E-5C3A34F03008}" sibTransId="{2FCC652F-D41A-7A4B-AFB4-AB959B0F94D1}"/>
    <dgm:cxn modelId="{4116FE84-9CC2-C740-83CC-E8058729F542}" type="presOf" srcId="{19CB2456-F605-D544-8595-DEDA979184A4}" destId="{8B6D4C7E-29AD-9044-91B7-CEE92FB3EE22}" srcOrd="1" destOrd="0" presId="urn:microsoft.com/office/officeart/2005/8/layout/hierarchy3"/>
    <dgm:cxn modelId="{ACDBBC85-7DB5-864F-92F1-C39FB783F773}" type="presOf" srcId="{124BEBE8-86C4-2649-8CA2-A1D816B4AEC4}" destId="{80999366-1526-024F-A0FA-5C77637227CF}" srcOrd="1" destOrd="0" presId="urn:microsoft.com/office/officeart/2005/8/layout/hierarchy3"/>
    <dgm:cxn modelId="{A891628F-78C6-714B-BA9F-F433EFBEF761}" srcId="{284C70B2-3774-E146-867F-A0181B004F39}" destId="{5D78FA56-ECC5-714B-8226-6AC8F1328207}" srcOrd="1" destOrd="0" parTransId="{12F93348-8EE6-6745-9237-AD103F2A73A5}" sibTransId="{677B03D9-A8C2-B24F-8F13-7CA5C7664FF4}"/>
    <dgm:cxn modelId="{1139F99B-2B29-AC40-8F2B-88015A1D01D0}" srcId="{4698E02D-30CC-9449-A818-0AC6C4532802}" destId="{19CB2456-F605-D544-8595-DEDA979184A4}" srcOrd="1" destOrd="0" parTransId="{4914149E-0BBC-5248-9120-7E432E30D1AF}" sibTransId="{D33271DF-AFBA-7D4C-A5AC-A0C4E0E05AB6}"/>
    <dgm:cxn modelId="{F7A3359C-007A-2843-A78E-C3276ED4540D}" type="presOf" srcId="{25178829-1AEA-0D4F-983F-5B6B91034EC6}" destId="{50BEA580-295E-FC4B-A921-B4CB91D3BCA7}" srcOrd="0" destOrd="0" presId="urn:microsoft.com/office/officeart/2005/8/layout/hierarchy3"/>
    <dgm:cxn modelId="{1C70EF9D-9899-BE46-977D-2B76B753230D}" srcId="{284C70B2-3774-E146-867F-A0181B004F39}" destId="{6E758BB7-D1F7-B54E-8DC5-90115B787D5A}" srcOrd="0" destOrd="0" parTransId="{25178829-1AEA-0D4F-983F-5B6B91034EC6}" sibTransId="{3CDE2DD2-5AA7-8242-A510-78C1AA002CE7}"/>
    <dgm:cxn modelId="{20842BAE-C9FD-6D47-8358-9D5D58579C25}" type="presOf" srcId="{284C70B2-3774-E146-867F-A0181B004F39}" destId="{E55E10B5-5593-224E-9230-4EEE33A00367}" srcOrd="0" destOrd="0" presId="urn:microsoft.com/office/officeart/2005/8/layout/hierarchy3"/>
    <dgm:cxn modelId="{B4BCDDB4-5C2E-7A4C-95E4-A79AF4154EF1}" type="presOf" srcId="{B4DB1400-998B-E847-9FB9-E17A4347C97D}" destId="{33305FA7-C2B7-ED40-873D-BBCA01E9ADCB}" srcOrd="0" destOrd="0" presId="urn:microsoft.com/office/officeart/2005/8/layout/hierarchy3"/>
    <dgm:cxn modelId="{E3DE80C2-66B7-FB46-B45F-CF323FAF673E}" type="presOf" srcId="{832FE133-3578-4942-A0A5-7563B576782B}" destId="{FD2B6C68-7AE3-AD44-B0A5-B3647459FECC}" srcOrd="0" destOrd="0" presId="urn:microsoft.com/office/officeart/2005/8/layout/hierarchy3"/>
    <dgm:cxn modelId="{6C7B67D8-1C6D-1440-9E9F-66C41CE6735D}" type="presOf" srcId="{DDB6B856-C794-3F41-AB4F-5494052BDB71}" destId="{B4E74E98-2C79-2945-9F4F-74D267D60EC3}" srcOrd="0" destOrd="0" presId="urn:microsoft.com/office/officeart/2005/8/layout/hierarchy3"/>
    <dgm:cxn modelId="{A03A94D8-76CF-7C48-B203-03AC810D8E9E}" srcId="{4698E02D-30CC-9449-A818-0AC6C4532802}" destId="{284C70B2-3774-E146-867F-A0181B004F39}" srcOrd="2" destOrd="0" parTransId="{FBAA1680-A5D9-3B4F-9762-CC405354FD68}" sibTransId="{0A413757-D05F-A44D-8197-EFEA7D0F6661}"/>
    <dgm:cxn modelId="{738A84DA-2197-DC4E-B1A5-9BE9705113C1}" type="presOf" srcId="{6E758BB7-D1F7-B54E-8DC5-90115B787D5A}" destId="{256EB3DA-A813-204C-9C44-BEE441A8A9C9}" srcOrd="0" destOrd="0" presId="urn:microsoft.com/office/officeart/2005/8/layout/hierarchy3"/>
    <dgm:cxn modelId="{5105F6DC-075C-8142-9B82-122E54175DA2}" type="presOf" srcId="{124BEBE8-86C4-2649-8CA2-A1D816B4AEC4}" destId="{C150311E-025D-7344-A9FC-2AA1317E3F60}" srcOrd="0" destOrd="0" presId="urn:microsoft.com/office/officeart/2005/8/layout/hierarchy3"/>
    <dgm:cxn modelId="{29025CE2-C80B-5541-8749-27BBC1FD907A}" srcId="{19CB2456-F605-D544-8595-DEDA979184A4}" destId="{506DE62E-9CD6-6642-AA9C-4CD014BF194D}" srcOrd="0" destOrd="0" parTransId="{832FE133-3578-4942-A0A5-7563B576782B}" sibTransId="{D928E5BA-6AB0-284D-B2C7-EEBC83FA4B2F}"/>
    <dgm:cxn modelId="{243182E8-A180-E742-95C4-512031912FAB}" type="presOf" srcId="{0D5FD4E6-21E2-AA48-885E-7C4484E11672}" destId="{384D2F7F-49BB-5246-AC8B-04EE48185963}" srcOrd="0" destOrd="0" presId="urn:microsoft.com/office/officeart/2005/8/layout/hierarchy3"/>
    <dgm:cxn modelId="{D548A0F5-751B-BB41-A988-321CA971F331}" type="presOf" srcId="{4698E02D-30CC-9449-A818-0AC6C4532802}" destId="{D2B474F2-1416-1A45-9FE8-CC8AEBD2ED94}" srcOrd="0" destOrd="0" presId="urn:microsoft.com/office/officeart/2005/8/layout/hierarchy3"/>
    <dgm:cxn modelId="{31DC0046-AFB8-E844-B589-D8EF12B325BA}" type="presParOf" srcId="{D2B474F2-1416-1A45-9FE8-CC8AEBD2ED94}" destId="{BB0AA88F-F44A-7F42-879F-2AE64C4E8BEF}" srcOrd="0" destOrd="0" presId="urn:microsoft.com/office/officeart/2005/8/layout/hierarchy3"/>
    <dgm:cxn modelId="{06C7FA78-BDA2-DB42-9C23-3E542F028BE6}" type="presParOf" srcId="{BB0AA88F-F44A-7F42-879F-2AE64C4E8BEF}" destId="{1CD57EA1-2F5B-9B44-AEB7-6FD2E768AFFC}" srcOrd="0" destOrd="0" presId="urn:microsoft.com/office/officeart/2005/8/layout/hierarchy3"/>
    <dgm:cxn modelId="{FA6C8CBA-B064-ED42-A0B1-E639E990E8D7}" type="presParOf" srcId="{1CD57EA1-2F5B-9B44-AEB7-6FD2E768AFFC}" destId="{C150311E-025D-7344-A9FC-2AA1317E3F60}" srcOrd="0" destOrd="0" presId="urn:microsoft.com/office/officeart/2005/8/layout/hierarchy3"/>
    <dgm:cxn modelId="{6DA8506F-D668-4647-AF29-78508E9ABD61}" type="presParOf" srcId="{1CD57EA1-2F5B-9B44-AEB7-6FD2E768AFFC}" destId="{80999366-1526-024F-A0FA-5C77637227CF}" srcOrd="1" destOrd="0" presId="urn:microsoft.com/office/officeart/2005/8/layout/hierarchy3"/>
    <dgm:cxn modelId="{53784171-6B36-5A47-A687-FFF5C344623D}" type="presParOf" srcId="{BB0AA88F-F44A-7F42-879F-2AE64C4E8BEF}" destId="{5DACE3B8-97B3-DF45-8B7C-242993D9751E}" srcOrd="1" destOrd="0" presId="urn:microsoft.com/office/officeart/2005/8/layout/hierarchy3"/>
    <dgm:cxn modelId="{AD1CD79F-8476-804B-9B99-A710E75D7E42}" type="presParOf" srcId="{5DACE3B8-97B3-DF45-8B7C-242993D9751E}" destId="{5B513F86-D07D-CC45-AADF-4F581EAF2C88}" srcOrd="0" destOrd="0" presId="urn:microsoft.com/office/officeart/2005/8/layout/hierarchy3"/>
    <dgm:cxn modelId="{19FB15CA-9E7A-D143-9E4C-4F3A5300B263}" type="presParOf" srcId="{5DACE3B8-97B3-DF45-8B7C-242993D9751E}" destId="{33305FA7-C2B7-ED40-873D-BBCA01E9ADCB}" srcOrd="1" destOrd="0" presId="urn:microsoft.com/office/officeart/2005/8/layout/hierarchy3"/>
    <dgm:cxn modelId="{AB3FC0B3-C477-084C-B96B-3AAC3DD27CAA}" type="presParOf" srcId="{5DACE3B8-97B3-DF45-8B7C-242993D9751E}" destId="{8B292142-3417-9A49-B33C-60015EE3F03C}" srcOrd="2" destOrd="0" presId="urn:microsoft.com/office/officeart/2005/8/layout/hierarchy3"/>
    <dgm:cxn modelId="{F318BD25-3448-F441-AD79-9366D49F8FF5}" type="presParOf" srcId="{5DACE3B8-97B3-DF45-8B7C-242993D9751E}" destId="{B4E74E98-2C79-2945-9F4F-74D267D60EC3}" srcOrd="3" destOrd="0" presId="urn:microsoft.com/office/officeart/2005/8/layout/hierarchy3"/>
    <dgm:cxn modelId="{701FFE1F-B88F-7444-B47F-2CE7704CA032}" type="presParOf" srcId="{D2B474F2-1416-1A45-9FE8-CC8AEBD2ED94}" destId="{E9BB4B5A-32CC-654A-8DFA-B6BCFA0C41D6}" srcOrd="1" destOrd="0" presId="urn:microsoft.com/office/officeart/2005/8/layout/hierarchy3"/>
    <dgm:cxn modelId="{13E47145-D51E-1A41-8961-36C2110E79EE}" type="presParOf" srcId="{E9BB4B5A-32CC-654A-8DFA-B6BCFA0C41D6}" destId="{1FC8A87F-A114-254B-9CA7-4A921B18FB5C}" srcOrd="0" destOrd="0" presId="urn:microsoft.com/office/officeart/2005/8/layout/hierarchy3"/>
    <dgm:cxn modelId="{4917B63A-DCDB-C740-A695-4D3AE73CB544}" type="presParOf" srcId="{1FC8A87F-A114-254B-9CA7-4A921B18FB5C}" destId="{489FB5BC-4218-644F-A04B-E9381F972CA7}" srcOrd="0" destOrd="0" presId="urn:microsoft.com/office/officeart/2005/8/layout/hierarchy3"/>
    <dgm:cxn modelId="{09FE778C-E1B9-F542-83DE-B236257AB8C6}" type="presParOf" srcId="{1FC8A87F-A114-254B-9CA7-4A921B18FB5C}" destId="{8B6D4C7E-29AD-9044-91B7-CEE92FB3EE22}" srcOrd="1" destOrd="0" presId="urn:microsoft.com/office/officeart/2005/8/layout/hierarchy3"/>
    <dgm:cxn modelId="{9947F0A8-35B2-DA40-B7E1-164C2F38314C}" type="presParOf" srcId="{E9BB4B5A-32CC-654A-8DFA-B6BCFA0C41D6}" destId="{13E21C3D-3A82-C549-B99E-174B26F3BD60}" srcOrd="1" destOrd="0" presId="urn:microsoft.com/office/officeart/2005/8/layout/hierarchy3"/>
    <dgm:cxn modelId="{79908CC8-2FA4-D14A-9652-F3B2D33E64D3}" type="presParOf" srcId="{13E21C3D-3A82-C549-B99E-174B26F3BD60}" destId="{FD2B6C68-7AE3-AD44-B0A5-B3647459FECC}" srcOrd="0" destOrd="0" presId="urn:microsoft.com/office/officeart/2005/8/layout/hierarchy3"/>
    <dgm:cxn modelId="{E1F152E9-560B-7941-90FA-5C580752B8B3}" type="presParOf" srcId="{13E21C3D-3A82-C549-B99E-174B26F3BD60}" destId="{5D5EEB6A-69EB-CA4A-B92A-65BBC8B52B6B}" srcOrd="1" destOrd="0" presId="urn:microsoft.com/office/officeart/2005/8/layout/hierarchy3"/>
    <dgm:cxn modelId="{1D42BCA9-FDE9-034C-8D8C-EE2B583A8EC6}" type="presParOf" srcId="{13E21C3D-3A82-C549-B99E-174B26F3BD60}" destId="{FB7C3B48-6D64-704B-90A6-5F37E3C3BB64}" srcOrd="2" destOrd="0" presId="urn:microsoft.com/office/officeart/2005/8/layout/hierarchy3"/>
    <dgm:cxn modelId="{8DDC9AEA-962E-A94A-839F-ACCD336574A4}" type="presParOf" srcId="{13E21C3D-3A82-C549-B99E-174B26F3BD60}" destId="{384D2F7F-49BB-5246-AC8B-04EE48185963}" srcOrd="3" destOrd="0" presId="urn:microsoft.com/office/officeart/2005/8/layout/hierarchy3"/>
    <dgm:cxn modelId="{16F0B010-D81B-BA49-B49B-80F801209F3F}" type="presParOf" srcId="{D2B474F2-1416-1A45-9FE8-CC8AEBD2ED94}" destId="{1D2110AC-4B5C-9743-9F41-0C68D3A5306F}" srcOrd="2" destOrd="0" presId="urn:microsoft.com/office/officeart/2005/8/layout/hierarchy3"/>
    <dgm:cxn modelId="{D8220824-3F73-AD46-861D-A86497672932}" type="presParOf" srcId="{1D2110AC-4B5C-9743-9F41-0C68D3A5306F}" destId="{1121DF80-FA22-D346-B90F-5893D7A8B682}" srcOrd="0" destOrd="0" presId="urn:microsoft.com/office/officeart/2005/8/layout/hierarchy3"/>
    <dgm:cxn modelId="{CAB54277-0D6A-7E44-8D90-C0313EFB62AE}" type="presParOf" srcId="{1121DF80-FA22-D346-B90F-5893D7A8B682}" destId="{E55E10B5-5593-224E-9230-4EEE33A00367}" srcOrd="0" destOrd="0" presId="urn:microsoft.com/office/officeart/2005/8/layout/hierarchy3"/>
    <dgm:cxn modelId="{37913E2C-D3A0-A24E-8821-707B4658194D}" type="presParOf" srcId="{1121DF80-FA22-D346-B90F-5893D7A8B682}" destId="{62C3E8FA-50C3-6045-A6EB-AABE46C10363}" srcOrd="1" destOrd="0" presId="urn:microsoft.com/office/officeart/2005/8/layout/hierarchy3"/>
    <dgm:cxn modelId="{2D073E50-AE61-9F4C-94F2-0B9D48E63D76}" type="presParOf" srcId="{1D2110AC-4B5C-9743-9F41-0C68D3A5306F}" destId="{B8205B79-1FF6-2441-89F5-C0A07B04CF03}" srcOrd="1" destOrd="0" presId="urn:microsoft.com/office/officeart/2005/8/layout/hierarchy3"/>
    <dgm:cxn modelId="{D424DA2C-8673-3242-BAEB-05DBAD3D1CAB}" type="presParOf" srcId="{B8205B79-1FF6-2441-89F5-C0A07B04CF03}" destId="{50BEA580-295E-FC4B-A921-B4CB91D3BCA7}" srcOrd="0" destOrd="0" presId="urn:microsoft.com/office/officeart/2005/8/layout/hierarchy3"/>
    <dgm:cxn modelId="{36565070-D8B4-2349-B48F-C7F4D5550D4B}" type="presParOf" srcId="{B8205B79-1FF6-2441-89F5-C0A07B04CF03}" destId="{256EB3DA-A813-204C-9C44-BEE441A8A9C9}" srcOrd="1" destOrd="0" presId="urn:microsoft.com/office/officeart/2005/8/layout/hierarchy3"/>
    <dgm:cxn modelId="{3E628E2F-BAE5-2246-B4B7-88A385522A86}" type="presParOf" srcId="{B8205B79-1FF6-2441-89F5-C0A07B04CF03}" destId="{CD026FB4-5266-8543-8F4A-2A2135869993}" srcOrd="2" destOrd="0" presId="urn:microsoft.com/office/officeart/2005/8/layout/hierarchy3"/>
    <dgm:cxn modelId="{1BA4A053-4B77-2747-8919-7523150371E0}" type="presParOf" srcId="{B8205B79-1FF6-2441-89F5-C0A07B04CF03}" destId="{FAC786AE-8BBB-AF42-BE5E-D9161738A40A}"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287FD4-1BAE-9E4A-B2C8-60D4806B25AD}"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3E8BD3D5-FB4C-F148-A5B6-CB6995CCE37C}">
      <dgm:prSet custT="1"/>
      <dgm:spPr/>
      <dgm:t>
        <a:bodyPr/>
        <a:lstStyle/>
        <a:p>
          <a:pPr rtl="0"/>
          <a:r>
            <a:rPr lang="en-US" sz="1600" dirty="0"/>
            <a:t>Determines which programs are submitted for processing</a:t>
          </a:r>
        </a:p>
      </dgm:t>
    </dgm:pt>
    <dgm:pt modelId="{C6EA32B0-AB4E-A14C-BF22-A93B681ED1ED}" type="parTrans" cxnId="{15E02F58-DDDA-C94B-9C3F-7945DC4D18F5}">
      <dgm:prSet/>
      <dgm:spPr/>
      <dgm:t>
        <a:bodyPr/>
        <a:lstStyle/>
        <a:p>
          <a:endParaRPr lang="en-US"/>
        </a:p>
      </dgm:t>
    </dgm:pt>
    <dgm:pt modelId="{76A507E1-BF32-9C4F-8C5A-DDCB4CAC7279}" type="sibTrans" cxnId="{15E02F58-DDDA-C94B-9C3F-7945DC4D18F5}">
      <dgm:prSet/>
      <dgm:spPr>
        <a:solidFill>
          <a:schemeClr val="accent4"/>
        </a:solidFill>
        <a:ln>
          <a:solidFill>
            <a:schemeClr val="accent3"/>
          </a:solidFill>
        </a:ln>
      </dgm:spPr>
      <dgm:t>
        <a:bodyPr/>
        <a:lstStyle/>
        <a:p>
          <a:endParaRPr lang="en-US"/>
        </a:p>
      </dgm:t>
    </dgm:pt>
    <dgm:pt modelId="{5C71274A-FAAD-CE4F-B9CE-71C03A360B59}">
      <dgm:prSet custT="1"/>
      <dgm:spPr/>
      <dgm:t>
        <a:bodyPr/>
        <a:lstStyle/>
        <a:p>
          <a:pPr rtl="0"/>
          <a:r>
            <a:rPr lang="en-US" sz="1600" dirty="0"/>
            <a:t>Once submitted, a job becomes a process for the short term scheduler</a:t>
          </a:r>
        </a:p>
      </dgm:t>
    </dgm:pt>
    <dgm:pt modelId="{5412883B-7FAA-5A4B-9F7D-323E71C5F569}" type="parTrans" cxnId="{394D20D0-0EF6-7443-9F59-3A5C57B1CBF3}">
      <dgm:prSet/>
      <dgm:spPr/>
      <dgm:t>
        <a:bodyPr/>
        <a:lstStyle/>
        <a:p>
          <a:endParaRPr lang="en-US"/>
        </a:p>
      </dgm:t>
    </dgm:pt>
    <dgm:pt modelId="{29068278-2A24-F642-9D08-49E218916C8F}" type="sibTrans" cxnId="{394D20D0-0EF6-7443-9F59-3A5C57B1CBF3}">
      <dgm:prSet/>
      <dgm:spPr>
        <a:solidFill>
          <a:schemeClr val="accent4"/>
        </a:solidFill>
        <a:ln>
          <a:solidFill>
            <a:schemeClr val="accent3"/>
          </a:solidFill>
        </a:ln>
      </dgm:spPr>
      <dgm:t>
        <a:bodyPr/>
        <a:lstStyle/>
        <a:p>
          <a:endParaRPr lang="en-US"/>
        </a:p>
      </dgm:t>
    </dgm:pt>
    <dgm:pt modelId="{31EBD2D9-7453-6F4D-987D-F2BDFBB728EE}">
      <dgm:prSet custT="1"/>
      <dgm:spPr/>
      <dgm:t>
        <a:bodyPr/>
        <a:lstStyle/>
        <a:p>
          <a:pPr rtl="0"/>
          <a:r>
            <a:rPr lang="en-US" sz="1600" dirty="0"/>
            <a:t>In some systems a newly created process begins in a swapped-out condition, in which case it is added to a queue for the medium-term scheduler</a:t>
          </a:r>
        </a:p>
      </dgm:t>
    </dgm:pt>
    <dgm:pt modelId="{53BC0A39-18E0-FB43-9C5E-4E362DBF780E}" type="parTrans" cxnId="{E19429B1-3A8C-7948-AF90-455B801DBE95}">
      <dgm:prSet/>
      <dgm:spPr/>
      <dgm:t>
        <a:bodyPr/>
        <a:lstStyle/>
        <a:p>
          <a:endParaRPr lang="en-US"/>
        </a:p>
      </dgm:t>
    </dgm:pt>
    <dgm:pt modelId="{E2EEEA5A-9745-1C4E-B09A-FB05319DD4C2}" type="sibTrans" cxnId="{E19429B1-3A8C-7948-AF90-455B801DBE95}">
      <dgm:prSet/>
      <dgm:spPr>
        <a:solidFill>
          <a:schemeClr val="accent4"/>
        </a:solidFill>
        <a:ln>
          <a:solidFill>
            <a:schemeClr val="accent3"/>
          </a:solidFill>
        </a:ln>
      </dgm:spPr>
      <dgm:t>
        <a:bodyPr/>
        <a:lstStyle/>
        <a:p>
          <a:endParaRPr lang="en-US"/>
        </a:p>
      </dgm:t>
    </dgm:pt>
    <dgm:pt modelId="{384E9DF4-C810-FC41-BD40-D99A6F1D7F02}">
      <dgm:prSet custT="1"/>
      <dgm:spPr/>
      <dgm:t>
        <a:bodyPr/>
        <a:lstStyle/>
        <a:p>
          <a:pPr rtl="0"/>
          <a:r>
            <a:rPr lang="en-US" sz="2000" b="1" dirty="0"/>
            <a:t>Batch system</a:t>
          </a:r>
        </a:p>
      </dgm:t>
    </dgm:pt>
    <dgm:pt modelId="{E61A72F1-3EDA-4943-93F4-FC103E0A5BD6}" type="parTrans" cxnId="{0D16DE0D-DB68-1142-9F0B-BD4C497371AA}">
      <dgm:prSet/>
      <dgm:spPr/>
      <dgm:t>
        <a:bodyPr/>
        <a:lstStyle/>
        <a:p>
          <a:endParaRPr lang="en-US"/>
        </a:p>
      </dgm:t>
    </dgm:pt>
    <dgm:pt modelId="{15C653CD-26ED-754C-9AC0-B79DBBB27EBD}" type="sibTrans" cxnId="{0D16DE0D-DB68-1142-9F0B-BD4C497371AA}">
      <dgm:prSet/>
      <dgm:spPr>
        <a:solidFill>
          <a:schemeClr val="accent4"/>
        </a:solidFill>
        <a:ln>
          <a:solidFill>
            <a:schemeClr val="accent3"/>
          </a:solidFill>
        </a:ln>
      </dgm:spPr>
      <dgm:t>
        <a:bodyPr/>
        <a:lstStyle/>
        <a:p>
          <a:endParaRPr lang="en-US"/>
        </a:p>
      </dgm:t>
    </dgm:pt>
    <dgm:pt modelId="{8B8E441D-66C9-CA41-9BEC-F7CD1CC46E26}">
      <dgm:prSet custT="1"/>
      <dgm:spPr/>
      <dgm:t>
        <a:bodyPr/>
        <a:lstStyle/>
        <a:p>
          <a:pPr rtl="0"/>
          <a:r>
            <a:rPr lang="en-US" sz="1600" dirty="0"/>
            <a:t>Newly submitted jobs are routed to disk and held in a batch queue</a:t>
          </a:r>
        </a:p>
      </dgm:t>
    </dgm:pt>
    <dgm:pt modelId="{60FBB1A5-23F3-DF4E-8214-B18CE33F08D1}" type="parTrans" cxnId="{9DF20388-AA1B-CD48-83BD-F9080E09C327}">
      <dgm:prSet/>
      <dgm:spPr/>
      <dgm:t>
        <a:bodyPr/>
        <a:lstStyle/>
        <a:p>
          <a:endParaRPr lang="en-US"/>
        </a:p>
      </dgm:t>
    </dgm:pt>
    <dgm:pt modelId="{F6153ACB-2B3C-2842-AE6B-3D03AE648DA4}" type="sibTrans" cxnId="{9DF20388-AA1B-CD48-83BD-F9080E09C327}">
      <dgm:prSet/>
      <dgm:spPr/>
      <dgm:t>
        <a:bodyPr/>
        <a:lstStyle/>
        <a:p>
          <a:endParaRPr lang="en-US"/>
        </a:p>
      </dgm:t>
    </dgm:pt>
    <dgm:pt modelId="{FDCE45E9-FDA3-DF43-9116-39A084C2B776}">
      <dgm:prSet custT="1"/>
      <dgm:spPr/>
      <dgm:t>
        <a:bodyPr/>
        <a:lstStyle/>
        <a:p>
          <a:pPr rtl="0"/>
          <a:r>
            <a:rPr lang="en-US" sz="1600" dirty="0"/>
            <a:t>The long-term scheduler creates processes from the queue when it can</a:t>
          </a:r>
        </a:p>
      </dgm:t>
    </dgm:pt>
    <dgm:pt modelId="{49F3397D-FDA9-B64A-9E07-38247A67E9A9}" type="parTrans" cxnId="{421E02B9-8A63-6449-9B2D-D0D0B2265159}">
      <dgm:prSet/>
      <dgm:spPr/>
      <dgm:t>
        <a:bodyPr/>
        <a:lstStyle/>
        <a:p>
          <a:endParaRPr lang="en-US"/>
        </a:p>
      </dgm:t>
    </dgm:pt>
    <dgm:pt modelId="{1872CBA5-03E8-3E4E-BEA0-443A15076C7C}" type="sibTrans" cxnId="{421E02B9-8A63-6449-9B2D-D0D0B2265159}">
      <dgm:prSet/>
      <dgm:spPr/>
      <dgm:t>
        <a:bodyPr/>
        <a:lstStyle/>
        <a:p>
          <a:endParaRPr lang="en-US"/>
        </a:p>
      </dgm:t>
    </dgm:pt>
    <dgm:pt modelId="{F7443625-C1F8-DD41-8590-E8082C619BA7}">
      <dgm:prSet custT="1"/>
      <dgm:spPr/>
      <dgm:t>
        <a:bodyPr/>
        <a:lstStyle/>
        <a:p>
          <a:pPr rtl="0"/>
          <a:r>
            <a:rPr lang="en-US" sz="2000" b="1" dirty="0"/>
            <a:t>Time-sharing system</a:t>
          </a:r>
        </a:p>
      </dgm:t>
    </dgm:pt>
    <dgm:pt modelId="{27C571B7-0256-C049-9B40-A2B0F2C2C329}" type="parTrans" cxnId="{B75D98B0-DDB3-F24A-95F6-168926601B17}">
      <dgm:prSet/>
      <dgm:spPr/>
      <dgm:t>
        <a:bodyPr/>
        <a:lstStyle/>
        <a:p>
          <a:endParaRPr lang="en-US"/>
        </a:p>
      </dgm:t>
    </dgm:pt>
    <dgm:pt modelId="{499905AE-8D6C-4648-BF64-810A3CF30891}" type="sibTrans" cxnId="{B75D98B0-DDB3-F24A-95F6-168926601B17}">
      <dgm:prSet/>
      <dgm:spPr/>
      <dgm:t>
        <a:bodyPr/>
        <a:lstStyle/>
        <a:p>
          <a:endParaRPr lang="en-US"/>
        </a:p>
      </dgm:t>
    </dgm:pt>
    <dgm:pt modelId="{7E3C6BE5-8D41-E24E-B544-0DC512503079}">
      <dgm:prSet custT="1"/>
      <dgm:spPr/>
      <dgm:t>
        <a:bodyPr/>
        <a:lstStyle/>
        <a:p>
          <a:pPr rtl="0"/>
          <a:r>
            <a:rPr lang="en-US" sz="1600" dirty="0"/>
            <a:t>A process request is generated when a user attempts to connect to the system</a:t>
          </a:r>
        </a:p>
      </dgm:t>
    </dgm:pt>
    <dgm:pt modelId="{5CCBD980-7B27-4C42-BB77-93E3D0DC4E9B}" type="parTrans" cxnId="{3161AB54-BADE-284E-8E2C-57674C49E67E}">
      <dgm:prSet/>
      <dgm:spPr/>
      <dgm:t>
        <a:bodyPr/>
        <a:lstStyle/>
        <a:p>
          <a:endParaRPr lang="en-US"/>
        </a:p>
      </dgm:t>
    </dgm:pt>
    <dgm:pt modelId="{D6AB7D43-9991-3142-97F5-9E8228695709}" type="sibTrans" cxnId="{3161AB54-BADE-284E-8E2C-57674C49E67E}">
      <dgm:prSet/>
      <dgm:spPr/>
      <dgm:t>
        <a:bodyPr/>
        <a:lstStyle/>
        <a:p>
          <a:endParaRPr lang="en-US"/>
        </a:p>
      </dgm:t>
    </dgm:pt>
    <dgm:pt modelId="{02F76604-8138-1948-A0FB-8D361B023C46}">
      <dgm:prSet custT="1"/>
      <dgm:spPr/>
      <dgm:t>
        <a:bodyPr/>
        <a:lstStyle/>
        <a:p>
          <a:pPr rtl="0"/>
          <a:r>
            <a:rPr lang="en-US" sz="1600" dirty="0"/>
            <a:t>OS will accept all authorized comers until the system is saturated</a:t>
          </a:r>
        </a:p>
      </dgm:t>
    </dgm:pt>
    <dgm:pt modelId="{72339C9F-C354-AE4B-B103-6E21ACD178C1}" type="parTrans" cxnId="{0F762536-DA1A-3740-A9E8-3279FFFD93A9}">
      <dgm:prSet/>
      <dgm:spPr/>
      <dgm:t>
        <a:bodyPr/>
        <a:lstStyle/>
        <a:p>
          <a:endParaRPr lang="en-US"/>
        </a:p>
      </dgm:t>
    </dgm:pt>
    <dgm:pt modelId="{8A21449F-3C8C-C140-8653-046C81370456}" type="sibTrans" cxnId="{0F762536-DA1A-3740-A9E8-3279FFFD93A9}">
      <dgm:prSet/>
      <dgm:spPr/>
      <dgm:t>
        <a:bodyPr/>
        <a:lstStyle/>
        <a:p>
          <a:endParaRPr lang="en-US"/>
        </a:p>
      </dgm:t>
    </dgm:pt>
    <dgm:pt modelId="{B5299168-91B7-674D-97E3-D88323D31E67}">
      <dgm:prSet custT="1"/>
      <dgm:spPr/>
      <dgm:t>
        <a:bodyPr/>
        <a:lstStyle/>
        <a:p>
          <a:pPr rtl="0"/>
          <a:r>
            <a:rPr lang="en-US" sz="1600" dirty="0"/>
            <a:t>At that point a connection request is met with a message indicating that the system is full and to try again later</a:t>
          </a:r>
        </a:p>
      </dgm:t>
    </dgm:pt>
    <dgm:pt modelId="{AD944B3E-C4E5-9049-8501-D19095ED71C1}" type="parTrans" cxnId="{AE720CD4-E1D0-B54A-A01A-AC46287AEA66}">
      <dgm:prSet/>
      <dgm:spPr/>
      <dgm:t>
        <a:bodyPr/>
        <a:lstStyle/>
        <a:p>
          <a:endParaRPr lang="en-US"/>
        </a:p>
      </dgm:t>
    </dgm:pt>
    <dgm:pt modelId="{19AB7E7D-66DF-3A4D-BF93-88D09456580B}" type="sibTrans" cxnId="{AE720CD4-E1D0-B54A-A01A-AC46287AEA66}">
      <dgm:prSet/>
      <dgm:spPr/>
      <dgm:t>
        <a:bodyPr/>
        <a:lstStyle/>
        <a:p>
          <a:endParaRPr lang="en-US"/>
        </a:p>
      </dgm:t>
    </dgm:pt>
    <dgm:pt modelId="{F589C160-A361-EA4E-A783-99961EEDF9E0}" type="pres">
      <dgm:prSet presAssocID="{BF287FD4-1BAE-9E4A-B2C8-60D4806B25AD}" presName="diagram" presStyleCnt="0">
        <dgm:presLayoutVars>
          <dgm:dir/>
          <dgm:resizeHandles val="exact"/>
        </dgm:presLayoutVars>
      </dgm:prSet>
      <dgm:spPr/>
    </dgm:pt>
    <dgm:pt modelId="{9B4101A5-766E-2043-8B91-E3504899DFCD}" type="pres">
      <dgm:prSet presAssocID="{3E8BD3D5-FB4C-F148-A5B6-CB6995CCE37C}" presName="node" presStyleLbl="node1" presStyleIdx="0" presStyleCnt="5">
        <dgm:presLayoutVars>
          <dgm:bulletEnabled val="1"/>
        </dgm:presLayoutVars>
      </dgm:prSet>
      <dgm:spPr/>
    </dgm:pt>
    <dgm:pt modelId="{3DAFAE46-D62E-F547-B908-2C8910826AC8}" type="pres">
      <dgm:prSet presAssocID="{76A507E1-BF32-9C4F-8C5A-DDCB4CAC7279}" presName="sibTrans" presStyleLbl="sibTrans2D1" presStyleIdx="0" presStyleCnt="4"/>
      <dgm:spPr/>
    </dgm:pt>
    <dgm:pt modelId="{C943DAB8-79DA-614E-9AE2-078CDBF9AECA}" type="pres">
      <dgm:prSet presAssocID="{76A507E1-BF32-9C4F-8C5A-DDCB4CAC7279}" presName="connectorText" presStyleLbl="sibTrans2D1" presStyleIdx="0" presStyleCnt="4"/>
      <dgm:spPr/>
    </dgm:pt>
    <dgm:pt modelId="{C48960A2-F897-234D-BD9C-A1AD5E608FE6}" type="pres">
      <dgm:prSet presAssocID="{5C71274A-FAAD-CE4F-B9CE-71C03A360B59}" presName="node" presStyleLbl="node1" presStyleIdx="1" presStyleCnt="5">
        <dgm:presLayoutVars>
          <dgm:bulletEnabled val="1"/>
        </dgm:presLayoutVars>
      </dgm:prSet>
      <dgm:spPr/>
    </dgm:pt>
    <dgm:pt modelId="{93BED25B-E4BA-C34E-8466-5DF5C8329C0E}" type="pres">
      <dgm:prSet presAssocID="{29068278-2A24-F642-9D08-49E218916C8F}" presName="sibTrans" presStyleLbl="sibTrans2D1" presStyleIdx="1" presStyleCnt="4"/>
      <dgm:spPr/>
    </dgm:pt>
    <dgm:pt modelId="{7D61FD54-B252-4142-B47B-CFE1493C3858}" type="pres">
      <dgm:prSet presAssocID="{29068278-2A24-F642-9D08-49E218916C8F}" presName="connectorText" presStyleLbl="sibTrans2D1" presStyleIdx="1" presStyleCnt="4"/>
      <dgm:spPr/>
    </dgm:pt>
    <dgm:pt modelId="{A0DE8F98-B363-8240-B4A5-366984F5E754}" type="pres">
      <dgm:prSet presAssocID="{31EBD2D9-7453-6F4D-987D-F2BDFBB728EE}" presName="node" presStyleLbl="node1" presStyleIdx="2" presStyleCnt="5" custScaleY="168178">
        <dgm:presLayoutVars>
          <dgm:bulletEnabled val="1"/>
        </dgm:presLayoutVars>
      </dgm:prSet>
      <dgm:spPr/>
    </dgm:pt>
    <dgm:pt modelId="{6902F125-B410-B940-9B65-5636A8A9B969}" type="pres">
      <dgm:prSet presAssocID="{E2EEEA5A-9745-1C4E-B09A-FB05319DD4C2}" presName="sibTrans" presStyleLbl="sibTrans2D1" presStyleIdx="2" presStyleCnt="4" custAng="21311340"/>
      <dgm:spPr/>
    </dgm:pt>
    <dgm:pt modelId="{81F88D5B-AAE0-E440-AA67-A6E3B02216D2}" type="pres">
      <dgm:prSet presAssocID="{E2EEEA5A-9745-1C4E-B09A-FB05319DD4C2}" presName="connectorText" presStyleLbl="sibTrans2D1" presStyleIdx="2" presStyleCnt="4"/>
      <dgm:spPr/>
    </dgm:pt>
    <dgm:pt modelId="{AC21E1F0-4D5A-5345-AD6D-DF1C4E58B79F}" type="pres">
      <dgm:prSet presAssocID="{384E9DF4-C810-FC41-BD40-D99A6F1D7F02}" presName="node" presStyleLbl="node1" presStyleIdx="3" presStyleCnt="5" custScaleX="126397" custScaleY="196293">
        <dgm:presLayoutVars>
          <dgm:bulletEnabled val="1"/>
        </dgm:presLayoutVars>
      </dgm:prSet>
      <dgm:spPr/>
    </dgm:pt>
    <dgm:pt modelId="{24467B28-CBFC-584C-905E-18BF0F2750F9}" type="pres">
      <dgm:prSet presAssocID="{15C653CD-26ED-754C-9AC0-B79DBBB27EBD}" presName="sibTrans" presStyleLbl="sibTrans2D1" presStyleIdx="3" presStyleCnt="4"/>
      <dgm:spPr/>
    </dgm:pt>
    <dgm:pt modelId="{E0B323E1-C1DA-0F4B-9AF4-78A2161867BC}" type="pres">
      <dgm:prSet presAssocID="{15C653CD-26ED-754C-9AC0-B79DBBB27EBD}" presName="connectorText" presStyleLbl="sibTrans2D1" presStyleIdx="3" presStyleCnt="4"/>
      <dgm:spPr/>
    </dgm:pt>
    <dgm:pt modelId="{6B17C49C-5F9E-7C43-A2A7-9A15377FFA61}" type="pres">
      <dgm:prSet presAssocID="{F7443625-C1F8-DD41-8590-E8082C619BA7}" presName="node" presStyleLbl="node1" presStyleIdx="4" presStyleCnt="5" custScaleX="192894" custScaleY="221207" custLinFactNeighborX="-33304" custLinFactNeighborY="293">
        <dgm:presLayoutVars>
          <dgm:bulletEnabled val="1"/>
        </dgm:presLayoutVars>
      </dgm:prSet>
      <dgm:spPr/>
    </dgm:pt>
  </dgm:ptLst>
  <dgm:cxnLst>
    <dgm:cxn modelId="{55E26801-BBCF-3241-B2C7-83E34579CF99}" type="presOf" srcId="{E2EEEA5A-9745-1C4E-B09A-FB05319DD4C2}" destId="{6902F125-B410-B940-9B65-5636A8A9B969}" srcOrd="0" destOrd="0" presId="urn:microsoft.com/office/officeart/2005/8/layout/process5"/>
    <dgm:cxn modelId="{B7E7CF04-FF36-DB46-A1A7-ED73BD6A5F95}" type="presOf" srcId="{8B8E441D-66C9-CA41-9BEC-F7CD1CC46E26}" destId="{AC21E1F0-4D5A-5345-AD6D-DF1C4E58B79F}" srcOrd="0" destOrd="1" presId="urn:microsoft.com/office/officeart/2005/8/layout/process5"/>
    <dgm:cxn modelId="{0D16DE0D-DB68-1142-9F0B-BD4C497371AA}" srcId="{BF287FD4-1BAE-9E4A-B2C8-60D4806B25AD}" destId="{384E9DF4-C810-FC41-BD40-D99A6F1D7F02}" srcOrd="3" destOrd="0" parTransId="{E61A72F1-3EDA-4943-93F4-FC103E0A5BD6}" sibTransId="{15C653CD-26ED-754C-9AC0-B79DBBB27EBD}"/>
    <dgm:cxn modelId="{EDDD6623-09C9-FC43-9F5D-EBA9144432BC}" type="presOf" srcId="{31EBD2D9-7453-6F4D-987D-F2BDFBB728EE}" destId="{A0DE8F98-B363-8240-B4A5-366984F5E754}" srcOrd="0" destOrd="0" presId="urn:microsoft.com/office/officeart/2005/8/layout/process5"/>
    <dgm:cxn modelId="{0F762536-DA1A-3740-A9E8-3279FFFD93A9}" srcId="{F7443625-C1F8-DD41-8590-E8082C619BA7}" destId="{02F76604-8138-1948-A0FB-8D361B023C46}" srcOrd="1" destOrd="0" parTransId="{72339C9F-C354-AE4B-B103-6E21ACD178C1}" sibTransId="{8A21449F-3C8C-C140-8653-046C81370456}"/>
    <dgm:cxn modelId="{B54ED539-C726-E442-AA2A-BEA1FCECD0AD}" type="presOf" srcId="{5C71274A-FAAD-CE4F-B9CE-71C03A360B59}" destId="{C48960A2-F897-234D-BD9C-A1AD5E608FE6}" srcOrd="0" destOrd="0" presId="urn:microsoft.com/office/officeart/2005/8/layout/process5"/>
    <dgm:cxn modelId="{1F4F1860-C6EE-E64C-BDF9-87A0306D0ABC}" type="presOf" srcId="{B5299168-91B7-674D-97E3-D88323D31E67}" destId="{6B17C49C-5F9E-7C43-A2A7-9A15377FFA61}" srcOrd="0" destOrd="3" presId="urn:microsoft.com/office/officeart/2005/8/layout/process5"/>
    <dgm:cxn modelId="{19C2806C-C689-E943-A9CD-D2E1069BB233}" type="presOf" srcId="{15C653CD-26ED-754C-9AC0-B79DBBB27EBD}" destId="{24467B28-CBFC-584C-905E-18BF0F2750F9}" srcOrd="0" destOrd="0" presId="urn:microsoft.com/office/officeart/2005/8/layout/process5"/>
    <dgm:cxn modelId="{A2CA7D54-B5D3-B44E-A2C0-C7CCC1C6EA28}" type="presOf" srcId="{F7443625-C1F8-DD41-8590-E8082C619BA7}" destId="{6B17C49C-5F9E-7C43-A2A7-9A15377FFA61}" srcOrd="0" destOrd="0" presId="urn:microsoft.com/office/officeart/2005/8/layout/process5"/>
    <dgm:cxn modelId="{3161AB54-BADE-284E-8E2C-57674C49E67E}" srcId="{F7443625-C1F8-DD41-8590-E8082C619BA7}" destId="{7E3C6BE5-8D41-E24E-B544-0DC512503079}" srcOrd="0" destOrd="0" parTransId="{5CCBD980-7B27-4C42-BB77-93E3D0DC4E9B}" sibTransId="{D6AB7D43-9991-3142-97F5-9E8228695709}"/>
    <dgm:cxn modelId="{15E02F58-DDDA-C94B-9C3F-7945DC4D18F5}" srcId="{BF287FD4-1BAE-9E4A-B2C8-60D4806B25AD}" destId="{3E8BD3D5-FB4C-F148-A5B6-CB6995CCE37C}" srcOrd="0" destOrd="0" parTransId="{C6EA32B0-AB4E-A14C-BF22-A93B681ED1ED}" sibTransId="{76A507E1-BF32-9C4F-8C5A-DDCB4CAC7279}"/>
    <dgm:cxn modelId="{9DF20388-AA1B-CD48-83BD-F9080E09C327}" srcId="{384E9DF4-C810-FC41-BD40-D99A6F1D7F02}" destId="{8B8E441D-66C9-CA41-9BEC-F7CD1CC46E26}" srcOrd="0" destOrd="0" parTransId="{60FBB1A5-23F3-DF4E-8214-B18CE33F08D1}" sibTransId="{F6153ACB-2B3C-2842-AE6B-3D03AE648DA4}"/>
    <dgm:cxn modelId="{1D1AE592-DC50-9A41-9154-5EACDF6DEC01}" type="presOf" srcId="{E2EEEA5A-9745-1C4E-B09A-FB05319DD4C2}" destId="{81F88D5B-AAE0-E440-AA67-A6E3B02216D2}" srcOrd="1" destOrd="0" presId="urn:microsoft.com/office/officeart/2005/8/layout/process5"/>
    <dgm:cxn modelId="{AA2FBA95-3BCE-8B46-A0C0-8811C1CAF341}" type="presOf" srcId="{29068278-2A24-F642-9D08-49E218916C8F}" destId="{93BED25B-E4BA-C34E-8466-5DF5C8329C0E}" srcOrd="0" destOrd="0" presId="urn:microsoft.com/office/officeart/2005/8/layout/process5"/>
    <dgm:cxn modelId="{05159798-4490-0E40-9E5C-E651C4CF29AF}" type="presOf" srcId="{76A507E1-BF32-9C4F-8C5A-DDCB4CAC7279}" destId="{C943DAB8-79DA-614E-9AE2-078CDBF9AECA}" srcOrd="1" destOrd="0" presId="urn:microsoft.com/office/officeart/2005/8/layout/process5"/>
    <dgm:cxn modelId="{FC9CBEA8-A970-A240-B2B8-EF6FBC4D2AE6}" type="presOf" srcId="{7E3C6BE5-8D41-E24E-B544-0DC512503079}" destId="{6B17C49C-5F9E-7C43-A2A7-9A15377FFA61}" srcOrd="0" destOrd="1" presId="urn:microsoft.com/office/officeart/2005/8/layout/process5"/>
    <dgm:cxn modelId="{B75D98B0-DDB3-F24A-95F6-168926601B17}" srcId="{BF287FD4-1BAE-9E4A-B2C8-60D4806B25AD}" destId="{F7443625-C1F8-DD41-8590-E8082C619BA7}" srcOrd="4" destOrd="0" parTransId="{27C571B7-0256-C049-9B40-A2B0F2C2C329}" sibTransId="{499905AE-8D6C-4648-BF64-810A3CF30891}"/>
    <dgm:cxn modelId="{E19429B1-3A8C-7948-AF90-455B801DBE95}" srcId="{BF287FD4-1BAE-9E4A-B2C8-60D4806B25AD}" destId="{31EBD2D9-7453-6F4D-987D-F2BDFBB728EE}" srcOrd="2" destOrd="0" parTransId="{53BC0A39-18E0-FB43-9C5E-4E362DBF780E}" sibTransId="{E2EEEA5A-9745-1C4E-B09A-FB05319DD4C2}"/>
    <dgm:cxn modelId="{7129FDB1-AD4A-7140-ABCD-52850FFD073E}" type="presOf" srcId="{15C653CD-26ED-754C-9AC0-B79DBBB27EBD}" destId="{E0B323E1-C1DA-0F4B-9AF4-78A2161867BC}" srcOrd="1" destOrd="0" presId="urn:microsoft.com/office/officeart/2005/8/layout/process5"/>
    <dgm:cxn modelId="{421E02B9-8A63-6449-9B2D-D0D0B2265159}" srcId="{384E9DF4-C810-FC41-BD40-D99A6F1D7F02}" destId="{FDCE45E9-FDA3-DF43-9116-39A084C2B776}" srcOrd="1" destOrd="0" parTransId="{49F3397D-FDA9-B64A-9E07-38247A67E9A9}" sibTransId="{1872CBA5-03E8-3E4E-BEA0-443A15076C7C}"/>
    <dgm:cxn modelId="{021118BD-6370-E446-8AFE-E10B74611CD4}" type="presOf" srcId="{384E9DF4-C810-FC41-BD40-D99A6F1D7F02}" destId="{AC21E1F0-4D5A-5345-AD6D-DF1C4E58B79F}" srcOrd="0" destOrd="0" presId="urn:microsoft.com/office/officeart/2005/8/layout/process5"/>
    <dgm:cxn modelId="{77F483C1-A898-0246-A59B-D11D70EF8CC0}" type="presOf" srcId="{02F76604-8138-1948-A0FB-8D361B023C46}" destId="{6B17C49C-5F9E-7C43-A2A7-9A15377FFA61}" srcOrd="0" destOrd="2" presId="urn:microsoft.com/office/officeart/2005/8/layout/process5"/>
    <dgm:cxn modelId="{394D20D0-0EF6-7443-9F59-3A5C57B1CBF3}" srcId="{BF287FD4-1BAE-9E4A-B2C8-60D4806B25AD}" destId="{5C71274A-FAAD-CE4F-B9CE-71C03A360B59}" srcOrd="1" destOrd="0" parTransId="{5412883B-7FAA-5A4B-9F7D-323E71C5F569}" sibTransId="{29068278-2A24-F642-9D08-49E218916C8F}"/>
    <dgm:cxn modelId="{AE720CD4-E1D0-B54A-A01A-AC46287AEA66}" srcId="{F7443625-C1F8-DD41-8590-E8082C619BA7}" destId="{B5299168-91B7-674D-97E3-D88323D31E67}" srcOrd="2" destOrd="0" parTransId="{AD944B3E-C4E5-9049-8501-D19095ED71C1}" sibTransId="{19AB7E7D-66DF-3A4D-BF93-88D09456580B}"/>
    <dgm:cxn modelId="{EF389DE0-0A1E-CF4A-8E94-138FCDA9C626}" type="presOf" srcId="{29068278-2A24-F642-9D08-49E218916C8F}" destId="{7D61FD54-B252-4142-B47B-CFE1493C3858}" srcOrd="1" destOrd="0" presId="urn:microsoft.com/office/officeart/2005/8/layout/process5"/>
    <dgm:cxn modelId="{53F6B7E2-2792-0D43-A5D2-141FAD3D9ADC}" type="presOf" srcId="{FDCE45E9-FDA3-DF43-9116-39A084C2B776}" destId="{AC21E1F0-4D5A-5345-AD6D-DF1C4E58B79F}" srcOrd="0" destOrd="2" presId="urn:microsoft.com/office/officeart/2005/8/layout/process5"/>
    <dgm:cxn modelId="{994F6AEE-BDEF-704E-80DE-EEE69A59889D}" type="presOf" srcId="{3E8BD3D5-FB4C-F148-A5B6-CB6995CCE37C}" destId="{9B4101A5-766E-2043-8B91-E3504899DFCD}" srcOrd="0" destOrd="0" presId="urn:microsoft.com/office/officeart/2005/8/layout/process5"/>
    <dgm:cxn modelId="{20659CFB-9BCC-0642-9095-46B2601B104B}" type="presOf" srcId="{BF287FD4-1BAE-9E4A-B2C8-60D4806B25AD}" destId="{F589C160-A361-EA4E-A783-99961EEDF9E0}" srcOrd="0" destOrd="0" presId="urn:microsoft.com/office/officeart/2005/8/layout/process5"/>
    <dgm:cxn modelId="{77172DFF-6A47-2F41-A250-631588129EAC}" type="presOf" srcId="{76A507E1-BF32-9C4F-8C5A-DDCB4CAC7279}" destId="{3DAFAE46-D62E-F547-B908-2C8910826AC8}" srcOrd="0" destOrd="0" presId="urn:microsoft.com/office/officeart/2005/8/layout/process5"/>
    <dgm:cxn modelId="{8800DE68-14C6-8241-9F28-89A3130F914A}" type="presParOf" srcId="{F589C160-A361-EA4E-A783-99961EEDF9E0}" destId="{9B4101A5-766E-2043-8B91-E3504899DFCD}" srcOrd="0" destOrd="0" presId="urn:microsoft.com/office/officeart/2005/8/layout/process5"/>
    <dgm:cxn modelId="{D7973EAB-BFAD-7E44-A99F-B75B4726361E}" type="presParOf" srcId="{F589C160-A361-EA4E-A783-99961EEDF9E0}" destId="{3DAFAE46-D62E-F547-B908-2C8910826AC8}" srcOrd="1" destOrd="0" presId="urn:microsoft.com/office/officeart/2005/8/layout/process5"/>
    <dgm:cxn modelId="{D3FC6D90-0B66-E74D-9859-78D2691887C2}" type="presParOf" srcId="{3DAFAE46-D62E-F547-B908-2C8910826AC8}" destId="{C943DAB8-79DA-614E-9AE2-078CDBF9AECA}" srcOrd="0" destOrd="0" presId="urn:microsoft.com/office/officeart/2005/8/layout/process5"/>
    <dgm:cxn modelId="{552F520A-900E-DE48-90C1-AADD3B393439}" type="presParOf" srcId="{F589C160-A361-EA4E-A783-99961EEDF9E0}" destId="{C48960A2-F897-234D-BD9C-A1AD5E608FE6}" srcOrd="2" destOrd="0" presId="urn:microsoft.com/office/officeart/2005/8/layout/process5"/>
    <dgm:cxn modelId="{759C7049-F80D-574F-84DA-AFB16EBD4371}" type="presParOf" srcId="{F589C160-A361-EA4E-A783-99961EEDF9E0}" destId="{93BED25B-E4BA-C34E-8466-5DF5C8329C0E}" srcOrd="3" destOrd="0" presId="urn:microsoft.com/office/officeart/2005/8/layout/process5"/>
    <dgm:cxn modelId="{F8D9A2C8-E6CE-7746-941A-36B4E3D22C7F}" type="presParOf" srcId="{93BED25B-E4BA-C34E-8466-5DF5C8329C0E}" destId="{7D61FD54-B252-4142-B47B-CFE1493C3858}" srcOrd="0" destOrd="0" presId="urn:microsoft.com/office/officeart/2005/8/layout/process5"/>
    <dgm:cxn modelId="{8249A3C1-14CC-B846-9B0E-6840281C152B}" type="presParOf" srcId="{F589C160-A361-EA4E-A783-99961EEDF9E0}" destId="{A0DE8F98-B363-8240-B4A5-366984F5E754}" srcOrd="4" destOrd="0" presId="urn:microsoft.com/office/officeart/2005/8/layout/process5"/>
    <dgm:cxn modelId="{72BC4E1F-4457-484B-866F-9D3E7D7FD9F5}" type="presParOf" srcId="{F589C160-A361-EA4E-A783-99961EEDF9E0}" destId="{6902F125-B410-B940-9B65-5636A8A9B969}" srcOrd="5" destOrd="0" presId="urn:microsoft.com/office/officeart/2005/8/layout/process5"/>
    <dgm:cxn modelId="{5E7722A0-45C6-8C4F-BC28-371B13533947}" type="presParOf" srcId="{6902F125-B410-B940-9B65-5636A8A9B969}" destId="{81F88D5B-AAE0-E440-AA67-A6E3B02216D2}" srcOrd="0" destOrd="0" presId="urn:microsoft.com/office/officeart/2005/8/layout/process5"/>
    <dgm:cxn modelId="{D01522AA-5E1B-124F-A889-D2292ED58F8E}" type="presParOf" srcId="{F589C160-A361-EA4E-A783-99961EEDF9E0}" destId="{AC21E1F0-4D5A-5345-AD6D-DF1C4E58B79F}" srcOrd="6" destOrd="0" presId="urn:microsoft.com/office/officeart/2005/8/layout/process5"/>
    <dgm:cxn modelId="{E8C9459E-723A-1D42-9835-557DD9727E45}" type="presParOf" srcId="{F589C160-A361-EA4E-A783-99961EEDF9E0}" destId="{24467B28-CBFC-584C-905E-18BF0F2750F9}" srcOrd="7" destOrd="0" presId="urn:microsoft.com/office/officeart/2005/8/layout/process5"/>
    <dgm:cxn modelId="{B2190DDE-C776-D74E-B5B1-546E1AD97669}" type="presParOf" srcId="{24467B28-CBFC-584C-905E-18BF0F2750F9}" destId="{E0B323E1-C1DA-0F4B-9AF4-78A2161867BC}" srcOrd="0" destOrd="0" presId="urn:microsoft.com/office/officeart/2005/8/layout/process5"/>
    <dgm:cxn modelId="{479B5064-985F-E746-8994-4D54352AA072}" type="presParOf" srcId="{F589C160-A361-EA4E-A783-99961EEDF9E0}" destId="{6B17C49C-5F9E-7C43-A2A7-9A15377FFA61}"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50311E-025D-7344-A9FC-2AA1317E3F60}">
      <dsp:nvSpPr>
        <dsp:cNvPr id="0" name=""/>
        <dsp:cNvSpPr/>
      </dsp:nvSpPr>
      <dsp:spPr>
        <a:xfrm>
          <a:off x="348518" y="633"/>
          <a:ext cx="2326332" cy="116316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a:effectLst>
                <a:outerShdw blurRad="38100" dist="38100" dir="2700000" algn="tl">
                  <a:srgbClr val="000000">
                    <a:alpha val="43137"/>
                  </a:srgbClr>
                </a:outerShdw>
              </a:effectLst>
            </a:rPr>
            <a:t>Instruction Set Architecture </a:t>
          </a:r>
          <a:r>
            <a:rPr lang="en-US" sz="2000" kern="1200" dirty="0">
              <a:effectLst>
                <a:outerShdw blurRad="38100" dist="38100" dir="2700000" algn="tl">
                  <a:srgbClr val="000000">
                    <a:alpha val="43137"/>
                  </a:srgbClr>
                </a:outerShdw>
              </a:effectLst>
            </a:rPr>
            <a:t>(ISA)</a:t>
          </a:r>
        </a:p>
      </dsp:txBody>
      <dsp:txXfrm>
        <a:off x="382586" y="34701"/>
        <a:ext cx="2258196" cy="1095030"/>
      </dsp:txXfrm>
    </dsp:sp>
    <dsp:sp modelId="{5B513F86-D07D-CC45-AADF-4F581EAF2C88}">
      <dsp:nvSpPr>
        <dsp:cNvPr id="0" name=""/>
        <dsp:cNvSpPr/>
      </dsp:nvSpPr>
      <dsp:spPr>
        <a:xfrm>
          <a:off x="581151" y="1163799"/>
          <a:ext cx="232633" cy="846540"/>
        </a:xfrm>
        <a:custGeom>
          <a:avLst/>
          <a:gdLst/>
          <a:ahLst/>
          <a:cxnLst/>
          <a:rect l="0" t="0" r="0" b="0"/>
          <a:pathLst>
            <a:path>
              <a:moveTo>
                <a:pt x="0" y="0"/>
              </a:moveTo>
              <a:lnTo>
                <a:pt x="0" y="846540"/>
              </a:lnTo>
              <a:lnTo>
                <a:pt x="232633" y="84654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305FA7-C2B7-ED40-873D-BBCA01E9ADCB}">
      <dsp:nvSpPr>
        <dsp:cNvPr id="0" name=""/>
        <dsp:cNvSpPr/>
      </dsp:nvSpPr>
      <dsp:spPr>
        <a:xfrm>
          <a:off x="813784" y="1428757"/>
          <a:ext cx="1861065" cy="11631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Defines the </a:t>
          </a:r>
          <a:r>
            <a:rPr lang="en-US" sz="1400" b="1" kern="1200" dirty="0">
              <a:solidFill>
                <a:srgbClr val="FF0000"/>
              </a:solidFill>
            </a:rPr>
            <a:t>machine language instructions</a:t>
          </a:r>
          <a:r>
            <a:rPr lang="en-US" sz="1400" kern="1200" dirty="0"/>
            <a:t> that a computer can follow</a:t>
          </a:r>
        </a:p>
      </dsp:txBody>
      <dsp:txXfrm>
        <a:off x="847852" y="1462825"/>
        <a:ext cx="1792929" cy="1095030"/>
      </dsp:txXfrm>
    </dsp:sp>
    <dsp:sp modelId="{8B292142-3417-9A49-B33C-60015EE3F03C}">
      <dsp:nvSpPr>
        <dsp:cNvPr id="0" name=""/>
        <dsp:cNvSpPr/>
      </dsp:nvSpPr>
      <dsp:spPr>
        <a:xfrm>
          <a:off x="581151" y="1163799"/>
          <a:ext cx="232633" cy="2326332"/>
        </a:xfrm>
        <a:custGeom>
          <a:avLst/>
          <a:gdLst/>
          <a:ahLst/>
          <a:cxnLst/>
          <a:rect l="0" t="0" r="0" b="0"/>
          <a:pathLst>
            <a:path>
              <a:moveTo>
                <a:pt x="0" y="0"/>
              </a:moveTo>
              <a:lnTo>
                <a:pt x="0" y="2326332"/>
              </a:lnTo>
              <a:lnTo>
                <a:pt x="232633" y="2326332"/>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4E74E98-2C79-2945-9F4F-74D267D60EC3}">
      <dsp:nvSpPr>
        <dsp:cNvPr id="0" name=""/>
        <dsp:cNvSpPr/>
      </dsp:nvSpPr>
      <dsp:spPr>
        <a:xfrm>
          <a:off x="813784" y="2908549"/>
          <a:ext cx="1861065" cy="11631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b="1" kern="1200" dirty="0">
              <a:solidFill>
                <a:srgbClr val="FF0000"/>
              </a:solidFill>
            </a:rPr>
            <a:t>Boundary </a:t>
          </a:r>
          <a:r>
            <a:rPr lang="en-US" sz="1400" kern="1200" dirty="0"/>
            <a:t>between hardware and software</a:t>
          </a:r>
        </a:p>
      </dsp:txBody>
      <dsp:txXfrm>
        <a:off x="847852" y="2942617"/>
        <a:ext cx="1792929" cy="1095030"/>
      </dsp:txXfrm>
    </dsp:sp>
    <dsp:sp modelId="{489FB5BC-4218-644F-A04B-E9381F972CA7}">
      <dsp:nvSpPr>
        <dsp:cNvPr id="0" name=""/>
        <dsp:cNvSpPr/>
      </dsp:nvSpPr>
      <dsp:spPr>
        <a:xfrm>
          <a:off x="3256433" y="633"/>
          <a:ext cx="2326332" cy="116316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a:effectLst>
                <a:outerShdw blurRad="38100" dist="38100" dir="2700000" algn="tl">
                  <a:srgbClr val="000000">
                    <a:alpha val="43137"/>
                  </a:srgbClr>
                </a:outerShdw>
              </a:effectLst>
            </a:rPr>
            <a:t>Application Binary Interface </a:t>
          </a:r>
          <a:r>
            <a:rPr lang="en-US" sz="2000" kern="1200" dirty="0">
              <a:effectLst>
                <a:outerShdw blurRad="38100" dist="38100" dir="2700000" algn="tl">
                  <a:srgbClr val="000000">
                    <a:alpha val="43137"/>
                  </a:srgbClr>
                </a:outerShdw>
              </a:effectLst>
            </a:rPr>
            <a:t>(ABI)</a:t>
          </a:r>
        </a:p>
      </dsp:txBody>
      <dsp:txXfrm>
        <a:off x="3290501" y="34701"/>
        <a:ext cx="2258196" cy="1095030"/>
      </dsp:txXfrm>
    </dsp:sp>
    <dsp:sp modelId="{FD2B6C68-7AE3-AD44-B0A5-B3647459FECC}">
      <dsp:nvSpPr>
        <dsp:cNvPr id="0" name=""/>
        <dsp:cNvSpPr/>
      </dsp:nvSpPr>
      <dsp:spPr>
        <a:xfrm>
          <a:off x="3489067" y="1163799"/>
          <a:ext cx="232633" cy="846540"/>
        </a:xfrm>
        <a:custGeom>
          <a:avLst/>
          <a:gdLst/>
          <a:ahLst/>
          <a:cxnLst/>
          <a:rect l="0" t="0" r="0" b="0"/>
          <a:pathLst>
            <a:path>
              <a:moveTo>
                <a:pt x="0" y="0"/>
              </a:moveTo>
              <a:lnTo>
                <a:pt x="0" y="846540"/>
              </a:lnTo>
              <a:lnTo>
                <a:pt x="232633" y="84654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D5EEB6A-69EB-CA4A-B92A-65BBC8B52B6B}">
      <dsp:nvSpPr>
        <dsp:cNvPr id="0" name=""/>
        <dsp:cNvSpPr/>
      </dsp:nvSpPr>
      <dsp:spPr>
        <a:xfrm>
          <a:off x="3721700" y="1428757"/>
          <a:ext cx="1861065" cy="11631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Defines </a:t>
          </a:r>
          <a:r>
            <a:rPr lang="en-US" sz="1400" b="1" kern="1200" dirty="0">
              <a:solidFill>
                <a:srgbClr val="0070C0"/>
              </a:solidFill>
            </a:rPr>
            <a:t>a standard for binary portability </a:t>
          </a:r>
          <a:r>
            <a:rPr lang="en-US" sz="1400" kern="1200" dirty="0"/>
            <a:t>across programs</a:t>
          </a:r>
        </a:p>
      </dsp:txBody>
      <dsp:txXfrm>
        <a:off x="3755768" y="1462825"/>
        <a:ext cx="1792929" cy="1095030"/>
      </dsp:txXfrm>
    </dsp:sp>
    <dsp:sp modelId="{FB7C3B48-6D64-704B-90A6-5F37E3C3BB64}">
      <dsp:nvSpPr>
        <dsp:cNvPr id="0" name=""/>
        <dsp:cNvSpPr/>
      </dsp:nvSpPr>
      <dsp:spPr>
        <a:xfrm>
          <a:off x="3489067" y="1163799"/>
          <a:ext cx="232633" cy="2547520"/>
        </a:xfrm>
        <a:custGeom>
          <a:avLst/>
          <a:gdLst/>
          <a:ahLst/>
          <a:cxnLst/>
          <a:rect l="0" t="0" r="0" b="0"/>
          <a:pathLst>
            <a:path>
              <a:moveTo>
                <a:pt x="0" y="0"/>
              </a:moveTo>
              <a:lnTo>
                <a:pt x="0" y="2547520"/>
              </a:lnTo>
              <a:lnTo>
                <a:pt x="232633" y="2547520"/>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84D2F7F-49BB-5246-AC8B-04EE48185963}">
      <dsp:nvSpPr>
        <dsp:cNvPr id="0" name=""/>
        <dsp:cNvSpPr/>
      </dsp:nvSpPr>
      <dsp:spPr>
        <a:xfrm>
          <a:off x="3721700" y="2908549"/>
          <a:ext cx="1861065" cy="160554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Defines the </a:t>
          </a:r>
          <a:r>
            <a:rPr lang="en-US" sz="1400" b="1" kern="1200" dirty="0">
              <a:solidFill>
                <a:srgbClr val="0070C0"/>
              </a:solidFill>
            </a:rPr>
            <a:t>system call interface to the operating system and the hardware resources</a:t>
          </a:r>
          <a:r>
            <a:rPr lang="en-US" sz="1400" kern="1200" dirty="0"/>
            <a:t> and services available in a system through the user ISA</a:t>
          </a:r>
        </a:p>
      </dsp:txBody>
      <dsp:txXfrm>
        <a:off x="3768725" y="2955574"/>
        <a:ext cx="1767015" cy="1511491"/>
      </dsp:txXfrm>
    </dsp:sp>
    <dsp:sp modelId="{E55E10B5-5593-224E-9230-4EEE33A00367}">
      <dsp:nvSpPr>
        <dsp:cNvPr id="0" name=""/>
        <dsp:cNvSpPr/>
      </dsp:nvSpPr>
      <dsp:spPr>
        <a:xfrm>
          <a:off x="6164349" y="633"/>
          <a:ext cx="2326332" cy="116316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a:effectLst>
                <a:outerShdw blurRad="38100" dist="38100" dir="2700000" algn="tl">
                  <a:srgbClr val="000000">
                    <a:alpha val="43137"/>
                  </a:srgbClr>
                </a:outerShdw>
              </a:effectLst>
            </a:rPr>
            <a:t>Application Programming Interface </a:t>
          </a:r>
          <a:r>
            <a:rPr lang="en-US" sz="2000" kern="1200" dirty="0">
              <a:effectLst>
                <a:outerShdw blurRad="38100" dist="38100" dir="2700000" algn="tl">
                  <a:srgbClr val="000000">
                    <a:alpha val="43137"/>
                  </a:srgbClr>
                </a:outerShdw>
              </a:effectLst>
            </a:rPr>
            <a:t>(API)</a:t>
          </a:r>
        </a:p>
      </dsp:txBody>
      <dsp:txXfrm>
        <a:off x="6198417" y="34701"/>
        <a:ext cx="2258196" cy="1095030"/>
      </dsp:txXfrm>
    </dsp:sp>
    <dsp:sp modelId="{50BEA580-295E-FC4B-A921-B4CB91D3BCA7}">
      <dsp:nvSpPr>
        <dsp:cNvPr id="0" name=""/>
        <dsp:cNvSpPr/>
      </dsp:nvSpPr>
      <dsp:spPr>
        <a:xfrm>
          <a:off x="6396982" y="1163799"/>
          <a:ext cx="232633" cy="1337559"/>
        </a:xfrm>
        <a:custGeom>
          <a:avLst/>
          <a:gdLst/>
          <a:ahLst/>
          <a:cxnLst/>
          <a:rect l="0" t="0" r="0" b="0"/>
          <a:pathLst>
            <a:path>
              <a:moveTo>
                <a:pt x="0" y="0"/>
              </a:moveTo>
              <a:lnTo>
                <a:pt x="0" y="1337559"/>
              </a:lnTo>
              <a:lnTo>
                <a:pt x="232633" y="1337559"/>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56EB3DA-A813-204C-9C44-BEE441A8A9C9}">
      <dsp:nvSpPr>
        <dsp:cNvPr id="0" name=""/>
        <dsp:cNvSpPr/>
      </dsp:nvSpPr>
      <dsp:spPr>
        <a:xfrm>
          <a:off x="6629615" y="1359374"/>
          <a:ext cx="1861065" cy="22839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Gives a </a:t>
          </a:r>
          <a:r>
            <a:rPr lang="en-US" sz="1400" b="1" kern="1200" dirty="0">
              <a:solidFill>
                <a:schemeClr val="accent2">
                  <a:lumMod val="75000"/>
                  <a:lumOff val="25000"/>
                </a:schemeClr>
              </a:solidFill>
            </a:rPr>
            <a:t>program access to the hardware resources and services </a:t>
          </a:r>
          <a:r>
            <a:rPr lang="en-US" sz="1400" kern="1200" dirty="0"/>
            <a:t>available in a system through the user ISA supplemented with </a:t>
          </a:r>
          <a:r>
            <a:rPr lang="en-US" sz="1400" b="1" kern="1200" dirty="0">
              <a:solidFill>
                <a:schemeClr val="accent2">
                  <a:lumMod val="75000"/>
                  <a:lumOff val="25000"/>
                </a:schemeClr>
              </a:solidFill>
            </a:rPr>
            <a:t>high-level language (HLL) library calls</a:t>
          </a:r>
        </a:p>
      </dsp:txBody>
      <dsp:txXfrm>
        <a:off x="6684124" y="1413883"/>
        <a:ext cx="1752047" cy="2174951"/>
      </dsp:txXfrm>
    </dsp:sp>
    <dsp:sp modelId="{CD026FB4-5266-8543-8F4A-2A2135869993}">
      <dsp:nvSpPr>
        <dsp:cNvPr id="0" name=""/>
        <dsp:cNvSpPr/>
      </dsp:nvSpPr>
      <dsp:spPr>
        <a:xfrm>
          <a:off x="6396982" y="1163799"/>
          <a:ext cx="232633" cy="3322055"/>
        </a:xfrm>
        <a:custGeom>
          <a:avLst/>
          <a:gdLst/>
          <a:ahLst/>
          <a:cxnLst/>
          <a:rect l="0" t="0" r="0" b="0"/>
          <a:pathLst>
            <a:path>
              <a:moveTo>
                <a:pt x="0" y="0"/>
              </a:moveTo>
              <a:lnTo>
                <a:pt x="0" y="3322055"/>
              </a:lnTo>
              <a:lnTo>
                <a:pt x="232633" y="3322055"/>
              </a:lnTo>
            </a:path>
          </a:pathLst>
        </a:custGeom>
        <a:noFill/>
        <a:ln w="12700"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C786AE-8BBB-AF42-BE5E-D9161738A40A}">
      <dsp:nvSpPr>
        <dsp:cNvPr id="0" name=""/>
        <dsp:cNvSpPr/>
      </dsp:nvSpPr>
      <dsp:spPr>
        <a:xfrm>
          <a:off x="6629615" y="3786216"/>
          <a:ext cx="1861065" cy="13992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rtl="0">
            <a:lnSpc>
              <a:spcPct val="90000"/>
            </a:lnSpc>
            <a:spcBef>
              <a:spcPct val="0"/>
            </a:spcBef>
            <a:spcAft>
              <a:spcPct val="35000"/>
            </a:spcAft>
            <a:buNone/>
          </a:pPr>
          <a:r>
            <a:rPr lang="en-US" sz="1400" kern="1200" dirty="0"/>
            <a:t>Using </a:t>
          </a:r>
          <a:r>
            <a:rPr lang="en-US" sz="1400" b="1" kern="1200" dirty="0">
              <a:solidFill>
                <a:schemeClr val="accent2">
                  <a:lumMod val="75000"/>
                  <a:lumOff val="25000"/>
                </a:schemeClr>
              </a:solidFill>
            </a:rPr>
            <a:t>an API enables application software to be ported easily </a:t>
          </a:r>
          <a:r>
            <a:rPr lang="en-US" sz="1400" kern="1200" dirty="0"/>
            <a:t>to other systems that support the same API</a:t>
          </a:r>
        </a:p>
      </dsp:txBody>
      <dsp:txXfrm>
        <a:off x="6670598" y="3827199"/>
        <a:ext cx="1779099" cy="13173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101A5-766E-2043-8B91-E3504899DFCD}">
      <dsp:nvSpPr>
        <dsp:cNvPr id="0" name=""/>
        <dsp:cNvSpPr/>
      </dsp:nvSpPr>
      <dsp:spPr>
        <a:xfrm>
          <a:off x="587885" y="405102"/>
          <a:ext cx="1976586" cy="118595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Determines which programs are submitted for processing</a:t>
          </a:r>
        </a:p>
      </dsp:txBody>
      <dsp:txXfrm>
        <a:off x="622620" y="439837"/>
        <a:ext cx="1907116" cy="1116481"/>
      </dsp:txXfrm>
    </dsp:sp>
    <dsp:sp modelId="{3DAFAE46-D62E-F547-B908-2C8910826AC8}">
      <dsp:nvSpPr>
        <dsp:cNvPr id="0" name=""/>
        <dsp:cNvSpPr/>
      </dsp:nvSpPr>
      <dsp:spPr>
        <a:xfrm>
          <a:off x="2738411" y="752981"/>
          <a:ext cx="419036"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2738411" y="851020"/>
        <a:ext cx="293325" cy="294115"/>
      </dsp:txXfrm>
    </dsp:sp>
    <dsp:sp modelId="{C48960A2-F897-234D-BD9C-A1AD5E608FE6}">
      <dsp:nvSpPr>
        <dsp:cNvPr id="0" name=""/>
        <dsp:cNvSpPr/>
      </dsp:nvSpPr>
      <dsp:spPr>
        <a:xfrm>
          <a:off x="3355106" y="405102"/>
          <a:ext cx="1976586" cy="1185951"/>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Once submitted, a job becomes a process for the short term scheduler</a:t>
          </a:r>
        </a:p>
      </dsp:txBody>
      <dsp:txXfrm>
        <a:off x="3389841" y="439837"/>
        <a:ext cx="1907116" cy="1116481"/>
      </dsp:txXfrm>
    </dsp:sp>
    <dsp:sp modelId="{93BED25B-E4BA-C34E-8466-5DF5C8329C0E}">
      <dsp:nvSpPr>
        <dsp:cNvPr id="0" name=""/>
        <dsp:cNvSpPr/>
      </dsp:nvSpPr>
      <dsp:spPr>
        <a:xfrm>
          <a:off x="5505632" y="752981"/>
          <a:ext cx="419036"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505632" y="851020"/>
        <a:ext cx="293325" cy="294115"/>
      </dsp:txXfrm>
    </dsp:sp>
    <dsp:sp modelId="{A0DE8F98-B363-8240-B4A5-366984F5E754}">
      <dsp:nvSpPr>
        <dsp:cNvPr id="0" name=""/>
        <dsp:cNvSpPr/>
      </dsp:nvSpPr>
      <dsp:spPr>
        <a:xfrm>
          <a:off x="6122327" y="823"/>
          <a:ext cx="1976586" cy="199451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In some systems a newly created process begins in a swapped-out condition, in which case it is added to a queue for the medium-term scheduler</a:t>
          </a:r>
        </a:p>
      </dsp:txBody>
      <dsp:txXfrm>
        <a:off x="6180219" y="58715"/>
        <a:ext cx="1860802" cy="1878726"/>
      </dsp:txXfrm>
    </dsp:sp>
    <dsp:sp modelId="{6902F125-B410-B940-9B65-5636A8A9B969}">
      <dsp:nvSpPr>
        <dsp:cNvPr id="0" name=""/>
        <dsp:cNvSpPr/>
      </dsp:nvSpPr>
      <dsp:spPr>
        <a:xfrm rot="5400000">
          <a:off x="6738834" y="2205345"/>
          <a:ext cx="499093"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rot="-5400000">
        <a:off x="6841323" y="2200895"/>
        <a:ext cx="294115" cy="352035"/>
      </dsp:txXfrm>
    </dsp:sp>
    <dsp:sp modelId="{AC21E1F0-4D5A-5345-AD6D-DF1C4E58B79F}">
      <dsp:nvSpPr>
        <dsp:cNvPr id="0" name=""/>
        <dsp:cNvSpPr/>
      </dsp:nvSpPr>
      <dsp:spPr>
        <a:xfrm>
          <a:off x="5600568" y="2933702"/>
          <a:ext cx="2498345" cy="232794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t>Batch system</a:t>
          </a:r>
        </a:p>
        <a:p>
          <a:pPr marL="171450" lvl="1" indent="-171450" algn="l" defTabSz="711200" rtl="0">
            <a:lnSpc>
              <a:spcPct val="90000"/>
            </a:lnSpc>
            <a:spcBef>
              <a:spcPct val="0"/>
            </a:spcBef>
            <a:spcAft>
              <a:spcPct val="15000"/>
            </a:spcAft>
            <a:buChar char="•"/>
          </a:pPr>
          <a:r>
            <a:rPr lang="en-US" sz="1600" kern="1200" dirty="0"/>
            <a:t>Newly submitted jobs are routed to disk and held in a batch queue</a:t>
          </a:r>
        </a:p>
        <a:p>
          <a:pPr marL="171450" lvl="1" indent="-171450" algn="l" defTabSz="711200" rtl="0">
            <a:lnSpc>
              <a:spcPct val="90000"/>
            </a:lnSpc>
            <a:spcBef>
              <a:spcPct val="0"/>
            </a:spcBef>
            <a:spcAft>
              <a:spcPct val="15000"/>
            </a:spcAft>
            <a:buChar char="•"/>
          </a:pPr>
          <a:r>
            <a:rPr lang="en-US" sz="1600" kern="1200" dirty="0"/>
            <a:t>The long-term scheduler creates processes from the queue when it can</a:t>
          </a:r>
        </a:p>
      </dsp:txBody>
      <dsp:txXfrm>
        <a:off x="5668751" y="3001885"/>
        <a:ext cx="2361979" cy="2191574"/>
      </dsp:txXfrm>
    </dsp:sp>
    <dsp:sp modelId="{24467B28-CBFC-584C-905E-18BF0F2750F9}">
      <dsp:nvSpPr>
        <dsp:cNvPr id="0" name=""/>
        <dsp:cNvSpPr/>
      </dsp:nvSpPr>
      <dsp:spPr>
        <a:xfrm rot="10799385">
          <a:off x="4513880" y="3852924"/>
          <a:ext cx="767925" cy="490193"/>
        </a:xfrm>
        <a:prstGeom prst="rightArrow">
          <a:avLst>
            <a:gd name="adj1" fmla="val 60000"/>
            <a:gd name="adj2" fmla="val 50000"/>
          </a:avLst>
        </a:prstGeom>
        <a:solidFill>
          <a:schemeClr val="accent4"/>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4660938" y="3950950"/>
        <a:ext cx="620867" cy="294115"/>
      </dsp:txXfrm>
    </dsp:sp>
    <dsp:sp modelId="{6B17C49C-5F9E-7C43-A2A7-9A15377FFA61}">
      <dsp:nvSpPr>
        <dsp:cNvPr id="0" name=""/>
        <dsp:cNvSpPr/>
      </dsp:nvSpPr>
      <dsp:spPr>
        <a:xfrm>
          <a:off x="338934" y="2786791"/>
          <a:ext cx="3812716" cy="262340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dirty="0"/>
            <a:t>Time-sharing system</a:t>
          </a:r>
        </a:p>
        <a:p>
          <a:pPr marL="171450" lvl="1" indent="-171450" algn="l" defTabSz="711200" rtl="0">
            <a:lnSpc>
              <a:spcPct val="90000"/>
            </a:lnSpc>
            <a:spcBef>
              <a:spcPct val="0"/>
            </a:spcBef>
            <a:spcAft>
              <a:spcPct val="15000"/>
            </a:spcAft>
            <a:buChar char="•"/>
          </a:pPr>
          <a:r>
            <a:rPr lang="en-US" sz="1600" kern="1200" dirty="0"/>
            <a:t>A process request is generated when a user attempts to connect to the system</a:t>
          </a:r>
        </a:p>
        <a:p>
          <a:pPr marL="171450" lvl="1" indent="-171450" algn="l" defTabSz="711200" rtl="0">
            <a:lnSpc>
              <a:spcPct val="90000"/>
            </a:lnSpc>
            <a:spcBef>
              <a:spcPct val="0"/>
            </a:spcBef>
            <a:spcAft>
              <a:spcPct val="15000"/>
            </a:spcAft>
            <a:buChar char="•"/>
          </a:pPr>
          <a:r>
            <a:rPr lang="en-US" sz="1600" kern="1200" dirty="0"/>
            <a:t>OS will accept all authorized comers until the system is saturated</a:t>
          </a:r>
        </a:p>
        <a:p>
          <a:pPr marL="171450" lvl="1" indent="-171450" algn="l" defTabSz="711200" rtl="0">
            <a:lnSpc>
              <a:spcPct val="90000"/>
            </a:lnSpc>
            <a:spcBef>
              <a:spcPct val="0"/>
            </a:spcBef>
            <a:spcAft>
              <a:spcPct val="15000"/>
            </a:spcAft>
            <a:buChar char="•"/>
          </a:pPr>
          <a:r>
            <a:rPr lang="en-US" sz="1600" kern="1200" dirty="0"/>
            <a:t>At that point a connection request is met with a message indicating that the system is full and to try again later</a:t>
          </a:r>
        </a:p>
      </dsp:txBody>
      <dsp:txXfrm>
        <a:off x="415771" y="2863628"/>
        <a:ext cx="3659042" cy="246973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5017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5018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5018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DE67645-5074-6B40-968B-51C2D143C15D}" type="slidenum">
              <a:rPr lang="en-US"/>
              <a:pPr/>
              <a:t>‹#›</a:t>
            </a:fld>
            <a:endParaRPr lang="en-US" dirty="0"/>
          </a:p>
        </p:txBody>
      </p:sp>
    </p:spTree>
    <p:extLst>
      <p:ext uri="{BB962C8B-B14F-4D97-AF65-F5344CB8AC3E}">
        <p14:creationId xmlns:p14="http://schemas.microsoft.com/office/powerpoint/2010/main" val="4079187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4915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491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915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15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4915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13FBE658-3263-9741-A1BA-D173C69310A1}" type="slidenum">
              <a:rPr lang="en-US"/>
              <a:pPr/>
              <a:t>‹#›</a:t>
            </a:fld>
            <a:endParaRPr lang="en-US" dirty="0"/>
          </a:p>
        </p:txBody>
      </p:sp>
    </p:spTree>
    <p:extLst>
      <p:ext uri="{BB962C8B-B14F-4D97-AF65-F5344CB8AC3E}">
        <p14:creationId xmlns:p14="http://schemas.microsoft.com/office/powerpoint/2010/main" val="2802827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10"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8 “Operating</a:t>
            </a:r>
            <a:r>
              <a:rPr lang="en-US" baseline="0" dirty="0">
                <a:latin typeface="Times New Roman" pitchFamily="-110" charset="0"/>
              </a:rPr>
              <a:t> System </a:t>
            </a:r>
            <a:r>
              <a:rPr lang="en-US" baseline="0">
                <a:latin typeface="Times New Roman" pitchFamily="-110" charset="0"/>
              </a:rPr>
              <a:t>Support</a:t>
            </a:r>
            <a:r>
              <a:rPr lang="en-US">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atin typeface="Times New Roman" pitchFamily="-110" charset="0"/>
              </a:rPr>
              <a:t>Adapted by Thân</a:t>
            </a:r>
            <a:r>
              <a:rPr lang="en-US" baseline="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r>
              <a:rPr lang="en-US" sz="1200" kern="1200" baseline="0">
                <a:solidFill>
                  <a:schemeClr val="tx1"/>
                </a:solidFill>
                <a:latin typeface="Times New Roman" pitchFamily="-110" charset="0"/>
                <a:ea typeface="+mn-ea"/>
                <a:cs typeface="+mn-cs"/>
              </a:rPr>
              <a:t>Although the focus of this text is computer hardware, there is one area of software</a:t>
            </a:r>
          </a:p>
          <a:p>
            <a:r>
              <a:rPr lang="en-US" sz="1200" kern="1200" baseline="0">
                <a:solidFill>
                  <a:schemeClr val="tx1"/>
                </a:solidFill>
                <a:latin typeface="Times New Roman" pitchFamily="-110" charset="0"/>
                <a:ea typeface="+mn-ea"/>
                <a:cs typeface="+mn-cs"/>
              </a:rPr>
              <a:t>that needs to be addressed: the computer’s OS. The OS is a program that manages</a:t>
            </a:r>
          </a:p>
          <a:p>
            <a:r>
              <a:rPr lang="en-US" sz="1200" kern="1200" baseline="0">
                <a:solidFill>
                  <a:schemeClr val="tx1"/>
                </a:solidFill>
                <a:latin typeface="Times New Roman" pitchFamily="-110" charset="0"/>
                <a:ea typeface="+mn-ea"/>
                <a:cs typeface="+mn-cs"/>
              </a:rPr>
              <a:t>the computer’s resources, provides services for programmers, and schedules the</a:t>
            </a:r>
          </a:p>
          <a:p>
            <a:r>
              <a:rPr lang="en-US" sz="1200" kern="1200" baseline="0">
                <a:solidFill>
                  <a:schemeClr val="tx1"/>
                </a:solidFill>
                <a:latin typeface="Times New Roman" pitchFamily="-110" charset="0"/>
                <a:ea typeface="+mn-ea"/>
                <a:cs typeface="+mn-cs"/>
              </a:rPr>
              <a:t>execution of other programs. Some understanding of operating systems is essential</a:t>
            </a:r>
          </a:p>
          <a:p>
            <a:r>
              <a:rPr lang="en-US" sz="1200" kern="1200" baseline="0">
                <a:solidFill>
                  <a:schemeClr val="tx1"/>
                </a:solidFill>
                <a:latin typeface="Times New Roman" pitchFamily="-110" charset="0"/>
                <a:ea typeface="+mn-ea"/>
                <a:cs typeface="+mn-cs"/>
              </a:rPr>
              <a:t>to appreciate the mechanisms by which the CPU controls the computer system. In</a:t>
            </a:r>
          </a:p>
          <a:p>
            <a:r>
              <a:rPr lang="en-US" sz="1200" kern="1200" baseline="0">
                <a:solidFill>
                  <a:schemeClr val="tx1"/>
                </a:solidFill>
                <a:latin typeface="Times New Roman" pitchFamily="-110" charset="0"/>
                <a:ea typeface="+mn-ea"/>
                <a:cs typeface="+mn-cs"/>
              </a:rPr>
              <a:t>particular, explanations of the effect of interrupts and of the management of the</a:t>
            </a:r>
          </a:p>
          <a:p>
            <a:r>
              <a:rPr lang="en-US" sz="1200" kern="1200" baseline="0">
                <a:solidFill>
                  <a:schemeClr val="tx1"/>
                </a:solidFill>
                <a:latin typeface="Times New Roman" pitchFamily="-110" charset="0"/>
                <a:ea typeface="+mn-ea"/>
                <a:cs typeface="+mn-cs"/>
              </a:rPr>
              <a:t>memory hierarchy are best explained in this context.</a:t>
            </a:r>
          </a:p>
          <a:p>
            <a:endParaRPr lang="en-US" sz="1200" kern="1200" baseline="0">
              <a:solidFill>
                <a:schemeClr val="tx1"/>
              </a:solidFill>
              <a:latin typeface="Times New Roman" pitchFamily="-110" charset="0"/>
              <a:ea typeface="+mn-ea"/>
              <a:cs typeface="+mn-cs"/>
            </a:endParaRPr>
          </a:p>
          <a:p>
            <a:r>
              <a:rPr lang="en-US" sz="1200" kern="1200" baseline="0">
                <a:solidFill>
                  <a:schemeClr val="tx1"/>
                </a:solidFill>
                <a:latin typeface="Times New Roman" pitchFamily="-110" charset="0"/>
                <a:ea typeface="+mn-ea"/>
                <a:cs typeface="+mn-cs"/>
              </a:rPr>
              <a:t>The chapter begins with an overview and brief history of operating systems.</a:t>
            </a:r>
          </a:p>
          <a:p>
            <a:r>
              <a:rPr lang="en-US" sz="1200" kern="1200" baseline="0">
                <a:solidFill>
                  <a:schemeClr val="tx1"/>
                </a:solidFill>
                <a:latin typeface="Times New Roman" pitchFamily="-110" charset="0"/>
                <a:ea typeface="+mn-ea"/>
                <a:cs typeface="+mn-cs"/>
              </a:rPr>
              <a:t>The bulk of the chapter looks at the two OS functions that are most relevant to</a:t>
            </a:r>
          </a:p>
          <a:p>
            <a:r>
              <a:rPr lang="en-US" sz="1200" kern="1200" baseline="0">
                <a:solidFill>
                  <a:schemeClr val="tx1"/>
                </a:solidFill>
                <a:latin typeface="Times New Roman" pitchFamily="-110" charset="0"/>
                <a:ea typeface="+mn-ea"/>
                <a:cs typeface="+mn-cs"/>
              </a:rPr>
              <a:t>the study of computer organization and architecture: scheduling and memory</a:t>
            </a:r>
          </a:p>
          <a:p>
            <a:r>
              <a:rPr lang="en-US" sz="1200" kern="1200" baseline="0">
                <a:solidFill>
                  <a:schemeClr val="tx1"/>
                </a:solidFill>
                <a:latin typeface="Times New Roman" pitchFamily="-110" charset="0"/>
                <a:ea typeface="+mn-ea"/>
                <a:cs typeface="+mn-cs"/>
              </a:rPr>
              <a:t>management.</a:t>
            </a:r>
            <a:endParaRPr lang="en-US"/>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Làm thế nào có thể làm cho một máy tính được convevient hơn để sử dụng?</a:t>
            </a:r>
          </a:p>
          <a:p>
            <a:r>
              <a:rPr lang="vi-VN" dirty="0"/>
              <a:t>Tài nguyên hệ thống máy tính được sử dụng hiệu quả như thế nào?</a:t>
            </a:r>
          </a:p>
          <a:p>
            <a:r>
              <a:rPr lang="vi-VN" dirty="0"/>
              <a:t>Sau khi học chương này, bạn sẽ có thể:</a:t>
            </a:r>
          </a:p>
          <a:p>
            <a:r>
              <a:rPr lang="vi-VN" dirty="0"/>
              <a:t>Tóm tắt, ở cấp cao nhất, các chức năng chính của một hệ điều hành (OS).</a:t>
            </a:r>
          </a:p>
          <a:p>
            <a:r>
              <a:rPr lang="vi-VN" dirty="0"/>
              <a:t>Thảo luận về sự tiến triển của các hệ điều hành cho các hệ thống lô đơn giản đầu tiên cho các hệ thống phức tạp hiện đại.</a:t>
            </a:r>
          </a:p>
          <a:p>
            <a:r>
              <a:rPr lang="vi-VN" dirty="0"/>
              <a:t>Giải thích sự khác nhau giữa lập kế hoạch dài hạn, trung hạn và ngắn hạn.</a:t>
            </a:r>
          </a:p>
          <a:p>
            <a:r>
              <a:rPr lang="vi-VN" dirty="0"/>
              <a:t>Hiểu được lý do phân vùng bộ nhớ và giải thích các kỹ thuật khác nhau được sử dụng.</a:t>
            </a:r>
          </a:p>
          <a:p>
            <a:r>
              <a:rPr lang="vi-VN" dirty="0"/>
              <a:t>Đánh giá các lợi thế tương đối của phân trang và phân đoạn.</a:t>
            </a:r>
          </a:p>
          <a:p>
            <a:r>
              <a:rPr lang="vi-VN" dirty="0"/>
              <a:t>Xác định bộ nhớ ảo.</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8.1 Tổng quan về Hệ điều hành</a:t>
            </a:r>
          </a:p>
          <a:p>
            <a:r>
              <a:rPr lang="vi-VN" dirty="0"/>
              <a:t>8.2 Lập kế hoạch</a:t>
            </a:r>
          </a:p>
          <a:p>
            <a:r>
              <a:rPr lang="vi-VN" dirty="0"/>
              <a:t>8.3 Quản lý bộ nhớ</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Hệ điều hành như một giao diện người dùng / máy tính</a:t>
            </a:r>
          </a:p>
          <a:p>
            <a:r>
              <a:rPr lang="vi-VN" dirty="0"/>
              <a:t>Hệ điều hành như Quản lý Tài nguyên</a:t>
            </a:r>
          </a:p>
          <a:p>
            <a:r>
              <a:rPr lang="vi-VN" dirty="0"/>
              <a:t>Các loại hệ điều hành</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7C0166-A31A-9042-8882-4616FE6B2170}" type="slidenum">
              <a:rPr lang="en-US"/>
              <a:pPr/>
              <a:t>5</a:t>
            </a:fld>
            <a:endParaRPr lang="en-US"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Một hệ điều hành là một chương trình kiểm soát việc thực hiện các chương trình ứng dụng và hoạt động như</a:t>
            </a:r>
          </a:p>
          <a:p>
            <a:r>
              <a:rPr lang="vi-VN" sz="1200" kern="1200" baseline="0" dirty="0">
                <a:solidFill>
                  <a:schemeClr val="tx1"/>
                </a:solidFill>
                <a:latin typeface="Times New Roman" pitchFamily="-110" charset="0"/>
                <a:ea typeface="+mn-ea"/>
                <a:cs typeface="+mn-cs"/>
              </a:rPr>
              <a:t>một giao diện giữa các ứng dụng và phần cứng máy tính. Có thể nghĩ đến</a:t>
            </a:r>
          </a:p>
          <a:p>
            <a:r>
              <a:rPr lang="vi-VN" sz="1200" kern="1200" baseline="0" dirty="0">
                <a:solidFill>
                  <a:schemeClr val="tx1"/>
                </a:solidFill>
                <a:latin typeface="Times New Roman" pitchFamily="-110" charset="0"/>
                <a:ea typeface="+mn-ea"/>
                <a:cs typeface="+mn-cs"/>
              </a:rPr>
              <a:t>vì có hai mục đích:</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An OS is a program that controls the execution of application programs and acts as</a:t>
            </a:r>
          </a:p>
          <a:p>
            <a:r>
              <a:rPr lang="en-US" sz="1200" kern="1200" baseline="0" dirty="0">
                <a:solidFill>
                  <a:schemeClr val="tx1"/>
                </a:solidFill>
                <a:latin typeface="Times New Roman" pitchFamily="-110" charset="0"/>
                <a:ea typeface="+mn-ea"/>
                <a:cs typeface="+mn-cs"/>
              </a:rPr>
              <a:t>an interface between applications and the computer hardware. It can be thought of</a:t>
            </a:r>
          </a:p>
          <a:p>
            <a:r>
              <a:rPr lang="en-US" sz="1200" kern="1200" baseline="0" dirty="0">
                <a:solidFill>
                  <a:schemeClr val="tx1"/>
                </a:solidFill>
                <a:latin typeface="Times New Roman" pitchFamily="-110" charset="0"/>
                <a:ea typeface="+mn-ea"/>
                <a:cs typeface="+mn-cs"/>
              </a:rPr>
              <a:t>as having two objectives: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Convenience: An OS makes a computer more convenient to use.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Efficiency: An OS allows the computer system resources to be used in an</a:t>
            </a:r>
          </a:p>
          <a:p>
            <a:r>
              <a:rPr lang="en-US" sz="1200" kern="1200" baseline="0" dirty="0">
                <a:solidFill>
                  <a:schemeClr val="tx1"/>
                </a:solidFill>
                <a:latin typeface="Times New Roman" pitchFamily="-110" charset="0"/>
                <a:ea typeface="+mn-ea"/>
                <a:cs typeface="+mn-cs"/>
              </a:rPr>
              <a:t>efficient manner.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hardware and software used in providing applications to a user can be viewed in a layered</a:t>
            </a:r>
          </a:p>
          <a:p>
            <a:r>
              <a:rPr lang="en-US" sz="1200" kern="1200" baseline="0" dirty="0">
                <a:solidFill>
                  <a:schemeClr val="tx1"/>
                </a:solidFill>
                <a:latin typeface="Times New Roman" pitchFamily="-110" charset="0"/>
                <a:ea typeface="+mn-ea"/>
                <a:cs typeface="+mn-cs"/>
              </a:rPr>
              <a:t>or hierarchical fashion, as depicted in Figure 8.1. The user of those applications,</a:t>
            </a:r>
          </a:p>
          <a:p>
            <a:r>
              <a:rPr lang="en-US" sz="1200" kern="1200" baseline="0" dirty="0">
                <a:solidFill>
                  <a:schemeClr val="tx1"/>
                </a:solidFill>
                <a:latin typeface="Times New Roman" pitchFamily="-110" charset="0"/>
                <a:ea typeface="+mn-ea"/>
                <a:cs typeface="+mn-cs"/>
              </a:rPr>
              <a:t>the end user, generally is not concerned with the computer’s architecture. Thus</a:t>
            </a:r>
          </a:p>
          <a:p>
            <a:r>
              <a:rPr lang="en-US" sz="1200" kern="1200" baseline="0" dirty="0">
                <a:solidFill>
                  <a:schemeClr val="tx1"/>
                </a:solidFill>
                <a:latin typeface="Times New Roman" pitchFamily="-110" charset="0"/>
                <a:ea typeface="+mn-ea"/>
                <a:cs typeface="+mn-cs"/>
              </a:rPr>
              <a:t>the end user views a computer system in terms of an application. That application</a:t>
            </a:r>
          </a:p>
          <a:p>
            <a:r>
              <a:rPr lang="en-US" sz="1200" kern="1200" baseline="0" dirty="0">
                <a:solidFill>
                  <a:schemeClr val="tx1"/>
                </a:solidFill>
                <a:latin typeface="Times New Roman" pitchFamily="-110" charset="0"/>
                <a:ea typeface="+mn-ea"/>
                <a:cs typeface="+mn-cs"/>
              </a:rPr>
              <a:t>can be expressed in a programming language and is developed by an application</a:t>
            </a:r>
          </a:p>
          <a:p>
            <a:r>
              <a:rPr lang="en-US" sz="1200" kern="1200" baseline="0" dirty="0">
                <a:solidFill>
                  <a:schemeClr val="tx1"/>
                </a:solidFill>
                <a:latin typeface="Times New Roman" pitchFamily="-110" charset="0"/>
                <a:ea typeface="+mn-ea"/>
                <a:cs typeface="+mn-cs"/>
              </a:rPr>
              <a:t>programmer. To develop an application program as a set of processor instructions</a:t>
            </a:r>
          </a:p>
          <a:p>
            <a:r>
              <a:rPr lang="en-US" sz="1200" kern="1200" baseline="0" dirty="0">
                <a:solidFill>
                  <a:schemeClr val="tx1"/>
                </a:solidFill>
                <a:latin typeface="Times New Roman" pitchFamily="-110" charset="0"/>
                <a:ea typeface="+mn-ea"/>
                <a:cs typeface="+mn-cs"/>
              </a:rPr>
              <a:t>that is completely responsible for controlling the computer hardware would be</a:t>
            </a:r>
          </a:p>
          <a:p>
            <a:r>
              <a:rPr lang="en-US" sz="1200" kern="1200" baseline="0" dirty="0">
                <a:solidFill>
                  <a:schemeClr val="tx1"/>
                </a:solidFill>
                <a:latin typeface="Times New Roman" pitchFamily="-110" charset="0"/>
                <a:ea typeface="+mn-ea"/>
                <a:cs typeface="+mn-cs"/>
              </a:rPr>
              <a:t>an overwhelmingly complex task. To ease this task, a set of systems programs is</a:t>
            </a:r>
          </a:p>
          <a:p>
            <a:r>
              <a:rPr lang="en-US" sz="1200" kern="1200" baseline="0" dirty="0">
                <a:solidFill>
                  <a:schemeClr val="tx1"/>
                </a:solidFill>
                <a:latin typeface="Times New Roman" pitchFamily="-110" charset="0"/>
                <a:ea typeface="+mn-ea"/>
                <a:cs typeface="+mn-cs"/>
              </a:rPr>
              <a:t>provided. Some of these programs are referred to as </a:t>
            </a:r>
            <a:r>
              <a:rPr lang="en-US" sz="1200" b="1" kern="1200" baseline="0" dirty="0">
                <a:solidFill>
                  <a:schemeClr val="tx1"/>
                </a:solidFill>
                <a:latin typeface="Times New Roman" pitchFamily="-110" charset="0"/>
                <a:ea typeface="+mn-ea"/>
                <a:cs typeface="+mn-cs"/>
              </a:rPr>
              <a:t>utilities. These implement</a:t>
            </a:r>
          </a:p>
          <a:p>
            <a:r>
              <a:rPr lang="en-US" sz="1200" kern="1200" baseline="0" dirty="0">
                <a:solidFill>
                  <a:schemeClr val="tx1"/>
                </a:solidFill>
                <a:latin typeface="Times New Roman" pitchFamily="-110" charset="0"/>
                <a:ea typeface="+mn-ea"/>
                <a:cs typeface="+mn-cs"/>
              </a:rPr>
              <a:t>frequently used functions that assist in program creation, the management of</a:t>
            </a:r>
          </a:p>
          <a:p>
            <a:r>
              <a:rPr lang="en-US" sz="1200" kern="1200" baseline="0" dirty="0">
                <a:solidFill>
                  <a:schemeClr val="tx1"/>
                </a:solidFill>
                <a:latin typeface="Times New Roman" pitchFamily="-110" charset="0"/>
                <a:ea typeface="+mn-ea"/>
                <a:cs typeface="+mn-cs"/>
              </a:rPr>
              <a:t>files, and the control of I/O devices. A programmer makes use of these facilities</a:t>
            </a:r>
          </a:p>
          <a:p>
            <a:r>
              <a:rPr lang="en-US" sz="1200" kern="1200" baseline="0" dirty="0">
                <a:solidFill>
                  <a:schemeClr val="tx1"/>
                </a:solidFill>
                <a:latin typeface="Times New Roman" pitchFamily="-110" charset="0"/>
                <a:ea typeface="+mn-ea"/>
                <a:cs typeface="+mn-cs"/>
              </a:rPr>
              <a:t>in developing an application, and the application, while it is running, invokes the</a:t>
            </a:r>
          </a:p>
          <a:p>
            <a:r>
              <a:rPr lang="en-US" sz="1200" kern="1200" baseline="0" dirty="0">
                <a:solidFill>
                  <a:schemeClr val="tx1"/>
                </a:solidFill>
                <a:latin typeface="Times New Roman" pitchFamily="-110" charset="0"/>
                <a:ea typeface="+mn-ea"/>
                <a:cs typeface="+mn-cs"/>
              </a:rPr>
              <a:t>utilities to perform certain functions.</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E06252-EE17-8C40-9BFC-AFC8D7E06CBA}" type="slidenum">
              <a:rPr lang="en-US"/>
              <a:pPr/>
              <a:t>6</a:t>
            </a:fld>
            <a:endParaRPr lang="en-US" dirty="0"/>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Chương trình hệ thống quan trọng nhất là hệ điều hành.</a:t>
            </a:r>
          </a:p>
          <a:p>
            <a:r>
              <a:rPr lang="vi-VN" sz="1200" kern="1200" baseline="0" dirty="0">
                <a:solidFill>
                  <a:schemeClr val="tx1"/>
                </a:solidFill>
                <a:latin typeface="Times New Roman" pitchFamily="-110" charset="0"/>
                <a:ea typeface="+mn-ea"/>
                <a:cs typeface="+mn-cs"/>
              </a:rPr>
              <a:t>Hệ điều hành mặt nạ các chi tiết của phần cứng từ các lập trình viên và cung cấp các</a:t>
            </a:r>
          </a:p>
          <a:p>
            <a:r>
              <a:rPr lang="vi-VN" sz="1200" kern="1200" baseline="0" dirty="0">
                <a:solidFill>
                  <a:schemeClr val="tx1"/>
                </a:solidFill>
                <a:latin typeface="Times New Roman" pitchFamily="-110" charset="0"/>
                <a:ea typeface="+mn-ea"/>
                <a:cs typeface="+mn-cs"/>
              </a:rPr>
              <a:t>lập trình với một giao diện thuận tiện để sử dụng hệ thống. Nó hoạt động như hòa giải viên,</a:t>
            </a:r>
          </a:p>
          <a:p>
            <a:r>
              <a:rPr lang="vi-VN" sz="1200" kern="1200" baseline="0" dirty="0">
                <a:solidFill>
                  <a:schemeClr val="tx1"/>
                </a:solidFill>
                <a:latin typeface="Times New Roman" pitchFamily="-110" charset="0"/>
                <a:ea typeface="+mn-ea"/>
                <a:cs typeface="+mn-cs"/>
              </a:rPr>
              <a:t>làm cho nó dễ dàng hơn cho các lập trình và cho các chương trình ứng dụng để truy cập và sử dụng</a:t>
            </a:r>
          </a:p>
          <a:p>
            <a:r>
              <a:rPr lang="vi-VN" sz="1200" kern="1200" baseline="0" dirty="0">
                <a:solidFill>
                  <a:schemeClr val="tx1"/>
                </a:solidFill>
                <a:latin typeface="Times New Roman" pitchFamily="-110" charset="0"/>
                <a:ea typeface="+mn-ea"/>
                <a:cs typeface="+mn-cs"/>
              </a:rPr>
              <a:t>những cơ sở và dịch vụ.</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Tóm lại, hệ điều hành thường cung cấp các dịch vụ trong các lĩnh vực sau:</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Tạo chương trình: Hệ điều hành cung cấp nhiều tiện ích và dịch vụ, chẳng hạn</a:t>
            </a:r>
          </a:p>
          <a:p>
            <a:r>
              <a:rPr lang="vi-VN" sz="1200" kern="1200" baseline="0" dirty="0">
                <a:solidFill>
                  <a:schemeClr val="tx1"/>
                </a:solidFill>
                <a:latin typeface="Times New Roman" pitchFamily="-110" charset="0"/>
                <a:ea typeface="+mn-ea"/>
                <a:cs typeface="+mn-cs"/>
              </a:rPr>
              <a:t>như các biên tập viên và trình gỡ lỗi, để hỗ trợ lập trình viên trong việc tạo ra các chương trình.</a:t>
            </a:r>
          </a:p>
          <a:p>
            <a:r>
              <a:rPr lang="vi-VN" sz="1200" kern="1200" baseline="0" dirty="0">
                <a:solidFill>
                  <a:schemeClr val="tx1"/>
                </a:solidFill>
                <a:latin typeface="Times New Roman" pitchFamily="-110" charset="0"/>
                <a:ea typeface="+mn-ea"/>
                <a:cs typeface="+mn-cs"/>
              </a:rPr>
              <a:t>Thông thường, các dịch vụ này là dưới hình thức các chương trình tiện ích không thực sự</a:t>
            </a:r>
          </a:p>
          <a:p>
            <a:r>
              <a:rPr lang="vi-VN" sz="1200" kern="1200" baseline="0" dirty="0">
                <a:solidFill>
                  <a:schemeClr val="tx1"/>
                </a:solidFill>
                <a:latin typeface="Times New Roman" pitchFamily="-110" charset="0"/>
                <a:ea typeface="+mn-ea"/>
                <a:cs typeface="+mn-cs"/>
              </a:rPr>
              <a:t>một phần của hệ điều hành nhưng có thể truy cập thông qua hệ điều hành.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Thực hiện chương trình: Một số bước cần được thực hiện để thực hiện một</a:t>
            </a:r>
          </a:p>
          <a:p>
            <a:r>
              <a:rPr lang="vi-VN" sz="1200" kern="1200" baseline="0" dirty="0">
                <a:solidFill>
                  <a:schemeClr val="tx1"/>
                </a:solidFill>
                <a:latin typeface="Times New Roman" pitchFamily="-110" charset="0"/>
                <a:ea typeface="+mn-ea"/>
                <a:cs typeface="+mn-cs"/>
              </a:rPr>
              <a:t>chương trình. Hướng dẫn và dữ liệu phải được nạp vào bộ nhớ chính, thiết bị I / O</a:t>
            </a:r>
          </a:p>
          <a:p>
            <a:r>
              <a:rPr lang="vi-VN" sz="1200" kern="1200" baseline="0" dirty="0">
                <a:solidFill>
                  <a:schemeClr val="tx1"/>
                </a:solidFill>
                <a:latin typeface="Times New Roman" pitchFamily="-110" charset="0"/>
                <a:ea typeface="+mn-ea"/>
                <a:cs typeface="+mn-cs"/>
              </a:rPr>
              <a:t>và các tập tin phải được khởi tạo, và các nguồn lực khác phải được chuẩn bị. Hệ điều hành</a:t>
            </a:r>
          </a:p>
          <a:p>
            <a:r>
              <a:rPr lang="vi-VN" sz="1200" kern="1200" baseline="0" dirty="0">
                <a:solidFill>
                  <a:schemeClr val="tx1"/>
                </a:solidFill>
                <a:latin typeface="Times New Roman" pitchFamily="-110" charset="0"/>
                <a:ea typeface="+mn-ea"/>
                <a:cs typeface="+mn-cs"/>
              </a:rPr>
              <a:t>xử lý tất cả những điều này cho người dùng.</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Truy cập vào các thiết bị I / O: Mỗi thiết bị I / O yêu cầu bộ hướng dẫn cụ thể của riêng nó</a:t>
            </a:r>
          </a:p>
          <a:p>
            <a:r>
              <a:rPr lang="vi-VN" sz="1200" kern="1200" baseline="0" dirty="0">
                <a:solidFill>
                  <a:schemeClr val="tx1"/>
                </a:solidFill>
                <a:latin typeface="Times New Roman" pitchFamily="-110" charset="0"/>
                <a:ea typeface="+mn-ea"/>
                <a:cs typeface="+mn-cs"/>
              </a:rPr>
              <a:t>hoặc tín hiệu điều khiển để vận hành. Hệ điều hành sẽ chăm sóc các chi tiết để</a:t>
            </a:r>
          </a:p>
          <a:p>
            <a:r>
              <a:rPr lang="vi-VN" sz="1200" kern="1200" baseline="0" dirty="0">
                <a:solidFill>
                  <a:schemeClr val="tx1"/>
                </a:solidFill>
                <a:latin typeface="Times New Roman" pitchFamily="-110" charset="0"/>
                <a:ea typeface="+mn-ea"/>
                <a:cs typeface="+mn-cs"/>
              </a:rPr>
              <a:t>các lập trình viên có thể nghĩ về đơn giản đọc và viết.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Kiểm soát truy cập vào các tập tin: Trong trường hợp các tập tin, kiểm soát phải bao gồm một sự hiểu biết</a:t>
            </a:r>
          </a:p>
          <a:p>
            <a:r>
              <a:rPr lang="vi-VN" sz="1200" kern="1200" baseline="0" dirty="0">
                <a:solidFill>
                  <a:schemeClr val="tx1"/>
                </a:solidFill>
                <a:latin typeface="Times New Roman" pitchFamily="-110" charset="0"/>
                <a:ea typeface="+mn-ea"/>
                <a:cs typeface="+mn-cs"/>
              </a:rPr>
              <a:t>không chỉ tính chất của thiết bị I / O (ổ đĩa, ổ băng từ) mà</a:t>
            </a:r>
          </a:p>
          <a:p>
            <a:r>
              <a:rPr lang="vi-VN" sz="1200" kern="1200" baseline="0" dirty="0">
                <a:solidFill>
                  <a:schemeClr val="tx1"/>
                </a:solidFill>
                <a:latin typeface="Times New Roman" pitchFamily="-110" charset="0"/>
                <a:ea typeface="+mn-ea"/>
                <a:cs typeface="+mn-cs"/>
              </a:rPr>
              <a:t>cũng là định dạng tập tin trên phương tiện lưu trữ. Một lần nữa, hệ điều hành lo lắng về</a:t>
            </a:r>
          </a:p>
          <a:p>
            <a:r>
              <a:rPr lang="vi-VN" sz="1200" kern="1200" baseline="0" dirty="0">
                <a:solidFill>
                  <a:schemeClr val="tx1"/>
                </a:solidFill>
                <a:latin typeface="Times New Roman" pitchFamily="-110" charset="0"/>
                <a:ea typeface="+mn-ea"/>
                <a:cs typeface="+mn-cs"/>
              </a:rPr>
              <a:t>chi tiết. Hơn nữa, trong trường hợp của một hệ thống với nhiều người dùng đồng thời,</a:t>
            </a:r>
          </a:p>
          <a:p>
            <a:r>
              <a:rPr lang="vi-VN" sz="1200" kern="1200" baseline="0" dirty="0">
                <a:solidFill>
                  <a:schemeClr val="tx1"/>
                </a:solidFill>
                <a:latin typeface="Times New Roman" pitchFamily="-110" charset="0"/>
                <a:ea typeface="+mn-ea"/>
                <a:cs typeface="+mn-cs"/>
              </a:rPr>
              <a:t>Hệ điều hành có thể cung cấp cơ chế bảo vệ để kiểm soát truy cập vào các tập tin.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Truy cập hệ thống: Trong trường hợp hệ thống chia sẻ hoặc công cộng, hệ điều hành kiểm soát truy cập</a:t>
            </a:r>
          </a:p>
          <a:p>
            <a:r>
              <a:rPr lang="vi-VN" sz="1200" kern="1200" baseline="0" dirty="0">
                <a:solidFill>
                  <a:schemeClr val="tx1"/>
                </a:solidFill>
                <a:latin typeface="Times New Roman" pitchFamily="-110" charset="0"/>
                <a:ea typeface="+mn-ea"/>
                <a:cs typeface="+mn-cs"/>
              </a:rPr>
              <a:t>cho toàn bộ hệ thống và các tài nguyên hệ thống cụ thể. Chức năng truy cập</a:t>
            </a:r>
          </a:p>
          <a:p>
            <a:r>
              <a:rPr lang="vi-VN" sz="1200" kern="1200" baseline="0" dirty="0">
                <a:solidFill>
                  <a:schemeClr val="tx1"/>
                </a:solidFill>
                <a:latin typeface="Times New Roman" pitchFamily="-110" charset="0"/>
                <a:ea typeface="+mn-ea"/>
                <a:cs typeface="+mn-cs"/>
              </a:rPr>
              <a:t>phải cung cấp bảo vệ tài nguyên và dữ liệu từ những người sử dụng trái phép và</a:t>
            </a:r>
          </a:p>
          <a:p>
            <a:r>
              <a:rPr lang="vi-VN" sz="1200" kern="1200" baseline="0" dirty="0">
                <a:solidFill>
                  <a:schemeClr val="tx1"/>
                </a:solidFill>
                <a:latin typeface="Times New Roman" pitchFamily="-110" charset="0"/>
                <a:ea typeface="+mn-ea"/>
                <a:cs typeface="+mn-cs"/>
              </a:rPr>
              <a:t>phải giải quyết xung đột cho tranh chấp tài nguyên.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Phát hiện lỗi và đáp ứng: Nhiều lỗi có thể xảy ra trong khi máy tính</a:t>
            </a:r>
          </a:p>
          <a:p>
            <a:r>
              <a:rPr lang="vi-VN" sz="1200" kern="1200" baseline="0" dirty="0">
                <a:solidFill>
                  <a:schemeClr val="tx1"/>
                </a:solidFill>
                <a:latin typeface="Times New Roman" pitchFamily="-110" charset="0"/>
                <a:ea typeface="+mn-ea"/>
                <a:cs typeface="+mn-cs"/>
              </a:rPr>
              <a:t>hệ thống đang chạy. Chúng bao gồm các lỗi phần cứng bên trong và bên ngoài, chẳng hạn như</a:t>
            </a:r>
          </a:p>
          <a:p>
            <a:r>
              <a:rPr lang="vi-VN" sz="1200" kern="1200" baseline="0" dirty="0">
                <a:solidFill>
                  <a:schemeClr val="tx1"/>
                </a:solidFill>
                <a:latin typeface="Times New Roman" pitchFamily="-110" charset="0"/>
                <a:ea typeface="+mn-ea"/>
                <a:cs typeface="+mn-cs"/>
              </a:rPr>
              <a:t>lỗi bộ nhớ, hoặc lỗi thiết bị hoặc sự cố; và lỗi phần mềm khác nhau,</a:t>
            </a:r>
          </a:p>
          <a:p>
            <a:r>
              <a:rPr lang="vi-VN" sz="1200" kern="1200" baseline="0" dirty="0">
                <a:solidFill>
                  <a:schemeClr val="tx1"/>
                </a:solidFill>
                <a:latin typeface="Times New Roman" pitchFamily="-110" charset="0"/>
                <a:ea typeface="+mn-ea"/>
                <a:cs typeface="+mn-cs"/>
              </a:rPr>
              <a:t>chẳng hạn như số học tràn, cố gắng truy cập vị trí bộ nhớ bị cấm, và</a:t>
            </a:r>
          </a:p>
          <a:p>
            <a:r>
              <a:rPr lang="vi-VN" sz="1200" kern="1200" baseline="0" dirty="0">
                <a:solidFill>
                  <a:schemeClr val="tx1"/>
                </a:solidFill>
                <a:latin typeface="Times New Roman" pitchFamily="-110" charset="0"/>
                <a:ea typeface="+mn-ea"/>
                <a:cs typeface="+mn-cs"/>
              </a:rPr>
              <a:t>không có khả năng của hệ điều hành để cấp yêu cầu của một ứng dụng. Trong mỗi trường hợp, hệ điều hành phải</a:t>
            </a:r>
          </a:p>
          <a:p>
            <a:r>
              <a:rPr lang="vi-VN" sz="1200" kern="1200" baseline="0" dirty="0">
                <a:solidFill>
                  <a:schemeClr val="tx1"/>
                </a:solidFill>
                <a:latin typeface="Times New Roman" pitchFamily="-110" charset="0"/>
                <a:ea typeface="+mn-ea"/>
                <a:cs typeface="+mn-cs"/>
              </a:rPr>
              <a:t>thực hiện các phản ứng mà xóa các điều kiện lỗi với tác động ít nhất khi chạy</a:t>
            </a:r>
          </a:p>
          <a:p>
            <a:r>
              <a:rPr lang="vi-VN" sz="1200" kern="1200" baseline="0" dirty="0">
                <a:solidFill>
                  <a:schemeClr val="tx1"/>
                </a:solidFill>
                <a:latin typeface="Times New Roman" pitchFamily="-110" charset="0"/>
                <a:ea typeface="+mn-ea"/>
                <a:cs typeface="+mn-cs"/>
              </a:rPr>
              <a:t>các ứng dụng. Phản hồi có thể là từ khi kết thúc chương trình gây ra</a:t>
            </a:r>
          </a:p>
          <a:p>
            <a:r>
              <a:rPr lang="vi-VN" sz="1200" kern="1200" baseline="0" dirty="0">
                <a:solidFill>
                  <a:schemeClr val="tx1"/>
                </a:solidFill>
                <a:latin typeface="Times New Roman" pitchFamily="-110" charset="0"/>
                <a:ea typeface="+mn-ea"/>
                <a:cs typeface="+mn-cs"/>
              </a:rPr>
              <a:t>lỗi, để thử lại hoạt động, chỉ cần báo cáo lỗi cho ứng dụng.</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Kế toán: Một hệ điều hành tốt thu thập số liệu thống kê sử dụng cho các nguồn lực khác nhau và</a:t>
            </a:r>
          </a:p>
          <a:p>
            <a:r>
              <a:rPr lang="vi-VN" sz="1200" kern="1200" baseline="0" dirty="0">
                <a:solidFill>
                  <a:schemeClr val="tx1"/>
                </a:solidFill>
                <a:latin typeface="Times New Roman" pitchFamily="-110" charset="0"/>
                <a:ea typeface="+mn-ea"/>
                <a:cs typeface="+mn-cs"/>
              </a:rPr>
              <a:t>giám sát các thông số hoạt động như thời gian phản hồi. Trên bất kỳ hệ thống nào, điều này</a:t>
            </a:r>
          </a:p>
          <a:p>
            <a:r>
              <a:rPr lang="vi-VN" sz="1200" kern="1200" baseline="0" dirty="0">
                <a:solidFill>
                  <a:schemeClr val="tx1"/>
                </a:solidFill>
                <a:latin typeface="Times New Roman" pitchFamily="-110" charset="0"/>
                <a:ea typeface="+mn-ea"/>
                <a:cs typeface="+mn-cs"/>
              </a:rPr>
              <a:t>thông tin hữu ích trong việc dự đoán nhu cầu cải tiến trong tương lai và</a:t>
            </a:r>
          </a:p>
          <a:p>
            <a:r>
              <a:rPr lang="vi-VN" sz="1200" kern="1200" baseline="0" dirty="0">
                <a:solidFill>
                  <a:schemeClr val="tx1"/>
                </a:solidFill>
                <a:latin typeface="Times New Roman" pitchFamily="-110" charset="0"/>
                <a:ea typeface="+mn-ea"/>
                <a:cs typeface="+mn-cs"/>
              </a:rPr>
              <a:t>điều chỉnh hệ thống để cải thiện hiệu suất. Trên một hệ thống đa người dùng, thông tin</a:t>
            </a:r>
          </a:p>
          <a:p>
            <a:r>
              <a:rPr lang="vi-VN" sz="1200" kern="1200" baseline="0" dirty="0">
                <a:solidFill>
                  <a:schemeClr val="tx1"/>
                </a:solidFill>
                <a:latin typeface="Times New Roman" pitchFamily="-110" charset="0"/>
                <a:ea typeface="+mn-ea"/>
                <a:cs typeface="+mn-cs"/>
              </a:rPr>
              <a:t>có thể được sử dụng cho các mục đích thanh toán.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most important system program is the OS.</a:t>
            </a:r>
          </a:p>
          <a:p>
            <a:r>
              <a:rPr lang="en-US" sz="1200" kern="1200" baseline="0" dirty="0">
                <a:solidFill>
                  <a:schemeClr val="tx1"/>
                </a:solidFill>
                <a:latin typeface="Times New Roman" pitchFamily="-110" charset="0"/>
                <a:ea typeface="+mn-ea"/>
                <a:cs typeface="+mn-cs"/>
              </a:rPr>
              <a:t>The OS masks the details of the hardware from the programmer and provides the</a:t>
            </a:r>
          </a:p>
          <a:p>
            <a:r>
              <a:rPr lang="en-US" sz="1200" kern="1200" baseline="0" dirty="0">
                <a:solidFill>
                  <a:schemeClr val="tx1"/>
                </a:solidFill>
                <a:latin typeface="Times New Roman" pitchFamily="-110" charset="0"/>
                <a:ea typeface="+mn-ea"/>
                <a:cs typeface="+mn-cs"/>
              </a:rPr>
              <a:t>programmer with a convenient interface for using the system. It acts as mediator,</a:t>
            </a:r>
          </a:p>
          <a:p>
            <a:r>
              <a:rPr lang="en-US" sz="1200" kern="1200" baseline="0" dirty="0">
                <a:solidFill>
                  <a:schemeClr val="tx1"/>
                </a:solidFill>
                <a:latin typeface="Times New Roman" pitchFamily="-110" charset="0"/>
                <a:ea typeface="+mn-ea"/>
                <a:cs typeface="+mn-cs"/>
              </a:rPr>
              <a:t>making it easier for the programmer and for application programs to access and use</a:t>
            </a:r>
          </a:p>
          <a:p>
            <a:r>
              <a:rPr lang="en-US" sz="1200" kern="1200" baseline="0" dirty="0">
                <a:solidFill>
                  <a:schemeClr val="tx1"/>
                </a:solidFill>
                <a:latin typeface="Times New Roman" pitchFamily="-110" charset="0"/>
                <a:ea typeface="+mn-ea"/>
                <a:cs typeface="+mn-cs"/>
              </a:rPr>
              <a:t>those facilities and services.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Briefly, the OS typically provides services in the following areas: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Program creation: </a:t>
            </a:r>
            <a:r>
              <a:rPr lang="en-US" sz="1200" b="0" kern="1200" baseline="0" dirty="0">
                <a:solidFill>
                  <a:schemeClr val="tx1"/>
                </a:solidFill>
                <a:latin typeface="Times New Roman" pitchFamily="-110" charset="0"/>
                <a:ea typeface="+mn-ea"/>
                <a:cs typeface="+mn-cs"/>
              </a:rPr>
              <a:t>The OS provides a variety of facilities and services, such</a:t>
            </a:r>
          </a:p>
          <a:p>
            <a:r>
              <a:rPr lang="en-US" sz="1200" kern="1200" baseline="0" dirty="0">
                <a:solidFill>
                  <a:schemeClr val="tx1"/>
                </a:solidFill>
                <a:latin typeface="Times New Roman" pitchFamily="-110" charset="0"/>
                <a:ea typeface="+mn-ea"/>
                <a:cs typeface="+mn-cs"/>
              </a:rPr>
              <a:t>as editors and debuggers, to assist the programmer in creating programs.</a:t>
            </a:r>
          </a:p>
          <a:p>
            <a:r>
              <a:rPr lang="en-US" sz="1200" kern="1200" baseline="0" dirty="0">
                <a:solidFill>
                  <a:schemeClr val="tx1"/>
                </a:solidFill>
                <a:latin typeface="Times New Roman" pitchFamily="-110" charset="0"/>
                <a:ea typeface="+mn-ea"/>
                <a:cs typeface="+mn-cs"/>
              </a:rPr>
              <a:t>Typically, these services are in the form of </a:t>
            </a:r>
            <a:r>
              <a:rPr lang="en-US" sz="1200" b="1" kern="1200" baseline="0" dirty="0">
                <a:solidFill>
                  <a:schemeClr val="tx1"/>
                </a:solidFill>
                <a:latin typeface="Times New Roman" pitchFamily="-110" charset="0"/>
                <a:ea typeface="+mn-ea"/>
                <a:cs typeface="+mn-cs"/>
              </a:rPr>
              <a:t>utility programs </a:t>
            </a:r>
            <a:r>
              <a:rPr lang="en-US" sz="1200" b="0" kern="1200" baseline="0" dirty="0">
                <a:solidFill>
                  <a:schemeClr val="tx1"/>
                </a:solidFill>
                <a:latin typeface="Times New Roman" pitchFamily="-110" charset="0"/>
                <a:ea typeface="+mn-ea"/>
                <a:cs typeface="+mn-cs"/>
              </a:rPr>
              <a:t>that are not actually</a:t>
            </a:r>
          </a:p>
          <a:p>
            <a:r>
              <a:rPr lang="en-US" sz="1200" kern="1200" baseline="0" dirty="0">
                <a:solidFill>
                  <a:schemeClr val="tx1"/>
                </a:solidFill>
                <a:latin typeface="Times New Roman" pitchFamily="-110" charset="0"/>
                <a:ea typeface="+mn-ea"/>
                <a:cs typeface="+mn-cs"/>
              </a:rPr>
              <a:t>part of the OS but are accessible through the OS.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Program execution: </a:t>
            </a:r>
            <a:r>
              <a:rPr lang="en-US" sz="1200" b="0" kern="1200" baseline="0" dirty="0">
                <a:solidFill>
                  <a:schemeClr val="tx1"/>
                </a:solidFill>
                <a:latin typeface="Times New Roman" pitchFamily="-110" charset="0"/>
                <a:ea typeface="+mn-ea"/>
                <a:cs typeface="+mn-cs"/>
              </a:rPr>
              <a:t>A number of steps need to be performed to execute a</a:t>
            </a:r>
          </a:p>
          <a:p>
            <a:r>
              <a:rPr lang="en-US" sz="1200" kern="1200" baseline="0" dirty="0">
                <a:solidFill>
                  <a:schemeClr val="tx1"/>
                </a:solidFill>
                <a:latin typeface="Times New Roman" pitchFamily="-110" charset="0"/>
                <a:ea typeface="+mn-ea"/>
                <a:cs typeface="+mn-cs"/>
              </a:rPr>
              <a:t>program. Instructions and data must be loaded into main memory, I/O devices</a:t>
            </a:r>
          </a:p>
          <a:p>
            <a:r>
              <a:rPr lang="en-US" sz="1200" kern="1200" baseline="0" dirty="0">
                <a:solidFill>
                  <a:schemeClr val="tx1"/>
                </a:solidFill>
                <a:latin typeface="Times New Roman" pitchFamily="-110" charset="0"/>
                <a:ea typeface="+mn-ea"/>
                <a:cs typeface="+mn-cs"/>
              </a:rPr>
              <a:t>and files must be initialized, and other resources must be prepared. The OS</a:t>
            </a:r>
          </a:p>
          <a:p>
            <a:r>
              <a:rPr lang="en-US" sz="1200" kern="1200" baseline="0" dirty="0">
                <a:solidFill>
                  <a:schemeClr val="tx1"/>
                </a:solidFill>
                <a:latin typeface="Times New Roman" pitchFamily="-110" charset="0"/>
                <a:ea typeface="+mn-ea"/>
                <a:cs typeface="+mn-cs"/>
              </a:rPr>
              <a:t>handles all of this for the user.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Access to I/O devices: </a:t>
            </a:r>
            <a:r>
              <a:rPr lang="en-US" sz="1200" b="0" kern="1200" baseline="0" dirty="0">
                <a:solidFill>
                  <a:schemeClr val="tx1"/>
                </a:solidFill>
                <a:latin typeface="Times New Roman" pitchFamily="-110" charset="0"/>
                <a:ea typeface="+mn-ea"/>
                <a:cs typeface="+mn-cs"/>
              </a:rPr>
              <a:t>Each I/O device requires its own specific set of instructions</a:t>
            </a:r>
          </a:p>
          <a:p>
            <a:r>
              <a:rPr lang="en-US" sz="1200" kern="1200" baseline="0" dirty="0">
                <a:solidFill>
                  <a:schemeClr val="tx1"/>
                </a:solidFill>
                <a:latin typeface="Times New Roman" pitchFamily="-110" charset="0"/>
                <a:ea typeface="+mn-ea"/>
                <a:cs typeface="+mn-cs"/>
              </a:rPr>
              <a:t>or control signals for operation. The OS takes care of the details so that</a:t>
            </a:r>
          </a:p>
          <a:p>
            <a:r>
              <a:rPr lang="en-US" sz="1200" kern="1200" baseline="0" dirty="0">
                <a:solidFill>
                  <a:schemeClr val="tx1"/>
                </a:solidFill>
                <a:latin typeface="Times New Roman" pitchFamily="-110" charset="0"/>
                <a:ea typeface="+mn-ea"/>
                <a:cs typeface="+mn-cs"/>
              </a:rPr>
              <a:t>the programmer can think in terms of simple reads and writes.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Controlled access to files: </a:t>
            </a:r>
            <a:r>
              <a:rPr lang="en-US" sz="1200" b="0" kern="1200" baseline="0" dirty="0">
                <a:solidFill>
                  <a:schemeClr val="tx1"/>
                </a:solidFill>
                <a:latin typeface="Times New Roman" pitchFamily="-110" charset="0"/>
                <a:ea typeface="+mn-ea"/>
                <a:cs typeface="+mn-cs"/>
              </a:rPr>
              <a:t>In the case of files, control must include an understanding</a:t>
            </a:r>
          </a:p>
          <a:p>
            <a:r>
              <a:rPr lang="en-US" sz="1200" kern="1200" baseline="0" dirty="0">
                <a:solidFill>
                  <a:schemeClr val="tx1"/>
                </a:solidFill>
                <a:latin typeface="Times New Roman" pitchFamily="-110" charset="0"/>
                <a:ea typeface="+mn-ea"/>
                <a:cs typeface="+mn-cs"/>
              </a:rPr>
              <a:t>of not only the nature of the I/O device (disk drive, tape drive) but</a:t>
            </a:r>
          </a:p>
          <a:p>
            <a:r>
              <a:rPr lang="en-US" sz="1200" kern="1200" baseline="0" dirty="0">
                <a:solidFill>
                  <a:schemeClr val="tx1"/>
                </a:solidFill>
                <a:latin typeface="Times New Roman" pitchFamily="-110" charset="0"/>
                <a:ea typeface="+mn-ea"/>
                <a:cs typeface="+mn-cs"/>
              </a:rPr>
              <a:t>also the file format on the storage medium. Again, the OS worries about the</a:t>
            </a:r>
          </a:p>
          <a:p>
            <a:r>
              <a:rPr lang="en-US" sz="1200" kern="1200" baseline="0" dirty="0">
                <a:solidFill>
                  <a:schemeClr val="tx1"/>
                </a:solidFill>
                <a:latin typeface="Times New Roman" pitchFamily="-110" charset="0"/>
                <a:ea typeface="+mn-ea"/>
                <a:cs typeface="+mn-cs"/>
              </a:rPr>
              <a:t>details. Further, in the case of a system with multiple simultaneous users, the</a:t>
            </a:r>
          </a:p>
          <a:p>
            <a:r>
              <a:rPr lang="en-US" sz="1200" kern="1200" baseline="0" dirty="0">
                <a:solidFill>
                  <a:schemeClr val="tx1"/>
                </a:solidFill>
                <a:latin typeface="Times New Roman" pitchFamily="-110" charset="0"/>
                <a:ea typeface="+mn-ea"/>
                <a:cs typeface="+mn-cs"/>
              </a:rPr>
              <a:t>OS can provide protection mechanisms to control access to the files.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System access: </a:t>
            </a:r>
            <a:r>
              <a:rPr lang="en-US" sz="1200" b="0" kern="1200" baseline="0" dirty="0">
                <a:solidFill>
                  <a:schemeClr val="tx1"/>
                </a:solidFill>
                <a:latin typeface="Times New Roman" pitchFamily="-110" charset="0"/>
                <a:ea typeface="+mn-ea"/>
                <a:cs typeface="+mn-cs"/>
              </a:rPr>
              <a:t>In the case of a shared or public system, the OS controls access</a:t>
            </a:r>
          </a:p>
          <a:p>
            <a:r>
              <a:rPr lang="en-US" sz="1200" kern="1200" baseline="0" dirty="0">
                <a:solidFill>
                  <a:schemeClr val="tx1"/>
                </a:solidFill>
                <a:latin typeface="Times New Roman" pitchFamily="-110" charset="0"/>
                <a:ea typeface="+mn-ea"/>
                <a:cs typeface="+mn-cs"/>
              </a:rPr>
              <a:t>to the system as a whole and to specific system resources. The access function</a:t>
            </a:r>
          </a:p>
          <a:p>
            <a:r>
              <a:rPr lang="en-US" sz="1200" kern="1200" baseline="0" dirty="0">
                <a:solidFill>
                  <a:schemeClr val="tx1"/>
                </a:solidFill>
                <a:latin typeface="Times New Roman" pitchFamily="-110" charset="0"/>
                <a:ea typeface="+mn-ea"/>
                <a:cs typeface="+mn-cs"/>
              </a:rPr>
              <a:t>must provide protection of resources and data from unauthorized users and</a:t>
            </a:r>
          </a:p>
          <a:p>
            <a:r>
              <a:rPr lang="en-US" sz="1200" kern="1200" baseline="0" dirty="0">
                <a:solidFill>
                  <a:schemeClr val="tx1"/>
                </a:solidFill>
                <a:latin typeface="Times New Roman" pitchFamily="-110" charset="0"/>
                <a:ea typeface="+mn-ea"/>
                <a:cs typeface="+mn-cs"/>
              </a:rPr>
              <a:t>must resolve conflicts for resource contention.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Error detection and response: </a:t>
            </a:r>
            <a:r>
              <a:rPr lang="en-US" sz="1200" b="0" kern="1200" baseline="0" dirty="0">
                <a:solidFill>
                  <a:schemeClr val="tx1"/>
                </a:solidFill>
                <a:latin typeface="Times New Roman" pitchFamily="-110" charset="0"/>
                <a:ea typeface="+mn-ea"/>
                <a:cs typeface="+mn-cs"/>
              </a:rPr>
              <a:t>A variety of errors can occur while a computer</a:t>
            </a:r>
          </a:p>
          <a:p>
            <a:r>
              <a:rPr lang="en-US" sz="1200" kern="1200" baseline="0" dirty="0">
                <a:solidFill>
                  <a:schemeClr val="tx1"/>
                </a:solidFill>
                <a:latin typeface="Times New Roman" pitchFamily="-110" charset="0"/>
                <a:ea typeface="+mn-ea"/>
                <a:cs typeface="+mn-cs"/>
              </a:rPr>
              <a:t>system is running. These include internal and external hardware errors, such as</a:t>
            </a:r>
          </a:p>
          <a:p>
            <a:r>
              <a:rPr lang="en-US" sz="1200" kern="1200" baseline="0" dirty="0">
                <a:solidFill>
                  <a:schemeClr val="tx1"/>
                </a:solidFill>
                <a:latin typeface="Times New Roman" pitchFamily="-110" charset="0"/>
                <a:ea typeface="+mn-ea"/>
                <a:cs typeface="+mn-cs"/>
              </a:rPr>
              <a:t>a memory error, or a device failure or malfunction; and various software errors,</a:t>
            </a:r>
          </a:p>
          <a:p>
            <a:r>
              <a:rPr lang="en-US" sz="1200" kern="1200" baseline="0" dirty="0">
                <a:solidFill>
                  <a:schemeClr val="tx1"/>
                </a:solidFill>
                <a:latin typeface="Times New Roman" pitchFamily="-110" charset="0"/>
                <a:ea typeface="+mn-ea"/>
                <a:cs typeface="+mn-cs"/>
              </a:rPr>
              <a:t>such as arithmetic overflow, attempt to access forbidden memory location, and</a:t>
            </a:r>
          </a:p>
          <a:p>
            <a:r>
              <a:rPr lang="en-US" sz="1200" kern="1200" baseline="0" dirty="0">
                <a:solidFill>
                  <a:schemeClr val="tx1"/>
                </a:solidFill>
                <a:latin typeface="Times New Roman" pitchFamily="-110" charset="0"/>
                <a:ea typeface="+mn-ea"/>
                <a:cs typeface="+mn-cs"/>
              </a:rPr>
              <a:t>inability of the OS to grant the request of an application. In each case, the OS must</a:t>
            </a:r>
          </a:p>
          <a:p>
            <a:r>
              <a:rPr lang="en-US" sz="1200" kern="1200" baseline="0" dirty="0">
                <a:solidFill>
                  <a:schemeClr val="tx1"/>
                </a:solidFill>
                <a:latin typeface="Times New Roman" pitchFamily="-110" charset="0"/>
                <a:ea typeface="+mn-ea"/>
                <a:cs typeface="+mn-cs"/>
              </a:rPr>
              <a:t>make the response that clears the error condition with the least impact on running</a:t>
            </a:r>
          </a:p>
          <a:p>
            <a:r>
              <a:rPr lang="en-US" sz="1200" kern="1200" baseline="0" dirty="0">
                <a:solidFill>
                  <a:schemeClr val="tx1"/>
                </a:solidFill>
                <a:latin typeface="Times New Roman" pitchFamily="-110" charset="0"/>
                <a:ea typeface="+mn-ea"/>
                <a:cs typeface="+mn-cs"/>
              </a:rPr>
              <a:t>applications. The response may range from ending the program that caused the</a:t>
            </a:r>
          </a:p>
          <a:p>
            <a:r>
              <a:rPr lang="en-US" sz="1200" kern="1200" baseline="0" dirty="0">
                <a:solidFill>
                  <a:schemeClr val="tx1"/>
                </a:solidFill>
                <a:latin typeface="Times New Roman" pitchFamily="-110" charset="0"/>
                <a:ea typeface="+mn-ea"/>
                <a:cs typeface="+mn-cs"/>
              </a:rPr>
              <a:t>error, to retrying the operation, to simply reporting the error to the application.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Accounting: </a:t>
            </a:r>
            <a:r>
              <a:rPr lang="en-US" sz="1200" b="0" kern="1200" baseline="0" dirty="0">
                <a:solidFill>
                  <a:schemeClr val="tx1"/>
                </a:solidFill>
                <a:latin typeface="Times New Roman" pitchFamily="-110" charset="0"/>
                <a:ea typeface="+mn-ea"/>
                <a:cs typeface="+mn-cs"/>
              </a:rPr>
              <a:t>A good OS collects usage statistics for various resources and</a:t>
            </a:r>
          </a:p>
          <a:p>
            <a:r>
              <a:rPr lang="en-US" sz="1200" kern="1200" baseline="0" dirty="0">
                <a:solidFill>
                  <a:schemeClr val="tx1"/>
                </a:solidFill>
                <a:latin typeface="Times New Roman" pitchFamily="-110" charset="0"/>
                <a:ea typeface="+mn-ea"/>
                <a:cs typeface="+mn-cs"/>
              </a:rPr>
              <a:t>monitor performance parameters such as response time. On any system, this</a:t>
            </a:r>
          </a:p>
          <a:p>
            <a:r>
              <a:rPr lang="en-US" sz="1200" kern="1200" baseline="0" dirty="0">
                <a:solidFill>
                  <a:schemeClr val="tx1"/>
                </a:solidFill>
                <a:latin typeface="Times New Roman" pitchFamily="-110" charset="0"/>
                <a:ea typeface="+mn-ea"/>
                <a:cs typeface="+mn-cs"/>
              </a:rPr>
              <a:t>information is useful in anticipating the need for future enhancements and in</a:t>
            </a:r>
          </a:p>
          <a:p>
            <a:r>
              <a:rPr lang="en-US" sz="1200" kern="1200" baseline="0" dirty="0">
                <a:solidFill>
                  <a:schemeClr val="tx1"/>
                </a:solidFill>
                <a:latin typeface="Times New Roman" pitchFamily="-110" charset="0"/>
                <a:ea typeface="+mn-ea"/>
                <a:cs typeface="+mn-cs"/>
              </a:rPr>
              <a:t>tuning the system to improve performance. On a multiuser system, the information</a:t>
            </a:r>
          </a:p>
          <a:p>
            <a:r>
              <a:rPr lang="en-US" sz="1200" kern="1200" baseline="0" dirty="0">
                <a:solidFill>
                  <a:schemeClr val="tx1"/>
                </a:solidFill>
                <a:latin typeface="Times New Roman" pitchFamily="-110" charset="0"/>
                <a:ea typeface="+mn-ea"/>
                <a:cs typeface="+mn-cs"/>
              </a:rPr>
              <a:t>can be used for billing purposes.</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vi-VN" sz="1200" kern="1200" baseline="0" dirty="0">
                <a:solidFill>
                  <a:schemeClr val="tx1"/>
                </a:solidFill>
                <a:latin typeface="Times New Roman" pitchFamily="-110" charset="0"/>
                <a:ea typeface="+mn-ea"/>
                <a:cs typeface="+mn-cs"/>
              </a:rPr>
              <a:t>Hình 8.1 cũng chỉ ra ba giao diện chính trong một hệ thống máy tính điển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Kiến trúc bộ chỉ lệnh (ISA): ISA định nghĩa các tiết mục của máy</a:t>
            </a:r>
          </a:p>
          <a:p>
            <a:r>
              <a:rPr lang="vi-VN" sz="1200" kern="1200" baseline="0" dirty="0">
                <a:solidFill>
                  <a:schemeClr val="tx1"/>
                </a:solidFill>
                <a:latin typeface="Times New Roman" pitchFamily="-110" charset="0"/>
                <a:ea typeface="+mn-ea"/>
                <a:cs typeface="+mn-cs"/>
              </a:rPr>
              <a:t>hướng dẫn bằng ngôn ngữ mà máy tính có thể thực hiện. Giao diện này là ranh giới</a:t>
            </a:r>
          </a:p>
          <a:p>
            <a:r>
              <a:rPr lang="vi-VN" sz="1200" kern="1200" baseline="0" dirty="0">
                <a:solidFill>
                  <a:schemeClr val="tx1"/>
                </a:solidFill>
                <a:latin typeface="Times New Roman" pitchFamily="-110" charset="0"/>
                <a:ea typeface="+mn-ea"/>
                <a:cs typeface="+mn-cs"/>
              </a:rPr>
              <a:t>giữa phần cứng và phần mềm. Lưu ý rằng cả hai chương trình ứng dụng</a:t>
            </a:r>
          </a:p>
          <a:p>
            <a:r>
              <a:rPr lang="vi-VN" sz="1200" kern="1200" baseline="0" dirty="0">
                <a:solidFill>
                  <a:schemeClr val="tx1"/>
                </a:solidFill>
                <a:latin typeface="Times New Roman" pitchFamily="-110" charset="0"/>
                <a:ea typeface="+mn-ea"/>
                <a:cs typeface="+mn-cs"/>
              </a:rPr>
              <a:t>và các tiện ích có thể truy cập ISA trực tiếp. Đối với các chương trình này, một tập hợp con của</a:t>
            </a:r>
          </a:p>
          <a:p>
            <a:r>
              <a:rPr lang="vi-VN" sz="1200" kern="1200" baseline="0" dirty="0">
                <a:solidFill>
                  <a:schemeClr val="tx1"/>
                </a:solidFill>
                <a:latin typeface="Times New Roman" pitchFamily="-110" charset="0"/>
                <a:ea typeface="+mn-ea"/>
                <a:cs typeface="+mn-cs"/>
              </a:rPr>
              <a:t>tiết mục giảng dạy có sẵn (người sử dụng ISA). Hệ điều hành có quyền truy cập vào</a:t>
            </a:r>
          </a:p>
          <a:p>
            <a:r>
              <a:rPr lang="vi-VN" sz="1200" kern="1200" baseline="0" dirty="0">
                <a:solidFill>
                  <a:schemeClr val="tx1"/>
                </a:solidFill>
                <a:latin typeface="Times New Roman" pitchFamily="-110" charset="0"/>
                <a:ea typeface="+mn-ea"/>
                <a:cs typeface="+mn-cs"/>
              </a:rPr>
              <a:t>hướng dẫn ngôn ngữ máy tính xử lý các tài nguyên hệ thống quản lý</a:t>
            </a:r>
          </a:p>
          <a:p>
            <a:r>
              <a:rPr lang="vi-VN" sz="1200" kern="1200" baseline="0" dirty="0">
                <a:solidFill>
                  <a:schemeClr val="tx1"/>
                </a:solidFill>
                <a:latin typeface="Times New Roman" pitchFamily="-110" charset="0"/>
                <a:ea typeface="+mn-ea"/>
                <a:cs typeface="+mn-cs"/>
              </a:rPr>
              <a:t>(hệ thống ISA).</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Giao diện nhị phân ứng dụng (ABI): ABI định nghĩa một tiêu chuẩn cho nhị phân</a:t>
            </a:r>
          </a:p>
          <a:p>
            <a:r>
              <a:rPr lang="vi-VN" sz="1200" kern="1200" baseline="0" dirty="0">
                <a:solidFill>
                  <a:schemeClr val="tx1"/>
                </a:solidFill>
                <a:latin typeface="Times New Roman" pitchFamily="-110" charset="0"/>
                <a:ea typeface="+mn-ea"/>
                <a:cs typeface="+mn-cs"/>
              </a:rPr>
              <a:t>di động qua các chương trình. ABI định nghĩa giao diện cuộc gọi hệ thống tới</a:t>
            </a:r>
          </a:p>
          <a:p>
            <a:r>
              <a:rPr lang="vi-VN" sz="1200" kern="1200" baseline="0" dirty="0">
                <a:solidFill>
                  <a:schemeClr val="tx1"/>
                </a:solidFill>
                <a:latin typeface="Times New Roman" pitchFamily="-110" charset="0"/>
                <a:ea typeface="+mn-ea"/>
                <a:cs typeface="+mn-cs"/>
              </a:rPr>
              <a:t>hệ điều hành và tài nguyên phần cứng và các dịch vụ có sẵn trong một hệ thống</a:t>
            </a:r>
          </a:p>
          <a:p>
            <a:r>
              <a:rPr lang="vi-VN" sz="1200" kern="1200" baseline="0" dirty="0">
                <a:solidFill>
                  <a:schemeClr val="tx1"/>
                </a:solidFill>
                <a:latin typeface="Times New Roman" pitchFamily="-110" charset="0"/>
                <a:ea typeface="+mn-ea"/>
                <a:cs typeface="+mn-cs"/>
              </a:rPr>
              <a:t>thông qua người sử dụng ISA.</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Giao diện lập trình ứng dụng (API): API cung cấp cho một chương trình truy cập</a:t>
            </a:r>
          </a:p>
          <a:p>
            <a:r>
              <a:rPr lang="vi-VN" sz="1200" kern="1200" baseline="0" dirty="0">
                <a:solidFill>
                  <a:schemeClr val="tx1"/>
                </a:solidFill>
                <a:latin typeface="Times New Roman" pitchFamily="-110" charset="0"/>
                <a:ea typeface="+mn-ea"/>
                <a:cs typeface="+mn-cs"/>
              </a:rPr>
              <a:t>cho các tài nguyên phần cứng và các dịch vụ có sẵn trong một hệ thống thông qua người dùng</a:t>
            </a:r>
          </a:p>
          <a:p>
            <a:r>
              <a:rPr lang="vi-VN" sz="1200" kern="1200" baseline="0" dirty="0">
                <a:solidFill>
                  <a:schemeClr val="tx1"/>
                </a:solidFill>
                <a:latin typeface="Times New Roman" pitchFamily="-110" charset="0"/>
                <a:ea typeface="+mn-ea"/>
                <a:cs typeface="+mn-cs"/>
              </a:rPr>
              <a:t>ISA bổ sung với các cuộc gọi thư viện ngôn ngữ cấp cao (HLL). Bất kỳ hệ thống nào</a:t>
            </a:r>
          </a:p>
          <a:p>
            <a:r>
              <a:rPr lang="vi-VN" sz="1200" kern="1200" baseline="0" dirty="0">
                <a:solidFill>
                  <a:schemeClr val="tx1"/>
                </a:solidFill>
                <a:latin typeface="Times New Roman" pitchFamily="-110" charset="0"/>
                <a:ea typeface="+mn-ea"/>
                <a:cs typeface="+mn-cs"/>
              </a:rPr>
              <a:t>các cuộc gọi thường được thực hiện thông qua các thư viện. Sử dụng API cho phép ứng dụng</a:t>
            </a:r>
          </a:p>
          <a:p>
            <a:r>
              <a:rPr lang="vi-VN" sz="1200" kern="1200" baseline="0" dirty="0">
                <a:solidFill>
                  <a:schemeClr val="tx1"/>
                </a:solidFill>
                <a:latin typeface="Times New Roman" pitchFamily="-110" charset="0"/>
                <a:ea typeface="+mn-ea"/>
                <a:cs typeface="+mn-cs"/>
              </a:rPr>
              <a:t>phần mềm được chuyển dễ dàng, thông qua việc biên dịch lại, sang các hệ thống khác</a:t>
            </a:r>
          </a:p>
          <a:p>
            <a:r>
              <a:rPr lang="vi-VN" sz="1200" kern="1200" baseline="0" dirty="0">
                <a:solidFill>
                  <a:schemeClr val="tx1"/>
                </a:solidFill>
                <a:latin typeface="Times New Roman" pitchFamily="-110" charset="0"/>
                <a:ea typeface="+mn-ea"/>
                <a:cs typeface="+mn-cs"/>
              </a:rPr>
              <a:t>hỗ trợ cùng một API.</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Figure 8.1 also indicates three key interfaces in a typical computer system: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Instruction set architecture (ISA): </a:t>
            </a:r>
            <a:r>
              <a:rPr lang="en-US" sz="1200" b="0" kern="1200" baseline="0" dirty="0">
                <a:solidFill>
                  <a:schemeClr val="tx1"/>
                </a:solidFill>
                <a:latin typeface="Times New Roman" pitchFamily="-110" charset="0"/>
                <a:ea typeface="+mn-ea"/>
                <a:cs typeface="+mn-cs"/>
              </a:rPr>
              <a:t>The ISA defines the repertoire of machine</a:t>
            </a:r>
          </a:p>
          <a:p>
            <a:r>
              <a:rPr lang="en-US" sz="1200" kern="1200" baseline="0" dirty="0">
                <a:solidFill>
                  <a:schemeClr val="tx1"/>
                </a:solidFill>
                <a:latin typeface="Times New Roman" pitchFamily="-110" charset="0"/>
                <a:ea typeface="+mn-ea"/>
                <a:cs typeface="+mn-cs"/>
              </a:rPr>
              <a:t>language instructions that a computer can follow. This interface is the boundary</a:t>
            </a:r>
          </a:p>
          <a:p>
            <a:r>
              <a:rPr lang="en-US" sz="1200" kern="1200" baseline="0" dirty="0">
                <a:solidFill>
                  <a:schemeClr val="tx1"/>
                </a:solidFill>
                <a:latin typeface="Times New Roman" pitchFamily="-110" charset="0"/>
                <a:ea typeface="+mn-ea"/>
                <a:cs typeface="+mn-cs"/>
              </a:rPr>
              <a:t>between hardware and software. Note that both application programs</a:t>
            </a:r>
          </a:p>
          <a:p>
            <a:r>
              <a:rPr lang="en-US" sz="1200" kern="1200" baseline="0" dirty="0">
                <a:solidFill>
                  <a:schemeClr val="tx1"/>
                </a:solidFill>
                <a:latin typeface="Times New Roman" pitchFamily="-110" charset="0"/>
                <a:ea typeface="+mn-ea"/>
                <a:cs typeface="+mn-cs"/>
              </a:rPr>
              <a:t>and utilities may access the ISA directly. For these programs, a subset of the</a:t>
            </a:r>
          </a:p>
          <a:p>
            <a:r>
              <a:rPr lang="en-US" sz="1200" kern="1200" baseline="0" dirty="0">
                <a:solidFill>
                  <a:schemeClr val="tx1"/>
                </a:solidFill>
                <a:latin typeface="Times New Roman" pitchFamily="-110" charset="0"/>
                <a:ea typeface="+mn-ea"/>
                <a:cs typeface="+mn-cs"/>
              </a:rPr>
              <a:t>instruction repertoire is available (user ISA). The OS has access to additional</a:t>
            </a:r>
          </a:p>
          <a:p>
            <a:r>
              <a:rPr lang="en-US" sz="1200" kern="1200" baseline="0" dirty="0">
                <a:solidFill>
                  <a:schemeClr val="tx1"/>
                </a:solidFill>
                <a:latin typeface="Times New Roman" pitchFamily="-110" charset="0"/>
                <a:ea typeface="+mn-ea"/>
                <a:cs typeface="+mn-cs"/>
              </a:rPr>
              <a:t>machine language instructions that deal with managing system resources</a:t>
            </a:r>
          </a:p>
          <a:p>
            <a:r>
              <a:rPr lang="en-US" sz="1200" kern="1200" baseline="0" dirty="0">
                <a:solidFill>
                  <a:schemeClr val="tx1"/>
                </a:solidFill>
                <a:latin typeface="Times New Roman" pitchFamily="-110" charset="0"/>
                <a:ea typeface="+mn-ea"/>
                <a:cs typeface="+mn-cs"/>
              </a:rPr>
              <a:t>(system ISA).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Application binary interface (ABI): </a:t>
            </a:r>
            <a:r>
              <a:rPr lang="en-US" sz="1200" b="0" kern="1200" baseline="0" dirty="0">
                <a:solidFill>
                  <a:schemeClr val="tx1"/>
                </a:solidFill>
                <a:latin typeface="Times New Roman" pitchFamily="-110" charset="0"/>
                <a:ea typeface="+mn-ea"/>
                <a:cs typeface="+mn-cs"/>
              </a:rPr>
              <a:t>The ABI defines a standard for binary</a:t>
            </a:r>
          </a:p>
          <a:p>
            <a:r>
              <a:rPr lang="en-US" sz="1200" kern="1200" baseline="0" dirty="0">
                <a:solidFill>
                  <a:schemeClr val="tx1"/>
                </a:solidFill>
                <a:latin typeface="Times New Roman" pitchFamily="-110" charset="0"/>
                <a:ea typeface="+mn-ea"/>
                <a:cs typeface="+mn-cs"/>
              </a:rPr>
              <a:t>portability across programs. The ABI defines the system call interface to the</a:t>
            </a:r>
          </a:p>
          <a:p>
            <a:r>
              <a:rPr lang="en-US" sz="1200" kern="1200" baseline="0" dirty="0">
                <a:solidFill>
                  <a:schemeClr val="tx1"/>
                </a:solidFill>
                <a:latin typeface="Times New Roman" pitchFamily="-110" charset="0"/>
                <a:ea typeface="+mn-ea"/>
                <a:cs typeface="+mn-cs"/>
              </a:rPr>
              <a:t>operating system and the hardware resources and services available in a system</a:t>
            </a:r>
          </a:p>
          <a:p>
            <a:r>
              <a:rPr lang="en-US" sz="1200" kern="1200" baseline="0" dirty="0">
                <a:solidFill>
                  <a:schemeClr val="tx1"/>
                </a:solidFill>
                <a:latin typeface="Times New Roman" pitchFamily="-110" charset="0"/>
                <a:ea typeface="+mn-ea"/>
                <a:cs typeface="+mn-cs"/>
              </a:rPr>
              <a:t>through the user ISA.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Application programming interface (API): </a:t>
            </a:r>
            <a:r>
              <a:rPr lang="en-US" sz="1200" b="0" kern="1200" baseline="0" dirty="0">
                <a:solidFill>
                  <a:schemeClr val="tx1"/>
                </a:solidFill>
                <a:latin typeface="Times New Roman" pitchFamily="-110" charset="0"/>
                <a:ea typeface="+mn-ea"/>
                <a:cs typeface="+mn-cs"/>
              </a:rPr>
              <a:t>The API gives a program access</a:t>
            </a:r>
          </a:p>
          <a:p>
            <a:r>
              <a:rPr lang="en-US" sz="1200" kern="1200" baseline="0" dirty="0">
                <a:solidFill>
                  <a:schemeClr val="tx1"/>
                </a:solidFill>
                <a:latin typeface="Times New Roman" pitchFamily="-110" charset="0"/>
                <a:ea typeface="+mn-ea"/>
                <a:cs typeface="+mn-cs"/>
              </a:rPr>
              <a:t>to the hardware resources and services available in a system through the user</a:t>
            </a:r>
          </a:p>
          <a:p>
            <a:r>
              <a:rPr lang="en-US" sz="1200" kern="1200" baseline="0" dirty="0">
                <a:solidFill>
                  <a:schemeClr val="tx1"/>
                </a:solidFill>
                <a:latin typeface="Times New Roman" pitchFamily="-110" charset="0"/>
                <a:ea typeface="+mn-ea"/>
                <a:cs typeface="+mn-cs"/>
              </a:rPr>
              <a:t>ISA supplemented with high-level language (HLL) library calls. Any system</a:t>
            </a:r>
          </a:p>
          <a:p>
            <a:r>
              <a:rPr lang="en-US" sz="1200" kern="1200" baseline="0" dirty="0">
                <a:solidFill>
                  <a:schemeClr val="tx1"/>
                </a:solidFill>
                <a:latin typeface="Times New Roman" pitchFamily="-110" charset="0"/>
                <a:ea typeface="+mn-ea"/>
                <a:cs typeface="+mn-cs"/>
              </a:rPr>
              <a:t>calls are usually performed through libraries. Using an API enables application</a:t>
            </a:r>
          </a:p>
          <a:p>
            <a:r>
              <a:rPr lang="en-US" sz="1200" kern="1200" baseline="0" dirty="0">
                <a:solidFill>
                  <a:schemeClr val="tx1"/>
                </a:solidFill>
                <a:latin typeface="Times New Roman" pitchFamily="-110" charset="0"/>
                <a:ea typeface="+mn-ea"/>
                <a:cs typeface="+mn-cs"/>
              </a:rPr>
              <a:t>software to be ported easily, through recompilation, to other systems that</a:t>
            </a:r>
          </a:p>
          <a:p>
            <a:r>
              <a:rPr lang="en-US" sz="1200" kern="1200" baseline="0" dirty="0">
                <a:solidFill>
                  <a:schemeClr val="tx1"/>
                </a:solidFill>
                <a:latin typeface="Times New Roman" pitchFamily="-110" charset="0"/>
                <a:ea typeface="+mn-ea"/>
                <a:cs typeface="+mn-cs"/>
              </a:rPr>
              <a:t>support the same API.</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659FF9-5E9E-FE46-8BFA-92FA62C23420}" type="slidenum">
              <a:rPr lang="en-US"/>
              <a:pPr/>
              <a:t>8</a:t>
            </a:fld>
            <a:endParaRPr lang="en-US"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Máy tính là tập hợp các tài nguyên cho việc di chuyển, lưu trữ và xử lý dữ liệu và để kiểm soát</a:t>
            </a:r>
          </a:p>
          <a:p>
            <a:r>
              <a:rPr lang="vi-VN" sz="1200" kern="1200" baseline="0" dirty="0">
                <a:solidFill>
                  <a:schemeClr val="tx1"/>
                </a:solidFill>
                <a:latin typeface="Times New Roman" pitchFamily="-110" charset="0"/>
                <a:ea typeface="+mn-ea"/>
                <a:cs typeface="+mn-cs"/>
              </a:rPr>
              <a:t>những chức năng này. Hệ điều hành có trách nhiệm quản lý các tài nguyên này.</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Chúng ta có thể nói rằng hệ điều hành này điều khiển sự di chuyển, lưu trữ và xử lý</a:t>
            </a:r>
          </a:p>
          <a:p>
            <a:r>
              <a:rPr lang="vi-VN" sz="1200" kern="1200" baseline="0" dirty="0">
                <a:solidFill>
                  <a:schemeClr val="tx1"/>
                </a:solidFill>
                <a:latin typeface="Times New Roman" pitchFamily="-110" charset="0"/>
                <a:ea typeface="+mn-ea"/>
                <a:cs typeface="+mn-cs"/>
              </a:rPr>
              <a:t>dữ liệu? Từ một quan điểm, câu trả lời là có: Bằng cách quản lý máy tính</a:t>
            </a:r>
          </a:p>
          <a:p>
            <a:r>
              <a:rPr lang="vi-VN" sz="1200" kern="1200" baseline="0" dirty="0">
                <a:solidFill>
                  <a:schemeClr val="tx1"/>
                </a:solidFill>
                <a:latin typeface="Times New Roman" pitchFamily="-110" charset="0"/>
                <a:ea typeface="+mn-ea"/>
                <a:cs typeface="+mn-cs"/>
              </a:rPr>
              <a:t>tài nguyên, hệ điều hành là kiểm soát các chức năng cơ bản của máy tính. Nhưng kiểm soát này là</a:t>
            </a:r>
          </a:p>
          <a:p>
            <a:r>
              <a:rPr lang="vi-VN" sz="1200" kern="1200" baseline="0" dirty="0">
                <a:solidFill>
                  <a:schemeClr val="tx1"/>
                </a:solidFill>
                <a:latin typeface="Times New Roman" pitchFamily="-110" charset="0"/>
                <a:ea typeface="+mn-ea"/>
                <a:cs typeface="+mn-cs"/>
              </a:rPr>
              <a:t>thực hiện một cách tò mò. Thông thường, chúng ta nghĩ về một cơ chế kiểm soát như một cái gì đó</a:t>
            </a:r>
          </a:p>
          <a:p>
            <a:r>
              <a:rPr lang="vi-VN" sz="1200" kern="1200" baseline="0" dirty="0">
                <a:solidFill>
                  <a:schemeClr val="tx1"/>
                </a:solidFill>
                <a:latin typeface="Times New Roman" pitchFamily="-110" charset="0"/>
                <a:ea typeface="+mn-ea"/>
                <a:cs typeface="+mn-cs"/>
              </a:rPr>
              <a:t>bên ngoài những gì được kiểm soát, hoặc ít nhất là cái gì đó là một</a:t>
            </a:r>
          </a:p>
          <a:p>
            <a:r>
              <a:rPr lang="vi-VN" sz="1200" kern="1200" baseline="0" dirty="0">
                <a:solidFill>
                  <a:schemeClr val="tx1"/>
                </a:solidFill>
                <a:latin typeface="Times New Roman" pitchFamily="-110" charset="0"/>
                <a:ea typeface="+mn-ea"/>
                <a:cs typeface="+mn-cs"/>
              </a:rPr>
              <a:t>tách biệt một phần của cái được kiểm soát. (Ví dụ, một hệ thống sưởi ấm dân cư</a:t>
            </a:r>
          </a:p>
          <a:p>
            <a:r>
              <a:rPr lang="vi-VN" sz="1200" kern="1200" baseline="0" dirty="0">
                <a:solidFill>
                  <a:schemeClr val="tx1"/>
                </a:solidFill>
                <a:latin typeface="Times New Roman" pitchFamily="-110" charset="0"/>
                <a:ea typeface="+mn-ea"/>
                <a:cs typeface="+mn-cs"/>
              </a:rPr>
              <a:t>được điều khiển bởi bộ điều chỉnh nhiệt, hoàn toàn khác biệt với nhiệt sinh</a:t>
            </a:r>
          </a:p>
          <a:p>
            <a:r>
              <a:rPr lang="vi-VN" sz="1200" kern="1200" baseline="0" dirty="0">
                <a:solidFill>
                  <a:schemeClr val="tx1"/>
                </a:solidFill>
                <a:latin typeface="Times New Roman" pitchFamily="-110" charset="0"/>
                <a:ea typeface="+mn-ea"/>
                <a:cs typeface="+mn-cs"/>
              </a:rPr>
              <a:t>và thiết bị phân phối nhiệt). Đây không phải là trường hợp với hệ điều hành, mà là một điều khiển</a:t>
            </a:r>
          </a:p>
          <a:p>
            <a:r>
              <a:rPr lang="vi-VN" sz="1200" kern="1200" baseline="0" dirty="0">
                <a:solidFill>
                  <a:schemeClr val="tx1"/>
                </a:solidFill>
                <a:latin typeface="Times New Roman" pitchFamily="-110" charset="0"/>
                <a:ea typeface="+mn-ea"/>
                <a:cs typeface="+mn-cs"/>
              </a:rPr>
              <a:t>cơ chế là không bình thường ở hai khía cạnh: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Các chức năng của hệ điều hành giống như phần mềm máy tính thông thường; đó là, nó là</a:t>
            </a:r>
          </a:p>
          <a:p>
            <a:r>
              <a:rPr lang="vi-VN" sz="1200" kern="1200" baseline="0" dirty="0">
                <a:solidFill>
                  <a:schemeClr val="tx1"/>
                </a:solidFill>
                <a:latin typeface="Times New Roman" pitchFamily="-110" charset="0"/>
                <a:ea typeface="+mn-ea"/>
                <a:cs typeface="+mn-cs"/>
              </a:rPr>
              <a:t>một chương trình được thực hiện bởi bộ vi xử lý.</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Hệ điều hành thường từ bỏ kiểm soát và phải phụ thuộc vào bộ vi xử lý để</a:t>
            </a:r>
          </a:p>
          <a:p>
            <a:r>
              <a:rPr lang="vi-VN" sz="1200" kern="1200" baseline="0" dirty="0">
                <a:solidFill>
                  <a:schemeClr val="tx1"/>
                </a:solidFill>
                <a:latin typeface="Times New Roman" pitchFamily="-110" charset="0"/>
                <a:ea typeface="+mn-ea"/>
                <a:cs typeface="+mn-cs"/>
              </a:rPr>
              <a:t>cho phép nó lấy lại quyền kiểm soát.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Giống như các chương trình máy tính khác, hệ điều hành cung cấp hướng dẫn cho bộ xử lý.</a:t>
            </a:r>
          </a:p>
          <a:p>
            <a:r>
              <a:rPr lang="vi-VN" sz="1200" kern="1200" baseline="0" dirty="0">
                <a:solidFill>
                  <a:schemeClr val="tx1"/>
                </a:solidFill>
                <a:latin typeface="Times New Roman" pitchFamily="-110" charset="0"/>
                <a:ea typeface="+mn-ea"/>
                <a:cs typeface="+mn-cs"/>
              </a:rPr>
              <a:t>Sự khác biệt chính là trong ý định của chương trình. Hệ điều hành chỉ đạo bộ vi xử lý</a:t>
            </a:r>
          </a:p>
          <a:p>
            <a:r>
              <a:rPr lang="vi-VN" sz="1200" kern="1200" baseline="0" dirty="0">
                <a:solidFill>
                  <a:schemeClr val="tx1"/>
                </a:solidFill>
                <a:latin typeface="Times New Roman" pitchFamily="-110" charset="0"/>
                <a:ea typeface="+mn-ea"/>
                <a:cs typeface="+mn-cs"/>
              </a:rPr>
              <a:t>trong việc sử dụng các tài nguyên hệ thống khác và trong thời gian thực hiện của nó khác</a:t>
            </a:r>
          </a:p>
          <a:p>
            <a:r>
              <a:rPr lang="vi-VN" sz="1200" kern="1200" baseline="0" dirty="0">
                <a:solidFill>
                  <a:schemeClr val="tx1"/>
                </a:solidFill>
                <a:latin typeface="Times New Roman" pitchFamily="-110" charset="0"/>
                <a:ea typeface="+mn-ea"/>
                <a:cs typeface="+mn-cs"/>
              </a:rPr>
              <a:t>chương trình. Nhưng để cho bộ vi xử lý thực hiện bất kỳ điều này, nó phải dừng lại</a:t>
            </a:r>
          </a:p>
          <a:p>
            <a:r>
              <a:rPr lang="vi-VN" sz="1200" kern="1200" baseline="0" dirty="0">
                <a:solidFill>
                  <a:schemeClr val="tx1"/>
                </a:solidFill>
                <a:latin typeface="Times New Roman" pitchFamily="-110" charset="0"/>
                <a:ea typeface="+mn-ea"/>
                <a:cs typeface="+mn-cs"/>
              </a:rPr>
              <a:t>thực hiện chương trình hệ điều hành và thực hiện các chương trình khác. Do đó, hệ điều hành từ bỏ</a:t>
            </a:r>
          </a:p>
          <a:p>
            <a:r>
              <a:rPr lang="vi-VN" sz="1200" kern="1200" baseline="0" dirty="0">
                <a:solidFill>
                  <a:schemeClr val="tx1"/>
                </a:solidFill>
                <a:latin typeface="Times New Roman" pitchFamily="-110" charset="0"/>
                <a:ea typeface="+mn-ea"/>
                <a:cs typeface="+mn-cs"/>
              </a:rPr>
              <a:t>kiểm soát cho bộ xử lý để làm một số công việc "hữu ích" và sau đó hồ sơ kiểm soát dài</a:t>
            </a:r>
          </a:p>
          <a:p>
            <a:r>
              <a:rPr lang="vi-VN" sz="1200" kern="1200" baseline="0" dirty="0">
                <a:solidFill>
                  <a:schemeClr val="tx1"/>
                </a:solidFill>
                <a:latin typeface="Times New Roman" pitchFamily="-110" charset="0"/>
                <a:ea typeface="+mn-ea"/>
                <a:cs typeface="+mn-cs"/>
              </a:rPr>
              <a:t>đủ để chuẩn bị cho bộ vi xử lý để thực hiện công việc tiếp theo. Các cơ chế</a:t>
            </a:r>
          </a:p>
          <a:p>
            <a:r>
              <a:rPr lang="vi-VN" sz="1200" kern="1200" baseline="0" dirty="0">
                <a:solidFill>
                  <a:schemeClr val="tx1"/>
                </a:solidFill>
                <a:latin typeface="Times New Roman" pitchFamily="-110" charset="0"/>
                <a:ea typeface="+mn-ea"/>
                <a:cs typeface="+mn-cs"/>
              </a:rPr>
              <a:t>tham gia vào tất cả những điều này sẽ trở nên rõ ràng khi chương tiến hành.</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 computer is a set of resources for the movement, storage, and processing of data and for the control of</a:t>
            </a:r>
          </a:p>
          <a:p>
            <a:r>
              <a:rPr lang="en-US" sz="1200" kern="1200" baseline="0" dirty="0">
                <a:solidFill>
                  <a:schemeClr val="tx1"/>
                </a:solidFill>
                <a:latin typeface="Times New Roman" pitchFamily="-110" charset="0"/>
                <a:ea typeface="+mn-ea"/>
                <a:cs typeface="+mn-cs"/>
              </a:rPr>
              <a:t>these functions. The OS is responsible for managing these resources.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Can we say that the OS controls the movement, storage, and processing of</a:t>
            </a:r>
          </a:p>
          <a:p>
            <a:r>
              <a:rPr lang="en-US" sz="1200" kern="1200" baseline="0" dirty="0">
                <a:solidFill>
                  <a:schemeClr val="tx1"/>
                </a:solidFill>
                <a:latin typeface="Times New Roman" pitchFamily="-110" charset="0"/>
                <a:ea typeface="+mn-ea"/>
                <a:cs typeface="+mn-cs"/>
              </a:rPr>
              <a:t>data? From one point of view, the answer is yes: By managing the computer’s</a:t>
            </a:r>
          </a:p>
          <a:p>
            <a:r>
              <a:rPr lang="en-US" sz="1200" kern="1200" baseline="0" dirty="0">
                <a:solidFill>
                  <a:schemeClr val="tx1"/>
                </a:solidFill>
                <a:latin typeface="Times New Roman" pitchFamily="-110" charset="0"/>
                <a:ea typeface="+mn-ea"/>
                <a:cs typeface="+mn-cs"/>
              </a:rPr>
              <a:t>resources, the OS is in control of the computer’s basic functions. But this control is</a:t>
            </a:r>
          </a:p>
          <a:p>
            <a:r>
              <a:rPr lang="en-US" sz="1200" kern="1200" baseline="0" dirty="0">
                <a:solidFill>
                  <a:schemeClr val="tx1"/>
                </a:solidFill>
                <a:latin typeface="Times New Roman" pitchFamily="-110" charset="0"/>
                <a:ea typeface="+mn-ea"/>
                <a:cs typeface="+mn-cs"/>
              </a:rPr>
              <a:t>exercised in a curious way. Normally, we think of a control mechanism as something</a:t>
            </a:r>
          </a:p>
          <a:p>
            <a:r>
              <a:rPr lang="en-US" sz="1200" kern="1200" baseline="0" dirty="0">
                <a:solidFill>
                  <a:schemeClr val="tx1"/>
                </a:solidFill>
                <a:latin typeface="Times New Roman" pitchFamily="-110" charset="0"/>
                <a:ea typeface="+mn-ea"/>
                <a:cs typeface="+mn-cs"/>
              </a:rPr>
              <a:t>external to that which is controlled, or at least as something that is a distinct and</a:t>
            </a:r>
          </a:p>
          <a:p>
            <a:r>
              <a:rPr lang="en-US" sz="1200" kern="1200" baseline="0" dirty="0">
                <a:solidFill>
                  <a:schemeClr val="tx1"/>
                </a:solidFill>
                <a:latin typeface="Times New Roman" pitchFamily="-110" charset="0"/>
                <a:ea typeface="+mn-ea"/>
                <a:cs typeface="+mn-cs"/>
              </a:rPr>
              <a:t>separate part of that which is controlled. (For example, a residential heating system</a:t>
            </a:r>
          </a:p>
          <a:p>
            <a:r>
              <a:rPr lang="en-US" sz="1200" kern="1200" baseline="0" dirty="0">
                <a:solidFill>
                  <a:schemeClr val="tx1"/>
                </a:solidFill>
                <a:latin typeface="Times New Roman" pitchFamily="-110" charset="0"/>
                <a:ea typeface="+mn-ea"/>
                <a:cs typeface="+mn-cs"/>
              </a:rPr>
              <a:t>is controlled by a thermostat, which is completely distinct from the heat-generation</a:t>
            </a:r>
          </a:p>
          <a:p>
            <a:r>
              <a:rPr lang="en-US" sz="1200" kern="1200" baseline="0" dirty="0">
                <a:solidFill>
                  <a:schemeClr val="tx1"/>
                </a:solidFill>
                <a:latin typeface="Times New Roman" pitchFamily="-110" charset="0"/>
                <a:ea typeface="+mn-ea"/>
                <a:cs typeface="+mn-cs"/>
              </a:rPr>
              <a:t>and heat-distribution apparatus.) This is not the case with the OS, which as a control</a:t>
            </a:r>
          </a:p>
          <a:p>
            <a:r>
              <a:rPr lang="en-US" sz="1200" kern="1200" baseline="0" dirty="0">
                <a:solidFill>
                  <a:schemeClr val="tx1"/>
                </a:solidFill>
                <a:latin typeface="Times New Roman" pitchFamily="-110" charset="0"/>
                <a:ea typeface="+mn-ea"/>
                <a:cs typeface="+mn-cs"/>
              </a:rPr>
              <a:t>mechanism is unusual in two respects: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OS functions in the same way as ordinary computer software; that is, it is</a:t>
            </a:r>
          </a:p>
          <a:p>
            <a:r>
              <a:rPr lang="en-US" sz="1200" kern="1200" baseline="0" dirty="0">
                <a:solidFill>
                  <a:schemeClr val="tx1"/>
                </a:solidFill>
                <a:latin typeface="Times New Roman" pitchFamily="-110" charset="0"/>
                <a:ea typeface="+mn-ea"/>
                <a:cs typeface="+mn-cs"/>
              </a:rPr>
              <a:t>a program executed by the processor.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OS frequently relinquishes control and must depend on the processor to</a:t>
            </a:r>
          </a:p>
          <a:p>
            <a:r>
              <a:rPr lang="en-US" sz="1200" kern="1200" baseline="0" dirty="0">
                <a:solidFill>
                  <a:schemeClr val="tx1"/>
                </a:solidFill>
                <a:latin typeface="Times New Roman" pitchFamily="-110" charset="0"/>
                <a:ea typeface="+mn-ea"/>
                <a:cs typeface="+mn-cs"/>
              </a:rPr>
              <a:t>allow it to regain control.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Like other computer programs, the OS provides instructions for the processor.</a:t>
            </a:r>
          </a:p>
          <a:p>
            <a:r>
              <a:rPr lang="en-US" sz="1200" kern="1200" baseline="0" dirty="0">
                <a:solidFill>
                  <a:schemeClr val="tx1"/>
                </a:solidFill>
                <a:latin typeface="Times New Roman" pitchFamily="-110" charset="0"/>
                <a:ea typeface="+mn-ea"/>
                <a:cs typeface="+mn-cs"/>
              </a:rPr>
              <a:t>The key difference is in the intent of the program. The OS directs the processor</a:t>
            </a:r>
          </a:p>
          <a:p>
            <a:r>
              <a:rPr lang="en-US" sz="1200" kern="1200" baseline="0" dirty="0">
                <a:solidFill>
                  <a:schemeClr val="tx1"/>
                </a:solidFill>
                <a:latin typeface="Times New Roman" pitchFamily="-110" charset="0"/>
                <a:ea typeface="+mn-ea"/>
                <a:cs typeface="+mn-cs"/>
              </a:rPr>
              <a:t>in the use of the other system resources and in the timing of its execution of other</a:t>
            </a:r>
          </a:p>
          <a:p>
            <a:r>
              <a:rPr lang="en-US" sz="1200" kern="1200" baseline="0" dirty="0">
                <a:solidFill>
                  <a:schemeClr val="tx1"/>
                </a:solidFill>
                <a:latin typeface="Times New Roman" pitchFamily="-110" charset="0"/>
                <a:ea typeface="+mn-ea"/>
                <a:cs typeface="+mn-cs"/>
              </a:rPr>
              <a:t>programs. But in order for the processor to do any of these things, it must cease</a:t>
            </a:r>
          </a:p>
          <a:p>
            <a:r>
              <a:rPr lang="en-US" sz="1200" kern="1200" baseline="0" dirty="0">
                <a:solidFill>
                  <a:schemeClr val="tx1"/>
                </a:solidFill>
                <a:latin typeface="Times New Roman" pitchFamily="-110" charset="0"/>
                <a:ea typeface="+mn-ea"/>
                <a:cs typeface="+mn-cs"/>
              </a:rPr>
              <a:t>executing the OS program and execute other programs. Thus, the OS relinquishes</a:t>
            </a:r>
          </a:p>
          <a:p>
            <a:r>
              <a:rPr lang="en-US" sz="1200" kern="1200" baseline="0" dirty="0">
                <a:solidFill>
                  <a:schemeClr val="tx1"/>
                </a:solidFill>
                <a:latin typeface="Times New Roman" pitchFamily="-110" charset="0"/>
                <a:ea typeface="+mn-ea"/>
                <a:cs typeface="+mn-cs"/>
              </a:rPr>
              <a:t>control for the processor to do some “useful” work and then resumes control long</a:t>
            </a:r>
          </a:p>
          <a:p>
            <a:r>
              <a:rPr lang="en-US" sz="1200" kern="1200" baseline="0" dirty="0">
                <a:solidFill>
                  <a:schemeClr val="tx1"/>
                </a:solidFill>
                <a:latin typeface="Times New Roman" pitchFamily="-110" charset="0"/>
                <a:ea typeface="+mn-ea"/>
                <a:cs typeface="+mn-cs"/>
              </a:rPr>
              <a:t>enough to prepare the processor to do the next piece of work. The mechanisms</a:t>
            </a:r>
          </a:p>
          <a:p>
            <a:r>
              <a:rPr lang="en-US" sz="1200" kern="1200" baseline="0" dirty="0">
                <a:solidFill>
                  <a:schemeClr val="tx1"/>
                </a:solidFill>
                <a:latin typeface="Times New Roman" pitchFamily="-110" charset="0"/>
                <a:ea typeface="+mn-ea"/>
                <a:cs typeface="+mn-cs"/>
              </a:rPr>
              <a:t>involved in all this should become clear as the chapter proceeds.</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ABA50A-553A-EF41-8DAC-6CABEE49A825}" type="slidenum">
              <a:rPr lang="en-US"/>
              <a:pPr/>
              <a:t>9</a:t>
            </a:fld>
            <a:endParaRPr lang="en-US" dirty="0"/>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Hình 8.2 cho thấy các tài nguyên chính được quản lý bởi hệ điều hành. Một phần</a:t>
            </a:r>
          </a:p>
          <a:p>
            <a:r>
              <a:rPr lang="vi-VN" sz="1200" kern="1200" baseline="0" dirty="0">
                <a:solidFill>
                  <a:schemeClr val="tx1"/>
                </a:solidFill>
                <a:latin typeface="Times New Roman" pitchFamily="-110" charset="0"/>
                <a:ea typeface="+mn-ea"/>
                <a:cs typeface="+mn-cs"/>
              </a:rPr>
              <a:t>của hệ điều hành là trong bộ nhớ chính. Điều này bao gồm hạt nhân, hoặc hạt nhân, có chứa</a:t>
            </a:r>
          </a:p>
          <a:p>
            <a:r>
              <a:rPr lang="vi-VN" sz="1200" kern="1200" baseline="0" dirty="0">
                <a:solidFill>
                  <a:schemeClr val="tx1"/>
                </a:solidFill>
                <a:latin typeface="Times New Roman" pitchFamily="-110" charset="0"/>
                <a:ea typeface="+mn-ea"/>
                <a:cs typeface="+mn-cs"/>
              </a:rPr>
              <a:t>các chức năng được sử dụng nhiều nhất trong hệ điều hành và, tại một thời điểm nhất định, các phần khác của</a:t>
            </a:r>
          </a:p>
          <a:p>
            <a:r>
              <a:rPr lang="vi-VN" sz="1200" kern="1200" baseline="0" dirty="0">
                <a:solidFill>
                  <a:schemeClr val="tx1"/>
                </a:solidFill>
                <a:latin typeface="Times New Roman" pitchFamily="-110" charset="0"/>
                <a:ea typeface="+mn-ea"/>
                <a:cs typeface="+mn-cs"/>
              </a:rPr>
              <a:t>hệ điều hành đang được sử dụng. Phần còn lại của bộ nhớ chính chứa các chương trình người dùng và</a:t>
            </a:r>
          </a:p>
          <a:p>
            <a:r>
              <a:rPr lang="vi-VN" sz="1200" kern="1200" baseline="0" dirty="0">
                <a:solidFill>
                  <a:schemeClr val="tx1"/>
                </a:solidFill>
                <a:latin typeface="Times New Roman" pitchFamily="-110" charset="0"/>
                <a:ea typeface="+mn-ea"/>
                <a:cs typeface="+mn-cs"/>
              </a:rPr>
              <a:t>dữ liệu. Việc phân bổ tài nguyên này (bộ nhớ chính) được điều khiển cùng nhau bởi hệ điều hành</a:t>
            </a:r>
          </a:p>
          <a:p>
            <a:r>
              <a:rPr lang="vi-VN" sz="1200" kern="1200" baseline="0" dirty="0">
                <a:solidFill>
                  <a:schemeClr val="tx1"/>
                </a:solidFill>
                <a:latin typeface="Times New Roman" pitchFamily="-110" charset="0"/>
                <a:ea typeface="+mn-ea"/>
                <a:cs typeface="+mn-cs"/>
              </a:rPr>
              <a:t>và phần cứng quản lý bộ nhớ trong bộ xử lý, như chúng ta sẽ thấy. Hệ điều hành quyết định</a:t>
            </a:r>
          </a:p>
          <a:p>
            <a:r>
              <a:rPr lang="vi-VN" sz="1200" kern="1200" baseline="0" dirty="0">
                <a:solidFill>
                  <a:schemeClr val="tx1"/>
                </a:solidFill>
                <a:latin typeface="Times New Roman" pitchFamily="-110" charset="0"/>
                <a:ea typeface="+mn-ea"/>
                <a:cs typeface="+mn-cs"/>
              </a:rPr>
              <a:t>khi một thiết bị I / O có thể được sử dụng bởi một chương trình đang thực hiện, và kiểm soát truy cập vào và</a:t>
            </a:r>
          </a:p>
          <a:p>
            <a:r>
              <a:rPr lang="vi-VN" sz="1200" kern="1200" baseline="0" dirty="0">
                <a:solidFill>
                  <a:schemeClr val="tx1"/>
                </a:solidFill>
                <a:latin typeface="Times New Roman" pitchFamily="-110" charset="0"/>
                <a:ea typeface="+mn-ea"/>
                <a:cs typeface="+mn-cs"/>
              </a:rPr>
              <a:t>sử dụng các tập tin. Bộ xử lý chính nó là một tài nguyên, và hệ điều hành phải xác định bao nhiêu</a:t>
            </a:r>
          </a:p>
          <a:p>
            <a:r>
              <a:rPr lang="vi-VN" sz="1200" kern="1200" baseline="0" dirty="0">
                <a:solidFill>
                  <a:schemeClr val="tx1"/>
                </a:solidFill>
                <a:latin typeface="Times New Roman" pitchFamily="-110" charset="0"/>
                <a:ea typeface="+mn-ea"/>
                <a:cs typeface="+mn-cs"/>
              </a:rPr>
              <a:t>thời gian xử lý sẽ được dành cho việc thực hiện một chương trình người dùng cụ thể. bên trong</a:t>
            </a:r>
          </a:p>
          <a:p>
            <a:r>
              <a:rPr lang="vi-VN" sz="1200" kern="1200" baseline="0" dirty="0">
                <a:solidFill>
                  <a:schemeClr val="tx1"/>
                </a:solidFill>
                <a:latin typeface="Times New Roman" pitchFamily="-110" charset="0"/>
                <a:ea typeface="+mn-ea"/>
                <a:cs typeface="+mn-cs"/>
              </a:rPr>
              <a:t>trường hợp của một hệ thống xử lý nhiều, quyết định này phải trải dài tất cả các bộ vi xử lý.</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Figure 8.2 suggests the main resources that are managed by the OS. A portion</a:t>
            </a:r>
          </a:p>
          <a:p>
            <a:r>
              <a:rPr lang="en-US" sz="1200" kern="1200" baseline="0" dirty="0">
                <a:solidFill>
                  <a:schemeClr val="tx1"/>
                </a:solidFill>
                <a:latin typeface="Times New Roman" pitchFamily="-110" charset="0"/>
                <a:ea typeface="+mn-ea"/>
                <a:cs typeface="+mn-cs"/>
              </a:rPr>
              <a:t>of the OS is in main memory. This includes the </a:t>
            </a:r>
            <a:r>
              <a:rPr lang="en-US" sz="1200" b="1" kern="1200" baseline="0" dirty="0">
                <a:solidFill>
                  <a:schemeClr val="tx1"/>
                </a:solidFill>
                <a:latin typeface="Times New Roman" pitchFamily="-110" charset="0"/>
                <a:ea typeface="+mn-ea"/>
                <a:cs typeface="+mn-cs"/>
              </a:rPr>
              <a:t>kernel, or nucleus, which contains</a:t>
            </a:r>
          </a:p>
          <a:p>
            <a:r>
              <a:rPr lang="en-US" sz="1200" kern="1200" baseline="0" dirty="0">
                <a:solidFill>
                  <a:schemeClr val="tx1"/>
                </a:solidFill>
                <a:latin typeface="Times New Roman" pitchFamily="-110" charset="0"/>
                <a:ea typeface="+mn-ea"/>
                <a:cs typeface="+mn-cs"/>
              </a:rPr>
              <a:t>the most frequently used functions in the OS and, at a given time, other portions of</a:t>
            </a:r>
          </a:p>
          <a:p>
            <a:r>
              <a:rPr lang="en-US" sz="1200" kern="1200" baseline="0" dirty="0">
                <a:solidFill>
                  <a:schemeClr val="tx1"/>
                </a:solidFill>
                <a:latin typeface="Times New Roman" pitchFamily="-110" charset="0"/>
                <a:ea typeface="+mn-ea"/>
                <a:cs typeface="+mn-cs"/>
              </a:rPr>
              <a:t>the OS currently in use. The remainder of main memory contains user programs and</a:t>
            </a:r>
          </a:p>
          <a:p>
            <a:r>
              <a:rPr lang="en-US" sz="1200" kern="1200" baseline="0" dirty="0">
                <a:solidFill>
                  <a:schemeClr val="tx1"/>
                </a:solidFill>
                <a:latin typeface="Times New Roman" pitchFamily="-110" charset="0"/>
                <a:ea typeface="+mn-ea"/>
                <a:cs typeface="+mn-cs"/>
              </a:rPr>
              <a:t>data. The allocation of this resource (main memory) is controlled jointly by the OS</a:t>
            </a:r>
          </a:p>
          <a:p>
            <a:r>
              <a:rPr lang="en-US" sz="1200" kern="1200" baseline="0" dirty="0">
                <a:solidFill>
                  <a:schemeClr val="tx1"/>
                </a:solidFill>
                <a:latin typeface="Times New Roman" pitchFamily="-110" charset="0"/>
                <a:ea typeface="+mn-ea"/>
                <a:cs typeface="+mn-cs"/>
              </a:rPr>
              <a:t>and memory-management hardware in the processor, as we shall see. The OS decides</a:t>
            </a:r>
          </a:p>
          <a:p>
            <a:r>
              <a:rPr lang="en-US" sz="1200" kern="1200" baseline="0" dirty="0">
                <a:solidFill>
                  <a:schemeClr val="tx1"/>
                </a:solidFill>
                <a:latin typeface="Times New Roman" pitchFamily="-110" charset="0"/>
                <a:ea typeface="+mn-ea"/>
                <a:cs typeface="+mn-cs"/>
              </a:rPr>
              <a:t>when an I/O device can be used by a program in execution, and controls access to and</a:t>
            </a:r>
          </a:p>
          <a:p>
            <a:r>
              <a:rPr lang="en-US" sz="1200" kern="1200" baseline="0" dirty="0">
                <a:solidFill>
                  <a:schemeClr val="tx1"/>
                </a:solidFill>
                <a:latin typeface="Times New Roman" pitchFamily="-110" charset="0"/>
                <a:ea typeface="+mn-ea"/>
                <a:cs typeface="+mn-cs"/>
              </a:rPr>
              <a:t>use of files. The processor itself is a resource, and the OS must determine how much</a:t>
            </a:r>
          </a:p>
          <a:p>
            <a:r>
              <a:rPr lang="en-US" sz="1200" kern="1200" baseline="0" dirty="0">
                <a:solidFill>
                  <a:schemeClr val="tx1"/>
                </a:solidFill>
                <a:latin typeface="Times New Roman" pitchFamily="-110" charset="0"/>
                <a:ea typeface="+mn-ea"/>
                <a:cs typeface="+mn-cs"/>
              </a:rPr>
              <a:t>processor time is to be devoted to the execution of a particular user program. In the</a:t>
            </a:r>
          </a:p>
          <a:p>
            <a:r>
              <a:rPr lang="en-US" sz="1200" kern="1200" baseline="0" dirty="0">
                <a:solidFill>
                  <a:schemeClr val="tx1"/>
                </a:solidFill>
                <a:latin typeface="Times New Roman" pitchFamily="-110" charset="0"/>
                <a:ea typeface="+mn-ea"/>
                <a:cs typeface="+mn-cs"/>
              </a:rPr>
              <a:t>case of a multiple-processor system, this decision must span all of the processors.</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822FD9-71F5-0448-A4D9-6384A2CD03B9}" type="slidenum">
              <a:rPr lang="en-US"/>
              <a:pPr/>
              <a:t>10</a:t>
            </a:fld>
            <a:endParaRPr lang="en-US" dirty="0"/>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Hệ thống tương tác</a:t>
            </a:r>
          </a:p>
          <a:p>
            <a:r>
              <a:rPr lang="vi-VN" sz="1200" kern="1200" baseline="0" dirty="0">
                <a:solidFill>
                  <a:schemeClr val="tx1"/>
                </a:solidFill>
                <a:latin typeface="Times New Roman" pitchFamily="-110" charset="0"/>
                <a:ea typeface="+mn-ea"/>
                <a:cs typeface="+mn-cs"/>
              </a:rPr>
              <a:t>Người sử dụng / lập trình tương tác trực tiếp với máy tính để yêu cầu thực hiện một công việc hoặc thực hiện một giao dịch</a:t>
            </a:r>
          </a:p>
          <a:p>
            <a:r>
              <a:rPr lang="vi-VN" sz="1200" kern="1200" baseline="0" dirty="0">
                <a:solidFill>
                  <a:schemeClr val="tx1"/>
                </a:solidFill>
                <a:latin typeface="Times New Roman" pitchFamily="-110" charset="0"/>
                <a:ea typeface="+mn-ea"/>
                <a:cs typeface="+mn-cs"/>
              </a:rPr>
              <a:t>Người sử dụng có thể, tùy thuộc vào tính chất của ứng dụng, giao tiếp với máy tính trong quá trình thực hiện công việc</a:t>
            </a:r>
          </a:p>
          <a:p>
            <a:r>
              <a:rPr lang="vi-VN" sz="1200" kern="1200" baseline="0" dirty="0">
                <a:solidFill>
                  <a:schemeClr val="tx1"/>
                </a:solidFill>
                <a:latin typeface="Times New Roman" pitchFamily="-110" charset="0"/>
                <a:ea typeface="+mn-ea"/>
                <a:cs typeface="+mn-cs"/>
              </a:rPr>
              <a:t>Hệ thống lô</a:t>
            </a:r>
          </a:p>
          <a:p>
            <a:r>
              <a:rPr lang="vi-VN" sz="1200" kern="1200" baseline="0" dirty="0">
                <a:solidFill>
                  <a:schemeClr val="tx1"/>
                </a:solidFill>
                <a:latin typeface="Times New Roman" pitchFamily="-110" charset="0"/>
                <a:ea typeface="+mn-ea"/>
                <a:cs typeface="+mn-cs"/>
              </a:rPr>
              <a:t>Đối diện của tương tác</a:t>
            </a:r>
          </a:p>
          <a:p>
            <a:r>
              <a:rPr lang="vi-VN" sz="1200" kern="1200" baseline="0" dirty="0">
                <a:solidFill>
                  <a:schemeClr val="tx1"/>
                </a:solidFill>
                <a:latin typeface="Times New Roman" pitchFamily="-110" charset="0"/>
                <a:ea typeface="+mn-ea"/>
                <a:cs typeface="+mn-cs"/>
              </a:rPr>
              <a:t>Chương trình của người dùng được trộn theo các chương trình từ những người dùng khác và gửi bởi một nhà điều hành máy tính</a:t>
            </a:r>
          </a:p>
          <a:p>
            <a:r>
              <a:rPr lang="vi-VN" sz="1200" kern="1200" baseline="0" dirty="0">
                <a:solidFill>
                  <a:schemeClr val="tx1"/>
                </a:solidFill>
                <a:latin typeface="Times New Roman" pitchFamily="-110" charset="0"/>
                <a:ea typeface="+mn-ea"/>
                <a:cs typeface="+mn-cs"/>
              </a:rPr>
              <a:t>Sau khi chương trình kết thúc các kết quả được in ra cho người sử dụng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Certain key characteristics serve to differentiate various types of operating systems.</a:t>
            </a:r>
          </a:p>
          <a:p>
            <a:r>
              <a:rPr lang="en-US" sz="1200" kern="1200" baseline="0" dirty="0">
                <a:solidFill>
                  <a:schemeClr val="tx1"/>
                </a:solidFill>
                <a:latin typeface="Times New Roman" pitchFamily="-110" charset="0"/>
                <a:ea typeface="+mn-ea"/>
                <a:cs typeface="+mn-cs"/>
              </a:rPr>
              <a:t>The characteristics fall along two independent dimensions. The first dimension</a:t>
            </a:r>
          </a:p>
          <a:p>
            <a:r>
              <a:rPr lang="en-US" sz="1200" kern="1200" baseline="0" dirty="0">
                <a:solidFill>
                  <a:schemeClr val="tx1"/>
                </a:solidFill>
                <a:latin typeface="Times New Roman" pitchFamily="-110" charset="0"/>
                <a:ea typeface="+mn-ea"/>
                <a:cs typeface="+mn-cs"/>
              </a:rPr>
              <a:t>specifies whether the system is batch or interactive. In an </a:t>
            </a:r>
            <a:r>
              <a:rPr lang="en-US" sz="1200" b="1" kern="1200" baseline="0" dirty="0">
                <a:solidFill>
                  <a:schemeClr val="tx1"/>
                </a:solidFill>
                <a:latin typeface="Times New Roman" pitchFamily="-110" charset="0"/>
                <a:ea typeface="+mn-ea"/>
                <a:cs typeface="+mn-cs"/>
              </a:rPr>
              <a:t>interactive system</a:t>
            </a:r>
            <a:r>
              <a:rPr lang="en-US" sz="1200" b="0" kern="1200" baseline="0" dirty="0">
                <a:solidFill>
                  <a:schemeClr val="tx1"/>
                </a:solidFill>
                <a:latin typeface="Times New Roman" pitchFamily="-110" charset="0"/>
                <a:ea typeface="+mn-ea"/>
                <a:cs typeface="+mn-cs"/>
              </a:rPr>
              <a:t>, the</a:t>
            </a:r>
          </a:p>
          <a:p>
            <a:r>
              <a:rPr lang="en-US" sz="1200" kern="1200" baseline="0" dirty="0">
                <a:solidFill>
                  <a:schemeClr val="tx1"/>
                </a:solidFill>
                <a:latin typeface="Times New Roman" pitchFamily="-110" charset="0"/>
                <a:ea typeface="+mn-ea"/>
                <a:cs typeface="+mn-cs"/>
              </a:rPr>
              <a:t>user/programmer interacts directly with the computer, usually through a keyboard/</a:t>
            </a:r>
          </a:p>
          <a:p>
            <a:r>
              <a:rPr lang="en-US" sz="1200" kern="1200" baseline="0" dirty="0">
                <a:solidFill>
                  <a:schemeClr val="tx1"/>
                </a:solidFill>
                <a:latin typeface="Times New Roman" pitchFamily="-110" charset="0"/>
                <a:ea typeface="+mn-ea"/>
                <a:cs typeface="+mn-cs"/>
              </a:rPr>
              <a:t>display terminal, to request the execution of a job or to perform a transaction.</a:t>
            </a:r>
          </a:p>
          <a:p>
            <a:r>
              <a:rPr lang="en-US" sz="1200" kern="1200" baseline="0" dirty="0">
                <a:solidFill>
                  <a:schemeClr val="tx1"/>
                </a:solidFill>
                <a:latin typeface="Times New Roman" pitchFamily="-110" charset="0"/>
                <a:ea typeface="+mn-ea"/>
                <a:cs typeface="+mn-cs"/>
              </a:rPr>
              <a:t>Furthermore, the user may, depending on the nature of the application, communicate</a:t>
            </a:r>
          </a:p>
          <a:p>
            <a:r>
              <a:rPr lang="en-US" sz="1200" kern="1200" baseline="0" dirty="0">
                <a:solidFill>
                  <a:schemeClr val="tx1"/>
                </a:solidFill>
                <a:latin typeface="Times New Roman" pitchFamily="-110" charset="0"/>
                <a:ea typeface="+mn-ea"/>
                <a:cs typeface="+mn-cs"/>
              </a:rPr>
              <a:t>with the computer during the execution of the job. A </a:t>
            </a:r>
            <a:r>
              <a:rPr lang="en-US" sz="1200" b="1" kern="1200" baseline="0" dirty="0">
                <a:solidFill>
                  <a:schemeClr val="tx1"/>
                </a:solidFill>
                <a:latin typeface="Times New Roman" pitchFamily="-110" charset="0"/>
                <a:ea typeface="+mn-ea"/>
                <a:cs typeface="+mn-cs"/>
              </a:rPr>
              <a:t>batch system </a:t>
            </a:r>
            <a:r>
              <a:rPr lang="en-US" sz="1200" b="0" kern="1200" baseline="0" dirty="0">
                <a:solidFill>
                  <a:schemeClr val="tx1"/>
                </a:solidFill>
                <a:latin typeface="Times New Roman" pitchFamily="-110" charset="0"/>
                <a:ea typeface="+mn-ea"/>
                <a:cs typeface="+mn-cs"/>
              </a:rPr>
              <a:t>is the</a:t>
            </a:r>
          </a:p>
          <a:p>
            <a:r>
              <a:rPr lang="en-US" sz="1200" kern="1200" baseline="0" dirty="0">
                <a:solidFill>
                  <a:schemeClr val="tx1"/>
                </a:solidFill>
                <a:latin typeface="Times New Roman" pitchFamily="-110" charset="0"/>
                <a:ea typeface="+mn-ea"/>
                <a:cs typeface="+mn-cs"/>
              </a:rPr>
              <a:t>opposite of interactive. The user’s program is batched together with programs from</a:t>
            </a:r>
          </a:p>
          <a:p>
            <a:r>
              <a:rPr lang="en-US" sz="1200" kern="1200" baseline="0" dirty="0">
                <a:solidFill>
                  <a:schemeClr val="tx1"/>
                </a:solidFill>
                <a:latin typeface="Times New Roman" pitchFamily="-110" charset="0"/>
                <a:ea typeface="+mn-ea"/>
                <a:cs typeface="+mn-cs"/>
              </a:rPr>
              <a:t>other users and submitted by a computer operator. After the program is completed,</a:t>
            </a:r>
          </a:p>
          <a:p>
            <a:r>
              <a:rPr lang="en-US" sz="1200" kern="1200" baseline="0" dirty="0">
                <a:solidFill>
                  <a:schemeClr val="tx1"/>
                </a:solidFill>
                <a:latin typeface="Times New Roman" pitchFamily="-110" charset="0"/>
                <a:ea typeface="+mn-ea"/>
                <a:cs typeface="+mn-cs"/>
              </a:rPr>
              <a:t>results are printed out for the user. Pure batch systems are rare today. However,</a:t>
            </a:r>
          </a:p>
          <a:p>
            <a:r>
              <a:rPr lang="en-US" sz="1200" kern="1200" baseline="0" dirty="0">
                <a:solidFill>
                  <a:schemeClr val="tx1"/>
                </a:solidFill>
                <a:latin typeface="Times New Roman" pitchFamily="-110" charset="0"/>
                <a:ea typeface="+mn-ea"/>
                <a:cs typeface="+mn-cs"/>
              </a:rPr>
              <a:t>it will be useful to the description of contemporary operating systems to examine</a:t>
            </a:r>
          </a:p>
          <a:p>
            <a:r>
              <a:rPr lang="en-US" sz="1200" kern="1200" baseline="0" dirty="0">
                <a:solidFill>
                  <a:schemeClr val="tx1"/>
                </a:solidFill>
                <a:latin typeface="Times New Roman" pitchFamily="-110" charset="0"/>
                <a:ea typeface="+mn-ea"/>
                <a:cs typeface="+mn-cs"/>
              </a:rPr>
              <a:t>batch systems briefly.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An independent dimension specifies whether the system employs </a:t>
            </a:r>
            <a:r>
              <a:rPr lang="en-US" sz="1200" b="1" kern="1200" baseline="0" dirty="0">
                <a:solidFill>
                  <a:schemeClr val="tx1"/>
                </a:solidFill>
                <a:latin typeface="Times New Roman" pitchFamily="-110" charset="0"/>
                <a:ea typeface="+mn-ea"/>
                <a:cs typeface="+mn-cs"/>
              </a:rPr>
              <a:t>multiprogramming</a:t>
            </a:r>
          </a:p>
          <a:p>
            <a:r>
              <a:rPr lang="en-US" sz="1200" kern="1200" baseline="0" dirty="0">
                <a:solidFill>
                  <a:schemeClr val="tx1"/>
                </a:solidFill>
                <a:latin typeface="Times New Roman" pitchFamily="-110" charset="0"/>
                <a:ea typeface="+mn-ea"/>
                <a:cs typeface="+mn-cs"/>
              </a:rPr>
              <a:t>or not. With multiprogramming, the attempt is made to keep the processor</a:t>
            </a:r>
          </a:p>
          <a:p>
            <a:r>
              <a:rPr lang="en-US" sz="1200" kern="1200" baseline="0" dirty="0">
                <a:solidFill>
                  <a:schemeClr val="tx1"/>
                </a:solidFill>
                <a:latin typeface="Times New Roman" pitchFamily="-110" charset="0"/>
                <a:ea typeface="+mn-ea"/>
                <a:cs typeface="+mn-cs"/>
              </a:rPr>
              <a:t>as busy as possible, by having it work on more than one program at a time. Several</a:t>
            </a:r>
          </a:p>
          <a:p>
            <a:r>
              <a:rPr lang="en-US" sz="1200" kern="1200" baseline="0" dirty="0">
                <a:solidFill>
                  <a:schemeClr val="tx1"/>
                </a:solidFill>
                <a:latin typeface="Times New Roman" pitchFamily="-110" charset="0"/>
                <a:ea typeface="+mn-ea"/>
                <a:cs typeface="+mn-cs"/>
              </a:rPr>
              <a:t>programs are loaded into memory, and the processor switches rapidly among them.</a:t>
            </a:r>
          </a:p>
          <a:p>
            <a:r>
              <a:rPr lang="en-US" sz="1200" kern="1200" baseline="0" dirty="0">
                <a:solidFill>
                  <a:schemeClr val="tx1"/>
                </a:solidFill>
                <a:latin typeface="Times New Roman" pitchFamily="-110" charset="0"/>
                <a:ea typeface="+mn-ea"/>
                <a:cs typeface="+mn-cs"/>
              </a:rPr>
              <a:t>The alternative is a </a:t>
            </a:r>
            <a:r>
              <a:rPr lang="en-US" sz="1200" b="1" kern="1200" baseline="0" dirty="0">
                <a:solidFill>
                  <a:schemeClr val="tx1"/>
                </a:solidFill>
                <a:latin typeface="Times New Roman" pitchFamily="-110" charset="0"/>
                <a:ea typeface="+mn-ea"/>
                <a:cs typeface="+mn-cs"/>
              </a:rPr>
              <a:t>uniprogramming system that works only one program at a time.</a:t>
            </a:r>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86750B-4D89-2C4B-B5C9-23547C8249F4}" type="slidenum">
              <a:rPr lang="en-US"/>
              <a:pPr/>
              <a:t>11</a:t>
            </a:fld>
            <a:endParaRPr lang="en-US" dirty="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Với những máy tính sớm nhất, từ cuối những năm 1940 đến giữa những năm 1950,</a:t>
            </a:r>
          </a:p>
          <a:p>
            <a:r>
              <a:rPr lang="vi-VN" sz="1200" kern="1200" baseline="0" dirty="0">
                <a:solidFill>
                  <a:schemeClr val="tx1"/>
                </a:solidFill>
                <a:latin typeface="Times New Roman" pitchFamily="-110" charset="0"/>
                <a:ea typeface="+mn-ea"/>
                <a:cs typeface="+mn-cs"/>
              </a:rPr>
              <a:t>lập trình tương tác trực tiếp với phần cứng máy tính; không có</a:t>
            </a:r>
          </a:p>
          <a:p>
            <a:r>
              <a:rPr lang="vi-VN" sz="1200" kern="1200" baseline="0" dirty="0">
                <a:solidFill>
                  <a:schemeClr val="tx1"/>
                </a:solidFill>
                <a:latin typeface="Times New Roman" pitchFamily="-110" charset="0"/>
                <a:ea typeface="+mn-ea"/>
                <a:cs typeface="+mn-cs"/>
              </a:rPr>
              <a:t>Hệ điều hành. Những bộ vi xử lý này đã được chạy từ bàn điều khiển, bao gồm đèn hiển thị, bật / tắt</a:t>
            </a:r>
          </a:p>
          <a:p>
            <a:r>
              <a:rPr lang="vi-VN" sz="1200" kern="1200" baseline="0" dirty="0">
                <a:solidFill>
                  <a:schemeClr val="tx1"/>
                </a:solidFill>
                <a:latin typeface="Times New Roman" pitchFamily="-110" charset="0"/>
                <a:ea typeface="+mn-ea"/>
                <a:cs typeface="+mn-cs"/>
              </a:rPr>
              <a:t>thiết bị chuyển mạch, một số dạng thiết bị đầu vào và máy in. Các chương trình trong mã bộ xử lý là</a:t>
            </a:r>
          </a:p>
          <a:p>
            <a:r>
              <a:rPr lang="vi-VN" sz="1200" kern="1200" baseline="0" dirty="0">
                <a:solidFill>
                  <a:schemeClr val="tx1"/>
                </a:solidFill>
                <a:latin typeface="Times New Roman" pitchFamily="-110" charset="0"/>
                <a:ea typeface="+mn-ea"/>
                <a:cs typeface="+mn-cs"/>
              </a:rPr>
              <a:t>được tải qua thiết bị đầu vào (ví dụ: một đầu đọc thẻ). Nếu một lỗi đã dừng chương trình,</a:t>
            </a:r>
          </a:p>
          <a:p>
            <a:r>
              <a:rPr lang="vi-VN" sz="1200" kern="1200" baseline="0" dirty="0">
                <a:solidFill>
                  <a:schemeClr val="tx1"/>
                </a:solidFill>
                <a:latin typeface="Times New Roman" pitchFamily="-110" charset="0"/>
                <a:ea typeface="+mn-ea"/>
                <a:cs typeface="+mn-cs"/>
              </a:rPr>
              <a:t>tình trạng lỗi đã được chỉ ra bởi đèn. Người lập trình có thể tiến hành</a:t>
            </a:r>
          </a:p>
          <a:p>
            <a:r>
              <a:rPr lang="vi-VN" sz="1200" kern="1200" baseline="0" dirty="0">
                <a:solidFill>
                  <a:schemeClr val="tx1"/>
                </a:solidFill>
                <a:latin typeface="Times New Roman" pitchFamily="-110" charset="0"/>
                <a:ea typeface="+mn-ea"/>
                <a:cs typeface="+mn-cs"/>
              </a:rPr>
              <a:t>để kiểm tra sổ đăng ký và bộ nhớ chính để xác định nguyên nhân của lỗi. Nếu</a:t>
            </a:r>
          </a:p>
          <a:p>
            <a:r>
              <a:rPr lang="vi-VN" sz="1200" kern="1200" baseline="0" dirty="0">
                <a:solidFill>
                  <a:schemeClr val="tx1"/>
                </a:solidFill>
                <a:latin typeface="Times New Roman" pitchFamily="-110" charset="0"/>
                <a:ea typeface="+mn-ea"/>
                <a:cs typeface="+mn-cs"/>
              </a:rPr>
              <a:t>chương trình đã tiến hành hoàn thành bình thường, đầu ra xuất hiện trên máy in.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Những hệ thống ban đầu này trình bày hai vấn đề chính: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Lập kế hoạch: Hầu hết các bản cài đặt sử dụng một bảng đăng ký để dự trữ thời gian xử lý.</a:t>
            </a:r>
          </a:p>
          <a:p>
            <a:r>
              <a:rPr lang="vi-VN" sz="1200" kern="1200" baseline="0" dirty="0">
                <a:solidFill>
                  <a:schemeClr val="tx1"/>
                </a:solidFill>
                <a:latin typeface="Times New Roman" pitchFamily="-110" charset="0"/>
                <a:ea typeface="+mn-ea"/>
                <a:cs typeface="+mn-cs"/>
              </a:rPr>
              <a:t>Thông thường, người dùng có thể đăng ký một khối thời gian trong bội số của một nửa giờ hoặc</a:t>
            </a:r>
          </a:p>
          <a:p>
            <a:r>
              <a:rPr lang="vi-VN" sz="1200" kern="1200" baseline="0" dirty="0">
                <a:solidFill>
                  <a:schemeClr val="tx1"/>
                </a:solidFill>
                <a:latin typeface="Times New Roman" pitchFamily="-110" charset="0"/>
                <a:ea typeface="+mn-ea"/>
                <a:cs typeface="+mn-cs"/>
              </a:rPr>
              <a:t>vì thế. Người dùng có thể đăng ký một giờ và kết thúc trong 45 phút; điều này sẽ kết quả</a:t>
            </a:r>
          </a:p>
          <a:p>
            <a:r>
              <a:rPr lang="vi-VN" sz="1200" kern="1200" baseline="0" dirty="0">
                <a:solidFill>
                  <a:schemeClr val="tx1"/>
                </a:solidFill>
                <a:latin typeface="Times New Roman" pitchFamily="-110" charset="0"/>
                <a:ea typeface="+mn-ea"/>
                <a:cs typeface="+mn-cs"/>
              </a:rPr>
              <a:t>trong thời gian nhàn rỗi máy tính lãng phí. Mặt khác, người sử dụng có thể chạy vào các vấn đề,</a:t>
            </a:r>
          </a:p>
          <a:p>
            <a:r>
              <a:rPr lang="vi-VN" sz="1200" kern="1200" baseline="0" dirty="0">
                <a:solidFill>
                  <a:schemeClr val="tx1"/>
                </a:solidFill>
                <a:latin typeface="Times New Roman" pitchFamily="-110" charset="0"/>
                <a:ea typeface="+mn-ea"/>
                <a:cs typeface="+mn-cs"/>
              </a:rPr>
              <a:t>không hoàn thành trong thời gian quy định, và buộc phải dừng lại trước khi giải quyết</a:t>
            </a:r>
          </a:p>
          <a:p>
            <a:r>
              <a:rPr lang="vi-VN" sz="1200" kern="1200" baseline="0" dirty="0">
                <a:solidFill>
                  <a:schemeClr val="tx1"/>
                </a:solidFill>
                <a:latin typeface="Times New Roman" pitchFamily="-110" charset="0"/>
                <a:ea typeface="+mn-ea"/>
                <a:cs typeface="+mn-cs"/>
              </a:rPr>
              <a:t>vấn đề.</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Thời gian cài đặt: Một chương trình duy nhất, được gọi là công việc, có thể liên quan đến việc tải trình biên dịch</a:t>
            </a:r>
          </a:p>
          <a:p>
            <a:r>
              <a:rPr lang="vi-VN" sz="1200" kern="1200" baseline="0" dirty="0">
                <a:solidFill>
                  <a:schemeClr val="tx1"/>
                </a:solidFill>
                <a:latin typeface="Times New Roman" pitchFamily="-110" charset="0"/>
                <a:ea typeface="+mn-ea"/>
                <a:cs typeface="+mn-cs"/>
              </a:rPr>
              <a:t>cộng với chương trình ngôn ngữ cấp cao (chương trình nguồn) vào bộ nhớ,</a:t>
            </a:r>
          </a:p>
          <a:p>
            <a:r>
              <a:rPr lang="vi-VN" sz="1200" kern="1200" baseline="0" dirty="0">
                <a:solidFill>
                  <a:schemeClr val="tx1"/>
                </a:solidFill>
                <a:latin typeface="Times New Roman" pitchFamily="-110" charset="0"/>
                <a:ea typeface="+mn-ea"/>
                <a:cs typeface="+mn-cs"/>
              </a:rPr>
              <a:t>lưu các chương trình biên dịch (chương trình đối tượng), và sau đó tải và liên kết</a:t>
            </a:r>
          </a:p>
          <a:p>
            <a:r>
              <a:rPr lang="vi-VN" sz="1200" kern="1200" baseline="0" dirty="0">
                <a:solidFill>
                  <a:schemeClr val="tx1"/>
                </a:solidFill>
                <a:latin typeface="Times New Roman" pitchFamily="-110" charset="0"/>
                <a:ea typeface="+mn-ea"/>
                <a:cs typeface="+mn-cs"/>
              </a:rPr>
              <a:t>cùng với chương trình đối tượng và các chức năng chung. Mỗi bước đều có thể</a:t>
            </a:r>
          </a:p>
          <a:p>
            <a:r>
              <a:rPr lang="vi-VN" sz="1200" kern="1200" baseline="0" dirty="0">
                <a:solidFill>
                  <a:schemeClr val="tx1"/>
                </a:solidFill>
                <a:latin typeface="Times New Roman" pitchFamily="-110" charset="0"/>
                <a:ea typeface="+mn-ea"/>
                <a:cs typeface="+mn-cs"/>
              </a:rPr>
              <a:t>liên quan đến việc gắn hoặc tháo băng keo, hoặc lắp đặt các tấm thẻ. Nếu lỗi</a:t>
            </a:r>
          </a:p>
          <a:p>
            <a:r>
              <a:rPr lang="vi-VN" sz="1200" kern="1200" baseline="0" dirty="0">
                <a:solidFill>
                  <a:schemeClr val="tx1"/>
                </a:solidFill>
                <a:latin typeface="Times New Roman" pitchFamily="-110" charset="0"/>
                <a:ea typeface="+mn-ea"/>
                <a:cs typeface="+mn-cs"/>
              </a:rPr>
              <a:t>xảy ra, người dùng không may thường phải quay trở lại đầu</a:t>
            </a:r>
          </a:p>
          <a:p>
            <a:r>
              <a:rPr lang="vi-VN" sz="1200" kern="1200" baseline="0" dirty="0">
                <a:solidFill>
                  <a:schemeClr val="tx1"/>
                </a:solidFill>
                <a:latin typeface="Times New Roman" pitchFamily="-110" charset="0"/>
                <a:ea typeface="+mn-ea"/>
                <a:cs typeface="+mn-cs"/>
              </a:rPr>
              <a:t>trình tự thiết lập. Vì vậy một số lượng đáng kể thời gian đã được chi tiêu chỉ trong thiết lập</a:t>
            </a:r>
          </a:p>
          <a:p>
            <a:r>
              <a:rPr lang="vi-VN" sz="1200" kern="1200" baseline="0" dirty="0">
                <a:solidFill>
                  <a:schemeClr val="tx1"/>
                </a:solidFill>
                <a:latin typeface="Times New Roman" pitchFamily="-110" charset="0"/>
                <a:ea typeface="+mn-ea"/>
                <a:cs typeface="+mn-cs"/>
              </a:rPr>
              <a:t>lên chương trình để chạy.</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Phương thức hoạt động này có thể được gọi là xử lý nối tiếp, phản ánh thực tế</a:t>
            </a:r>
          </a:p>
          <a:p>
            <a:r>
              <a:rPr lang="vi-VN" sz="1200" kern="1200" baseline="0" dirty="0">
                <a:solidFill>
                  <a:schemeClr val="tx1"/>
                </a:solidFill>
                <a:latin typeface="Times New Roman" pitchFamily="-110" charset="0"/>
                <a:ea typeface="+mn-ea"/>
                <a:cs typeface="+mn-cs"/>
              </a:rPr>
              <a:t>mà người dùng có quyền truy cập vào máy tính trong chuỗi. Theo thời gian, phần mềm hệ thống khác nhau</a:t>
            </a:r>
          </a:p>
          <a:p>
            <a:r>
              <a:rPr lang="vi-VN" sz="1200" kern="1200" baseline="0" dirty="0">
                <a:solidFill>
                  <a:schemeClr val="tx1"/>
                </a:solidFill>
                <a:latin typeface="Times New Roman" pitchFamily="-110" charset="0"/>
                <a:ea typeface="+mn-ea"/>
                <a:cs typeface="+mn-cs"/>
              </a:rPr>
              <a:t>công cụ được phát triển để cố gắng làm cho chế biến nối tiếp hiệu quả hơn. Những</a:t>
            </a:r>
          </a:p>
          <a:p>
            <a:r>
              <a:rPr lang="vi-VN" sz="1200" kern="1200" baseline="0" dirty="0">
                <a:solidFill>
                  <a:schemeClr val="tx1"/>
                </a:solidFill>
                <a:latin typeface="Times New Roman" pitchFamily="-110" charset="0"/>
                <a:ea typeface="+mn-ea"/>
                <a:cs typeface="+mn-cs"/>
              </a:rPr>
              <a:t>bao gồm các thư viện các chức năng phổ biến, trình liên kết, bộ tải, trình gỡ lỗi và trình điều khiển I / O</a:t>
            </a:r>
          </a:p>
          <a:p>
            <a:r>
              <a:rPr lang="vi-VN" sz="1200" kern="1200" baseline="0" dirty="0">
                <a:solidFill>
                  <a:schemeClr val="tx1"/>
                </a:solidFill>
                <a:latin typeface="Times New Roman" pitchFamily="-110" charset="0"/>
                <a:ea typeface="+mn-ea"/>
                <a:cs typeface="+mn-cs"/>
              </a:rPr>
              <a:t>các thói quen đã có sẵn như là phần mềm phổ biến cho tất cả người dùng.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the earliest computers, from the late 1940s to the mid-1950s,</a:t>
            </a:r>
          </a:p>
          <a:p>
            <a:r>
              <a:rPr lang="en-US" sz="1200" kern="1200" baseline="0" dirty="0">
                <a:solidFill>
                  <a:schemeClr val="tx1"/>
                </a:solidFill>
                <a:latin typeface="Times New Roman" pitchFamily="-110" charset="0"/>
                <a:ea typeface="+mn-ea"/>
                <a:cs typeface="+mn-cs"/>
              </a:rPr>
              <a:t>the programmer interacted directly with the computer hardware; there was no</a:t>
            </a:r>
          </a:p>
          <a:p>
            <a:r>
              <a:rPr lang="en-US" sz="1200" kern="1200" baseline="0" dirty="0">
                <a:solidFill>
                  <a:schemeClr val="tx1"/>
                </a:solidFill>
                <a:latin typeface="Times New Roman" pitchFamily="-110" charset="0"/>
                <a:ea typeface="+mn-ea"/>
                <a:cs typeface="+mn-cs"/>
              </a:rPr>
              <a:t>OS. These processors were run from a console, consisting of display lights, toggle</a:t>
            </a:r>
          </a:p>
          <a:p>
            <a:r>
              <a:rPr lang="en-US" sz="1200" kern="1200" baseline="0" dirty="0">
                <a:solidFill>
                  <a:schemeClr val="tx1"/>
                </a:solidFill>
                <a:latin typeface="Times New Roman" pitchFamily="-110" charset="0"/>
                <a:ea typeface="+mn-ea"/>
                <a:cs typeface="+mn-cs"/>
              </a:rPr>
              <a:t>switches, some form of input device, and a printer. Programs in processor code were</a:t>
            </a:r>
          </a:p>
          <a:p>
            <a:r>
              <a:rPr lang="en-US" sz="1200" kern="1200" baseline="0" dirty="0">
                <a:solidFill>
                  <a:schemeClr val="tx1"/>
                </a:solidFill>
                <a:latin typeface="Times New Roman" pitchFamily="-110" charset="0"/>
                <a:ea typeface="+mn-ea"/>
                <a:cs typeface="+mn-cs"/>
              </a:rPr>
              <a:t>loaded via the input device (e.g., a card reader). If an error halted the program,</a:t>
            </a:r>
          </a:p>
          <a:p>
            <a:r>
              <a:rPr lang="en-US" sz="1200" kern="1200" baseline="0" dirty="0">
                <a:solidFill>
                  <a:schemeClr val="tx1"/>
                </a:solidFill>
                <a:latin typeface="Times New Roman" pitchFamily="-110" charset="0"/>
                <a:ea typeface="+mn-ea"/>
                <a:cs typeface="+mn-cs"/>
              </a:rPr>
              <a:t>the error condition was indicated by the lights. The programmer could proceed</a:t>
            </a:r>
          </a:p>
          <a:p>
            <a:r>
              <a:rPr lang="en-US" sz="1200" kern="1200" baseline="0" dirty="0">
                <a:solidFill>
                  <a:schemeClr val="tx1"/>
                </a:solidFill>
                <a:latin typeface="Times New Roman" pitchFamily="-110" charset="0"/>
                <a:ea typeface="+mn-ea"/>
                <a:cs typeface="+mn-cs"/>
              </a:rPr>
              <a:t>to examine registers and main memory to determine the cause of the error. If the</a:t>
            </a:r>
          </a:p>
          <a:p>
            <a:r>
              <a:rPr lang="en-US" sz="1200" kern="1200" baseline="0" dirty="0">
                <a:solidFill>
                  <a:schemeClr val="tx1"/>
                </a:solidFill>
                <a:latin typeface="Times New Roman" pitchFamily="-110" charset="0"/>
                <a:ea typeface="+mn-ea"/>
                <a:cs typeface="+mn-cs"/>
              </a:rPr>
              <a:t>program proceeded to a normal completion, the output appeared on the printer.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These early systems presented two main problems: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Scheduling: </a:t>
            </a:r>
            <a:r>
              <a:rPr lang="en-US" sz="1200" b="0" kern="1200" baseline="0" dirty="0">
                <a:solidFill>
                  <a:schemeClr val="tx1"/>
                </a:solidFill>
                <a:latin typeface="Times New Roman" pitchFamily="-110" charset="0"/>
                <a:ea typeface="+mn-ea"/>
                <a:cs typeface="+mn-cs"/>
              </a:rPr>
              <a:t>Most installations used a sign-up sheet to reserve processor time.</a:t>
            </a:r>
          </a:p>
          <a:p>
            <a:r>
              <a:rPr lang="en-US" sz="1200" kern="1200" baseline="0" dirty="0">
                <a:solidFill>
                  <a:schemeClr val="tx1"/>
                </a:solidFill>
                <a:latin typeface="Times New Roman" pitchFamily="-110" charset="0"/>
                <a:ea typeface="+mn-ea"/>
                <a:cs typeface="+mn-cs"/>
              </a:rPr>
              <a:t>Typically, a user could sign up for a block of time in multiples of a half hour or</a:t>
            </a:r>
          </a:p>
          <a:p>
            <a:r>
              <a:rPr lang="en-US" sz="1200" kern="1200" baseline="0" dirty="0">
                <a:solidFill>
                  <a:schemeClr val="tx1"/>
                </a:solidFill>
                <a:latin typeface="Times New Roman" pitchFamily="-110" charset="0"/>
                <a:ea typeface="+mn-ea"/>
                <a:cs typeface="+mn-cs"/>
              </a:rPr>
              <a:t>so. A user might sign up for an hour and finish in 45 minutes; this would result</a:t>
            </a:r>
          </a:p>
          <a:p>
            <a:r>
              <a:rPr lang="en-US" sz="1200" kern="1200" baseline="0" dirty="0">
                <a:solidFill>
                  <a:schemeClr val="tx1"/>
                </a:solidFill>
                <a:latin typeface="Times New Roman" pitchFamily="-110" charset="0"/>
                <a:ea typeface="+mn-ea"/>
                <a:cs typeface="+mn-cs"/>
              </a:rPr>
              <a:t>in wasted computer idle time. On the other hand, the user might run into problems,</a:t>
            </a:r>
          </a:p>
          <a:p>
            <a:r>
              <a:rPr lang="en-US" sz="1200" kern="1200" baseline="0" dirty="0">
                <a:solidFill>
                  <a:schemeClr val="tx1"/>
                </a:solidFill>
                <a:latin typeface="Times New Roman" pitchFamily="-110" charset="0"/>
                <a:ea typeface="+mn-ea"/>
                <a:cs typeface="+mn-cs"/>
              </a:rPr>
              <a:t>not finish in the allotted time, and be forced to stop before resolving</a:t>
            </a:r>
          </a:p>
          <a:p>
            <a:r>
              <a:rPr lang="en-US" sz="1200" kern="1200" baseline="0" dirty="0">
                <a:solidFill>
                  <a:schemeClr val="tx1"/>
                </a:solidFill>
                <a:latin typeface="Times New Roman" pitchFamily="-110" charset="0"/>
                <a:ea typeface="+mn-ea"/>
                <a:cs typeface="+mn-cs"/>
              </a:rPr>
              <a:t>the problem.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Setup time: </a:t>
            </a:r>
            <a:r>
              <a:rPr lang="en-US" sz="1200" b="0" kern="1200" baseline="0" dirty="0">
                <a:solidFill>
                  <a:schemeClr val="tx1"/>
                </a:solidFill>
                <a:latin typeface="Times New Roman" pitchFamily="-110" charset="0"/>
                <a:ea typeface="+mn-ea"/>
                <a:cs typeface="+mn-cs"/>
              </a:rPr>
              <a:t>A single program, called a</a:t>
            </a:r>
            <a:r>
              <a:rPr lang="en-US" sz="1200" b="1" kern="1200" baseline="0" dirty="0">
                <a:solidFill>
                  <a:schemeClr val="tx1"/>
                </a:solidFill>
                <a:latin typeface="Times New Roman" pitchFamily="-110" charset="0"/>
                <a:ea typeface="+mn-ea"/>
                <a:cs typeface="+mn-cs"/>
              </a:rPr>
              <a:t> job</a:t>
            </a:r>
            <a:r>
              <a:rPr lang="en-US" sz="1200" b="0" kern="1200" baseline="0" dirty="0">
                <a:solidFill>
                  <a:schemeClr val="tx1"/>
                </a:solidFill>
                <a:latin typeface="Times New Roman" pitchFamily="-110" charset="0"/>
                <a:ea typeface="+mn-ea"/>
                <a:cs typeface="+mn-cs"/>
              </a:rPr>
              <a:t>, could involve loading the compiler</a:t>
            </a:r>
          </a:p>
          <a:p>
            <a:r>
              <a:rPr lang="en-US" sz="1200" kern="1200" baseline="0" dirty="0">
                <a:solidFill>
                  <a:schemeClr val="tx1"/>
                </a:solidFill>
                <a:latin typeface="Times New Roman" pitchFamily="-110" charset="0"/>
                <a:ea typeface="+mn-ea"/>
                <a:cs typeface="+mn-cs"/>
              </a:rPr>
              <a:t>plus the high-level language program (source program) into memory,</a:t>
            </a:r>
          </a:p>
          <a:p>
            <a:r>
              <a:rPr lang="en-US" sz="1200" kern="1200" baseline="0" dirty="0">
                <a:solidFill>
                  <a:schemeClr val="tx1"/>
                </a:solidFill>
                <a:latin typeface="Times New Roman" pitchFamily="-110" charset="0"/>
                <a:ea typeface="+mn-ea"/>
                <a:cs typeface="+mn-cs"/>
              </a:rPr>
              <a:t>saving the compiled program (object program), and then loading and linking</a:t>
            </a:r>
          </a:p>
          <a:p>
            <a:r>
              <a:rPr lang="en-US" sz="1200" kern="1200" baseline="0" dirty="0">
                <a:solidFill>
                  <a:schemeClr val="tx1"/>
                </a:solidFill>
                <a:latin typeface="Times New Roman" pitchFamily="-110" charset="0"/>
                <a:ea typeface="+mn-ea"/>
                <a:cs typeface="+mn-cs"/>
              </a:rPr>
              <a:t>together the object program and common functions. Each of these steps could</a:t>
            </a:r>
          </a:p>
          <a:p>
            <a:r>
              <a:rPr lang="en-US" sz="1200" kern="1200" baseline="0" dirty="0">
                <a:solidFill>
                  <a:schemeClr val="tx1"/>
                </a:solidFill>
                <a:latin typeface="Times New Roman" pitchFamily="-110" charset="0"/>
                <a:ea typeface="+mn-ea"/>
                <a:cs typeface="+mn-cs"/>
              </a:rPr>
              <a:t>involve mounting or dismounting tapes, or setting up card decks. If an error</a:t>
            </a:r>
          </a:p>
          <a:p>
            <a:r>
              <a:rPr lang="en-US" sz="1200" kern="1200" baseline="0" dirty="0">
                <a:solidFill>
                  <a:schemeClr val="tx1"/>
                </a:solidFill>
                <a:latin typeface="Times New Roman" pitchFamily="-110" charset="0"/>
                <a:ea typeface="+mn-ea"/>
                <a:cs typeface="+mn-cs"/>
              </a:rPr>
              <a:t>occurred, the hapless user typically had to go back to the beginning of the</a:t>
            </a:r>
          </a:p>
          <a:p>
            <a:r>
              <a:rPr lang="en-US" sz="1200" kern="1200" baseline="0" dirty="0">
                <a:solidFill>
                  <a:schemeClr val="tx1"/>
                </a:solidFill>
                <a:latin typeface="Times New Roman" pitchFamily="-110" charset="0"/>
                <a:ea typeface="+mn-ea"/>
                <a:cs typeface="+mn-cs"/>
              </a:rPr>
              <a:t>setup sequence. Thus a considerable amount of time was spent just in setting</a:t>
            </a:r>
          </a:p>
          <a:p>
            <a:r>
              <a:rPr lang="en-US" sz="1200" kern="1200" baseline="0" dirty="0">
                <a:solidFill>
                  <a:schemeClr val="tx1"/>
                </a:solidFill>
                <a:latin typeface="Times New Roman" pitchFamily="-110" charset="0"/>
                <a:ea typeface="+mn-ea"/>
                <a:cs typeface="+mn-cs"/>
              </a:rPr>
              <a:t>up the program to run.</a:t>
            </a:r>
            <a:endParaRPr lang="en-GB" sz="1200" kern="1200" baseline="0" dirty="0">
              <a:solidFill>
                <a:schemeClr val="tx1"/>
              </a:solidFill>
              <a:latin typeface="Times New Roman" pitchFamily="-110" charset="0"/>
              <a:ea typeface="+mn-ea"/>
              <a:cs typeface="+mn-cs"/>
            </a:endParaRPr>
          </a:p>
          <a:p>
            <a:endParaRPr lang="en-GB"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mode of operation could be termed serial processing, reflecting the fact</a:t>
            </a:r>
          </a:p>
          <a:p>
            <a:r>
              <a:rPr lang="en-US" sz="1200" kern="1200" baseline="0" dirty="0">
                <a:solidFill>
                  <a:schemeClr val="tx1"/>
                </a:solidFill>
                <a:latin typeface="Times New Roman" pitchFamily="-110" charset="0"/>
                <a:ea typeface="+mn-ea"/>
                <a:cs typeface="+mn-cs"/>
              </a:rPr>
              <a:t>that users have access to the computer in series. Over time, various system software</a:t>
            </a:r>
          </a:p>
          <a:p>
            <a:r>
              <a:rPr lang="en-US" sz="1200" kern="1200" baseline="0" dirty="0">
                <a:solidFill>
                  <a:schemeClr val="tx1"/>
                </a:solidFill>
                <a:latin typeface="Times New Roman" pitchFamily="-110" charset="0"/>
                <a:ea typeface="+mn-ea"/>
                <a:cs typeface="+mn-cs"/>
              </a:rPr>
              <a:t>tools were developed to attempt to make serial processing more efficient. These</a:t>
            </a:r>
          </a:p>
          <a:p>
            <a:r>
              <a:rPr lang="en-US" sz="1200" kern="1200" baseline="0" dirty="0">
                <a:solidFill>
                  <a:schemeClr val="tx1"/>
                </a:solidFill>
                <a:latin typeface="Times New Roman" pitchFamily="-110" charset="0"/>
                <a:ea typeface="+mn-ea"/>
                <a:cs typeface="+mn-cs"/>
              </a:rPr>
              <a:t>include libraries of common functions, linkers, loaders, debuggers, and I/O driver</a:t>
            </a:r>
          </a:p>
          <a:p>
            <a:r>
              <a:rPr lang="en-US" sz="1200" kern="1200" baseline="0" dirty="0">
                <a:solidFill>
                  <a:schemeClr val="tx1"/>
                </a:solidFill>
                <a:latin typeface="Times New Roman" pitchFamily="-110" charset="0"/>
                <a:ea typeface="+mn-ea"/>
                <a:cs typeface="+mn-cs"/>
              </a:rPr>
              <a:t>routines that were available as common software for all users.</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524390-6A62-834F-9CC1-623F3723F203}" type="slidenum">
              <a:rPr lang="en-US"/>
              <a:pPr/>
              <a:t>12</a:t>
            </a:fld>
            <a:endParaRPr lang="en-US" dirty="0"/>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Resident monitor : </a:t>
            </a:r>
            <a:r>
              <a:rPr lang="en-US" sz="1200" kern="1200" baseline="0" dirty="0" err="1">
                <a:solidFill>
                  <a:schemeClr val="tx1"/>
                </a:solidFill>
                <a:latin typeface="Times New Roman" pitchFamily="-110" charset="0"/>
                <a:ea typeface="+mn-ea"/>
                <a:cs typeface="+mn-cs"/>
              </a:rPr>
              <a:t>giám</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sát</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thường</a:t>
            </a:r>
            <a:r>
              <a:rPr lang="en-US" sz="1200" kern="1200" baseline="0" dirty="0">
                <a:solidFill>
                  <a:schemeClr val="tx1"/>
                </a:solidFill>
                <a:latin typeface="Times New Roman" pitchFamily="-110" charset="0"/>
                <a:ea typeface="+mn-ea"/>
                <a:cs typeface="+mn-cs"/>
              </a:rPr>
              <a:t> </a:t>
            </a:r>
            <a:r>
              <a:rPr lang="en-US" sz="1200" kern="1200" baseline="0" dirty="0" err="1">
                <a:solidFill>
                  <a:schemeClr val="tx1"/>
                </a:solidFill>
                <a:latin typeface="Times New Roman" pitchFamily="-110" charset="0"/>
                <a:ea typeface="+mn-ea"/>
                <a:cs typeface="+mn-cs"/>
              </a:rPr>
              <a:t>trú</a:t>
            </a:r>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Những nhà chế biến ban đầu rất đắt và do đó</a:t>
            </a:r>
          </a:p>
          <a:p>
            <a:r>
              <a:rPr lang="vi-VN" sz="1200" kern="1200" baseline="0" dirty="0">
                <a:solidFill>
                  <a:schemeClr val="tx1"/>
                </a:solidFill>
                <a:latin typeface="Times New Roman" pitchFamily="-110" charset="0"/>
                <a:ea typeface="+mn-ea"/>
                <a:cs typeface="+mn-cs"/>
              </a:rPr>
              <a:t>là quan trọng để tối đa hóa việc sử dụng bộ xử lý. Thời gian lãng phí do lập kế hoạch</a:t>
            </a:r>
          </a:p>
          <a:p>
            <a:r>
              <a:rPr lang="vi-VN" sz="1200" kern="1200" baseline="0" dirty="0">
                <a:solidFill>
                  <a:schemeClr val="tx1"/>
                </a:solidFill>
                <a:latin typeface="Times New Roman" pitchFamily="-110" charset="0"/>
                <a:ea typeface="+mn-ea"/>
                <a:cs typeface="+mn-cs"/>
              </a:rPr>
              <a:t>và thời gian thiết lập là không thể chấp nhận.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cải thiện việc sử dụng, các hệ điều hành lô đơn giản đã được phát triển. Với</a:t>
            </a:r>
          </a:p>
          <a:p>
            <a:r>
              <a:rPr lang="vi-VN" sz="1200" kern="1200" baseline="0" dirty="0">
                <a:solidFill>
                  <a:schemeClr val="tx1"/>
                </a:solidFill>
                <a:latin typeface="Times New Roman" pitchFamily="-110" charset="0"/>
                <a:ea typeface="+mn-ea"/>
                <a:cs typeface="+mn-cs"/>
              </a:rPr>
              <a:t>hệ thống như vậy, còn được gọi là màn hình, người dùng không còn có quyền truy cập trực tiếp vào</a:t>
            </a:r>
          </a:p>
          <a:p>
            <a:r>
              <a:rPr lang="vi-VN" sz="1200" kern="1200" baseline="0" dirty="0">
                <a:solidFill>
                  <a:schemeClr val="tx1"/>
                </a:solidFill>
                <a:latin typeface="Times New Roman" pitchFamily="-110" charset="0"/>
                <a:ea typeface="+mn-ea"/>
                <a:cs typeface="+mn-cs"/>
              </a:rPr>
              <a:t>bộ vi xử lý. Thay vào đó, người dùng gửi công việc trên thẻ hoặc băng cho nhà điều hành máy tính,</a:t>
            </a:r>
          </a:p>
          <a:p>
            <a:r>
              <a:rPr lang="vi-VN" sz="1200" kern="1200" baseline="0" dirty="0">
                <a:solidFill>
                  <a:schemeClr val="tx1"/>
                </a:solidFill>
                <a:latin typeface="Times New Roman" pitchFamily="-110" charset="0"/>
                <a:ea typeface="+mn-ea"/>
                <a:cs typeface="+mn-cs"/>
              </a:rPr>
              <a:t>những người gán công việc cùng nhau tuần tự và đặt toàn bộ lô vào một đầu vào</a:t>
            </a:r>
          </a:p>
          <a:p>
            <a:r>
              <a:rPr lang="vi-VN" sz="1200" kern="1200" baseline="0" dirty="0">
                <a:solidFill>
                  <a:schemeClr val="tx1"/>
                </a:solidFill>
                <a:latin typeface="Times New Roman" pitchFamily="-110" charset="0"/>
                <a:ea typeface="+mn-ea"/>
                <a:cs typeface="+mn-cs"/>
              </a:rPr>
              <a:t>thiết bị, để sử dụng bởi màn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hiểu cách thức hoạt động của chương trình này, chúng ta hãy nhìn vào nó từ hai điểm</a:t>
            </a:r>
          </a:p>
          <a:p>
            <a:r>
              <a:rPr lang="vi-VN" sz="1200" kern="1200" baseline="0" dirty="0">
                <a:solidFill>
                  <a:schemeClr val="tx1"/>
                </a:solidFill>
                <a:latin typeface="Times New Roman" pitchFamily="-110" charset="0"/>
                <a:ea typeface="+mn-ea"/>
                <a:cs typeface="+mn-cs"/>
              </a:rPr>
              <a:t>xem: của màn hình và của bộ vi xử lý. Từ quan điểm của</a:t>
            </a:r>
          </a:p>
          <a:p>
            <a:r>
              <a:rPr lang="vi-VN" sz="1200" kern="1200" baseline="0" dirty="0">
                <a:solidFill>
                  <a:schemeClr val="tx1"/>
                </a:solidFill>
                <a:latin typeface="Times New Roman" pitchFamily="-110" charset="0"/>
                <a:ea typeface="+mn-ea"/>
                <a:cs typeface="+mn-cs"/>
              </a:rPr>
              <a:t>màn hình, màn hình điều khiển chuỗi các sự kiện. Đối với điều này là như vậy, phần lớn</a:t>
            </a:r>
          </a:p>
          <a:p>
            <a:r>
              <a:rPr lang="vi-VN" sz="1200" kern="1200" baseline="0" dirty="0">
                <a:solidFill>
                  <a:schemeClr val="tx1"/>
                </a:solidFill>
                <a:latin typeface="Times New Roman" pitchFamily="-110" charset="0"/>
                <a:ea typeface="+mn-ea"/>
                <a:cs typeface="+mn-cs"/>
              </a:rPr>
              <a:t>màn hình phải luôn ở trong bộ nhớ chính và có sẵn để thực hiện (Hình 8.3).</a:t>
            </a:r>
          </a:p>
          <a:p>
            <a:r>
              <a:rPr lang="vi-VN" sz="1200" kern="1200" baseline="0" dirty="0">
                <a:solidFill>
                  <a:schemeClr val="tx1"/>
                </a:solidFill>
                <a:latin typeface="Times New Roman" pitchFamily="-110" charset="0"/>
                <a:ea typeface="+mn-ea"/>
                <a:cs typeface="+mn-cs"/>
              </a:rPr>
              <a:t>Phần đó được gọi là màn hình thường trú. Phần còn lại của màn hình bao gồm</a:t>
            </a:r>
          </a:p>
          <a:p>
            <a:r>
              <a:rPr lang="vi-VN" sz="1200" kern="1200" baseline="0" dirty="0">
                <a:solidFill>
                  <a:schemeClr val="tx1"/>
                </a:solidFill>
                <a:latin typeface="Times New Roman" pitchFamily="-110" charset="0"/>
                <a:ea typeface="+mn-ea"/>
                <a:cs typeface="+mn-cs"/>
              </a:rPr>
              <a:t>các tiện ích và các chức năng phổ biến được nạp như các chương trình con cho chương trình người sử dụng</a:t>
            </a:r>
          </a:p>
          <a:p>
            <a:r>
              <a:rPr lang="vi-VN" sz="1200" kern="1200" baseline="0" dirty="0">
                <a:solidFill>
                  <a:schemeClr val="tx1"/>
                </a:solidFill>
                <a:latin typeface="Times New Roman" pitchFamily="-110" charset="0"/>
                <a:ea typeface="+mn-ea"/>
                <a:cs typeface="+mn-cs"/>
              </a:rPr>
              <a:t>khi bắt đầu công việc đòi hỏi họ. Màn hình đọc trong công việc một</a:t>
            </a:r>
          </a:p>
          <a:p>
            <a:r>
              <a:rPr lang="vi-VN" sz="1200" kern="1200" baseline="0" dirty="0">
                <a:solidFill>
                  <a:schemeClr val="tx1"/>
                </a:solidFill>
                <a:latin typeface="Times New Roman" pitchFamily="-110" charset="0"/>
                <a:ea typeface="+mn-ea"/>
                <a:cs typeface="+mn-cs"/>
              </a:rPr>
              <a:t>tại một thời điểm từ thiết bị đầu vào (thường là đầu đọc thẻ hoặc ổ băng từ). Vì nó</a:t>
            </a:r>
          </a:p>
          <a:p>
            <a:r>
              <a:rPr lang="vi-VN" sz="1200" kern="1200" baseline="0" dirty="0">
                <a:solidFill>
                  <a:schemeClr val="tx1"/>
                </a:solidFill>
                <a:latin typeface="Times New Roman" pitchFamily="-110" charset="0"/>
                <a:ea typeface="+mn-ea"/>
                <a:cs typeface="+mn-cs"/>
              </a:rPr>
              <a:t>được đọc trong, công việc hiện tại được đặt trong khu vực chương trình người dùng, và kiểm soát được chuyển đến</a:t>
            </a:r>
          </a:p>
          <a:p>
            <a:r>
              <a:rPr lang="vi-VN" sz="1200" kern="1200" baseline="0" dirty="0">
                <a:solidFill>
                  <a:schemeClr val="tx1"/>
                </a:solidFill>
                <a:latin typeface="Times New Roman" pitchFamily="-110" charset="0"/>
                <a:ea typeface="+mn-ea"/>
                <a:cs typeface="+mn-cs"/>
              </a:rPr>
              <a:t>công việc này. Khi công việc hoàn thành, nó sẽ trả lại quyền kiểm soát cho màn hình, mà ngay lập tức</a:t>
            </a:r>
          </a:p>
          <a:p>
            <a:r>
              <a:rPr lang="vi-VN" sz="1200" kern="1200" baseline="0" dirty="0">
                <a:solidFill>
                  <a:schemeClr val="tx1"/>
                </a:solidFill>
                <a:latin typeface="Times New Roman" pitchFamily="-110" charset="0"/>
                <a:ea typeface="+mn-ea"/>
                <a:cs typeface="+mn-cs"/>
              </a:rPr>
              <a:t>đọc trong công việc kế tiếp. Kết quả của mỗi công việc được in ra để chuyển đến</a:t>
            </a:r>
          </a:p>
          <a:p>
            <a:r>
              <a:rPr lang="vi-VN" sz="1200" kern="1200" baseline="0" dirty="0">
                <a:solidFill>
                  <a:schemeClr val="tx1"/>
                </a:solidFill>
                <a:latin typeface="Times New Roman" pitchFamily="-110" charset="0"/>
                <a:ea typeface="+mn-ea"/>
                <a:cs typeface="+mn-cs"/>
              </a:rPr>
              <a:t>người dùng.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Early processors were very expensive, and therefore it</a:t>
            </a:r>
          </a:p>
          <a:p>
            <a:r>
              <a:rPr lang="en-US" sz="1200" kern="1200" baseline="0" dirty="0">
                <a:solidFill>
                  <a:schemeClr val="tx1"/>
                </a:solidFill>
                <a:latin typeface="Times New Roman" pitchFamily="-110" charset="0"/>
                <a:ea typeface="+mn-ea"/>
                <a:cs typeface="+mn-cs"/>
              </a:rPr>
              <a:t>was important to maximize processor utilization. The wasted time due to scheduling</a:t>
            </a:r>
          </a:p>
          <a:p>
            <a:r>
              <a:rPr lang="en-US" sz="1200" kern="1200" baseline="0" dirty="0">
                <a:solidFill>
                  <a:schemeClr val="tx1"/>
                </a:solidFill>
                <a:latin typeface="Times New Roman" pitchFamily="-110" charset="0"/>
                <a:ea typeface="+mn-ea"/>
                <a:cs typeface="+mn-cs"/>
              </a:rPr>
              <a:t>and setup time was unacceptable.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improve utilization, simple batch operating systems were developed. With</a:t>
            </a:r>
          </a:p>
          <a:p>
            <a:r>
              <a:rPr lang="en-US" sz="1200" kern="1200" baseline="0" dirty="0">
                <a:solidFill>
                  <a:schemeClr val="tx1"/>
                </a:solidFill>
                <a:latin typeface="Times New Roman" pitchFamily="-110" charset="0"/>
                <a:ea typeface="+mn-ea"/>
                <a:cs typeface="+mn-cs"/>
              </a:rPr>
              <a:t>such a system, also called a </a:t>
            </a:r>
            <a:r>
              <a:rPr lang="en-US" sz="1200" b="1" kern="1200" baseline="0" dirty="0">
                <a:solidFill>
                  <a:schemeClr val="tx1"/>
                </a:solidFill>
                <a:latin typeface="Times New Roman" pitchFamily="-110" charset="0"/>
                <a:ea typeface="+mn-ea"/>
                <a:cs typeface="+mn-cs"/>
              </a:rPr>
              <a:t>monitor, </a:t>
            </a:r>
            <a:r>
              <a:rPr lang="en-US" sz="1200" b="0" kern="1200" baseline="0" dirty="0">
                <a:solidFill>
                  <a:schemeClr val="tx1"/>
                </a:solidFill>
                <a:latin typeface="Times New Roman" pitchFamily="-110" charset="0"/>
                <a:ea typeface="+mn-ea"/>
                <a:cs typeface="+mn-cs"/>
              </a:rPr>
              <a:t>the user no longer has direct access to the</a:t>
            </a:r>
          </a:p>
          <a:p>
            <a:r>
              <a:rPr lang="en-US" sz="1200" kern="1200" baseline="0" dirty="0">
                <a:solidFill>
                  <a:schemeClr val="tx1"/>
                </a:solidFill>
                <a:latin typeface="Times New Roman" pitchFamily="-110" charset="0"/>
                <a:ea typeface="+mn-ea"/>
                <a:cs typeface="+mn-cs"/>
              </a:rPr>
              <a:t>processor. Rather, the user submits the job on cards or tape to a computer operator,</a:t>
            </a:r>
          </a:p>
          <a:p>
            <a:r>
              <a:rPr lang="en-US" sz="1200" kern="1200" baseline="0" dirty="0">
                <a:solidFill>
                  <a:schemeClr val="tx1"/>
                </a:solidFill>
                <a:latin typeface="Times New Roman" pitchFamily="-110" charset="0"/>
                <a:ea typeface="+mn-ea"/>
                <a:cs typeface="+mn-cs"/>
              </a:rPr>
              <a:t>who </a:t>
            </a:r>
            <a:r>
              <a:rPr lang="en-US" sz="1200" i="1" kern="1200" baseline="0" dirty="0">
                <a:solidFill>
                  <a:schemeClr val="tx1"/>
                </a:solidFill>
                <a:latin typeface="Times New Roman" pitchFamily="-110" charset="0"/>
                <a:ea typeface="+mn-ea"/>
                <a:cs typeface="+mn-cs"/>
              </a:rPr>
              <a:t>batches </a:t>
            </a:r>
            <a:r>
              <a:rPr lang="en-US" sz="1200" i="0" kern="1200" baseline="0" dirty="0">
                <a:solidFill>
                  <a:schemeClr val="tx1"/>
                </a:solidFill>
                <a:latin typeface="Times New Roman" pitchFamily="-110" charset="0"/>
                <a:ea typeface="+mn-ea"/>
                <a:cs typeface="+mn-cs"/>
              </a:rPr>
              <a:t>the jobs together sequentially and places the entire batch on an input</a:t>
            </a:r>
          </a:p>
          <a:p>
            <a:r>
              <a:rPr lang="en-US" sz="1200" kern="1200" baseline="0" dirty="0">
                <a:solidFill>
                  <a:schemeClr val="tx1"/>
                </a:solidFill>
                <a:latin typeface="Times New Roman" pitchFamily="-110" charset="0"/>
                <a:ea typeface="+mn-ea"/>
                <a:cs typeface="+mn-cs"/>
              </a:rPr>
              <a:t>device, for use by the monitor.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how this scheme works, let us look at it from two points of</a:t>
            </a:r>
          </a:p>
          <a:p>
            <a:r>
              <a:rPr lang="en-US" sz="1200" kern="1200" baseline="0" dirty="0">
                <a:solidFill>
                  <a:schemeClr val="tx1"/>
                </a:solidFill>
                <a:latin typeface="Times New Roman" pitchFamily="-110" charset="0"/>
                <a:ea typeface="+mn-ea"/>
                <a:cs typeface="+mn-cs"/>
              </a:rPr>
              <a:t>view: that of the monitor and that of the processor. From the point of view of the</a:t>
            </a:r>
          </a:p>
          <a:p>
            <a:r>
              <a:rPr lang="en-US" sz="1200" kern="1200" baseline="0" dirty="0">
                <a:solidFill>
                  <a:schemeClr val="tx1"/>
                </a:solidFill>
                <a:latin typeface="Times New Roman" pitchFamily="-110" charset="0"/>
                <a:ea typeface="+mn-ea"/>
                <a:cs typeface="+mn-cs"/>
              </a:rPr>
              <a:t>monitor, the monitor controls the sequence of events. For this to be so, much of the</a:t>
            </a:r>
          </a:p>
          <a:p>
            <a:r>
              <a:rPr lang="en-US" sz="1200" kern="1200" baseline="0" dirty="0">
                <a:solidFill>
                  <a:schemeClr val="tx1"/>
                </a:solidFill>
                <a:latin typeface="Times New Roman" pitchFamily="-110" charset="0"/>
                <a:ea typeface="+mn-ea"/>
                <a:cs typeface="+mn-cs"/>
              </a:rPr>
              <a:t>monitor must always be in main memory and available for execution (Figure 8.3).</a:t>
            </a:r>
          </a:p>
          <a:p>
            <a:r>
              <a:rPr lang="en-US" sz="1200" kern="1200" baseline="0" dirty="0">
                <a:solidFill>
                  <a:schemeClr val="tx1"/>
                </a:solidFill>
                <a:latin typeface="Times New Roman" pitchFamily="-110" charset="0"/>
                <a:ea typeface="+mn-ea"/>
                <a:cs typeface="+mn-cs"/>
              </a:rPr>
              <a:t>That portion is referred to as the </a:t>
            </a:r>
            <a:r>
              <a:rPr lang="en-US" sz="1200" b="1" kern="1200" baseline="0" dirty="0">
                <a:solidFill>
                  <a:schemeClr val="tx1"/>
                </a:solidFill>
                <a:latin typeface="Times New Roman" pitchFamily="-110" charset="0"/>
                <a:ea typeface="+mn-ea"/>
                <a:cs typeface="+mn-cs"/>
              </a:rPr>
              <a:t>resident monitor. </a:t>
            </a:r>
            <a:r>
              <a:rPr lang="en-US" sz="1200" b="0" kern="1200" baseline="0" dirty="0">
                <a:solidFill>
                  <a:schemeClr val="tx1"/>
                </a:solidFill>
                <a:latin typeface="Times New Roman" pitchFamily="-110" charset="0"/>
                <a:ea typeface="+mn-ea"/>
                <a:cs typeface="+mn-cs"/>
              </a:rPr>
              <a:t>The rest of the monitor consists</a:t>
            </a:r>
          </a:p>
          <a:p>
            <a:r>
              <a:rPr lang="en-US" sz="1200" kern="1200" baseline="0" dirty="0">
                <a:solidFill>
                  <a:schemeClr val="tx1"/>
                </a:solidFill>
                <a:latin typeface="Times New Roman" pitchFamily="-110" charset="0"/>
                <a:ea typeface="+mn-ea"/>
                <a:cs typeface="+mn-cs"/>
              </a:rPr>
              <a:t>of utilities and common functions that are loaded as subroutines to the user program</a:t>
            </a:r>
          </a:p>
          <a:p>
            <a:r>
              <a:rPr lang="en-US" sz="1200" kern="1200" baseline="0" dirty="0">
                <a:solidFill>
                  <a:schemeClr val="tx1"/>
                </a:solidFill>
                <a:latin typeface="Times New Roman" pitchFamily="-110" charset="0"/>
                <a:ea typeface="+mn-ea"/>
                <a:cs typeface="+mn-cs"/>
              </a:rPr>
              <a:t>at the beginning of any job that requires them. The monitor reads in jobs one</a:t>
            </a:r>
          </a:p>
          <a:p>
            <a:r>
              <a:rPr lang="en-US" sz="1200" kern="1200" baseline="0" dirty="0">
                <a:solidFill>
                  <a:schemeClr val="tx1"/>
                </a:solidFill>
                <a:latin typeface="Times New Roman" pitchFamily="-110" charset="0"/>
                <a:ea typeface="+mn-ea"/>
                <a:cs typeface="+mn-cs"/>
              </a:rPr>
              <a:t>at a time from the input device (typically a card reader or magnetic tape drive). As it</a:t>
            </a:r>
          </a:p>
          <a:p>
            <a:r>
              <a:rPr lang="en-US" sz="1200" kern="1200" baseline="0" dirty="0">
                <a:solidFill>
                  <a:schemeClr val="tx1"/>
                </a:solidFill>
                <a:latin typeface="Times New Roman" pitchFamily="-110" charset="0"/>
                <a:ea typeface="+mn-ea"/>
                <a:cs typeface="+mn-cs"/>
              </a:rPr>
              <a:t>is read in, the current job is placed in the user program area, and control is passed to</a:t>
            </a:r>
          </a:p>
          <a:p>
            <a:r>
              <a:rPr lang="en-US" sz="1200" kern="1200" baseline="0" dirty="0">
                <a:solidFill>
                  <a:schemeClr val="tx1"/>
                </a:solidFill>
                <a:latin typeface="Times New Roman" pitchFamily="-110" charset="0"/>
                <a:ea typeface="+mn-ea"/>
                <a:cs typeface="+mn-cs"/>
              </a:rPr>
              <a:t>this job. When the job is completed, it returns control to the monitor, which immediately</a:t>
            </a:r>
          </a:p>
          <a:p>
            <a:r>
              <a:rPr lang="en-US" sz="1200" kern="1200" baseline="0" dirty="0">
                <a:solidFill>
                  <a:schemeClr val="tx1"/>
                </a:solidFill>
                <a:latin typeface="Times New Roman" pitchFamily="-110" charset="0"/>
                <a:ea typeface="+mn-ea"/>
                <a:cs typeface="+mn-cs"/>
              </a:rPr>
              <a:t>reads in the next job. The results of each job are printed out for delivery to</a:t>
            </a:r>
          </a:p>
          <a:p>
            <a:r>
              <a:rPr lang="en-US" sz="1200" kern="1200" baseline="0" dirty="0">
                <a:solidFill>
                  <a:schemeClr val="tx1"/>
                </a:solidFill>
                <a:latin typeface="Times New Roman" pitchFamily="-110" charset="0"/>
                <a:ea typeface="+mn-ea"/>
                <a:cs typeface="+mn-cs"/>
              </a:rPr>
              <a:t>the user.</a:t>
            </a:r>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99C4B3-BF83-A94A-86AD-58A249506119}" type="slidenum">
              <a:rPr lang="en-US"/>
              <a:pPr/>
              <a:t>13</a:t>
            </a:fld>
            <a:endParaRPr 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Bộ xử lý thực hiện các hướng dẫn từ phần bộ nhớ chính chứa màn hình</a:t>
            </a:r>
          </a:p>
          <a:p>
            <a:r>
              <a:rPr lang="vi-VN" sz="1200" kern="1200" baseline="0" dirty="0">
                <a:solidFill>
                  <a:schemeClr val="tx1"/>
                </a:solidFill>
                <a:latin typeface="Times New Roman" pitchFamily="-110" charset="0"/>
                <a:ea typeface="+mn-ea"/>
                <a:cs typeface="+mn-cs"/>
              </a:rPr>
              <a:t>Những hướng dẫn này sẽ khiến công việc tiếp theo được đọc ở phần khác của bộ nhớ chính</a:t>
            </a:r>
          </a:p>
          <a:p>
            <a:r>
              <a:rPr lang="vi-VN" sz="1200" kern="1200" baseline="0" dirty="0">
                <a:solidFill>
                  <a:schemeClr val="tx1"/>
                </a:solidFill>
                <a:latin typeface="Times New Roman" pitchFamily="-110" charset="0"/>
                <a:ea typeface="+mn-ea"/>
                <a:cs typeface="+mn-cs"/>
              </a:rPr>
              <a:t>Bộ xử lý thực hiện lệnh trong chương trình của người dùng cho đến khi nó gặp phải tình trạng kết thúc hoặc lỗi</a:t>
            </a:r>
          </a:p>
          <a:p>
            <a:r>
              <a:rPr lang="vi-VN" sz="1200" kern="1200" baseline="0" dirty="0">
                <a:solidFill>
                  <a:schemeClr val="tx1"/>
                </a:solidFill>
                <a:latin typeface="Times New Roman" pitchFamily="-110" charset="0"/>
                <a:ea typeface="+mn-ea"/>
                <a:cs typeface="+mn-cs"/>
              </a:rPr>
              <a:t>Một trong hai sự kiện này sẽ làm cho bộ xử lý tìm ra lệnh kế tiếp từ chương trình giám sát</a:t>
            </a:r>
          </a:p>
          <a:p>
            <a:r>
              <a:rPr lang="vi-VN" sz="1200" kern="1200" baseline="0" dirty="0">
                <a:solidFill>
                  <a:schemeClr val="tx1"/>
                </a:solidFill>
                <a:latin typeface="Times New Roman" pitchFamily="-110" charset="0"/>
                <a:ea typeface="+mn-ea"/>
                <a:cs typeface="+mn-cs"/>
              </a:rPr>
              <a:t>Màn hình xử lý thiết lập và lên kế hoạch</a:t>
            </a:r>
          </a:p>
          <a:p>
            <a:r>
              <a:rPr lang="vi-VN" sz="1200" kern="1200" baseline="0" dirty="0">
                <a:solidFill>
                  <a:schemeClr val="tx1"/>
                </a:solidFill>
                <a:latin typeface="Times New Roman" pitchFamily="-110" charset="0"/>
                <a:ea typeface="+mn-ea"/>
                <a:cs typeface="+mn-cs"/>
              </a:rPr>
              <a:t>Một loạt các công việc được xếp hàng đợi và được thực hiện càng nhanh càng tốt và không có thời gian nhàn rỗi</a:t>
            </a:r>
          </a:p>
          <a:p>
            <a:r>
              <a:rPr lang="vi-VN" sz="1200" kern="1200" baseline="0" dirty="0">
                <a:solidFill>
                  <a:schemeClr val="tx1"/>
                </a:solidFill>
                <a:latin typeface="Times New Roman" pitchFamily="-110" charset="0"/>
                <a:ea typeface="+mn-ea"/>
                <a:cs typeface="+mn-cs"/>
              </a:rPr>
              <a:t>Ngôn ngữ kiểm soát việc làm (JCL)</a:t>
            </a:r>
          </a:p>
          <a:p>
            <a:r>
              <a:rPr lang="vi-VN" sz="1200" kern="1200" baseline="0" dirty="0">
                <a:solidFill>
                  <a:schemeClr val="tx1"/>
                </a:solidFill>
                <a:latin typeface="Times New Roman" pitchFamily="-110" charset="0"/>
                <a:ea typeface="+mn-ea"/>
                <a:cs typeface="+mn-cs"/>
              </a:rPr>
              <a:t>Loại ngôn ngữ lập trình đặc biệt được sử dụng để cung cấp hướng dẫn cho màn hình</a:t>
            </a:r>
            <a:endParaRPr lang="en-US" sz="1200" kern="1200" baseline="0" dirty="0">
              <a:solidFill>
                <a:schemeClr val="tx1"/>
              </a:solidFill>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Bây giờ xem xét trình tự này từ quan điểm của bộ vi xử lý. Tại một số</a:t>
            </a:r>
          </a:p>
          <a:p>
            <a:r>
              <a:rPr lang="vi-VN" sz="1200" kern="1200" baseline="0" dirty="0">
                <a:solidFill>
                  <a:schemeClr val="tx1"/>
                </a:solidFill>
                <a:latin typeface="Times New Roman" pitchFamily="-110" charset="0"/>
                <a:ea typeface="+mn-ea"/>
                <a:cs typeface="+mn-cs"/>
              </a:rPr>
              <a:t>điểm trong thời gian, bộ xử lý đang thực hiện các hướng dẫn từ phần chính</a:t>
            </a:r>
          </a:p>
          <a:p>
            <a:r>
              <a:rPr lang="vi-VN" sz="1200" kern="1200" baseline="0" dirty="0">
                <a:solidFill>
                  <a:schemeClr val="tx1"/>
                </a:solidFill>
                <a:latin typeface="Times New Roman" pitchFamily="-110" charset="0"/>
                <a:ea typeface="+mn-ea"/>
                <a:cs typeface="+mn-cs"/>
              </a:rPr>
              <a:t>bộ nhớ chứa màn hình. Những hướng dẫn này sẽ khiến công việc kế tiếp được đọc</a:t>
            </a:r>
          </a:p>
          <a:p>
            <a:r>
              <a:rPr lang="vi-VN" sz="1200" kern="1200" baseline="0" dirty="0">
                <a:solidFill>
                  <a:schemeClr val="tx1"/>
                </a:solidFill>
                <a:latin typeface="Times New Roman" pitchFamily="-110" charset="0"/>
                <a:ea typeface="+mn-ea"/>
                <a:cs typeface="+mn-cs"/>
              </a:rPr>
              <a:t>vào một phần khác của bộ nhớ chính. Một khi công việc đã được đọc, bộ xử lý</a:t>
            </a:r>
          </a:p>
          <a:p>
            <a:r>
              <a:rPr lang="vi-VN" sz="1200" kern="1200" baseline="0" dirty="0">
                <a:solidFill>
                  <a:schemeClr val="tx1"/>
                </a:solidFill>
                <a:latin typeface="Times New Roman" pitchFamily="-110" charset="0"/>
                <a:ea typeface="+mn-ea"/>
                <a:cs typeface="+mn-cs"/>
              </a:rPr>
              <a:t>sẽ gặp phải trong màn hình một hướng dẫn chi nhánh hướng dẫn bộ xử lý</a:t>
            </a:r>
          </a:p>
          <a:p>
            <a:r>
              <a:rPr lang="vi-VN" sz="1200" kern="1200" baseline="0" dirty="0">
                <a:solidFill>
                  <a:schemeClr val="tx1"/>
                </a:solidFill>
                <a:latin typeface="Times New Roman" pitchFamily="-110" charset="0"/>
                <a:ea typeface="+mn-ea"/>
                <a:cs typeface="+mn-cs"/>
              </a:rPr>
              <a:t>tiếp tục thực hiện khi bắt đầu chương trình người dùng. Bộ xử lý sẽ thực hiện</a:t>
            </a:r>
          </a:p>
          <a:p>
            <a:r>
              <a:rPr lang="vi-VN" sz="1200" kern="1200" baseline="0" dirty="0">
                <a:solidFill>
                  <a:schemeClr val="tx1"/>
                </a:solidFill>
                <a:latin typeface="Times New Roman" pitchFamily="-110" charset="0"/>
                <a:ea typeface="+mn-ea"/>
                <a:cs typeface="+mn-cs"/>
              </a:rPr>
              <a:t>hướng dẫn trong chương trình của người dùng cho đến khi nó gặp phải tình trạng kết thúc hoặc lỗi.</a:t>
            </a:r>
          </a:p>
          <a:p>
            <a:r>
              <a:rPr lang="vi-VN" sz="1200" kern="1200" baseline="0" dirty="0">
                <a:solidFill>
                  <a:schemeClr val="tx1"/>
                </a:solidFill>
                <a:latin typeface="Times New Roman" pitchFamily="-110" charset="0"/>
                <a:ea typeface="+mn-ea"/>
                <a:cs typeface="+mn-cs"/>
              </a:rPr>
              <a:t>Một trong hai sự kiện này sẽ làm cho bộ xử lý tìm ra lệnh kế tiếp từ màn hình</a:t>
            </a:r>
          </a:p>
          <a:p>
            <a:r>
              <a:rPr lang="vi-VN" sz="1200" kern="1200" baseline="0" dirty="0">
                <a:solidFill>
                  <a:schemeClr val="tx1"/>
                </a:solidFill>
                <a:latin typeface="Times New Roman" pitchFamily="-110" charset="0"/>
                <a:ea typeface="+mn-ea"/>
                <a:cs typeface="+mn-cs"/>
              </a:rPr>
              <a:t>chương trình. Do đó cụm từ "kiểm soát được chuyển sang một công việc" chỉ đơn giản có nghĩa là bộ vi xử lý</a:t>
            </a:r>
          </a:p>
          <a:p>
            <a:r>
              <a:rPr lang="vi-VN" sz="1200" kern="1200" baseline="0" dirty="0">
                <a:solidFill>
                  <a:schemeClr val="tx1"/>
                </a:solidFill>
                <a:latin typeface="Times New Roman" pitchFamily="-110" charset="0"/>
                <a:ea typeface="+mn-ea"/>
                <a:cs typeface="+mn-cs"/>
              </a:rPr>
              <a:t>hiện đang tìm nạp và thực hiện các hướng dẫn trong một chương trình người dùng và "kiểm soát là</a:t>
            </a:r>
          </a:p>
          <a:p>
            <a:r>
              <a:rPr lang="vi-VN" sz="1200" kern="1200" baseline="0" dirty="0">
                <a:solidFill>
                  <a:schemeClr val="tx1"/>
                </a:solidFill>
                <a:latin typeface="Times New Roman" pitchFamily="-110" charset="0"/>
                <a:ea typeface="+mn-ea"/>
                <a:cs typeface="+mn-cs"/>
              </a:rPr>
              <a:t>trở lại màn hình "có nghĩa là bộ vi xử lý đang nạp và thực hiện</a:t>
            </a:r>
          </a:p>
          <a:p>
            <a:r>
              <a:rPr lang="vi-VN" sz="1200" kern="1200" baseline="0" dirty="0">
                <a:solidFill>
                  <a:schemeClr val="tx1"/>
                </a:solidFill>
                <a:latin typeface="Times New Roman" pitchFamily="-110" charset="0"/>
                <a:ea typeface="+mn-ea"/>
                <a:cs typeface="+mn-cs"/>
              </a:rPr>
              <a:t>hướng dẫn từ chương trình giám sát.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Nên rõ ràng rằng màn hình xử lý vấn đề lập lịch trình. Một đợt</a:t>
            </a:r>
          </a:p>
          <a:p>
            <a:r>
              <a:rPr lang="vi-VN" sz="1200" kern="1200" baseline="0" dirty="0">
                <a:solidFill>
                  <a:schemeClr val="tx1"/>
                </a:solidFill>
                <a:latin typeface="Times New Roman" pitchFamily="-110" charset="0"/>
                <a:ea typeface="+mn-ea"/>
                <a:cs typeface="+mn-cs"/>
              </a:rPr>
              <a:t>công việc được xếp hàng đợi, và công việc được thực hiện càng nhanh càng tốt mà không can thiệp</a:t>
            </a:r>
          </a:p>
          <a:p>
            <a:r>
              <a:rPr lang="vi-VN" sz="1200" kern="1200" baseline="0" dirty="0">
                <a:solidFill>
                  <a:schemeClr val="tx1"/>
                </a:solidFill>
                <a:latin typeface="Times New Roman" pitchFamily="-110" charset="0"/>
                <a:ea typeface="+mn-ea"/>
                <a:cs typeface="+mn-cs"/>
              </a:rPr>
              <a:t>thời gian nhàn rỗi.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Làm thế nào về thời gian thiết lập công việc? Màn hình xử lý này là tốt. Với mỗi</a:t>
            </a:r>
          </a:p>
          <a:p>
            <a:r>
              <a:rPr lang="vi-VN" sz="1200" kern="1200" baseline="0" dirty="0">
                <a:solidFill>
                  <a:schemeClr val="tx1"/>
                </a:solidFill>
                <a:latin typeface="Times New Roman" pitchFamily="-110" charset="0"/>
                <a:ea typeface="+mn-ea"/>
                <a:cs typeface="+mn-cs"/>
              </a:rPr>
              <a:t>công việc, hướng dẫn được bao gồm trong một ngôn ngữ kiểm soát việc làm (JCL). Đây là một loại đặc biệt</a:t>
            </a:r>
          </a:p>
          <a:p>
            <a:r>
              <a:rPr lang="vi-VN" sz="1200" kern="1200" baseline="0" dirty="0">
                <a:solidFill>
                  <a:schemeClr val="tx1"/>
                </a:solidFill>
                <a:latin typeface="Times New Roman" pitchFamily="-110" charset="0"/>
                <a:ea typeface="+mn-ea"/>
                <a:cs typeface="+mn-cs"/>
              </a:rPr>
              <a:t>của ngôn ngữ lập trình được sử dụng để cung cấp hướng dẫn cho màn hình. Đơn giản</a:t>
            </a:r>
          </a:p>
          <a:p>
            <a:r>
              <a:rPr lang="vi-VN" sz="1200" kern="1200" baseline="0" dirty="0">
                <a:solidFill>
                  <a:schemeClr val="tx1"/>
                </a:solidFill>
                <a:latin typeface="Times New Roman" pitchFamily="-110" charset="0"/>
                <a:ea typeface="+mn-ea"/>
                <a:cs typeface="+mn-cs"/>
              </a:rPr>
              <a:t>ví dụ là của một người sử dụng trình một chương trình viết bằng FORTRAN cộng với một số</a:t>
            </a:r>
          </a:p>
          <a:p>
            <a:r>
              <a:rPr lang="vi-VN" sz="1200" kern="1200" baseline="0" dirty="0">
                <a:solidFill>
                  <a:schemeClr val="tx1"/>
                </a:solidFill>
                <a:latin typeface="Times New Roman" pitchFamily="-110" charset="0"/>
                <a:ea typeface="+mn-ea"/>
                <a:cs typeface="+mn-cs"/>
              </a:rPr>
              <a:t>dữ liệu sẽ được sử dụng bởi chương trình. Mỗi lệnh của FORTRAN và mỗi mục của</a:t>
            </a:r>
          </a:p>
          <a:p>
            <a:r>
              <a:rPr lang="vi-VN" sz="1200" kern="1200" baseline="0" dirty="0">
                <a:solidFill>
                  <a:schemeClr val="tx1"/>
                </a:solidFill>
                <a:latin typeface="Times New Roman" pitchFamily="-110" charset="0"/>
                <a:ea typeface="+mn-ea"/>
                <a:cs typeface="+mn-cs"/>
              </a:rPr>
              <a:t>dữ liệu trên một thẻ đấm riêng biệt hoặc một bản ghi riêng trên băng. Ngoài</a:t>
            </a:r>
          </a:p>
          <a:p>
            <a:r>
              <a:rPr lang="vi-VN" sz="1200" kern="1200" baseline="0" dirty="0">
                <a:solidFill>
                  <a:schemeClr val="tx1"/>
                </a:solidFill>
                <a:latin typeface="Times New Roman" pitchFamily="-110" charset="0"/>
                <a:ea typeface="+mn-ea"/>
                <a:cs typeface="+mn-cs"/>
              </a:rPr>
              <a:t>FORTRAN và dòng dữ liệu, công việc bao gồm các hướng dẫn kiểm soát việc làm, được</a:t>
            </a:r>
          </a:p>
          <a:p>
            <a:r>
              <a:rPr lang="vi-VN" sz="1200" kern="1200" baseline="0" dirty="0">
                <a:solidFill>
                  <a:schemeClr val="tx1"/>
                </a:solidFill>
                <a:latin typeface="Times New Roman" pitchFamily="-110" charset="0"/>
                <a:ea typeface="+mn-ea"/>
                <a:cs typeface="+mn-cs"/>
              </a:rPr>
              <a:t>được biểu thị bằng đầu "$".</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thực hiện công việc này, màn hình đọc đường dây FTN và nạp các thiết bị thích hợp</a:t>
            </a:r>
          </a:p>
          <a:p>
            <a:r>
              <a:rPr lang="vi-VN" sz="1200" kern="1200" baseline="0" dirty="0">
                <a:solidFill>
                  <a:schemeClr val="tx1"/>
                </a:solidFill>
                <a:latin typeface="Times New Roman" pitchFamily="-110" charset="0"/>
                <a:ea typeface="+mn-ea"/>
                <a:cs typeface="+mn-cs"/>
              </a:rPr>
              <a:t>trình biên dịch từ lưu trữ hàng loạt của nó (thường là băng). Trình biên dịch dịch của người sử dụng</a:t>
            </a:r>
          </a:p>
          <a:p>
            <a:r>
              <a:rPr lang="vi-VN" sz="1200" kern="1200" baseline="0" dirty="0">
                <a:solidFill>
                  <a:schemeClr val="tx1"/>
                </a:solidFill>
                <a:latin typeface="Times New Roman" pitchFamily="-110" charset="0"/>
                <a:ea typeface="+mn-ea"/>
                <a:cs typeface="+mn-cs"/>
              </a:rPr>
              <a:t>chương trình vào mã đối tượng, được lưu trữ trong bộ nhớ hoặc lưu trữ khối lượng. Nếu nó được lưu trữ</a:t>
            </a:r>
          </a:p>
          <a:p>
            <a:r>
              <a:rPr lang="vi-VN" sz="1200" kern="1200" baseline="0" dirty="0">
                <a:solidFill>
                  <a:schemeClr val="tx1"/>
                </a:solidFill>
                <a:latin typeface="Times New Roman" pitchFamily="-110" charset="0"/>
                <a:ea typeface="+mn-ea"/>
                <a:cs typeface="+mn-cs"/>
              </a:rPr>
              <a:t>trong bộ nhớ, hoạt động được gọi là "biên dịch, tải, và đi." Nếu nó được lưu trữ</a:t>
            </a:r>
          </a:p>
          <a:p>
            <a:r>
              <a:rPr lang="vi-VN" sz="1200" kern="1200" baseline="0" dirty="0">
                <a:solidFill>
                  <a:schemeClr val="tx1"/>
                </a:solidFill>
                <a:latin typeface="Times New Roman" pitchFamily="-110" charset="0"/>
                <a:ea typeface="+mn-ea"/>
                <a:cs typeface="+mn-cs"/>
              </a:rPr>
              <a:t>trên băng, thì chỉ dẫn $ LOAD là bắt buộc. Hướng dẫn này được đọc bởi</a:t>
            </a:r>
          </a:p>
          <a:p>
            <a:r>
              <a:rPr lang="vi-VN" sz="1200" kern="1200" baseline="0" dirty="0">
                <a:solidFill>
                  <a:schemeClr val="tx1"/>
                </a:solidFill>
                <a:latin typeface="Times New Roman" pitchFamily="-110" charset="0"/>
                <a:ea typeface="+mn-ea"/>
                <a:cs typeface="+mn-cs"/>
              </a:rPr>
              <a:t>giám sát, kiểm soát lại sau khi hoạt động biên dịch. Màn hình gọi</a:t>
            </a:r>
          </a:p>
          <a:p>
            <a:r>
              <a:rPr lang="vi-VN" sz="1200" kern="1200" baseline="0" dirty="0">
                <a:solidFill>
                  <a:schemeClr val="tx1"/>
                </a:solidFill>
                <a:latin typeface="Times New Roman" pitchFamily="-110" charset="0"/>
                <a:ea typeface="+mn-ea"/>
                <a:cs typeface="+mn-cs"/>
              </a:rPr>
              <a:t>bộ nạp, nạp chương trình đối tượng vào bộ nhớ thay cho trình biên dịch</a:t>
            </a:r>
          </a:p>
          <a:p>
            <a:r>
              <a:rPr lang="vi-VN" sz="1200" kern="1200" baseline="0" dirty="0">
                <a:solidFill>
                  <a:schemeClr val="tx1"/>
                </a:solidFill>
                <a:latin typeface="Times New Roman" pitchFamily="-110" charset="0"/>
                <a:ea typeface="+mn-ea"/>
                <a:cs typeface="+mn-cs"/>
              </a:rPr>
              <a:t>và chuyển quyền kiểm soát tới nó. Theo cách này, một phân đoạn lớn bộ nhớ chính có thể</a:t>
            </a:r>
          </a:p>
          <a:p>
            <a:r>
              <a:rPr lang="vi-VN" sz="1200" kern="1200" baseline="0" dirty="0">
                <a:solidFill>
                  <a:schemeClr val="tx1"/>
                </a:solidFill>
                <a:latin typeface="Times New Roman" pitchFamily="-110" charset="0"/>
                <a:ea typeface="+mn-ea"/>
                <a:cs typeface="+mn-cs"/>
              </a:rPr>
              <a:t>được chia sẻ giữa các hệ thống con khác nhau, mặc dù chỉ có một hệ thống con như vậy có thể được</a:t>
            </a:r>
          </a:p>
          <a:p>
            <a:r>
              <a:rPr lang="vi-VN" sz="1200" kern="1200" baseline="0" dirty="0">
                <a:solidFill>
                  <a:schemeClr val="tx1"/>
                </a:solidFill>
                <a:latin typeface="Times New Roman" pitchFamily="-110" charset="0"/>
                <a:ea typeface="+mn-ea"/>
                <a:cs typeface="+mn-cs"/>
              </a:rPr>
              <a:t>cư trú và thực hiện tại một thời điểm.</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Chúng tôi thấy rằng màn hình, hoặc hệ điều hành lô, chỉ đơn giản là một chương trình máy tính. Nó dựa</a:t>
            </a:r>
          </a:p>
          <a:p>
            <a:r>
              <a:rPr lang="vi-VN" sz="1200" kern="1200" baseline="0" dirty="0">
                <a:solidFill>
                  <a:schemeClr val="tx1"/>
                </a:solidFill>
                <a:latin typeface="Times New Roman" pitchFamily="-110" charset="0"/>
                <a:ea typeface="+mn-ea"/>
                <a:cs typeface="+mn-cs"/>
              </a:rPr>
              <a:t>về khả năng của bộ xử lý để lấy hướng dẫn từ các phần khác nhau của chính</a:t>
            </a:r>
          </a:p>
          <a:p>
            <a:r>
              <a:rPr lang="vi-VN" sz="1200" kern="1200" baseline="0" dirty="0">
                <a:solidFill>
                  <a:schemeClr val="tx1"/>
                </a:solidFill>
                <a:latin typeface="Times New Roman" pitchFamily="-110" charset="0"/>
                <a:ea typeface="+mn-ea"/>
                <a:cs typeface="+mn-cs"/>
              </a:rPr>
              <a:t>bộ nhớ để nắm bắt và từ bỏ kiểm soát luân phiên.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Now consider this sequence from the point of view of the processor. At a certain</a:t>
            </a:r>
          </a:p>
          <a:p>
            <a:r>
              <a:rPr lang="en-US" sz="1200" kern="1200" baseline="0" dirty="0">
                <a:solidFill>
                  <a:schemeClr val="tx1"/>
                </a:solidFill>
                <a:latin typeface="Times New Roman" pitchFamily="-110" charset="0"/>
                <a:ea typeface="+mn-ea"/>
                <a:cs typeface="+mn-cs"/>
              </a:rPr>
              <a:t>point in time, the processor is executing instructions from the portion of main</a:t>
            </a:r>
          </a:p>
          <a:p>
            <a:r>
              <a:rPr lang="en-US" sz="1200" kern="1200" baseline="0" dirty="0">
                <a:solidFill>
                  <a:schemeClr val="tx1"/>
                </a:solidFill>
                <a:latin typeface="Times New Roman" pitchFamily="-110" charset="0"/>
                <a:ea typeface="+mn-ea"/>
                <a:cs typeface="+mn-cs"/>
              </a:rPr>
              <a:t>memory containing the monitor. These instructions cause the next job to be read</a:t>
            </a:r>
          </a:p>
          <a:p>
            <a:r>
              <a:rPr lang="en-US" sz="1200" kern="1200" baseline="0" dirty="0">
                <a:solidFill>
                  <a:schemeClr val="tx1"/>
                </a:solidFill>
                <a:latin typeface="Times New Roman" pitchFamily="-110" charset="0"/>
                <a:ea typeface="+mn-ea"/>
                <a:cs typeface="+mn-cs"/>
              </a:rPr>
              <a:t>in to another portion of main memory. Once a job has been read in, the processor</a:t>
            </a:r>
          </a:p>
          <a:p>
            <a:r>
              <a:rPr lang="en-US" sz="1200" kern="1200" baseline="0" dirty="0">
                <a:solidFill>
                  <a:schemeClr val="tx1"/>
                </a:solidFill>
                <a:latin typeface="Times New Roman" pitchFamily="-110" charset="0"/>
                <a:ea typeface="+mn-ea"/>
                <a:cs typeface="+mn-cs"/>
              </a:rPr>
              <a:t>will encounter in the monitor a branch instruction that instructs the processor to</a:t>
            </a:r>
          </a:p>
          <a:p>
            <a:r>
              <a:rPr lang="en-US" sz="1200" kern="1200" baseline="0" dirty="0">
                <a:solidFill>
                  <a:schemeClr val="tx1"/>
                </a:solidFill>
                <a:latin typeface="Times New Roman" pitchFamily="-110" charset="0"/>
                <a:ea typeface="+mn-ea"/>
                <a:cs typeface="+mn-cs"/>
              </a:rPr>
              <a:t>continue execution at the start of the user program. The processor will then execute</a:t>
            </a:r>
          </a:p>
          <a:p>
            <a:r>
              <a:rPr lang="en-US" sz="1200" kern="1200" baseline="0" dirty="0">
                <a:solidFill>
                  <a:schemeClr val="tx1"/>
                </a:solidFill>
                <a:latin typeface="Times New Roman" pitchFamily="-110" charset="0"/>
                <a:ea typeface="+mn-ea"/>
                <a:cs typeface="+mn-cs"/>
              </a:rPr>
              <a:t>the instruction in the user’s program until it encounters an ending or error condition.</a:t>
            </a:r>
          </a:p>
          <a:p>
            <a:r>
              <a:rPr lang="en-US" sz="1200" kern="1200" baseline="0" dirty="0">
                <a:solidFill>
                  <a:schemeClr val="tx1"/>
                </a:solidFill>
                <a:latin typeface="Times New Roman" pitchFamily="-110" charset="0"/>
                <a:ea typeface="+mn-ea"/>
                <a:cs typeface="+mn-cs"/>
              </a:rPr>
              <a:t>Either event causes the processor to fetch its next instruction from the monitor</a:t>
            </a:r>
          </a:p>
          <a:p>
            <a:r>
              <a:rPr lang="en-US" sz="1200" kern="1200" baseline="0" dirty="0">
                <a:solidFill>
                  <a:schemeClr val="tx1"/>
                </a:solidFill>
                <a:latin typeface="Times New Roman" pitchFamily="-110" charset="0"/>
                <a:ea typeface="+mn-ea"/>
                <a:cs typeface="+mn-cs"/>
              </a:rPr>
              <a:t>program. Thus the phrase “control is passed to a job” simply means that the processor</a:t>
            </a:r>
          </a:p>
          <a:p>
            <a:r>
              <a:rPr lang="en-US" sz="1200" kern="1200" baseline="0" dirty="0">
                <a:solidFill>
                  <a:schemeClr val="tx1"/>
                </a:solidFill>
                <a:latin typeface="Times New Roman" pitchFamily="-110" charset="0"/>
                <a:ea typeface="+mn-ea"/>
                <a:cs typeface="+mn-cs"/>
              </a:rPr>
              <a:t>is now fetching and executing instructions in a user program, and “control is</a:t>
            </a:r>
          </a:p>
          <a:p>
            <a:r>
              <a:rPr lang="en-US" sz="1200" kern="1200" baseline="0" dirty="0">
                <a:solidFill>
                  <a:schemeClr val="tx1"/>
                </a:solidFill>
                <a:latin typeface="Times New Roman" pitchFamily="-110" charset="0"/>
                <a:ea typeface="+mn-ea"/>
                <a:cs typeface="+mn-cs"/>
              </a:rPr>
              <a:t>returned to the monitor” means that the processor is now fetching and executing</a:t>
            </a:r>
          </a:p>
          <a:p>
            <a:r>
              <a:rPr lang="en-US" sz="1200" kern="1200" baseline="0" dirty="0">
                <a:solidFill>
                  <a:schemeClr val="tx1"/>
                </a:solidFill>
                <a:latin typeface="Times New Roman" pitchFamily="-110" charset="0"/>
                <a:ea typeface="+mn-ea"/>
                <a:cs typeface="+mn-cs"/>
              </a:rPr>
              <a:t>instructions from the monitor program.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It should be clear that the monitor handles the scheduling problem. A batch of</a:t>
            </a:r>
          </a:p>
          <a:p>
            <a:r>
              <a:rPr lang="en-US" sz="1200" kern="1200" baseline="0" dirty="0">
                <a:solidFill>
                  <a:schemeClr val="tx1"/>
                </a:solidFill>
                <a:latin typeface="Times New Roman" pitchFamily="-110" charset="0"/>
                <a:ea typeface="+mn-ea"/>
                <a:cs typeface="+mn-cs"/>
              </a:rPr>
              <a:t>jobs is queued up, and jobs are executed as rapidly as possible, with no intervening</a:t>
            </a:r>
          </a:p>
          <a:p>
            <a:r>
              <a:rPr lang="en-US" sz="1200" kern="1200" baseline="0" dirty="0">
                <a:solidFill>
                  <a:schemeClr val="tx1"/>
                </a:solidFill>
                <a:latin typeface="Times New Roman" pitchFamily="-110" charset="0"/>
                <a:ea typeface="+mn-ea"/>
                <a:cs typeface="+mn-cs"/>
              </a:rPr>
              <a:t>idle time.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How about the job setup time? The monitor handles this as well. With each</a:t>
            </a:r>
          </a:p>
          <a:p>
            <a:r>
              <a:rPr lang="en-US" sz="1200" kern="1200" baseline="0" dirty="0">
                <a:solidFill>
                  <a:schemeClr val="tx1"/>
                </a:solidFill>
                <a:latin typeface="Times New Roman" pitchFamily="-110" charset="0"/>
                <a:ea typeface="+mn-ea"/>
                <a:cs typeface="+mn-cs"/>
              </a:rPr>
              <a:t>job, instructions are included in a </a:t>
            </a:r>
            <a:r>
              <a:rPr lang="en-US" sz="1200" b="1" kern="1200" baseline="0" dirty="0">
                <a:solidFill>
                  <a:schemeClr val="tx1"/>
                </a:solidFill>
                <a:latin typeface="Times New Roman" pitchFamily="-110" charset="0"/>
                <a:ea typeface="+mn-ea"/>
                <a:cs typeface="+mn-cs"/>
              </a:rPr>
              <a:t>job control language (JCL). </a:t>
            </a:r>
            <a:r>
              <a:rPr lang="en-US" sz="1200" b="0" kern="1200" baseline="0" dirty="0">
                <a:solidFill>
                  <a:schemeClr val="tx1"/>
                </a:solidFill>
                <a:latin typeface="Times New Roman" pitchFamily="-110" charset="0"/>
                <a:ea typeface="+mn-ea"/>
                <a:cs typeface="+mn-cs"/>
              </a:rPr>
              <a:t>This is a special type</a:t>
            </a:r>
          </a:p>
          <a:p>
            <a:r>
              <a:rPr lang="en-US" sz="1200" kern="1200" baseline="0" dirty="0">
                <a:solidFill>
                  <a:schemeClr val="tx1"/>
                </a:solidFill>
                <a:latin typeface="Times New Roman" pitchFamily="-110" charset="0"/>
                <a:ea typeface="+mn-ea"/>
                <a:cs typeface="+mn-cs"/>
              </a:rPr>
              <a:t>of programming language used to provide instructions to the monitor. A simple</a:t>
            </a:r>
          </a:p>
          <a:p>
            <a:r>
              <a:rPr lang="en-US" sz="1200" kern="1200" baseline="0" dirty="0">
                <a:solidFill>
                  <a:schemeClr val="tx1"/>
                </a:solidFill>
                <a:latin typeface="Times New Roman" pitchFamily="-110" charset="0"/>
                <a:ea typeface="+mn-ea"/>
                <a:cs typeface="+mn-cs"/>
              </a:rPr>
              <a:t>example is that of a user submitting a program written in FORTRAN plus some</a:t>
            </a:r>
          </a:p>
          <a:p>
            <a:r>
              <a:rPr lang="en-US" sz="1200" kern="1200" baseline="0" dirty="0">
                <a:solidFill>
                  <a:schemeClr val="tx1"/>
                </a:solidFill>
                <a:latin typeface="Times New Roman" pitchFamily="-110" charset="0"/>
                <a:ea typeface="+mn-ea"/>
                <a:cs typeface="+mn-cs"/>
              </a:rPr>
              <a:t>data to be used by the program. Each FORTRAN instruction and each item of</a:t>
            </a:r>
          </a:p>
          <a:p>
            <a:r>
              <a:rPr lang="en-US" sz="1200" kern="1200" baseline="0" dirty="0">
                <a:solidFill>
                  <a:schemeClr val="tx1"/>
                </a:solidFill>
                <a:latin typeface="Times New Roman" pitchFamily="-110" charset="0"/>
                <a:ea typeface="+mn-ea"/>
                <a:cs typeface="+mn-cs"/>
              </a:rPr>
              <a:t>data is on a separate punched card or a separate record on tape. In addition to</a:t>
            </a:r>
          </a:p>
          <a:p>
            <a:r>
              <a:rPr lang="en-US" sz="1200" kern="1200" baseline="0" dirty="0">
                <a:solidFill>
                  <a:schemeClr val="tx1"/>
                </a:solidFill>
                <a:latin typeface="Times New Roman" pitchFamily="-110" charset="0"/>
                <a:ea typeface="+mn-ea"/>
                <a:cs typeface="+mn-cs"/>
              </a:rPr>
              <a:t>FORTRAN and data lines, the job includes job control instructions, which are</a:t>
            </a:r>
          </a:p>
          <a:p>
            <a:r>
              <a:rPr lang="en-US" sz="1200" kern="1200" baseline="0" dirty="0">
                <a:solidFill>
                  <a:schemeClr val="tx1"/>
                </a:solidFill>
                <a:latin typeface="Times New Roman" pitchFamily="-110" charset="0"/>
                <a:ea typeface="+mn-ea"/>
                <a:cs typeface="+mn-cs"/>
              </a:rPr>
              <a:t>denoted by the beginning “$”.</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execute this job, the monitor reads the $FTN line and loads the appropriate</a:t>
            </a:r>
          </a:p>
          <a:p>
            <a:r>
              <a:rPr lang="en-US" sz="1200" kern="1200" baseline="0" dirty="0">
                <a:solidFill>
                  <a:schemeClr val="tx1"/>
                </a:solidFill>
                <a:latin typeface="Times New Roman" pitchFamily="-110" charset="0"/>
                <a:ea typeface="+mn-ea"/>
                <a:cs typeface="+mn-cs"/>
              </a:rPr>
              <a:t>compiler from its mass storage (usually tape). The compiler translates the user’s</a:t>
            </a:r>
          </a:p>
          <a:p>
            <a:r>
              <a:rPr lang="en-US" sz="1200" kern="1200" baseline="0" dirty="0">
                <a:solidFill>
                  <a:schemeClr val="tx1"/>
                </a:solidFill>
                <a:latin typeface="Times New Roman" pitchFamily="-110" charset="0"/>
                <a:ea typeface="+mn-ea"/>
                <a:cs typeface="+mn-cs"/>
              </a:rPr>
              <a:t>program into object code, which is stored in memory or mass storage. If it is stored</a:t>
            </a:r>
          </a:p>
          <a:p>
            <a:r>
              <a:rPr lang="en-US" sz="1200" kern="1200" baseline="0" dirty="0">
                <a:solidFill>
                  <a:schemeClr val="tx1"/>
                </a:solidFill>
                <a:latin typeface="Times New Roman" pitchFamily="-110" charset="0"/>
                <a:ea typeface="+mn-ea"/>
                <a:cs typeface="+mn-cs"/>
              </a:rPr>
              <a:t>in memory, the operation is referred to as “compile, load, and go.” If it is stored</a:t>
            </a:r>
          </a:p>
          <a:p>
            <a:r>
              <a:rPr lang="en-US" sz="1200" kern="1200" baseline="0" dirty="0">
                <a:solidFill>
                  <a:schemeClr val="tx1"/>
                </a:solidFill>
                <a:latin typeface="Times New Roman" pitchFamily="-110" charset="0"/>
                <a:ea typeface="+mn-ea"/>
                <a:cs typeface="+mn-cs"/>
              </a:rPr>
              <a:t>on tape, then the $LOAD instruction is required. This instruction is read by the</a:t>
            </a:r>
          </a:p>
          <a:p>
            <a:r>
              <a:rPr lang="en-US" sz="1200" kern="1200" baseline="0" dirty="0">
                <a:solidFill>
                  <a:schemeClr val="tx1"/>
                </a:solidFill>
                <a:latin typeface="Times New Roman" pitchFamily="-110" charset="0"/>
                <a:ea typeface="+mn-ea"/>
                <a:cs typeface="+mn-cs"/>
              </a:rPr>
              <a:t>monitor, which regains control after the compile operation. The monitor invokes</a:t>
            </a:r>
          </a:p>
          <a:p>
            <a:r>
              <a:rPr lang="en-US" sz="1200" kern="1200" baseline="0" dirty="0">
                <a:solidFill>
                  <a:schemeClr val="tx1"/>
                </a:solidFill>
                <a:latin typeface="Times New Roman" pitchFamily="-110" charset="0"/>
                <a:ea typeface="+mn-ea"/>
                <a:cs typeface="+mn-cs"/>
              </a:rPr>
              <a:t>the loader, which loads the object program into memory in place of the compiler</a:t>
            </a:r>
          </a:p>
          <a:p>
            <a:r>
              <a:rPr lang="en-US" sz="1200" kern="1200" baseline="0" dirty="0">
                <a:solidFill>
                  <a:schemeClr val="tx1"/>
                </a:solidFill>
                <a:latin typeface="Times New Roman" pitchFamily="-110" charset="0"/>
                <a:ea typeface="+mn-ea"/>
                <a:cs typeface="+mn-cs"/>
              </a:rPr>
              <a:t>and transfers control to it. In this manner, a large segment of main memory can</a:t>
            </a:r>
          </a:p>
          <a:p>
            <a:r>
              <a:rPr lang="en-US" sz="1200" kern="1200" baseline="0" dirty="0">
                <a:solidFill>
                  <a:schemeClr val="tx1"/>
                </a:solidFill>
                <a:latin typeface="Times New Roman" pitchFamily="-110" charset="0"/>
                <a:ea typeface="+mn-ea"/>
                <a:cs typeface="+mn-cs"/>
              </a:rPr>
              <a:t>be shared among different subsystems, although only one such subsystem could be</a:t>
            </a:r>
          </a:p>
          <a:p>
            <a:r>
              <a:rPr lang="en-US" sz="1200" kern="1200" baseline="0" dirty="0">
                <a:solidFill>
                  <a:schemeClr val="tx1"/>
                </a:solidFill>
                <a:latin typeface="Times New Roman" pitchFamily="-110" charset="0"/>
                <a:ea typeface="+mn-ea"/>
                <a:cs typeface="+mn-cs"/>
              </a:rPr>
              <a:t>resident and executing at a time.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We see that the monitor, or batch OS, is simply a computer program. It relies</a:t>
            </a:r>
          </a:p>
          <a:p>
            <a:r>
              <a:rPr lang="en-US" sz="1200" kern="1200" baseline="0" dirty="0">
                <a:solidFill>
                  <a:schemeClr val="tx1"/>
                </a:solidFill>
                <a:latin typeface="Times New Roman" pitchFamily="-110" charset="0"/>
                <a:ea typeface="+mn-ea"/>
                <a:cs typeface="+mn-cs"/>
              </a:rPr>
              <a:t>on the ability of the processor to fetch instructions from various portions of main</a:t>
            </a:r>
          </a:p>
          <a:p>
            <a:r>
              <a:rPr lang="en-US" sz="1200" kern="1200" baseline="0" dirty="0">
                <a:solidFill>
                  <a:schemeClr val="tx1"/>
                </a:solidFill>
                <a:latin typeface="Times New Roman" pitchFamily="-110" charset="0"/>
                <a:ea typeface="+mn-ea"/>
                <a:cs typeface="+mn-cs"/>
              </a:rPr>
              <a:t>memory in order to seize and relinquish control alternately.</a:t>
            </a:r>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99C4B3-BF83-A94A-86AD-58A249506119}" type="slidenum">
              <a:rPr lang="en-US"/>
              <a:pPr/>
              <a:t>14</a:t>
            </a:fld>
            <a:endParaRPr lang="en-US" dirty="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vi-VN" dirty="0"/>
              <a:t>** Mỗi lệnh của FORTRAN và mỗi mục dữ liệu đều có trên một thẻ đục lỗ riêng biệt hoặc một bản ghi riêng trên băng. Ngoài FORTRAN và dòng dữ liệu, công việc bao gồm các hướng dẫn kiểm soát việc làm, được</a:t>
            </a:r>
          </a:p>
          <a:p>
            <a:r>
              <a:rPr lang="vi-VN" dirty="0"/>
              <a:t>được biểu thị bằng đầu "$".</a:t>
            </a:r>
            <a:endParaRPr lang="en-US" dirty="0"/>
          </a:p>
          <a:p>
            <a:r>
              <a:rPr lang="vi-VN" dirty="0"/>
              <a:t>Màn hình, hoặc hệ điều hành lô, chỉ đơn giản là một chương trình máy tính</a:t>
            </a:r>
          </a:p>
          <a:p>
            <a:r>
              <a:rPr lang="vi-VN" dirty="0"/>
              <a:t>Nó dựa vào khả năng của bộ vi xử lý để lấy hướng dẫn từ các phần khác nhau của bộ nhớ chính để nắm bắt và từ bỏ kiểm soát luân phiên</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EB735A-2130-4B42-940E-D8E5F666A931}" type="slidenum">
              <a:rPr lang="en-US"/>
              <a:pPr/>
              <a:t>15</a:t>
            </a:fld>
            <a:endParaRPr lang="en-US" dirty="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lang="en-US" dirty="0">
                <a:solidFill>
                  <a:srgbClr val="002060"/>
                </a:solidFill>
              </a:rPr>
              <a:t>Relinquishing: </a:t>
            </a:r>
            <a:r>
              <a:rPr lang="en-US" dirty="0" err="1">
                <a:solidFill>
                  <a:srgbClr val="002060"/>
                </a:solidFill>
              </a:rPr>
              <a:t>từ</a:t>
            </a:r>
            <a:r>
              <a:rPr lang="en-US" dirty="0">
                <a:solidFill>
                  <a:srgbClr val="002060"/>
                </a:solidFill>
              </a:rPr>
              <a:t> </a:t>
            </a:r>
            <a:r>
              <a:rPr lang="en-US" dirty="0" err="1">
                <a:solidFill>
                  <a:srgbClr val="002060"/>
                </a:solidFill>
              </a:rPr>
              <a:t>bỏ</a:t>
            </a:r>
            <a:endParaRPr lang="en-US" sz="1200" kern="1200" baseline="0" dirty="0">
              <a:solidFill>
                <a:schemeClr val="tx1"/>
              </a:solidFill>
              <a:latin typeface="Times New Roman" pitchFamily="-110" charset="0"/>
              <a:ea typeface="+mn-ea"/>
              <a:cs typeface="+mn-cs"/>
            </a:endParaRP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Certain other hardware features are also desirable: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Memory protection: </a:t>
            </a:r>
            <a:r>
              <a:rPr lang="en-US" sz="1200" b="0" kern="1200" baseline="0" dirty="0">
                <a:solidFill>
                  <a:schemeClr val="tx1"/>
                </a:solidFill>
                <a:latin typeface="Times New Roman" pitchFamily="-110" charset="0"/>
                <a:ea typeface="+mn-ea"/>
                <a:cs typeface="+mn-cs"/>
              </a:rPr>
              <a:t>While the user program is executing, it must not alter the</a:t>
            </a:r>
          </a:p>
          <a:p>
            <a:r>
              <a:rPr lang="en-US" sz="1200" kern="1200" baseline="0" dirty="0">
                <a:solidFill>
                  <a:schemeClr val="tx1"/>
                </a:solidFill>
                <a:latin typeface="Times New Roman" pitchFamily="-110" charset="0"/>
                <a:ea typeface="+mn-ea"/>
                <a:cs typeface="+mn-cs"/>
              </a:rPr>
              <a:t>memory area containing the monitor. If such an attempt is made, the processor</a:t>
            </a:r>
          </a:p>
          <a:p>
            <a:r>
              <a:rPr lang="en-US" sz="1200" kern="1200" baseline="0" dirty="0">
                <a:solidFill>
                  <a:schemeClr val="tx1"/>
                </a:solidFill>
                <a:latin typeface="Times New Roman" pitchFamily="-110" charset="0"/>
                <a:ea typeface="+mn-ea"/>
                <a:cs typeface="+mn-cs"/>
              </a:rPr>
              <a:t>hardware should detect an error and transfer control to the monitor. The</a:t>
            </a:r>
          </a:p>
          <a:p>
            <a:r>
              <a:rPr lang="en-US" sz="1200" kern="1200" baseline="0" dirty="0">
                <a:solidFill>
                  <a:schemeClr val="tx1"/>
                </a:solidFill>
                <a:latin typeface="Times New Roman" pitchFamily="-110" charset="0"/>
                <a:ea typeface="+mn-ea"/>
                <a:cs typeface="+mn-cs"/>
              </a:rPr>
              <a:t>monitor would then abort the job, print out an error message, and load the</a:t>
            </a:r>
          </a:p>
          <a:p>
            <a:r>
              <a:rPr lang="en-US" sz="1200" kern="1200" baseline="0" dirty="0">
                <a:solidFill>
                  <a:schemeClr val="tx1"/>
                </a:solidFill>
                <a:latin typeface="Times New Roman" pitchFamily="-110" charset="0"/>
                <a:ea typeface="+mn-ea"/>
                <a:cs typeface="+mn-cs"/>
              </a:rPr>
              <a:t>next job.</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Timer: </a:t>
            </a:r>
            <a:r>
              <a:rPr lang="en-US" sz="1200" b="0" kern="1200" baseline="0" dirty="0">
                <a:solidFill>
                  <a:schemeClr val="tx1"/>
                </a:solidFill>
                <a:latin typeface="Times New Roman" pitchFamily="-110" charset="0"/>
                <a:ea typeface="+mn-ea"/>
                <a:cs typeface="+mn-cs"/>
              </a:rPr>
              <a:t>A timer is used to prevent a single job from monopolizing the system.</a:t>
            </a:r>
          </a:p>
          <a:p>
            <a:r>
              <a:rPr lang="en-US" sz="1200" kern="1200" baseline="0" dirty="0">
                <a:solidFill>
                  <a:schemeClr val="tx1"/>
                </a:solidFill>
                <a:latin typeface="Times New Roman" pitchFamily="-110" charset="0"/>
                <a:ea typeface="+mn-ea"/>
                <a:cs typeface="+mn-cs"/>
              </a:rPr>
              <a:t>The timer is set at the beginning of each job. If the timer expires, an interrupt</a:t>
            </a:r>
          </a:p>
          <a:p>
            <a:r>
              <a:rPr lang="en-US" sz="1200" kern="1200" baseline="0" dirty="0">
                <a:solidFill>
                  <a:schemeClr val="tx1"/>
                </a:solidFill>
                <a:latin typeface="Times New Roman" pitchFamily="-110" charset="0"/>
                <a:ea typeface="+mn-ea"/>
                <a:cs typeface="+mn-cs"/>
              </a:rPr>
              <a:t>occurs, and control returns to the monitor.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Privileged instructions: </a:t>
            </a:r>
            <a:r>
              <a:rPr lang="en-US" sz="1200" b="0" kern="1200" baseline="0" dirty="0">
                <a:solidFill>
                  <a:schemeClr val="tx1"/>
                </a:solidFill>
                <a:latin typeface="Times New Roman" pitchFamily="-110" charset="0"/>
                <a:ea typeface="+mn-ea"/>
                <a:cs typeface="+mn-cs"/>
              </a:rPr>
              <a:t>Certain instructions are designated privileged and can</a:t>
            </a:r>
          </a:p>
          <a:p>
            <a:r>
              <a:rPr lang="en-US" sz="1200" kern="1200" baseline="0" dirty="0">
                <a:solidFill>
                  <a:schemeClr val="tx1"/>
                </a:solidFill>
                <a:latin typeface="Times New Roman" pitchFamily="-110" charset="0"/>
                <a:ea typeface="+mn-ea"/>
                <a:cs typeface="+mn-cs"/>
              </a:rPr>
              <a:t>be executed only by the monitor. If the processor encounters such an instruction</a:t>
            </a:r>
          </a:p>
          <a:p>
            <a:r>
              <a:rPr lang="en-US" sz="1200" kern="1200" baseline="0" dirty="0">
                <a:solidFill>
                  <a:schemeClr val="tx1"/>
                </a:solidFill>
                <a:latin typeface="Times New Roman" pitchFamily="-110" charset="0"/>
                <a:ea typeface="+mn-ea"/>
                <a:cs typeface="+mn-cs"/>
              </a:rPr>
              <a:t>while executing a user program, an error interrupt occurs. Among the</a:t>
            </a:r>
          </a:p>
          <a:p>
            <a:r>
              <a:rPr lang="en-US" sz="1200" kern="1200" baseline="0" dirty="0">
                <a:solidFill>
                  <a:schemeClr val="tx1"/>
                </a:solidFill>
                <a:latin typeface="Times New Roman" pitchFamily="-110" charset="0"/>
                <a:ea typeface="+mn-ea"/>
                <a:cs typeface="+mn-cs"/>
              </a:rPr>
              <a:t>privileged instructions are I/O instructions, so that the monitor retains control</a:t>
            </a:r>
          </a:p>
          <a:p>
            <a:r>
              <a:rPr lang="en-US" sz="1200" kern="1200" baseline="0" dirty="0">
                <a:solidFill>
                  <a:schemeClr val="tx1"/>
                </a:solidFill>
                <a:latin typeface="Times New Roman" pitchFamily="-110" charset="0"/>
                <a:ea typeface="+mn-ea"/>
                <a:cs typeface="+mn-cs"/>
              </a:rPr>
              <a:t>of all I/O devices. This prevents, for example, a user program from accidentally</a:t>
            </a:r>
          </a:p>
          <a:p>
            <a:r>
              <a:rPr lang="en-US" sz="1200" kern="1200" baseline="0" dirty="0">
                <a:solidFill>
                  <a:schemeClr val="tx1"/>
                </a:solidFill>
                <a:latin typeface="Times New Roman" pitchFamily="-110" charset="0"/>
                <a:ea typeface="+mn-ea"/>
                <a:cs typeface="+mn-cs"/>
              </a:rPr>
              <a:t>reading job control instructions from the next job. If a user program</a:t>
            </a:r>
          </a:p>
          <a:p>
            <a:r>
              <a:rPr lang="en-US" sz="1200" kern="1200" baseline="0" dirty="0">
                <a:solidFill>
                  <a:schemeClr val="tx1"/>
                </a:solidFill>
                <a:latin typeface="Times New Roman" pitchFamily="-110" charset="0"/>
                <a:ea typeface="+mn-ea"/>
                <a:cs typeface="+mn-cs"/>
              </a:rPr>
              <a:t>wishes to perform I/O, it must request that the monitor perform the operation</a:t>
            </a:r>
          </a:p>
          <a:p>
            <a:r>
              <a:rPr lang="en-US" sz="1200" kern="1200" baseline="0" dirty="0">
                <a:solidFill>
                  <a:schemeClr val="tx1"/>
                </a:solidFill>
                <a:latin typeface="Times New Roman" pitchFamily="-110" charset="0"/>
                <a:ea typeface="+mn-ea"/>
                <a:cs typeface="+mn-cs"/>
              </a:rPr>
              <a:t>for it. If a privileged instruction is encountered by the processor while it is</a:t>
            </a:r>
          </a:p>
          <a:p>
            <a:r>
              <a:rPr lang="en-US" sz="1200" kern="1200" baseline="0" dirty="0">
                <a:solidFill>
                  <a:schemeClr val="tx1"/>
                </a:solidFill>
                <a:latin typeface="Times New Roman" pitchFamily="-110" charset="0"/>
                <a:ea typeface="+mn-ea"/>
                <a:cs typeface="+mn-cs"/>
              </a:rPr>
              <a:t>executing a user program, the processor hardware considers this an error and</a:t>
            </a:r>
          </a:p>
          <a:p>
            <a:r>
              <a:rPr lang="en-US" sz="1200" kern="1200" baseline="0" dirty="0">
                <a:solidFill>
                  <a:schemeClr val="tx1"/>
                </a:solidFill>
                <a:latin typeface="Times New Roman" pitchFamily="-110" charset="0"/>
                <a:ea typeface="+mn-ea"/>
                <a:cs typeface="+mn-cs"/>
              </a:rPr>
              <a:t>transfers control to the monitor.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Interrupts: </a:t>
            </a:r>
            <a:r>
              <a:rPr lang="en-US" sz="1200" b="0" kern="1200" baseline="0" dirty="0">
                <a:solidFill>
                  <a:schemeClr val="tx1"/>
                </a:solidFill>
                <a:latin typeface="Times New Roman" pitchFamily="-110" charset="0"/>
                <a:ea typeface="+mn-ea"/>
                <a:cs typeface="+mn-cs"/>
              </a:rPr>
              <a:t>Early computer models did not have this capability. This feature</a:t>
            </a:r>
          </a:p>
          <a:p>
            <a:r>
              <a:rPr lang="en-US" sz="1200" kern="1200" baseline="0" dirty="0">
                <a:solidFill>
                  <a:schemeClr val="tx1"/>
                </a:solidFill>
                <a:latin typeface="Times New Roman" pitchFamily="-110" charset="0"/>
                <a:ea typeface="+mn-ea"/>
                <a:cs typeface="+mn-cs"/>
              </a:rPr>
              <a:t>gives the OS more flexibility in relinquishing control to and regaining control</a:t>
            </a:r>
          </a:p>
          <a:p>
            <a:r>
              <a:rPr lang="en-US" sz="1200" kern="1200" baseline="0" dirty="0">
                <a:solidFill>
                  <a:schemeClr val="tx1"/>
                </a:solidFill>
                <a:latin typeface="Times New Roman" pitchFamily="-110" charset="0"/>
                <a:ea typeface="+mn-ea"/>
                <a:cs typeface="+mn-cs"/>
              </a:rPr>
              <a:t>from user programs.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Processor time alternates between execution of user programs and execution</a:t>
            </a:r>
          </a:p>
          <a:p>
            <a:r>
              <a:rPr lang="vi-VN" sz="1200" kern="1200" baseline="0" dirty="0">
                <a:solidFill>
                  <a:schemeClr val="tx1"/>
                </a:solidFill>
                <a:latin typeface="Times New Roman" pitchFamily="-110" charset="0"/>
                <a:ea typeface="+mn-ea"/>
                <a:cs typeface="+mn-cs"/>
              </a:rPr>
              <a:t>Một số tính năng phần cứng khác cũng được mong muốn: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Bảo vệ bộ nhớ: Trong khi chương trình người dùng đang chạy, nó không được làm thay đổi</a:t>
            </a:r>
          </a:p>
          <a:p>
            <a:r>
              <a:rPr lang="vi-VN" sz="1200" kern="1200" baseline="0" dirty="0">
                <a:solidFill>
                  <a:schemeClr val="tx1"/>
                </a:solidFill>
                <a:latin typeface="Times New Roman" pitchFamily="-110" charset="0"/>
                <a:ea typeface="+mn-ea"/>
                <a:cs typeface="+mn-cs"/>
              </a:rPr>
              <a:t>vùng bộ nhớ chứa màn hình. Nếu cố gắng đó được thực hiện, bộ vi xử lý</a:t>
            </a:r>
          </a:p>
          <a:p>
            <a:r>
              <a:rPr lang="vi-VN" sz="1200" kern="1200" baseline="0" dirty="0">
                <a:solidFill>
                  <a:schemeClr val="tx1"/>
                </a:solidFill>
                <a:latin typeface="Times New Roman" pitchFamily="-110" charset="0"/>
                <a:ea typeface="+mn-ea"/>
                <a:cs typeface="+mn-cs"/>
              </a:rPr>
              <a:t>phần cứng sẽ phát hiện lỗi và chuyển quyền kiểm soát sang màn hình. Các</a:t>
            </a:r>
          </a:p>
          <a:p>
            <a:r>
              <a:rPr lang="vi-VN" sz="1200" kern="1200" baseline="0" dirty="0">
                <a:solidFill>
                  <a:schemeClr val="tx1"/>
                </a:solidFill>
                <a:latin typeface="Times New Roman" pitchFamily="-110" charset="0"/>
                <a:ea typeface="+mn-ea"/>
                <a:cs typeface="+mn-cs"/>
              </a:rPr>
              <a:t>màn hình sau đó sẽ hủy bỏ công việc, in ra một thông báo lỗi, và tải</a:t>
            </a:r>
          </a:p>
          <a:p>
            <a:r>
              <a:rPr lang="vi-VN" sz="1200" kern="1200" baseline="0" dirty="0">
                <a:solidFill>
                  <a:schemeClr val="tx1"/>
                </a:solidFill>
                <a:latin typeface="Times New Roman" pitchFamily="-110" charset="0"/>
                <a:ea typeface="+mn-ea"/>
                <a:cs typeface="+mn-cs"/>
              </a:rPr>
              <a:t>Công việc tiếp theo.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Timer: Một bộ đếm thời gian được sử dụng để ngăn chặn một công việc duy nhất từ ​​monopolizing hệ thống.</a:t>
            </a:r>
          </a:p>
          <a:p>
            <a:r>
              <a:rPr lang="vi-VN" sz="1200" kern="1200" baseline="0" dirty="0">
                <a:solidFill>
                  <a:schemeClr val="tx1"/>
                </a:solidFill>
                <a:latin typeface="Times New Roman" pitchFamily="-110" charset="0"/>
                <a:ea typeface="+mn-ea"/>
                <a:cs typeface="+mn-cs"/>
              </a:rPr>
              <a:t>Bộ hẹn giờ được đặt ở đầu mỗi công việc. Nếu hẹn giờ hết hạn, một ngắt</a:t>
            </a:r>
          </a:p>
          <a:p>
            <a:r>
              <a:rPr lang="vi-VN" sz="1200" kern="1200" baseline="0" dirty="0">
                <a:solidFill>
                  <a:schemeClr val="tx1"/>
                </a:solidFill>
                <a:latin typeface="Times New Roman" pitchFamily="-110" charset="0"/>
                <a:ea typeface="+mn-ea"/>
                <a:cs typeface="+mn-cs"/>
              </a:rPr>
              <a:t>xảy ra và kiểm soát trở về màn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Chỉ dẫn ưu tiên: Một số hướng dẫn đặc biệt được đặc quyền và có thể</a:t>
            </a:r>
          </a:p>
          <a:p>
            <a:r>
              <a:rPr lang="vi-VN" sz="1200" kern="1200" baseline="0" dirty="0">
                <a:solidFill>
                  <a:schemeClr val="tx1"/>
                </a:solidFill>
                <a:latin typeface="Times New Roman" pitchFamily="-110" charset="0"/>
                <a:ea typeface="+mn-ea"/>
                <a:cs typeface="+mn-cs"/>
              </a:rPr>
              <a:t>chỉ được thực hiện bởi màn hình. Nếu bộ xử lý gặp một lệnh như vậy</a:t>
            </a:r>
          </a:p>
          <a:p>
            <a:r>
              <a:rPr lang="vi-VN" sz="1200" kern="1200" baseline="0" dirty="0">
                <a:solidFill>
                  <a:schemeClr val="tx1"/>
                </a:solidFill>
                <a:latin typeface="Times New Roman" pitchFamily="-110" charset="0"/>
                <a:ea typeface="+mn-ea"/>
                <a:cs typeface="+mn-cs"/>
              </a:rPr>
              <a:t>trong khi thực hiện một chương trình người sử dụng, một gián đoạn lỗi xảy ra. Trong sô</a:t>
            </a:r>
          </a:p>
          <a:p>
            <a:r>
              <a:rPr lang="vi-VN" sz="1200" kern="1200" baseline="0" dirty="0">
                <a:solidFill>
                  <a:schemeClr val="tx1"/>
                </a:solidFill>
                <a:latin typeface="Times New Roman" pitchFamily="-110" charset="0"/>
                <a:ea typeface="+mn-ea"/>
                <a:cs typeface="+mn-cs"/>
              </a:rPr>
              <a:t>hướng dẫn đặc quyền là hướng dẫn I / O, để màn hình duy trì quyền kiểm soát</a:t>
            </a:r>
          </a:p>
          <a:p>
            <a:r>
              <a:rPr lang="vi-VN" sz="1200" kern="1200" baseline="0" dirty="0">
                <a:solidFill>
                  <a:schemeClr val="tx1"/>
                </a:solidFill>
                <a:latin typeface="Times New Roman" pitchFamily="-110" charset="0"/>
                <a:ea typeface="+mn-ea"/>
                <a:cs typeface="+mn-cs"/>
              </a:rPr>
              <a:t>của tất cả các thiết bị I / O. Điều này ngăn cản, ví dụ, một chương trình người dùng vô tình</a:t>
            </a:r>
          </a:p>
          <a:p>
            <a:r>
              <a:rPr lang="vi-VN" sz="1200" kern="1200" baseline="0" dirty="0">
                <a:solidFill>
                  <a:schemeClr val="tx1"/>
                </a:solidFill>
                <a:latin typeface="Times New Roman" pitchFamily="-110" charset="0"/>
                <a:ea typeface="+mn-ea"/>
                <a:cs typeface="+mn-cs"/>
              </a:rPr>
              <a:t>đọc hướng dẫn kiểm soát công việc từ công việc tiếp theo. Nếu một chương trình người dùng</a:t>
            </a:r>
          </a:p>
          <a:p>
            <a:r>
              <a:rPr lang="vi-VN" sz="1200" kern="1200" baseline="0" dirty="0">
                <a:solidFill>
                  <a:schemeClr val="tx1"/>
                </a:solidFill>
                <a:latin typeface="Times New Roman" pitchFamily="-110" charset="0"/>
                <a:ea typeface="+mn-ea"/>
                <a:cs typeface="+mn-cs"/>
              </a:rPr>
              <a:t>mong muốn thực hiện I / O, nó phải yêu cầu màn hình thực hiện các hoạt động</a:t>
            </a:r>
          </a:p>
          <a:p>
            <a:r>
              <a:rPr lang="vi-VN" sz="1200" kern="1200" baseline="0" dirty="0">
                <a:solidFill>
                  <a:schemeClr val="tx1"/>
                </a:solidFill>
                <a:latin typeface="Times New Roman" pitchFamily="-110" charset="0"/>
                <a:ea typeface="+mn-ea"/>
                <a:cs typeface="+mn-cs"/>
              </a:rPr>
              <a:t>cho nó. Nếu một bộ xử lý gặp phải một lệnh đặc quyền đặc biệt trong khi đó</a:t>
            </a:r>
          </a:p>
          <a:p>
            <a:r>
              <a:rPr lang="vi-VN" sz="1200" kern="1200" baseline="0" dirty="0">
                <a:solidFill>
                  <a:schemeClr val="tx1"/>
                </a:solidFill>
                <a:latin typeface="Times New Roman" pitchFamily="-110" charset="0"/>
                <a:ea typeface="+mn-ea"/>
                <a:cs typeface="+mn-cs"/>
              </a:rPr>
              <a:t>thực hiện một chương trình người dùng, bộ vi xử lý coi đây là một lỗi và</a:t>
            </a:r>
          </a:p>
          <a:p>
            <a:r>
              <a:rPr lang="vi-VN" sz="1200" kern="1200" baseline="0" dirty="0">
                <a:solidFill>
                  <a:schemeClr val="tx1"/>
                </a:solidFill>
                <a:latin typeface="Times New Roman" pitchFamily="-110" charset="0"/>
                <a:ea typeface="+mn-ea"/>
                <a:cs typeface="+mn-cs"/>
              </a:rPr>
              <a:t>chuyển quyền kiểm soát sang màn hình.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Ngắt: Các mô hình máy tính sớm đã không có khả năng này. Tính năng này</a:t>
            </a:r>
          </a:p>
          <a:p>
            <a:r>
              <a:rPr lang="vi-VN" sz="1200" kern="1200" baseline="0" dirty="0">
                <a:solidFill>
                  <a:schemeClr val="tx1"/>
                </a:solidFill>
                <a:latin typeface="Times New Roman" pitchFamily="-110" charset="0"/>
                <a:ea typeface="+mn-ea"/>
                <a:cs typeface="+mn-cs"/>
              </a:rPr>
              <a:t>mang lại cho hệ điều hành linh hoạt hơn trong việc từ bỏ kiểm soát và giành lại quyền kiểm soát</a:t>
            </a:r>
          </a:p>
          <a:p>
            <a:r>
              <a:rPr lang="vi-VN" sz="1200" kern="1200" baseline="0" dirty="0">
                <a:solidFill>
                  <a:schemeClr val="tx1"/>
                </a:solidFill>
                <a:latin typeface="Times New Roman" pitchFamily="-110" charset="0"/>
                <a:ea typeface="+mn-ea"/>
                <a:cs typeface="+mn-cs"/>
              </a:rPr>
              <a:t>từ các chương trình người dùng.</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Thời gian xử lý luân phiên giữa thực hiện các chương trình người dùng và thực hiện</a:t>
            </a:r>
          </a:p>
          <a:p>
            <a:r>
              <a:rPr lang="vi-VN" sz="1200" kern="1200" baseline="0" dirty="0">
                <a:solidFill>
                  <a:schemeClr val="tx1"/>
                </a:solidFill>
                <a:latin typeface="Times New Roman" pitchFamily="-110" charset="0"/>
                <a:ea typeface="+mn-ea"/>
                <a:cs typeface="+mn-cs"/>
              </a:rPr>
              <a:t>của màn hình. Đã có hai lần hy sinh: Một số bộ nhớ chính đã được đưa ra</a:t>
            </a:r>
          </a:p>
          <a:p>
            <a:r>
              <a:rPr lang="vi-VN" sz="1200" kern="1200" baseline="0" dirty="0">
                <a:solidFill>
                  <a:schemeClr val="tx1"/>
                </a:solidFill>
                <a:latin typeface="Times New Roman" pitchFamily="-110" charset="0"/>
                <a:ea typeface="+mn-ea"/>
                <a:cs typeface="+mn-cs"/>
              </a:rPr>
              <a:t>trên màn hình và một số thời gian xử lý được tiêu thụ bởi màn hình. Cả hai</a:t>
            </a:r>
          </a:p>
          <a:p>
            <a:r>
              <a:rPr lang="vi-VN" sz="1200" kern="1200" baseline="0" dirty="0">
                <a:solidFill>
                  <a:schemeClr val="tx1"/>
                </a:solidFill>
                <a:latin typeface="Times New Roman" pitchFamily="-110" charset="0"/>
                <a:ea typeface="+mn-ea"/>
                <a:cs typeface="+mn-cs"/>
              </a:rPr>
              <a:t>trong số này là những hình thức trên cao. Ngay cả với điều này trên không, hệ thống lô đơn giản</a:t>
            </a:r>
          </a:p>
          <a:p>
            <a:r>
              <a:rPr lang="vi-VN" sz="1200" kern="1200" baseline="0" dirty="0">
                <a:solidFill>
                  <a:schemeClr val="tx1"/>
                </a:solidFill>
                <a:latin typeface="Times New Roman" pitchFamily="-110" charset="0"/>
                <a:ea typeface="+mn-ea"/>
                <a:cs typeface="+mn-cs"/>
              </a:rPr>
              <a:t>cải thiện việc sử dụng máy tính.</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of the monitor. There have been two sacrifices: Some main memory is now given</a:t>
            </a:r>
          </a:p>
          <a:p>
            <a:r>
              <a:rPr lang="en-US" sz="1200" kern="1200" baseline="0" dirty="0">
                <a:solidFill>
                  <a:schemeClr val="tx1"/>
                </a:solidFill>
                <a:latin typeface="Times New Roman" pitchFamily="-110" charset="0"/>
                <a:ea typeface="+mn-ea"/>
                <a:cs typeface="+mn-cs"/>
              </a:rPr>
              <a:t>over to the monitor and some processor time is consumed by the monitor. Both</a:t>
            </a:r>
          </a:p>
          <a:p>
            <a:r>
              <a:rPr lang="en-US" sz="1200" kern="1200" baseline="0" dirty="0">
                <a:solidFill>
                  <a:schemeClr val="tx1"/>
                </a:solidFill>
                <a:latin typeface="Times New Roman" pitchFamily="-110" charset="0"/>
                <a:ea typeface="+mn-ea"/>
                <a:cs typeface="+mn-cs"/>
              </a:rPr>
              <a:t>of these are forms of overhead. Even with this overhead, the simple batch system</a:t>
            </a:r>
          </a:p>
          <a:p>
            <a:r>
              <a:rPr lang="en-US" sz="1200" kern="1200" baseline="0" dirty="0">
                <a:solidFill>
                  <a:schemeClr val="tx1"/>
                </a:solidFill>
                <a:latin typeface="Times New Roman" pitchFamily="-110" charset="0"/>
                <a:ea typeface="+mn-ea"/>
                <a:cs typeface="+mn-cs"/>
              </a:rPr>
              <a:t>improves utilization of the computer.</a:t>
            </a:r>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D4CBD3-20C4-0740-AFB7-AB2F2EA5B57E}" type="slidenum">
              <a:rPr lang="en-US"/>
              <a:pPr/>
              <a:t>16</a:t>
            </a:fld>
            <a:endParaRPr lang="en-US" dirty="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Ngay cả với trình tự công việc tự động</a:t>
            </a:r>
          </a:p>
          <a:p>
            <a:r>
              <a:rPr lang="vi-VN" sz="1200" kern="1200" baseline="0" dirty="0">
                <a:solidFill>
                  <a:schemeClr val="tx1"/>
                </a:solidFill>
                <a:latin typeface="Times New Roman" pitchFamily="-110" charset="0"/>
                <a:ea typeface="+mn-ea"/>
                <a:cs typeface="+mn-cs"/>
              </a:rPr>
              <a:t>được cung cấp bởi một hệ điều hành đơn giản, bộ vi xử lý thường không hoạt động. Vấn đề là ở đó</a:t>
            </a:r>
          </a:p>
          <a:p>
            <a:r>
              <a:rPr lang="vi-VN" sz="1200" kern="1200" baseline="0" dirty="0">
                <a:solidFill>
                  <a:schemeClr val="tx1"/>
                </a:solidFill>
                <a:latin typeface="Times New Roman" pitchFamily="-110" charset="0"/>
                <a:ea typeface="+mn-ea"/>
                <a:cs typeface="+mn-cs"/>
              </a:rPr>
              <a:t>Thiết bị I / O chậm so với bộ vi xử lý. Hình 8.4 chi tiết một đại diện</a:t>
            </a:r>
          </a:p>
          <a:p>
            <a:r>
              <a:rPr lang="vi-VN" sz="1200" kern="1200" baseline="0" dirty="0">
                <a:solidFill>
                  <a:schemeClr val="tx1"/>
                </a:solidFill>
                <a:latin typeface="Times New Roman" pitchFamily="-110" charset="0"/>
                <a:ea typeface="+mn-ea"/>
                <a:cs typeface="+mn-cs"/>
              </a:rPr>
              <a:t>phép tính. Tính toán liên quan đến một chương trình xử lý một tập tin hồ sơ và</a:t>
            </a:r>
          </a:p>
          <a:p>
            <a:r>
              <a:rPr lang="vi-VN" sz="1200" kern="1200" baseline="0" dirty="0">
                <a:solidFill>
                  <a:schemeClr val="tx1"/>
                </a:solidFill>
                <a:latin typeface="Times New Roman" pitchFamily="-110" charset="0"/>
                <a:ea typeface="+mn-ea"/>
                <a:cs typeface="+mn-cs"/>
              </a:rPr>
              <a:t>thực hiện trung bình 100 lệnh bộ vi xử lý cho mỗi bản ghi. Trong ví dụ này,</a:t>
            </a:r>
          </a:p>
          <a:p>
            <a:r>
              <a:rPr lang="vi-VN" sz="1200" kern="1200" baseline="0" dirty="0">
                <a:solidFill>
                  <a:schemeClr val="tx1"/>
                </a:solidFill>
                <a:latin typeface="Times New Roman" pitchFamily="-110" charset="0"/>
                <a:ea typeface="+mn-ea"/>
                <a:cs typeface="+mn-cs"/>
              </a:rPr>
              <a:t>máy tính chi tiêu trên 96% thời gian chờ thiết bị I / O hoàn thành chuyển</a:t>
            </a:r>
          </a:p>
          <a:p>
            <a:r>
              <a:rPr lang="vi-VN" sz="1200" kern="1200" baseline="0" dirty="0">
                <a:solidFill>
                  <a:schemeClr val="tx1"/>
                </a:solidFill>
                <a:latin typeface="Times New Roman" pitchFamily="-110" charset="0"/>
                <a:ea typeface="+mn-ea"/>
                <a:cs typeface="+mn-cs"/>
              </a:rPr>
              <a:t>dữ liệu! Hình 8.5a minh hoạ tình huống này.</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Even with the automatic job sequencing</a:t>
            </a:r>
          </a:p>
          <a:p>
            <a:r>
              <a:rPr lang="en-US" sz="1200" kern="1200" baseline="0" dirty="0">
                <a:solidFill>
                  <a:schemeClr val="tx1"/>
                </a:solidFill>
                <a:latin typeface="Times New Roman" pitchFamily="-110" charset="0"/>
                <a:ea typeface="+mn-ea"/>
                <a:cs typeface="+mn-cs"/>
              </a:rPr>
              <a:t>provided by a simple batch OS, the processor is often idle. The problem is that</a:t>
            </a:r>
          </a:p>
          <a:p>
            <a:r>
              <a:rPr lang="en-US" sz="1200" kern="1200" baseline="0" dirty="0">
                <a:solidFill>
                  <a:schemeClr val="tx1"/>
                </a:solidFill>
                <a:latin typeface="Times New Roman" pitchFamily="-110" charset="0"/>
                <a:ea typeface="+mn-ea"/>
                <a:cs typeface="+mn-cs"/>
              </a:rPr>
              <a:t>I/O devices are slow compared to the processor. Figure 8.4 details a representative</a:t>
            </a:r>
          </a:p>
          <a:p>
            <a:r>
              <a:rPr lang="en-US" sz="1200" kern="1200" baseline="0" dirty="0">
                <a:solidFill>
                  <a:schemeClr val="tx1"/>
                </a:solidFill>
                <a:latin typeface="Times New Roman" pitchFamily="-110" charset="0"/>
                <a:ea typeface="+mn-ea"/>
                <a:cs typeface="+mn-cs"/>
              </a:rPr>
              <a:t>calculation. The calculation concerns a program that processes a file of records and</a:t>
            </a:r>
          </a:p>
          <a:p>
            <a:r>
              <a:rPr lang="en-US" sz="1200" kern="1200" baseline="0" dirty="0">
                <a:solidFill>
                  <a:schemeClr val="tx1"/>
                </a:solidFill>
                <a:latin typeface="Times New Roman" pitchFamily="-110" charset="0"/>
                <a:ea typeface="+mn-ea"/>
                <a:cs typeface="+mn-cs"/>
              </a:rPr>
              <a:t>performs, on average, 100 processor instructions per record. In this example the</a:t>
            </a:r>
          </a:p>
          <a:p>
            <a:r>
              <a:rPr lang="en-US" sz="1200" kern="1200" baseline="0" dirty="0">
                <a:solidFill>
                  <a:schemeClr val="tx1"/>
                </a:solidFill>
                <a:latin typeface="Times New Roman" pitchFamily="-110" charset="0"/>
                <a:ea typeface="+mn-ea"/>
                <a:cs typeface="+mn-cs"/>
              </a:rPr>
              <a:t>computer spends over 96% of its time waiting for I/O devices to finish transferring</a:t>
            </a:r>
          </a:p>
          <a:p>
            <a:r>
              <a:rPr lang="en-US" sz="1200" kern="1200" baseline="0" dirty="0">
                <a:solidFill>
                  <a:schemeClr val="tx1"/>
                </a:solidFill>
                <a:latin typeface="Times New Roman" pitchFamily="-110" charset="0"/>
                <a:ea typeface="+mn-ea"/>
                <a:cs typeface="+mn-cs"/>
              </a:rPr>
              <a:t>data! Figure 8.5a illustrates this situation.</a:t>
            </a:r>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F1FE56-B73B-7E4A-B296-A77C30E0F824}" type="slidenum">
              <a:rPr lang="en-US"/>
              <a:pPr/>
              <a:t>17</a:t>
            </a:fld>
            <a:endParaRPr lang="en-US" dirty="0"/>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Bộ xử lý dành một khoảng thời gian nhất định để thực thi, cho đến khi nó đạt đến một lệnh I / O. Nó phải chờ cho đến khi I / O</a:t>
            </a:r>
          </a:p>
          <a:p>
            <a:r>
              <a:rPr lang="vi-VN" sz="1200" kern="1200" baseline="0" dirty="0">
                <a:solidFill>
                  <a:schemeClr val="tx1"/>
                </a:solidFill>
                <a:latin typeface="Times New Roman" pitchFamily="-110" charset="0"/>
                <a:ea typeface="+mn-ea"/>
                <a:cs typeface="+mn-cs"/>
              </a:rPr>
              <a:t>hướng dẫn kết luận trước khi tiến hành.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Sự không hiệu quả này là không cần thiết. Chúng ta biết rằng phải có đủ bộ nhớ</a:t>
            </a:r>
          </a:p>
          <a:p>
            <a:r>
              <a:rPr lang="vi-VN" sz="1200" kern="1200" baseline="0" dirty="0">
                <a:solidFill>
                  <a:schemeClr val="tx1"/>
                </a:solidFill>
                <a:latin typeface="Times New Roman" pitchFamily="-110" charset="0"/>
                <a:ea typeface="+mn-ea"/>
                <a:cs typeface="+mn-cs"/>
              </a:rPr>
              <a:t>để giữ hệ điều hành (màn hình thường trú) và một chương trình người dùng. Giả sử có</a:t>
            </a:r>
          </a:p>
          <a:p>
            <a:r>
              <a:rPr lang="vi-VN" sz="1200" kern="1200" baseline="0" dirty="0">
                <a:solidFill>
                  <a:schemeClr val="tx1"/>
                </a:solidFill>
                <a:latin typeface="Times New Roman" pitchFamily="-110" charset="0"/>
                <a:ea typeface="+mn-ea"/>
                <a:cs typeface="+mn-cs"/>
              </a:rPr>
              <a:t>là chỗ cho hệ điều hành và hai chương trình người dùng. Bây giờ, khi một công việc cần phải đợi</a:t>
            </a:r>
          </a:p>
          <a:p>
            <a:r>
              <a:rPr lang="vi-VN" sz="1200" kern="1200" baseline="0" dirty="0">
                <a:solidFill>
                  <a:schemeClr val="tx1"/>
                </a:solidFill>
                <a:latin typeface="Times New Roman" pitchFamily="-110" charset="0"/>
                <a:ea typeface="+mn-ea"/>
                <a:cs typeface="+mn-cs"/>
              </a:rPr>
              <a:t>I / O, bộ xử lý có thể chuyển sang công việc khác, có khả năng không phải là chờ I / O</a:t>
            </a:r>
          </a:p>
          <a:p>
            <a:r>
              <a:rPr lang="vi-VN" sz="1200" kern="1200" baseline="0" dirty="0">
                <a:solidFill>
                  <a:schemeClr val="tx1"/>
                </a:solidFill>
                <a:latin typeface="Times New Roman" pitchFamily="-110" charset="0"/>
                <a:ea typeface="+mn-ea"/>
                <a:cs typeface="+mn-cs"/>
              </a:rPr>
              <a:t>(Hình 8.5b). Hơn nữa, chúng ta có thể mở rộng bộ nhớ để giữ ba, bốn, hoặc nhiều hơn</a:t>
            </a:r>
          </a:p>
          <a:p>
            <a:r>
              <a:rPr lang="vi-VN" sz="1200" kern="1200" baseline="0" dirty="0">
                <a:solidFill>
                  <a:schemeClr val="tx1"/>
                </a:solidFill>
                <a:latin typeface="Times New Roman" pitchFamily="-110" charset="0"/>
                <a:ea typeface="+mn-ea"/>
                <a:cs typeface="+mn-cs"/>
              </a:rPr>
              <a:t>chương trình và chuyển đổi giữa tất cả chúng (Hình 8.5c). Kỹ thuật này được gọi là đa chương trình,</a:t>
            </a:r>
          </a:p>
          <a:p>
            <a:r>
              <a:rPr lang="vi-VN" sz="1200" kern="1200" baseline="0" dirty="0">
                <a:solidFill>
                  <a:schemeClr val="tx1"/>
                </a:solidFill>
                <a:latin typeface="Times New Roman" pitchFamily="-110" charset="0"/>
                <a:ea typeface="+mn-ea"/>
                <a:cs typeface="+mn-cs"/>
              </a:rPr>
              <a:t>hoặc đa nhiệm. Đây là chủ đề chính của hệ điều hành hiện đại.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Giống như một hệ thống lô đơn giản, một hệ thống lô nhiều chương trình phải dựa</a:t>
            </a:r>
          </a:p>
          <a:p>
            <a:r>
              <a:rPr lang="vi-VN" sz="1200" kern="1200" baseline="0" dirty="0">
                <a:solidFill>
                  <a:schemeClr val="tx1"/>
                </a:solidFill>
                <a:latin typeface="Times New Roman" pitchFamily="-110" charset="0"/>
                <a:ea typeface="+mn-ea"/>
                <a:cs typeface="+mn-cs"/>
              </a:rPr>
              <a:t>về một số tính năng phần cứng máy tính. Tính năng bổ sung đáng chú ý nhất</a:t>
            </a:r>
          </a:p>
          <a:p>
            <a:r>
              <a:rPr lang="vi-VN" sz="1200" kern="1200" baseline="0" dirty="0">
                <a:solidFill>
                  <a:schemeClr val="tx1"/>
                </a:solidFill>
                <a:latin typeface="Times New Roman" pitchFamily="-110" charset="0"/>
                <a:ea typeface="+mn-ea"/>
                <a:cs typeface="+mn-cs"/>
              </a:rPr>
              <a:t>là hữu ích cho việc đa chương trình là phần cứng hỗ trợ ngắt I / O và</a:t>
            </a:r>
          </a:p>
          <a:p>
            <a:r>
              <a:rPr lang="vi-VN" sz="1200" kern="1200" baseline="0" dirty="0">
                <a:solidFill>
                  <a:schemeClr val="tx1"/>
                </a:solidFill>
                <a:latin typeface="Times New Roman" pitchFamily="-110" charset="0"/>
                <a:ea typeface="+mn-ea"/>
                <a:cs typeface="+mn-cs"/>
              </a:rPr>
              <a:t>DMA. Với I / O ngắt hoặc DMA, bộ xử lý có thể phát hành một lệnh I / O</a:t>
            </a:r>
          </a:p>
          <a:p>
            <a:r>
              <a:rPr lang="vi-VN" sz="1200" kern="1200" baseline="0" dirty="0">
                <a:solidFill>
                  <a:schemeClr val="tx1"/>
                </a:solidFill>
                <a:latin typeface="Times New Roman" pitchFamily="-110" charset="0"/>
                <a:ea typeface="+mn-ea"/>
                <a:cs typeface="+mn-cs"/>
              </a:rPr>
              <a:t>cho một công việc và tiến hành thực hiện công việc khác trong khi I / O được thực hiện</a:t>
            </a:r>
          </a:p>
          <a:p>
            <a:r>
              <a:rPr lang="vi-VN" sz="1200" kern="1200" baseline="0" dirty="0">
                <a:solidFill>
                  <a:schemeClr val="tx1"/>
                </a:solidFill>
                <a:latin typeface="Times New Roman" pitchFamily="-110" charset="0"/>
                <a:ea typeface="+mn-ea"/>
                <a:cs typeface="+mn-cs"/>
              </a:rPr>
              <a:t>ra bởi bộ điều khiển thiết bị. Khi hoạt động I / O hoàn tất, bộ xử lý là</a:t>
            </a:r>
          </a:p>
          <a:p>
            <a:r>
              <a:rPr lang="vi-VN" sz="1200" kern="1200" baseline="0" dirty="0">
                <a:solidFill>
                  <a:schemeClr val="tx1"/>
                </a:solidFill>
                <a:latin typeface="Times New Roman" pitchFamily="-110" charset="0"/>
                <a:ea typeface="+mn-ea"/>
                <a:cs typeface="+mn-cs"/>
              </a:rPr>
              <a:t>gián đoạn và kiểm soát được thông qua vào một chương trình xử lý gián đoạn trong hệ điều hành. Các</a:t>
            </a:r>
          </a:p>
          <a:p>
            <a:r>
              <a:rPr lang="vi-VN" sz="1200" kern="1200" baseline="0" dirty="0">
                <a:solidFill>
                  <a:schemeClr val="tx1"/>
                </a:solidFill>
                <a:latin typeface="Times New Roman" pitchFamily="-110" charset="0"/>
                <a:ea typeface="+mn-ea"/>
                <a:cs typeface="+mn-cs"/>
              </a:rPr>
              <a:t>Hệ điều hành sau đó sẽ chuyển quyền kiểm soát sang một công việc khác.</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processor spends a certain amount of time executing, until it reaches an I/O instruction. It must then wait until that I/O</a:t>
            </a:r>
          </a:p>
          <a:p>
            <a:r>
              <a:rPr lang="en-US" sz="1200" kern="1200" baseline="0" dirty="0">
                <a:solidFill>
                  <a:schemeClr val="tx1"/>
                </a:solidFill>
                <a:latin typeface="Times New Roman" pitchFamily="-110" charset="0"/>
                <a:ea typeface="+mn-ea"/>
                <a:cs typeface="+mn-cs"/>
              </a:rPr>
              <a:t>instruction concludes before proceeding.</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inefficiency is not necessary. We know that there must be enough memory</a:t>
            </a:r>
          </a:p>
          <a:p>
            <a:r>
              <a:rPr lang="en-US" sz="1200" kern="1200" baseline="0" dirty="0">
                <a:solidFill>
                  <a:schemeClr val="tx1"/>
                </a:solidFill>
                <a:latin typeface="Times New Roman" pitchFamily="-110" charset="0"/>
                <a:ea typeface="+mn-ea"/>
                <a:cs typeface="+mn-cs"/>
              </a:rPr>
              <a:t>to hold the OS (resident monitor) and one user program. Suppose that there</a:t>
            </a:r>
          </a:p>
          <a:p>
            <a:r>
              <a:rPr lang="en-US" sz="1200" kern="1200" baseline="0" dirty="0">
                <a:solidFill>
                  <a:schemeClr val="tx1"/>
                </a:solidFill>
                <a:latin typeface="Times New Roman" pitchFamily="-110" charset="0"/>
                <a:ea typeface="+mn-ea"/>
                <a:cs typeface="+mn-cs"/>
              </a:rPr>
              <a:t>is room for the OS and two user programs. Now, when one job needs to wait for</a:t>
            </a:r>
          </a:p>
          <a:p>
            <a:r>
              <a:rPr lang="en-US" sz="1200" kern="1200" baseline="0" dirty="0">
                <a:solidFill>
                  <a:schemeClr val="tx1"/>
                </a:solidFill>
                <a:latin typeface="Times New Roman" pitchFamily="-110" charset="0"/>
                <a:ea typeface="+mn-ea"/>
                <a:cs typeface="+mn-cs"/>
              </a:rPr>
              <a:t>I/O, the processor can switch to the other job, which likely is not waiting for I/O</a:t>
            </a:r>
          </a:p>
          <a:p>
            <a:r>
              <a:rPr lang="en-US" sz="1200" kern="1200" baseline="0" dirty="0">
                <a:solidFill>
                  <a:schemeClr val="tx1"/>
                </a:solidFill>
                <a:latin typeface="Times New Roman" pitchFamily="-110" charset="0"/>
                <a:ea typeface="+mn-ea"/>
                <a:cs typeface="+mn-cs"/>
              </a:rPr>
              <a:t>(Figure 8.5b). Furthermore, we might expand memory to hold three, four, or more</a:t>
            </a:r>
          </a:p>
          <a:p>
            <a:r>
              <a:rPr lang="en-US" sz="1200" kern="1200" baseline="0" dirty="0">
                <a:solidFill>
                  <a:schemeClr val="tx1"/>
                </a:solidFill>
                <a:latin typeface="Times New Roman" pitchFamily="-110" charset="0"/>
                <a:ea typeface="+mn-ea"/>
                <a:cs typeface="+mn-cs"/>
              </a:rPr>
              <a:t>programs and switch among all of them (Figure 8.5c). This technique is known as </a:t>
            </a:r>
            <a:r>
              <a:rPr lang="en-US" sz="1200" b="1" kern="1200" baseline="0" dirty="0">
                <a:solidFill>
                  <a:schemeClr val="tx1"/>
                </a:solidFill>
                <a:latin typeface="Times New Roman" pitchFamily="-110" charset="0"/>
                <a:ea typeface="+mn-ea"/>
                <a:cs typeface="+mn-cs"/>
              </a:rPr>
              <a:t>multiprogramming,</a:t>
            </a:r>
          </a:p>
          <a:p>
            <a:r>
              <a:rPr lang="en-US" sz="1200" kern="1200" baseline="0" dirty="0">
                <a:solidFill>
                  <a:schemeClr val="tx1"/>
                </a:solidFill>
                <a:latin typeface="Times New Roman" pitchFamily="-110" charset="0"/>
                <a:ea typeface="+mn-ea"/>
                <a:cs typeface="+mn-cs"/>
              </a:rPr>
              <a:t>or </a:t>
            </a:r>
            <a:r>
              <a:rPr lang="en-US" sz="1200" b="1" kern="1200" baseline="0" dirty="0">
                <a:solidFill>
                  <a:schemeClr val="tx1"/>
                </a:solidFill>
                <a:latin typeface="Times New Roman" pitchFamily="-110" charset="0"/>
                <a:ea typeface="+mn-ea"/>
                <a:cs typeface="+mn-cs"/>
              </a:rPr>
              <a:t>multitasking. </a:t>
            </a:r>
            <a:r>
              <a:rPr lang="en-US" sz="1200" b="0" kern="1200" baseline="0" dirty="0">
                <a:solidFill>
                  <a:schemeClr val="tx1"/>
                </a:solidFill>
                <a:latin typeface="Times New Roman" pitchFamily="-110" charset="0"/>
                <a:ea typeface="+mn-ea"/>
                <a:cs typeface="+mn-cs"/>
              </a:rPr>
              <a:t>It is the central theme of modern operating systems.</a:t>
            </a:r>
          </a:p>
          <a:p>
            <a:endParaRPr lang="en-US" sz="1200" b="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As with a simple batch system, a multiprogramming batch system must rely</a:t>
            </a:r>
          </a:p>
          <a:p>
            <a:r>
              <a:rPr lang="en-US" sz="1200" kern="1200" baseline="0" dirty="0">
                <a:solidFill>
                  <a:schemeClr val="tx1"/>
                </a:solidFill>
                <a:latin typeface="Times New Roman" pitchFamily="-110" charset="0"/>
                <a:ea typeface="+mn-ea"/>
                <a:cs typeface="+mn-cs"/>
              </a:rPr>
              <a:t>on certain computer hardware features. The most notable additional feature that</a:t>
            </a:r>
          </a:p>
          <a:p>
            <a:r>
              <a:rPr lang="en-US" sz="1200" kern="1200" baseline="0" dirty="0">
                <a:solidFill>
                  <a:schemeClr val="tx1"/>
                </a:solidFill>
                <a:latin typeface="Times New Roman" pitchFamily="-110" charset="0"/>
                <a:ea typeface="+mn-ea"/>
                <a:cs typeface="+mn-cs"/>
              </a:rPr>
              <a:t>is useful for multiprogramming is the hardware that supports I/O interrupts and</a:t>
            </a:r>
          </a:p>
          <a:p>
            <a:r>
              <a:rPr lang="en-US" sz="1200" kern="1200" baseline="0" dirty="0">
                <a:solidFill>
                  <a:schemeClr val="tx1"/>
                </a:solidFill>
                <a:latin typeface="Times New Roman" pitchFamily="-110" charset="0"/>
                <a:ea typeface="+mn-ea"/>
                <a:cs typeface="+mn-cs"/>
              </a:rPr>
              <a:t>DMA. With interrupt-driven I/O or DMA, the processor can issue an I/O command</a:t>
            </a:r>
          </a:p>
          <a:p>
            <a:r>
              <a:rPr lang="en-US" sz="1200" kern="1200" baseline="0" dirty="0">
                <a:solidFill>
                  <a:schemeClr val="tx1"/>
                </a:solidFill>
                <a:latin typeface="Times New Roman" pitchFamily="-110" charset="0"/>
                <a:ea typeface="+mn-ea"/>
                <a:cs typeface="+mn-cs"/>
              </a:rPr>
              <a:t>for one job and proceed with the execution of another job while the I/O is carried</a:t>
            </a:r>
          </a:p>
          <a:p>
            <a:r>
              <a:rPr lang="en-US" sz="1200" kern="1200" baseline="0" dirty="0">
                <a:solidFill>
                  <a:schemeClr val="tx1"/>
                </a:solidFill>
                <a:latin typeface="Times New Roman" pitchFamily="-110" charset="0"/>
                <a:ea typeface="+mn-ea"/>
                <a:cs typeface="+mn-cs"/>
              </a:rPr>
              <a:t>out by the device controller. When the I/O operation is complete, the processor is</a:t>
            </a:r>
          </a:p>
          <a:p>
            <a:r>
              <a:rPr lang="en-US" sz="1200" kern="1200" baseline="0" dirty="0">
                <a:solidFill>
                  <a:schemeClr val="tx1"/>
                </a:solidFill>
                <a:latin typeface="Times New Roman" pitchFamily="-110" charset="0"/>
                <a:ea typeface="+mn-ea"/>
                <a:cs typeface="+mn-cs"/>
              </a:rPr>
              <a:t>interrupted and control is passed to an interrupt-handling program in the OS. The</a:t>
            </a:r>
          </a:p>
          <a:p>
            <a:r>
              <a:rPr lang="en-US" sz="1200" kern="1200" baseline="0" dirty="0">
                <a:solidFill>
                  <a:schemeClr val="tx1"/>
                </a:solidFill>
                <a:latin typeface="Times New Roman" pitchFamily="-110" charset="0"/>
                <a:ea typeface="+mn-ea"/>
                <a:cs typeface="+mn-cs"/>
              </a:rPr>
              <a:t>OS will then pass control to another job.</a:t>
            </a:r>
          </a:p>
          <a:p>
            <a:endParaRPr lang="en-US" sz="1200" kern="1200" baseline="0" dirty="0">
              <a:solidFill>
                <a:schemeClr val="tx1"/>
              </a:solidFill>
              <a:latin typeface="Times New Roman" pitchFamily="-110" charset="0"/>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kern="1200" baseline="0" dirty="0">
                <a:solidFill>
                  <a:schemeClr val="tx1"/>
                </a:solidFill>
                <a:latin typeface="Times New Roman" pitchFamily="-110" charset="0"/>
                <a:ea typeface="+mn-ea"/>
                <a:cs typeface="+mn-cs"/>
              </a:rPr>
              <a:t>Đa chương trình hệ điều hành khá phức tạp so với</a:t>
            </a:r>
          </a:p>
          <a:p>
            <a:r>
              <a:rPr lang="vi-VN" sz="1200" kern="1200" baseline="0" dirty="0">
                <a:solidFill>
                  <a:schemeClr val="tx1"/>
                </a:solidFill>
                <a:latin typeface="Times New Roman" pitchFamily="-110" charset="0"/>
                <a:ea typeface="+mn-ea"/>
                <a:cs typeface="+mn-cs"/>
              </a:rPr>
              <a:t>một chương trình, hoặc uniprogramming, hệ thống. Để có một số việc làm sẵn sàng để chạy,</a:t>
            </a:r>
          </a:p>
          <a:p>
            <a:r>
              <a:rPr lang="vi-VN" sz="1200" kern="1200" baseline="0" dirty="0">
                <a:solidFill>
                  <a:schemeClr val="tx1"/>
                </a:solidFill>
                <a:latin typeface="Times New Roman" pitchFamily="-110" charset="0"/>
                <a:ea typeface="+mn-ea"/>
                <a:cs typeface="+mn-cs"/>
              </a:rPr>
              <a:t>công việc phải được giữ trong bộ nhớ chính, đòi hỏi một số hình thức quản lý bộ nhớ.</a:t>
            </a:r>
          </a:p>
          <a:p>
            <a:r>
              <a:rPr lang="vi-VN" sz="1200" kern="1200" baseline="0" dirty="0">
                <a:solidFill>
                  <a:schemeClr val="tx1"/>
                </a:solidFill>
                <a:latin typeface="Times New Roman" pitchFamily="-110" charset="0"/>
                <a:ea typeface="+mn-ea"/>
                <a:cs typeface="+mn-cs"/>
              </a:rPr>
              <a:t>Ngoài ra, nếu một số công việc đã sẵn sàng để chạy, bộ vi xử lý phải quyết định một</a:t>
            </a:r>
          </a:p>
          <a:p>
            <a:r>
              <a:rPr lang="vi-VN" sz="1200" kern="1200" baseline="0" dirty="0">
                <a:solidFill>
                  <a:schemeClr val="tx1"/>
                </a:solidFill>
                <a:latin typeface="Times New Roman" pitchFamily="-110" charset="0"/>
                <a:ea typeface="+mn-ea"/>
                <a:cs typeface="+mn-cs"/>
              </a:rPr>
              <a:t>để chạy, đòi hỏi một số thuật toán để lên kế hoạch. Những khái niệm này được thảo luận</a:t>
            </a:r>
          </a:p>
          <a:p>
            <a:r>
              <a:rPr lang="vi-VN" sz="1200" kern="1200" baseline="0" dirty="0">
                <a:solidFill>
                  <a:schemeClr val="tx1"/>
                </a:solidFill>
                <a:latin typeface="Times New Roman" pitchFamily="-110" charset="0"/>
                <a:ea typeface="+mn-ea"/>
                <a:cs typeface="+mn-cs"/>
              </a:rPr>
              <a:t>sau này trong chương này.</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Multiprogramming operating systems are fairly sophisticated compared to</a:t>
            </a:r>
          </a:p>
          <a:p>
            <a:r>
              <a:rPr lang="en-US" sz="1200" kern="1200" baseline="0" dirty="0">
                <a:solidFill>
                  <a:schemeClr val="tx1"/>
                </a:solidFill>
                <a:latin typeface="Times New Roman" pitchFamily="-110" charset="0"/>
                <a:ea typeface="+mn-ea"/>
                <a:cs typeface="+mn-cs"/>
              </a:rPr>
              <a:t>single-program, or </a:t>
            </a:r>
            <a:r>
              <a:rPr lang="en-US" sz="1200" b="1" kern="1200" baseline="0" dirty="0">
                <a:solidFill>
                  <a:schemeClr val="tx1"/>
                </a:solidFill>
                <a:latin typeface="Times New Roman" pitchFamily="-110" charset="0"/>
                <a:ea typeface="+mn-ea"/>
                <a:cs typeface="+mn-cs"/>
              </a:rPr>
              <a:t>uniprogramming, systems. </a:t>
            </a:r>
            <a:r>
              <a:rPr lang="en-US" sz="1200" b="0" kern="1200" baseline="0" dirty="0">
                <a:solidFill>
                  <a:schemeClr val="tx1"/>
                </a:solidFill>
                <a:latin typeface="Times New Roman" pitchFamily="-110" charset="0"/>
                <a:ea typeface="+mn-ea"/>
                <a:cs typeface="+mn-cs"/>
              </a:rPr>
              <a:t>To have several jobs ready to run, the</a:t>
            </a:r>
          </a:p>
          <a:p>
            <a:r>
              <a:rPr lang="en-US" sz="1200" kern="1200" baseline="0" dirty="0">
                <a:solidFill>
                  <a:schemeClr val="tx1"/>
                </a:solidFill>
                <a:latin typeface="Times New Roman" pitchFamily="-110" charset="0"/>
                <a:ea typeface="+mn-ea"/>
                <a:cs typeface="+mn-cs"/>
              </a:rPr>
              <a:t>jobs must be kept in main memory, requiring some form of </a:t>
            </a:r>
            <a:r>
              <a:rPr lang="en-US" sz="1200" b="1" kern="1200" baseline="0" dirty="0">
                <a:solidFill>
                  <a:schemeClr val="tx1"/>
                </a:solidFill>
                <a:latin typeface="Times New Roman" pitchFamily="-110" charset="0"/>
                <a:ea typeface="+mn-ea"/>
                <a:cs typeface="+mn-cs"/>
              </a:rPr>
              <a:t>memory management.</a:t>
            </a:r>
          </a:p>
          <a:p>
            <a:r>
              <a:rPr lang="en-US" sz="1200" kern="1200" baseline="0" dirty="0">
                <a:solidFill>
                  <a:schemeClr val="tx1"/>
                </a:solidFill>
                <a:latin typeface="Times New Roman" pitchFamily="-110" charset="0"/>
                <a:ea typeface="+mn-ea"/>
                <a:cs typeface="+mn-cs"/>
              </a:rPr>
              <a:t>In addition, if several jobs are ready to run, the processor must decide which one</a:t>
            </a:r>
          </a:p>
          <a:p>
            <a:r>
              <a:rPr lang="en-US" sz="1200" kern="1200" baseline="0" dirty="0">
                <a:solidFill>
                  <a:schemeClr val="tx1"/>
                </a:solidFill>
                <a:latin typeface="Times New Roman" pitchFamily="-110" charset="0"/>
                <a:ea typeface="+mn-ea"/>
                <a:cs typeface="+mn-cs"/>
              </a:rPr>
              <a:t>to run, which requires some algorithm for scheduling. These concepts are discussed</a:t>
            </a:r>
          </a:p>
          <a:p>
            <a:r>
              <a:rPr lang="en-US" sz="1200" kern="1200" baseline="0" dirty="0">
                <a:solidFill>
                  <a:schemeClr val="tx1"/>
                </a:solidFill>
                <a:latin typeface="Times New Roman" pitchFamily="-110" charset="0"/>
                <a:ea typeface="+mn-ea"/>
                <a:cs typeface="+mn-cs"/>
              </a:rPr>
              <a:t>later in this chapter.</a:t>
            </a:r>
          </a:p>
          <a:p>
            <a:endParaRPr lang="en-GB" b="0" dirty="0"/>
          </a:p>
          <a:p>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E20714-CAAE-9747-9963-CB7650F17A86}" type="slidenum">
              <a:rPr lang="en-US"/>
              <a:pPr/>
              <a:t>19</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Được sử dụng khi người dùng tương tác trực tiếp với máy tính</a:t>
            </a:r>
          </a:p>
          <a:p>
            <a:r>
              <a:rPr lang="vi-VN" sz="1200" kern="1200" baseline="0" dirty="0">
                <a:solidFill>
                  <a:schemeClr val="tx1"/>
                </a:solidFill>
                <a:latin typeface="Times New Roman" pitchFamily="-110" charset="0"/>
                <a:ea typeface="+mn-ea"/>
                <a:cs typeface="+mn-cs"/>
              </a:rPr>
              <a:t>Thời gian của bộ xử lý được chia sẻ giữa nhiều người dùng</a:t>
            </a:r>
          </a:p>
          <a:p>
            <a:r>
              <a:rPr lang="vi-VN" sz="1200" kern="1200" baseline="0" dirty="0">
                <a:solidFill>
                  <a:schemeClr val="tx1"/>
                </a:solidFill>
                <a:latin typeface="Times New Roman" pitchFamily="-110" charset="0"/>
                <a:ea typeface="+mn-ea"/>
                <a:cs typeface="+mn-cs"/>
              </a:rPr>
              <a:t>Nhiều người dùng đồng thời truy cập hệ thống thông qua các thiết bị đầu cuối, với hệ điều hành interleaving thực hiện của mỗi chương trình người dùng trong một burst ngắn hoặc lượng tử (slice thời gian, khe thời gian) của tính toán</a:t>
            </a:r>
          </a:p>
          <a:p>
            <a:r>
              <a:rPr lang="vi-VN" sz="1200" kern="1200" baseline="0" dirty="0">
                <a:solidFill>
                  <a:schemeClr val="tx1"/>
                </a:solidFill>
                <a:latin typeface="Times New Roman" pitchFamily="-110" charset="0"/>
                <a:ea typeface="+mn-ea"/>
                <a:cs typeface="+mn-cs"/>
              </a:rPr>
              <a:t>Thí dụ:</a:t>
            </a:r>
          </a:p>
          <a:p>
            <a:r>
              <a:rPr lang="vi-VN" sz="1200" kern="1200" baseline="0" dirty="0">
                <a:solidFill>
                  <a:schemeClr val="tx1"/>
                </a:solidFill>
                <a:latin typeface="Times New Roman" pitchFamily="-110" charset="0"/>
                <a:ea typeface="+mn-ea"/>
                <a:cs typeface="+mn-cs"/>
              </a:rPr>
              <a:t>Nếu có n người dùng tích cực yêu cầu dịch vụ tại một thời điểm, mỗi người dùng sẽ chỉ thấy trên trung bình 1 / n tốc độ máy tính hiệu quả</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the use of multiprogramming, batch processing</a:t>
            </a:r>
          </a:p>
          <a:p>
            <a:r>
              <a:rPr lang="en-US" sz="1200" kern="1200" baseline="0" dirty="0">
                <a:solidFill>
                  <a:schemeClr val="tx1"/>
                </a:solidFill>
                <a:latin typeface="Times New Roman" pitchFamily="-110" charset="0"/>
                <a:ea typeface="+mn-ea"/>
                <a:cs typeface="+mn-cs"/>
              </a:rPr>
              <a:t>can be quite efficient. However, for many jobs, it is desirable to provide a mode in</a:t>
            </a:r>
          </a:p>
          <a:p>
            <a:r>
              <a:rPr lang="en-US" sz="1200" kern="1200" baseline="0" dirty="0">
                <a:solidFill>
                  <a:schemeClr val="tx1"/>
                </a:solidFill>
                <a:latin typeface="Times New Roman" pitchFamily="-110" charset="0"/>
                <a:ea typeface="+mn-ea"/>
                <a:cs typeface="+mn-cs"/>
              </a:rPr>
              <a:t>which the user interacts directly with the computer. Indeed, for some jobs, such as</a:t>
            </a:r>
          </a:p>
          <a:p>
            <a:r>
              <a:rPr lang="en-US" sz="1200" kern="1200" baseline="0" dirty="0">
                <a:solidFill>
                  <a:schemeClr val="tx1"/>
                </a:solidFill>
                <a:latin typeface="Times New Roman" pitchFamily="-110" charset="0"/>
                <a:ea typeface="+mn-ea"/>
                <a:cs typeface="+mn-cs"/>
              </a:rPr>
              <a:t>transaction processing, an interactive mode is essential.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Today, the requirement for an interactive computing facility can be, and often</a:t>
            </a:r>
          </a:p>
          <a:p>
            <a:r>
              <a:rPr lang="en-US" sz="1200" kern="1200" baseline="0" dirty="0">
                <a:solidFill>
                  <a:schemeClr val="tx1"/>
                </a:solidFill>
                <a:latin typeface="Times New Roman" pitchFamily="-110" charset="0"/>
                <a:ea typeface="+mn-ea"/>
                <a:cs typeface="+mn-cs"/>
              </a:rPr>
              <a:t>is, met by the use of a dedicated microcomputer. That option was not available in the</a:t>
            </a:r>
          </a:p>
          <a:p>
            <a:r>
              <a:rPr lang="en-US" sz="1200" kern="1200" baseline="0" dirty="0">
                <a:solidFill>
                  <a:schemeClr val="tx1"/>
                </a:solidFill>
                <a:latin typeface="Times New Roman" pitchFamily="-110" charset="0"/>
                <a:ea typeface="+mn-ea"/>
                <a:cs typeface="+mn-cs"/>
              </a:rPr>
              <a:t>1960s, when most computers were big and costly. Instead, time sharing was developed.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Just as multiprogramming allows the processor to handle multiple batch jobs</a:t>
            </a:r>
          </a:p>
          <a:p>
            <a:r>
              <a:rPr lang="en-US" sz="1200" kern="1200" baseline="0" dirty="0">
                <a:solidFill>
                  <a:schemeClr val="tx1"/>
                </a:solidFill>
                <a:latin typeface="Times New Roman" pitchFamily="-110" charset="0"/>
                <a:ea typeface="+mn-ea"/>
                <a:cs typeface="+mn-cs"/>
              </a:rPr>
              <a:t>at a time, multiprogramming can be used to handle multiple interactive jobs. In</a:t>
            </a:r>
          </a:p>
          <a:p>
            <a:r>
              <a:rPr lang="en-US" sz="1200" kern="1200" baseline="0" dirty="0">
                <a:solidFill>
                  <a:schemeClr val="tx1"/>
                </a:solidFill>
                <a:latin typeface="Times New Roman" pitchFamily="-110" charset="0"/>
                <a:ea typeface="+mn-ea"/>
                <a:cs typeface="+mn-cs"/>
              </a:rPr>
              <a:t>this latter case, the technique is referred to as time sharing, because the processor’s</a:t>
            </a:r>
          </a:p>
          <a:p>
            <a:r>
              <a:rPr lang="en-US" sz="1200" kern="1200" baseline="0" dirty="0">
                <a:solidFill>
                  <a:schemeClr val="tx1"/>
                </a:solidFill>
                <a:latin typeface="Times New Roman" pitchFamily="-110" charset="0"/>
                <a:ea typeface="+mn-ea"/>
                <a:cs typeface="+mn-cs"/>
              </a:rPr>
              <a:t>time is shared among multiple users. In a </a:t>
            </a:r>
            <a:r>
              <a:rPr lang="en-US" sz="1200" b="1" kern="1200" baseline="0" dirty="0">
                <a:solidFill>
                  <a:schemeClr val="tx1"/>
                </a:solidFill>
                <a:latin typeface="Times New Roman" pitchFamily="-110" charset="0"/>
                <a:ea typeface="+mn-ea"/>
                <a:cs typeface="+mn-cs"/>
              </a:rPr>
              <a:t>time-sharing system, </a:t>
            </a:r>
            <a:r>
              <a:rPr lang="en-US" sz="1200" b="0" kern="1200" baseline="0" dirty="0">
                <a:solidFill>
                  <a:schemeClr val="tx1"/>
                </a:solidFill>
                <a:latin typeface="Times New Roman" pitchFamily="-110" charset="0"/>
                <a:ea typeface="+mn-ea"/>
                <a:cs typeface="+mn-cs"/>
              </a:rPr>
              <a:t>multiple users</a:t>
            </a:r>
          </a:p>
          <a:p>
            <a:r>
              <a:rPr lang="en-US" sz="1200" kern="1200" baseline="0" dirty="0">
                <a:solidFill>
                  <a:schemeClr val="tx1"/>
                </a:solidFill>
                <a:latin typeface="Times New Roman" pitchFamily="-110" charset="0"/>
                <a:ea typeface="+mn-ea"/>
                <a:cs typeface="+mn-cs"/>
              </a:rPr>
              <a:t>simultaneously access the system through terminals, with the OS interleaving the</a:t>
            </a:r>
          </a:p>
          <a:p>
            <a:r>
              <a:rPr lang="en-US" sz="1200" kern="1200" baseline="0" dirty="0">
                <a:solidFill>
                  <a:schemeClr val="tx1"/>
                </a:solidFill>
                <a:latin typeface="Times New Roman" pitchFamily="-110" charset="0"/>
                <a:ea typeface="+mn-ea"/>
                <a:cs typeface="+mn-cs"/>
              </a:rPr>
              <a:t>execution of each user program in a short burst or quantum of computation. Thus,</a:t>
            </a:r>
          </a:p>
          <a:p>
            <a:r>
              <a:rPr lang="en-US" sz="1200" kern="1200" baseline="0" dirty="0">
                <a:solidFill>
                  <a:schemeClr val="tx1"/>
                </a:solidFill>
                <a:latin typeface="Times New Roman" pitchFamily="-110" charset="0"/>
                <a:ea typeface="+mn-ea"/>
                <a:cs typeface="+mn-cs"/>
              </a:rPr>
              <a:t>if there are </a:t>
            </a:r>
            <a:r>
              <a:rPr lang="en-US" sz="1200" i="1" kern="1200" baseline="0" dirty="0">
                <a:solidFill>
                  <a:schemeClr val="tx1"/>
                </a:solidFill>
                <a:latin typeface="Times New Roman" pitchFamily="-110" charset="0"/>
                <a:ea typeface="+mn-ea"/>
                <a:cs typeface="+mn-cs"/>
              </a:rPr>
              <a:t>n </a:t>
            </a:r>
            <a:r>
              <a:rPr lang="en-US" sz="1200" i="0" kern="1200" baseline="0" dirty="0">
                <a:solidFill>
                  <a:schemeClr val="tx1"/>
                </a:solidFill>
                <a:latin typeface="Times New Roman" pitchFamily="-110" charset="0"/>
                <a:ea typeface="+mn-ea"/>
                <a:cs typeface="+mn-cs"/>
              </a:rPr>
              <a:t>users actively requesting service at one time, each user will only see</a:t>
            </a:r>
          </a:p>
          <a:p>
            <a:r>
              <a:rPr lang="en-US" sz="1200" kern="1200" baseline="0" dirty="0">
                <a:solidFill>
                  <a:schemeClr val="tx1"/>
                </a:solidFill>
                <a:latin typeface="Times New Roman" pitchFamily="-110" charset="0"/>
                <a:ea typeface="+mn-ea"/>
                <a:cs typeface="+mn-cs"/>
              </a:rPr>
              <a:t>on the average 1/</a:t>
            </a:r>
            <a:r>
              <a:rPr lang="en-US" sz="1200" i="1" kern="1200" baseline="0" dirty="0">
                <a:solidFill>
                  <a:schemeClr val="tx1"/>
                </a:solidFill>
                <a:latin typeface="Times New Roman" pitchFamily="-110" charset="0"/>
                <a:ea typeface="+mn-ea"/>
                <a:cs typeface="+mn-cs"/>
              </a:rPr>
              <a:t>n </a:t>
            </a:r>
            <a:r>
              <a:rPr lang="en-US" sz="1200" i="0" kern="1200" baseline="0" dirty="0">
                <a:solidFill>
                  <a:schemeClr val="tx1"/>
                </a:solidFill>
                <a:latin typeface="Times New Roman" pitchFamily="-110" charset="0"/>
                <a:ea typeface="+mn-ea"/>
                <a:cs typeface="+mn-cs"/>
              </a:rPr>
              <a:t>of the effective computer speed, not counting OS overhead.</a:t>
            </a:r>
          </a:p>
          <a:p>
            <a:r>
              <a:rPr lang="en-US" sz="1200" kern="1200" baseline="0" dirty="0">
                <a:solidFill>
                  <a:schemeClr val="tx1"/>
                </a:solidFill>
                <a:latin typeface="Times New Roman" pitchFamily="-110" charset="0"/>
                <a:ea typeface="+mn-ea"/>
                <a:cs typeface="+mn-cs"/>
              </a:rPr>
              <a:t>However, given the relatively slow human reaction time, the response time on a</a:t>
            </a:r>
          </a:p>
          <a:p>
            <a:r>
              <a:rPr lang="en-US" sz="1200" kern="1200" baseline="0" dirty="0">
                <a:solidFill>
                  <a:schemeClr val="tx1"/>
                </a:solidFill>
                <a:latin typeface="Times New Roman" pitchFamily="-110" charset="0"/>
                <a:ea typeface="+mn-ea"/>
                <a:cs typeface="+mn-cs"/>
              </a:rPr>
              <a:t>properly designed system should be comparable to that on a dedicated computer.</a:t>
            </a:r>
            <a:endParaRPr lang="en-GB" b="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sz="1200" kern="1200" baseline="0" dirty="0">
                <a:solidFill>
                  <a:schemeClr val="tx1"/>
                </a:solidFill>
                <a:latin typeface="Times New Roman" pitchFamily="-110" charset="0"/>
                <a:ea typeface="+mn-ea"/>
                <a:cs typeface="+mn-cs"/>
              </a:rPr>
              <a:t>Cả hai batch multiprogramming và chia sẻ thời gian sử dụng nhiều chương trình. Các</a:t>
            </a:r>
          </a:p>
          <a:p>
            <a:r>
              <a:rPr lang="vi-VN" sz="1200" kern="1200" baseline="0" dirty="0">
                <a:solidFill>
                  <a:schemeClr val="tx1"/>
                </a:solidFill>
                <a:latin typeface="Times New Roman" pitchFamily="-110" charset="0"/>
                <a:ea typeface="+mn-ea"/>
                <a:cs typeface="+mn-cs"/>
              </a:rPr>
              <a:t>những khác biệt chính được liệt kê trong Bảng 8.3.</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Both batch multiprogramming and time sharing use multiprogramming. The</a:t>
            </a:r>
          </a:p>
          <a:p>
            <a:r>
              <a:rPr lang="en-US" sz="1200" kern="1200" baseline="0" dirty="0">
                <a:solidFill>
                  <a:schemeClr val="tx1"/>
                </a:solidFill>
                <a:latin typeface="Times New Roman" pitchFamily="-110" charset="0"/>
                <a:ea typeface="+mn-ea"/>
                <a:cs typeface="+mn-cs"/>
              </a:rPr>
              <a:t>key differences are listed in Table 8.3.</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DF9366-8D9A-854E-A2CD-8CEBDC96DE66}" type="slidenum">
              <a:rPr lang="en-US"/>
              <a:pPr/>
              <a:t>21</a:t>
            </a:fld>
            <a:endParaRPr lang="en-US"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Chìa khóa để lập trình đa chức năng là lập kế hoạch. Trên thực tế, bốn loại lập kế hoạch là</a:t>
            </a:r>
          </a:p>
          <a:p>
            <a:r>
              <a:rPr lang="vi-VN" sz="1200" kern="1200" baseline="0" dirty="0">
                <a:solidFill>
                  <a:schemeClr val="tx1"/>
                </a:solidFill>
                <a:latin typeface="Times New Roman" pitchFamily="-110" charset="0"/>
                <a:ea typeface="+mn-ea"/>
                <a:cs typeface="+mn-cs"/>
              </a:rPr>
              <a:t>thường liên quan (Bảng 8.4). Chúng tôi sẽ khám phá những hiện tại. Nhưng trước tiên, chúng tôi giới thiệu</a:t>
            </a:r>
          </a:p>
          <a:p>
            <a:r>
              <a:rPr lang="vi-VN" sz="1200" kern="1200" baseline="0" dirty="0">
                <a:solidFill>
                  <a:schemeClr val="tx1"/>
                </a:solidFill>
                <a:latin typeface="Times New Roman" pitchFamily="-110" charset="0"/>
                <a:ea typeface="+mn-ea"/>
                <a:cs typeface="+mn-cs"/>
              </a:rPr>
              <a:t>khái niệm quá trình. Thuật ngữ này lần đầu tiên được sử dụng bởi các nhà thiết kế của Multics</a:t>
            </a:r>
          </a:p>
          <a:p>
            <a:r>
              <a:rPr lang="vi-VN" sz="1200" kern="1200" baseline="0" dirty="0">
                <a:solidFill>
                  <a:schemeClr val="tx1"/>
                </a:solidFill>
                <a:latin typeface="Times New Roman" pitchFamily="-110" charset="0"/>
                <a:ea typeface="+mn-ea"/>
                <a:cs typeface="+mn-cs"/>
              </a:rPr>
              <a:t>OS vào những năm 1960. Đó là một thuật ngữ khá tổng quát hơn công việc. Nhiều định nghĩa</a:t>
            </a:r>
          </a:p>
          <a:p>
            <a:r>
              <a:rPr lang="vi-VN" sz="1200" kern="1200" baseline="0" dirty="0">
                <a:solidFill>
                  <a:schemeClr val="tx1"/>
                </a:solidFill>
                <a:latin typeface="Times New Roman" pitchFamily="-110" charset="0"/>
                <a:ea typeface="+mn-ea"/>
                <a:cs typeface="+mn-cs"/>
              </a:rPr>
              <a:t>đã được đưa ra cho quá trình này, bao gồm</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Một chương trình thực hiện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"Tinh thần hoạt hình" của một chương trình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Thực thể đó mà một bộ xử lý được gán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key to multiprogramming is scheduling. In fact, four types of scheduling are</a:t>
            </a:r>
          </a:p>
          <a:p>
            <a:r>
              <a:rPr lang="en-US" sz="1200" kern="1200" baseline="0" dirty="0">
                <a:solidFill>
                  <a:schemeClr val="tx1"/>
                </a:solidFill>
                <a:latin typeface="Times New Roman" pitchFamily="-110" charset="0"/>
                <a:ea typeface="+mn-ea"/>
                <a:cs typeface="+mn-cs"/>
              </a:rPr>
              <a:t>typically involved (Table 8.4). We will explore these presently. But first, we introduce</a:t>
            </a:r>
          </a:p>
          <a:p>
            <a:r>
              <a:rPr lang="en-US" sz="1200" kern="1200" baseline="0" dirty="0">
                <a:solidFill>
                  <a:schemeClr val="tx1"/>
                </a:solidFill>
                <a:latin typeface="Times New Roman" pitchFamily="-110" charset="0"/>
                <a:ea typeface="+mn-ea"/>
                <a:cs typeface="+mn-cs"/>
              </a:rPr>
              <a:t>the concept of </a:t>
            </a:r>
            <a:r>
              <a:rPr lang="en-US" sz="1200" b="1" kern="1200" baseline="0" dirty="0">
                <a:solidFill>
                  <a:schemeClr val="tx1"/>
                </a:solidFill>
                <a:latin typeface="Times New Roman" pitchFamily="-110" charset="0"/>
                <a:ea typeface="+mn-ea"/>
                <a:cs typeface="+mn-cs"/>
              </a:rPr>
              <a:t>process. This term was first used by the designers of the Multics</a:t>
            </a:r>
          </a:p>
          <a:p>
            <a:r>
              <a:rPr lang="en-US" sz="1200" kern="1200" baseline="0" dirty="0">
                <a:solidFill>
                  <a:schemeClr val="tx1"/>
                </a:solidFill>
                <a:latin typeface="Times New Roman" pitchFamily="-110" charset="0"/>
                <a:ea typeface="+mn-ea"/>
                <a:cs typeface="+mn-cs"/>
              </a:rPr>
              <a:t>OS in the 1960s. It is a somewhat more general term than </a:t>
            </a:r>
            <a:r>
              <a:rPr lang="en-US" sz="1200" i="1" kern="1200" baseline="0" dirty="0">
                <a:solidFill>
                  <a:schemeClr val="tx1"/>
                </a:solidFill>
                <a:latin typeface="Times New Roman" pitchFamily="-110" charset="0"/>
                <a:ea typeface="+mn-ea"/>
                <a:cs typeface="+mn-cs"/>
              </a:rPr>
              <a:t>job. Many definitions</a:t>
            </a:r>
          </a:p>
          <a:p>
            <a:r>
              <a:rPr lang="en-US" sz="1200" kern="1200" baseline="0" dirty="0">
                <a:solidFill>
                  <a:schemeClr val="tx1"/>
                </a:solidFill>
                <a:latin typeface="Times New Roman" pitchFamily="-110" charset="0"/>
                <a:ea typeface="+mn-ea"/>
                <a:cs typeface="+mn-cs"/>
              </a:rPr>
              <a:t>have been given for the term </a:t>
            </a:r>
            <a:r>
              <a:rPr lang="en-US" sz="1200" i="1" kern="1200" baseline="0" dirty="0">
                <a:solidFill>
                  <a:schemeClr val="tx1"/>
                </a:solidFill>
                <a:latin typeface="Times New Roman" pitchFamily="-110" charset="0"/>
                <a:ea typeface="+mn-ea"/>
                <a:cs typeface="+mn-cs"/>
              </a:rPr>
              <a:t>process, including</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 program in execution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The “animated spirit” of a program</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That entity to which a processor is assigned</a:t>
            </a:r>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DF9366-8D9A-854E-A2CD-8CEBDC96DE66}" type="slidenum">
              <a:rPr lang="en-US"/>
              <a:pPr/>
              <a:t>22</a:t>
            </a:fld>
            <a:endParaRPr lang="en-US"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lang="vi-VN" dirty="0"/>
              <a:t>Mỗi phần của bảng quá trình được gọi là Khối điều khiển quá trình</a:t>
            </a:r>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2D9DEA-18F1-2144-B828-BBEA77AAAF18}" type="slidenum">
              <a:rPr lang="en-US"/>
              <a:pPr/>
              <a:t>23</a:t>
            </a:fld>
            <a:endParaRPr lang="en-US" dirty="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Lập kế hoạch dài hạn xác định những chương trình nào được nhận vào hệ thống</a:t>
            </a:r>
          </a:p>
          <a:p>
            <a:r>
              <a:rPr lang="vi-VN" sz="1200" kern="1200" baseline="0" dirty="0">
                <a:solidFill>
                  <a:schemeClr val="tx1"/>
                </a:solidFill>
                <a:latin typeface="Times New Roman" pitchFamily="-110" charset="0"/>
                <a:ea typeface="+mn-ea"/>
                <a:cs typeface="+mn-cs"/>
              </a:rPr>
              <a:t>Chế biến. Do đó, nó kiểm soát mức độ đa chương trình (số lượng các quy trình</a:t>
            </a:r>
          </a:p>
          <a:p>
            <a:r>
              <a:rPr lang="vi-VN" sz="1200" kern="1200" baseline="0" dirty="0">
                <a:solidFill>
                  <a:schemeClr val="tx1"/>
                </a:solidFill>
                <a:latin typeface="Times New Roman" pitchFamily="-110" charset="0"/>
                <a:ea typeface="+mn-ea"/>
                <a:cs typeface="+mn-cs"/>
              </a:rPr>
              <a:t>trong trí nhớ). Khi được nhận vào, một công việc hoặc chương trình người sử dụng trở thành một quá trình và</a:t>
            </a:r>
          </a:p>
          <a:p>
            <a:r>
              <a:rPr lang="vi-VN" sz="1200" kern="1200" baseline="0" dirty="0">
                <a:solidFill>
                  <a:schemeClr val="tx1"/>
                </a:solidFill>
                <a:latin typeface="Times New Roman" pitchFamily="-110" charset="0"/>
                <a:ea typeface="+mn-ea"/>
                <a:cs typeface="+mn-cs"/>
              </a:rPr>
              <a:t>được thêm vào hàng đợi cho kế hoạch ngắn hạn. Trong một số hệ thống, một hệ thống mới được tạo ra</a:t>
            </a:r>
          </a:p>
          <a:p>
            <a:r>
              <a:rPr lang="vi-VN" sz="1200" kern="1200" baseline="0" dirty="0">
                <a:solidFill>
                  <a:schemeClr val="tx1"/>
                </a:solidFill>
                <a:latin typeface="Times New Roman" pitchFamily="-110" charset="0"/>
                <a:ea typeface="+mn-ea"/>
                <a:cs typeface="+mn-cs"/>
              </a:rPr>
              <a:t>quá trình bắt đầu trong một điều kiện đổi chỗ, trong trường hợp nó được thêm vào một hàng đợi cho</a:t>
            </a:r>
          </a:p>
          <a:p>
            <a:r>
              <a:rPr lang="vi-VN" sz="1200" kern="1200" baseline="0" dirty="0">
                <a:solidFill>
                  <a:schemeClr val="tx1"/>
                </a:solidFill>
                <a:latin typeface="Times New Roman" pitchFamily="-110" charset="0"/>
                <a:ea typeface="+mn-ea"/>
                <a:cs typeface="+mn-cs"/>
              </a:rPr>
              <a:t>kế hoạch trung hạn.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Trong một hệ thống lô, hoặc cho phần lô của một hệ điều hành mục đích chung, mới</a:t>
            </a:r>
          </a:p>
          <a:p>
            <a:r>
              <a:rPr lang="vi-VN" sz="1200" kern="1200" baseline="0" dirty="0">
                <a:solidFill>
                  <a:schemeClr val="tx1"/>
                </a:solidFill>
                <a:latin typeface="Times New Roman" pitchFamily="-110" charset="0"/>
                <a:ea typeface="+mn-ea"/>
                <a:cs typeface="+mn-cs"/>
              </a:rPr>
              <a:t>các công việc đã gửi được chuyển đến đĩa và được giữ trong một hàng đợi hàng loạt. Lập kế hoạch dài hạn</a:t>
            </a:r>
          </a:p>
          <a:p>
            <a:r>
              <a:rPr lang="vi-VN" sz="1200" kern="1200" baseline="0" dirty="0">
                <a:solidFill>
                  <a:schemeClr val="tx1"/>
                </a:solidFill>
                <a:latin typeface="Times New Roman" pitchFamily="-110" charset="0"/>
                <a:ea typeface="+mn-ea"/>
                <a:cs typeface="+mn-cs"/>
              </a:rPr>
              <a:t>tạo các quy trình từ hàng đợi khi có thể. Có hai quyết định liên quan</a:t>
            </a:r>
          </a:p>
          <a:p>
            <a:r>
              <a:rPr lang="vi-VN" sz="1200" kern="1200" baseline="0" dirty="0">
                <a:solidFill>
                  <a:schemeClr val="tx1"/>
                </a:solidFill>
                <a:latin typeface="Times New Roman" pitchFamily="-110" charset="0"/>
                <a:ea typeface="+mn-ea"/>
                <a:cs typeface="+mn-cs"/>
              </a:rPr>
              <a:t>đây. Thứ nhất, trình lên lịch phải quyết định rằng hệ điều hành có thể thực hiện một hoặc nhiều bổ sung</a:t>
            </a:r>
          </a:p>
          <a:p>
            <a:r>
              <a:rPr lang="vi-VN" sz="1200" kern="1200" baseline="0" dirty="0">
                <a:solidFill>
                  <a:schemeClr val="tx1"/>
                </a:solidFill>
                <a:latin typeface="Times New Roman" pitchFamily="-110" charset="0"/>
                <a:ea typeface="+mn-ea"/>
                <a:cs typeface="+mn-cs"/>
              </a:rPr>
              <a:t>quy trình. Thứ hai, trình lên lịch phải quyết định công việc hoặc công việc nào để chấp nhận và</a:t>
            </a:r>
          </a:p>
          <a:p>
            <a:r>
              <a:rPr lang="vi-VN" sz="1200" kern="1200" baseline="0" dirty="0">
                <a:solidFill>
                  <a:schemeClr val="tx1"/>
                </a:solidFill>
                <a:latin typeface="Times New Roman" pitchFamily="-110" charset="0"/>
                <a:ea typeface="+mn-ea"/>
                <a:cs typeface="+mn-cs"/>
              </a:rPr>
              <a:t>biến thành quy trình. Các tiêu chí được sử dụng có thể bao gồm ưu tiên, thời gian thực hiện dự kiến,</a:t>
            </a:r>
          </a:p>
          <a:p>
            <a:r>
              <a:rPr lang="vi-VN" sz="1200" kern="1200" baseline="0" dirty="0">
                <a:solidFill>
                  <a:schemeClr val="tx1"/>
                </a:solidFill>
                <a:latin typeface="Times New Roman" pitchFamily="-110" charset="0"/>
                <a:ea typeface="+mn-ea"/>
                <a:cs typeface="+mn-cs"/>
              </a:rPr>
              <a:t>và yêu cầu I / 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Đối với các chương trình tương tác trong một hệ thống chia sẻ thời gian, một yêu cầu quá trình được tạo ra</a:t>
            </a:r>
          </a:p>
          <a:p>
            <a:r>
              <a:rPr lang="vi-VN" sz="1200" kern="1200" baseline="0" dirty="0">
                <a:solidFill>
                  <a:schemeClr val="tx1"/>
                </a:solidFill>
                <a:latin typeface="Times New Roman" pitchFamily="-110" charset="0"/>
                <a:ea typeface="+mn-ea"/>
                <a:cs typeface="+mn-cs"/>
              </a:rPr>
              <a:t>khi người dùng cố gắng để kết nối với hệ thống. Người dùng chia sẻ thời gian không</a:t>
            </a:r>
          </a:p>
          <a:p>
            <a:r>
              <a:rPr lang="vi-VN" sz="1200" kern="1200" baseline="0" dirty="0">
                <a:solidFill>
                  <a:schemeClr val="tx1"/>
                </a:solidFill>
                <a:latin typeface="Times New Roman" pitchFamily="-110" charset="0"/>
                <a:ea typeface="+mn-ea"/>
                <a:cs typeface="+mn-cs"/>
              </a:rPr>
              <a:t>chỉ cần xếp hàng đợi và chờ đợi cho đến khi hệ thống có thể chấp nhận chúng. Thay vào đó,</a:t>
            </a:r>
          </a:p>
          <a:p>
            <a:r>
              <a:rPr lang="vi-VN" sz="1200" kern="1200" baseline="0" dirty="0">
                <a:solidFill>
                  <a:schemeClr val="tx1"/>
                </a:solidFill>
                <a:latin typeface="Times New Roman" pitchFamily="-110" charset="0"/>
                <a:ea typeface="+mn-ea"/>
                <a:cs typeface="+mn-cs"/>
              </a:rPr>
              <a:t>Hệ điều hành sẽ chấp nhận tất cả những người được ủy quyền cho đến khi hệ thống được bão hòa, sử dụng một số được xác định trước</a:t>
            </a:r>
          </a:p>
          <a:p>
            <a:r>
              <a:rPr lang="vi-VN" sz="1200" kern="1200" baseline="0" dirty="0">
                <a:solidFill>
                  <a:schemeClr val="tx1"/>
                </a:solidFill>
                <a:latin typeface="Times New Roman" pitchFamily="-110" charset="0"/>
                <a:ea typeface="+mn-ea"/>
                <a:cs typeface="+mn-cs"/>
              </a:rPr>
              <a:t>đo độ bão hòa. Tại thời điểm đó, một yêu cầu kết nối được đáp ứng với một</a:t>
            </a:r>
          </a:p>
          <a:p>
            <a:r>
              <a:rPr lang="vi-VN" sz="1200" kern="1200" baseline="0" dirty="0">
                <a:solidFill>
                  <a:schemeClr val="tx1"/>
                </a:solidFill>
                <a:latin typeface="Times New Roman" pitchFamily="-110" charset="0"/>
                <a:ea typeface="+mn-ea"/>
                <a:cs typeface="+mn-cs"/>
              </a:rPr>
              <a:t>thông báo rằng hệ thống đã đầy và người dùng nên thử lại sau.</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long-term scheduler determines which programs are admitted to the system for</a:t>
            </a:r>
          </a:p>
          <a:p>
            <a:r>
              <a:rPr lang="en-US" sz="1200" kern="1200" baseline="0" dirty="0">
                <a:solidFill>
                  <a:schemeClr val="tx1"/>
                </a:solidFill>
                <a:latin typeface="Times New Roman" pitchFamily="-110" charset="0"/>
                <a:ea typeface="+mn-ea"/>
                <a:cs typeface="+mn-cs"/>
              </a:rPr>
              <a:t>processing. Thus, it controls the degree of multiprogramming (number of processes</a:t>
            </a:r>
          </a:p>
          <a:p>
            <a:r>
              <a:rPr lang="en-US" sz="1200" kern="1200" baseline="0" dirty="0">
                <a:solidFill>
                  <a:schemeClr val="tx1"/>
                </a:solidFill>
                <a:latin typeface="Times New Roman" pitchFamily="-110" charset="0"/>
                <a:ea typeface="+mn-ea"/>
                <a:cs typeface="+mn-cs"/>
              </a:rPr>
              <a:t>in memory). Once admitted, a job or user program becomes a process and is</a:t>
            </a:r>
          </a:p>
          <a:p>
            <a:r>
              <a:rPr lang="en-US" sz="1200" kern="1200" baseline="0" dirty="0">
                <a:solidFill>
                  <a:schemeClr val="tx1"/>
                </a:solidFill>
                <a:latin typeface="Times New Roman" pitchFamily="-110" charset="0"/>
                <a:ea typeface="+mn-ea"/>
                <a:cs typeface="+mn-cs"/>
              </a:rPr>
              <a:t>added to the queue for the short-term scheduler. In some systems, a newly created</a:t>
            </a:r>
          </a:p>
          <a:p>
            <a:r>
              <a:rPr lang="en-US" sz="1200" kern="1200" baseline="0" dirty="0">
                <a:solidFill>
                  <a:schemeClr val="tx1"/>
                </a:solidFill>
                <a:latin typeface="Times New Roman" pitchFamily="-110" charset="0"/>
                <a:ea typeface="+mn-ea"/>
                <a:cs typeface="+mn-cs"/>
              </a:rPr>
              <a:t>process begins in a swapped-out condition, in which case it is added to a queue for</a:t>
            </a:r>
          </a:p>
          <a:p>
            <a:r>
              <a:rPr lang="en-US" sz="1200" kern="1200" baseline="0" dirty="0">
                <a:solidFill>
                  <a:schemeClr val="tx1"/>
                </a:solidFill>
                <a:latin typeface="Times New Roman" pitchFamily="-110" charset="0"/>
                <a:ea typeface="+mn-ea"/>
                <a:cs typeface="+mn-cs"/>
              </a:rPr>
              <a:t>the medium-term scheduler.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 batch system, or for the batch portion of a general-purpose OS, newly</a:t>
            </a:r>
          </a:p>
          <a:p>
            <a:r>
              <a:rPr lang="en-US" sz="1200" kern="1200" baseline="0" dirty="0">
                <a:solidFill>
                  <a:schemeClr val="tx1"/>
                </a:solidFill>
                <a:latin typeface="Times New Roman" pitchFamily="-110" charset="0"/>
                <a:ea typeface="+mn-ea"/>
                <a:cs typeface="+mn-cs"/>
              </a:rPr>
              <a:t>submitted jobs are routed to disk and held in a batch queue. The long-term scheduler</a:t>
            </a:r>
          </a:p>
          <a:p>
            <a:r>
              <a:rPr lang="en-US" sz="1200" kern="1200" baseline="0" dirty="0">
                <a:solidFill>
                  <a:schemeClr val="tx1"/>
                </a:solidFill>
                <a:latin typeface="Times New Roman" pitchFamily="-110" charset="0"/>
                <a:ea typeface="+mn-ea"/>
                <a:cs typeface="+mn-cs"/>
              </a:rPr>
              <a:t>creates processes from the queue when it can. There are two decisions involved</a:t>
            </a:r>
          </a:p>
          <a:p>
            <a:r>
              <a:rPr lang="en-US" sz="1200" kern="1200" baseline="0" dirty="0">
                <a:solidFill>
                  <a:schemeClr val="tx1"/>
                </a:solidFill>
                <a:latin typeface="Times New Roman" pitchFamily="-110" charset="0"/>
                <a:ea typeface="+mn-ea"/>
                <a:cs typeface="+mn-cs"/>
              </a:rPr>
              <a:t>here. First, the scheduler must decide that the OS can take on one or more additional</a:t>
            </a:r>
          </a:p>
          <a:p>
            <a:r>
              <a:rPr lang="en-US" sz="1200" kern="1200" baseline="0" dirty="0">
                <a:solidFill>
                  <a:schemeClr val="tx1"/>
                </a:solidFill>
                <a:latin typeface="Times New Roman" pitchFamily="-110" charset="0"/>
                <a:ea typeface="+mn-ea"/>
                <a:cs typeface="+mn-cs"/>
              </a:rPr>
              <a:t>processes. Second, the scheduler must decide which job or jobs to accept and</a:t>
            </a:r>
          </a:p>
          <a:p>
            <a:r>
              <a:rPr lang="en-US" sz="1200" kern="1200" baseline="0" dirty="0">
                <a:solidFill>
                  <a:schemeClr val="tx1"/>
                </a:solidFill>
                <a:latin typeface="Times New Roman" pitchFamily="-110" charset="0"/>
                <a:ea typeface="+mn-ea"/>
                <a:cs typeface="+mn-cs"/>
              </a:rPr>
              <a:t>turn into processes. The criteria used may include priority, expected execution time,</a:t>
            </a:r>
          </a:p>
          <a:p>
            <a:r>
              <a:rPr lang="en-US" sz="1200" kern="1200" baseline="0" dirty="0">
                <a:solidFill>
                  <a:schemeClr val="tx1"/>
                </a:solidFill>
                <a:latin typeface="Times New Roman" pitchFamily="-110" charset="0"/>
                <a:ea typeface="+mn-ea"/>
                <a:cs typeface="+mn-cs"/>
              </a:rPr>
              <a:t>and I/O requirements.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For interactive programs in a time-sharing system, a process request is generated</a:t>
            </a:r>
          </a:p>
          <a:p>
            <a:r>
              <a:rPr lang="en-US" sz="1200" kern="1200" baseline="0" dirty="0">
                <a:solidFill>
                  <a:schemeClr val="tx1"/>
                </a:solidFill>
                <a:latin typeface="Times New Roman" pitchFamily="-110" charset="0"/>
                <a:ea typeface="+mn-ea"/>
                <a:cs typeface="+mn-cs"/>
              </a:rPr>
              <a:t>when a user attempts to connect to the system. Time-sharing users are not</a:t>
            </a:r>
          </a:p>
          <a:p>
            <a:r>
              <a:rPr lang="en-US" sz="1200" kern="1200" baseline="0" dirty="0">
                <a:solidFill>
                  <a:schemeClr val="tx1"/>
                </a:solidFill>
                <a:latin typeface="Times New Roman" pitchFamily="-110" charset="0"/>
                <a:ea typeface="+mn-ea"/>
                <a:cs typeface="+mn-cs"/>
              </a:rPr>
              <a:t>simply queued up and kept waiting until the system can accept them. Rather, the</a:t>
            </a:r>
          </a:p>
          <a:p>
            <a:r>
              <a:rPr lang="en-US" sz="1200" kern="1200" baseline="0" dirty="0">
                <a:solidFill>
                  <a:schemeClr val="tx1"/>
                </a:solidFill>
                <a:latin typeface="Times New Roman" pitchFamily="-110" charset="0"/>
                <a:ea typeface="+mn-ea"/>
                <a:cs typeface="+mn-cs"/>
              </a:rPr>
              <a:t>OS will accept all authorized comers until the system is saturated, using some predefined</a:t>
            </a:r>
          </a:p>
          <a:p>
            <a:r>
              <a:rPr lang="en-US" sz="1200" kern="1200" baseline="0" dirty="0">
                <a:solidFill>
                  <a:schemeClr val="tx1"/>
                </a:solidFill>
                <a:latin typeface="Times New Roman" pitchFamily="-110" charset="0"/>
                <a:ea typeface="+mn-ea"/>
                <a:cs typeface="+mn-cs"/>
              </a:rPr>
              <a:t>measure of saturation. At that point, a connection request is met with a</a:t>
            </a:r>
          </a:p>
          <a:p>
            <a:r>
              <a:rPr lang="en-US" sz="1200" kern="1200" baseline="0" dirty="0">
                <a:solidFill>
                  <a:schemeClr val="tx1"/>
                </a:solidFill>
                <a:latin typeface="Times New Roman" pitchFamily="-110" charset="0"/>
                <a:ea typeface="+mn-ea"/>
                <a:cs typeface="+mn-cs"/>
              </a:rPr>
              <a:t>message indicating that the system is full and the user should try again later.</a:t>
            </a:r>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217991-1536-934F-9F77-EB9F02155C85}" type="slidenum">
              <a:rPr lang="en-US"/>
              <a:pPr/>
              <a:t>24</a:t>
            </a:fld>
            <a:endParaRPr lang="en-US" dirty="0"/>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Medium-term scheduling is part of the swapping function, described in Section 8.3.</a:t>
            </a:r>
          </a:p>
          <a:p>
            <a:r>
              <a:rPr lang="en-US" sz="1200" kern="1200" baseline="0" dirty="0">
                <a:solidFill>
                  <a:schemeClr val="tx1"/>
                </a:solidFill>
                <a:latin typeface="Times New Roman" pitchFamily="-110" charset="0"/>
                <a:ea typeface="+mn-ea"/>
                <a:cs typeface="+mn-cs"/>
              </a:rPr>
              <a:t>Typically, the swapping-in decision is based on the need to manage the degree of</a:t>
            </a:r>
          </a:p>
          <a:p>
            <a:r>
              <a:rPr lang="en-US" sz="1200" kern="1200" baseline="0" dirty="0">
                <a:solidFill>
                  <a:schemeClr val="tx1"/>
                </a:solidFill>
                <a:latin typeface="Times New Roman" pitchFamily="-110" charset="0"/>
                <a:ea typeface="+mn-ea"/>
                <a:cs typeface="+mn-cs"/>
              </a:rPr>
              <a:t>multiprogramming. On a system that does not use virtual memory, memory management</a:t>
            </a:r>
          </a:p>
          <a:p>
            <a:r>
              <a:rPr lang="en-US" sz="1200" kern="1200" baseline="0" dirty="0">
                <a:solidFill>
                  <a:schemeClr val="tx1"/>
                </a:solidFill>
                <a:latin typeface="Times New Roman" pitchFamily="-110" charset="0"/>
                <a:ea typeface="+mn-ea"/>
                <a:cs typeface="+mn-cs"/>
              </a:rPr>
              <a:t>is also an issue. Thus, the swapping-in decision will consider the memory</a:t>
            </a:r>
          </a:p>
          <a:p>
            <a:r>
              <a:rPr lang="en-US" sz="1200" kern="1200" baseline="0" dirty="0">
                <a:solidFill>
                  <a:schemeClr val="tx1"/>
                </a:solidFill>
                <a:latin typeface="Times New Roman" pitchFamily="-110" charset="0"/>
                <a:ea typeface="+mn-ea"/>
                <a:cs typeface="+mn-cs"/>
              </a:rPr>
              <a:t>requirements of the swapped-out processes.</a:t>
            </a:r>
          </a:p>
          <a:p>
            <a:endParaRPr lang="en-US"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Lập kế hoạch trung hạn là một phần của chức năng trao đổi, được mô tả trong Phần 8.3.</a:t>
            </a:r>
          </a:p>
          <a:p>
            <a:r>
              <a:rPr lang="vi-VN" sz="1200" kern="1200" baseline="0" dirty="0">
                <a:solidFill>
                  <a:schemeClr val="tx1"/>
                </a:solidFill>
                <a:latin typeface="Times New Roman" pitchFamily="-110" charset="0"/>
                <a:ea typeface="+mn-ea"/>
                <a:cs typeface="+mn-cs"/>
              </a:rPr>
              <a:t>Thông thường, quyết định hoán đổi dựa trên sự cần thiết phải quản lý mức độ</a:t>
            </a:r>
          </a:p>
          <a:p>
            <a:r>
              <a:rPr lang="vi-VN" sz="1200" kern="1200" baseline="0" dirty="0">
                <a:solidFill>
                  <a:schemeClr val="tx1"/>
                </a:solidFill>
                <a:latin typeface="Times New Roman" pitchFamily="-110" charset="0"/>
                <a:ea typeface="+mn-ea"/>
                <a:cs typeface="+mn-cs"/>
              </a:rPr>
              <a:t>lập trình nhiều lần. Trên một hệ thống không sử dụng bộ nhớ ảo, quản lý bộ nhớ</a:t>
            </a:r>
          </a:p>
          <a:p>
            <a:r>
              <a:rPr lang="vi-VN" sz="1200" kern="1200" baseline="0" dirty="0">
                <a:solidFill>
                  <a:schemeClr val="tx1"/>
                </a:solidFill>
                <a:latin typeface="Times New Roman" pitchFamily="-110" charset="0"/>
                <a:ea typeface="+mn-ea"/>
                <a:cs typeface="+mn-cs"/>
              </a:rPr>
              <a:t>cũng là một vấn đề. Như vậy, việc trao đổi trong quyết định sẽ xem xét bộ nhớ</a:t>
            </a:r>
          </a:p>
          <a:p>
            <a:r>
              <a:rPr lang="vi-VN" sz="1200" kern="1200" baseline="0" dirty="0">
                <a:solidFill>
                  <a:schemeClr val="tx1"/>
                </a:solidFill>
                <a:latin typeface="Times New Roman" pitchFamily="-110" charset="0"/>
                <a:ea typeface="+mn-ea"/>
                <a:cs typeface="+mn-cs"/>
              </a:rPr>
              <a:t>yêu cầu của các quy trình hoán đổi.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Bộ lập biểu dài hạn thực hiện tương đối thường xuyên và làm cho hạt thô</a:t>
            </a:r>
          </a:p>
          <a:p>
            <a:r>
              <a:rPr lang="vi-VN" sz="1200" kern="1200" baseline="0" dirty="0">
                <a:solidFill>
                  <a:schemeClr val="tx1"/>
                </a:solidFill>
                <a:latin typeface="Times New Roman" pitchFamily="-110" charset="0"/>
                <a:ea typeface="+mn-ea"/>
                <a:cs typeface="+mn-cs"/>
              </a:rPr>
              <a:t>quyết định về việc liệu có nên tiến hành một quy trình mới hay không, và quyết định tiếp theo.</a:t>
            </a:r>
          </a:p>
          <a:p>
            <a:r>
              <a:rPr lang="vi-VN" sz="1200" kern="1200" baseline="0" dirty="0">
                <a:solidFill>
                  <a:schemeClr val="tx1"/>
                </a:solidFill>
                <a:latin typeface="Times New Roman" pitchFamily="-110" charset="0"/>
                <a:ea typeface="+mn-ea"/>
                <a:cs typeface="+mn-cs"/>
              </a:rPr>
              <a:t>Trình lên lịch ngắn hạn, còn được gọi là người điều phối, thực hiện thường xuyên và</a:t>
            </a:r>
          </a:p>
          <a:p>
            <a:r>
              <a:rPr lang="vi-VN" sz="1200" kern="1200" baseline="0" dirty="0">
                <a:solidFill>
                  <a:schemeClr val="tx1"/>
                </a:solidFill>
                <a:latin typeface="Times New Roman" pitchFamily="-110" charset="0"/>
                <a:ea typeface="+mn-ea"/>
                <a:cs typeface="+mn-cs"/>
              </a:rPr>
              <a:t>làm cho quyết định tinh vi của công việc được thực hiện tiếp theo.</a:t>
            </a:r>
          </a:p>
          <a:p>
            <a:r>
              <a:rPr lang="vi-VN" sz="1200" kern="1200" baseline="0" dirty="0">
                <a:solidFill>
                  <a:schemeClr val="tx1"/>
                </a:solidFill>
                <a:latin typeface="Times New Roman" pitchFamily="-110" charset="0"/>
                <a:ea typeface="+mn-ea"/>
                <a:cs typeface="+mn-cs"/>
              </a:rPr>
              <a:t>ull và người dùng nên thử lại sau.</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long-term scheduler executes relatively infrequently and makes the coarse grained</a:t>
            </a:r>
          </a:p>
          <a:p>
            <a:r>
              <a:rPr lang="en-US" sz="1200" kern="1200" baseline="0" dirty="0">
                <a:solidFill>
                  <a:schemeClr val="tx1"/>
                </a:solidFill>
                <a:latin typeface="Times New Roman" pitchFamily="-110" charset="0"/>
                <a:ea typeface="+mn-ea"/>
                <a:cs typeface="+mn-cs"/>
              </a:rPr>
              <a:t>decision of whether or not to take on a new process, and which one to take.</a:t>
            </a:r>
          </a:p>
          <a:p>
            <a:r>
              <a:rPr lang="en-US" sz="1200" kern="1200" baseline="0" dirty="0">
                <a:solidFill>
                  <a:schemeClr val="tx1"/>
                </a:solidFill>
                <a:latin typeface="Times New Roman" pitchFamily="-110" charset="0"/>
                <a:ea typeface="+mn-ea"/>
                <a:cs typeface="+mn-cs"/>
              </a:rPr>
              <a:t>The short-term scheduler, also known as the </a:t>
            </a:r>
            <a:r>
              <a:rPr lang="en-US" sz="1200" b="1" kern="1200" baseline="0" dirty="0">
                <a:solidFill>
                  <a:schemeClr val="tx1"/>
                </a:solidFill>
                <a:latin typeface="Times New Roman" pitchFamily="-110" charset="0"/>
                <a:ea typeface="+mn-ea"/>
                <a:cs typeface="+mn-cs"/>
              </a:rPr>
              <a:t>dispatcher, executes frequently and</a:t>
            </a:r>
          </a:p>
          <a:p>
            <a:r>
              <a:rPr lang="en-US" sz="1200" kern="1200" baseline="0" dirty="0">
                <a:solidFill>
                  <a:schemeClr val="tx1"/>
                </a:solidFill>
                <a:latin typeface="Times New Roman" pitchFamily="-110" charset="0"/>
                <a:ea typeface="+mn-ea"/>
                <a:cs typeface="+mn-cs"/>
              </a:rPr>
              <a:t>makes the fine-grained decision of which job to execute next.</a:t>
            </a:r>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31A88E-B5EE-2A4C-8D66-5FA6EB653DCE}" type="slidenum">
              <a:rPr lang="en-US"/>
              <a:pPr/>
              <a:t>25</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lang="en-GB" b="0"/>
              <a:t>Admit: chap nhan</a:t>
            </a:r>
          </a:p>
          <a:p>
            <a:r>
              <a:rPr lang="en-GB" b="0"/>
              <a:t>Dispatch: gui di</a:t>
            </a:r>
          </a:p>
          <a:p>
            <a:r>
              <a:rPr lang="en-GB" b="0"/>
              <a:t>Release: phat hanh</a:t>
            </a:r>
            <a:endParaRPr lang="en-GB" b="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vi-VN" sz="1200" kern="1200" baseline="0" dirty="0">
                <a:solidFill>
                  <a:schemeClr val="tx1"/>
                </a:solidFill>
                <a:latin typeface="Times New Roman" pitchFamily="-110" charset="0"/>
                <a:ea typeface="+mn-ea"/>
                <a:cs typeface="+mn-cs"/>
              </a:rPr>
              <a:t>Đối với mỗi quá trình trong hệ thống, hệ điều hành phải duy trì thông tin chỉ ra</a:t>
            </a:r>
          </a:p>
          <a:p>
            <a:r>
              <a:rPr lang="vi-VN" sz="1200" kern="1200" baseline="0" dirty="0">
                <a:solidFill>
                  <a:schemeClr val="tx1"/>
                </a:solidFill>
                <a:latin typeface="Times New Roman" pitchFamily="-110" charset="0"/>
                <a:ea typeface="+mn-ea"/>
                <a:cs typeface="+mn-cs"/>
              </a:rPr>
              <a:t>trạng thái của quá trình và các thông tin khác cần thiết cho quá trình thực hiện.</a:t>
            </a:r>
          </a:p>
          <a:p>
            <a:r>
              <a:rPr lang="vi-VN" sz="1200" kern="1200" baseline="0" dirty="0">
                <a:solidFill>
                  <a:schemeClr val="tx1"/>
                </a:solidFill>
                <a:latin typeface="Times New Roman" pitchFamily="-110" charset="0"/>
                <a:ea typeface="+mn-ea"/>
                <a:cs typeface="+mn-cs"/>
              </a:rPr>
              <a:t>Với mục đích này, mỗi quá trình được trình bày trong hệ điều hành bởi một khối điều khiển quá trình</a:t>
            </a:r>
          </a:p>
          <a:p>
            <a:r>
              <a:rPr lang="vi-VN" sz="1200" kern="1200" baseline="0" dirty="0">
                <a:solidFill>
                  <a:schemeClr val="tx1"/>
                </a:solidFill>
                <a:latin typeface="Times New Roman" pitchFamily="-110" charset="0"/>
                <a:ea typeface="+mn-ea"/>
                <a:cs typeface="+mn-cs"/>
              </a:rPr>
              <a:t>(Hình 8.8), thường chứa</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Mã nhận dạng: Mỗi quy trình hiện tại có một số nhận dạng duy nhất.</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Nhà nước: Trạng thái hiện tại của quy trình (mới, sẵn sàng, v.v ...).</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Ưu tiên: Mức độ ưu tiên tương đối.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Bộ đếm chương trình: Địa chỉ của hướng dẫn kế tiếp trong chương trình được</a:t>
            </a:r>
          </a:p>
          <a:p>
            <a:r>
              <a:rPr lang="vi-VN" sz="1200" kern="1200" baseline="0" dirty="0">
                <a:solidFill>
                  <a:schemeClr val="tx1"/>
                </a:solidFill>
                <a:latin typeface="Times New Roman" pitchFamily="-110" charset="0"/>
                <a:ea typeface="+mn-ea"/>
                <a:cs typeface="+mn-cs"/>
              </a:rPr>
              <a:t>Thực thi.</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Các điểm bộ nhớ: Vị trí bắt đầu và kết thúc của quy trình trong bộ nhớ.</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Bối cảnh dữ liệu: Đây là những dữ liệu có trong sổ đăng ký trong bộ vi xử lý</a:t>
            </a:r>
          </a:p>
          <a:p>
            <a:r>
              <a:rPr lang="vi-VN" sz="1200" kern="1200" baseline="0" dirty="0">
                <a:solidFill>
                  <a:schemeClr val="tx1"/>
                </a:solidFill>
                <a:latin typeface="Times New Roman" pitchFamily="-110" charset="0"/>
                <a:ea typeface="+mn-ea"/>
                <a:cs typeface="+mn-cs"/>
              </a:rPr>
              <a:t>trong khi quá trình đang thực hiện, và chúng sẽ được thảo luận trong Phần ba. Cho</a:t>
            </a:r>
          </a:p>
          <a:p>
            <a:r>
              <a:rPr lang="vi-VN" sz="1200" kern="1200" baseline="0" dirty="0">
                <a:solidFill>
                  <a:schemeClr val="tx1"/>
                </a:solidFill>
                <a:latin typeface="Times New Roman" pitchFamily="-110" charset="0"/>
                <a:ea typeface="+mn-ea"/>
                <a:cs typeface="+mn-cs"/>
              </a:rPr>
              <a:t>bây giờ, nó đủ để nói rằng những dữ liệu này đại diện cho "bối cảnh" của quá trình.</a:t>
            </a:r>
          </a:p>
          <a:p>
            <a:r>
              <a:rPr lang="vi-VN" sz="1200" kern="1200" baseline="0" dirty="0">
                <a:solidFill>
                  <a:schemeClr val="tx1"/>
                </a:solidFill>
                <a:latin typeface="Times New Roman" pitchFamily="-110" charset="0"/>
                <a:ea typeface="+mn-ea"/>
                <a:cs typeface="+mn-cs"/>
              </a:rPr>
              <a:t>Các dữ liệu ngữ cảnh cộng với chương trình truy cập được lưu lại khi quá trình rời</a:t>
            </a:r>
          </a:p>
          <a:p>
            <a:r>
              <a:rPr lang="vi-VN" sz="1200" kern="1200" baseline="0" dirty="0">
                <a:solidFill>
                  <a:schemeClr val="tx1"/>
                </a:solidFill>
                <a:latin typeface="Times New Roman" pitchFamily="-110" charset="0"/>
                <a:ea typeface="+mn-ea"/>
                <a:cs typeface="+mn-cs"/>
              </a:rPr>
              <a:t>trạng thái chạy. Chúng được lấy ra bởi bộ vi xử lý khi nó tiếp tục thực hiện</a:t>
            </a:r>
          </a:p>
          <a:p>
            <a:r>
              <a:rPr lang="vi-VN" sz="1200" kern="1200" baseline="0" dirty="0">
                <a:solidFill>
                  <a:schemeClr val="tx1"/>
                </a:solidFill>
                <a:latin typeface="Times New Roman" pitchFamily="-110" charset="0"/>
                <a:ea typeface="+mn-ea"/>
                <a:cs typeface="+mn-cs"/>
              </a:rPr>
              <a:t>của quá trình.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Thông tin trạng thái I / O: Bao gồm các yêu cầu I / O xuất sắc, thiết bị I / O (ví dụ: băng</a:t>
            </a:r>
          </a:p>
          <a:p>
            <a:r>
              <a:rPr lang="vi-VN" sz="1200" kern="1200" baseline="0" dirty="0">
                <a:solidFill>
                  <a:schemeClr val="tx1"/>
                </a:solidFill>
                <a:latin typeface="Times New Roman" pitchFamily="-110" charset="0"/>
                <a:ea typeface="+mn-ea"/>
                <a:cs typeface="+mn-cs"/>
              </a:rPr>
              <a:t>các ổ đĩa) được gán cho quá trình này, một danh sách các tập tin được gán cho tiến trình, vân vân.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 Thông tin kế toán: Có thể bao gồm số lượng thời gian xử lý và đồng hồ</a:t>
            </a:r>
          </a:p>
          <a:p>
            <a:r>
              <a:rPr lang="vi-VN" sz="1200" kern="1200" baseline="0" dirty="0">
                <a:solidFill>
                  <a:schemeClr val="tx1"/>
                </a:solidFill>
                <a:latin typeface="Times New Roman" pitchFamily="-110" charset="0"/>
                <a:ea typeface="+mn-ea"/>
                <a:cs typeface="+mn-cs"/>
              </a:rPr>
              <a:t>thời gian sử dụng, thời hạn, số tài khoản, v.v ..</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Khi trình lên lịch chấp nhận một công việc mới hoặc yêu cầu người dùng thực hiện, nó sẽ tạo ra</a:t>
            </a:r>
          </a:p>
          <a:p>
            <a:r>
              <a:rPr lang="vi-VN" sz="1200" kern="1200" baseline="0" dirty="0">
                <a:solidFill>
                  <a:schemeClr val="tx1"/>
                </a:solidFill>
                <a:latin typeface="Times New Roman" pitchFamily="-110" charset="0"/>
                <a:ea typeface="+mn-ea"/>
                <a:cs typeface="+mn-cs"/>
              </a:rPr>
              <a:t>một khối điều khiển quy trình trống và đặt quá trình liên quan ở trạng thái mới.</a:t>
            </a:r>
          </a:p>
          <a:p>
            <a:r>
              <a:rPr lang="vi-VN" sz="1200" kern="1200" baseline="0" dirty="0">
                <a:solidFill>
                  <a:schemeClr val="tx1"/>
                </a:solidFill>
                <a:latin typeface="Times New Roman" pitchFamily="-110" charset="0"/>
                <a:ea typeface="+mn-ea"/>
                <a:cs typeface="+mn-cs"/>
              </a:rPr>
              <a:t>Sau khi hệ thống đã điền đầy đủ vào khối kiểm soát quá trình, quá trình này</a:t>
            </a:r>
          </a:p>
          <a:p>
            <a:r>
              <a:rPr lang="vi-VN" sz="1200" kern="1200" baseline="0" dirty="0">
                <a:solidFill>
                  <a:schemeClr val="tx1"/>
                </a:solidFill>
                <a:latin typeface="Times New Roman" pitchFamily="-110" charset="0"/>
                <a:ea typeface="+mn-ea"/>
                <a:cs typeface="+mn-cs"/>
              </a:rPr>
              <a:t>chuyển sang trạng thái sẵn sàng.</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For each process in the system, the OS must maintain information indicating</a:t>
            </a:r>
          </a:p>
          <a:p>
            <a:r>
              <a:rPr lang="en-US" sz="1200" kern="1200" baseline="0" dirty="0">
                <a:solidFill>
                  <a:schemeClr val="tx1"/>
                </a:solidFill>
                <a:latin typeface="Times New Roman" pitchFamily="-110" charset="0"/>
                <a:ea typeface="+mn-ea"/>
                <a:cs typeface="+mn-cs"/>
              </a:rPr>
              <a:t>the state of the process and other information necessary for process execution.</a:t>
            </a:r>
          </a:p>
          <a:p>
            <a:r>
              <a:rPr lang="en-US" sz="1200" kern="1200" baseline="0" dirty="0">
                <a:solidFill>
                  <a:schemeClr val="tx1"/>
                </a:solidFill>
                <a:latin typeface="Times New Roman" pitchFamily="-110" charset="0"/>
                <a:ea typeface="+mn-ea"/>
                <a:cs typeface="+mn-cs"/>
              </a:rPr>
              <a:t>For this purpose, each process is represented in the OS by a </a:t>
            </a:r>
            <a:r>
              <a:rPr lang="en-US" sz="1200" b="1" kern="1200" baseline="0" dirty="0">
                <a:solidFill>
                  <a:schemeClr val="tx1"/>
                </a:solidFill>
                <a:latin typeface="Times New Roman" pitchFamily="-110" charset="0"/>
                <a:ea typeface="+mn-ea"/>
                <a:cs typeface="+mn-cs"/>
              </a:rPr>
              <a:t>process control block</a:t>
            </a:r>
          </a:p>
          <a:p>
            <a:r>
              <a:rPr lang="en-US" sz="1200" kern="1200" baseline="0" dirty="0">
                <a:solidFill>
                  <a:schemeClr val="tx1"/>
                </a:solidFill>
                <a:latin typeface="Times New Roman" pitchFamily="-110" charset="0"/>
                <a:ea typeface="+mn-ea"/>
                <a:cs typeface="+mn-cs"/>
              </a:rPr>
              <a:t>(Figure 8.8), which typically contains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Identifier: </a:t>
            </a:r>
            <a:r>
              <a:rPr lang="en-US" sz="1200" b="0" kern="1200" baseline="0" dirty="0">
                <a:solidFill>
                  <a:schemeClr val="tx1"/>
                </a:solidFill>
                <a:latin typeface="Times New Roman" pitchFamily="-110" charset="0"/>
                <a:ea typeface="+mn-ea"/>
                <a:cs typeface="+mn-cs"/>
              </a:rPr>
              <a:t>Each current process has a unique identifier.</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State: </a:t>
            </a:r>
            <a:r>
              <a:rPr lang="en-US" sz="1200" b="0" kern="1200" baseline="0" dirty="0">
                <a:solidFill>
                  <a:schemeClr val="tx1"/>
                </a:solidFill>
                <a:latin typeface="Times New Roman" pitchFamily="-110" charset="0"/>
                <a:ea typeface="+mn-ea"/>
                <a:cs typeface="+mn-cs"/>
              </a:rPr>
              <a:t>The current state of the process (new, ready, and so 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Priority: </a:t>
            </a:r>
            <a:r>
              <a:rPr lang="en-US" sz="1200" b="0" kern="1200" baseline="0" dirty="0">
                <a:solidFill>
                  <a:schemeClr val="tx1"/>
                </a:solidFill>
                <a:latin typeface="Times New Roman" pitchFamily="-110" charset="0"/>
                <a:ea typeface="+mn-ea"/>
                <a:cs typeface="+mn-cs"/>
              </a:rPr>
              <a:t>Relative priority level.</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Program counter: </a:t>
            </a:r>
            <a:r>
              <a:rPr lang="en-US" sz="1200" b="0" kern="1200" baseline="0" dirty="0">
                <a:solidFill>
                  <a:schemeClr val="tx1"/>
                </a:solidFill>
                <a:latin typeface="Times New Roman" pitchFamily="-110" charset="0"/>
                <a:ea typeface="+mn-ea"/>
                <a:cs typeface="+mn-cs"/>
              </a:rPr>
              <a:t>The address of the next instruction in the program to be</a:t>
            </a:r>
          </a:p>
          <a:p>
            <a:r>
              <a:rPr lang="en-US" sz="1200" kern="1200" baseline="0" dirty="0">
                <a:solidFill>
                  <a:schemeClr val="tx1"/>
                </a:solidFill>
                <a:latin typeface="Times New Roman" pitchFamily="-110" charset="0"/>
                <a:ea typeface="+mn-ea"/>
                <a:cs typeface="+mn-cs"/>
              </a:rPr>
              <a:t>executed.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Memory pointers: </a:t>
            </a:r>
            <a:r>
              <a:rPr lang="en-US" sz="1200" b="0" kern="1200" baseline="0" dirty="0">
                <a:solidFill>
                  <a:schemeClr val="tx1"/>
                </a:solidFill>
                <a:latin typeface="Times New Roman" pitchFamily="-110" charset="0"/>
                <a:ea typeface="+mn-ea"/>
                <a:cs typeface="+mn-cs"/>
              </a:rPr>
              <a:t>The starting and ending locations of the process in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Context data: </a:t>
            </a:r>
            <a:r>
              <a:rPr lang="en-US" sz="1200" b="0" kern="1200" baseline="0" dirty="0">
                <a:solidFill>
                  <a:schemeClr val="tx1"/>
                </a:solidFill>
                <a:latin typeface="Times New Roman" pitchFamily="-110" charset="0"/>
                <a:ea typeface="+mn-ea"/>
                <a:cs typeface="+mn-cs"/>
              </a:rPr>
              <a:t>These are data that are present in registers in the processor</a:t>
            </a:r>
          </a:p>
          <a:p>
            <a:r>
              <a:rPr lang="en-US" sz="1200" kern="1200" baseline="0" dirty="0">
                <a:solidFill>
                  <a:schemeClr val="tx1"/>
                </a:solidFill>
                <a:latin typeface="Times New Roman" pitchFamily="-110" charset="0"/>
                <a:ea typeface="+mn-ea"/>
                <a:cs typeface="+mn-cs"/>
              </a:rPr>
              <a:t>while the process is executing, and they will be discussed in Part Three. For</a:t>
            </a:r>
          </a:p>
          <a:p>
            <a:r>
              <a:rPr lang="en-US" sz="1200" kern="1200" baseline="0" dirty="0">
                <a:solidFill>
                  <a:schemeClr val="tx1"/>
                </a:solidFill>
                <a:latin typeface="Times New Roman" pitchFamily="-110" charset="0"/>
                <a:ea typeface="+mn-ea"/>
                <a:cs typeface="+mn-cs"/>
              </a:rPr>
              <a:t>now, it is enough to say that these data represent the “context” of the process.</a:t>
            </a:r>
          </a:p>
          <a:p>
            <a:r>
              <a:rPr lang="en-US" sz="1200" kern="1200" baseline="0" dirty="0">
                <a:solidFill>
                  <a:schemeClr val="tx1"/>
                </a:solidFill>
                <a:latin typeface="Times New Roman" pitchFamily="-110" charset="0"/>
                <a:ea typeface="+mn-ea"/>
                <a:cs typeface="+mn-cs"/>
              </a:rPr>
              <a:t>The context data plus the program counter are saved when the process leaves</a:t>
            </a:r>
          </a:p>
          <a:p>
            <a:r>
              <a:rPr lang="en-US" sz="1200" kern="1200" baseline="0" dirty="0">
                <a:solidFill>
                  <a:schemeClr val="tx1"/>
                </a:solidFill>
                <a:latin typeface="Times New Roman" pitchFamily="-110" charset="0"/>
                <a:ea typeface="+mn-ea"/>
                <a:cs typeface="+mn-cs"/>
              </a:rPr>
              <a:t>the running state. They are retrieved by the processor when it resumes execution</a:t>
            </a:r>
          </a:p>
          <a:p>
            <a:r>
              <a:rPr lang="en-US" sz="1200" kern="1200" baseline="0" dirty="0">
                <a:solidFill>
                  <a:schemeClr val="tx1"/>
                </a:solidFill>
                <a:latin typeface="Times New Roman" pitchFamily="-110" charset="0"/>
                <a:ea typeface="+mn-ea"/>
                <a:cs typeface="+mn-cs"/>
              </a:rPr>
              <a:t>of the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I/O status information: </a:t>
            </a:r>
            <a:r>
              <a:rPr lang="en-US" sz="1200" b="0" kern="1200" baseline="0" dirty="0">
                <a:solidFill>
                  <a:schemeClr val="tx1"/>
                </a:solidFill>
                <a:latin typeface="Times New Roman" pitchFamily="-110" charset="0"/>
                <a:ea typeface="+mn-ea"/>
                <a:cs typeface="+mn-cs"/>
              </a:rPr>
              <a:t>Includes outstanding I/O requests, I/O devices (e.g., tape</a:t>
            </a:r>
          </a:p>
          <a:p>
            <a:r>
              <a:rPr lang="en-US" sz="1200" kern="1200" baseline="0" dirty="0">
                <a:solidFill>
                  <a:schemeClr val="tx1"/>
                </a:solidFill>
                <a:latin typeface="Times New Roman" pitchFamily="-110" charset="0"/>
                <a:ea typeface="+mn-ea"/>
                <a:cs typeface="+mn-cs"/>
              </a:rPr>
              <a:t>drives) assigned to this process, a list of files assigned to the process, and so 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t>
            </a:r>
            <a:r>
              <a:rPr lang="en-US" sz="1200" b="1" kern="1200" baseline="0" dirty="0">
                <a:solidFill>
                  <a:schemeClr val="tx1"/>
                </a:solidFill>
                <a:latin typeface="Times New Roman" pitchFamily="-110" charset="0"/>
                <a:ea typeface="+mn-ea"/>
                <a:cs typeface="+mn-cs"/>
              </a:rPr>
              <a:t>Accounting information: </a:t>
            </a:r>
            <a:r>
              <a:rPr lang="en-US" sz="1200" b="0" kern="1200" baseline="0" dirty="0">
                <a:solidFill>
                  <a:schemeClr val="tx1"/>
                </a:solidFill>
                <a:latin typeface="Times New Roman" pitchFamily="-110" charset="0"/>
                <a:ea typeface="+mn-ea"/>
                <a:cs typeface="+mn-cs"/>
              </a:rPr>
              <a:t>May include the amount of processor time and clock</a:t>
            </a:r>
          </a:p>
          <a:p>
            <a:r>
              <a:rPr lang="en-US" sz="1200" kern="1200" baseline="0" dirty="0">
                <a:solidFill>
                  <a:schemeClr val="tx1"/>
                </a:solidFill>
                <a:latin typeface="Times New Roman" pitchFamily="-110" charset="0"/>
                <a:ea typeface="+mn-ea"/>
                <a:cs typeface="+mn-cs"/>
              </a:rPr>
              <a:t>time used, time limits, account numbers, and so 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When the scheduler accepts a new job or user request for execution, it creates</a:t>
            </a:r>
          </a:p>
          <a:p>
            <a:r>
              <a:rPr lang="en-US" sz="1200" kern="1200" baseline="0" dirty="0">
                <a:solidFill>
                  <a:schemeClr val="tx1"/>
                </a:solidFill>
                <a:latin typeface="Times New Roman" pitchFamily="-110" charset="0"/>
                <a:ea typeface="+mn-ea"/>
                <a:cs typeface="+mn-cs"/>
              </a:rPr>
              <a:t>a blank process control block and places the associated process in the new state.</a:t>
            </a:r>
          </a:p>
          <a:p>
            <a:r>
              <a:rPr lang="en-US" sz="1200" kern="1200" baseline="0" dirty="0">
                <a:solidFill>
                  <a:schemeClr val="tx1"/>
                </a:solidFill>
                <a:latin typeface="Times New Roman" pitchFamily="-110" charset="0"/>
                <a:ea typeface="+mn-ea"/>
                <a:cs typeface="+mn-cs"/>
              </a:rPr>
              <a:t>After the system has properly filled in the process control block, the process is</a:t>
            </a:r>
          </a:p>
          <a:p>
            <a:r>
              <a:rPr lang="en-US" sz="1200" kern="1200" baseline="0" dirty="0">
                <a:solidFill>
                  <a:schemeClr val="tx1"/>
                </a:solidFill>
                <a:latin typeface="Times New Roman" pitchFamily="-110" charset="0"/>
                <a:ea typeface="+mn-ea"/>
                <a:cs typeface="+mn-cs"/>
              </a:rPr>
              <a:t>transferred to the ready state.</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vi-VN" sz="1200" kern="1200" baseline="0" dirty="0">
                <a:solidFill>
                  <a:schemeClr val="tx1"/>
                </a:solidFill>
                <a:latin typeface="Times New Roman" pitchFamily="-110" charset="0"/>
                <a:ea typeface="+mn-ea"/>
                <a:cs typeface="+mn-cs"/>
              </a:rPr>
              <a:t>Để hiểu được làm thế nào hệ điều hành quản lý lịch trình của</a:t>
            </a:r>
          </a:p>
          <a:p>
            <a:r>
              <a:rPr lang="vi-VN" sz="1200" kern="1200" baseline="0" dirty="0">
                <a:solidFill>
                  <a:schemeClr val="tx1"/>
                </a:solidFill>
                <a:latin typeface="Times New Roman" pitchFamily="-110" charset="0"/>
                <a:ea typeface="+mn-ea"/>
                <a:cs typeface="+mn-cs"/>
              </a:rPr>
              <a:t>các công việc khác nhau trong bộ nhớ, chúng ta hãy bắt đầu bằng cách xem xét ví dụ đơn giản trong hình 8.9.</a:t>
            </a:r>
          </a:p>
          <a:p>
            <a:r>
              <a:rPr lang="vi-VN" sz="1200" kern="1200" baseline="0" dirty="0">
                <a:solidFill>
                  <a:schemeClr val="tx1"/>
                </a:solidFill>
                <a:latin typeface="Times New Roman" pitchFamily="-110" charset="0"/>
                <a:ea typeface="+mn-ea"/>
                <a:cs typeface="+mn-cs"/>
              </a:rPr>
              <a:t>Hình ảnh cho thấy bộ nhớ chính được phân vùng tại một điểm nhất định theo thời gian. Các</a:t>
            </a:r>
          </a:p>
          <a:p>
            <a:r>
              <a:rPr lang="vi-VN" sz="1200" kern="1200" baseline="0" dirty="0">
                <a:solidFill>
                  <a:schemeClr val="tx1"/>
                </a:solidFill>
                <a:latin typeface="Times New Roman" pitchFamily="-110" charset="0"/>
                <a:ea typeface="+mn-ea"/>
                <a:cs typeface="+mn-cs"/>
              </a:rPr>
              <a:t>hạt nhân của hệ điều hành là, tất nhiên, luôn luôn cư dân. Ngoài ra, có một số</a:t>
            </a:r>
          </a:p>
          <a:p>
            <a:r>
              <a:rPr lang="vi-VN" sz="1200" kern="1200" baseline="0" dirty="0">
                <a:solidFill>
                  <a:schemeClr val="tx1"/>
                </a:solidFill>
                <a:latin typeface="Times New Roman" pitchFamily="-110" charset="0"/>
                <a:ea typeface="+mn-ea"/>
                <a:cs typeface="+mn-cs"/>
              </a:rPr>
              <a:t>các quy trình hoạt động, bao gồm cả A và B, mỗi phần được phân bổ một phần của bộ nhớ.</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Chúng ta bắt đầu vào thời điểm khi quá trình A đang chạy. Bộ xử lý đang chạy</a:t>
            </a:r>
          </a:p>
          <a:p>
            <a:r>
              <a:rPr lang="vi-VN" sz="1200" kern="1200" baseline="0" dirty="0">
                <a:solidFill>
                  <a:schemeClr val="tx1"/>
                </a:solidFill>
                <a:latin typeface="Times New Roman" pitchFamily="-110" charset="0"/>
                <a:ea typeface="+mn-ea"/>
                <a:cs typeface="+mn-cs"/>
              </a:rPr>
              <a:t>hướng dẫn từ chương trình có trong phân vùng bộ nhớ của A. Ở một số</a:t>
            </a:r>
          </a:p>
          <a:p>
            <a:r>
              <a:rPr lang="vi-VN" sz="1200" kern="1200" baseline="0" dirty="0">
                <a:solidFill>
                  <a:schemeClr val="tx1"/>
                </a:solidFill>
                <a:latin typeface="Times New Roman" pitchFamily="-110" charset="0"/>
                <a:ea typeface="+mn-ea"/>
                <a:cs typeface="+mn-cs"/>
              </a:rPr>
              <a:t>điểm cuối thời gian, bộ xử lý ngừng thực hiện các hướng dẫn trong A và bắt đầu</a:t>
            </a:r>
          </a:p>
          <a:p>
            <a:r>
              <a:rPr lang="vi-VN" sz="1200" kern="1200" baseline="0" dirty="0">
                <a:solidFill>
                  <a:schemeClr val="tx1"/>
                </a:solidFill>
                <a:latin typeface="Times New Roman" pitchFamily="-110" charset="0"/>
                <a:ea typeface="+mn-ea"/>
                <a:cs typeface="+mn-cs"/>
              </a:rPr>
              <a:t>thực hiện các hướng dẫn trong khu vực hệ điều hành. Điều này sẽ xảy ra vì một trong ba lý do: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1. Quy trình A phát hành cuộc gọi dịch vụ (ví dụ: yêu cầu I / O) cho hệ điều hành. Thực hiện A</a:t>
            </a:r>
          </a:p>
          <a:p>
            <a:r>
              <a:rPr lang="vi-VN" sz="1200" kern="1200" baseline="0" dirty="0">
                <a:solidFill>
                  <a:schemeClr val="tx1"/>
                </a:solidFill>
                <a:latin typeface="Times New Roman" pitchFamily="-110" charset="0"/>
                <a:ea typeface="+mn-ea"/>
                <a:cs typeface="+mn-cs"/>
              </a:rPr>
              <a:t>bị đình chỉ cho đến khi cuộc gọi này được thỏa mãn bởi hệ điều hành.</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2. Quá trình A gây ra một gián đoạn. Ngắt là một tín hiệu phần cứng tạo ra</a:t>
            </a:r>
          </a:p>
          <a:p>
            <a:r>
              <a:rPr lang="vi-VN" sz="1200" kern="1200" baseline="0" dirty="0">
                <a:solidFill>
                  <a:schemeClr val="tx1"/>
                </a:solidFill>
                <a:latin typeface="Times New Roman" pitchFamily="-110" charset="0"/>
                <a:ea typeface="+mn-ea"/>
                <a:cs typeface="+mn-cs"/>
              </a:rPr>
              <a:t>bộ vi xử lý. Khi tín hiệu này được phát hiện, bộ xử lý ngừng hoạt động A</a:t>
            </a:r>
          </a:p>
          <a:p>
            <a:r>
              <a:rPr lang="vi-VN" sz="1200" kern="1200" baseline="0" dirty="0">
                <a:solidFill>
                  <a:schemeClr val="tx1"/>
                </a:solidFill>
                <a:latin typeface="Times New Roman" pitchFamily="-110" charset="0"/>
                <a:ea typeface="+mn-ea"/>
                <a:cs typeface="+mn-cs"/>
              </a:rPr>
              <a:t>và chuyển giao cho xử lý gián đoạn trong hệ điều hành. Một loạt sự kiện liên quan</a:t>
            </a:r>
          </a:p>
          <a:p>
            <a:r>
              <a:rPr lang="vi-VN" sz="1200" kern="1200" baseline="0" dirty="0">
                <a:solidFill>
                  <a:schemeClr val="tx1"/>
                </a:solidFill>
                <a:latin typeface="Times New Roman" pitchFamily="-110" charset="0"/>
                <a:ea typeface="+mn-ea"/>
                <a:cs typeface="+mn-cs"/>
              </a:rPr>
              <a:t>đến A sẽ gây ra một gián đoạn. Một ví dụ là lỗi, chẳng hạn như cố gắng</a:t>
            </a:r>
          </a:p>
          <a:p>
            <a:r>
              <a:rPr lang="vi-VN" sz="1200" kern="1200" baseline="0" dirty="0">
                <a:solidFill>
                  <a:schemeClr val="tx1"/>
                </a:solidFill>
                <a:latin typeface="Times New Roman" pitchFamily="-110" charset="0"/>
                <a:ea typeface="+mn-ea"/>
                <a:cs typeface="+mn-cs"/>
              </a:rPr>
              <a:t>thực hiện một chỉ dẫn đặc quyền. Một ví dụ khác là thời gian chờ; để ngăn chặn bất kỳ</a:t>
            </a:r>
          </a:p>
          <a:p>
            <a:r>
              <a:rPr lang="vi-VN" sz="1200" kern="1200" baseline="0" dirty="0">
                <a:solidFill>
                  <a:schemeClr val="tx1"/>
                </a:solidFill>
                <a:latin typeface="Times New Roman" pitchFamily="-110" charset="0"/>
                <a:ea typeface="+mn-ea"/>
                <a:cs typeface="+mn-cs"/>
              </a:rPr>
              <a:t>một quá trình từ độc quyền bộ vi xử lý, mỗi quá trình chỉ được cấp</a:t>
            </a:r>
          </a:p>
          <a:p>
            <a:r>
              <a:rPr lang="vi-VN" sz="1200" kern="1200" baseline="0" dirty="0">
                <a:solidFill>
                  <a:schemeClr val="tx1"/>
                </a:solidFill>
                <a:latin typeface="Times New Roman" pitchFamily="-110" charset="0"/>
                <a:ea typeface="+mn-ea"/>
                <a:cs typeface="+mn-cs"/>
              </a:rPr>
              <a:t>bộ xử lý trong một thời gian ngắn tại một thời điểm.</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3. Một số sự kiện không liên quan đến quá trình A đòi hỏi sự chú ý gây ra gián đoạn.</a:t>
            </a:r>
          </a:p>
          <a:p>
            <a:r>
              <a:rPr lang="vi-VN" sz="1200" kern="1200" baseline="0" dirty="0">
                <a:solidFill>
                  <a:schemeClr val="tx1"/>
                </a:solidFill>
                <a:latin typeface="Times New Roman" pitchFamily="-110" charset="0"/>
                <a:ea typeface="+mn-ea"/>
                <a:cs typeface="+mn-cs"/>
              </a:rPr>
              <a:t>Một ví dụ là hoàn thành một hoạt động I / O.</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Trong bất kỳ trường hợp nào, kết quả là như sau. Bộ vi xử lý lưu khung cảnh hiện tại</a:t>
            </a:r>
          </a:p>
          <a:p>
            <a:r>
              <a:rPr lang="vi-VN" sz="1200" kern="1200" baseline="0" dirty="0">
                <a:solidFill>
                  <a:schemeClr val="tx1"/>
                </a:solidFill>
                <a:latin typeface="Times New Roman" pitchFamily="-110" charset="0"/>
                <a:ea typeface="+mn-ea"/>
                <a:cs typeface="+mn-cs"/>
              </a:rPr>
              <a:t>dữ liệu và bộ đếm chương trình cho khối điều khiển quá trình của A trong A và sau đó bắt đầu</a:t>
            </a:r>
          </a:p>
          <a:p>
            <a:r>
              <a:rPr lang="vi-VN" sz="1200" kern="1200" baseline="0" dirty="0">
                <a:solidFill>
                  <a:schemeClr val="tx1"/>
                </a:solidFill>
                <a:latin typeface="Times New Roman" pitchFamily="-110" charset="0"/>
                <a:ea typeface="+mn-ea"/>
                <a:cs typeface="+mn-cs"/>
              </a:rPr>
              <a:t>thực hiện trong hệ điều hành. Hệ điều hành có thể thực hiện một số công việc, chẳng hạn như khởi tạo I / O</a:t>
            </a:r>
          </a:p>
          <a:p>
            <a:r>
              <a:rPr lang="vi-VN" sz="1200" kern="1200" baseline="0" dirty="0">
                <a:solidFill>
                  <a:schemeClr val="tx1"/>
                </a:solidFill>
                <a:latin typeface="Times New Roman" pitchFamily="-110" charset="0"/>
                <a:ea typeface="+mn-ea"/>
                <a:cs typeface="+mn-cs"/>
              </a:rPr>
              <a:t>vận hành. Sau đó, phần lập lịch trình ngắn hạn của hệ điều hành quyết định quá trình</a:t>
            </a:r>
          </a:p>
          <a:p>
            <a:r>
              <a:rPr lang="vi-VN" sz="1200" kern="1200" baseline="0" dirty="0">
                <a:solidFill>
                  <a:schemeClr val="tx1"/>
                </a:solidFill>
                <a:latin typeface="Times New Roman" pitchFamily="-110" charset="0"/>
                <a:ea typeface="+mn-ea"/>
                <a:cs typeface="+mn-cs"/>
              </a:rPr>
              <a:t>nên được thực hiện tiếp theo. Trong ví dụ này, B được chọn. Hệ điều hành hướng dẫn bộ xử lý</a:t>
            </a:r>
          </a:p>
          <a:p>
            <a:r>
              <a:rPr lang="vi-VN" sz="1200" kern="1200" baseline="0" dirty="0">
                <a:solidFill>
                  <a:schemeClr val="tx1"/>
                </a:solidFill>
                <a:latin typeface="Times New Roman" pitchFamily="-110" charset="0"/>
                <a:ea typeface="+mn-ea"/>
                <a:cs typeface="+mn-cs"/>
              </a:rPr>
              <a:t>để khôi phục lại dữ liệu ngữ cảnh của B và tiến hành thực hiện B khi nó dừng lại.</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how the OS manages the scheduling of the</a:t>
            </a:r>
          </a:p>
          <a:p>
            <a:r>
              <a:rPr lang="en-US" sz="1200" kern="1200" baseline="0" dirty="0">
                <a:solidFill>
                  <a:schemeClr val="tx1"/>
                </a:solidFill>
                <a:latin typeface="Times New Roman" pitchFamily="-110" charset="0"/>
                <a:ea typeface="+mn-ea"/>
                <a:cs typeface="+mn-cs"/>
              </a:rPr>
              <a:t>various jobs in memory, let us begin by considering the simple example in Figure 8.9.</a:t>
            </a:r>
          </a:p>
          <a:p>
            <a:r>
              <a:rPr lang="en-US" sz="1200" kern="1200" baseline="0" dirty="0">
                <a:solidFill>
                  <a:schemeClr val="tx1"/>
                </a:solidFill>
                <a:latin typeface="Times New Roman" pitchFamily="-110" charset="0"/>
                <a:ea typeface="+mn-ea"/>
                <a:cs typeface="+mn-cs"/>
              </a:rPr>
              <a:t>The figure shows how main memory is partitioned at a given point in time. The</a:t>
            </a:r>
          </a:p>
          <a:p>
            <a:r>
              <a:rPr lang="en-US" sz="1200" kern="1200" baseline="0" dirty="0">
                <a:solidFill>
                  <a:schemeClr val="tx1"/>
                </a:solidFill>
                <a:latin typeface="Times New Roman" pitchFamily="-110" charset="0"/>
                <a:ea typeface="+mn-ea"/>
                <a:cs typeface="+mn-cs"/>
              </a:rPr>
              <a:t>kernel of the OS is, of course, always resident. In addition, there are a number of</a:t>
            </a:r>
          </a:p>
          <a:p>
            <a:r>
              <a:rPr lang="en-US" sz="1200" kern="1200" baseline="0" dirty="0">
                <a:solidFill>
                  <a:schemeClr val="tx1"/>
                </a:solidFill>
                <a:latin typeface="Times New Roman" pitchFamily="-110" charset="0"/>
                <a:ea typeface="+mn-ea"/>
                <a:cs typeface="+mn-cs"/>
              </a:rPr>
              <a:t>active processes, including A and B, each of which is allocated a portion of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We begin at a point in time when process A is running. The processor is executing</a:t>
            </a:r>
          </a:p>
          <a:p>
            <a:r>
              <a:rPr lang="en-US" sz="1200" kern="1200" baseline="0" dirty="0">
                <a:solidFill>
                  <a:schemeClr val="tx1"/>
                </a:solidFill>
                <a:latin typeface="Times New Roman" pitchFamily="-110" charset="0"/>
                <a:ea typeface="+mn-ea"/>
                <a:cs typeface="+mn-cs"/>
              </a:rPr>
              <a:t>instructions from the program contained in A’s memory partition. At some</a:t>
            </a:r>
          </a:p>
          <a:p>
            <a:r>
              <a:rPr lang="en-US" sz="1200" kern="1200" baseline="0" dirty="0">
                <a:solidFill>
                  <a:schemeClr val="tx1"/>
                </a:solidFill>
                <a:latin typeface="Times New Roman" pitchFamily="-110" charset="0"/>
                <a:ea typeface="+mn-ea"/>
                <a:cs typeface="+mn-cs"/>
              </a:rPr>
              <a:t>later point in time, the processor ceases to execute instructions in A and begins</a:t>
            </a:r>
          </a:p>
          <a:p>
            <a:r>
              <a:rPr lang="en-US" sz="1200" kern="1200" baseline="0" dirty="0">
                <a:solidFill>
                  <a:schemeClr val="tx1"/>
                </a:solidFill>
                <a:latin typeface="Times New Roman" pitchFamily="-110" charset="0"/>
                <a:ea typeface="+mn-ea"/>
                <a:cs typeface="+mn-cs"/>
              </a:rPr>
              <a:t>executing instructions in the OS area. This will happen for one of three reasons:</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Process A issues a service call (e.g., an I/O request) to the OS. Execution of A</a:t>
            </a:r>
          </a:p>
          <a:p>
            <a:r>
              <a:rPr lang="en-US" sz="1200" kern="1200" baseline="0" dirty="0">
                <a:solidFill>
                  <a:schemeClr val="tx1"/>
                </a:solidFill>
                <a:latin typeface="Times New Roman" pitchFamily="-110" charset="0"/>
                <a:ea typeface="+mn-ea"/>
                <a:cs typeface="+mn-cs"/>
              </a:rPr>
              <a:t>is suspended until this call is satisfied by the OS.</a:t>
            </a:r>
          </a:p>
          <a:p>
            <a:endParaRPr lang="en-US" sz="1200" b="1" kern="1200" baseline="0" dirty="0">
              <a:solidFill>
                <a:schemeClr val="tx1"/>
              </a:solidFill>
              <a:latin typeface="Times New Roman" pitchFamily="-110" charset="0"/>
              <a:ea typeface="+mn-ea"/>
              <a:cs typeface="+mn-cs"/>
            </a:endParaRPr>
          </a:p>
          <a:p>
            <a:r>
              <a:rPr lang="en-US" sz="1200" b="0" i="0" kern="1200" baseline="0" dirty="0">
                <a:solidFill>
                  <a:schemeClr val="tx1"/>
                </a:solidFill>
                <a:latin typeface="Times New Roman" pitchFamily="-110" charset="0"/>
                <a:ea typeface="+mn-ea"/>
                <a:cs typeface="+mn-cs"/>
              </a:rPr>
              <a:t>2. Process A causes an </a:t>
            </a:r>
            <a:r>
              <a:rPr lang="en-US" sz="1200" b="0" i="1" kern="1200" baseline="0" dirty="0">
                <a:solidFill>
                  <a:schemeClr val="tx1"/>
                </a:solidFill>
                <a:latin typeface="Times New Roman" pitchFamily="-110" charset="0"/>
                <a:ea typeface="+mn-ea"/>
                <a:cs typeface="+mn-cs"/>
              </a:rPr>
              <a:t>interrupt</a:t>
            </a:r>
            <a:r>
              <a:rPr lang="en-US" sz="1200" b="0" i="0" kern="1200" baseline="0" dirty="0">
                <a:solidFill>
                  <a:schemeClr val="tx1"/>
                </a:solidFill>
                <a:latin typeface="Times New Roman" pitchFamily="-110" charset="0"/>
                <a:ea typeface="+mn-ea"/>
                <a:cs typeface="+mn-cs"/>
              </a:rPr>
              <a:t>. An interrupt is a hardware-generated signal to</a:t>
            </a:r>
          </a:p>
          <a:p>
            <a:r>
              <a:rPr lang="en-US" sz="1200" kern="1200" baseline="0" dirty="0">
                <a:solidFill>
                  <a:schemeClr val="tx1"/>
                </a:solidFill>
                <a:latin typeface="Times New Roman" pitchFamily="-110" charset="0"/>
                <a:ea typeface="+mn-ea"/>
                <a:cs typeface="+mn-cs"/>
              </a:rPr>
              <a:t>the processor. When this signal is detected, the processor ceases to execute A</a:t>
            </a:r>
          </a:p>
          <a:p>
            <a:r>
              <a:rPr lang="en-US" sz="1200" kern="1200" baseline="0" dirty="0">
                <a:solidFill>
                  <a:schemeClr val="tx1"/>
                </a:solidFill>
                <a:latin typeface="Times New Roman" pitchFamily="-110" charset="0"/>
                <a:ea typeface="+mn-ea"/>
                <a:cs typeface="+mn-cs"/>
              </a:rPr>
              <a:t>and transfers to the interrupt handler in the OS. A variety of events related</a:t>
            </a:r>
          </a:p>
          <a:p>
            <a:r>
              <a:rPr lang="en-US" sz="1200" kern="1200" baseline="0" dirty="0">
                <a:solidFill>
                  <a:schemeClr val="tx1"/>
                </a:solidFill>
                <a:latin typeface="Times New Roman" pitchFamily="-110" charset="0"/>
                <a:ea typeface="+mn-ea"/>
                <a:cs typeface="+mn-cs"/>
              </a:rPr>
              <a:t>to A will cause an interrupt. One example is an error, such as attempting to</a:t>
            </a:r>
          </a:p>
          <a:p>
            <a:r>
              <a:rPr lang="en-US" sz="1200" kern="1200" baseline="0" dirty="0">
                <a:solidFill>
                  <a:schemeClr val="tx1"/>
                </a:solidFill>
                <a:latin typeface="Times New Roman" pitchFamily="-110" charset="0"/>
                <a:ea typeface="+mn-ea"/>
                <a:cs typeface="+mn-cs"/>
              </a:rPr>
              <a:t>execute a privileged instruction. Another example is a timeout; to prevent any</a:t>
            </a:r>
          </a:p>
          <a:p>
            <a:r>
              <a:rPr lang="en-US" sz="1200" kern="1200" baseline="0" dirty="0">
                <a:solidFill>
                  <a:schemeClr val="tx1"/>
                </a:solidFill>
                <a:latin typeface="Times New Roman" pitchFamily="-110" charset="0"/>
                <a:ea typeface="+mn-ea"/>
                <a:cs typeface="+mn-cs"/>
              </a:rPr>
              <a:t>one process from monopolizing the processor, each process is only granted the</a:t>
            </a:r>
          </a:p>
          <a:p>
            <a:r>
              <a:rPr lang="en-US" sz="1200" kern="1200" baseline="0" dirty="0">
                <a:solidFill>
                  <a:schemeClr val="tx1"/>
                </a:solidFill>
                <a:latin typeface="Times New Roman" pitchFamily="-110" charset="0"/>
                <a:ea typeface="+mn-ea"/>
                <a:cs typeface="+mn-cs"/>
              </a:rPr>
              <a:t>processor for a short period at a time.</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Some event unrelated to process A that requires attention causes an interrupt.</a:t>
            </a:r>
          </a:p>
          <a:p>
            <a:r>
              <a:rPr lang="en-US" sz="1200" kern="1200" baseline="0" dirty="0">
                <a:solidFill>
                  <a:schemeClr val="tx1"/>
                </a:solidFill>
                <a:latin typeface="Times New Roman" pitchFamily="-110" charset="0"/>
                <a:ea typeface="+mn-ea"/>
                <a:cs typeface="+mn-cs"/>
              </a:rPr>
              <a:t>An example is the completion of an I/O operation.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any case, the result is the following. The processor saves the current context</a:t>
            </a:r>
          </a:p>
          <a:p>
            <a:r>
              <a:rPr lang="en-US" sz="1200" kern="1200" baseline="0" dirty="0">
                <a:solidFill>
                  <a:schemeClr val="tx1"/>
                </a:solidFill>
                <a:latin typeface="Times New Roman" pitchFamily="-110" charset="0"/>
                <a:ea typeface="+mn-ea"/>
                <a:cs typeface="+mn-cs"/>
              </a:rPr>
              <a:t>data and the program counter for A in A’s process control block and then begins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executing in the OS. The OS may perform some work, such as initiating an I/O</a:t>
            </a:r>
          </a:p>
          <a:p>
            <a:r>
              <a:rPr lang="en-US" sz="1200" kern="1200" baseline="0" dirty="0">
                <a:solidFill>
                  <a:schemeClr val="tx1"/>
                </a:solidFill>
                <a:latin typeface="Times New Roman" pitchFamily="-110" charset="0"/>
                <a:ea typeface="+mn-ea"/>
                <a:cs typeface="+mn-cs"/>
              </a:rPr>
              <a:t>operation. Then the short-term-scheduler portion of the OS decides which process</a:t>
            </a:r>
          </a:p>
          <a:p>
            <a:r>
              <a:rPr lang="en-US" sz="1200" kern="1200" baseline="0" dirty="0">
                <a:solidFill>
                  <a:schemeClr val="tx1"/>
                </a:solidFill>
                <a:latin typeface="Times New Roman" pitchFamily="-110" charset="0"/>
                <a:ea typeface="+mn-ea"/>
                <a:cs typeface="+mn-cs"/>
              </a:rPr>
              <a:t>should be executed next. In this example, B is chosen. The OS instructs the processor</a:t>
            </a:r>
          </a:p>
          <a:p>
            <a:r>
              <a:rPr lang="en-US" sz="1200" kern="1200" baseline="0" dirty="0">
                <a:solidFill>
                  <a:schemeClr val="tx1"/>
                </a:solidFill>
                <a:latin typeface="Times New Roman" pitchFamily="-110" charset="0"/>
                <a:ea typeface="+mn-ea"/>
                <a:cs typeface="+mn-cs"/>
              </a:rPr>
              <a:t>to restore B’s context data and proceed with the execution of B where it left off.</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525CE4-6F38-1941-B8FA-945955E30D9A}" type="slidenum">
              <a:rPr lang="en-US"/>
              <a:pPr/>
              <a:t>28</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Ví dụ đơn giản này nêu bật chức năng cơ bản của bộ lập lịch biểu ngắn hạn.</a:t>
            </a:r>
          </a:p>
          <a:p>
            <a:r>
              <a:rPr lang="vi-VN" sz="1200" kern="1200" baseline="0" dirty="0">
                <a:solidFill>
                  <a:schemeClr val="tx1"/>
                </a:solidFill>
                <a:latin typeface="Times New Roman" pitchFamily="-110" charset="0"/>
                <a:ea typeface="+mn-ea"/>
                <a:cs typeface="+mn-cs"/>
              </a:rPr>
              <a:t>Hình 8.10 cho thấy các yếu tố chính của hệ điều hành tham gia vào quá trình lập trình đa</a:t>
            </a:r>
          </a:p>
          <a:p>
            <a:r>
              <a:rPr lang="vi-VN" sz="1200" kern="1200" baseline="0" dirty="0">
                <a:solidFill>
                  <a:schemeClr val="tx1"/>
                </a:solidFill>
                <a:latin typeface="Times New Roman" pitchFamily="-110" charset="0"/>
                <a:ea typeface="+mn-ea"/>
                <a:cs typeface="+mn-cs"/>
              </a:rPr>
              <a:t>và lập kế hoạch cho quá trình. Hệ điều hành nhận quyền điều khiển bộ vi xử lý tại</a:t>
            </a:r>
          </a:p>
          <a:p>
            <a:r>
              <a:rPr lang="vi-VN" sz="1200" kern="1200" baseline="0" dirty="0">
                <a:solidFill>
                  <a:schemeClr val="tx1"/>
                </a:solidFill>
                <a:latin typeface="Times New Roman" pitchFamily="-110" charset="0"/>
                <a:ea typeface="+mn-ea"/>
                <a:cs typeface="+mn-cs"/>
              </a:rPr>
              <a:t>ngắt xử lý nếu một ngắt xảy ra và tại xử lý dịch vụ gọi điện thoại nếu một dịch vụ</a:t>
            </a:r>
          </a:p>
          <a:p>
            <a:r>
              <a:rPr lang="vi-VN" sz="1200" kern="1200" baseline="0" dirty="0">
                <a:solidFill>
                  <a:schemeClr val="tx1"/>
                </a:solidFill>
                <a:latin typeface="Times New Roman" pitchFamily="-110" charset="0"/>
                <a:ea typeface="+mn-ea"/>
                <a:cs typeface="+mn-cs"/>
              </a:rPr>
              <a:t>cuộc gọi xảy ra. Một khi lệnh ngắt hoặc cuộc gọi dịch vụ được xử lý, bộ lập kế hoạch ngắn hạn</a:t>
            </a:r>
          </a:p>
          <a:p>
            <a:r>
              <a:rPr lang="vi-VN" sz="1200" kern="1200" baseline="0" dirty="0">
                <a:solidFill>
                  <a:schemeClr val="tx1"/>
                </a:solidFill>
                <a:latin typeface="Times New Roman" pitchFamily="-110" charset="0"/>
                <a:ea typeface="+mn-ea"/>
                <a:cs typeface="+mn-cs"/>
              </a:rPr>
              <a:t>được gọi để chọn một quá trình để thực hiện.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Để thực hiện công việc của mình, hệ điều hành duy trì một số hàng đợi. Mỗi hàng đợi chỉ đơn giản là một</a:t>
            </a:r>
          </a:p>
          <a:p>
            <a:r>
              <a:rPr lang="vi-VN" sz="1200" kern="1200" baseline="0" dirty="0">
                <a:solidFill>
                  <a:schemeClr val="tx1"/>
                </a:solidFill>
                <a:latin typeface="Times New Roman" pitchFamily="-110" charset="0"/>
                <a:ea typeface="+mn-ea"/>
                <a:cs typeface="+mn-cs"/>
              </a:rPr>
              <a:t>chờ đợi danh sách các quá trình chờ đợi một số tài nguyên. Hàng đợi dài hạn là danh sách</a:t>
            </a:r>
          </a:p>
          <a:p>
            <a:r>
              <a:rPr lang="vi-VN" sz="1200" kern="1200" baseline="0" dirty="0">
                <a:solidFill>
                  <a:schemeClr val="tx1"/>
                </a:solidFill>
                <a:latin typeface="Times New Roman" pitchFamily="-110" charset="0"/>
                <a:ea typeface="+mn-ea"/>
                <a:cs typeface="+mn-cs"/>
              </a:rPr>
              <a:t>công việc chờ đợi để sử dụng hệ thống. Theo điều kiện cho phép, trình lên lịch cao cấp sẽ</a:t>
            </a:r>
          </a:p>
          <a:p>
            <a:r>
              <a:rPr lang="vi-VN" sz="1200" kern="1200" baseline="0" dirty="0">
                <a:solidFill>
                  <a:schemeClr val="tx1"/>
                </a:solidFill>
                <a:latin typeface="Times New Roman" pitchFamily="-110" charset="0"/>
                <a:ea typeface="+mn-ea"/>
                <a:cs typeface="+mn-cs"/>
              </a:rPr>
              <a:t>phân bổ bộ nhớ và tạo một quy trình cho một trong các mục chờ đợi. Ngắn hạn</a:t>
            </a:r>
          </a:p>
          <a:p>
            <a:r>
              <a:rPr lang="vi-VN" sz="1200" kern="1200" baseline="0" dirty="0">
                <a:solidFill>
                  <a:schemeClr val="tx1"/>
                </a:solidFill>
                <a:latin typeface="Times New Roman" pitchFamily="-110" charset="0"/>
                <a:ea typeface="+mn-ea"/>
                <a:cs typeface="+mn-cs"/>
              </a:rPr>
              <a:t>hàng đợi bao gồm tất cả các quy trình ở trạng thái sẵn sàng. Bất kỳ một trong những quá trình này có thể</a:t>
            </a:r>
          </a:p>
          <a:p>
            <a:r>
              <a:rPr lang="vi-VN" sz="1200" kern="1200" baseline="0" dirty="0">
                <a:solidFill>
                  <a:schemeClr val="tx1"/>
                </a:solidFill>
                <a:latin typeface="Times New Roman" pitchFamily="-110" charset="0"/>
                <a:ea typeface="+mn-ea"/>
                <a:cs typeface="+mn-cs"/>
              </a:rPr>
              <a:t>sử dụng bộ xử lý tiếp theo. Đó là lên lịch trình ngắn hạn để chọn một. Nói chung là,</a:t>
            </a:r>
          </a:p>
          <a:p>
            <a:r>
              <a:rPr lang="vi-VN" sz="1200" kern="1200" baseline="0" dirty="0">
                <a:solidFill>
                  <a:schemeClr val="tx1"/>
                </a:solidFill>
                <a:latin typeface="Times New Roman" pitchFamily="-110" charset="0"/>
                <a:ea typeface="+mn-ea"/>
                <a:cs typeface="+mn-cs"/>
              </a:rPr>
              <a:t>điều này được thực hiện với một thuật toán round-robin, cho từng quá trình một thời gian lần lượt.</a:t>
            </a:r>
          </a:p>
          <a:p>
            <a:r>
              <a:rPr lang="vi-VN" sz="1200" kern="1200" baseline="0" dirty="0">
                <a:solidFill>
                  <a:schemeClr val="tx1"/>
                </a:solidFill>
                <a:latin typeface="Times New Roman" pitchFamily="-110" charset="0"/>
                <a:ea typeface="+mn-ea"/>
                <a:cs typeface="+mn-cs"/>
              </a:rPr>
              <a:t>Mức độ ưu tiên cũng có thể được sử dụng. Cuối cùng, có một hàng đợi I / O cho mỗi thiết bị I / O.</a:t>
            </a:r>
          </a:p>
          <a:p>
            <a:r>
              <a:rPr lang="vi-VN" sz="1200" kern="1200" baseline="0" dirty="0">
                <a:solidFill>
                  <a:schemeClr val="tx1"/>
                </a:solidFill>
                <a:latin typeface="Times New Roman" pitchFamily="-110" charset="0"/>
                <a:ea typeface="+mn-ea"/>
                <a:cs typeface="+mn-cs"/>
              </a:rPr>
              <a:t>Nhiều quá trình có thể yêu cầu sử dụng cùng một thiết bị I / O. Tất cả các quy trình</a:t>
            </a:r>
          </a:p>
          <a:p>
            <a:r>
              <a:rPr lang="vi-VN" sz="1200" kern="1200" baseline="0" dirty="0">
                <a:solidFill>
                  <a:schemeClr val="tx1"/>
                </a:solidFill>
                <a:latin typeface="Times New Roman" pitchFamily="-110" charset="0"/>
                <a:ea typeface="+mn-ea"/>
                <a:cs typeface="+mn-cs"/>
              </a:rPr>
              <a:t>chờ đợi để sử dụng mỗi thiết bị được xếp hàng trong hàng đợi của thiết bị đó.</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simple example highlights the basic functioning of the short-term scheduler.</a:t>
            </a:r>
          </a:p>
          <a:p>
            <a:r>
              <a:rPr lang="en-US" sz="1200" kern="1200" baseline="0" dirty="0">
                <a:solidFill>
                  <a:schemeClr val="tx1"/>
                </a:solidFill>
                <a:latin typeface="Times New Roman" pitchFamily="-110" charset="0"/>
                <a:ea typeface="+mn-ea"/>
                <a:cs typeface="+mn-cs"/>
              </a:rPr>
              <a:t>Figure 8.10 shows the major elements of the OS involved in the multiprogramming</a:t>
            </a:r>
          </a:p>
          <a:p>
            <a:r>
              <a:rPr lang="en-US" sz="1200" kern="1200" baseline="0" dirty="0">
                <a:solidFill>
                  <a:schemeClr val="tx1"/>
                </a:solidFill>
                <a:latin typeface="Times New Roman" pitchFamily="-110" charset="0"/>
                <a:ea typeface="+mn-ea"/>
                <a:cs typeface="+mn-cs"/>
              </a:rPr>
              <a:t>and scheduling of processes. The OS receives control of the processor at the</a:t>
            </a:r>
          </a:p>
          <a:p>
            <a:r>
              <a:rPr lang="en-US" sz="1200" kern="1200" baseline="0" dirty="0">
                <a:solidFill>
                  <a:schemeClr val="tx1"/>
                </a:solidFill>
                <a:latin typeface="Times New Roman" pitchFamily="-110" charset="0"/>
                <a:ea typeface="+mn-ea"/>
                <a:cs typeface="+mn-cs"/>
              </a:rPr>
              <a:t>interrupt handler if an interrupt occurs and at the service-call handler if a service</a:t>
            </a:r>
          </a:p>
          <a:p>
            <a:r>
              <a:rPr lang="en-US" sz="1200" kern="1200" baseline="0" dirty="0">
                <a:solidFill>
                  <a:schemeClr val="tx1"/>
                </a:solidFill>
                <a:latin typeface="Times New Roman" pitchFamily="-110" charset="0"/>
                <a:ea typeface="+mn-ea"/>
                <a:cs typeface="+mn-cs"/>
              </a:rPr>
              <a:t>call occurs. Once the interrupt or service call is handled, the short-term scheduler is</a:t>
            </a:r>
          </a:p>
          <a:p>
            <a:r>
              <a:rPr lang="en-US" sz="1200" kern="1200" baseline="0" dirty="0">
                <a:solidFill>
                  <a:schemeClr val="tx1"/>
                </a:solidFill>
                <a:latin typeface="Times New Roman" pitchFamily="-110" charset="0"/>
                <a:ea typeface="+mn-ea"/>
                <a:cs typeface="+mn-cs"/>
              </a:rPr>
              <a:t>invoked to select a process for execution.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do its job, the OS maintains a number of queues. Each queue is simply a</a:t>
            </a:r>
          </a:p>
          <a:p>
            <a:r>
              <a:rPr lang="en-US" sz="1200" kern="1200" baseline="0" dirty="0">
                <a:solidFill>
                  <a:schemeClr val="tx1"/>
                </a:solidFill>
                <a:latin typeface="Times New Roman" pitchFamily="-110" charset="0"/>
                <a:ea typeface="+mn-ea"/>
                <a:cs typeface="+mn-cs"/>
              </a:rPr>
              <a:t>waiting list of processes waiting for some resource. The </a:t>
            </a:r>
            <a:r>
              <a:rPr lang="en-US" sz="1200" b="1" kern="1200" baseline="0" dirty="0">
                <a:solidFill>
                  <a:schemeClr val="tx1"/>
                </a:solidFill>
                <a:latin typeface="Times New Roman" pitchFamily="-110" charset="0"/>
                <a:ea typeface="+mn-ea"/>
                <a:cs typeface="+mn-cs"/>
              </a:rPr>
              <a:t>long-term queue </a:t>
            </a:r>
            <a:r>
              <a:rPr lang="en-US" sz="1200" b="0" kern="1200" baseline="0" dirty="0">
                <a:solidFill>
                  <a:schemeClr val="tx1"/>
                </a:solidFill>
                <a:latin typeface="Times New Roman" pitchFamily="-110" charset="0"/>
                <a:ea typeface="+mn-ea"/>
                <a:cs typeface="+mn-cs"/>
              </a:rPr>
              <a:t>is a list of</a:t>
            </a:r>
          </a:p>
          <a:p>
            <a:r>
              <a:rPr lang="en-US" sz="1200" kern="1200" baseline="0" dirty="0">
                <a:solidFill>
                  <a:schemeClr val="tx1"/>
                </a:solidFill>
                <a:latin typeface="Times New Roman" pitchFamily="-110" charset="0"/>
                <a:ea typeface="+mn-ea"/>
                <a:cs typeface="+mn-cs"/>
              </a:rPr>
              <a:t>jobs waiting to use the system. As conditions permit, the high-level scheduler will</a:t>
            </a:r>
          </a:p>
          <a:p>
            <a:r>
              <a:rPr lang="en-US" sz="1200" kern="1200" baseline="0" dirty="0">
                <a:solidFill>
                  <a:schemeClr val="tx1"/>
                </a:solidFill>
                <a:latin typeface="Times New Roman" pitchFamily="-110" charset="0"/>
                <a:ea typeface="+mn-ea"/>
                <a:cs typeface="+mn-cs"/>
              </a:rPr>
              <a:t>allocate memory and create a process for one of the waiting items. The </a:t>
            </a:r>
            <a:r>
              <a:rPr lang="en-US" sz="1200" b="1" kern="1200" baseline="0" dirty="0">
                <a:solidFill>
                  <a:schemeClr val="tx1"/>
                </a:solidFill>
                <a:latin typeface="Times New Roman" pitchFamily="-110" charset="0"/>
                <a:ea typeface="+mn-ea"/>
                <a:cs typeface="+mn-cs"/>
              </a:rPr>
              <a:t>short-term</a:t>
            </a:r>
          </a:p>
          <a:p>
            <a:r>
              <a:rPr lang="en-US" sz="1200" b="1" kern="1200" baseline="0" dirty="0">
                <a:solidFill>
                  <a:schemeClr val="tx1"/>
                </a:solidFill>
                <a:latin typeface="Times New Roman" pitchFamily="-110" charset="0"/>
                <a:ea typeface="+mn-ea"/>
                <a:cs typeface="+mn-cs"/>
              </a:rPr>
              <a:t>queue </a:t>
            </a:r>
            <a:r>
              <a:rPr lang="en-US" sz="1200" b="0" kern="1200" baseline="0" dirty="0">
                <a:solidFill>
                  <a:schemeClr val="tx1"/>
                </a:solidFill>
                <a:latin typeface="Times New Roman" pitchFamily="-110" charset="0"/>
                <a:ea typeface="+mn-ea"/>
                <a:cs typeface="+mn-cs"/>
              </a:rPr>
              <a:t>consists of all processes in the ready state. Any one of these processes could</a:t>
            </a:r>
          </a:p>
          <a:p>
            <a:r>
              <a:rPr lang="en-US" sz="1200" kern="1200" baseline="0" dirty="0">
                <a:solidFill>
                  <a:schemeClr val="tx1"/>
                </a:solidFill>
                <a:latin typeface="Times New Roman" pitchFamily="-110" charset="0"/>
                <a:ea typeface="+mn-ea"/>
                <a:cs typeface="+mn-cs"/>
              </a:rPr>
              <a:t>use the processor next. It is up to the short-term scheduler to pick one. Generally,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is done with a round-robin algorithm, giving each process some time in turn.</a:t>
            </a:r>
          </a:p>
          <a:p>
            <a:r>
              <a:rPr lang="en-US" sz="1200" kern="1200" baseline="0" dirty="0">
                <a:solidFill>
                  <a:schemeClr val="tx1"/>
                </a:solidFill>
                <a:latin typeface="Times New Roman" pitchFamily="-110" charset="0"/>
                <a:ea typeface="+mn-ea"/>
                <a:cs typeface="+mn-cs"/>
              </a:rPr>
              <a:t>Priority levels may also be used. Finally, there is an </a:t>
            </a:r>
            <a:r>
              <a:rPr lang="en-US" sz="1200" b="1" kern="1200" baseline="0" dirty="0">
                <a:solidFill>
                  <a:schemeClr val="tx1"/>
                </a:solidFill>
                <a:latin typeface="Times New Roman" pitchFamily="-110" charset="0"/>
                <a:ea typeface="+mn-ea"/>
                <a:cs typeface="+mn-cs"/>
              </a:rPr>
              <a:t>I/O queue </a:t>
            </a:r>
            <a:r>
              <a:rPr lang="en-US" sz="1200" b="0" kern="1200" baseline="0" dirty="0">
                <a:solidFill>
                  <a:schemeClr val="tx1"/>
                </a:solidFill>
                <a:latin typeface="Times New Roman" pitchFamily="-110" charset="0"/>
                <a:ea typeface="+mn-ea"/>
                <a:cs typeface="+mn-cs"/>
              </a:rPr>
              <a:t>for each I/O device.</a:t>
            </a:r>
          </a:p>
          <a:p>
            <a:r>
              <a:rPr lang="en-US" sz="1200" kern="1200" baseline="0" dirty="0">
                <a:solidFill>
                  <a:schemeClr val="tx1"/>
                </a:solidFill>
                <a:latin typeface="Times New Roman" pitchFamily="-110" charset="0"/>
                <a:ea typeface="+mn-ea"/>
                <a:cs typeface="+mn-cs"/>
              </a:rPr>
              <a:t>More than one process may request the use of the same I/O device. All processes</a:t>
            </a:r>
          </a:p>
          <a:p>
            <a:r>
              <a:rPr lang="en-US" sz="1200" kern="1200" baseline="0" dirty="0">
                <a:solidFill>
                  <a:schemeClr val="tx1"/>
                </a:solidFill>
                <a:latin typeface="Times New Roman" pitchFamily="-110" charset="0"/>
                <a:ea typeface="+mn-ea"/>
                <a:cs typeface="+mn-cs"/>
              </a:rPr>
              <a:t>waiting to use each device are lined up in that device’s queue.</a:t>
            </a:r>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38DFC-C4D1-CB4B-903E-A423AA7F535C}" type="slidenum">
              <a:rPr lang="en-US"/>
              <a:pPr/>
              <a:t>29</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vi-VN" sz="1200" kern="1200" baseline="0" dirty="0">
                <a:solidFill>
                  <a:schemeClr val="tx1"/>
                </a:solidFill>
                <a:latin typeface="Times New Roman" pitchFamily="-110" charset="0"/>
                <a:ea typeface="+mn-ea"/>
                <a:cs typeface="+mn-cs"/>
              </a:rPr>
              <a:t>Hình 8.11 cho thấy các tiến trình tiến triển thông qua máy tính như thế nào dưới</a:t>
            </a:r>
          </a:p>
          <a:p>
            <a:r>
              <a:rPr lang="vi-VN" sz="1200" kern="1200" baseline="0" dirty="0">
                <a:solidFill>
                  <a:schemeClr val="tx1"/>
                </a:solidFill>
                <a:latin typeface="Times New Roman" pitchFamily="-110" charset="0"/>
                <a:ea typeface="+mn-ea"/>
                <a:cs typeface="+mn-cs"/>
              </a:rPr>
              <a:t>kiểm soát của hệ điều hành. Mỗi yêu cầu quá trình (công việc hàng loạt, người dùng xác định công việc tương tác) là</a:t>
            </a:r>
          </a:p>
          <a:p>
            <a:r>
              <a:rPr lang="vi-VN" sz="1200" kern="1200" baseline="0" dirty="0">
                <a:solidFill>
                  <a:schemeClr val="tx1"/>
                </a:solidFill>
                <a:latin typeface="Times New Roman" pitchFamily="-110" charset="0"/>
                <a:ea typeface="+mn-ea"/>
                <a:cs typeface="+mn-cs"/>
              </a:rPr>
              <a:t>đặt trong hàng dài hạn. Khi tài nguyên trở nên có sẵn, một yêu cầu quá trình</a:t>
            </a:r>
          </a:p>
          <a:p>
            <a:r>
              <a:rPr lang="vi-VN" sz="1200" kern="1200" baseline="0" dirty="0">
                <a:solidFill>
                  <a:schemeClr val="tx1"/>
                </a:solidFill>
                <a:latin typeface="Times New Roman" pitchFamily="-110" charset="0"/>
                <a:ea typeface="+mn-ea"/>
                <a:cs typeface="+mn-cs"/>
              </a:rPr>
              <a:t>trở thành một quá trình và sau đó được đặt trong tình trạng sẵn sàng và đưa vào trong ngắn hạn</a:t>
            </a:r>
          </a:p>
          <a:p>
            <a:r>
              <a:rPr lang="vi-VN" sz="1200" kern="1200" baseline="0" dirty="0">
                <a:solidFill>
                  <a:schemeClr val="tx1"/>
                </a:solidFill>
                <a:latin typeface="Times New Roman" pitchFamily="-110" charset="0"/>
                <a:ea typeface="+mn-ea"/>
                <a:cs typeface="+mn-cs"/>
              </a:rPr>
              <a:t>xếp hàng. Bộ xử lý luân phiên giữa thực hiện các hướng dẫn của hệ điều hành và thực hiện</a:t>
            </a:r>
          </a:p>
          <a:p>
            <a:r>
              <a:rPr lang="vi-VN" sz="1200" kern="1200" baseline="0" dirty="0">
                <a:solidFill>
                  <a:schemeClr val="tx1"/>
                </a:solidFill>
                <a:latin typeface="Times New Roman" pitchFamily="-110" charset="0"/>
                <a:ea typeface="+mn-ea"/>
                <a:cs typeface="+mn-cs"/>
              </a:rPr>
              <a:t>quy trình người dùng. Trong khi hệ điều hành đang được kiểm soát, nó quyết định quá trình nào trong ngắn hạn</a:t>
            </a:r>
          </a:p>
          <a:p>
            <a:r>
              <a:rPr lang="vi-VN" sz="1200" kern="1200" baseline="0" dirty="0">
                <a:solidFill>
                  <a:schemeClr val="tx1"/>
                </a:solidFill>
                <a:latin typeface="Times New Roman" pitchFamily="-110" charset="0"/>
                <a:ea typeface="+mn-ea"/>
                <a:cs typeface="+mn-cs"/>
              </a:rPr>
              <a:t>hàng đợi nên được thực hiện tiếp theo. Khi hệ điều hành hoàn thành các nhiệm vụ trước mắt của nó, nó</a:t>
            </a:r>
          </a:p>
          <a:p>
            <a:r>
              <a:rPr lang="vi-VN" sz="1200" kern="1200" baseline="0" dirty="0">
                <a:solidFill>
                  <a:schemeClr val="tx1"/>
                </a:solidFill>
                <a:latin typeface="Times New Roman" pitchFamily="-110" charset="0"/>
                <a:ea typeface="+mn-ea"/>
                <a:cs typeface="+mn-cs"/>
              </a:rPr>
              <a:t>chuyển bộ xử lý sang quá trình đã chọn.</a:t>
            </a:r>
          </a:p>
          <a:p>
            <a:endParaRPr lang="vi-VN" sz="1200" kern="1200" baseline="0" dirty="0">
              <a:solidFill>
                <a:schemeClr val="tx1"/>
              </a:solidFill>
              <a:latin typeface="Times New Roman" pitchFamily="-110" charset="0"/>
              <a:ea typeface="+mn-ea"/>
              <a:cs typeface="+mn-cs"/>
            </a:endParaRPr>
          </a:p>
          <a:p>
            <a:r>
              <a:rPr lang="vi-VN" sz="1200" kern="1200" baseline="0" dirty="0">
                <a:solidFill>
                  <a:schemeClr val="tx1"/>
                </a:solidFill>
                <a:latin typeface="Times New Roman" pitchFamily="-110" charset="0"/>
                <a:ea typeface="+mn-ea"/>
                <a:cs typeface="+mn-cs"/>
              </a:rPr>
              <a:t>Như đã đề cập trước đó, một quá trình đang được thực hiện có thể bị tạm ngưng vì</a:t>
            </a:r>
          </a:p>
          <a:p>
            <a:r>
              <a:rPr lang="vi-VN" sz="1200" kern="1200" baseline="0" dirty="0">
                <a:solidFill>
                  <a:schemeClr val="tx1"/>
                </a:solidFill>
                <a:latin typeface="Times New Roman" pitchFamily="-110" charset="0"/>
                <a:ea typeface="+mn-ea"/>
                <a:cs typeface="+mn-cs"/>
              </a:rPr>
              <a:t>nhiều lý do. Nếu nó bị treo vì quá trình yêu cầu I / O, thì nó</a:t>
            </a:r>
          </a:p>
          <a:p>
            <a:r>
              <a:rPr lang="vi-VN" sz="1200" kern="1200" baseline="0" dirty="0">
                <a:solidFill>
                  <a:schemeClr val="tx1"/>
                </a:solidFill>
                <a:latin typeface="Times New Roman" pitchFamily="-110" charset="0"/>
                <a:ea typeface="+mn-ea"/>
                <a:cs typeface="+mn-cs"/>
              </a:rPr>
              <a:t>được đặt trong hàng đợi I / O thích hợp. Nếu nó bị treo vì thời gian chờ hoặc</a:t>
            </a:r>
          </a:p>
          <a:p>
            <a:r>
              <a:rPr lang="vi-VN" sz="1200" kern="1200" baseline="0" dirty="0">
                <a:solidFill>
                  <a:schemeClr val="tx1"/>
                </a:solidFill>
                <a:latin typeface="Times New Roman" pitchFamily="-110" charset="0"/>
                <a:ea typeface="+mn-ea"/>
                <a:cs typeface="+mn-cs"/>
              </a:rPr>
              <a:t>bởi vì các hệ điều hành phải tham gia để nhấn kinh doanh, sau đó nó được đặt trong trạng thái sẵn sàng</a:t>
            </a:r>
          </a:p>
          <a:p>
            <a:r>
              <a:rPr lang="vi-VN" sz="1200" kern="1200" baseline="0" dirty="0">
                <a:solidFill>
                  <a:schemeClr val="tx1"/>
                </a:solidFill>
                <a:latin typeface="Times New Roman" pitchFamily="-110" charset="0"/>
                <a:ea typeface="+mn-ea"/>
                <a:cs typeface="+mn-cs"/>
              </a:rPr>
              <a:t>và đưa vào hàng đợi ngắn hạn.</a:t>
            </a:r>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Figure 8.11 suggests how processes progress through the computer under the</a:t>
            </a:r>
          </a:p>
          <a:p>
            <a:r>
              <a:rPr lang="en-US" sz="1200" kern="1200" baseline="0" dirty="0">
                <a:solidFill>
                  <a:schemeClr val="tx1"/>
                </a:solidFill>
                <a:latin typeface="Times New Roman" pitchFamily="-110" charset="0"/>
                <a:ea typeface="+mn-ea"/>
                <a:cs typeface="+mn-cs"/>
              </a:rPr>
              <a:t>control of the OS. Each process request (batch job, user-defined interactive job) is</a:t>
            </a:r>
          </a:p>
          <a:p>
            <a:r>
              <a:rPr lang="en-US" sz="1200" kern="1200" baseline="0" dirty="0">
                <a:solidFill>
                  <a:schemeClr val="tx1"/>
                </a:solidFill>
                <a:latin typeface="Times New Roman" pitchFamily="-110" charset="0"/>
                <a:ea typeface="+mn-ea"/>
                <a:cs typeface="+mn-cs"/>
              </a:rPr>
              <a:t>placed in the long-term queue. As resources become available, a process request</a:t>
            </a:r>
          </a:p>
          <a:p>
            <a:r>
              <a:rPr lang="en-US" sz="1200" kern="1200" baseline="0" dirty="0">
                <a:solidFill>
                  <a:schemeClr val="tx1"/>
                </a:solidFill>
                <a:latin typeface="Times New Roman" pitchFamily="-110" charset="0"/>
                <a:ea typeface="+mn-ea"/>
                <a:cs typeface="+mn-cs"/>
              </a:rPr>
              <a:t>becomes a process and is then placed in the ready state and put in the short-term</a:t>
            </a:r>
          </a:p>
          <a:p>
            <a:r>
              <a:rPr lang="en-US" sz="1200" kern="1200" baseline="0" dirty="0">
                <a:solidFill>
                  <a:schemeClr val="tx1"/>
                </a:solidFill>
                <a:latin typeface="Times New Roman" pitchFamily="-110" charset="0"/>
                <a:ea typeface="+mn-ea"/>
                <a:cs typeface="+mn-cs"/>
              </a:rPr>
              <a:t>queue. The processor alternates between executing OS instructions and executing</a:t>
            </a:r>
          </a:p>
          <a:p>
            <a:r>
              <a:rPr lang="en-US" sz="1200" kern="1200" baseline="0" dirty="0">
                <a:solidFill>
                  <a:schemeClr val="tx1"/>
                </a:solidFill>
                <a:latin typeface="Times New Roman" pitchFamily="-110" charset="0"/>
                <a:ea typeface="+mn-ea"/>
                <a:cs typeface="+mn-cs"/>
              </a:rPr>
              <a:t>user processes. While the OS is in control, it decides which process in the short-term</a:t>
            </a:r>
          </a:p>
          <a:p>
            <a:r>
              <a:rPr lang="en-US" sz="1200" kern="1200" baseline="0" dirty="0">
                <a:solidFill>
                  <a:schemeClr val="tx1"/>
                </a:solidFill>
                <a:latin typeface="Times New Roman" pitchFamily="-110" charset="0"/>
                <a:ea typeface="+mn-ea"/>
                <a:cs typeface="+mn-cs"/>
              </a:rPr>
              <a:t>queue should be executed next. When the OS has finished its immediate tasks, it</a:t>
            </a:r>
          </a:p>
          <a:p>
            <a:r>
              <a:rPr lang="en-US" sz="1200" kern="1200" baseline="0" dirty="0">
                <a:solidFill>
                  <a:schemeClr val="tx1"/>
                </a:solidFill>
                <a:latin typeface="Times New Roman" pitchFamily="-110" charset="0"/>
                <a:ea typeface="+mn-ea"/>
                <a:cs typeface="+mn-cs"/>
              </a:rPr>
              <a:t>turns the processor over to the chosen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As was mentioned earlier, a process being executed may be suspended for</a:t>
            </a:r>
          </a:p>
          <a:p>
            <a:r>
              <a:rPr lang="en-US" sz="1200" kern="1200" baseline="0" dirty="0">
                <a:solidFill>
                  <a:schemeClr val="tx1"/>
                </a:solidFill>
                <a:latin typeface="Times New Roman" pitchFamily="-110" charset="0"/>
                <a:ea typeface="+mn-ea"/>
                <a:cs typeface="+mn-cs"/>
              </a:rPr>
              <a:t>a variety of reasons. If it is suspended because the process requests I/O, then it</a:t>
            </a:r>
          </a:p>
          <a:p>
            <a:r>
              <a:rPr lang="en-US" sz="1200" kern="1200" baseline="0" dirty="0">
                <a:solidFill>
                  <a:schemeClr val="tx1"/>
                </a:solidFill>
                <a:latin typeface="Times New Roman" pitchFamily="-110" charset="0"/>
                <a:ea typeface="+mn-ea"/>
                <a:cs typeface="+mn-cs"/>
              </a:rPr>
              <a:t>is placed in the appropriate I/O queue. If it is suspended because of a timeout or</a:t>
            </a:r>
          </a:p>
          <a:p>
            <a:r>
              <a:rPr lang="en-US" sz="1200" kern="1200" baseline="0" dirty="0">
                <a:solidFill>
                  <a:schemeClr val="tx1"/>
                </a:solidFill>
                <a:latin typeface="Times New Roman" pitchFamily="-110" charset="0"/>
                <a:ea typeface="+mn-ea"/>
                <a:cs typeface="+mn-cs"/>
              </a:rPr>
              <a:t>because the OS must attend to pressing business, then it is placed in the ready state</a:t>
            </a:r>
          </a:p>
          <a:p>
            <a:r>
              <a:rPr lang="en-US" sz="1200" kern="1200" baseline="0" dirty="0">
                <a:solidFill>
                  <a:schemeClr val="tx1"/>
                </a:solidFill>
                <a:latin typeface="Times New Roman" pitchFamily="-110" charset="0"/>
                <a:ea typeface="+mn-ea"/>
                <a:cs typeface="+mn-cs"/>
              </a:rPr>
              <a:t>and put into the short-term queue.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Finally, we mention that the OS also manages the I/O queues. When an I/O</a:t>
            </a:r>
          </a:p>
          <a:p>
            <a:r>
              <a:rPr lang="en-US" sz="1200" kern="1200" baseline="0" dirty="0">
                <a:solidFill>
                  <a:schemeClr val="tx1"/>
                </a:solidFill>
                <a:latin typeface="Times New Roman" pitchFamily="-110" charset="0"/>
                <a:ea typeface="+mn-ea"/>
                <a:cs typeface="+mn-cs"/>
              </a:rPr>
              <a:t>operation is completed, the OS removes the satisfied process from that I/O queue</a:t>
            </a:r>
          </a:p>
          <a:p>
            <a:r>
              <a:rPr lang="en-US" sz="1200" kern="1200" baseline="0" dirty="0">
                <a:solidFill>
                  <a:schemeClr val="tx1"/>
                </a:solidFill>
                <a:latin typeface="Times New Roman" pitchFamily="-110" charset="0"/>
                <a:ea typeface="+mn-ea"/>
                <a:cs typeface="+mn-cs"/>
              </a:rPr>
              <a:t>and places it in the short-term queue. It then selects another waiting process (if any)</a:t>
            </a:r>
          </a:p>
          <a:p>
            <a:r>
              <a:rPr lang="en-US" sz="1200" kern="1200" baseline="0" dirty="0">
                <a:solidFill>
                  <a:schemeClr val="tx1"/>
                </a:solidFill>
                <a:latin typeface="Times New Roman" pitchFamily="-110" charset="0"/>
                <a:ea typeface="+mn-ea"/>
                <a:cs typeface="+mn-cs"/>
              </a:rPr>
              <a:t>and signals for the I/O device to satisfy that process’s request.</a:t>
            </a:r>
            <a:endParaRPr lang="en-GB" b="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38DFC-C4D1-CB4B-903E-A423AA7F535C}" type="slidenum">
              <a:rPr lang="en-US"/>
              <a:pPr/>
              <a:t>30</a:t>
            </a:fld>
            <a:endParaRPr lang="en-US" dirty="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GB" b="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C79075-4A13-934D-9F95-23570E450F23}" type="slidenum">
              <a:rPr lang="en-US"/>
              <a:pPr/>
              <a:t>31</a:t>
            </a:fld>
            <a:endParaRPr lang="en-US" dirty="0"/>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Main memory could be expanded, and so be able to accommodate</a:t>
            </a:r>
          </a:p>
          <a:p>
            <a:r>
              <a:rPr lang="en-US" sz="1200" kern="1200" baseline="0" dirty="0">
                <a:solidFill>
                  <a:schemeClr val="tx1"/>
                </a:solidFill>
                <a:latin typeface="Times New Roman" pitchFamily="-110" charset="0"/>
                <a:ea typeface="+mn-ea"/>
                <a:cs typeface="+mn-cs"/>
              </a:rPr>
              <a:t>more processes. But there are two flaws in this approach. First, main memory</a:t>
            </a:r>
          </a:p>
          <a:p>
            <a:r>
              <a:rPr lang="en-US" sz="1200" kern="1200" baseline="0" dirty="0">
                <a:solidFill>
                  <a:schemeClr val="tx1"/>
                </a:solidFill>
                <a:latin typeface="Times New Roman" pitchFamily="-110" charset="0"/>
                <a:ea typeface="+mn-ea"/>
                <a:cs typeface="+mn-cs"/>
              </a:rPr>
              <a:t>is expensive, even today. Second, the appetite of programs for memory has grown</a:t>
            </a:r>
          </a:p>
          <a:p>
            <a:r>
              <a:rPr lang="en-US" sz="1200" kern="1200" baseline="0" dirty="0">
                <a:solidFill>
                  <a:schemeClr val="tx1"/>
                </a:solidFill>
                <a:latin typeface="Times New Roman" pitchFamily="-110" charset="0"/>
                <a:ea typeface="+mn-ea"/>
                <a:cs typeface="+mn-cs"/>
              </a:rPr>
              <a:t>as fast as the cost of memory has dropped. So larger memory results in larger processes,</a:t>
            </a:r>
          </a:p>
          <a:p>
            <a:r>
              <a:rPr lang="en-US" sz="1200" kern="1200" baseline="0" dirty="0">
                <a:solidFill>
                  <a:schemeClr val="tx1"/>
                </a:solidFill>
                <a:latin typeface="Times New Roman" pitchFamily="-110" charset="0"/>
                <a:ea typeface="+mn-ea"/>
                <a:cs typeface="+mn-cs"/>
              </a:rPr>
              <a:t>not more processes.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Another solution is </a:t>
            </a:r>
            <a:r>
              <a:rPr lang="en-US" sz="1200" b="1" kern="1200" baseline="0" dirty="0">
                <a:solidFill>
                  <a:schemeClr val="tx1"/>
                </a:solidFill>
                <a:latin typeface="Times New Roman" pitchFamily="-110" charset="0"/>
                <a:ea typeface="+mn-ea"/>
                <a:cs typeface="+mn-cs"/>
              </a:rPr>
              <a:t>swapping</a:t>
            </a:r>
            <a:r>
              <a:rPr lang="en-US" sz="1200" b="1" i="1" kern="1200" baseline="0" dirty="0">
                <a:solidFill>
                  <a:schemeClr val="tx1"/>
                </a:solidFill>
                <a:latin typeface="Times New Roman" pitchFamily="-110" charset="0"/>
                <a:ea typeface="+mn-ea"/>
                <a:cs typeface="+mn-cs"/>
              </a:rPr>
              <a:t>, </a:t>
            </a:r>
            <a:r>
              <a:rPr lang="en-US" sz="1200" b="0" i="0" kern="1200" baseline="0" dirty="0">
                <a:solidFill>
                  <a:schemeClr val="tx1"/>
                </a:solidFill>
                <a:latin typeface="Times New Roman" pitchFamily="-110" charset="0"/>
                <a:ea typeface="+mn-ea"/>
                <a:cs typeface="+mn-cs"/>
              </a:rPr>
              <a:t>depicted in Figure 8.12. We have a long-term</a:t>
            </a:r>
          </a:p>
          <a:p>
            <a:r>
              <a:rPr lang="en-US" sz="1200" kern="1200" baseline="0" dirty="0">
                <a:solidFill>
                  <a:schemeClr val="tx1"/>
                </a:solidFill>
                <a:latin typeface="Times New Roman" pitchFamily="-110" charset="0"/>
                <a:ea typeface="+mn-ea"/>
                <a:cs typeface="+mn-cs"/>
              </a:rPr>
              <a:t>queue of process requests, typically stored on disk. These are brought in, one at a</a:t>
            </a:r>
          </a:p>
          <a:p>
            <a:r>
              <a:rPr lang="en-US" sz="1200" kern="1200" baseline="0" dirty="0">
                <a:solidFill>
                  <a:schemeClr val="tx1"/>
                </a:solidFill>
                <a:latin typeface="Times New Roman" pitchFamily="-110" charset="0"/>
                <a:ea typeface="+mn-ea"/>
                <a:cs typeface="+mn-cs"/>
              </a:rPr>
              <a:t>time, as space becomes available. As processes are completed, they are moved out</a:t>
            </a:r>
          </a:p>
          <a:p>
            <a:r>
              <a:rPr lang="en-US" sz="1200" kern="1200" baseline="0" dirty="0">
                <a:solidFill>
                  <a:schemeClr val="tx1"/>
                </a:solidFill>
                <a:latin typeface="Times New Roman" pitchFamily="-110" charset="0"/>
                <a:ea typeface="+mn-ea"/>
                <a:cs typeface="+mn-cs"/>
              </a:rPr>
              <a:t>of main memory. Now the situation will arise that none of the processes in memory</a:t>
            </a:r>
          </a:p>
          <a:p>
            <a:r>
              <a:rPr lang="en-US" sz="1200" kern="1200" baseline="0" dirty="0">
                <a:solidFill>
                  <a:schemeClr val="tx1"/>
                </a:solidFill>
                <a:latin typeface="Times New Roman" pitchFamily="-110" charset="0"/>
                <a:ea typeface="+mn-ea"/>
                <a:cs typeface="+mn-cs"/>
              </a:rPr>
              <a:t>are in the ready state (e.g., all are waiting on an I/O operation). Rather than remain</a:t>
            </a:r>
          </a:p>
          <a:p>
            <a:r>
              <a:rPr lang="en-US" sz="1200" kern="1200" baseline="0" dirty="0">
                <a:solidFill>
                  <a:schemeClr val="tx1"/>
                </a:solidFill>
                <a:latin typeface="Times New Roman" pitchFamily="-110" charset="0"/>
                <a:ea typeface="+mn-ea"/>
                <a:cs typeface="+mn-cs"/>
              </a:rPr>
              <a:t>idle, the processor </a:t>
            </a:r>
            <a:r>
              <a:rPr lang="en-US" sz="1200" i="1" kern="1200" baseline="0" dirty="0">
                <a:solidFill>
                  <a:schemeClr val="tx1"/>
                </a:solidFill>
                <a:latin typeface="Times New Roman" pitchFamily="-110" charset="0"/>
                <a:ea typeface="+mn-ea"/>
                <a:cs typeface="+mn-cs"/>
              </a:rPr>
              <a:t>swaps </a:t>
            </a:r>
            <a:r>
              <a:rPr lang="en-US" sz="1200" i="0" kern="1200" baseline="0" dirty="0">
                <a:solidFill>
                  <a:schemeClr val="tx1"/>
                </a:solidFill>
                <a:latin typeface="Times New Roman" pitchFamily="-110" charset="0"/>
                <a:ea typeface="+mn-ea"/>
                <a:cs typeface="+mn-cs"/>
              </a:rPr>
              <a:t>one of these processes back out to disk into an intermediate</a:t>
            </a:r>
          </a:p>
          <a:p>
            <a:r>
              <a:rPr lang="en-US" sz="1200" i="0" kern="1200" baseline="0" dirty="0">
                <a:solidFill>
                  <a:schemeClr val="tx1"/>
                </a:solidFill>
                <a:latin typeface="Times New Roman" pitchFamily="-110" charset="0"/>
                <a:ea typeface="+mn-ea"/>
                <a:cs typeface="+mn-cs"/>
              </a:rPr>
              <a:t>queue. This is a </a:t>
            </a:r>
            <a:r>
              <a:rPr lang="en-US" sz="1200" i="1" kern="1200" baseline="0" dirty="0">
                <a:solidFill>
                  <a:schemeClr val="tx1"/>
                </a:solidFill>
                <a:latin typeface="Times New Roman" pitchFamily="-110" charset="0"/>
                <a:ea typeface="+mn-ea"/>
                <a:cs typeface="+mn-cs"/>
              </a:rPr>
              <a:t>queue</a:t>
            </a:r>
            <a:r>
              <a:rPr lang="en-US" sz="1200" i="0" kern="1200" baseline="0" dirty="0">
                <a:solidFill>
                  <a:schemeClr val="tx1"/>
                </a:solidFill>
                <a:latin typeface="Times New Roman" pitchFamily="-110" charset="0"/>
                <a:ea typeface="+mn-ea"/>
                <a:cs typeface="+mn-cs"/>
              </a:rPr>
              <a:t> of existing processes that have been temporarily kicked out</a:t>
            </a:r>
          </a:p>
          <a:p>
            <a:r>
              <a:rPr lang="en-US" sz="1200" kern="1200" baseline="0" dirty="0">
                <a:solidFill>
                  <a:schemeClr val="tx1"/>
                </a:solidFill>
                <a:latin typeface="Times New Roman" pitchFamily="-110" charset="0"/>
                <a:ea typeface="+mn-ea"/>
                <a:cs typeface="+mn-cs"/>
              </a:rPr>
              <a:t>of memory. The OS then brings in another process from the intermediate queue, or</a:t>
            </a:r>
          </a:p>
          <a:p>
            <a:r>
              <a:rPr lang="en-US" sz="1200" kern="1200" baseline="0" dirty="0">
                <a:solidFill>
                  <a:schemeClr val="tx1"/>
                </a:solidFill>
                <a:latin typeface="Times New Roman" pitchFamily="-110" charset="0"/>
                <a:ea typeface="+mn-ea"/>
                <a:cs typeface="+mn-cs"/>
              </a:rPr>
              <a:t>it honors a new process request from the long-term queue. Execution then continues</a:t>
            </a:r>
          </a:p>
          <a:p>
            <a:r>
              <a:rPr lang="en-US" sz="1200" kern="1200" baseline="0" dirty="0">
                <a:solidFill>
                  <a:schemeClr val="tx1"/>
                </a:solidFill>
                <a:latin typeface="Times New Roman" pitchFamily="-110" charset="0"/>
                <a:ea typeface="+mn-ea"/>
                <a:cs typeface="+mn-cs"/>
              </a:rPr>
              <a:t>with the newly arrived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Swapping, however, is an I/O operation, and therefore there is the potential</a:t>
            </a:r>
          </a:p>
          <a:p>
            <a:r>
              <a:rPr lang="en-US" sz="1200" kern="1200" baseline="0" dirty="0">
                <a:solidFill>
                  <a:schemeClr val="tx1"/>
                </a:solidFill>
                <a:latin typeface="Times New Roman" pitchFamily="-110" charset="0"/>
                <a:ea typeface="+mn-ea"/>
                <a:cs typeface="+mn-cs"/>
              </a:rPr>
              <a:t>for making the problem worse, not better. But because disk I/O is generally the</a:t>
            </a:r>
          </a:p>
          <a:p>
            <a:r>
              <a:rPr lang="en-US" sz="1200" kern="1200" baseline="0" dirty="0">
                <a:solidFill>
                  <a:schemeClr val="tx1"/>
                </a:solidFill>
                <a:latin typeface="Times New Roman" pitchFamily="-110" charset="0"/>
                <a:ea typeface="+mn-ea"/>
                <a:cs typeface="+mn-cs"/>
              </a:rPr>
              <a:t>fastest I/O on a system (e.g., compared with tape or printer I/O), swapping will usually</a:t>
            </a:r>
          </a:p>
          <a:p>
            <a:r>
              <a:rPr lang="en-US" sz="1200" kern="1200" baseline="0" dirty="0">
                <a:solidFill>
                  <a:schemeClr val="tx1"/>
                </a:solidFill>
                <a:latin typeface="Times New Roman" pitchFamily="-110" charset="0"/>
                <a:ea typeface="+mn-ea"/>
                <a:cs typeface="+mn-cs"/>
              </a:rPr>
              <a:t>enhance performance. A more sophisticated scheme, involving virtual memory,</a:t>
            </a:r>
          </a:p>
          <a:p>
            <a:r>
              <a:rPr lang="en-US" sz="1200" kern="1200" baseline="0" dirty="0">
                <a:solidFill>
                  <a:schemeClr val="tx1"/>
                </a:solidFill>
                <a:latin typeface="Times New Roman" pitchFamily="-110" charset="0"/>
                <a:ea typeface="+mn-ea"/>
                <a:cs typeface="+mn-cs"/>
              </a:rPr>
              <a:t>improves performance over simple swapping. This will be discussed shortly. But</a:t>
            </a:r>
          </a:p>
          <a:p>
            <a:r>
              <a:rPr lang="en-US" sz="1200" kern="1200" baseline="0" dirty="0">
                <a:solidFill>
                  <a:schemeClr val="tx1"/>
                </a:solidFill>
                <a:latin typeface="Times New Roman" pitchFamily="-110" charset="0"/>
                <a:ea typeface="+mn-ea"/>
                <a:cs typeface="+mn-cs"/>
              </a:rPr>
              <a:t>first, we must prepare the ground by explaining partitioning and paging.</a:t>
            </a:r>
            <a:endParaRPr lang="en-GB" i="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B23DC-2499-7F48-80FF-28CE0A05C5A4}" type="slidenum">
              <a:rPr lang="en-US"/>
              <a:pPr/>
              <a:t>32</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simplest scheme for partitioning available memory is to use </a:t>
            </a:r>
            <a:r>
              <a:rPr lang="en-US" sz="1200" i="1" kern="1200" baseline="0" dirty="0">
                <a:solidFill>
                  <a:schemeClr val="tx1"/>
                </a:solidFill>
                <a:latin typeface="Times New Roman" pitchFamily="-110" charset="0"/>
                <a:ea typeface="+mn-ea"/>
                <a:cs typeface="+mn-cs"/>
              </a:rPr>
              <a:t>fixed-size partitions,</a:t>
            </a:r>
          </a:p>
          <a:p>
            <a:r>
              <a:rPr lang="en-US" sz="1200" kern="1200" baseline="0" dirty="0">
                <a:solidFill>
                  <a:schemeClr val="tx1"/>
                </a:solidFill>
                <a:latin typeface="Times New Roman" pitchFamily="-110" charset="0"/>
                <a:ea typeface="+mn-ea"/>
                <a:cs typeface="+mn-cs"/>
              </a:rPr>
              <a:t>as shown in Figure 8.13. Note that, although the partitions are of fixed size,</a:t>
            </a:r>
          </a:p>
          <a:p>
            <a:r>
              <a:rPr lang="en-US" sz="1200" kern="1200" baseline="0" dirty="0">
                <a:solidFill>
                  <a:schemeClr val="tx1"/>
                </a:solidFill>
                <a:latin typeface="Times New Roman" pitchFamily="-110" charset="0"/>
                <a:ea typeface="+mn-ea"/>
                <a:cs typeface="+mn-cs"/>
              </a:rPr>
              <a:t>they need not be of equal size. When a process is brought into memory, it is placed</a:t>
            </a:r>
          </a:p>
          <a:p>
            <a:r>
              <a:rPr lang="en-US" sz="1200" kern="1200" baseline="0" dirty="0">
                <a:solidFill>
                  <a:schemeClr val="tx1"/>
                </a:solidFill>
                <a:latin typeface="Times New Roman" pitchFamily="-110" charset="0"/>
                <a:ea typeface="+mn-ea"/>
                <a:cs typeface="+mn-cs"/>
              </a:rPr>
              <a:t>in the smallest available partition that will hold it.</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Even with the use of unequal fixed-size partitions, there will be wasted memory.</a:t>
            </a:r>
          </a:p>
          <a:p>
            <a:r>
              <a:rPr lang="en-US" sz="1200" kern="1200" baseline="0" dirty="0">
                <a:solidFill>
                  <a:schemeClr val="tx1"/>
                </a:solidFill>
                <a:latin typeface="Times New Roman" pitchFamily="-110" charset="0"/>
                <a:ea typeface="+mn-ea"/>
                <a:cs typeface="+mn-cs"/>
              </a:rPr>
              <a:t>In most cases, a process will not require exactly as much memory as provided by the</a:t>
            </a:r>
          </a:p>
          <a:p>
            <a:r>
              <a:rPr lang="en-US" sz="1200" kern="1200" baseline="0" dirty="0">
                <a:solidFill>
                  <a:schemeClr val="tx1"/>
                </a:solidFill>
                <a:latin typeface="Times New Roman" pitchFamily="-110" charset="0"/>
                <a:ea typeface="+mn-ea"/>
                <a:cs typeface="+mn-cs"/>
              </a:rPr>
              <a:t>partition. For example, a process that requires 3M bytes of memory would be placed</a:t>
            </a:r>
          </a:p>
          <a:p>
            <a:r>
              <a:rPr lang="en-US" sz="1200" kern="1200" baseline="0" dirty="0">
                <a:solidFill>
                  <a:schemeClr val="tx1"/>
                </a:solidFill>
                <a:latin typeface="Times New Roman" pitchFamily="-110" charset="0"/>
                <a:ea typeface="+mn-ea"/>
                <a:cs typeface="+mn-cs"/>
              </a:rPr>
              <a:t>in the 4M partition of Figure 8.13b, wasting 1M that could be used by another process.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A more efficient approach is to use </a:t>
            </a:r>
            <a:r>
              <a:rPr lang="en-US" sz="1200" i="1" kern="1200" baseline="0" dirty="0">
                <a:solidFill>
                  <a:schemeClr val="tx1"/>
                </a:solidFill>
                <a:latin typeface="Times New Roman" pitchFamily="-110" charset="0"/>
                <a:ea typeface="+mn-ea"/>
                <a:cs typeface="+mn-cs"/>
              </a:rPr>
              <a:t>variable-size partitions. When a process is</a:t>
            </a:r>
          </a:p>
          <a:p>
            <a:r>
              <a:rPr lang="en-US" sz="1200" kern="1200" baseline="0" dirty="0">
                <a:solidFill>
                  <a:schemeClr val="tx1"/>
                </a:solidFill>
                <a:latin typeface="Times New Roman" pitchFamily="-110" charset="0"/>
                <a:ea typeface="+mn-ea"/>
                <a:cs typeface="+mn-cs"/>
              </a:rPr>
              <a:t>brought into memory, it is allocated exactly as much memory as it requires and no more.</a:t>
            </a:r>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7A2226-CDEA-B945-B647-6EE1D209ACDA}" type="slidenum">
              <a:rPr lang="en-US"/>
              <a:pPr/>
              <a:t>33</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Before we consider ways of dealing with the shortcomings of partitioning, we</a:t>
            </a:r>
          </a:p>
          <a:p>
            <a:r>
              <a:rPr lang="en-US" sz="1200" kern="1200" baseline="0" dirty="0">
                <a:solidFill>
                  <a:schemeClr val="tx1"/>
                </a:solidFill>
                <a:latin typeface="Times New Roman" pitchFamily="-110" charset="0"/>
                <a:ea typeface="+mn-ea"/>
                <a:cs typeface="+mn-cs"/>
              </a:rPr>
              <a:t>must clear up one loose end. Consider Figure 8.14; it should be obvious that a process</a:t>
            </a:r>
          </a:p>
          <a:p>
            <a:r>
              <a:rPr lang="en-US" sz="1200" kern="1200" baseline="0" dirty="0">
                <a:solidFill>
                  <a:schemeClr val="tx1"/>
                </a:solidFill>
                <a:latin typeface="Times New Roman" pitchFamily="-110" charset="0"/>
                <a:ea typeface="+mn-ea"/>
                <a:cs typeface="+mn-cs"/>
              </a:rPr>
              <a:t>is not likely to be loaded into the same place in main memory each time it is</a:t>
            </a:r>
          </a:p>
          <a:p>
            <a:r>
              <a:rPr lang="en-US" sz="1200" kern="1200" baseline="0" dirty="0">
                <a:solidFill>
                  <a:schemeClr val="tx1"/>
                </a:solidFill>
                <a:latin typeface="Times New Roman" pitchFamily="-110" charset="0"/>
                <a:ea typeface="+mn-ea"/>
                <a:cs typeface="+mn-cs"/>
              </a:rPr>
              <a:t>swapped in. Furthermore, if compaction is used, a process may be shifted while in</a:t>
            </a:r>
          </a:p>
          <a:p>
            <a:r>
              <a:rPr lang="en-US" sz="1200" kern="1200" baseline="0" dirty="0">
                <a:solidFill>
                  <a:schemeClr val="tx1"/>
                </a:solidFill>
                <a:latin typeface="Times New Roman" pitchFamily="-110" charset="0"/>
                <a:ea typeface="+mn-ea"/>
                <a:cs typeface="+mn-cs"/>
              </a:rPr>
              <a:t>main memory. A process in memory consists of instructions plus data. The instructions</a:t>
            </a:r>
          </a:p>
          <a:p>
            <a:r>
              <a:rPr lang="en-US" sz="1200" kern="1200" baseline="0" dirty="0">
                <a:solidFill>
                  <a:schemeClr val="tx1"/>
                </a:solidFill>
                <a:latin typeface="Times New Roman" pitchFamily="-110" charset="0"/>
                <a:ea typeface="+mn-ea"/>
                <a:cs typeface="+mn-cs"/>
              </a:rPr>
              <a:t>will contain addresses for memory locations of two types: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Addresses of data items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 Addresses of instructions, used for branching instructions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But these addresses are not fixed. They will change each time a process is</a:t>
            </a:r>
          </a:p>
          <a:p>
            <a:r>
              <a:rPr lang="en-US" sz="1200" kern="1200" baseline="0" dirty="0">
                <a:solidFill>
                  <a:schemeClr val="tx1"/>
                </a:solidFill>
                <a:latin typeface="Times New Roman" pitchFamily="-110" charset="0"/>
                <a:ea typeface="+mn-ea"/>
                <a:cs typeface="+mn-cs"/>
              </a:rPr>
              <a:t>swapped in. To solve this problem, a distinction is made between logical addresses</a:t>
            </a:r>
          </a:p>
          <a:p>
            <a:r>
              <a:rPr lang="en-US" sz="1200" kern="1200" baseline="0" dirty="0">
                <a:solidFill>
                  <a:schemeClr val="tx1"/>
                </a:solidFill>
                <a:latin typeface="Times New Roman" pitchFamily="-110" charset="0"/>
                <a:ea typeface="+mn-ea"/>
                <a:cs typeface="+mn-cs"/>
              </a:rPr>
              <a:t>and physical addresses. A </a:t>
            </a:r>
            <a:r>
              <a:rPr lang="en-US" sz="1200" b="1" kern="1200" baseline="0" dirty="0">
                <a:solidFill>
                  <a:schemeClr val="tx1"/>
                </a:solidFill>
                <a:latin typeface="Times New Roman" pitchFamily="-110" charset="0"/>
                <a:ea typeface="+mn-ea"/>
                <a:cs typeface="+mn-cs"/>
              </a:rPr>
              <a:t>logical address </a:t>
            </a:r>
            <a:r>
              <a:rPr lang="en-US" sz="1200" b="0" kern="1200" baseline="0" dirty="0">
                <a:solidFill>
                  <a:schemeClr val="tx1"/>
                </a:solidFill>
                <a:latin typeface="Times New Roman" pitchFamily="-110" charset="0"/>
                <a:ea typeface="+mn-ea"/>
                <a:cs typeface="+mn-cs"/>
              </a:rPr>
              <a:t>is expressed as a location relative to the</a:t>
            </a:r>
          </a:p>
          <a:p>
            <a:r>
              <a:rPr lang="en-US" sz="1200" kern="1200" baseline="0" dirty="0">
                <a:solidFill>
                  <a:schemeClr val="tx1"/>
                </a:solidFill>
                <a:latin typeface="Times New Roman" pitchFamily="-110" charset="0"/>
                <a:ea typeface="+mn-ea"/>
                <a:cs typeface="+mn-cs"/>
              </a:rPr>
              <a:t>beginning of the program. Instructions in the program contain only logical addresses.</a:t>
            </a:r>
          </a:p>
          <a:p>
            <a:r>
              <a:rPr lang="en-US" sz="1200" kern="1200" baseline="0" dirty="0">
                <a:solidFill>
                  <a:schemeClr val="tx1"/>
                </a:solidFill>
                <a:latin typeface="Times New Roman" pitchFamily="-110" charset="0"/>
                <a:ea typeface="+mn-ea"/>
                <a:cs typeface="+mn-cs"/>
              </a:rPr>
              <a:t>A </a:t>
            </a:r>
            <a:r>
              <a:rPr lang="en-US" sz="1200" b="1" kern="1200" baseline="0" dirty="0">
                <a:solidFill>
                  <a:schemeClr val="tx1"/>
                </a:solidFill>
                <a:latin typeface="Times New Roman" pitchFamily="-110" charset="0"/>
                <a:ea typeface="+mn-ea"/>
                <a:cs typeface="+mn-cs"/>
              </a:rPr>
              <a:t>physical address </a:t>
            </a:r>
            <a:r>
              <a:rPr lang="en-US" sz="1200" b="0" kern="1200" baseline="0" dirty="0">
                <a:solidFill>
                  <a:schemeClr val="tx1"/>
                </a:solidFill>
                <a:latin typeface="Times New Roman" pitchFamily="-110" charset="0"/>
                <a:ea typeface="+mn-ea"/>
                <a:cs typeface="+mn-cs"/>
              </a:rPr>
              <a:t>is an actual location in main memory. When the processor executes</a:t>
            </a:r>
          </a:p>
          <a:p>
            <a:r>
              <a:rPr lang="en-US" sz="1200" kern="1200" baseline="0" dirty="0">
                <a:solidFill>
                  <a:schemeClr val="tx1"/>
                </a:solidFill>
                <a:latin typeface="Times New Roman" pitchFamily="-110" charset="0"/>
                <a:ea typeface="+mn-ea"/>
                <a:cs typeface="+mn-cs"/>
              </a:rPr>
              <a:t>a process, it automatically converts from logical to physical address by adding</a:t>
            </a:r>
          </a:p>
          <a:p>
            <a:r>
              <a:rPr lang="en-US" sz="1200" kern="1200" baseline="0" dirty="0">
                <a:solidFill>
                  <a:schemeClr val="tx1"/>
                </a:solidFill>
                <a:latin typeface="Times New Roman" pitchFamily="-110" charset="0"/>
                <a:ea typeface="+mn-ea"/>
                <a:cs typeface="+mn-cs"/>
              </a:rPr>
              <a:t>the current starting location of the process, called its </a:t>
            </a:r>
            <a:r>
              <a:rPr lang="en-US" sz="1200" b="1" kern="1200" baseline="0" dirty="0">
                <a:solidFill>
                  <a:schemeClr val="tx1"/>
                </a:solidFill>
                <a:latin typeface="Times New Roman" pitchFamily="-110" charset="0"/>
                <a:ea typeface="+mn-ea"/>
                <a:cs typeface="+mn-cs"/>
              </a:rPr>
              <a:t>base address, </a:t>
            </a:r>
            <a:r>
              <a:rPr lang="en-US" sz="1200" b="0" kern="1200" baseline="0" dirty="0">
                <a:solidFill>
                  <a:schemeClr val="tx1"/>
                </a:solidFill>
                <a:latin typeface="Times New Roman" pitchFamily="-110" charset="0"/>
                <a:ea typeface="+mn-ea"/>
                <a:cs typeface="+mn-cs"/>
              </a:rPr>
              <a:t>to each logical</a:t>
            </a:r>
          </a:p>
          <a:p>
            <a:r>
              <a:rPr lang="en-US" sz="1200" kern="1200" baseline="0" dirty="0">
                <a:solidFill>
                  <a:schemeClr val="tx1"/>
                </a:solidFill>
                <a:latin typeface="Times New Roman" pitchFamily="-110" charset="0"/>
                <a:ea typeface="+mn-ea"/>
                <a:cs typeface="+mn-cs"/>
              </a:rPr>
              <a:t>address. This is another example of a processor hardware feature designed to meet</a:t>
            </a:r>
          </a:p>
          <a:p>
            <a:r>
              <a:rPr lang="en-US" sz="1200" kern="1200" baseline="0" dirty="0">
                <a:solidFill>
                  <a:schemeClr val="tx1"/>
                </a:solidFill>
                <a:latin typeface="Times New Roman" pitchFamily="-110" charset="0"/>
                <a:ea typeface="+mn-ea"/>
                <a:cs typeface="+mn-cs"/>
              </a:rPr>
              <a:t>an OS requirement. The exact nature of this hardware feature depends on the memory</a:t>
            </a:r>
          </a:p>
          <a:p>
            <a:r>
              <a:rPr lang="en-US" sz="1200" kern="1200" baseline="0" dirty="0">
                <a:solidFill>
                  <a:schemeClr val="tx1"/>
                </a:solidFill>
                <a:latin typeface="Times New Roman" pitchFamily="-110" charset="0"/>
                <a:ea typeface="+mn-ea"/>
                <a:cs typeface="+mn-cs"/>
              </a:rPr>
              <a:t>management strategy in use. We will see several examples later in this chapter.</a:t>
            </a:r>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B23DC-2499-7F48-80FF-28CE0A05C5A4}" type="slidenum">
              <a:rPr lang="en-US"/>
              <a:pPr/>
              <a:t>34</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Both unequal fixed-size and variable-size partitions are inefficient in the use of</a:t>
            </a:r>
          </a:p>
          <a:p>
            <a:r>
              <a:rPr lang="en-US" sz="1200" kern="1200" baseline="0" dirty="0">
                <a:solidFill>
                  <a:schemeClr val="tx1"/>
                </a:solidFill>
                <a:latin typeface="Times New Roman" pitchFamily="-110" charset="0"/>
                <a:ea typeface="+mn-ea"/>
                <a:cs typeface="+mn-cs"/>
              </a:rPr>
              <a:t>memory. Suppose, however, that memory is partitioned into equal fixed-size chunks</a:t>
            </a:r>
          </a:p>
          <a:p>
            <a:r>
              <a:rPr lang="en-US" sz="1200" kern="1200" baseline="0" dirty="0">
                <a:solidFill>
                  <a:schemeClr val="tx1"/>
                </a:solidFill>
                <a:latin typeface="Times New Roman" pitchFamily="-110" charset="0"/>
                <a:ea typeface="+mn-ea"/>
                <a:cs typeface="+mn-cs"/>
              </a:rPr>
              <a:t>that are relatively small, and that each process is also divided into small fixed-size</a:t>
            </a:r>
          </a:p>
          <a:p>
            <a:r>
              <a:rPr lang="en-US" sz="1200" kern="1200" baseline="0" dirty="0">
                <a:solidFill>
                  <a:schemeClr val="tx1"/>
                </a:solidFill>
                <a:latin typeface="Times New Roman" pitchFamily="-110" charset="0"/>
                <a:ea typeface="+mn-ea"/>
                <a:cs typeface="+mn-cs"/>
              </a:rPr>
              <a:t>chunks of some size. Then the chunks of a program, known as </a:t>
            </a:r>
            <a:r>
              <a:rPr lang="en-US" sz="1200" b="1" kern="1200" baseline="0" dirty="0">
                <a:solidFill>
                  <a:schemeClr val="tx1"/>
                </a:solidFill>
                <a:latin typeface="Times New Roman" pitchFamily="-110" charset="0"/>
                <a:ea typeface="+mn-ea"/>
                <a:cs typeface="+mn-cs"/>
              </a:rPr>
              <a:t>pages, could be</a:t>
            </a:r>
          </a:p>
          <a:p>
            <a:r>
              <a:rPr lang="en-US" sz="1200" kern="1200" baseline="0" dirty="0">
                <a:solidFill>
                  <a:schemeClr val="tx1"/>
                </a:solidFill>
                <a:latin typeface="Times New Roman" pitchFamily="-110" charset="0"/>
                <a:ea typeface="+mn-ea"/>
                <a:cs typeface="+mn-cs"/>
              </a:rPr>
              <a:t>assigned to available chunks of memory, known as </a:t>
            </a:r>
            <a:r>
              <a:rPr lang="en-US" sz="1200" b="1" kern="1200" baseline="0" dirty="0">
                <a:solidFill>
                  <a:schemeClr val="tx1"/>
                </a:solidFill>
                <a:latin typeface="Times New Roman" pitchFamily="-110" charset="0"/>
                <a:ea typeface="+mn-ea"/>
                <a:cs typeface="+mn-cs"/>
              </a:rPr>
              <a:t>frames, or page frames. </a:t>
            </a:r>
            <a:r>
              <a:rPr lang="en-US" sz="1200" b="0" kern="1200" baseline="0" dirty="0">
                <a:solidFill>
                  <a:schemeClr val="tx1"/>
                </a:solidFill>
                <a:latin typeface="Times New Roman" pitchFamily="-110" charset="0"/>
                <a:ea typeface="+mn-ea"/>
                <a:cs typeface="+mn-cs"/>
              </a:rPr>
              <a:t>At most,</a:t>
            </a:r>
          </a:p>
          <a:p>
            <a:r>
              <a:rPr lang="en-US" sz="1200" kern="1200" baseline="0" dirty="0">
                <a:solidFill>
                  <a:schemeClr val="tx1"/>
                </a:solidFill>
                <a:latin typeface="Times New Roman" pitchFamily="-110" charset="0"/>
                <a:ea typeface="+mn-ea"/>
                <a:cs typeface="+mn-cs"/>
              </a:rPr>
              <a:t>then, the wasted space in memory for that process is a fraction of the last page.</a:t>
            </a:r>
          </a:p>
          <a:p>
            <a:r>
              <a:rPr lang="en-US" sz="1200" kern="1200" baseline="0" dirty="0">
                <a:solidFill>
                  <a:schemeClr val="tx1"/>
                </a:solidFill>
                <a:latin typeface="Times New Roman" pitchFamily="-110" charset="0"/>
                <a:ea typeface="+mn-ea"/>
                <a:cs typeface="+mn-cs"/>
              </a:rPr>
              <a:t>Figure 8.15 shows an example of the use of pages and frames. At a given point</a:t>
            </a:r>
          </a:p>
          <a:p>
            <a:r>
              <a:rPr lang="en-US" sz="1200" kern="1200" baseline="0" dirty="0">
                <a:solidFill>
                  <a:schemeClr val="tx1"/>
                </a:solidFill>
                <a:latin typeface="Times New Roman" pitchFamily="-110" charset="0"/>
                <a:ea typeface="+mn-ea"/>
                <a:cs typeface="+mn-cs"/>
              </a:rPr>
              <a:t>in time, some of the frames in memory are in use and some are free. The list of free</a:t>
            </a:r>
          </a:p>
          <a:p>
            <a:r>
              <a:rPr lang="en-US" sz="1200" kern="1200" baseline="0" dirty="0">
                <a:solidFill>
                  <a:schemeClr val="tx1"/>
                </a:solidFill>
                <a:latin typeface="Times New Roman" pitchFamily="-110" charset="0"/>
                <a:ea typeface="+mn-ea"/>
                <a:cs typeface="+mn-cs"/>
              </a:rPr>
              <a:t>frames is maintained by the OS. Process A, stored on disk, consists of four pages.</a:t>
            </a:r>
            <a:endParaRPr lang="en-GB" dirty="0"/>
          </a:p>
          <a:p>
            <a:r>
              <a:rPr lang="en-US" sz="1200" kern="1200" baseline="0" dirty="0">
                <a:solidFill>
                  <a:schemeClr val="tx1"/>
                </a:solidFill>
                <a:latin typeface="Times New Roman" pitchFamily="-110" charset="0"/>
                <a:ea typeface="+mn-ea"/>
                <a:cs typeface="+mn-cs"/>
              </a:rPr>
              <a:t>When it comes time to load this process, the OS finds four free frames and loads the</a:t>
            </a:r>
          </a:p>
          <a:p>
            <a:r>
              <a:rPr lang="en-US" sz="1200" kern="1200" baseline="0" dirty="0">
                <a:solidFill>
                  <a:schemeClr val="tx1"/>
                </a:solidFill>
                <a:latin typeface="Times New Roman" pitchFamily="-110" charset="0"/>
                <a:ea typeface="+mn-ea"/>
                <a:cs typeface="+mn-cs"/>
              </a:rPr>
              <a:t>four pages of the process A into the four frames.</a:t>
            </a:r>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AAEB0-6D68-B44A-8EA8-DDDE8DA4850E}" type="slidenum">
              <a:rPr lang="en-US"/>
              <a:pPr/>
              <a:t>35</a:t>
            </a:fld>
            <a:endParaRPr lang="en-US" dirty="0"/>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Now suppose, as in this example, that there are not sufficient unused contiguous</a:t>
            </a:r>
          </a:p>
          <a:p>
            <a:r>
              <a:rPr lang="en-US" sz="1200" kern="1200" baseline="0" dirty="0">
                <a:solidFill>
                  <a:schemeClr val="tx1"/>
                </a:solidFill>
                <a:latin typeface="Times New Roman" pitchFamily="-110" charset="0"/>
                <a:ea typeface="+mn-ea"/>
                <a:cs typeface="+mn-cs"/>
              </a:rPr>
              <a:t>frames to hold the process. Does this prevent the OS from loading A?</a:t>
            </a:r>
          </a:p>
          <a:p>
            <a:r>
              <a:rPr lang="en-US" sz="1200" kern="1200" baseline="0" dirty="0">
                <a:solidFill>
                  <a:schemeClr val="tx1"/>
                </a:solidFill>
                <a:latin typeface="Times New Roman" pitchFamily="-110" charset="0"/>
                <a:ea typeface="+mn-ea"/>
                <a:cs typeface="+mn-cs"/>
              </a:rPr>
              <a:t>The answer is no, because we can once again use the concept of logical address. A</a:t>
            </a:r>
          </a:p>
          <a:p>
            <a:r>
              <a:rPr lang="en-US" sz="1200" kern="1200" baseline="0" dirty="0">
                <a:solidFill>
                  <a:schemeClr val="tx1"/>
                </a:solidFill>
                <a:latin typeface="Times New Roman" pitchFamily="-110" charset="0"/>
                <a:ea typeface="+mn-ea"/>
                <a:cs typeface="+mn-cs"/>
              </a:rPr>
              <a:t>simple base address will no longer suffice. Rather, the OS maintains a </a:t>
            </a:r>
            <a:r>
              <a:rPr lang="en-US" sz="1200" b="1" kern="1200" baseline="0" dirty="0">
                <a:solidFill>
                  <a:schemeClr val="tx1"/>
                </a:solidFill>
                <a:latin typeface="Times New Roman" pitchFamily="-110" charset="0"/>
                <a:ea typeface="+mn-ea"/>
                <a:cs typeface="+mn-cs"/>
              </a:rPr>
              <a:t>page table</a:t>
            </a:r>
          </a:p>
          <a:p>
            <a:r>
              <a:rPr lang="en-US" sz="1200" kern="1200" baseline="0" dirty="0">
                <a:solidFill>
                  <a:schemeClr val="tx1"/>
                </a:solidFill>
                <a:latin typeface="Times New Roman" pitchFamily="-110" charset="0"/>
                <a:ea typeface="+mn-ea"/>
                <a:cs typeface="+mn-cs"/>
              </a:rPr>
              <a:t>for each process. The page table shows the frame location for each page of the</a:t>
            </a:r>
          </a:p>
          <a:p>
            <a:r>
              <a:rPr lang="en-US" sz="1200" kern="1200" baseline="0" dirty="0">
                <a:solidFill>
                  <a:schemeClr val="tx1"/>
                </a:solidFill>
                <a:latin typeface="Times New Roman" pitchFamily="-110" charset="0"/>
                <a:ea typeface="+mn-ea"/>
                <a:cs typeface="+mn-cs"/>
              </a:rPr>
              <a:t>process. Within the program, each logical address consists of a page number and</a:t>
            </a:r>
          </a:p>
          <a:p>
            <a:r>
              <a:rPr lang="en-US" sz="1200" kern="1200" baseline="0" dirty="0">
                <a:solidFill>
                  <a:schemeClr val="tx1"/>
                </a:solidFill>
                <a:latin typeface="Times New Roman" pitchFamily="-110" charset="0"/>
                <a:ea typeface="+mn-ea"/>
                <a:cs typeface="+mn-cs"/>
              </a:rPr>
              <a:t>a relative address within the page. Recall that in the case of simple partitioning, a</a:t>
            </a:r>
          </a:p>
          <a:p>
            <a:r>
              <a:rPr lang="en-US" sz="1200" kern="1200" baseline="0" dirty="0">
                <a:solidFill>
                  <a:schemeClr val="tx1"/>
                </a:solidFill>
                <a:latin typeface="Times New Roman" pitchFamily="-110" charset="0"/>
                <a:ea typeface="+mn-ea"/>
                <a:cs typeface="+mn-cs"/>
              </a:rPr>
              <a:t>logical address is the location of a word relative to the beginning of the program;</a:t>
            </a:r>
          </a:p>
          <a:p>
            <a:r>
              <a:rPr lang="en-US" sz="1200" kern="1200" baseline="0" dirty="0">
                <a:solidFill>
                  <a:schemeClr val="tx1"/>
                </a:solidFill>
                <a:latin typeface="Times New Roman" pitchFamily="-110" charset="0"/>
                <a:ea typeface="+mn-ea"/>
                <a:cs typeface="+mn-cs"/>
              </a:rPr>
              <a:t>the processor translates that into a physical address. With paging, the logical-to-</a:t>
            </a:r>
          </a:p>
          <a:p>
            <a:r>
              <a:rPr lang="en-US" sz="1200" kern="1200" baseline="0" dirty="0">
                <a:solidFill>
                  <a:schemeClr val="tx1"/>
                </a:solidFill>
                <a:latin typeface="Times New Roman" pitchFamily="-110" charset="0"/>
                <a:ea typeface="+mn-ea"/>
                <a:cs typeface="+mn-cs"/>
              </a:rPr>
              <a:t>physical address translation is still done by processor hardware. The processor</a:t>
            </a:r>
          </a:p>
          <a:p>
            <a:r>
              <a:rPr lang="en-US" sz="1200" kern="1200" baseline="0" dirty="0">
                <a:solidFill>
                  <a:schemeClr val="tx1"/>
                </a:solidFill>
                <a:latin typeface="Times New Roman" pitchFamily="-110" charset="0"/>
                <a:ea typeface="+mn-ea"/>
                <a:cs typeface="+mn-cs"/>
              </a:rPr>
              <a:t>must know how to access the page table of the current process. Presented with a</a:t>
            </a:r>
          </a:p>
          <a:p>
            <a:r>
              <a:rPr lang="en-US" sz="1200" kern="1200" baseline="0" dirty="0">
                <a:solidFill>
                  <a:schemeClr val="tx1"/>
                </a:solidFill>
                <a:latin typeface="Times New Roman" pitchFamily="-110" charset="0"/>
                <a:ea typeface="+mn-ea"/>
                <a:cs typeface="+mn-cs"/>
              </a:rPr>
              <a:t>logical address (page number, relative address), the processor uses the page table</a:t>
            </a:r>
          </a:p>
          <a:p>
            <a:r>
              <a:rPr lang="en-US" sz="1200" kern="1200" baseline="0" dirty="0">
                <a:solidFill>
                  <a:schemeClr val="tx1"/>
                </a:solidFill>
                <a:latin typeface="Times New Roman" pitchFamily="-110" charset="0"/>
                <a:ea typeface="+mn-ea"/>
                <a:cs typeface="+mn-cs"/>
              </a:rPr>
              <a:t>to produce a physical address (frame number, relative address). An example is</a:t>
            </a:r>
          </a:p>
          <a:p>
            <a:r>
              <a:rPr lang="en-US" sz="1200" kern="1200" baseline="0" dirty="0">
                <a:solidFill>
                  <a:schemeClr val="tx1"/>
                </a:solidFill>
                <a:latin typeface="Times New Roman" pitchFamily="-110" charset="0"/>
                <a:ea typeface="+mn-ea"/>
                <a:cs typeface="+mn-cs"/>
              </a:rPr>
              <a:t>shown in Figure 8.16.</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approach solves the problems raised earlier. Main memory is divided</a:t>
            </a:r>
          </a:p>
          <a:p>
            <a:r>
              <a:rPr lang="en-US" sz="1200" kern="1200" baseline="0" dirty="0">
                <a:solidFill>
                  <a:schemeClr val="tx1"/>
                </a:solidFill>
                <a:latin typeface="Times New Roman" pitchFamily="-110" charset="0"/>
                <a:ea typeface="+mn-ea"/>
                <a:cs typeface="+mn-cs"/>
              </a:rPr>
              <a:t>into many small equal-size frames. Each process is divided into frame-size pages:</a:t>
            </a:r>
          </a:p>
          <a:p>
            <a:r>
              <a:rPr lang="en-US" sz="1200" kern="1200" baseline="0" dirty="0">
                <a:solidFill>
                  <a:schemeClr val="tx1"/>
                </a:solidFill>
                <a:latin typeface="Times New Roman" pitchFamily="-110" charset="0"/>
                <a:ea typeface="+mn-ea"/>
                <a:cs typeface="+mn-cs"/>
              </a:rPr>
              <a:t>smaller processes require fewer pages, larger processes require more. When a</a:t>
            </a:r>
          </a:p>
          <a:p>
            <a:r>
              <a:rPr lang="en-US" sz="1200" kern="1200" baseline="0" dirty="0">
                <a:solidFill>
                  <a:schemeClr val="tx1"/>
                </a:solidFill>
                <a:latin typeface="Times New Roman" pitchFamily="-110" charset="0"/>
                <a:ea typeface="+mn-ea"/>
                <a:cs typeface="+mn-cs"/>
              </a:rPr>
              <a:t>process is brought in, its pages are loaded into available frames, and a page table</a:t>
            </a:r>
          </a:p>
          <a:p>
            <a:r>
              <a:rPr lang="en-US" sz="1200" kern="1200" baseline="0" dirty="0">
                <a:solidFill>
                  <a:schemeClr val="tx1"/>
                </a:solidFill>
                <a:latin typeface="Times New Roman" pitchFamily="-110" charset="0"/>
                <a:ea typeface="+mn-ea"/>
                <a:cs typeface="+mn-cs"/>
              </a:rPr>
              <a:t>is set up.</a:t>
            </a:r>
            <a:endParaRPr lang="en-GB"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A70F0F-8DD2-CD4E-9204-018B7F98FA47}" type="slidenum">
              <a:rPr lang="en-US"/>
              <a:pPr/>
              <a:t>36</a:t>
            </a:fld>
            <a:endParaRPr lang="en-US" dirty="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With the use of paging, truly effective multiprogramming</a:t>
            </a:r>
          </a:p>
          <a:p>
            <a:r>
              <a:rPr lang="en-US" sz="1200" kern="1200" baseline="0" dirty="0">
                <a:solidFill>
                  <a:schemeClr val="tx1"/>
                </a:solidFill>
                <a:latin typeface="Times New Roman" pitchFamily="-110" charset="0"/>
                <a:ea typeface="+mn-ea"/>
                <a:cs typeface="+mn-cs"/>
              </a:rPr>
              <a:t>systems came into being. Furthermore, the simple tactic of breaking a process up</a:t>
            </a:r>
          </a:p>
          <a:p>
            <a:r>
              <a:rPr lang="en-US" sz="1200" kern="1200" baseline="0" dirty="0">
                <a:solidFill>
                  <a:schemeClr val="tx1"/>
                </a:solidFill>
                <a:latin typeface="Times New Roman" pitchFamily="-110" charset="0"/>
                <a:ea typeface="+mn-ea"/>
                <a:cs typeface="+mn-cs"/>
              </a:rPr>
              <a:t>into pages led to the development of another important concept: virtual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virtual memory, we must add a refinement to the paging</a:t>
            </a:r>
          </a:p>
          <a:p>
            <a:r>
              <a:rPr lang="en-US" sz="1200" kern="1200" baseline="0" dirty="0">
                <a:solidFill>
                  <a:schemeClr val="tx1"/>
                </a:solidFill>
                <a:latin typeface="Times New Roman" pitchFamily="-110" charset="0"/>
                <a:ea typeface="+mn-ea"/>
                <a:cs typeface="+mn-cs"/>
              </a:rPr>
              <a:t>scheme just discussed. That refinement is </a:t>
            </a:r>
            <a:r>
              <a:rPr lang="en-US" sz="1200" b="1" kern="1200" baseline="0" dirty="0">
                <a:solidFill>
                  <a:schemeClr val="tx1"/>
                </a:solidFill>
                <a:latin typeface="Times New Roman" pitchFamily="-110" charset="0"/>
                <a:ea typeface="+mn-ea"/>
                <a:cs typeface="+mn-cs"/>
              </a:rPr>
              <a:t>demand paging, </a:t>
            </a:r>
            <a:r>
              <a:rPr lang="en-US" sz="1200" b="0" kern="1200" baseline="0" dirty="0">
                <a:solidFill>
                  <a:schemeClr val="tx1"/>
                </a:solidFill>
                <a:latin typeface="Times New Roman" pitchFamily="-110" charset="0"/>
                <a:ea typeface="+mn-ea"/>
                <a:cs typeface="+mn-cs"/>
              </a:rPr>
              <a:t>which simply means that</a:t>
            </a:r>
          </a:p>
          <a:p>
            <a:r>
              <a:rPr lang="en-US" sz="1200" kern="1200" baseline="0" dirty="0">
                <a:solidFill>
                  <a:schemeClr val="tx1"/>
                </a:solidFill>
                <a:latin typeface="Times New Roman" pitchFamily="-110" charset="0"/>
                <a:ea typeface="+mn-ea"/>
                <a:cs typeface="+mn-cs"/>
              </a:rPr>
              <a:t>each page of a process is brought in only when it is needed, that is, on demand.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Consider a large process, consisting of a long program plus a number of arrays</a:t>
            </a:r>
          </a:p>
          <a:p>
            <a:r>
              <a:rPr lang="en-US" sz="1200" kern="1200" baseline="0" dirty="0">
                <a:solidFill>
                  <a:schemeClr val="tx1"/>
                </a:solidFill>
                <a:latin typeface="Times New Roman" pitchFamily="-110" charset="0"/>
                <a:ea typeface="+mn-ea"/>
                <a:cs typeface="+mn-cs"/>
              </a:rPr>
              <a:t>of data. Over any short period of time, execution may be confined to a small section</a:t>
            </a:r>
          </a:p>
          <a:p>
            <a:r>
              <a:rPr lang="en-US" sz="1200" kern="1200" baseline="0" dirty="0">
                <a:solidFill>
                  <a:schemeClr val="tx1"/>
                </a:solidFill>
                <a:latin typeface="Times New Roman" pitchFamily="-110" charset="0"/>
                <a:ea typeface="+mn-ea"/>
                <a:cs typeface="+mn-cs"/>
              </a:rPr>
              <a:t>of the program (e.g., a subroutine), and perhaps only one or two arrays of data</a:t>
            </a:r>
          </a:p>
          <a:p>
            <a:r>
              <a:rPr lang="en-US" sz="1200" kern="1200" baseline="0" dirty="0">
                <a:solidFill>
                  <a:schemeClr val="tx1"/>
                </a:solidFill>
                <a:latin typeface="Times New Roman" pitchFamily="-110" charset="0"/>
                <a:ea typeface="+mn-ea"/>
                <a:cs typeface="+mn-cs"/>
              </a:rPr>
              <a:t>are being used. This is the principle of locality, which we introduced in Appendix</a:t>
            </a:r>
          </a:p>
          <a:p>
            <a:r>
              <a:rPr lang="en-US" sz="1200" kern="1200" baseline="0" dirty="0">
                <a:solidFill>
                  <a:schemeClr val="tx1"/>
                </a:solidFill>
                <a:latin typeface="Times New Roman" pitchFamily="-110" charset="0"/>
                <a:ea typeface="+mn-ea"/>
                <a:cs typeface="+mn-cs"/>
              </a:rPr>
              <a:t>4A. It would clearly be wasteful to load in dozens of pages for that process when</a:t>
            </a:r>
          </a:p>
          <a:p>
            <a:r>
              <a:rPr lang="en-US" sz="1200" kern="1200" baseline="0" dirty="0">
                <a:solidFill>
                  <a:schemeClr val="tx1"/>
                </a:solidFill>
                <a:latin typeface="Times New Roman" pitchFamily="-110" charset="0"/>
                <a:ea typeface="+mn-ea"/>
                <a:cs typeface="+mn-cs"/>
              </a:rPr>
              <a:t>only a few pages will be used before the program is suspended. We can make better</a:t>
            </a:r>
          </a:p>
          <a:p>
            <a:r>
              <a:rPr lang="en-US" sz="1200" kern="1200" baseline="0" dirty="0">
                <a:solidFill>
                  <a:schemeClr val="tx1"/>
                </a:solidFill>
                <a:latin typeface="Times New Roman" pitchFamily="-110" charset="0"/>
                <a:ea typeface="+mn-ea"/>
                <a:cs typeface="+mn-cs"/>
              </a:rPr>
              <a:t>use of memory by loading in just a few pages. Then, if the program branches</a:t>
            </a:r>
          </a:p>
          <a:p>
            <a:r>
              <a:rPr lang="en-US" sz="1200" kern="1200" baseline="0" dirty="0">
                <a:solidFill>
                  <a:schemeClr val="tx1"/>
                </a:solidFill>
                <a:latin typeface="Times New Roman" pitchFamily="-110" charset="0"/>
                <a:ea typeface="+mn-ea"/>
                <a:cs typeface="+mn-cs"/>
              </a:rPr>
              <a:t>to an instruction on a page not in main memory, or if the program references data</a:t>
            </a:r>
          </a:p>
          <a:p>
            <a:r>
              <a:rPr lang="en-US" sz="1200" kern="1200" baseline="0" dirty="0">
                <a:solidFill>
                  <a:schemeClr val="tx1"/>
                </a:solidFill>
                <a:latin typeface="Times New Roman" pitchFamily="-110" charset="0"/>
                <a:ea typeface="+mn-ea"/>
                <a:cs typeface="+mn-cs"/>
              </a:rPr>
              <a:t>on a page not in memory, a </a:t>
            </a:r>
            <a:r>
              <a:rPr lang="en-US" sz="1200" b="1" kern="1200" baseline="0" dirty="0">
                <a:solidFill>
                  <a:schemeClr val="tx1"/>
                </a:solidFill>
                <a:latin typeface="Times New Roman" pitchFamily="-110" charset="0"/>
                <a:ea typeface="+mn-ea"/>
                <a:cs typeface="+mn-cs"/>
              </a:rPr>
              <a:t>page fault </a:t>
            </a:r>
            <a:r>
              <a:rPr lang="en-US" sz="1200" b="0" kern="1200" baseline="0" dirty="0">
                <a:solidFill>
                  <a:schemeClr val="tx1"/>
                </a:solidFill>
                <a:latin typeface="Times New Roman" pitchFamily="-110" charset="0"/>
                <a:ea typeface="+mn-ea"/>
                <a:cs typeface="+mn-cs"/>
              </a:rPr>
              <a:t>is triggered. This tells the OS to bring in the</a:t>
            </a:r>
          </a:p>
          <a:p>
            <a:r>
              <a:rPr lang="en-US" sz="1200" kern="1200" baseline="0" dirty="0">
                <a:solidFill>
                  <a:schemeClr val="tx1"/>
                </a:solidFill>
                <a:latin typeface="Times New Roman" pitchFamily="-110" charset="0"/>
                <a:ea typeface="+mn-ea"/>
                <a:cs typeface="+mn-cs"/>
              </a:rPr>
              <a:t>desired page.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Thus, at any one time, only a few pages of any given process are in memory,</a:t>
            </a:r>
          </a:p>
          <a:p>
            <a:r>
              <a:rPr lang="en-US" sz="1200" kern="1200" baseline="0" dirty="0">
                <a:solidFill>
                  <a:schemeClr val="tx1"/>
                </a:solidFill>
                <a:latin typeface="Times New Roman" pitchFamily="-110" charset="0"/>
                <a:ea typeface="+mn-ea"/>
                <a:cs typeface="+mn-cs"/>
              </a:rPr>
              <a:t>and therefore more processes can be maintained in memory. Furthermore, time is</a:t>
            </a:r>
          </a:p>
          <a:p>
            <a:r>
              <a:rPr lang="en-US" sz="1200" kern="1200" baseline="0" dirty="0">
                <a:solidFill>
                  <a:schemeClr val="tx1"/>
                </a:solidFill>
                <a:latin typeface="Times New Roman" pitchFamily="-110" charset="0"/>
                <a:ea typeface="+mn-ea"/>
                <a:cs typeface="+mn-cs"/>
              </a:rPr>
              <a:t>saved because unused pages are not swapped in and out of memory. However, the</a:t>
            </a:r>
          </a:p>
          <a:p>
            <a:r>
              <a:rPr lang="en-US" sz="1200" kern="1200" baseline="0" dirty="0">
                <a:solidFill>
                  <a:schemeClr val="tx1"/>
                </a:solidFill>
                <a:latin typeface="Times New Roman" pitchFamily="-110" charset="0"/>
                <a:ea typeface="+mn-ea"/>
                <a:cs typeface="+mn-cs"/>
              </a:rPr>
              <a:t>OS must be clever about how it manages this scheme. When it brings one page in, it</a:t>
            </a:r>
          </a:p>
          <a:p>
            <a:r>
              <a:rPr lang="en-US" sz="1200" kern="1200" baseline="0" dirty="0">
                <a:solidFill>
                  <a:schemeClr val="tx1"/>
                </a:solidFill>
                <a:latin typeface="Times New Roman" pitchFamily="-110" charset="0"/>
                <a:ea typeface="+mn-ea"/>
                <a:cs typeface="+mn-cs"/>
              </a:rPr>
              <a:t>must throw another page out; this is known as </a:t>
            </a:r>
            <a:r>
              <a:rPr lang="en-US" sz="1200" b="1" kern="1200" baseline="0" dirty="0">
                <a:solidFill>
                  <a:schemeClr val="tx1"/>
                </a:solidFill>
                <a:latin typeface="Times New Roman" pitchFamily="-110" charset="0"/>
                <a:ea typeface="+mn-ea"/>
                <a:cs typeface="+mn-cs"/>
              </a:rPr>
              <a:t>page replacement. </a:t>
            </a:r>
            <a:r>
              <a:rPr lang="en-US" sz="1200" b="0" kern="1200" baseline="0" dirty="0">
                <a:solidFill>
                  <a:schemeClr val="tx1"/>
                </a:solidFill>
                <a:latin typeface="Times New Roman" pitchFamily="-110" charset="0"/>
                <a:ea typeface="+mn-ea"/>
                <a:cs typeface="+mn-cs"/>
              </a:rPr>
              <a:t>If it throws out a</a:t>
            </a:r>
          </a:p>
          <a:p>
            <a:r>
              <a:rPr lang="en-US" sz="1200" kern="1200" baseline="0" dirty="0">
                <a:solidFill>
                  <a:schemeClr val="tx1"/>
                </a:solidFill>
                <a:latin typeface="Times New Roman" pitchFamily="-110" charset="0"/>
                <a:ea typeface="+mn-ea"/>
                <a:cs typeface="+mn-cs"/>
              </a:rPr>
              <a:t>page just before it is about to be used, then it will just have to go get that page again</a:t>
            </a:r>
          </a:p>
          <a:p>
            <a:r>
              <a:rPr lang="en-US" sz="1200" kern="1200" baseline="0" dirty="0">
                <a:solidFill>
                  <a:schemeClr val="tx1"/>
                </a:solidFill>
                <a:latin typeface="Times New Roman" pitchFamily="-110" charset="0"/>
                <a:ea typeface="+mn-ea"/>
                <a:cs typeface="+mn-cs"/>
              </a:rPr>
              <a:t>almost immediately. Too much of this leads to a condition known as </a:t>
            </a:r>
            <a:r>
              <a:rPr lang="en-US" sz="1200" b="1" kern="1200" baseline="0" dirty="0">
                <a:solidFill>
                  <a:schemeClr val="tx1"/>
                </a:solidFill>
                <a:latin typeface="Times New Roman" pitchFamily="-110" charset="0"/>
                <a:ea typeface="+mn-ea"/>
                <a:cs typeface="+mn-cs"/>
              </a:rPr>
              <a:t>thrashing: </a:t>
            </a:r>
            <a:r>
              <a:rPr lang="en-US" sz="1200" b="0" kern="1200" baseline="0" dirty="0">
                <a:solidFill>
                  <a:schemeClr val="tx1"/>
                </a:solidFill>
                <a:latin typeface="Times New Roman" pitchFamily="-110" charset="0"/>
                <a:ea typeface="+mn-ea"/>
                <a:cs typeface="+mn-cs"/>
              </a:rPr>
              <a:t>the</a:t>
            </a:r>
          </a:p>
          <a:p>
            <a:r>
              <a:rPr lang="en-US" sz="1200" kern="1200" baseline="0" dirty="0">
                <a:solidFill>
                  <a:schemeClr val="tx1"/>
                </a:solidFill>
                <a:latin typeface="Times New Roman" pitchFamily="-110" charset="0"/>
                <a:ea typeface="+mn-ea"/>
                <a:cs typeface="+mn-cs"/>
              </a:rPr>
              <a:t>processor spends most of its time swapping pages rather than executing instructions.</a:t>
            </a:r>
          </a:p>
          <a:p>
            <a:r>
              <a:rPr lang="en-US" sz="1200" kern="1200" baseline="0" dirty="0">
                <a:solidFill>
                  <a:schemeClr val="tx1"/>
                </a:solidFill>
                <a:latin typeface="Times New Roman" pitchFamily="-110" charset="0"/>
                <a:ea typeface="+mn-ea"/>
                <a:cs typeface="+mn-cs"/>
              </a:rPr>
              <a:t>The avoidance of thrashing was a major research area in the 1970s and led to a variety</a:t>
            </a:r>
          </a:p>
          <a:p>
            <a:r>
              <a:rPr lang="en-US" sz="1200" kern="1200" baseline="0" dirty="0">
                <a:solidFill>
                  <a:schemeClr val="tx1"/>
                </a:solidFill>
                <a:latin typeface="Times New Roman" pitchFamily="-110" charset="0"/>
                <a:ea typeface="+mn-ea"/>
                <a:cs typeface="+mn-cs"/>
              </a:rPr>
              <a:t>of complex but effective algorithms. In essence, the OS tries to guess, based on</a:t>
            </a:r>
          </a:p>
          <a:p>
            <a:r>
              <a:rPr lang="en-US" sz="1200" kern="1200" baseline="0" dirty="0">
                <a:solidFill>
                  <a:schemeClr val="tx1"/>
                </a:solidFill>
                <a:latin typeface="Times New Roman" pitchFamily="-110" charset="0"/>
                <a:ea typeface="+mn-ea"/>
                <a:cs typeface="+mn-cs"/>
              </a:rPr>
              <a:t>recent history, which pages are least likely to be used in the near future.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demand paging, it is not necessary to load an entire process into main</a:t>
            </a:r>
          </a:p>
          <a:p>
            <a:r>
              <a:rPr lang="en-US" sz="1200" kern="1200" baseline="0" dirty="0">
                <a:solidFill>
                  <a:schemeClr val="tx1"/>
                </a:solidFill>
                <a:latin typeface="Times New Roman" pitchFamily="-110" charset="0"/>
                <a:ea typeface="+mn-ea"/>
                <a:cs typeface="+mn-cs"/>
              </a:rPr>
              <a:t>memory. This fact has a remarkable consequence: </a:t>
            </a:r>
            <a:r>
              <a:rPr lang="en-US" sz="1200" i="1" kern="1200" baseline="0" dirty="0">
                <a:solidFill>
                  <a:schemeClr val="tx1"/>
                </a:solidFill>
                <a:latin typeface="Times New Roman" pitchFamily="-110" charset="0"/>
                <a:ea typeface="+mn-ea"/>
                <a:cs typeface="+mn-cs"/>
              </a:rPr>
              <a:t>It is possible for a process to be</a:t>
            </a:r>
          </a:p>
          <a:p>
            <a:r>
              <a:rPr lang="en-US" sz="1200" i="1" kern="1200" baseline="0" dirty="0">
                <a:solidFill>
                  <a:schemeClr val="tx1"/>
                </a:solidFill>
                <a:latin typeface="Times New Roman" pitchFamily="-110" charset="0"/>
                <a:ea typeface="+mn-ea"/>
                <a:cs typeface="+mn-cs"/>
              </a:rPr>
              <a:t>larger than all of main memory. </a:t>
            </a:r>
            <a:r>
              <a:rPr lang="en-US" sz="1200" i="0" kern="1200" baseline="0" dirty="0">
                <a:solidFill>
                  <a:schemeClr val="tx1"/>
                </a:solidFill>
                <a:latin typeface="Times New Roman" pitchFamily="-110" charset="0"/>
                <a:ea typeface="+mn-ea"/>
                <a:cs typeface="+mn-cs"/>
              </a:rPr>
              <a:t>One of the most fundamental restrictions in programming</a:t>
            </a:r>
          </a:p>
          <a:p>
            <a:r>
              <a:rPr lang="en-US" sz="1200" kern="1200" baseline="0" dirty="0">
                <a:solidFill>
                  <a:schemeClr val="tx1"/>
                </a:solidFill>
                <a:latin typeface="Times New Roman" pitchFamily="-110" charset="0"/>
                <a:ea typeface="+mn-ea"/>
                <a:cs typeface="+mn-cs"/>
              </a:rPr>
              <a:t>has been lifted. Without demand paging, a programmer must be acutely</a:t>
            </a:r>
          </a:p>
          <a:p>
            <a:r>
              <a:rPr lang="en-US" sz="1200" kern="1200" baseline="0" dirty="0">
                <a:solidFill>
                  <a:schemeClr val="tx1"/>
                </a:solidFill>
                <a:latin typeface="Times New Roman" pitchFamily="-110" charset="0"/>
                <a:ea typeface="+mn-ea"/>
                <a:cs typeface="+mn-cs"/>
              </a:rPr>
              <a:t>aware of how much memory is available. If the program being written is too large,</a:t>
            </a:r>
          </a:p>
          <a:p>
            <a:r>
              <a:rPr lang="en-US" sz="1200" kern="1200" baseline="0" dirty="0">
                <a:solidFill>
                  <a:schemeClr val="tx1"/>
                </a:solidFill>
                <a:latin typeface="Times New Roman" pitchFamily="-110" charset="0"/>
                <a:ea typeface="+mn-ea"/>
                <a:cs typeface="+mn-cs"/>
              </a:rPr>
              <a:t>the programmer must devise ways to structure the program into pieces that can</a:t>
            </a:r>
          </a:p>
          <a:p>
            <a:r>
              <a:rPr lang="en-US" sz="1200" kern="1200" baseline="0" dirty="0">
                <a:solidFill>
                  <a:schemeClr val="tx1"/>
                </a:solidFill>
                <a:latin typeface="Times New Roman" pitchFamily="-110" charset="0"/>
                <a:ea typeface="+mn-ea"/>
                <a:cs typeface="+mn-cs"/>
              </a:rPr>
              <a:t>be loaded one at a time. With demand paging, that job is left to the OS and the</a:t>
            </a:r>
          </a:p>
          <a:p>
            <a:r>
              <a:rPr lang="en-US" sz="1200" kern="1200" baseline="0" dirty="0">
                <a:solidFill>
                  <a:schemeClr val="tx1"/>
                </a:solidFill>
                <a:latin typeface="Times New Roman" pitchFamily="-110" charset="0"/>
                <a:ea typeface="+mn-ea"/>
                <a:cs typeface="+mn-cs"/>
              </a:rPr>
              <a:t>hardware. As far as the programmer is concerned, he or she is dealing with a huge</a:t>
            </a:r>
          </a:p>
          <a:p>
            <a:r>
              <a:rPr lang="en-US" sz="1200" kern="1200" baseline="0" dirty="0">
                <a:solidFill>
                  <a:schemeClr val="tx1"/>
                </a:solidFill>
                <a:latin typeface="Times New Roman" pitchFamily="-110" charset="0"/>
                <a:ea typeface="+mn-ea"/>
                <a:cs typeface="+mn-cs"/>
              </a:rPr>
              <a:t>memory, the size associated with disk storage.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Because a process executes only in main memory, that memory is referred to</a:t>
            </a:r>
          </a:p>
          <a:p>
            <a:r>
              <a:rPr lang="en-US" sz="1200" kern="1200" baseline="0" dirty="0">
                <a:solidFill>
                  <a:schemeClr val="tx1"/>
                </a:solidFill>
                <a:latin typeface="Times New Roman" pitchFamily="-110" charset="0"/>
                <a:ea typeface="+mn-ea"/>
                <a:cs typeface="+mn-cs"/>
              </a:rPr>
              <a:t>as </a:t>
            </a:r>
            <a:r>
              <a:rPr lang="en-US" sz="1200" b="1" kern="1200" baseline="0" dirty="0">
                <a:solidFill>
                  <a:schemeClr val="tx1"/>
                </a:solidFill>
                <a:latin typeface="Times New Roman" pitchFamily="-110" charset="0"/>
                <a:ea typeface="+mn-ea"/>
                <a:cs typeface="+mn-cs"/>
              </a:rPr>
              <a:t>real memory. </a:t>
            </a:r>
            <a:r>
              <a:rPr lang="en-US" sz="1200" b="0" kern="1200" baseline="0" dirty="0">
                <a:solidFill>
                  <a:schemeClr val="tx1"/>
                </a:solidFill>
                <a:latin typeface="Times New Roman" pitchFamily="-110" charset="0"/>
                <a:ea typeface="+mn-ea"/>
                <a:cs typeface="+mn-cs"/>
              </a:rPr>
              <a:t>But a programmer or user perceives a much larger memory—that</a:t>
            </a:r>
          </a:p>
          <a:p>
            <a:r>
              <a:rPr lang="en-US" sz="1200" kern="1200" baseline="0" dirty="0">
                <a:solidFill>
                  <a:schemeClr val="tx1"/>
                </a:solidFill>
                <a:latin typeface="Times New Roman" pitchFamily="-110" charset="0"/>
                <a:ea typeface="+mn-ea"/>
                <a:cs typeface="+mn-cs"/>
              </a:rPr>
              <a:t>which is allocated on the disk. This latter is therefore referred to as </a:t>
            </a:r>
            <a:r>
              <a:rPr lang="en-US" sz="1200" b="1" kern="1200" baseline="0" dirty="0">
                <a:solidFill>
                  <a:schemeClr val="tx1"/>
                </a:solidFill>
                <a:latin typeface="Times New Roman" pitchFamily="-110" charset="0"/>
                <a:ea typeface="+mn-ea"/>
                <a:cs typeface="+mn-cs"/>
              </a:rPr>
              <a:t>virtual memory.</a:t>
            </a:r>
          </a:p>
          <a:p>
            <a:r>
              <a:rPr lang="en-US" sz="1200" kern="1200" baseline="0" dirty="0">
                <a:solidFill>
                  <a:schemeClr val="tx1"/>
                </a:solidFill>
                <a:latin typeface="Times New Roman" pitchFamily="-110" charset="0"/>
                <a:ea typeface="+mn-ea"/>
                <a:cs typeface="+mn-cs"/>
              </a:rPr>
              <a:t>Virtual memory allows for very effective multiprogramming and relieves the user of</a:t>
            </a:r>
          </a:p>
          <a:p>
            <a:r>
              <a:rPr lang="en-US" sz="1200" kern="1200" baseline="0" dirty="0">
                <a:solidFill>
                  <a:schemeClr val="tx1"/>
                </a:solidFill>
                <a:latin typeface="Times New Roman" pitchFamily="-110" charset="0"/>
                <a:ea typeface="+mn-ea"/>
                <a:cs typeface="+mn-cs"/>
              </a:rPr>
              <a:t>the unnecessarily tight constraints of main memory.</a:t>
            </a:r>
            <a:endParaRPr lang="en-GB"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A70F0F-8DD2-CD4E-9204-018B7F98FA47}" type="slidenum">
              <a:rPr lang="en-US"/>
              <a:pPr/>
              <a:t>37</a:t>
            </a:fld>
            <a:endParaRPr lang="en-US" dirty="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With the use of paging, truly effective multiprogramming</a:t>
            </a:r>
          </a:p>
          <a:p>
            <a:r>
              <a:rPr lang="en-US" sz="1200" kern="1200" baseline="0" dirty="0">
                <a:solidFill>
                  <a:schemeClr val="tx1"/>
                </a:solidFill>
                <a:latin typeface="Times New Roman" pitchFamily="-110" charset="0"/>
                <a:ea typeface="+mn-ea"/>
                <a:cs typeface="+mn-cs"/>
              </a:rPr>
              <a:t>systems came into being. Furthermore, the simple tactic of breaking a process up</a:t>
            </a:r>
          </a:p>
          <a:p>
            <a:r>
              <a:rPr lang="en-US" sz="1200" kern="1200" baseline="0" dirty="0">
                <a:solidFill>
                  <a:schemeClr val="tx1"/>
                </a:solidFill>
                <a:latin typeface="Times New Roman" pitchFamily="-110" charset="0"/>
                <a:ea typeface="+mn-ea"/>
                <a:cs typeface="+mn-cs"/>
              </a:rPr>
              <a:t>into pages led to the development of another important concept: virtual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To understand virtual memory, we must add a refinement to the paging</a:t>
            </a:r>
          </a:p>
          <a:p>
            <a:r>
              <a:rPr lang="en-US" sz="1200" kern="1200" baseline="0" dirty="0">
                <a:solidFill>
                  <a:schemeClr val="tx1"/>
                </a:solidFill>
                <a:latin typeface="Times New Roman" pitchFamily="-110" charset="0"/>
                <a:ea typeface="+mn-ea"/>
                <a:cs typeface="+mn-cs"/>
              </a:rPr>
              <a:t>scheme just discussed. That refinement is </a:t>
            </a:r>
            <a:r>
              <a:rPr lang="en-US" sz="1200" b="1" kern="1200" baseline="0" dirty="0">
                <a:solidFill>
                  <a:schemeClr val="tx1"/>
                </a:solidFill>
                <a:latin typeface="Times New Roman" pitchFamily="-110" charset="0"/>
                <a:ea typeface="+mn-ea"/>
                <a:cs typeface="+mn-cs"/>
              </a:rPr>
              <a:t>demand paging, </a:t>
            </a:r>
            <a:r>
              <a:rPr lang="en-US" sz="1200" b="0" kern="1200" baseline="0" dirty="0">
                <a:solidFill>
                  <a:schemeClr val="tx1"/>
                </a:solidFill>
                <a:latin typeface="Times New Roman" pitchFamily="-110" charset="0"/>
                <a:ea typeface="+mn-ea"/>
                <a:cs typeface="+mn-cs"/>
              </a:rPr>
              <a:t>which simply means that</a:t>
            </a:r>
          </a:p>
          <a:p>
            <a:r>
              <a:rPr lang="en-US" sz="1200" kern="1200" baseline="0" dirty="0">
                <a:solidFill>
                  <a:schemeClr val="tx1"/>
                </a:solidFill>
                <a:latin typeface="Times New Roman" pitchFamily="-110" charset="0"/>
                <a:ea typeface="+mn-ea"/>
                <a:cs typeface="+mn-cs"/>
              </a:rPr>
              <a:t>each page of a process is brought in only when it is needed, that is, on demand.</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Consider a large process, consisting of a long program plus a number of arrays</a:t>
            </a:r>
          </a:p>
          <a:p>
            <a:r>
              <a:rPr lang="en-US" sz="1200" kern="1200" baseline="0" dirty="0">
                <a:solidFill>
                  <a:schemeClr val="tx1"/>
                </a:solidFill>
                <a:latin typeface="Times New Roman" pitchFamily="-110" charset="0"/>
                <a:ea typeface="+mn-ea"/>
                <a:cs typeface="+mn-cs"/>
              </a:rPr>
              <a:t>of data. Over any short period of time, execution may be confined to a small section</a:t>
            </a:r>
          </a:p>
          <a:p>
            <a:r>
              <a:rPr lang="en-US" sz="1200" kern="1200" baseline="0" dirty="0">
                <a:solidFill>
                  <a:schemeClr val="tx1"/>
                </a:solidFill>
                <a:latin typeface="Times New Roman" pitchFamily="-110" charset="0"/>
                <a:ea typeface="+mn-ea"/>
                <a:cs typeface="+mn-cs"/>
              </a:rPr>
              <a:t>of the program (e.g., a subroutine), and perhaps only one or two arrays of data</a:t>
            </a:r>
          </a:p>
          <a:p>
            <a:r>
              <a:rPr lang="en-US" sz="1200" kern="1200" baseline="0" dirty="0">
                <a:solidFill>
                  <a:schemeClr val="tx1"/>
                </a:solidFill>
                <a:latin typeface="Times New Roman" pitchFamily="-110" charset="0"/>
                <a:ea typeface="+mn-ea"/>
                <a:cs typeface="+mn-cs"/>
              </a:rPr>
              <a:t>are being used. This is the principle of locality, which we introduced in Appendix</a:t>
            </a:r>
          </a:p>
          <a:p>
            <a:r>
              <a:rPr lang="en-US" sz="1200" kern="1200" baseline="0" dirty="0">
                <a:solidFill>
                  <a:schemeClr val="tx1"/>
                </a:solidFill>
                <a:latin typeface="Times New Roman" pitchFamily="-110" charset="0"/>
                <a:ea typeface="+mn-ea"/>
                <a:cs typeface="+mn-cs"/>
              </a:rPr>
              <a:t>4A. It would clearly be wasteful to load in dozens of pages for that process when</a:t>
            </a:r>
          </a:p>
          <a:p>
            <a:r>
              <a:rPr lang="en-US" sz="1200" kern="1200" baseline="0" dirty="0">
                <a:solidFill>
                  <a:schemeClr val="tx1"/>
                </a:solidFill>
                <a:latin typeface="Times New Roman" pitchFamily="-110" charset="0"/>
                <a:ea typeface="+mn-ea"/>
                <a:cs typeface="+mn-cs"/>
              </a:rPr>
              <a:t>only a few pages will be used before the program is suspended. We can make better</a:t>
            </a:r>
          </a:p>
          <a:p>
            <a:r>
              <a:rPr lang="en-US" sz="1200" kern="1200" baseline="0" dirty="0">
                <a:solidFill>
                  <a:schemeClr val="tx1"/>
                </a:solidFill>
                <a:latin typeface="Times New Roman" pitchFamily="-110" charset="0"/>
                <a:ea typeface="+mn-ea"/>
                <a:cs typeface="+mn-cs"/>
              </a:rPr>
              <a:t>use of memory by loading in just a few pages. Then, if the program branches</a:t>
            </a:r>
          </a:p>
          <a:p>
            <a:r>
              <a:rPr lang="en-US" sz="1200" kern="1200" baseline="0" dirty="0">
                <a:solidFill>
                  <a:schemeClr val="tx1"/>
                </a:solidFill>
                <a:latin typeface="Times New Roman" pitchFamily="-110" charset="0"/>
                <a:ea typeface="+mn-ea"/>
                <a:cs typeface="+mn-cs"/>
              </a:rPr>
              <a:t>to an instruction on a page not in main memory, or if the program references data</a:t>
            </a:r>
          </a:p>
          <a:p>
            <a:r>
              <a:rPr lang="en-US" sz="1200" kern="1200" baseline="0" dirty="0">
                <a:solidFill>
                  <a:schemeClr val="tx1"/>
                </a:solidFill>
                <a:latin typeface="Times New Roman" pitchFamily="-110" charset="0"/>
                <a:ea typeface="+mn-ea"/>
                <a:cs typeface="+mn-cs"/>
              </a:rPr>
              <a:t>on a page not in memory, a </a:t>
            </a:r>
            <a:r>
              <a:rPr lang="en-US" sz="1200" b="1" kern="1200" baseline="0" dirty="0">
                <a:solidFill>
                  <a:schemeClr val="tx1"/>
                </a:solidFill>
                <a:latin typeface="Times New Roman" pitchFamily="-110" charset="0"/>
                <a:ea typeface="+mn-ea"/>
                <a:cs typeface="+mn-cs"/>
              </a:rPr>
              <a:t>page fault </a:t>
            </a:r>
            <a:r>
              <a:rPr lang="en-US" sz="1200" b="0" kern="1200" baseline="0" dirty="0">
                <a:solidFill>
                  <a:schemeClr val="tx1"/>
                </a:solidFill>
                <a:latin typeface="Times New Roman" pitchFamily="-110" charset="0"/>
                <a:ea typeface="+mn-ea"/>
                <a:cs typeface="+mn-cs"/>
              </a:rPr>
              <a:t>is triggered. This tells the OS to bring in the</a:t>
            </a:r>
          </a:p>
          <a:p>
            <a:r>
              <a:rPr lang="en-US" sz="1200" kern="1200" baseline="0" dirty="0">
                <a:solidFill>
                  <a:schemeClr val="tx1"/>
                </a:solidFill>
                <a:latin typeface="Times New Roman" pitchFamily="-110" charset="0"/>
                <a:ea typeface="+mn-ea"/>
                <a:cs typeface="+mn-cs"/>
              </a:rPr>
              <a:t>desired page.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Thus, at any one time, only a few pages of any given process are in memory,</a:t>
            </a:r>
          </a:p>
          <a:p>
            <a:r>
              <a:rPr lang="en-US" sz="1200" kern="1200" baseline="0" dirty="0">
                <a:solidFill>
                  <a:schemeClr val="tx1"/>
                </a:solidFill>
                <a:latin typeface="Times New Roman" pitchFamily="-110" charset="0"/>
                <a:ea typeface="+mn-ea"/>
                <a:cs typeface="+mn-cs"/>
              </a:rPr>
              <a:t>and therefore more processes can be maintained in memory. Furthermore, time is</a:t>
            </a:r>
          </a:p>
          <a:p>
            <a:r>
              <a:rPr lang="en-US" sz="1200" kern="1200" baseline="0" dirty="0">
                <a:solidFill>
                  <a:schemeClr val="tx1"/>
                </a:solidFill>
                <a:latin typeface="Times New Roman" pitchFamily="-110" charset="0"/>
                <a:ea typeface="+mn-ea"/>
                <a:cs typeface="+mn-cs"/>
              </a:rPr>
              <a:t>saved because unused pages are not swapped in and out of memory. However, the</a:t>
            </a:r>
          </a:p>
          <a:p>
            <a:r>
              <a:rPr lang="en-US" sz="1200" kern="1200" baseline="0" dirty="0">
                <a:solidFill>
                  <a:schemeClr val="tx1"/>
                </a:solidFill>
                <a:latin typeface="Times New Roman" pitchFamily="-110" charset="0"/>
                <a:ea typeface="+mn-ea"/>
                <a:cs typeface="+mn-cs"/>
              </a:rPr>
              <a:t>OS must be clever about how it manages this scheme. When it brings one page in, it</a:t>
            </a:r>
          </a:p>
          <a:p>
            <a:r>
              <a:rPr lang="en-US" sz="1200" kern="1200" baseline="0" dirty="0">
                <a:solidFill>
                  <a:schemeClr val="tx1"/>
                </a:solidFill>
                <a:latin typeface="Times New Roman" pitchFamily="-110" charset="0"/>
                <a:ea typeface="+mn-ea"/>
                <a:cs typeface="+mn-cs"/>
              </a:rPr>
              <a:t>must throw another page out; this is known as </a:t>
            </a:r>
            <a:r>
              <a:rPr lang="en-US" sz="1200" b="1" kern="1200" baseline="0" dirty="0">
                <a:solidFill>
                  <a:schemeClr val="tx1"/>
                </a:solidFill>
                <a:latin typeface="Times New Roman" pitchFamily="-110" charset="0"/>
                <a:ea typeface="+mn-ea"/>
                <a:cs typeface="+mn-cs"/>
              </a:rPr>
              <a:t>page replacement. </a:t>
            </a:r>
            <a:r>
              <a:rPr lang="en-US" sz="1200" b="0" kern="1200" baseline="0" dirty="0">
                <a:solidFill>
                  <a:schemeClr val="tx1"/>
                </a:solidFill>
                <a:latin typeface="Times New Roman" pitchFamily="-110" charset="0"/>
                <a:ea typeface="+mn-ea"/>
                <a:cs typeface="+mn-cs"/>
              </a:rPr>
              <a:t>If it throws out a</a:t>
            </a:r>
          </a:p>
          <a:p>
            <a:r>
              <a:rPr lang="en-US" sz="1200" kern="1200" baseline="0" dirty="0">
                <a:solidFill>
                  <a:schemeClr val="tx1"/>
                </a:solidFill>
                <a:latin typeface="Times New Roman" pitchFamily="-110" charset="0"/>
                <a:ea typeface="+mn-ea"/>
                <a:cs typeface="+mn-cs"/>
              </a:rPr>
              <a:t>page just before it is about to be used, then it will just have to go get that page again</a:t>
            </a:r>
          </a:p>
          <a:p>
            <a:r>
              <a:rPr lang="en-US" sz="1200" kern="1200" baseline="0" dirty="0">
                <a:solidFill>
                  <a:schemeClr val="tx1"/>
                </a:solidFill>
                <a:latin typeface="Times New Roman" pitchFamily="-110" charset="0"/>
                <a:ea typeface="+mn-ea"/>
                <a:cs typeface="+mn-cs"/>
              </a:rPr>
              <a:t>almost immediately. Too much of this leads to a condition known as </a:t>
            </a:r>
            <a:r>
              <a:rPr lang="en-US" sz="1200" b="1" kern="1200" baseline="0" dirty="0">
                <a:solidFill>
                  <a:schemeClr val="tx1"/>
                </a:solidFill>
                <a:latin typeface="Times New Roman" pitchFamily="-110" charset="0"/>
                <a:ea typeface="+mn-ea"/>
                <a:cs typeface="+mn-cs"/>
              </a:rPr>
              <a:t>thrashing: </a:t>
            </a:r>
            <a:r>
              <a:rPr lang="en-US" sz="1200" b="0" kern="1200" baseline="0" dirty="0">
                <a:solidFill>
                  <a:schemeClr val="tx1"/>
                </a:solidFill>
                <a:latin typeface="Times New Roman" pitchFamily="-110" charset="0"/>
                <a:ea typeface="+mn-ea"/>
                <a:cs typeface="+mn-cs"/>
              </a:rPr>
              <a:t>the</a:t>
            </a:r>
          </a:p>
          <a:p>
            <a:r>
              <a:rPr lang="en-US" sz="1200" kern="1200" baseline="0" dirty="0">
                <a:solidFill>
                  <a:schemeClr val="tx1"/>
                </a:solidFill>
                <a:latin typeface="Times New Roman" pitchFamily="-110" charset="0"/>
                <a:ea typeface="+mn-ea"/>
                <a:cs typeface="+mn-cs"/>
              </a:rPr>
              <a:t>processor spends most of its time swapping pages rather than executing instructions.</a:t>
            </a:r>
          </a:p>
          <a:p>
            <a:r>
              <a:rPr lang="en-US" sz="1200" kern="1200" baseline="0" dirty="0">
                <a:solidFill>
                  <a:schemeClr val="tx1"/>
                </a:solidFill>
                <a:latin typeface="Times New Roman" pitchFamily="-110" charset="0"/>
                <a:ea typeface="+mn-ea"/>
                <a:cs typeface="+mn-cs"/>
              </a:rPr>
              <a:t>The avoidance of thrashing was a major research area in the 1970s and led to a variety</a:t>
            </a:r>
          </a:p>
          <a:p>
            <a:r>
              <a:rPr lang="en-US" sz="1200" kern="1200" baseline="0" dirty="0">
                <a:solidFill>
                  <a:schemeClr val="tx1"/>
                </a:solidFill>
                <a:latin typeface="Times New Roman" pitchFamily="-110" charset="0"/>
                <a:ea typeface="+mn-ea"/>
                <a:cs typeface="+mn-cs"/>
              </a:rPr>
              <a:t>of complex but effective algorithms. In essence, the OS tries to guess, based on</a:t>
            </a:r>
          </a:p>
          <a:p>
            <a:r>
              <a:rPr lang="en-US" sz="1200" kern="1200" baseline="0" dirty="0">
                <a:solidFill>
                  <a:schemeClr val="tx1"/>
                </a:solidFill>
                <a:latin typeface="Times New Roman" pitchFamily="-110" charset="0"/>
                <a:ea typeface="+mn-ea"/>
                <a:cs typeface="+mn-cs"/>
              </a:rPr>
              <a:t>recent history, which pages are least likely to be used in the near future.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With demand paging, it is not necessary to load an entire process into main</a:t>
            </a:r>
          </a:p>
          <a:p>
            <a:r>
              <a:rPr lang="en-US" sz="1200" kern="1200" baseline="0" dirty="0">
                <a:solidFill>
                  <a:schemeClr val="tx1"/>
                </a:solidFill>
                <a:latin typeface="Times New Roman" pitchFamily="-110" charset="0"/>
                <a:ea typeface="+mn-ea"/>
                <a:cs typeface="+mn-cs"/>
              </a:rPr>
              <a:t>memory. This fact has a remarkable consequence: </a:t>
            </a:r>
            <a:r>
              <a:rPr lang="en-US" sz="1200" i="1" kern="1200" baseline="0" dirty="0">
                <a:solidFill>
                  <a:schemeClr val="tx1"/>
                </a:solidFill>
                <a:latin typeface="Times New Roman" pitchFamily="-110" charset="0"/>
                <a:ea typeface="+mn-ea"/>
                <a:cs typeface="+mn-cs"/>
              </a:rPr>
              <a:t>It is possible for a process to be</a:t>
            </a:r>
          </a:p>
          <a:p>
            <a:r>
              <a:rPr lang="en-US" sz="1200" i="1" kern="1200" baseline="0" dirty="0">
                <a:solidFill>
                  <a:schemeClr val="tx1"/>
                </a:solidFill>
                <a:latin typeface="Times New Roman" pitchFamily="-110" charset="0"/>
                <a:ea typeface="+mn-ea"/>
                <a:cs typeface="+mn-cs"/>
              </a:rPr>
              <a:t>larger than all of main memory. </a:t>
            </a:r>
            <a:r>
              <a:rPr lang="en-US" sz="1200" i="0" kern="1200" baseline="0" dirty="0">
                <a:solidFill>
                  <a:schemeClr val="tx1"/>
                </a:solidFill>
                <a:latin typeface="Times New Roman" pitchFamily="-110" charset="0"/>
                <a:ea typeface="+mn-ea"/>
                <a:cs typeface="+mn-cs"/>
              </a:rPr>
              <a:t>One of the most fundamental restrictions in programming</a:t>
            </a:r>
          </a:p>
          <a:p>
            <a:r>
              <a:rPr lang="en-US" sz="1200" kern="1200" baseline="0" dirty="0">
                <a:solidFill>
                  <a:schemeClr val="tx1"/>
                </a:solidFill>
                <a:latin typeface="Times New Roman" pitchFamily="-110" charset="0"/>
                <a:ea typeface="+mn-ea"/>
                <a:cs typeface="+mn-cs"/>
              </a:rPr>
              <a:t>has been lifted. Without demand paging, a programmer must be acutely</a:t>
            </a:r>
          </a:p>
          <a:p>
            <a:r>
              <a:rPr lang="en-US" sz="1200" kern="1200" baseline="0" dirty="0">
                <a:solidFill>
                  <a:schemeClr val="tx1"/>
                </a:solidFill>
                <a:latin typeface="Times New Roman" pitchFamily="-110" charset="0"/>
                <a:ea typeface="+mn-ea"/>
                <a:cs typeface="+mn-cs"/>
              </a:rPr>
              <a:t>aware of how much memory is available. If the program being written is too large,</a:t>
            </a:r>
          </a:p>
          <a:p>
            <a:r>
              <a:rPr lang="en-US" sz="1200" kern="1200" baseline="0" dirty="0">
                <a:solidFill>
                  <a:schemeClr val="tx1"/>
                </a:solidFill>
                <a:latin typeface="Times New Roman" pitchFamily="-110" charset="0"/>
                <a:ea typeface="+mn-ea"/>
                <a:cs typeface="+mn-cs"/>
              </a:rPr>
              <a:t>the programmer must devise ways to structure the program into pieces that can</a:t>
            </a:r>
          </a:p>
          <a:p>
            <a:r>
              <a:rPr lang="en-US" sz="1200" kern="1200" baseline="0" dirty="0">
                <a:solidFill>
                  <a:schemeClr val="tx1"/>
                </a:solidFill>
                <a:latin typeface="Times New Roman" pitchFamily="-110" charset="0"/>
                <a:ea typeface="+mn-ea"/>
                <a:cs typeface="+mn-cs"/>
              </a:rPr>
              <a:t>be loaded one at a time. With demand paging, that job is left to the OS and the</a:t>
            </a:r>
          </a:p>
          <a:p>
            <a:r>
              <a:rPr lang="en-US" sz="1200" kern="1200" baseline="0" dirty="0">
                <a:solidFill>
                  <a:schemeClr val="tx1"/>
                </a:solidFill>
                <a:latin typeface="Times New Roman" pitchFamily="-110" charset="0"/>
                <a:ea typeface="+mn-ea"/>
                <a:cs typeface="+mn-cs"/>
              </a:rPr>
              <a:t>hardware. As far as the programmer is concerned, he or she is dealing with a huge</a:t>
            </a:r>
          </a:p>
          <a:p>
            <a:r>
              <a:rPr lang="en-US" sz="1200" kern="1200" baseline="0" dirty="0">
                <a:solidFill>
                  <a:schemeClr val="tx1"/>
                </a:solidFill>
                <a:latin typeface="Times New Roman" pitchFamily="-110" charset="0"/>
                <a:ea typeface="+mn-ea"/>
                <a:cs typeface="+mn-cs"/>
              </a:rPr>
              <a:t>memory, the size associated with disk storage.</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Because a process executes only in main memory, that memory is referred to</a:t>
            </a:r>
          </a:p>
          <a:p>
            <a:r>
              <a:rPr lang="en-US" sz="1200" kern="1200" baseline="0" dirty="0">
                <a:solidFill>
                  <a:schemeClr val="tx1"/>
                </a:solidFill>
                <a:latin typeface="Times New Roman" pitchFamily="-110" charset="0"/>
                <a:ea typeface="+mn-ea"/>
                <a:cs typeface="+mn-cs"/>
              </a:rPr>
              <a:t>as </a:t>
            </a:r>
            <a:r>
              <a:rPr lang="en-US" sz="1200" b="1" kern="1200" baseline="0" dirty="0">
                <a:solidFill>
                  <a:schemeClr val="tx1"/>
                </a:solidFill>
                <a:latin typeface="Times New Roman" pitchFamily="-110" charset="0"/>
                <a:ea typeface="+mn-ea"/>
                <a:cs typeface="+mn-cs"/>
              </a:rPr>
              <a:t>real memory. </a:t>
            </a:r>
            <a:r>
              <a:rPr lang="en-US" sz="1200" b="0" kern="1200" baseline="0" dirty="0">
                <a:solidFill>
                  <a:schemeClr val="tx1"/>
                </a:solidFill>
                <a:latin typeface="Times New Roman" pitchFamily="-110" charset="0"/>
                <a:ea typeface="+mn-ea"/>
                <a:cs typeface="+mn-cs"/>
              </a:rPr>
              <a:t>But a programmer or user perceives a much larger memory—that</a:t>
            </a:r>
          </a:p>
          <a:p>
            <a:r>
              <a:rPr lang="en-US" sz="1200" kern="1200" baseline="0" dirty="0">
                <a:solidFill>
                  <a:schemeClr val="tx1"/>
                </a:solidFill>
                <a:latin typeface="Times New Roman" pitchFamily="-110" charset="0"/>
                <a:ea typeface="+mn-ea"/>
                <a:cs typeface="+mn-cs"/>
              </a:rPr>
              <a:t>which is allocated on the disk. This latter is therefore referred to as </a:t>
            </a:r>
            <a:r>
              <a:rPr lang="en-US" sz="1200" b="1" kern="1200" baseline="0" dirty="0">
                <a:solidFill>
                  <a:schemeClr val="tx1"/>
                </a:solidFill>
                <a:latin typeface="Times New Roman" pitchFamily="-110" charset="0"/>
                <a:ea typeface="+mn-ea"/>
                <a:cs typeface="+mn-cs"/>
              </a:rPr>
              <a:t>virtual memory.</a:t>
            </a:r>
          </a:p>
          <a:p>
            <a:r>
              <a:rPr lang="en-US" sz="1200" kern="1200" baseline="0" dirty="0">
                <a:solidFill>
                  <a:schemeClr val="tx1"/>
                </a:solidFill>
                <a:latin typeface="Times New Roman" pitchFamily="-110" charset="0"/>
                <a:ea typeface="+mn-ea"/>
                <a:cs typeface="+mn-cs"/>
              </a:rPr>
              <a:t>Virtual memory allows for very effective multiprogramming and relieves the user of</a:t>
            </a:r>
          </a:p>
          <a:p>
            <a:r>
              <a:rPr lang="en-US" sz="1200" kern="1200" baseline="0" dirty="0">
                <a:solidFill>
                  <a:schemeClr val="tx1"/>
                </a:solidFill>
                <a:latin typeface="Times New Roman" pitchFamily="-110" charset="0"/>
                <a:ea typeface="+mn-ea"/>
                <a:cs typeface="+mn-cs"/>
              </a:rPr>
              <a:t>the unnecessarily tight constraints of main memory.</a:t>
            </a:r>
            <a:endParaRPr lang="en-GB"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51552A-EF79-CE48-9B2E-D1EA5888C827}" type="slidenum">
              <a:rPr lang="en-US"/>
              <a:pPr/>
              <a:t>38</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 basic mechanism for reading a word from memory</a:t>
            </a:r>
          </a:p>
          <a:p>
            <a:r>
              <a:rPr lang="en-US" sz="1200" kern="1200" baseline="0" dirty="0">
                <a:solidFill>
                  <a:schemeClr val="tx1"/>
                </a:solidFill>
                <a:latin typeface="Times New Roman" pitchFamily="-110" charset="0"/>
                <a:ea typeface="+mn-ea"/>
                <a:cs typeface="+mn-cs"/>
              </a:rPr>
              <a:t>involves the translation of a virtual, or logical, address, consisting of page number</a:t>
            </a:r>
          </a:p>
          <a:p>
            <a:r>
              <a:rPr lang="en-US" sz="1200" kern="1200" baseline="0" dirty="0">
                <a:solidFill>
                  <a:schemeClr val="tx1"/>
                </a:solidFill>
                <a:latin typeface="Times New Roman" pitchFamily="-110" charset="0"/>
                <a:ea typeface="+mn-ea"/>
                <a:cs typeface="+mn-cs"/>
              </a:rPr>
              <a:t>and offset, into a physical address, consisting of frame number and offset, using a</a:t>
            </a:r>
          </a:p>
          <a:p>
            <a:r>
              <a:rPr lang="en-US" sz="1200" kern="1200" baseline="0" dirty="0">
                <a:solidFill>
                  <a:schemeClr val="tx1"/>
                </a:solidFill>
                <a:latin typeface="Times New Roman" pitchFamily="-110" charset="0"/>
                <a:ea typeface="+mn-ea"/>
                <a:cs typeface="+mn-cs"/>
              </a:rPr>
              <a:t>page table. Because the page table is of variable length, depending on the size of the</a:t>
            </a:r>
          </a:p>
          <a:p>
            <a:r>
              <a:rPr lang="en-US" sz="1200" kern="1200" baseline="0" dirty="0">
                <a:solidFill>
                  <a:schemeClr val="tx1"/>
                </a:solidFill>
                <a:latin typeface="Times New Roman" pitchFamily="-110" charset="0"/>
                <a:ea typeface="+mn-ea"/>
                <a:cs typeface="+mn-cs"/>
              </a:rPr>
              <a:t>process, we cannot expect to hold it in registers. Instead, it must be in main memory</a:t>
            </a:r>
          </a:p>
          <a:p>
            <a:r>
              <a:rPr lang="en-US" sz="1200" kern="1200" baseline="0" dirty="0">
                <a:solidFill>
                  <a:schemeClr val="tx1"/>
                </a:solidFill>
                <a:latin typeface="Times New Roman" pitchFamily="-110" charset="0"/>
                <a:ea typeface="+mn-ea"/>
                <a:cs typeface="+mn-cs"/>
              </a:rPr>
              <a:t>to be accessed. Figure 8.16 suggests a hardware implementation of this scheme.</a:t>
            </a:r>
          </a:p>
          <a:p>
            <a:r>
              <a:rPr lang="en-US" sz="1200" kern="1200" baseline="0" dirty="0">
                <a:solidFill>
                  <a:schemeClr val="tx1"/>
                </a:solidFill>
                <a:latin typeface="Times New Roman" pitchFamily="-110" charset="0"/>
                <a:ea typeface="+mn-ea"/>
                <a:cs typeface="+mn-cs"/>
              </a:rPr>
              <a:t>When a particular process is running, a register holds the starting address of the</a:t>
            </a:r>
          </a:p>
          <a:p>
            <a:r>
              <a:rPr lang="en-US" sz="1200" kern="1200" baseline="0" dirty="0">
                <a:solidFill>
                  <a:schemeClr val="tx1"/>
                </a:solidFill>
                <a:latin typeface="Times New Roman" pitchFamily="-110" charset="0"/>
                <a:ea typeface="+mn-ea"/>
                <a:cs typeface="+mn-cs"/>
              </a:rPr>
              <a:t>page table for that process. The page number of a virtual address is used to index</a:t>
            </a:r>
          </a:p>
          <a:p>
            <a:r>
              <a:rPr lang="en-US" sz="1200" kern="1200" baseline="0" dirty="0">
                <a:solidFill>
                  <a:schemeClr val="tx1"/>
                </a:solidFill>
                <a:latin typeface="Times New Roman" pitchFamily="-110" charset="0"/>
                <a:ea typeface="+mn-ea"/>
                <a:cs typeface="+mn-cs"/>
              </a:rPr>
              <a:t>that table and look up the corresponding frame number. This is combined with the</a:t>
            </a:r>
          </a:p>
          <a:p>
            <a:r>
              <a:rPr lang="en-US" sz="1200" kern="1200" baseline="0" dirty="0">
                <a:solidFill>
                  <a:schemeClr val="tx1"/>
                </a:solidFill>
                <a:latin typeface="Times New Roman" pitchFamily="-110" charset="0"/>
                <a:ea typeface="+mn-ea"/>
                <a:cs typeface="+mn-cs"/>
              </a:rPr>
              <a:t>offset portion of the virtual address to produce the desired real address.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In most systems, there is one page table per process. But each process can</a:t>
            </a:r>
          </a:p>
          <a:p>
            <a:r>
              <a:rPr lang="en-US" sz="1200" kern="1200" baseline="0" dirty="0">
                <a:solidFill>
                  <a:schemeClr val="tx1"/>
                </a:solidFill>
                <a:latin typeface="Times New Roman" pitchFamily="-110" charset="0"/>
                <a:ea typeface="+mn-ea"/>
                <a:cs typeface="+mn-cs"/>
              </a:rPr>
              <a:t>occupy huge amounts of virtual memory. For example, in the VAX architecture,</a:t>
            </a:r>
          </a:p>
          <a:p>
            <a:r>
              <a:rPr lang="en-US" sz="1200" kern="1200" baseline="0" dirty="0">
                <a:solidFill>
                  <a:schemeClr val="tx1"/>
                </a:solidFill>
                <a:latin typeface="Times New Roman" pitchFamily="-110" charset="0"/>
                <a:ea typeface="+mn-ea"/>
                <a:cs typeface="+mn-cs"/>
              </a:rPr>
              <a:t>each process can have up to 2</a:t>
            </a:r>
            <a:r>
              <a:rPr lang="en-US" sz="1200" kern="1200" baseline="30000" dirty="0">
                <a:solidFill>
                  <a:schemeClr val="tx1"/>
                </a:solidFill>
                <a:latin typeface="Times New Roman" pitchFamily="-110" charset="0"/>
                <a:ea typeface="+mn-ea"/>
                <a:cs typeface="+mn-cs"/>
              </a:rPr>
              <a:t>31</a:t>
            </a:r>
            <a:r>
              <a:rPr lang="en-US" sz="1200" kern="1200" baseline="0" dirty="0">
                <a:solidFill>
                  <a:schemeClr val="tx1"/>
                </a:solidFill>
                <a:latin typeface="Times New Roman" pitchFamily="-110" charset="0"/>
                <a:ea typeface="+mn-ea"/>
                <a:cs typeface="+mn-cs"/>
              </a:rPr>
              <a:t> = 2 Gbytes of virtual memory. Using 2</a:t>
            </a:r>
            <a:r>
              <a:rPr lang="en-US" sz="1200" kern="1200" baseline="30000" dirty="0">
                <a:solidFill>
                  <a:schemeClr val="tx1"/>
                </a:solidFill>
                <a:latin typeface="Times New Roman" pitchFamily="-110" charset="0"/>
                <a:ea typeface="+mn-ea"/>
                <a:cs typeface="+mn-cs"/>
              </a:rPr>
              <a:t>9</a:t>
            </a:r>
            <a:r>
              <a:rPr lang="en-US" sz="1200" kern="1200" baseline="0" dirty="0">
                <a:solidFill>
                  <a:schemeClr val="tx1"/>
                </a:solidFill>
                <a:latin typeface="Times New Roman" pitchFamily="-110" charset="0"/>
                <a:ea typeface="+mn-ea"/>
                <a:cs typeface="+mn-cs"/>
              </a:rPr>
              <a:t> = 512-byte</a:t>
            </a:r>
          </a:p>
          <a:p>
            <a:r>
              <a:rPr lang="en-US" sz="1200" kern="1200" baseline="0" dirty="0">
                <a:solidFill>
                  <a:schemeClr val="tx1"/>
                </a:solidFill>
                <a:latin typeface="Times New Roman" pitchFamily="-110" charset="0"/>
                <a:ea typeface="+mn-ea"/>
                <a:cs typeface="+mn-cs"/>
              </a:rPr>
              <a:t>pages, that means that as many as 2</a:t>
            </a:r>
            <a:r>
              <a:rPr lang="en-US" sz="1200" kern="1200" baseline="30000" dirty="0">
                <a:solidFill>
                  <a:schemeClr val="tx1"/>
                </a:solidFill>
                <a:latin typeface="Times New Roman" pitchFamily="-110" charset="0"/>
                <a:ea typeface="+mn-ea"/>
                <a:cs typeface="+mn-cs"/>
              </a:rPr>
              <a:t>22</a:t>
            </a:r>
            <a:r>
              <a:rPr lang="en-US" sz="1200" kern="1200" baseline="0" dirty="0">
                <a:solidFill>
                  <a:schemeClr val="tx1"/>
                </a:solidFill>
                <a:latin typeface="Times New Roman" pitchFamily="-110" charset="0"/>
                <a:ea typeface="+mn-ea"/>
                <a:cs typeface="+mn-cs"/>
              </a:rPr>
              <a:t> page table entries are required </a:t>
            </a:r>
            <a:r>
              <a:rPr lang="en-US" sz="1200" i="1" kern="1200" baseline="0" dirty="0">
                <a:solidFill>
                  <a:schemeClr val="tx1"/>
                </a:solidFill>
                <a:latin typeface="Times New Roman" pitchFamily="-110" charset="0"/>
                <a:ea typeface="+mn-ea"/>
                <a:cs typeface="+mn-cs"/>
              </a:rPr>
              <a:t>per process.</a:t>
            </a:r>
          </a:p>
          <a:p>
            <a:r>
              <a:rPr lang="en-US" sz="1200" kern="1200" baseline="0" dirty="0">
                <a:solidFill>
                  <a:schemeClr val="tx1"/>
                </a:solidFill>
                <a:latin typeface="Times New Roman" pitchFamily="-110" charset="0"/>
                <a:ea typeface="+mn-ea"/>
                <a:cs typeface="+mn-cs"/>
              </a:rPr>
              <a:t>Clearly, the amount of memory devoted to page tables alone could be unacceptably</a:t>
            </a:r>
          </a:p>
          <a:p>
            <a:r>
              <a:rPr lang="en-US" sz="1200" kern="1200" baseline="0" dirty="0">
                <a:solidFill>
                  <a:schemeClr val="tx1"/>
                </a:solidFill>
                <a:latin typeface="Times New Roman" pitchFamily="-110" charset="0"/>
                <a:ea typeface="+mn-ea"/>
                <a:cs typeface="+mn-cs"/>
              </a:rPr>
              <a:t>high. To overcome this problem, most virtual memory schemes store page tables in</a:t>
            </a:r>
          </a:p>
          <a:p>
            <a:r>
              <a:rPr lang="en-US" sz="1200" kern="1200" baseline="0" dirty="0">
                <a:solidFill>
                  <a:schemeClr val="tx1"/>
                </a:solidFill>
                <a:latin typeface="Times New Roman" pitchFamily="-110" charset="0"/>
                <a:ea typeface="+mn-ea"/>
                <a:cs typeface="+mn-cs"/>
              </a:rPr>
              <a:t>virtual memory rather than real memory. This means that page tables are subject to</a:t>
            </a:r>
          </a:p>
          <a:p>
            <a:r>
              <a:rPr lang="en-US" sz="1200" kern="1200" baseline="0" dirty="0">
                <a:solidFill>
                  <a:schemeClr val="tx1"/>
                </a:solidFill>
                <a:latin typeface="Times New Roman" pitchFamily="-110" charset="0"/>
                <a:ea typeface="+mn-ea"/>
                <a:cs typeface="+mn-cs"/>
              </a:rPr>
              <a:t>paging just as other pages are. When a process is running, at least a part of its page</a:t>
            </a:r>
          </a:p>
          <a:p>
            <a:r>
              <a:rPr lang="en-US" sz="1200" kern="1200" baseline="0" dirty="0">
                <a:solidFill>
                  <a:schemeClr val="tx1"/>
                </a:solidFill>
                <a:latin typeface="Times New Roman" pitchFamily="-110" charset="0"/>
                <a:ea typeface="+mn-ea"/>
                <a:cs typeface="+mn-cs"/>
              </a:rPr>
              <a:t>table must be in main memory, including the page table entry of the currently executing</a:t>
            </a:r>
          </a:p>
          <a:p>
            <a:r>
              <a:rPr lang="en-US" sz="1200" kern="1200" baseline="0" dirty="0">
                <a:solidFill>
                  <a:schemeClr val="tx1"/>
                </a:solidFill>
                <a:latin typeface="Times New Roman" pitchFamily="-110" charset="0"/>
                <a:ea typeface="+mn-ea"/>
                <a:cs typeface="+mn-cs"/>
              </a:rPr>
              <a:t>page. Some processors make use of a two-level scheme to organize large page</a:t>
            </a:r>
          </a:p>
          <a:p>
            <a:r>
              <a:rPr lang="en-US" sz="1200" kern="1200" baseline="0" dirty="0">
                <a:solidFill>
                  <a:schemeClr val="tx1"/>
                </a:solidFill>
                <a:latin typeface="Times New Roman" pitchFamily="-110" charset="0"/>
                <a:ea typeface="+mn-ea"/>
                <a:cs typeface="+mn-cs"/>
              </a:rPr>
              <a:t>tables. In this scheme, there is a page directory, in which each entry points to a page</a:t>
            </a:r>
          </a:p>
          <a:p>
            <a:r>
              <a:rPr lang="en-US" sz="1200" kern="1200" baseline="0" dirty="0">
                <a:solidFill>
                  <a:schemeClr val="tx1"/>
                </a:solidFill>
                <a:latin typeface="Times New Roman" pitchFamily="-110" charset="0"/>
                <a:ea typeface="+mn-ea"/>
                <a:cs typeface="+mn-cs"/>
              </a:rPr>
              <a:t>table. Thus, if the length of the page directory is </a:t>
            </a:r>
            <a:r>
              <a:rPr lang="en-US" sz="1200" i="1" kern="1200" baseline="0" dirty="0">
                <a:solidFill>
                  <a:schemeClr val="tx1"/>
                </a:solidFill>
                <a:latin typeface="Times New Roman" pitchFamily="-110" charset="0"/>
                <a:ea typeface="+mn-ea"/>
                <a:cs typeface="+mn-cs"/>
              </a:rPr>
              <a:t>X, </a:t>
            </a:r>
            <a:r>
              <a:rPr lang="en-US" sz="1200" i="0" kern="1200" baseline="0" dirty="0">
                <a:solidFill>
                  <a:schemeClr val="tx1"/>
                </a:solidFill>
                <a:latin typeface="Times New Roman" pitchFamily="-110" charset="0"/>
                <a:ea typeface="+mn-ea"/>
                <a:cs typeface="+mn-cs"/>
              </a:rPr>
              <a:t>and if the maximum length of a</a:t>
            </a:r>
          </a:p>
          <a:p>
            <a:r>
              <a:rPr lang="en-US" sz="1200" kern="1200" baseline="0" dirty="0">
                <a:solidFill>
                  <a:schemeClr val="tx1"/>
                </a:solidFill>
                <a:latin typeface="Times New Roman" pitchFamily="-110" charset="0"/>
                <a:ea typeface="+mn-ea"/>
                <a:cs typeface="+mn-cs"/>
              </a:rPr>
              <a:t>page table is </a:t>
            </a:r>
            <a:r>
              <a:rPr lang="en-US" sz="1200" i="1" kern="1200" baseline="0" dirty="0">
                <a:solidFill>
                  <a:schemeClr val="tx1"/>
                </a:solidFill>
                <a:latin typeface="Times New Roman" pitchFamily="-110" charset="0"/>
                <a:ea typeface="+mn-ea"/>
                <a:cs typeface="+mn-cs"/>
              </a:rPr>
              <a:t>Y, </a:t>
            </a:r>
            <a:r>
              <a:rPr lang="en-US" sz="1200" i="0" kern="1200" baseline="0" dirty="0">
                <a:solidFill>
                  <a:schemeClr val="tx1"/>
                </a:solidFill>
                <a:latin typeface="Times New Roman" pitchFamily="-110" charset="0"/>
                <a:ea typeface="+mn-ea"/>
                <a:cs typeface="+mn-cs"/>
              </a:rPr>
              <a:t>then a process can consist of up to </a:t>
            </a:r>
            <a:r>
              <a:rPr lang="en-US" sz="1200" i="1" kern="1200" baseline="0" dirty="0">
                <a:solidFill>
                  <a:schemeClr val="tx1"/>
                </a:solidFill>
                <a:latin typeface="Times New Roman" pitchFamily="-110" charset="0"/>
                <a:ea typeface="+mn-ea"/>
                <a:cs typeface="+mn-cs"/>
              </a:rPr>
              <a:t>X * Y pages. </a:t>
            </a:r>
            <a:r>
              <a:rPr lang="en-US" sz="1200" i="0" kern="1200" baseline="0" dirty="0">
                <a:solidFill>
                  <a:schemeClr val="tx1"/>
                </a:solidFill>
                <a:latin typeface="Times New Roman" pitchFamily="-110" charset="0"/>
                <a:ea typeface="+mn-ea"/>
                <a:cs typeface="+mn-cs"/>
              </a:rPr>
              <a:t>Typically, the maximum</a:t>
            </a:r>
          </a:p>
          <a:p>
            <a:r>
              <a:rPr lang="en-US" sz="1200" kern="1200" baseline="0" dirty="0">
                <a:solidFill>
                  <a:schemeClr val="tx1"/>
                </a:solidFill>
                <a:latin typeface="Times New Roman" pitchFamily="-110" charset="0"/>
                <a:ea typeface="+mn-ea"/>
                <a:cs typeface="+mn-cs"/>
              </a:rPr>
              <a:t>length of a page table is restricted to be equal to one page. We will see an example</a:t>
            </a:r>
          </a:p>
          <a:p>
            <a:r>
              <a:rPr lang="en-US" sz="1200" kern="1200" baseline="0" dirty="0">
                <a:solidFill>
                  <a:schemeClr val="tx1"/>
                </a:solidFill>
                <a:latin typeface="Times New Roman" pitchFamily="-110" charset="0"/>
                <a:ea typeface="+mn-ea"/>
                <a:cs typeface="+mn-cs"/>
              </a:rPr>
              <a:t>of this two-level approach when we consider the Pentium II later in this </a:t>
            </a:r>
            <a:r>
              <a:rPr lang="en-US" sz="1200" kern="1200" baseline="0">
                <a:solidFill>
                  <a:schemeClr val="tx1"/>
                </a:solidFill>
                <a:latin typeface="Times New Roman" pitchFamily="-110" charset="0"/>
                <a:ea typeface="+mn-ea"/>
                <a:cs typeface="+mn-cs"/>
              </a:rPr>
              <a:t>chapter.</a:t>
            </a:r>
          </a:p>
          <a:p>
            <a:endParaRPr lang="en-US" sz="1200" kern="1200" baseline="0">
              <a:solidFill>
                <a:schemeClr val="tx1"/>
              </a:solidFill>
              <a:latin typeface="Times New Roman" pitchFamily="-110" charset="0"/>
              <a:ea typeface="+mn-ea"/>
              <a:cs typeface="+mn-cs"/>
            </a:endParaRPr>
          </a:p>
          <a:p>
            <a:r>
              <a:rPr lang="en-US" sz="1200" kern="1200" baseline="0">
                <a:solidFill>
                  <a:schemeClr val="tx1"/>
                </a:solidFill>
                <a:latin typeface="Times New Roman" pitchFamily="-110" charset="0"/>
                <a:ea typeface="+mn-ea"/>
                <a:cs typeface="+mn-cs"/>
              </a:rPr>
              <a:t>An alternative approach to the use of one- or two-level page tables is the use</a:t>
            </a:r>
          </a:p>
          <a:p>
            <a:r>
              <a:rPr lang="en-US" sz="1200" kern="1200" baseline="0">
                <a:solidFill>
                  <a:schemeClr val="tx1"/>
                </a:solidFill>
                <a:latin typeface="Times New Roman" pitchFamily="-110" charset="0"/>
                <a:ea typeface="+mn-ea"/>
                <a:cs typeface="+mn-cs"/>
              </a:rPr>
              <a:t>of an inverted page table structure (Figure 8.17). Variations on this approach are</a:t>
            </a:r>
          </a:p>
          <a:p>
            <a:r>
              <a:rPr lang="en-US" sz="1200" kern="1200" baseline="0">
                <a:solidFill>
                  <a:schemeClr val="tx1"/>
                </a:solidFill>
                <a:latin typeface="Times New Roman" pitchFamily="-110" charset="0"/>
                <a:ea typeface="+mn-ea"/>
                <a:cs typeface="+mn-cs"/>
              </a:rPr>
              <a:t>used on the PowerPC, UltraSPARC, and the IA-64 architecture. An implementation</a:t>
            </a:r>
          </a:p>
          <a:p>
            <a:r>
              <a:rPr lang="en-US" sz="1200" kern="1200" baseline="0">
                <a:solidFill>
                  <a:schemeClr val="tx1"/>
                </a:solidFill>
                <a:latin typeface="Times New Roman" pitchFamily="-110" charset="0"/>
                <a:ea typeface="+mn-ea"/>
                <a:cs typeface="+mn-cs"/>
              </a:rPr>
              <a:t>of the Mach OS on the RT-PC also uses this technique.</a:t>
            </a:r>
          </a:p>
          <a:p>
            <a:endParaRPr lang="en-US" sz="1200" kern="1200" baseline="0">
              <a:solidFill>
                <a:schemeClr val="tx1"/>
              </a:solidFill>
              <a:latin typeface="Times New Roman" pitchFamily="-110" charset="0"/>
              <a:ea typeface="+mn-ea"/>
              <a:cs typeface="+mn-cs"/>
            </a:endParaRPr>
          </a:p>
          <a:p>
            <a:r>
              <a:rPr lang="en-US" sz="1200" kern="1200" baseline="0">
                <a:solidFill>
                  <a:schemeClr val="tx1"/>
                </a:solidFill>
                <a:latin typeface="Times New Roman" pitchFamily="-110" charset="0"/>
                <a:ea typeface="+mn-ea"/>
                <a:cs typeface="+mn-cs"/>
              </a:rPr>
              <a:t>In this approach, the page number portion of a virtual address is mapped into</a:t>
            </a:r>
          </a:p>
          <a:p>
            <a:r>
              <a:rPr lang="en-US" sz="1200" kern="1200" baseline="0">
                <a:solidFill>
                  <a:schemeClr val="tx1"/>
                </a:solidFill>
                <a:latin typeface="Times New Roman" pitchFamily="-110" charset="0"/>
                <a:ea typeface="+mn-ea"/>
                <a:cs typeface="+mn-cs"/>
              </a:rPr>
              <a:t>a hash value using a simple hashing function. The hash value is a pointer to the</a:t>
            </a:r>
          </a:p>
          <a:p>
            <a:r>
              <a:rPr lang="en-US" sz="1200" kern="1200" baseline="0">
                <a:solidFill>
                  <a:schemeClr val="tx1"/>
                </a:solidFill>
                <a:latin typeface="Times New Roman" pitchFamily="-110" charset="0"/>
                <a:ea typeface="+mn-ea"/>
                <a:cs typeface="+mn-cs"/>
              </a:rPr>
              <a:t>inverted page table, which contains the page table entries. There is one entry in the</a:t>
            </a:r>
          </a:p>
          <a:p>
            <a:r>
              <a:rPr lang="en-US" sz="1200" kern="1200" baseline="0">
                <a:solidFill>
                  <a:schemeClr val="tx1"/>
                </a:solidFill>
                <a:latin typeface="Times New Roman" pitchFamily="-110" charset="0"/>
                <a:ea typeface="+mn-ea"/>
                <a:cs typeface="+mn-cs"/>
              </a:rPr>
              <a:t>inverted page table for each real memory page frame rather than one per virtual</a:t>
            </a:r>
          </a:p>
          <a:p>
            <a:r>
              <a:rPr lang="en-US" sz="1200" kern="1200" baseline="0">
                <a:solidFill>
                  <a:schemeClr val="tx1"/>
                </a:solidFill>
                <a:latin typeface="Times New Roman" pitchFamily="-110" charset="0"/>
                <a:ea typeface="+mn-ea"/>
                <a:cs typeface="+mn-cs"/>
              </a:rPr>
              <a:t>page. Thus a fixed proportion of real memory is required for the tables regardless of</a:t>
            </a:r>
          </a:p>
          <a:p>
            <a:r>
              <a:rPr lang="en-US" sz="1200" kern="1200" baseline="0">
                <a:solidFill>
                  <a:schemeClr val="tx1"/>
                </a:solidFill>
                <a:latin typeface="Times New Roman" pitchFamily="-110" charset="0"/>
                <a:ea typeface="+mn-ea"/>
                <a:cs typeface="+mn-cs"/>
              </a:rPr>
              <a:t>the number of processes or virtual pages supported. Because more than one virtual</a:t>
            </a:r>
          </a:p>
          <a:p>
            <a:r>
              <a:rPr lang="en-US" sz="1200" kern="1200" baseline="0">
                <a:solidFill>
                  <a:schemeClr val="tx1"/>
                </a:solidFill>
                <a:latin typeface="Times New Roman" pitchFamily="-110" charset="0"/>
                <a:ea typeface="+mn-ea"/>
                <a:cs typeface="+mn-cs"/>
              </a:rPr>
              <a:t>address may map into the same hash table entry, a chaining technique is used for</a:t>
            </a:r>
          </a:p>
          <a:p>
            <a:r>
              <a:rPr lang="en-US" sz="1200" kern="1200" baseline="0">
                <a:solidFill>
                  <a:schemeClr val="tx1"/>
                </a:solidFill>
                <a:latin typeface="Times New Roman" pitchFamily="-110" charset="0"/>
                <a:ea typeface="+mn-ea"/>
                <a:cs typeface="+mn-cs"/>
              </a:rPr>
              <a:t>managing the overflow. The hashing technique results in chains that are typically</a:t>
            </a:r>
          </a:p>
          <a:p>
            <a:r>
              <a:rPr lang="en-US" sz="1200" kern="1200" baseline="0">
                <a:solidFill>
                  <a:schemeClr val="tx1"/>
                </a:solidFill>
                <a:latin typeface="Times New Roman" pitchFamily="-110" charset="0"/>
                <a:ea typeface="+mn-ea"/>
                <a:cs typeface="+mn-cs"/>
              </a:rPr>
              <a:t>short—between one and two entries. The page table’s structure is called </a:t>
            </a:r>
            <a:r>
              <a:rPr lang="en-US" sz="1200" i="1" kern="1200" baseline="0">
                <a:solidFill>
                  <a:schemeClr val="tx1"/>
                </a:solidFill>
                <a:latin typeface="Times New Roman" pitchFamily="-110" charset="0"/>
                <a:ea typeface="+mn-ea"/>
                <a:cs typeface="+mn-cs"/>
              </a:rPr>
              <a:t>inverted</a:t>
            </a:r>
          </a:p>
          <a:p>
            <a:r>
              <a:rPr lang="en-US" sz="1200" kern="1200" baseline="0">
                <a:solidFill>
                  <a:schemeClr val="tx1"/>
                </a:solidFill>
                <a:latin typeface="Times New Roman" pitchFamily="-110" charset="0"/>
                <a:ea typeface="+mn-ea"/>
                <a:cs typeface="+mn-cs"/>
              </a:rPr>
              <a:t>because it indexes page table entries by frame number rather than by virtual page</a:t>
            </a:r>
          </a:p>
          <a:p>
            <a:r>
              <a:rPr lang="en-US" sz="1200" kern="1200" baseline="0">
                <a:solidFill>
                  <a:schemeClr val="tx1"/>
                </a:solidFill>
                <a:latin typeface="Times New Roman" pitchFamily="-110" charset="0"/>
                <a:ea typeface="+mn-ea"/>
                <a:cs typeface="+mn-cs"/>
              </a:rPr>
              <a:t>number.</a:t>
            </a:r>
            <a:endParaRPr lang="en-US"/>
          </a:p>
          <a:p>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Times New Roman" pitchFamily="-110" charset="0"/>
                <a:ea typeface="+mn-ea"/>
                <a:cs typeface="+mn-cs"/>
              </a:rPr>
              <a:t>In principle, then, every virtual memory reference can cause two physical memory</a:t>
            </a:r>
          </a:p>
          <a:p>
            <a:r>
              <a:rPr lang="en-US" sz="1200" kern="1200" baseline="0" dirty="0">
                <a:solidFill>
                  <a:schemeClr val="tx1"/>
                </a:solidFill>
                <a:latin typeface="Times New Roman" pitchFamily="-110" charset="0"/>
                <a:ea typeface="+mn-ea"/>
                <a:cs typeface="+mn-cs"/>
              </a:rPr>
              <a:t>accesses: one to fetch the appropriate page table entry, and one to fetch the</a:t>
            </a:r>
          </a:p>
          <a:p>
            <a:r>
              <a:rPr lang="en-US" sz="1200" kern="1200" baseline="0" dirty="0">
                <a:solidFill>
                  <a:schemeClr val="tx1"/>
                </a:solidFill>
                <a:latin typeface="Times New Roman" pitchFamily="-110" charset="0"/>
                <a:ea typeface="+mn-ea"/>
                <a:cs typeface="+mn-cs"/>
              </a:rPr>
              <a:t>desired data. Thus, a straightforward virtual memory scheme would have the effect</a:t>
            </a:r>
          </a:p>
          <a:p>
            <a:r>
              <a:rPr lang="en-US" sz="1200" kern="1200" baseline="0" dirty="0">
                <a:solidFill>
                  <a:schemeClr val="tx1"/>
                </a:solidFill>
                <a:latin typeface="Times New Roman" pitchFamily="-110" charset="0"/>
                <a:ea typeface="+mn-ea"/>
                <a:cs typeface="+mn-cs"/>
              </a:rPr>
              <a:t>of doubling the memory access time. To overcome this problem, most virtual</a:t>
            </a:r>
          </a:p>
          <a:p>
            <a:r>
              <a:rPr lang="en-US" sz="1200" kern="1200" baseline="0" dirty="0">
                <a:solidFill>
                  <a:schemeClr val="tx1"/>
                </a:solidFill>
                <a:latin typeface="Times New Roman" pitchFamily="-110" charset="0"/>
                <a:ea typeface="+mn-ea"/>
                <a:cs typeface="+mn-cs"/>
              </a:rPr>
              <a:t>memory schemes make use of a special cache for page table entries, usually called</a:t>
            </a:r>
          </a:p>
          <a:p>
            <a:r>
              <a:rPr lang="en-US" sz="1200" kern="1200" baseline="0" dirty="0">
                <a:solidFill>
                  <a:schemeClr val="tx1"/>
                </a:solidFill>
                <a:latin typeface="Times New Roman" pitchFamily="-110" charset="0"/>
                <a:ea typeface="+mn-ea"/>
                <a:cs typeface="+mn-cs"/>
              </a:rPr>
              <a:t>a </a:t>
            </a:r>
            <a:r>
              <a:rPr lang="en-US" sz="1200" b="1" kern="1200" baseline="0" dirty="0">
                <a:solidFill>
                  <a:schemeClr val="tx1"/>
                </a:solidFill>
                <a:latin typeface="Times New Roman" pitchFamily="-110" charset="0"/>
                <a:ea typeface="+mn-ea"/>
                <a:cs typeface="+mn-cs"/>
              </a:rPr>
              <a:t>translation lookaside buffer (TLB). This cache functions in the same way as a</a:t>
            </a:r>
          </a:p>
          <a:p>
            <a:r>
              <a:rPr lang="en-US" sz="1200" kern="1200" baseline="0" dirty="0">
                <a:solidFill>
                  <a:schemeClr val="tx1"/>
                </a:solidFill>
                <a:latin typeface="Times New Roman" pitchFamily="-110" charset="0"/>
                <a:ea typeface="+mn-ea"/>
                <a:cs typeface="+mn-cs"/>
              </a:rPr>
              <a:t>memory cache and contains those page table entries that have been most recently</a:t>
            </a:r>
          </a:p>
          <a:p>
            <a:r>
              <a:rPr lang="en-US" sz="1200" kern="1200" baseline="0" dirty="0">
                <a:solidFill>
                  <a:schemeClr val="tx1"/>
                </a:solidFill>
                <a:latin typeface="Times New Roman" pitchFamily="-110" charset="0"/>
                <a:ea typeface="+mn-ea"/>
                <a:cs typeface="+mn-cs"/>
              </a:rPr>
              <a:t>used. Figure 8.18 is a flowchart that shows the use of the TLB. By the principle of</a:t>
            </a:r>
          </a:p>
          <a:p>
            <a:r>
              <a:rPr lang="en-US" sz="1200" kern="1200" baseline="0" dirty="0">
                <a:solidFill>
                  <a:schemeClr val="tx1"/>
                </a:solidFill>
                <a:latin typeface="Times New Roman" pitchFamily="-110" charset="0"/>
                <a:ea typeface="+mn-ea"/>
                <a:cs typeface="+mn-cs"/>
              </a:rPr>
              <a:t>locality, most virtual memory references will be to locations in recently used pages.</a:t>
            </a:r>
          </a:p>
          <a:p>
            <a:r>
              <a:rPr lang="en-US" sz="1200" kern="1200" baseline="0" dirty="0">
                <a:solidFill>
                  <a:schemeClr val="tx1"/>
                </a:solidFill>
                <a:latin typeface="Times New Roman" pitchFamily="-110" charset="0"/>
                <a:ea typeface="+mn-ea"/>
                <a:cs typeface="+mn-cs"/>
              </a:rPr>
              <a:t>Therefore, most references will involve page table entries in the cache. Studies of</a:t>
            </a:r>
          </a:p>
          <a:p>
            <a:r>
              <a:rPr lang="en-US" sz="1200" kern="1200" baseline="0" dirty="0">
                <a:solidFill>
                  <a:schemeClr val="tx1"/>
                </a:solidFill>
                <a:latin typeface="Times New Roman" pitchFamily="-110" charset="0"/>
                <a:ea typeface="+mn-ea"/>
                <a:cs typeface="+mn-cs"/>
              </a:rPr>
              <a:t>the VAX TLB have shown that this scheme can significantly improve performance</a:t>
            </a:r>
          </a:p>
          <a:p>
            <a:r>
              <a:rPr lang="en-US" sz="1200" kern="1200" baseline="0" dirty="0">
                <a:solidFill>
                  <a:schemeClr val="tx1"/>
                </a:solidFill>
                <a:latin typeface="Times New Roman" pitchFamily="-110" charset="0"/>
                <a:ea typeface="+mn-ea"/>
                <a:cs typeface="+mn-cs"/>
              </a:rPr>
              <a:t>[CLAR85, SATY81].</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Times New Roman" pitchFamily="-110" charset="0"/>
                <a:ea typeface="+mn-ea"/>
                <a:cs typeface="+mn-cs"/>
              </a:rPr>
              <a:t>Note that the virtual memory mechanism must interact with the cache system</a:t>
            </a:r>
          </a:p>
          <a:p>
            <a:r>
              <a:rPr lang="en-US" sz="1200" kern="1200" baseline="0" dirty="0">
                <a:solidFill>
                  <a:schemeClr val="tx1"/>
                </a:solidFill>
                <a:latin typeface="Times New Roman" pitchFamily="-110" charset="0"/>
                <a:ea typeface="+mn-ea"/>
                <a:cs typeface="+mn-cs"/>
              </a:rPr>
              <a:t>(not the TLB cache, but the main memory cache). This is illustrated in Figure 8.19.</a:t>
            </a:r>
          </a:p>
          <a:p>
            <a:r>
              <a:rPr lang="en-US" sz="1200" kern="1200" baseline="0" dirty="0">
                <a:solidFill>
                  <a:schemeClr val="tx1"/>
                </a:solidFill>
                <a:latin typeface="Times New Roman" pitchFamily="-110" charset="0"/>
                <a:ea typeface="+mn-ea"/>
                <a:cs typeface="+mn-cs"/>
              </a:rPr>
              <a:t>A virtual address will generally be in the form of a page number, offset. First, the</a:t>
            </a:r>
          </a:p>
          <a:p>
            <a:r>
              <a:rPr lang="en-US" sz="1200" kern="1200" baseline="0" dirty="0">
                <a:solidFill>
                  <a:schemeClr val="tx1"/>
                </a:solidFill>
                <a:latin typeface="Times New Roman" pitchFamily="-110" charset="0"/>
                <a:ea typeface="+mn-ea"/>
                <a:cs typeface="+mn-cs"/>
              </a:rPr>
              <a:t>memory system consults the TLB to see if the matching page table entry is present.</a:t>
            </a:r>
          </a:p>
          <a:p>
            <a:r>
              <a:rPr lang="en-US" sz="1200" kern="1200" baseline="0" dirty="0">
                <a:solidFill>
                  <a:schemeClr val="tx1"/>
                </a:solidFill>
                <a:latin typeface="Times New Roman" pitchFamily="-110" charset="0"/>
                <a:ea typeface="+mn-ea"/>
                <a:cs typeface="+mn-cs"/>
              </a:rPr>
              <a:t>If it is, the real (physical) address is generated by combining the frame number with</a:t>
            </a:r>
          </a:p>
          <a:p>
            <a:r>
              <a:rPr lang="en-US" sz="1200" kern="1200" baseline="0" dirty="0">
                <a:solidFill>
                  <a:schemeClr val="tx1"/>
                </a:solidFill>
                <a:latin typeface="Times New Roman" pitchFamily="-110" charset="0"/>
                <a:ea typeface="+mn-ea"/>
                <a:cs typeface="+mn-cs"/>
              </a:rPr>
              <a:t>the offset. If not, the entry is accessed from a page table. Once the real address is</a:t>
            </a:r>
          </a:p>
          <a:p>
            <a:r>
              <a:rPr lang="en-US" sz="1200" kern="1200" baseline="0" dirty="0">
                <a:solidFill>
                  <a:schemeClr val="tx1"/>
                </a:solidFill>
                <a:latin typeface="Times New Roman" pitchFamily="-110" charset="0"/>
                <a:ea typeface="+mn-ea"/>
                <a:cs typeface="+mn-cs"/>
              </a:rPr>
              <a:t>generated, which is in the form of a tag and a remainder, the cache is consulted to</a:t>
            </a:r>
          </a:p>
          <a:p>
            <a:r>
              <a:rPr lang="en-US" sz="1200" kern="1200" baseline="0" dirty="0">
                <a:solidFill>
                  <a:schemeClr val="tx1"/>
                </a:solidFill>
                <a:latin typeface="Times New Roman" pitchFamily="-110" charset="0"/>
                <a:ea typeface="+mn-ea"/>
                <a:cs typeface="+mn-cs"/>
              </a:rPr>
              <a:t>see if the block containing that word is present (see Figure 4.5). If so, it is returned</a:t>
            </a:r>
          </a:p>
          <a:p>
            <a:r>
              <a:rPr lang="en-US" sz="1200" kern="1200" baseline="0" dirty="0">
                <a:solidFill>
                  <a:schemeClr val="tx1"/>
                </a:solidFill>
                <a:latin typeface="Times New Roman" pitchFamily="-110" charset="0"/>
                <a:ea typeface="+mn-ea"/>
                <a:cs typeface="+mn-cs"/>
              </a:rPr>
              <a:t>to the processor. If not, the word is retrieved from main memory.</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 reader should be able to appreciate the complexity of the processor hardware</a:t>
            </a:r>
          </a:p>
          <a:p>
            <a:r>
              <a:rPr lang="en-US" sz="1200" kern="1200" baseline="0" dirty="0">
                <a:solidFill>
                  <a:schemeClr val="tx1"/>
                </a:solidFill>
                <a:latin typeface="Times New Roman" pitchFamily="-110" charset="0"/>
                <a:ea typeface="+mn-ea"/>
                <a:cs typeface="+mn-cs"/>
              </a:rPr>
              <a:t>involved in a single memory reference. The virtual address is translated into</a:t>
            </a:r>
          </a:p>
          <a:p>
            <a:r>
              <a:rPr lang="en-US" sz="1200" kern="1200" baseline="0" dirty="0">
                <a:solidFill>
                  <a:schemeClr val="tx1"/>
                </a:solidFill>
                <a:latin typeface="Times New Roman" pitchFamily="-110" charset="0"/>
                <a:ea typeface="+mn-ea"/>
                <a:cs typeface="+mn-cs"/>
              </a:rPr>
              <a:t>a real address. This involves reference to a page table, which may be in the TLB, in</a:t>
            </a:r>
          </a:p>
          <a:p>
            <a:r>
              <a:rPr lang="en-US" sz="1200" kern="1200" baseline="0" dirty="0">
                <a:solidFill>
                  <a:schemeClr val="tx1"/>
                </a:solidFill>
                <a:latin typeface="Times New Roman" pitchFamily="-110" charset="0"/>
                <a:ea typeface="+mn-ea"/>
                <a:cs typeface="+mn-cs"/>
              </a:rPr>
              <a:t>main memory, or on disk. The referenced word may be in cache, in main memory,</a:t>
            </a:r>
          </a:p>
          <a:p>
            <a:r>
              <a:rPr lang="en-US" sz="1200" kern="1200" baseline="0" dirty="0">
                <a:solidFill>
                  <a:schemeClr val="tx1"/>
                </a:solidFill>
                <a:latin typeface="Times New Roman" pitchFamily="-110" charset="0"/>
                <a:ea typeface="+mn-ea"/>
                <a:cs typeface="+mn-cs"/>
              </a:rPr>
              <a:t>or on disk. In the latter case, the page containing the word must be loaded into main</a:t>
            </a:r>
          </a:p>
          <a:p>
            <a:r>
              <a:rPr lang="en-US" sz="1200" kern="1200" baseline="0" dirty="0">
                <a:solidFill>
                  <a:schemeClr val="tx1"/>
                </a:solidFill>
                <a:latin typeface="Times New Roman" pitchFamily="-110" charset="0"/>
                <a:ea typeface="+mn-ea"/>
                <a:cs typeface="+mn-cs"/>
              </a:rPr>
              <a:t>memory and its block loaded into the cache. In addition, the page table entry for</a:t>
            </a:r>
          </a:p>
          <a:p>
            <a:r>
              <a:rPr lang="en-US" sz="1200" kern="1200" baseline="0" dirty="0">
                <a:solidFill>
                  <a:schemeClr val="tx1"/>
                </a:solidFill>
                <a:latin typeface="Times New Roman" pitchFamily="-110" charset="0"/>
                <a:ea typeface="+mn-ea"/>
                <a:cs typeface="+mn-cs"/>
              </a:rPr>
              <a:t>that page must be updated.</a:t>
            </a:r>
            <a:endParaRPr lang="en-US" dirty="0"/>
          </a:p>
        </p:txBody>
      </p:sp>
      <p:sp>
        <p:nvSpPr>
          <p:cNvPr id="4" name="Slide Number Placeholder 3"/>
          <p:cNvSpPr>
            <a:spLocks noGrp="1"/>
          </p:cNvSpPr>
          <p:nvPr>
            <p:ph type="sldNum" sz="quarter" idx="10"/>
          </p:nvPr>
        </p:nvSpPr>
        <p:spPr/>
        <p:txBody>
          <a:bodyPr/>
          <a:lstStyle/>
          <a:p>
            <a:fld id="{13FBE658-3263-9741-A1BA-D173C69310A1}"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4BCDE-3559-4440-93B8-E2502456DC55}" type="slidenum">
              <a:rPr lang="en-US"/>
              <a:pPr/>
              <a:t>41</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lang="en-US" sz="1200" kern="1200" baseline="0" dirty="0">
                <a:solidFill>
                  <a:schemeClr val="tx1"/>
                </a:solidFill>
                <a:latin typeface="Times New Roman" pitchFamily="-110" charset="0"/>
                <a:ea typeface="+mn-ea"/>
                <a:cs typeface="+mn-cs"/>
              </a:rPr>
              <a:t>There is another way in which addressable memory can be subdivided, known as</a:t>
            </a:r>
          </a:p>
          <a:p>
            <a:r>
              <a:rPr lang="en-US" sz="1200" i="1" kern="1200" baseline="0" dirty="0">
                <a:solidFill>
                  <a:schemeClr val="tx1"/>
                </a:solidFill>
                <a:latin typeface="Times New Roman" pitchFamily="-110" charset="0"/>
                <a:ea typeface="+mn-ea"/>
                <a:cs typeface="+mn-cs"/>
              </a:rPr>
              <a:t>segmentation. </a:t>
            </a:r>
            <a:r>
              <a:rPr lang="en-US" sz="1200" i="0" kern="1200" baseline="0" dirty="0">
                <a:solidFill>
                  <a:schemeClr val="tx1"/>
                </a:solidFill>
                <a:latin typeface="Times New Roman" pitchFamily="-110" charset="0"/>
                <a:ea typeface="+mn-ea"/>
                <a:cs typeface="+mn-cs"/>
              </a:rPr>
              <a:t>Whereas paging is invisible to the programmer and serves the purpose</a:t>
            </a:r>
          </a:p>
          <a:p>
            <a:r>
              <a:rPr lang="en-US" sz="1200" kern="1200" baseline="0" dirty="0">
                <a:solidFill>
                  <a:schemeClr val="tx1"/>
                </a:solidFill>
                <a:latin typeface="Times New Roman" pitchFamily="-110" charset="0"/>
                <a:ea typeface="+mn-ea"/>
                <a:cs typeface="+mn-cs"/>
              </a:rPr>
              <a:t>of providing the programmer with a larger address space, segmentation is usually</a:t>
            </a:r>
          </a:p>
          <a:p>
            <a:r>
              <a:rPr lang="en-US" sz="1200" kern="1200" baseline="0" dirty="0">
                <a:solidFill>
                  <a:schemeClr val="tx1"/>
                </a:solidFill>
                <a:latin typeface="Times New Roman" pitchFamily="-110" charset="0"/>
                <a:ea typeface="+mn-ea"/>
                <a:cs typeface="+mn-cs"/>
              </a:rPr>
              <a:t>visible to the programmer and is provided as a convenience for organizing programs</a:t>
            </a:r>
          </a:p>
          <a:p>
            <a:r>
              <a:rPr lang="en-US" sz="1200" kern="1200" baseline="0" dirty="0">
                <a:solidFill>
                  <a:schemeClr val="tx1"/>
                </a:solidFill>
                <a:latin typeface="Times New Roman" pitchFamily="-110" charset="0"/>
                <a:ea typeface="+mn-ea"/>
                <a:cs typeface="+mn-cs"/>
              </a:rPr>
              <a:t>and data and as a means for associating privilege and protection attributes with</a:t>
            </a:r>
          </a:p>
          <a:p>
            <a:r>
              <a:rPr lang="en-US" sz="1200" kern="1200" baseline="0" dirty="0">
                <a:solidFill>
                  <a:schemeClr val="tx1"/>
                </a:solidFill>
                <a:latin typeface="Times New Roman" pitchFamily="-110" charset="0"/>
                <a:ea typeface="+mn-ea"/>
                <a:cs typeface="+mn-cs"/>
              </a:rPr>
              <a:t>instructions and data.</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Segmentation allows the programmer to view memory as consisting of multiple</a:t>
            </a:r>
          </a:p>
          <a:p>
            <a:r>
              <a:rPr lang="en-US" sz="1200" kern="1200" baseline="0" dirty="0">
                <a:solidFill>
                  <a:schemeClr val="tx1"/>
                </a:solidFill>
                <a:latin typeface="Times New Roman" pitchFamily="-110" charset="0"/>
                <a:ea typeface="+mn-ea"/>
                <a:cs typeface="+mn-cs"/>
              </a:rPr>
              <a:t>address spaces or segments. Segments are of variable, indeed dynamic, size.</a:t>
            </a:r>
          </a:p>
          <a:p>
            <a:r>
              <a:rPr lang="en-US" sz="1200" kern="1200" baseline="0" dirty="0">
                <a:solidFill>
                  <a:schemeClr val="tx1"/>
                </a:solidFill>
                <a:latin typeface="Times New Roman" pitchFamily="-110" charset="0"/>
                <a:ea typeface="+mn-ea"/>
                <a:cs typeface="+mn-cs"/>
              </a:rPr>
              <a:t>Typically, the programmer or the OS will assign programs and data to different segments.</a:t>
            </a:r>
          </a:p>
          <a:p>
            <a:r>
              <a:rPr lang="en-US" sz="1200" kern="1200" baseline="0" dirty="0">
                <a:solidFill>
                  <a:schemeClr val="tx1"/>
                </a:solidFill>
                <a:latin typeface="Times New Roman" pitchFamily="-110" charset="0"/>
                <a:ea typeface="+mn-ea"/>
                <a:cs typeface="+mn-cs"/>
              </a:rPr>
              <a:t>There may be a number of program segments for various types of programs as</a:t>
            </a:r>
          </a:p>
          <a:p>
            <a:r>
              <a:rPr lang="en-US" sz="1200" kern="1200" baseline="0" dirty="0">
                <a:solidFill>
                  <a:schemeClr val="tx1"/>
                </a:solidFill>
                <a:latin typeface="Times New Roman" pitchFamily="-110" charset="0"/>
                <a:ea typeface="+mn-ea"/>
                <a:cs typeface="+mn-cs"/>
              </a:rPr>
              <a:t>well as a number of data segments. Each segment may be assigned access and usage</a:t>
            </a:r>
          </a:p>
          <a:p>
            <a:r>
              <a:rPr lang="en-US" sz="1200" kern="1200" baseline="0" dirty="0">
                <a:solidFill>
                  <a:schemeClr val="tx1"/>
                </a:solidFill>
                <a:latin typeface="Times New Roman" pitchFamily="-110" charset="0"/>
                <a:ea typeface="+mn-ea"/>
                <a:cs typeface="+mn-cs"/>
              </a:rPr>
              <a:t>rights. Memory references consist of a (segment number, offset) form of address.</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This organization has a number of advantages to the programmer over a non-segmented</a:t>
            </a:r>
          </a:p>
          <a:p>
            <a:r>
              <a:rPr lang="en-US" sz="1200" kern="1200" baseline="0" dirty="0">
                <a:solidFill>
                  <a:schemeClr val="tx1"/>
                </a:solidFill>
                <a:latin typeface="Times New Roman" pitchFamily="-110" charset="0"/>
                <a:ea typeface="+mn-ea"/>
                <a:cs typeface="+mn-cs"/>
              </a:rPr>
              <a:t>address space:</a:t>
            </a:r>
          </a:p>
          <a:p>
            <a:endParaRPr lang="en-US" sz="1200"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1. It simplifies the handling of growing data structures. If the programmer does</a:t>
            </a:r>
          </a:p>
          <a:p>
            <a:r>
              <a:rPr lang="en-US" sz="1200" kern="1200" baseline="0" dirty="0">
                <a:solidFill>
                  <a:schemeClr val="tx1"/>
                </a:solidFill>
                <a:latin typeface="Times New Roman" pitchFamily="-110" charset="0"/>
                <a:ea typeface="+mn-ea"/>
                <a:cs typeface="+mn-cs"/>
              </a:rPr>
              <a:t>not know ahead of time how large a particular data structure will become, it</a:t>
            </a:r>
          </a:p>
          <a:p>
            <a:r>
              <a:rPr lang="en-US" sz="1200" kern="1200" baseline="0" dirty="0">
                <a:solidFill>
                  <a:schemeClr val="tx1"/>
                </a:solidFill>
                <a:latin typeface="Times New Roman" pitchFamily="-110" charset="0"/>
                <a:ea typeface="+mn-ea"/>
                <a:cs typeface="+mn-cs"/>
              </a:rPr>
              <a:t>is not necessary to guess. The data structure can be assigned its own segment,</a:t>
            </a:r>
          </a:p>
          <a:p>
            <a:r>
              <a:rPr lang="en-US" sz="1200" kern="1200" baseline="0" dirty="0">
                <a:solidFill>
                  <a:schemeClr val="tx1"/>
                </a:solidFill>
                <a:latin typeface="Times New Roman" pitchFamily="-110" charset="0"/>
                <a:ea typeface="+mn-ea"/>
                <a:cs typeface="+mn-cs"/>
              </a:rPr>
              <a:t>and the OS will expand or shrink the segment as needed.</a:t>
            </a:r>
          </a:p>
          <a:p>
            <a:endParaRPr lang="en-US" sz="1200" b="1" kern="1200" baseline="0" dirty="0">
              <a:solidFill>
                <a:schemeClr val="tx1"/>
              </a:solidFill>
              <a:latin typeface="Times New Roman" pitchFamily="-110" charset="0"/>
              <a:ea typeface="+mn-ea"/>
              <a:cs typeface="+mn-cs"/>
            </a:endParaRPr>
          </a:p>
          <a:p>
            <a:r>
              <a:rPr lang="en-US" sz="1200" b="1" kern="1200" baseline="0" dirty="0">
                <a:solidFill>
                  <a:schemeClr val="tx1"/>
                </a:solidFill>
                <a:latin typeface="Times New Roman" pitchFamily="-110" charset="0"/>
                <a:ea typeface="+mn-ea"/>
                <a:cs typeface="+mn-cs"/>
              </a:rPr>
              <a:t>2. </a:t>
            </a:r>
            <a:r>
              <a:rPr lang="en-US" sz="1200" b="0" kern="1200" baseline="0" dirty="0">
                <a:solidFill>
                  <a:schemeClr val="tx1"/>
                </a:solidFill>
                <a:latin typeface="Times New Roman" pitchFamily="-110" charset="0"/>
                <a:ea typeface="+mn-ea"/>
                <a:cs typeface="+mn-cs"/>
              </a:rPr>
              <a:t>It allows programs to be altered and recompiled independently without</a:t>
            </a:r>
          </a:p>
          <a:p>
            <a:r>
              <a:rPr lang="en-US" sz="1200" kern="1200" baseline="0" dirty="0">
                <a:solidFill>
                  <a:schemeClr val="tx1"/>
                </a:solidFill>
                <a:latin typeface="Times New Roman" pitchFamily="-110" charset="0"/>
                <a:ea typeface="+mn-ea"/>
                <a:cs typeface="+mn-cs"/>
              </a:rPr>
              <a:t>requiring that an entire set of programs be re-linked and reloaded. Again, this</a:t>
            </a:r>
          </a:p>
          <a:p>
            <a:r>
              <a:rPr lang="en-US" sz="1200" kern="1200" baseline="0" dirty="0">
                <a:solidFill>
                  <a:schemeClr val="tx1"/>
                </a:solidFill>
                <a:latin typeface="Times New Roman" pitchFamily="-110" charset="0"/>
                <a:ea typeface="+mn-ea"/>
                <a:cs typeface="+mn-cs"/>
              </a:rPr>
              <a:t>is accomplished using multiple segments.</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3. It lends itself to sharing among processes. A programmer can place a utility</a:t>
            </a:r>
          </a:p>
          <a:p>
            <a:r>
              <a:rPr lang="en-US" sz="1200" kern="1200" baseline="0" dirty="0">
                <a:solidFill>
                  <a:schemeClr val="tx1"/>
                </a:solidFill>
                <a:latin typeface="Times New Roman" pitchFamily="-110" charset="0"/>
                <a:ea typeface="+mn-ea"/>
                <a:cs typeface="+mn-cs"/>
              </a:rPr>
              <a:t>program or a useful table of data in a segment that can be addressed by other</a:t>
            </a:r>
          </a:p>
          <a:p>
            <a:r>
              <a:rPr lang="en-US" sz="1200" kern="1200" baseline="0" dirty="0">
                <a:solidFill>
                  <a:schemeClr val="tx1"/>
                </a:solidFill>
                <a:latin typeface="Times New Roman" pitchFamily="-110" charset="0"/>
                <a:ea typeface="+mn-ea"/>
                <a:cs typeface="+mn-cs"/>
              </a:rPr>
              <a:t>processes.</a:t>
            </a:r>
          </a:p>
          <a:p>
            <a:endParaRPr lang="en-US" sz="1200" b="1" kern="1200" baseline="0" dirty="0">
              <a:solidFill>
                <a:schemeClr val="tx1"/>
              </a:solidFill>
              <a:latin typeface="Times New Roman" pitchFamily="-110" charset="0"/>
              <a:ea typeface="+mn-ea"/>
              <a:cs typeface="+mn-cs"/>
            </a:endParaRPr>
          </a:p>
          <a:p>
            <a:r>
              <a:rPr lang="en-US" sz="1200" b="0" kern="1200" baseline="0" dirty="0">
                <a:solidFill>
                  <a:schemeClr val="tx1"/>
                </a:solidFill>
                <a:latin typeface="Times New Roman" pitchFamily="-110" charset="0"/>
                <a:ea typeface="+mn-ea"/>
                <a:cs typeface="+mn-cs"/>
              </a:rPr>
              <a:t>4. It lends itself to protection. Because a segment can be constructed to contain a</a:t>
            </a:r>
          </a:p>
          <a:p>
            <a:r>
              <a:rPr lang="en-US" sz="1200" kern="1200" baseline="0" dirty="0">
                <a:solidFill>
                  <a:schemeClr val="tx1"/>
                </a:solidFill>
                <a:latin typeface="Times New Roman" pitchFamily="-110" charset="0"/>
                <a:ea typeface="+mn-ea"/>
                <a:cs typeface="+mn-cs"/>
              </a:rPr>
              <a:t>well-defined set of programs or data, the programmer or a system administrator</a:t>
            </a:r>
          </a:p>
          <a:p>
            <a:r>
              <a:rPr lang="en-US" sz="1200" kern="1200" baseline="0" dirty="0">
                <a:solidFill>
                  <a:schemeClr val="tx1"/>
                </a:solidFill>
                <a:latin typeface="Times New Roman" pitchFamily="-110" charset="0"/>
                <a:ea typeface="+mn-ea"/>
                <a:cs typeface="+mn-cs"/>
              </a:rPr>
              <a:t>can assign access privileges in a convenient fashion.</a:t>
            </a:r>
          </a:p>
          <a:p>
            <a:endParaRPr lang="en-US" sz="1200" kern="1200" baseline="0" dirty="0">
              <a:solidFill>
                <a:schemeClr val="tx1"/>
              </a:solidFill>
              <a:latin typeface="Times New Roman" pitchFamily="-110" charset="0"/>
              <a:ea typeface="+mn-ea"/>
              <a:cs typeface="+mn-cs"/>
            </a:endParaRPr>
          </a:p>
          <a:p>
            <a:r>
              <a:rPr lang="en-US" sz="1200" kern="1200" baseline="0" dirty="0">
                <a:solidFill>
                  <a:schemeClr val="tx1"/>
                </a:solidFill>
                <a:latin typeface="Times New Roman" pitchFamily="-110" charset="0"/>
                <a:ea typeface="+mn-ea"/>
                <a:cs typeface="+mn-cs"/>
              </a:rPr>
              <a:t>These advantages are not available with paging, which is invisible to the programmer.</a:t>
            </a:r>
          </a:p>
          <a:p>
            <a:r>
              <a:rPr lang="en-US" sz="1200" kern="1200" baseline="0" dirty="0">
                <a:solidFill>
                  <a:schemeClr val="tx1"/>
                </a:solidFill>
                <a:latin typeface="Times New Roman" pitchFamily="-110" charset="0"/>
                <a:ea typeface="+mn-ea"/>
                <a:cs typeface="+mn-cs"/>
              </a:rPr>
              <a:t>On the other hand, we have seen that paging provides for an efficient</a:t>
            </a:r>
          </a:p>
          <a:p>
            <a:r>
              <a:rPr lang="en-US" sz="1200" kern="1200" baseline="0" dirty="0">
                <a:solidFill>
                  <a:schemeClr val="tx1"/>
                </a:solidFill>
                <a:latin typeface="Times New Roman" pitchFamily="-110" charset="0"/>
                <a:ea typeface="+mn-ea"/>
                <a:cs typeface="+mn-cs"/>
              </a:rPr>
              <a:t>form of memory management. To combine the advantages of both, some systems</a:t>
            </a:r>
          </a:p>
          <a:p>
            <a:r>
              <a:rPr lang="en-US" sz="1200" kern="1200" baseline="0" dirty="0">
                <a:solidFill>
                  <a:schemeClr val="tx1"/>
                </a:solidFill>
                <a:latin typeface="Times New Roman" pitchFamily="-110" charset="0"/>
                <a:ea typeface="+mn-ea"/>
                <a:cs typeface="+mn-cs"/>
              </a:rPr>
              <a:t>are equipped with the hardware and OS software to provide both.</a:t>
            </a:r>
            <a:endParaRPr lang="en-GB"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4BCDE-3559-4440-93B8-E2502456DC55}" type="slidenum">
              <a:rPr lang="en-US"/>
              <a:pPr/>
              <a:t>42</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43</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8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16/02/2022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16/02/2022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16/02/2022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16/02/2022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16/02/2022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16/02/2022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16/02/2022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16/02/2022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16/02/2022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16/02/2022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16/02/2022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428596" y="6371956"/>
            <a:ext cx="8339166" cy="414630"/>
          </a:xfrm>
        </p:spPr>
        <p:txBody>
          <a:bodyPr>
            <a:noAutofit/>
          </a:bodyPr>
          <a:lstStyle/>
          <a:p>
            <a:r>
              <a:rPr lang="en-GB" sz="1600"/>
              <a:t>William Stallings, Computer Organization and Architecture, 9</a:t>
            </a:r>
            <a:r>
              <a:rPr lang="en-GB" sz="1600" baseline="30000"/>
              <a:t>th</a:t>
            </a:r>
            <a:r>
              <a:rPr lang="en-GB" sz="1600"/>
              <a:t> </a:t>
            </a:r>
            <a:r>
              <a:rPr lang="en-GB" sz="1600" dirty="0"/>
              <a:t>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71406" y="5024174"/>
            <a:ext cx="3824286"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Chapter 8</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071934" y="5124448"/>
            <a:ext cx="4857784" cy="876320"/>
          </a:xfrm>
          <a:prstGeom prst="rect">
            <a:avLst/>
          </a:prstGeom>
        </p:spPr>
        <p:txBody>
          <a:bodyPr>
            <a:no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3600" b="1" i="0" u="none" strike="noStrike" kern="1200" cap="none" spc="0" normalizeH="0" baseline="0" noProof="0">
                <a:ln>
                  <a:noFill/>
                </a:ln>
                <a:solidFill>
                  <a:srgbClr val="002060"/>
                </a:solidFill>
                <a:effectLst/>
                <a:uLnTx/>
                <a:uFillTx/>
                <a:latin typeface="+mn-lt"/>
                <a:ea typeface="+mn-ea"/>
                <a:cs typeface="+mn-cs"/>
              </a:rPr>
              <a:t>Operating System Support</a:t>
            </a:r>
            <a:endParaRPr kumimoji="0" lang="en-US" sz="3600" b="1" i="0" u="none" strike="noStrike" kern="1200" cap="none" spc="0" normalizeH="0" baseline="0" noProof="0" dirty="0">
              <a:ln>
                <a:noFill/>
              </a:ln>
              <a:solidFill>
                <a:srgbClr val="002060"/>
              </a:solidFill>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Objectives</a:t>
            </a:r>
          </a:p>
        </p:txBody>
      </p:sp>
      <p:sp>
        <p:nvSpPr>
          <p:cNvPr id="3" name="Content Placeholder 2"/>
          <p:cNvSpPr>
            <a:spLocks noGrp="1"/>
          </p:cNvSpPr>
          <p:nvPr>
            <p:ph idx="1"/>
          </p:nvPr>
        </p:nvSpPr>
        <p:spPr>
          <a:xfrm>
            <a:off x="498474" y="1285860"/>
            <a:ext cx="7556313" cy="4840303"/>
          </a:xfrm>
        </p:spPr>
        <p:txBody>
          <a:bodyPr>
            <a:normAutofit fontScale="77500" lnSpcReduction="20000"/>
          </a:bodyPr>
          <a:lstStyle/>
          <a:p>
            <a:r>
              <a:rPr lang="en-US" sz="2800" dirty="0">
                <a:solidFill>
                  <a:srgbClr val="002060"/>
                </a:solidFill>
              </a:rPr>
              <a:t>How can a computer be made more </a:t>
            </a:r>
            <a:r>
              <a:rPr lang="en-US" sz="2800" dirty="0" err="1">
                <a:solidFill>
                  <a:srgbClr val="002060"/>
                </a:solidFill>
              </a:rPr>
              <a:t>convevient</a:t>
            </a:r>
            <a:r>
              <a:rPr lang="en-US" sz="2800" dirty="0">
                <a:solidFill>
                  <a:srgbClr val="002060"/>
                </a:solidFill>
              </a:rPr>
              <a:t> to use?</a:t>
            </a:r>
          </a:p>
          <a:p>
            <a:r>
              <a:rPr lang="en-US" sz="2800" dirty="0">
                <a:solidFill>
                  <a:srgbClr val="002060"/>
                </a:solidFill>
              </a:rPr>
              <a:t>How are computer system resources used in an efficient manner?</a:t>
            </a:r>
          </a:p>
          <a:p>
            <a:r>
              <a:rPr lang="en-US" sz="2800" dirty="0">
                <a:solidFill>
                  <a:srgbClr val="002060"/>
                </a:solidFill>
              </a:rPr>
              <a:t>After studying this chapter, you should be able to: </a:t>
            </a:r>
          </a:p>
          <a:p>
            <a:pPr lvl="1"/>
            <a:r>
              <a:rPr lang="en-US" sz="2600" dirty="0">
                <a:solidFill>
                  <a:srgbClr val="002060"/>
                </a:solidFill>
              </a:rPr>
              <a:t>Summarize, at a top level, the key functions of an operating system (OS). </a:t>
            </a:r>
          </a:p>
          <a:p>
            <a:pPr lvl="1"/>
            <a:r>
              <a:rPr lang="en-US" sz="2600" dirty="0">
                <a:solidFill>
                  <a:srgbClr val="002060"/>
                </a:solidFill>
              </a:rPr>
              <a:t>Discuss the evolution of operating systems for early simple batch systems to modern complex systems. </a:t>
            </a:r>
          </a:p>
          <a:p>
            <a:pPr lvl="1"/>
            <a:r>
              <a:rPr lang="en-US" sz="2600" dirty="0">
                <a:solidFill>
                  <a:srgbClr val="002060"/>
                </a:solidFill>
              </a:rPr>
              <a:t>Explain the differences among long-, medium-, and short-term scheduling. </a:t>
            </a:r>
          </a:p>
          <a:p>
            <a:pPr lvl="1"/>
            <a:r>
              <a:rPr lang="en-US" sz="2600" dirty="0">
                <a:solidFill>
                  <a:srgbClr val="002060"/>
                </a:solidFill>
              </a:rPr>
              <a:t>Understand the reason for memory partitioning and explain the various techniques that are used. </a:t>
            </a:r>
          </a:p>
          <a:p>
            <a:pPr lvl="1"/>
            <a:r>
              <a:rPr lang="en-US" sz="2600" dirty="0">
                <a:solidFill>
                  <a:srgbClr val="002060"/>
                </a:solidFill>
              </a:rPr>
              <a:t>Assess the relative advantages of paging and segmentation. </a:t>
            </a:r>
          </a:p>
          <a:p>
            <a:pPr lvl="1"/>
            <a:r>
              <a:rPr lang="en-US" sz="2600" dirty="0">
                <a:solidFill>
                  <a:srgbClr val="002060"/>
                </a:solidFill>
              </a:rPr>
              <a:t>Define virtual memory.</a:t>
            </a:r>
            <a:endParaRPr lang="en-US" sz="2600" dirty="0">
              <a:solidFill>
                <a:srgbClr val="002060"/>
              </a:solidFill>
              <a:latin typeface="Times New Roman" pitchFamily="-110"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Contents</a:t>
            </a:r>
          </a:p>
        </p:txBody>
      </p:sp>
      <p:sp>
        <p:nvSpPr>
          <p:cNvPr id="3" name="Content Placeholder 2"/>
          <p:cNvSpPr>
            <a:spLocks noGrp="1"/>
          </p:cNvSpPr>
          <p:nvPr>
            <p:ph idx="1"/>
          </p:nvPr>
        </p:nvSpPr>
        <p:spPr/>
        <p:txBody>
          <a:bodyPr>
            <a:normAutofit/>
          </a:bodyPr>
          <a:lstStyle/>
          <a:p>
            <a:r>
              <a:rPr lang="en-US" sz="3200" dirty="0">
                <a:solidFill>
                  <a:srgbClr val="002060"/>
                </a:solidFill>
              </a:rPr>
              <a:t>8.1 Operating System Overview</a:t>
            </a:r>
          </a:p>
          <a:p>
            <a:r>
              <a:rPr lang="en-US" sz="3200" dirty="0">
                <a:solidFill>
                  <a:srgbClr val="002060"/>
                </a:solidFill>
              </a:rPr>
              <a:t>8.2 Scheduling</a:t>
            </a:r>
          </a:p>
          <a:p>
            <a:r>
              <a:rPr lang="en-US" sz="3200" dirty="0">
                <a:solidFill>
                  <a:srgbClr val="002060"/>
                </a:solidFill>
              </a:rPr>
              <a:t>8.3 Memory Management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358246" cy="1116106"/>
          </a:xfrm>
        </p:spPr>
        <p:txBody>
          <a:bodyPr/>
          <a:lstStyle/>
          <a:p>
            <a:r>
              <a:rPr lang="en-US" sz="4000" b="1"/>
              <a:t>8.1- Operating System Overvie</a:t>
            </a:r>
            <a:r>
              <a:rPr lang="en-US" sz="4000" b="1">
                <a:solidFill>
                  <a:schemeClr val="bg1"/>
                </a:solidFill>
              </a:rPr>
              <a:t>w</a:t>
            </a:r>
          </a:p>
        </p:txBody>
      </p:sp>
      <p:sp>
        <p:nvSpPr>
          <p:cNvPr id="3" name="Content Placeholder 2"/>
          <p:cNvSpPr>
            <a:spLocks noGrp="1"/>
          </p:cNvSpPr>
          <p:nvPr>
            <p:ph idx="1"/>
          </p:nvPr>
        </p:nvSpPr>
        <p:spPr/>
        <p:txBody>
          <a:bodyPr>
            <a:normAutofit/>
          </a:bodyPr>
          <a:lstStyle/>
          <a:p>
            <a:pPr marL="398463" indent="-398463"/>
            <a:r>
              <a:rPr lang="en-US" sz="3200" dirty="0">
                <a:solidFill>
                  <a:schemeClr val="tx1"/>
                </a:solidFill>
              </a:rPr>
              <a:t>The Operating System as a User/Computer Interface</a:t>
            </a:r>
          </a:p>
          <a:p>
            <a:pPr marL="398463" indent="-398463"/>
            <a:r>
              <a:rPr lang="en-US" sz="3200" dirty="0">
                <a:solidFill>
                  <a:schemeClr val="tx1"/>
                </a:solidFill>
              </a:rPr>
              <a:t>The Operating System as Resource Manager</a:t>
            </a:r>
          </a:p>
          <a:p>
            <a:pPr marL="398463" indent="-398463"/>
            <a:r>
              <a:rPr lang="en-US" sz="3200" dirty="0">
                <a:solidFill>
                  <a:schemeClr val="tx1"/>
                </a:solidFill>
              </a:rPr>
              <a:t>Types of Operating Systems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228600" y="0"/>
            <a:ext cx="7556500" cy="1116012"/>
          </a:xfrm>
        </p:spPr>
        <p:txBody>
          <a:bodyPr/>
          <a:lstStyle/>
          <a:p>
            <a:r>
              <a:rPr lang="en-US">
                <a:effectLst>
                  <a:outerShdw blurRad="38100" dist="38100" dir="2700000" algn="tl">
                    <a:srgbClr val="000000">
                      <a:alpha val="43137"/>
                    </a:srgbClr>
                  </a:outerShdw>
                </a:effectLst>
              </a:rPr>
              <a:t>The Operating System as User/Computer Interface</a:t>
            </a:r>
            <a:endParaRPr lang="en-US" dirty="0">
              <a:effectLst>
                <a:outerShdw blurRad="38100" dist="38100" dir="2700000" algn="tl">
                  <a:srgbClr val="000000">
                    <a:alpha val="43137"/>
                  </a:srgbClr>
                </a:outerShdw>
              </a:effectLst>
            </a:endParaRPr>
          </a:p>
        </p:txBody>
      </p:sp>
      <p:pic>
        <p:nvPicPr>
          <p:cNvPr id="105475" name="Picture 3"/>
          <p:cNvPicPr>
            <a:picLocks noChangeAspect="1" noChangeArrowheads="1"/>
          </p:cNvPicPr>
          <p:nvPr/>
        </p:nvPicPr>
        <p:blipFill>
          <a:blip r:embed="rId3"/>
          <a:srcRect/>
          <a:stretch>
            <a:fillRect/>
          </a:stretch>
        </p:blipFill>
        <p:spPr bwMode="auto">
          <a:xfrm>
            <a:off x="338138" y="1338285"/>
            <a:ext cx="8467725" cy="5305425"/>
          </a:xfrm>
          <a:prstGeom prst="rect">
            <a:avLst/>
          </a:prstGeom>
          <a:noFill/>
          <a:ln w="9525">
            <a:noFill/>
            <a:miter lim="800000"/>
            <a:headEnd/>
            <a:tailEnd/>
          </a:ln>
          <a:effec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214290"/>
            <a:ext cx="7556313" cy="538146"/>
          </a:xfrm>
        </p:spPr>
        <p:txBody>
          <a:bodyPr/>
          <a:lstStyle/>
          <a:p>
            <a:r>
              <a:rPr lang="en-US" dirty="0">
                <a:effectLst>
                  <a:outerShdw blurRad="38100" dist="38100" dir="2700000" algn="tl">
                    <a:srgbClr val="000000">
                      <a:alpha val="43137"/>
                    </a:srgbClr>
                  </a:outerShdw>
                </a:effectLst>
              </a:rPr>
              <a:t>Operating System (OS) Services</a:t>
            </a:r>
          </a:p>
        </p:txBody>
      </p:sp>
      <p:sp>
        <p:nvSpPr>
          <p:cNvPr id="7171" name="Rectangle 3"/>
          <p:cNvSpPr>
            <a:spLocks noGrp="1" noChangeArrowheads="1"/>
          </p:cNvSpPr>
          <p:nvPr>
            <p:ph idx="1"/>
          </p:nvPr>
        </p:nvSpPr>
        <p:spPr>
          <a:xfrm>
            <a:off x="498474" y="1142984"/>
            <a:ext cx="7556313" cy="5334016"/>
          </a:xfrm>
        </p:spPr>
        <p:txBody>
          <a:bodyPr>
            <a:noAutofit/>
          </a:bodyPr>
          <a:lstStyle/>
          <a:p>
            <a:r>
              <a:rPr lang="en-US" sz="2400" dirty="0">
                <a:solidFill>
                  <a:schemeClr val="tx1"/>
                </a:solidFill>
              </a:rPr>
              <a:t>The most important system program</a:t>
            </a:r>
          </a:p>
          <a:p>
            <a:r>
              <a:rPr lang="en-US" sz="2400" dirty="0">
                <a:solidFill>
                  <a:schemeClr val="tx1"/>
                </a:solidFill>
              </a:rPr>
              <a:t>Masks the details of the hardware from the programmer and provides the programmer with a convenient interface for using the system</a:t>
            </a:r>
          </a:p>
          <a:p>
            <a:r>
              <a:rPr lang="en-US" sz="2400" dirty="0">
                <a:solidFill>
                  <a:schemeClr val="tx1"/>
                </a:solidFill>
              </a:rPr>
              <a:t>The OS typically provides services in the following areas:</a:t>
            </a:r>
          </a:p>
          <a:p>
            <a:pPr lvl="1"/>
            <a:r>
              <a:rPr lang="en-US" sz="2000" dirty="0">
                <a:solidFill>
                  <a:schemeClr val="tx1"/>
                </a:solidFill>
              </a:rPr>
              <a:t>Program creation</a:t>
            </a:r>
          </a:p>
          <a:p>
            <a:pPr lvl="1"/>
            <a:r>
              <a:rPr lang="en-US" sz="2000" dirty="0">
                <a:solidFill>
                  <a:schemeClr val="tx1"/>
                </a:solidFill>
              </a:rPr>
              <a:t>Program execution</a:t>
            </a:r>
          </a:p>
          <a:p>
            <a:pPr lvl="1"/>
            <a:r>
              <a:rPr lang="en-US" sz="2000" dirty="0">
                <a:solidFill>
                  <a:schemeClr val="tx1"/>
                </a:solidFill>
              </a:rPr>
              <a:t>Access to I/O devices</a:t>
            </a:r>
          </a:p>
          <a:p>
            <a:pPr lvl="1"/>
            <a:r>
              <a:rPr lang="en-US" sz="2000" dirty="0">
                <a:solidFill>
                  <a:schemeClr val="tx1"/>
                </a:solidFill>
              </a:rPr>
              <a:t>Controlled access to files</a:t>
            </a:r>
          </a:p>
          <a:p>
            <a:pPr lvl="1"/>
            <a:r>
              <a:rPr lang="en-US" sz="2000" dirty="0">
                <a:solidFill>
                  <a:schemeClr val="tx1"/>
                </a:solidFill>
              </a:rPr>
              <a:t>System access</a:t>
            </a:r>
          </a:p>
          <a:p>
            <a:pPr lvl="1"/>
            <a:r>
              <a:rPr lang="en-US" sz="2000" dirty="0">
                <a:solidFill>
                  <a:schemeClr val="tx1"/>
                </a:solidFill>
              </a:rPr>
              <a:t>Error detection and response</a:t>
            </a:r>
          </a:p>
          <a:p>
            <a:pPr lvl="1"/>
            <a:r>
              <a:rPr lang="en-US" sz="2000" dirty="0">
                <a:solidFill>
                  <a:schemeClr val="tx1"/>
                </a:solidFill>
              </a:rPr>
              <a:t>Accounting</a:t>
            </a:r>
          </a:p>
        </p:txBody>
      </p:sp>
      <p:pic>
        <p:nvPicPr>
          <p:cNvPr id="4" name="Picture 3"/>
          <p:cNvPicPr>
            <a:picLocks noChangeAspect="1"/>
          </p:cNvPicPr>
          <p:nvPr/>
        </p:nvPicPr>
        <p:blipFill>
          <a:blip r:embed="rId3"/>
          <a:stretch>
            <a:fillRect/>
          </a:stretch>
        </p:blipFill>
        <p:spPr>
          <a:xfrm>
            <a:off x="6553200" y="4495800"/>
            <a:ext cx="1904762" cy="191746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34471"/>
            <a:ext cx="7556313" cy="651323"/>
          </a:xfrm>
        </p:spPr>
        <p:txBody>
          <a:bodyPr/>
          <a:lstStyle/>
          <a:p>
            <a:r>
              <a:rPr lang="en-US" dirty="0">
                <a:effectLst>
                  <a:outerShdw blurRad="38100" dist="38100" dir="2700000" algn="tl">
                    <a:srgbClr val="000000">
                      <a:alpha val="43137"/>
                    </a:srgbClr>
                  </a:outerShdw>
                </a:effectLst>
              </a:rPr>
              <a:t>Interfaces</a:t>
            </a:r>
          </a:p>
        </p:txBody>
      </p:sp>
      <p:graphicFrame>
        <p:nvGraphicFramePr>
          <p:cNvPr id="6" name="Content Placeholder 5"/>
          <p:cNvGraphicFramePr>
            <a:graphicFrameLocks noGrp="1"/>
          </p:cNvGraphicFramePr>
          <p:nvPr>
            <p:ph idx="1"/>
          </p:nvPr>
        </p:nvGraphicFramePr>
        <p:xfrm>
          <a:off x="142844" y="1357298"/>
          <a:ext cx="8839200" cy="5429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 Placeholder 7"/>
          <p:cNvSpPr>
            <a:spLocks noGrp="1"/>
          </p:cNvSpPr>
          <p:nvPr>
            <p:ph type="body" sz="half" idx="2"/>
          </p:nvPr>
        </p:nvSpPr>
        <p:spPr>
          <a:xfrm>
            <a:off x="685800" y="785794"/>
            <a:ext cx="7558960" cy="774700"/>
          </a:xfrm>
        </p:spPr>
        <p:txBody>
          <a:bodyPr/>
          <a:lstStyle/>
          <a:p>
            <a:pPr lvl="0"/>
            <a:r>
              <a:rPr lang="en-US" dirty="0">
                <a:solidFill>
                  <a:srgbClr val="0070C0"/>
                </a:solidFill>
              </a:rPr>
              <a:t>Key interfaces in a typical computer system:</a:t>
            </a:r>
          </a:p>
          <a:p>
            <a:endParaRPr lang="en-US" sz="2000" dirty="0">
              <a:solidFill>
                <a:srgbClr val="0070C0"/>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457200"/>
            <a:ext cx="6181611" cy="1600200"/>
          </a:xfrm>
        </p:spPr>
        <p:txBody>
          <a:bodyPr>
            <a:normAutofit/>
          </a:bodyPr>
          <a:lstStyle/>
          <a:p>
            <a:pPr algn="ctr"/>
            <a:r>
              <a:rPr lang="en-US" sz="3000" dirty="0">
                <a:effectLst>
                  <a:outerShdw blurRad="38100" dist="38100" dir="2700000" algn="tl">
                    <a:srgbClr val="000000">
                      <a:alpha val="43137"/>
                    </a:srgbClr>
                  </a:outerShdw>
                </a:effectLst>
              </a:rPr>
              <a:t>Operating System </a:t>
            </a:r>
            <a:br>
              <a:rPr lang="en-US" sz="3000" dirty="0">
                <a:effectLst>
                  <a:outerShdw blurRad="38100" dist="38100" dir="2700000" algn="tl">
                    <a:srgbClr val="000000">
                      <a:alpha val="43137"/>
                    </a:srgbClr>
                  </a:outerShdw>
                </a:effectLst>
              </a:rPr>
            </a:br>
            <a:r>
              <a:rPr lang="en-US" sz="3000" dirty="0">
                <a:effectLst>
                  <a:outerShdw blurRad="38100" dist="38100" dir="2700000" algn="tl">
                    <a:srgbClr val="000000">
                      <a:alpha val="43137"/>
                    </a:srgbClr>
                  </a:outerShdw>
                </a:effectLst>
              </a:rPr>
              <a:t>as </a:t>
            </a:r>
            <a:br>
              <a:rPr lang="en-US" sz="3000" dirty="0">
                <a:effectLst>
                  <a:outerShdw blurRad="38100" dist="38100" dir="2700000" algn="tl">
                    <a:srgbClr val="000000">
                      <a:alpha val="43137"/>
                    </a:srgbClr>
                  </a:outerShdw>
                </a:effectLst>
              </a:rPr>
            </a:br>
            <a:r>
              <a:rPr lang="en-US" sz="3000" dirty="0">
                <a:effectLst>
                  <a:outerShdw blurRad="38100" dist="38100" dir="2700000" algn="tl">
                    <a:srgbClr val="000000">
                      <a:alpha val="43137"/>
                    </a:srgbClr>
                  </a:outerShdw>
                </a:effectLst>
              </a:rPr>
              <a:t>Resource Manager</a:t>
            </a:r>
          </a:p>
        </p:txBody>
      </p:sp>
      <p:sp>
        <p:nvSpPr>
          <p:cNvPr id="5" name="Content Placeholder 4"/>
          <p:cNvSpPr>
            <a:spLocks noGrp="1"/>
          </p:cNvSpPr>
          <p:nvPr>
            <p:ph type="body" sz="half" idx="2"/>
          </p:nvPr>
        </p:nvSpPr>
        <p:spPr>
          <a:xfrm>
            <a:off x="381094" y="2362200"/>
            <a:ext cx="6179566" cy="3962400"/>
          </a:xfrm>
        </p:spPr>
        <p:txBody>
          <a:bodyPr>
            <a:normAutofit/>
          </a:bodyPr>
          <a:lstStyle/>
          <a:p>
            <a:r>
              <a:rPr lang="en-US" sz="1800" dirty="0">
                <a:effectLst>
                  <a:outerShdw blurRad="38100" dist="38100" dir="2700000" algn="tl">
                    <a:srgbClr val="000000">
                      <a:alpha val="43137"/>
                    </a:srgbClr>
                  </a:outerShdw>
                </a:effectLst>
              </a:rPr>
              <a:t>A computer is a set of resources for the movement, storage, and processing of data and for the control of these functions</a:t>
            </a:r>
          </a:p>
          <a:p>
            <a:pPr lvl="1" indent="-228600">
              <a:buClr>
                <a:schemeClr val="accent4"/>
              </a:buClr>
              <a:buFont typeface="Wingdings" pitchFamily="2" charset="2"/>
              <a:buChar char="n"/>
            </a:pPr>
            <a:r>
              <a:rPr lang="en-US" sz="1800" dirty="0">
                <a:solidFill>
                  <a:schemeClr val="bg2"/>
                </a:solidFill>
                <a:effectLst>
                  <a:outerShdw blurRad="38100" dist="38100" dir="2700000" algn="tl">
                    <a:srgbClr val="000000">
                      <a:alpha val="43137"/>
                    </a:srgbClr>
                  </a:outerShdw>
                </a:effectLst>
              </a:rPr>
              <a:t>The OS is responsible for managing these resources</a:t>
            </a:r>
          </a:p>
          <a:p>
            <a:r>
              <a:rPr lang="en-US" sz="1800" dirty="0">
                <a:effectLst>
                  <a:outerShdw blurRad="38100" dist="38100" dir="2700000" algn="tl">
                    <a:srgbClr val="000000">
                      <a:alpha val="43137"/>
                    </a:srgbClr>
                  </a:outerShdw>
                </a:effectLst>
              </a:rPr>
              <a:t> The OS as a control mechanism is unusual in two respects:</a:t>
            </a:r>
          </a:p>
          <a:p>
            <a:pPr lvl="1" indent="-228600">
              <a:buClr>
                <a:schemeClr val="accent4"/>
              </a:buClr>
              <a:buFont typeface="Wingdings" pitchFamily="2" charset="2"/>
              <a:buChar char="n"/>
            </a:pPr>
            <a:r>
              <a:rPr lang="en-US" sz="1800" dirty="0">
                <a:solidFill>
                  <a:schemeClr val="bg2"/>
                </a:solidFill>
                <a:effectLst>
                  <a:outerShdw blurRad="38100" dist="38100" dir="2700000" algn="tl">
                    <a:srgbClr val="000000">
                      <a:alpha val="43137"/>
                    </a:srgbClr>
                  </a:outerShdw>
                </a:effectLst>
              </a:rPr>
              <a:t>The OS functions in the same way as ordinary computer software – it is a program executed by the processor</a:t>
            </a:r>
            <a:endParaRPr lang="en-US" sz="900" dirty="0">
              <a:solidFill>
                <a:schemeClr val="bg2"/>
              </a:solidFill>
              <a:effectLst>
                <a:outerShdw blurRad="38100" dist="38100" dir="2700000" algn="tl">
                  <a:srgbClr val="000000">
                    <a:alpha val="43137"/>
                  </a:srgbClr>
                </a:outerShdw>
              </a:effectLst>
            </a:endParaRPr>
          </a:p>
          <a:p>
            <a:pPr lvl="1" indent="-228600">
              <a:buClr>
                <a:schemeClr val="accent4"/>
              </a:buClr>
              <a:buFont typeface="Wingdings" pitchFamily="2" charset="2"/>
              <a:buChar char="n"/>
            </a:pPr>
            <a:r>
              <a:rPr lang="en-US" sz="1800" dirty="0">
                <a:solidFill>
                  <a:schemeClr val="bg2"/>
                </a:solidFill>
                <a:effectLst>
                  <a:outerShdw blurRad="38100" dist="38100" dir="2700000" algn="tl">
                    <a:srgbClr val="000000">
                      <a:alpha val="43137"/>
                    </a:srgbClr>
                  </a:outerShdw>
                </a:effectLst>
              </a:rPr>
              <a:t>The OS frequently relinquishes (</a:t>
            </a:r>
            <a:r>
              <a:rPr lang="en-US" sz="1800" dirty="0" err="1">
                <a:solidFill>
                  <a:schemeClr val="bg2"/>
                </a:solidFill>
                <a:effectLst>
                  <a:outerShdw blurRad="38100" dist="38100" dir="2700000" algn="tl">
                    <a:srgbClr val="000000">
                      <a:alpha val="43137"/>
                    </a:srgbClr>
                  </a:outerShdw>
                </a:effectLst>
              </a:rPr>
              <a:t>buông</a:t>
            </a:r>
            <a:r>
              <a:rPr lang="en-US" sz="1800" dirty="0">
                <a:solidFill>
                  <a:schemeClr val="bg2"/>
                </a:solidFill>
                <a:effectLst>
                  <a:outerShdw blurRad="38100" dist="38100" dir="2700000" algn="tl">
                    <a:srgbClr val="000000">
                      <a:alpha val="43137"/>
                    </a:srgbClr>
                  </a:outerShdw>
                </a:effectLst>
              </a:rPr>
              <a:t> </a:t>
            </a:r>
            <a:r>
              <a:rPr lang="en-US" sz="1800" dirty="0" err="1">
                <a:solidFill>
                  <a:schemeClr val="bg2"/>
                </a:solidFill>
                <a:effectLst>
                  <a:outerShdw blurRad="38100" dist="38100" dir="2700000" algn="tl">
                    <a:srgbClr val="000000">
                      <a:alpha val="43137"/>
                    </a:srgbClr>
                  </a:outerShdw>
                </a:effectLst>
              </a:rPr>
              <a:t>thả</a:t>
            </a:r>
            <a:r>
              <a:rPr lang="en-US" sz="1800" dirty="0">
                <a:solidFill>
                  <a:schemeClr val="bg2"/>
                </a:solidFill>
                <a:effectLst>
                  <a:outerShdw blurRad="38100" dist="38100" dir="2700000" algn="tl">
                    <a:srgbClr val="000000">
                      <a:alpha val="43137"/>
                    </a:srgbClr>
                  </a:outerShdw>
                </a:effectLst>
              </a:rPr>
              <a:t>) control and must depend on the processor to allow it to regain control</a:t>
            </a:r>
          </a:p>
          <a:p>
            <a:endParaRPr lang="en-US" dirty="0"/>
          </a:p>
        </p:txBody>
      </p:sp>
      <p:pic>
        <p:nvPicPr>
          <p:cNvPr id="9" name="Picture 8"/>
          <p:cNvPicPr>
            <a:picLocks noChangeAspect="1"/>
          </p:cNvPicPr>
          <p:nvPr/>
        </p:nvPicPr>
        <p:blipFill>
          <a:blip r:embed="rId3">
            <a:lum/>
            <a:alphaModFix amt="77000"/>
          </a:blip>
          <a:stretch>
            <a:fillRect/>
          </a:stretch>
        </p:blipFill>
        <p:spPr>
          <a:xfrm>
            <a:off x="6781800" y="609600"/>
            <a:ext cx="2068286" cy="1524000"/>
          </a:xfrm>
          <a:prstGeom prst="rect">
            <a:avLst/>
          </a:prstGeom>
          <a:effectLst>
            <a:softEdge rad="38100"/>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p:cNvPicPr>
            <a:picLocks noChangeAspect="1" noChangeArrowheads="1"/>
          </p:cNvPicPr>
          <p:nvPr/>
        </p:nvPicPr>
        <p:blipFill>
          <a:blip r:embed="rId3"/>
          <a:srcRect/>
          <a:stretch>
            <a:fillRect/>
          </a:stretch>
        </p:blipFill>
        <p:spPr bwMode="auto">
          <a:xfrm>
            <a:off x="857376" y="857232"/>
            <a:ext cx="7643714" cy="5686428"/>
          </a:xfrm>
          <a:prstGeom prst="rect">
            <a:avLst/>
          </a:prstGeom>
          <a:noFill/>
          <a:ln w="9525">
            <a:noFill/>
            <a:miter lim="800000"/>
            <a:headEnd/>
            <a:tailEnd/>
          </a:ln>
          <a:effectLst/>
        </p:spPr>
      </p:pic>
      <p:sp>
        <p:nvSpPr>
          <p:cNvPr id="8194" name="Rectangle 2"/>
          <p:cNvSpPr>
            <a:spLocks noGrp="1" noChangeArrowheads="1"/>
          </p:cNvSpPr>
          <p:nvPr>
            <p:ph type="title" idx="4294967295"/>
          </p:nvPr>
        </p:nvSpPr>
        <p:spPr>
          <a:xfrm>
            <a:off x="285752" y="142876"/>
            <a:ext cx="6858016" cy="785794"/>
          </a:xfrm>
        </p:spPr>
        <p:txBody>
          <a:bodyPr/>
          <a:lstStyle/>
          <a:p>
            <a:r>
              <a:rPr lang="en-US" dirty="0">
                <a:effectLst>
                  <a:outerShdw blurRad="38100" dist="38100" dir="2700000" algn="tl">
                    <a:srgbClr val="000000">
                      <a:alpha val="43137"/>
                    </a:srgbClr>
                  </a:outerShdw>
                </a:effectLst>
              </a:rPr>
              <a:t>The </a:t>
            </a:r>
            <a:r>
              <a:rPr lang="en-US">
                <a:effectLst>
                  <a:outerShdw blurRad="38100" dist="38100" dir="2700000" algn="tl">
                    <a:srgbClr val="000000">
                      <a:alpha val="43137"/>
                    </a:srgbClr>
                  </a:outerShdw>
                </a:effectLst>
              </a:rPr>
              <a:t>OS as Resource </a:t>
            </a:r>
            <a:r>
              <a:rPr lang="en-US" dirty="0">
                <a:effectLst>
                  <a:outerShdw blurRad="38100" dist="38100" dir="2700000" algn="tl">
                    <a:srgbClr val="000000">
                      <a:alpha val="43137"/>
                    </a:srgbClr>
                  </a:outerShdw>
                </a:effectLst>
              </a:rPr>
              <a:t>Manager</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09600" y="457200"/>
            <a:ext cx="7556313" cy="1116106"/>
          </a:xfrm>
        </p:spPr>
        <p:txBody>
          <a:bodyPr/>
          <a:lstStyle/>
          <a:p>
            <a:r>
              <a:rPr lang="en-US" dirty="0">
                <a:effectLst>
                  <a:outerShdw blurRad="38100" dist="38100" dir="2700000" algn="tl">
                    <a:srgbClr val="000000">
                      <a:alpha val="43137"/>
                    </a:srgbClr>
                  </a:outerShdw>
                </a:effectLst>
              </a:rPr>
              <a:t>Types of Operating Systems</a:t>
            </a:r>
          </a:p>
        </p:txBody>
      </p:sp>
      <p:sp>
        <p:nvSpPr>
          <p:cNvPr id="9219" name="Rectangle 3"/>
          <p:cNvSpPr>
            <a:spLocks noGrp="1" noChangeArrowheads="1"/>
          </p:cNvSpPr>
          <p:nvPr>
            <p:ph idx="1"/>
          </p:nvPr>
        </p:nvSpPr>
        <p:spPr>
          <a:xfrm>
            <a:off x="498474" y="1714488"/>
            <a:ext cx="7556313" cy="4643470"/>
          </a:xfrm>
        </p:spPr>
        <p:txBody>
          <a:bodyPr>
            <a:normAutofit/>
          </a:bodyPr>
          <a:lstStyle/>
          <a:p>
            <a:r>
              <a:rPr lang="en-US" sz="2400" b="1" dirty="0">
                <a:solidFill>
                  <a:srgbClr val="002060"/>
                </a:solidFill>
              </a:rPr>
              <a:t>Interactive system</a:t>
            </a:r>
          </a:p>
          <a:p>
            <a:pPr lvl="1"/>
            <a:r>
              <a:rPr lang="en-US" sz="2000" dirty="0">
                <a:solidFill>
                  <a:srgbClr val="002060"/>
                </a:solidFill>
              </a:rPr>
              <a:t>The user/programmer interacts directly with the computer to request the execution of a job or to perform a transaction</a:t>
            </a:r>
          </a:p>
          <a:p>
            <a:pPr lvl="1"/>
            <a:r>
              <a:rPr lang="en-US" sz="2000" dirty="0">
                <a:solidFill>
                  <a:srgbClr val="002060"/>
                </a:solidFill>
              </a:rPr>
              <a:t>User may, depending on the nature of the application, communicate with the computer during the execution of the job</a:t>
            </a:r>
          </a:p>
          <a:p>
            <a:r>
              <a:rPr lang="en-US" sz="2400" b="1" dirty="0">
                <a:solidFill>
                  <a:srgbClr val="002060"/>
                </a:solidFill>
              </a:rPr>
              <a:t>Batch system</a:t>
            </a:r>
          </a:p>
          <a:p>
            <a:pPr lvl="1"/>
            <a:r>
              <a:rPr lang="en-US" sz="2000" dirty="0">
                <a:solidFill>
                  <a:srgbClr val="002060"/>
                </a:solidFill>
              </a:rPr>
              <a:t>Opposite of interactive</a:t>
            </a:r>
          </a:p>
          <a:p>
            <a:pPr lvl="1"/>
            <a:r>
              <a:rPr lang="en-US" sz="2000" dirty="0">
                <a:solidFill>
                  <a:srgbClr val="002060"/>
                </a:solidFill>
              </a:rPr>
              <a:t>The user’s program is batched together with programs from other users and submitted by a computer operator</a:t>
            </a:r>
          </a:p>
          <a:p>
            <a:pPr lvl="1"/>
            <a:r>
              <a:rPr lang="en-US" sz="2000" dirty="0">
                <a:solidFill>
                  <a:srgbClr val="002060"/>
                </a:solidFill>
              </a:rPr>
              <a:t>After the program is completed results are printed out for the user</a:t>
            </a:r>
            <a:endParaRPr lang="en-US" sz="2400" dirty="0">
              <a:solidFill>
                <a:srgbClr val="00206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457200"/>
            <a:ext cx="7556313" cy="1116106"/>
          </a:xfrm>
        </p:spPr>
        <p:txBody>
          <a:bodyPr/>
          <a:lstStyle/>
          <a:p>
            <a:r>
              <a:rPr lang="en-US" dirty="0">
                <a:effectLst>
                  <a:outerShdw blurRad="38100" dist="38100" dir="2700000" algn="tl">
                    <a:srgbClr val="000000">
                      <a:alpha val="43137"/>
                    </a:srgbClr>
                  </a:outerShdw>
                </a:effectLst>
              </a:rPr>
              <a:t>Early Systems</a:t>
            </a:r>
          </a:p>
        </p:txBody>
      </p:sp>
      <p:sp>
        <p:nvSpPr>
          <p:cNvPr id="10243" name="Rectangle 3"/>
          <p:cNvSpPr>
            <a:spLocks noGrp="1" noChangeArrowheads="1"/>
          </p:cNvSpPr>
          <p:nvPr>
            <p:ph idx="1"/>
          </p:nvPr>
        </p:nvSpPr>
        <p:spPr>
          <a:xfrm>
            <a:off x="457200" y="1524000"/>
            <a:ext cx="7620000" cy="5029200"/>
          </a:xfrm>
        </p:spPr>
        <p:txBody>
          <a:bodyPr>
            <a:normAutofit fontScale="92500" lnSpcReduction="20000"/>
          </a:bodyPr>
          <a:lstStyle/>
          <a:p>
            <a:r>
              <a:rPr lang="en-US" dirty="0">
                <a:solidFill>
                  <a:srgbClr val="002060"/>
                </a:solidFill>
              </a:rPr>
              <a:t>From the late 1940s to the mid-1950s the                        programmer interacted directly with the computer            hardware – there was no OS</a:t>
            </a:r>
          </a:p>
          <a:p>
            <a:pPr lvl="1"/>
            <a:r>
              <a:rPr lang="en-US" dirty="0">
                <a:solidFill>
                  <a:srgbClr val="002060"/>
                </a:solidFill>
              </a:rPr>
              <a:t>Processors were run from a console consisting of display lights, toggle switches, some form of input device and a printer</a:t>
            </a:r>
          </a:p>
          <a:p>
            <a:r>
              <a:rPr lang="en-US" b="1" dirty="0">
                <a:solidFill>
                  <a:srgbClr val="002060"/>
                </a:solidFill>
              </a:rPr>
              <a:t>Problems:</a:t>
            </a:r>
          </a:p>
          <a:p>
            <a:pPr lvl="1"/>
            <a:r>
              <a:rPr lang="en-US" b="1" dirty="0">
                <a:solidFill>
                  <a:srgbClr val="002060"/>
                </a:solidFill>
              </a:rPr>
              <a:t>Scheduling</a:t>
            </a:r>
          </a:p>
          <a:p>
            <a:pPr lvl="2"/>
            <a:r>
              <a:rPr lang="en-US" dirty="0">
                <a:solidFill>
                  <a:srgbClr val="002060"/>
                </a:solidFill>
              </a:rPr>
              <a:t>Sign-up sheets (</a:t>
            </a:r>
            <a:r>
              <a:rPr lang="en-US" dirty="0" err="1">
                <a:solidFill>
                  <a:srgbClr val="002060"/>
                </a:solidFill>
              </a:rPr>
              <a:t>bản</a:t>
            </a:r>
            <a:r>
              <a:rPr lang="en-US" dirty="0">
                <a:solidFill>
                  <a:srgbClr val="002060"/>
                </a:solidFill>
              </a:rPr>
              <a:t> </a:t>
            </a:r>
            <a:r>
              <a:rPr lang="en-US" dirty="0" err="1">
                <a:solidFill>
                  <a:srgbClr val="002060"/>
                </a:solidFill>
              </a:rPr>
              <a:t>đăng</a:t>
            </a:r>
            <a:r>
              <a:rPr lang="en-US" dirty="0">
                <a:solidFill>
                  <a:srgbClr val="002060"/>
                </a:solidFill>
              </a:rPr>
              <a:t> </a:t>
            </a:r>
            <a:r>
              <a:rPr lang="en-US" dirty="0" err="1">
                <a:solidFill>
                  <a:srgbClr val="002060"/>
                </a:solidFill>
              </a:rPr>
              <a:t>ký</a:t>
            </a:r>
            <a:r>
              <a:rPr lang="en-US" dirty="0">
                <a:solidFill>
                  <a:srgbClr val="002060"/>
                </a:solidFill>
              </a:rPr>
              <a:t>)were used to reserve processor time</a:t>
            </a:r>
          </a:p>
          <a:p>
            <a:pPr lvl="3"/>
            <a:r>
              <a:rPr lang="en-US" dirty="0">
                <a:solidFill>
                  <a:srgbClr val="002060"/>
                </a:solidFill>
              </a:rPr>
              <a:t>This could result in wasted computer idle time if the user finished early</a:t>
            </a:r>
          </a:p>
          <a:p>
            <a:pPr lvl="3"/>
            <a:r>
              <a:rPr lang="en-US" dirty="0">
                <a:solidFill>
                  <a:srgbClr val="002060"/>
                </a:solidFill>
              </a:rPr>
              <a:t>If problems occurred the user could be forced to stop before resolving the problem</a:t>
            </a:r>
          </a:p>
          <a:p>
            <a:pPr lvl="1"/>
            <a:r>
              <a:rPr lang="en-US" b="1" dirty="0">
                <a:solidFill>
                  <a:srgbClr val="002060"/>
                </a:solidFill>
              </a:rPr>
              <a:t>Setup time</a:t>
            </a:r>
          </a:p>
          <a:p>
            <a:pPr lvl="2"/>
            <a:r>
              <a:rPr lang="en-US" dirty="0">
                <a:solidFill>
                  <a:srgbClr val="002060"/>
                </a:solidFill>
              </a:rPr>
              <a:t>A single program could involve</a:t>
            </a:r>
          </a:p>
          <a:p>
            <a:pPr lvl="3"/>
            <a:r>
              <a:rPr lang="en-US" dirty="0">
                <a:solidFill>
                  <a:srgbClr val="002060"/>
                </a:solidFill>
              </a:rPr>
              <a:t>Loading the compiler plus the source program into memory</a:t>
            </a:r>
          </a:p>
          <a:p>
            <a:pPr lvl="3"/>
            <a:r>
              <a:rPr lang="en-US" dirty="0">
                <a:solidFill>
                  <a:srgbClr val="002060"/>
                </a:solidFill>
              </a:rPr>
              <a:t>Saving the compiled program</a:t>
            </a:r>
          </a:p>
          <a:p>
            <a:pPr lvl="3"/>
            <a:r>
              <a:rPr lang="en-US" dirty="0">
                <a:solidFill>
                  <a:srgbClr val="002060"/>
                </a:solidFill>
              </a:rPr>
              <a:t>Loading and linking together the object program and common functions</a:t>
            </a:r>
          </a:p>
          <a:p>
            <a:endParaRPr lang="en-US" dirty="0">
              <a:solidFill>
                <a:srgbClr val="002060"/>
              </a:solidFill>
            </a:endParaRPr>
          </a:p>
          <a:p>
            <a:endParaRPr lang="en-US" dirty="0">
              <a:solidFill>
                <a:srgbClr val="002060"/>
              </a:solidFill>
            </a:endParaRPr>
          </a:p>
        </p:txBody>
      </p:sp>
      <p:pic>
        <p:nvPicPr>
          <p:cNvPr id="4" name="Picture 3"/>
          <p:cNvPicPr>
            <a:picLocks noChangeAspect="1"/>
          </p:cNvPicPr>
          <p:nvPr/>
        </p:nvPicPr>
        <p:blipFill>
          <a:blip r:embed="rId3"/>
          <a:stretch>
            <a:fillRect/>
          </a:stretch>
        </p:blipFill>
        <p:spPr>
          <a:xfrm>
            <a:off x="6464300" y="71414"/>
            <a:ext cx="2679700" cy="204470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428604"/>
            <a:ext cx="3255264" cy="4219588"/>
          </a:xfrm>
        </p:spPr>
        <p:txBody>
          <a:bodyPr>
            <a:noAutofit/>
          </a:bodyPr>
          <a:lstStyle/>
          <a:p>
            <a:pPr algn="ctr"/>
            <a:r>
              <a:rPr lang="en-US" sz="3200">
                <a:effectLst>
                  <a:outerShdw blurRad="38100" dist="38100" dir="2700000" algn="tl">
                    <a:srgbClr val="000000">
                      <a:alpha val="43137"/>
                    </a:srgbClr>
                  </a:outerShdw>
                </a:effectLst>
              </a:rPr>
              <a:t>Simple Batch System:</a:t>
            </a:r>
            <a:br>
              <a:rPr lang="en-US" sz="3200">
                <a:effectLst>
                  <a:outerShdw blurRad="38100" dist="38100" dir="2700000" algn="tl">
                    <a:srgbClr val="000000">
                      <a:alpha val="43137"/>
                    </a:srgbClr>
                  </a:outerShdw>
                </a:effectLst>
              </a:rPr>
            </a:br>
            <a:br>
              <a:rPr lang="en-US" sz="32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Memory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Layout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for a </a:t>
            </a:r>
            <a:br>
              <a:rPr lang="en-US" sz="3200" dirty="0">
                <a:effectLst>
                  <a:outerShdw blurRad="38100" dist="38100" dir="2700000" algn="tl">
                    <a:srgbClr val="000000">
                      <a:alpha val="43137"/>
                    </a:srgbClr>
                  </a:outerShdw>
                </a:effectLst>
              </a:rPr>
            </a:br>
            <a:r>
              <a:rPr lang="en-US" sz="3200" dirty="0">
                <a:effectLst>
                  <a:outerShdw blurRad="38100" dist="38100" dir="2700000" algn="tl">
                    <a:srgbClr val="000000">
                      <a:alpha val="43137"/>
                    </a:srgbClr>
                  </a:outerShdw>
                </a:effectLst>
              </a:rPr>
              <a:t>Resident Monitor</a:t>
            </a:r>
          </a:p>
        </p:txBody>
      </p:sp>
      <p:pic>
        <p:nvPicPr>
          <p:cNvPr id="107522" name="Picture 2"/>
          <p:cNvPicPr>
            <a:picLocks noChangeAspect="1" noChangeArrowheads="1"/>
          </p:cNvPicPr>
          <p:nvPr/>
        </p:nvPicPr>
        <p:blipFill>
          <a:blip r:embed="rId3"/>
          <a:srcRect/>
          <a:stretch>
            <a:fillRect/>
          </a:stretch>
        </p:blipFill>
        <p:spPr bwMode="auto">
          <a:xfrm>
            <a:off x="4188590" y="147576"/>
            <a:ext cx="4491096" cy="6639010"/>
          </a:xfrm>
          <a:prstGeom prst="rect">
            <a:avLst/>
          </a:prstGeom>
          <a:noFill/>
          <a:ln w="9525">
            <a:noFill/>
            <a:miter lim="800000"/>
            <a:headEnd/>
            <a:tailEnd/>
          </a:ln>
          <a:effec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From the View of the Processor . . .</a:t>
            </a:r>
          </a:p>
        </p:txBody>
      </p:sp>
      <p:sp>
        <p:nvSpPr>
          <p:cNvPr id="12291" name="Rectangle 3"/>
          <p:cNvSpPr>
            <a:spLocks noGrp="1" noChangeArrowheads="1"/>
          </p:cNvSpPr>
          <p:nvPr>
            <p:ph idx="4294967295"/>
          </p:nvPr>
        </p:nvSpPr>
        <p:spPr>
          <a:xfrm>
            <a:off x="533400" y="1733552"/>
            <a:ext cx="7556500" cy="4838720"/>
          </a:xfrm>
        </p:spPr>
        <p:txBody>
          <a:bodyPr>
            <a:normAutofit fontScale="77500" lnSpcReduction="20000"/>
          </a:bodyPr>
          <a:lstStyle/>
          <a:p>
            <a:r>
              <a:rPr lang="en-US" sz="3040" dirty="0">
                <a:solidFill>
                  <a:srgbClr val="002060"/>
                </a:solidFill>
              </a:rPr>
              <a:t>Processor executes instructions from the portion of main memory containing the monitor</a:t>
            </a:r>
          </a:p>
          <a:p>
            <a:pPr lvl="1"/>
            <a:r>
              <a:rPr lang="en-US" sz="2720" dirty="0">
                <a:solidFill>
                  <a:schemeClr val="tx1"/>
                </a:solidFill>
              </a:rPr>
              <a:t>These instructions cause the next job to be read in another portion of main memory</a:t>
            </a:r>
          </a:p>
          <a:p>
            <a:pPr lvl="1"/>
            <a:r>
              <a:rPr lang="en-US" sz="2720" dirty="0">
                <a:solidFill>
                  <a:schemeClr val="tx1"/>
                </a:solidFill>
              </a:rPr>
              <a:t>The processor executes the instruction in the user’s program until it encounters an ending or error condition</a:t>
            </a:r>
          </a:p>
          <a:p>
            <a:pPr lvl="1"/>
            <a:r>
              <a:rPr lang="en-US" sz="2720" dirty="0">
                <a:solidFill>
                  <a:schemeClr val="tx1"/>
                </a:solidFill>
              </a:rPr>
              <a:t>Either event causes the processor to fetch its next instruction from the monitor program</a:t>
            </a:r>
          </a:p>
          <a:p>
            <a:r>
              <a:rPr lang="en-US" sz="2947" dirty="0">
                <a:solidFill>
                  <a:srgbClr val="002060"/>
                </a:solidFill>
              </a:rPr>
              <a:t>The monitor handles setup and scheduling </a:t>
            </a:r>
          </a:p>
          <a:p>
            <a:pPr lvl="1"/>
            <a:r>
              <a:rPr lang="en-US" sz="2750" dirty="0">
                <a:solidFill>
                  <a:schemeClr val="tx1"/>
                </a:solidFill>
              </a:rPr>
              <a:t>A batch of jobs is queued up and executed as rapidly as possible with no idle time</a:t>
            </a:r>
          </a:p>
          <a:p>
            <a:r>
              <a:rPr lang="en-US" sz="2947" dirty="0">
                <a:solidFill>
                  <a:srgbClr val="002060"/>
                </a:solidFill>
              </a:rPr>
              <a:t>Job control language (JCL)</a:t>
            </a:r>
          </a:p>
          <a:p>
            <a:pPr lvl="1"/>
            <a:r>
              <a:rPr lang="en-US" sz="2750" dirty="0">
                <a:solidFill>
                  <a:schemeClr val="tx1"/>
                </a:solidFill>
              </a:rPr>
              <a:t>Special type of programming language used to provide instructions to the monitor</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From the View of the Processor . . .</a:t>
            </a:r>
          </a:p>
        </p:txBody>
      </p:sp>
      <p:sp>
        <p:nvSpPr>
          <p:cNvPr id="12291" name="Rectangle 3"/>
          <p:cNvSpPr>
            <a:spLocks noGrp="1" noChangeArrowheads="1"/>
          </p:cNvSpPr>
          <p:nvPr>
            <p:ph idx="4294967295"/>
          </p:nvPr>
        </p:nvSpPr>
        <p:spPr>
          <a:xfrm>
            <a:off x="533400" y="1447800"/>
            <a:ext cx="7556500" cy="4838720"/>
          </a:xfrm>
        </p:spPr>
        <p:txBody>
          <a:bodyPr>
            <a:noAutofit/>
          </a:bodyPr>
          <a:lstStyle/>
          <a:p>
            <a:r>
              <a:rPr lang="en-US" dirty="0">
                <a:solidFill>
                  <a:srgbClr val="002060"/>
                </a:solidFill>
              </a:rPr>
              <a:t>Example:</a:t>
            </a:r>
          </a:p>
          <a:p>
            <a:pPr lvl="1"/>
            <a:r>
              <a:rPr lang="en-US" sz="2000" dirty="0">
                <a:solidFill>
                  <a:srgbClr val="002060"/>
                </a:solidFill>
              </a:rPr>
              <a:t>$JOB</a:t>
            </a:r>
          </a:p>
          <a:p>
            <a:pPr lvl="1"/>
            <a:r>
              <a:rPr lang="en-US" sz="2000" dirty="0">
                <a:solidFill>
                  <a:srgbClr val="002060"/>
                </a:solidFill>
              </a:rPr>
              <a:t>$FTN</a:t>
            </a:r>
          </a:p>
          <a:p>
            <a:pPr lvl="1"/>
            <a:r>
              <a:rPr lang="en-US" sz="2000" dirty="0">
                <a:solidFill>
                  <a:srgbClr val="002060"/>
                </a:solidFill>
              </a:rPr>
              <a:t>...	Some Fortran instructions</a:t>
            </a:r>
          </a:p>
          <a:p>
            <a:pPr lvl="1"/>
            <a:r>
              <a:rPr lang="en-US" sz="2000" dirty="0">
                <a:solidFill>
                  <a:srgbClr val="002060"/>
                </a:solidFill>
              </a:rPr>
              <a:t>$LOAD</a:t>
            </a:r>
          </a:p>
          <a:p>
            <a:pPr lvl="1"/>
            <a:r>
              <a:rPr lang="en-US" sz="2000" dirty="0">
                <a:solidFill>
                  <a:srgbClr val="002060"/>
                </a:solidFill>
              </a:rPr>
              <a:t>$RUN</a:t>
            </a:r>
          </a:p>
          <a:p>
            <a:pPr lvl="1"/>
            <a:r>
              <a:rPr lang="en-US" sz="2000" dirty="0">
                <a:solidFill>
                  <a:srgbClr val="002060"/>
                </a:solidFill>
              </a:rPr>
              <a:t>...	Some data</a:t>
            </a:r>
          </a:p>
          <a:p>
            <a:pPr lvl="1"/>
            <a:r>
              <a:rPr lang="en-US" sz="2000" dirty="0">
                <a:solidFill>
                  <a:srgbClr val="002060"/>
                </a:solidFill>
              </a:rPr>
              <a:t>$END</a:t>
            </a:r>
          </a:p>
          <a:p>
            <a:pPr marL="228600" lvl="1">
              <a:spcBef>
                <a:spcPts val="2000"/>
              </a:spcBef>
              <a:buClr>
                <a:schemeClr val="accent1"/>
              </a:buClr>
            </a:pPr>
            <a:r>
              <a:rPr lang="en-US" sz="2000" dirty="0">
                <a:solidFill>
                  <a:srgbClr val="002060"/>
                </a:solidFill>
              </a:rPr>
              <a:t>Monitor, or batch OS, is simply a computer program</a:t>
            </a:r>
          </a:p>
          <a:p>
            <a:pPr lvl="1"/>
            <a:r>
              <a:rPr lang="en-US" sz="2000" dirty="0">
                <a:solidFill>
                  <a:srgbClr val="002060"/>
                </a:solidFill>
              </a:rPr>
              <a:t>It relies on the ability of the processor to fetch instructions from various portions of main memory in order to seize (</a:t>
            </a:r>
            <a:r>
              <a:rPr lang="en-US" sz="2000" dirty="0" err="1">
                <a:solidFill>
                  <a:srgbClr val="002060"/>
                </a:solidFill>
              </a:rPr>
              <a:t>nắm</a:t>
            </a:r>
            <a:r>
              <a:rPr lang="en-US" sz="2000" dirty="0">
                <a:solidFill>
                  <a:srgbClr val="002060"/>
                </a:solidFill>
              </a:rPr>
              <a:t> </a:t>
            </a:r>
            <a:r>
              <a:rPr lang="en-US" sz="2000" dirty="0" err="1">
                <a:solidFill>
                  <a:srgbClr val="002060"/>
                </a:solidFill>
              </a:rPr>
              <a:t>lấy</a:t>
            </a:r>
            <a:r>
              <a:rPr lang="en-US" sz="2000" dirty="0">
                <a:solidFill>
                  <a:srgbClr val="002060"/>
                </a:solidFill>
              </a:rPr>
              <a:t>) and relinquish (</a:t>
            </a:r>
            <a:r>
              <a:rPr lang="en-US" sz="2000" dirty="0" err="1">
                <a:solidFill>
                  <a:srgbClr val="002060"/>
                </a:solidFill>
              </a:rPr>
              <a:t>từ</a:t>
            </a:r>
            <a:r>
              <a:rPr lang="en-US" sz="2000" dirty="0">
                <a:solidFill>
                  <a:srgbClr val="002060"/>
                </a:solidFill>
              </a:rPr>
              <a:t> </a:t>
            </a:r>
            <a:r>
              <a:rPr lang="en-US" sz="2000" dirty="0" err="1">
                <a:solidFill>
                  <a:srgbClr val="002060"/>
                </a:solidFill>
              </a:rPr>
              <a:t>bỏ</a:t>
            </a:r>
            <a:r>
              <a:rPr lang="en-US" sz="2000" dirty="0">
                <a:solidFill>
                  <a:srgbClr val="002060"/>
                </a:solidFill>
              </a:rPr>
              <a:t>) control alternately</a:t>
            </a:r>
          </a:p>
        </p:txBody>
      </p:sp>
      <p:grpSp>
        <p:nvGrpSpPr>
          <p:cNvPr id="7" name="Group 6"/>
          <p:cNvGrpSpPr/>
          <p:nvPr/>
        </p:nvGrpSpPr>
        <p:grpSpPr>
          <a:xfrm>
            <a:off x="5286380" y="1714487"/>
            <a:ext cx="3857620" cy="2571769"/>
            <a:chOff x="4733924" y="4114800"/>
            <a:chExt cx="3857620" cy="1133335"/>
          </a:xfrm>
        </p:grpSpPr>
        <p:sp>
          <p:nvSpPr>
            <p:cNvPr id="4" name="TextBox 3"/>
            <p:cNvSpPr txBox="1"/>
            <p:nvPr/>
          </p:nvSpPr>
          <p:spPr>
            <a:xfrm>
              <a:off x="5029200" y="4191000"/>
              <a:ext cx="3352800" cy="1055789"/>
            </a:xfrm>
            <a:prstGeom prst="rect">
              <a:avLst/>
            </a:prstGeom>
            <a:noFill/>
          </p:spPr>
          <p:txBody>
            <a:bodyPr wrap="square" rtlCol="0">
              <a:spAutoFit/>
            </a:bodyPr>
            <a:lstStyle/>
            <a:p>
              <a:r>
                <a:rPr lang="en-US" sz="1600" dirty="0">
                  <a:solidFill>
                    <a:schemeClr val="tx1">
                      <a:lumMod val="65000"/>
                      <a:lumOff val="35000"/>
                    </a:schemeClr>
                  </a:solidFill>
                  <a:latin typeface="+mn-lt"/>
                </a:rPr>
                <a:t>**Each FORTRAN instruction and each item of data is on a separate punched card or a separate record on tape. In addition to FORTRAN and data lines, the job includes job control instructions, which are</a:t>
              </a:r>
            </a:p>
            <a:p>
              <a:r>
                <a:rPr lang="en-US" sz="1600" dirty="0">
                  <a:solidFill>
                    <a:schemeClr val="tx1">
                      <a:lumMod val="65000"/>
                      <a:lumOff val="35000"/>
                    </a:schemeClr>
                  </a:solidFill>
                  <a:latin typeface="+mn-lt"/>
                </a:rPr>
                <a:t>denoted by the beginning “$”.</a:t>
              </a:r>
            </a:p>
          </p:txBody>
        </p:sp>
        <p:sp>
          <p:nvSpPr>
            <p:cNvPr id="6" name="Double Brace 5"/>
            <p:cNvSpPr/>
            <p:nvPr/>
          </p:nvSpPr>
          <p:spPr>
            <a:xfrm>
              <a:off x="4733924" y="4114800"/>
              <a:ext cx="3857620" cy="1133335"/>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4800"/>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98474" y="142852"/>
            <a:ext cx="7556313" cy="801766"/>
          </a:xfrm>
        </p:spPr>
        <p:txBody>
          <a:bodyPr/>
          <a:lstStyle/>
          <a:p>
            <a:r>
              <a:rPr lang="en-US" dirty="0">
                <a:effectLst>
                  <a:outerShdw blurRad="38100" dist="38100" dir="2700000" algn="tl">
                    <a:srgbClr val="000000">
                      <a:alpha val="43137"/>
                    </a:srgbClr>
                  </a:outerShdw>
                </a:effectLst>
              </a:rPr>
              <a:t>Desirable Hardware Features</a:t>
            </a:r>
          </a:p>
        </p:txBody>
      </p:sp>
      <p:sp>
        <p:nvSpPr>
          <p:cNvPr id="5" name="Content Placeholder 4"/>
          <p:cNvSpPr>
            <a:spLocks noGrp="1"/>
          </p:cNvSpPr>
          <p:nvPr>
            <p:ph sz="half" idx="17"/>
          </p:nvPr>
        </p:nvSpPr>
        <p:spPr>
          <a:xfrm>
            <a:off x="125915" y="1285860"/>
            <a:ext cx="4160333" cy="2590800"/>
          </a:xfrm>
        </p:spPr>
        <p:txBody>
          <a:bodyPr>
            <a:noAutofit/>
          </a:bodyPr>
          <a:lstStyle/>
          <a:p>
            <a:r>
              <a:rPr lang="en-US" sz="2400" b="1" dirty="0">
                <a:solidFill>
                  <a:srgbClr val="002060"/>
                </a:solidFill>
              </a:rPr>
              <a:t>Memory protection</a:t>
            </a:r>
          </a:p>
          <a:p>
            <a:pPr lvl="1"/>
            <a:r>
              <a:rPr lang="en-US" dirty="0">
                <a:solidFill>
                  <a:srgbClr val="002060"/>
                </a:solidFill>
              </a:rPr>
              <a:t>User program must not alter the memory area containing the monitor  </a:t>
            </a:r>
          </a:p>
          <a:p>
            <a:pPr lvl="1"/>
            <a:r>
              <a:rPr lang="en-US" dirty="0">
                <a:solidFill>
                  <a:srgbClr val="002060"/>
                </a:solidFill>
              </a:rPr>
              <a:t>The processor hardware should detect an error and transfer control to the monitor</a:t>
            </a:r>
          </a:p>
          <a:p>
            <a:pPr lvl="1"/>
            <a:r>
              <a:rPr lang="en-US" dirty="0">
                <a:solidFill>
                  <a:srgbClr val="002060"/>
                </a:solidFill>
              </a:rPr>
              <a:t>The monitor aborts the job, prints an error message, and loads the next job</a:t>
            </a:r>
          </a:p>
        </p:txBody>
      </p:sp>
      <p:sp>
        <p:nvSpPr>
          <p:cNvPr id="6" name="Content Placeholder 5"/>
          <p:cNvSpPr>
            <a:spLocks noGrp="1"/>
          </p:cNvSpPr>
          <p:nvPr>
            <p:ph sz="half" idx="18"/>
          </p:nvPr>
        </p:nvSpPr>
        <p:spPr>
          <a:xfrm>
            <a:off x="214282" y="4412637"/>
            <a:ext cx="3657413" cy="2159635"/>
          </a:xfrm>
        </p:spPr>
        <p:txBody>
          <a:bodyPr>
            <a:normAutofit lnSpcReduction="10000"/>
          </a:bodyPr>
          <a:lstStyle/>
          <a:p>
            <a:r>
              <a:rPr lang="en-US" sz="2065" b="1" dirty="0">
                <a:solidFill>
                  <a:srgbClr val="002060"/>
                </a:solidFill>
              </a:rPr>
              <a:t>Timer</a:t>
            </a:r>
          </a:p>
          <a:p>
            <a:pPr lvl="1"/>
            <a:r>
              <a:rPr lang="en-US" dirty="0">
                <a:solidFill>
                  <a:srgbClr val="002060"/>
                </a:solidFill>
              </a:rPr>
              <a:t>Used to prevent a job </a:t>
            </a:r>
            <a:r>
              <a:rPr lang="en-US">
                <a:solidFill>
                  <a:srgbClr val="002060"/>
                </a:solidFill>
              </a:rPr>
              <a:t>from monopolizing (độc chiếm) </a:t>
            </a:r>
            <a:r>
              <a:rPr lang="en-US" dirty="0">
                <a:solidFill>
                  <a:srgbClr val="002060"/>
                </a:solidFill>
              </a:rPr>
              <a:t>the system</a:t>
            </a:r>
          </a:p>
          <a:p>
            <a:pPr lvl="1"/>
            <a:r>
              <a:rPr lang="en-US" dirty="0">
                <a:solidFill>
                  <a:srgbClr val="002060"/>
                </a:solidFill>
              </a:rPr>
              <a:t>If the timer expires an interrupt occurs and control returns to monitor</a:t>
            </a:r>
          </a:p>
        </p:txBody>
      </p:sp>
      <p:sp>
        <p:nvSpPr>
          <p:cNvPr id="13315" name="Rectangle 3"/>
          <p:cNvSpPr>
            <a:spLocks noGrp="1" noChangeArrowheads="1"/>
          </p:cNvSpPr>
          <p:nvPr>
            <p:ph sz="half" idx="1"/>
          </p:nvPr>
        </p:nvSpPr>
        <p:spPr>
          <a:xfrm>
            <a:off x="4410074" y="1447800"/>
            <a:ext cx="4448206" cy="2981332"/>
          </a:xfrm>
        </p:spPr>
        <p:txBody>
          <a:bodyPr>
            <a:normAutofit lnSpcReduction="10000"/>
          </a:bodyPr>
          <a:lstStyle/>
          <a:p>
            <a:r>
              <a:rPr lang="en-US" sz="2232" b="1" dirty="0">
                <a:solidFill>
                  <a:srgbClr val="002060"/>
                </a:solidFill>
              </a:rPr>
              <a:t>Privileged instructions</a:t>
            </a:r>
          </a:p>
          <a:p>
            <a:pPr lvl="1"/>
            <a:r>
              <a:rPr lang="en-US">
                <a:solidFill>
                  <a:srgbClr val="002060"/>
                </a:solidFill>
              </a:rPr>
              <a:t>Lệnh đặc biệt, nhạy cảm</a:t>
            </a:r>
          </a:p>
          <a:p>
            <a:pPr lvl="1"/>
            <a:r>
              <a:rPr lang="en-US">
                <a:solidFill>
                  <a:srgbClr val="002060"/>
                </a:solidFill>
              </a:rPr>
              <a:t>Can </a:t>
            </a:r>
            <a:r>
              <a:rPr lang="en-US" dirty="0">
                <a:solidFill>
                  <a:srgbClr val="002060"/>
                </a:solidFill>
              </a:rPr>
              <a:t>only be executed by the monitor</a:t>
            </a:r>
          </a:p>
          <a:p>
            <a:pPr lvl="1"/>
            <a:r>
              <a:rPr lang="en-US" dirty="0">
                <a:solidFill>
                  <a:srgbClr val="002060"/>
                </a:solidFill>
              </a:rPr>
              <a:t>If the processor encounters such an instruction while executing a user program an error interrupt occurs</a:t>
            </a:r>
          </a:p>
          <a:p>
            <a:pPr lvl="1"/>
            <a:r>
              <a:rPr lang="en-US" dirty="0">
                <a:solidFill>
                  <a:srgbClr val="002060"/>
                </a:solidFill>
              </a:rPr>
              <a:t>I/O instructions are privileged so the monitor retains control of all I/O devices</a:t>
            </a:r>
          </a:p>
        </p:txBody>
      </p:sp>
      <p:sp>
        <p:nvSpPr>
          <p:cNvPr id="4" name="Content Placeholder 3"/>
          <p:cNvSpPr>
            <a:spLocks noGrp="1"/>
          </p:cNvSpPr>
          <p:nvPr>
            <p:ph sz="half" idx="16"/>
          </p:nvPr>
        </p:nvSpPr>
        <p:spPr>
          <a:xfrm>
            <a:off x="4572000" y="4481514"/>
            <a:ext cx="4214842" cy="1805006"/>
          </a:xfrm>
        </p:spPr>
        <p:txBody>
          <a:bodyPr/>
          <a:lstStyle/>
          <a:p>
            <a:r>
              <a:rPr lang="en-US" sz="2065" b="1" dirty="0">
                <a:solidFill>
                  <a:srgbClr val="002060"/>
                </a:solidFill>
              </a:rPr>
              <a:t>Interrupts</a:t>
            </a:r>
          </a:p>
          <a:p>
            <a:pPr lvl="1"/>
            <a:r>
              <a:rPr lang="en-US" dirty="0">
                <a:solidFill>
                  <a:srgbClr val="002060"/>
                </a:solidFill>
              </a:rPr>
              <a:t>Gives the OS more flexibility in relinquishing control to and regaining control from user programs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14400" y="304801"/>
            <a:ext cx="7620000" cy="695307"/>
          </a:xfrm>
        </p:spPr>
        <p:txBody>
          <a:bodyPr>
            <a:noAutofit/>
          </a:bodyPr>
          <a:lstStyle/>
          <a:p>
            <a:r>
              <a:rPr lang="en-US" sz="4000" dirty="0">
                <a:effectLst>
                  <a:outerShdw blurRad="38100" dist="38100" dir="2700000" algn="tl">
                    <a:srgbClr val="000000">
                      <a:alpha val="43137"/>
                    </a:srgbClr>
                  </a:outerShdw>
                </a:effectLst>
              </a:rPr>
              <a:t>System Utilization Example</a:t>
            </a:r>
          </a:p>
        </p:txBody>
      </p:sp>
      <p:pic>
        <p:nvPicPr>
          <p:cNvPr id="108546" name="Picture 2"/>
          <p:cNvPicPr>
            <a:picLocks noChangeAspect="1" noChangeArrowheads="1"/>
          </p:cNvPicPr>
          <p:nvPr/>
        </p:nvPicPr>
        <p:blipFill>
          <a:blip r:embed="rId3"/>
          <a:srcRect/>
          <a:stretch>
            <a:fillRect/>
          </a:stretch>
        </p:blipFill>
        <p:spPr bwMode="auto">
          <a:xfrm>
            <a:off x="1142977" y="1285860"/>
            <a:ext cx="6858048" cy="3422890"/>
          </a:xfrm>
          <a:prstGeom prst="rect">
            <a:avLst/>
          </a:prstGeom>
          <a:noFill/>
          <a:ln w="9525">
            <a:noFill/>
            <a:miter lim="800000"/>
            <a:headEnd/>
            <a:tailEnd/>
          </a:ln>
          <a:effectLst/>
        </p:spPr>
      </p:pic>
      <p:sp>
        <p:nvSpPr>
          <p:cNvPr id="6" name="Rectangle 5"/>
          <p:cNvSpPr/>
          <p:nvPr/>
        </p:nvSpPr>
        <p:spPr>
          <a:xfrm>
            <a:off x="1000100" y="5143512"/>
            <a:ext cx="7500990" cy="954107"/>
          </a:xfrm>
          <a:prstGeom prst="rect">
            <a:avLst/>
          </a:prstGeom>
        </p:spPr>
        <p:txBody>
          <a:bodyPr wrap="square">
            <a:spAutoFit/>
          </a:bodyPr>
          <a:lstStyle/>
          <a:p>
            <a:r>
              <a:rPr lang="en-US" sz="2800">
                <a:solidFill>
                  <a:schemeClr val="bg1"/>
                </a:solidFill>
              </a:rPr>
              <a:t>The processor is often idle </a:t>
            </a:r>
            <a:r>
              <a:rPr lang="en-US" sz="2800">
                <a:solidFill>
                  <a:schemeClr val="bg1"/>
                </a:solidFill>
                <a:sym typeface="Wingdings" pitchFamily="2" charset="2"/>
              </a:rPr>
              <a:t> Multiple jobs can be carried out.</a:t>
            </a:r>
            <a:endParaRPr lang="en-US" sz="2800">
              <a:solidFill>
                <a:schemeClr val="bg1"/>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4800" y="2133600"/>
            <a:ext cx="3255264" cy="1162050"/>
          </a:xfrm>
        </p:spPr>
        <p:txBody>
          <a:bodyPr/>
          <a:lstStyle/>
          <a:p>
            <a:r>
              <a:rPr lang="en-US" dirty="0">
                <a:effectLst>
                  <a:outerShdw blurRad="38100" dist="38100" dir="2700000" algn="tl">
                    <a:srgbClr val="000000">
                      <a:alpha val="43137"/>
                    </a:srgbClr>
                  </a:outerShdw>
                </a:effectLst>
              </a:rPr>
              <a:t>Multiprogramming Example</a:t>
            </a:r>
          </a:p>
        </p:txBody>
      </p:sp>
      <p:pic>
        <p:nvPicPr>
          <p:cNvPr id="109572" name="Picture 4"/>
          <p:cNvPicPr>
            <a:picLocks noChangeAspect="1" noChangeArrowheads="1"/>
          </p:cNvPicPr>
          <p:nvPr/>
        </p:nvPicPr>
        <p:blipFill>
          <a:blip r:embed="rId3"/>
          <a:srcRect/>
          <a:stretch>
            <a:fillRect/>
          </a:stretch>
        </p:blipFill>
        <p:spPr bwMode="auto">
          <a:xfrm>
            <a:off x="3500430" y="342900"/>
            <a:ext cx="5381625" cy="6172200"/>
          </a:xfrm>
          <a:prstGeom prst="rect">
            <a:avLst/>
          </a:prstGeom>
          <a:noFill/>
          <a:ln w="9525">
            <a:noFill/>
            <a:miter lim="800000"/>
            <a:headEnd/>
            <a:tailEnd/>
          </a:ln>
          <a:effectLst/>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p:cNvPicPr>
            <a:picLocks noChangeAspect="1" noChangeArrowheads="1"/>
          </p:cNvPicPr>
          <p:nvPr/>
        </p:nvPicPr>
        <p:blipFill>
          <a:blip r:embed="rId3"/>
          <a:srcRect/>
          <a:stretch>
            <a:fillRect/>
          </a:stretch>
        </p:blipFill>
        <p:spPr bwMode="auto">
          <a:xfrm>
            <a:off x="554594" y="571480"/>
            <a:ext cx="8034812" cy="6143668"/>
          </a:xfrm>
          <a:prstGeom prst="rect">
            <a:avLst/>
          </a:prstGeom>
          <a:noFill/>
          <a:ln w="9525">
            <a:noFill/>
            <a:miter lim="800000"/>
            <a:headEnd/>
            <a:tailEnd/>
          </a:ln>
          <a:effectLst/>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62000" y="285728"/>
            <a:ext cx="7556313" cy="752460"/>
          </a:xfrm>
        </p:spPr>
        <p:txBody>
          <a:bodyPr/>
          <a:lstStyle/>
          <a:p>
            <a:r>
              <a:rPr lang="en-US" dirty="0">
                <a:effectLst>
                  <a:outerShdw blurRad="38100" dist="38100" dir="2700000" algn="tl">
                    <a:srgbClr val="000000">
                      <a:alpha val="43137"/>
                    </a:srgbClr>
                  </a:outerShdw>
                </a:effectLst>
              </a:rPr>
              <a:t>Time Sharing Systems</a:t>
            </a:r>
          </a:p>
        </p:txBody>
      </p:sp>
      <p:sp>
        <p:nvSpPr>
          <p:cNvPr id="19459" name="Rectangle 3"/>
          <p:cNvSpPr>
            <a:spLocks noGrp="1" noChangeArrowheads="1"/>
          </p:cNvSpPr>
          <p:nvPr>
            <p:ph idx="1"/>
          </p:nvPr>
        </p:nvSpPr>
        <p:spPr>
          <a:xfrm>
            <a:off x="498474" y="1500174"/>
            <a:ext cx="7556313" cy="4625989"/>
          </a:xfrm>
        </p:spPr>
        <p:txBody>
          <a:bodyPr>
            <a:noAutofit/>
          </a:bodyPr>
          <a:lstStyle/>
          <a:p>
            <a:r>
              <a:rPr lang="en-US" sz="2400" dirty="0">
                <a:solidFill>
                  <a:srgbClr val="002060"/>
                </a:solidFill>
              </a:rPr>
              <a:t>Used when the user interacts directly with the computer</a:t>
            </a:r>
          </a:p>
          <a:p>
            <a:r>
              <a:rPr lang="en-US" sz="2400" dirty="0">
                <a:solidFill>
                  <a:srgbClr val="002060"/>
                </a:solidFill>
              </a:rPr>
              <a:t>Processor’s time is shared among multiple users</a:t>
            </a:r>
          </a:p>
          <a:p>
            <a:r>
              <a:rPr lang="en-US" sz="2400" dirty="0">
                <a:solidFill>
                  <a:srgbClr val="002060"/>
                </a:solidFill>
              </a:rPr>
              <a:t>Multiple users simultaneously access the system through terminals, with the OS interleaving the execution of each user program in a short burst or quantum (time slice, time slot) of computation</a:t>
            </a:r>
          </a:p>
          <a:p>
            <a:r>
              <a:rPr lang="en-US" sz="2400" dirty="0">
                <a:solidFill>
                  <a:srgbClr val="002060"/>
                </a:solidFill>
              </a:rPr>
              <a:t>Example:</a:t>
            </a:r>
          </a:p>
          <a:p>
            <a:pPr lvl="1"/>
            <a:r>
              <a:rPr lang="en-US" sz="2000" dirty="0">
                <a:solidFill>
                  <a:srgbClr val="002060"/>
                </a:solidFill>
              </a:rPr>
              <a:t>If there are </a:t>
            </a:r>
            <a:r>
              <a:rPr lang="en-US" sz="2000" i="1" dirty="0">
                <a:solidFill>
                  <a:srgbClr val="002060"/>
                </a:solidFill>
              </a:rPr>
              <a:t>n </a:t>
            </a:r>
            <a:r>
              <a:rPr lang="en-US" sz="2000" dirty="0">
                <a:solidFill>
                  <a:srgbClr val="002060"/>
                </a:solidFill>
              </a:rPr>
              <a:t>users actively requesting service at one time, each user will only see on the average 1/</a:t>
            </a:r>
            <a:r>
              <a:rPr lang="en-US" sz="2000" i="1" dirty="0">
                <a:solidFill>
                  <a:srgbClr val="002060"/>
                </a:solidFill>
              </a:rPr>
              <a:t>n </a:t>
            </a:r>
            <a:r>
              <a:rPr lang="en-US" sz="2000" dirty="0">
                <a:solidFill>
                  <a:srgbClr val="002060"/>
                </a:solidFill>
              </a:rPr>
              <a:t>of the effective computer speed</a:t>
            </a:r>
          </a:p>
          <a:p>
            <a:endParaRPr lang="en-US" sz="2400" dirty="0">
              <a:solidFill>
                <a:srgbClr val="002060"/>
              </a:solidFill>
            </a:endParaRPr>
          </a:p>
        </p:txBody>
      </p:sp>
      <p:sp useBgFill="1">
        <p:nvSpPr>
          <p:cNvPr id="5" name="TextBox 4"/>
          <p:cNvSpPr txBox="1"/>
          <p:nvPr/>
        </p:nvSpPr>
        <p:spPr>
          <a:xfrm>
            <a:off x="7603550" y="0"/>
            <a:ext cx="1540449" cy="2057400"/>
          </a:xfrm>
          <a:prstGeom prst="rect">
            <a:avLst/>
          </a:prstGeom>
        </p:spPr>
        <p:txBody>
          <a:bodyPr wrap="square" rtlCol="0">
            <a:spAutoFit/>
          </a:bodyPr>
          <a:lstStyle/>
          <a:p>
            <a:endParaRPr lang="en-US" dirty="0"/>
          </a:p>
        </p:txBody>
      </p:sp>
      <p:pic>
        <p:nvPicPr>
          <p:cNvPr id="7" name="Picture 6"/>
          <p:cNvPicPr>
            <a:picLocks noChangeAspect="1"/>
          </p:cNvPicPr>
          <p:nvPr/>
        </p:nvPicPr>
        <p:blipFill>
          <a:blip r:embed="rId3"/>
          <a:stretch>
            <a:fillRect/>
          </a:stretch>
        </p:blipFill>
        <p:spPr>
          <a:xfrm>
            <a:off x="7048811" y="42850"/>
            <a:ext cx="2023783" cy="160020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half" idx="2"/>
          </p:nvPr>
        </p:nvSpPr>
        <p:spPr>
          <a:xfrm>
            <a:off x="0" y="762000"/>
            <a:ext cx="6800757" cy="2438400"/>
          </a:xfrm>
        </p:spPr>
        <p:txBody>
          <a:bodyPr>
            <a:noAutofit/>
          </a:bodyPr>
          <a:lstStyle/>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Batch </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Multiprogramming </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versus </a:t>
            </a:r>
          </a:p>
          <a:p>
            <a:pPr algn="ctr"/>
            <a:r>
              <a:rPr lang="en-US" sz="3600" dirty="0">
                <a:solidFill>
                  <a:schemeClr val="accent1"/>
                </a:solidFill>
                <a:effectLst>
                  <a:outerShdw blurRad="38100" dist="38100" dir="2700000" algn="tl">
                    <a:srgbClr val="000000">
                      <a:alpha val="43137"/>
                    </a:srgbClr>
                  </a:outerShdw>
                </a:effectLst>
                <a:latin typeface="+mj-lt"/>
                <a:ea typeface="+mj-ea"/>
                <a:cs typeface="+mj-cs"/>
              </a:rPr>
              <a:t>Time Sharing</a:t>
            </a:r>
          </a:p>
        </p:txBody>
      </p:sp>
      <p:pic>
        <p:nvPicPr>
          <p:cNvPr id="111619" name="Picture 3"/>
          <p:cNvPicPr>
            <a:picLocks noChangeAspect="1" noChangeArrowheads="1"/>
          </p:cNvPicPr>
          <p:nvPr/>
        </p:nvPicPr>
        <p:blipFill>
          <a:blip r:embed="rId3"/>
          <a:srcRect/>
          <a:stretch>
            <a:fillRect/>
          </a:stretch>
        </p:blipFill>
        <p:spPr bwMode="auto">
          <a:xfrm>
            <a:off x="428596" y="3786190"/>
            <a:ext cx="8210550" cy="1885950"/>
          </a:xfrm>
          <a:prstGeom prst="rect">
            <a:avLst/>
          </a:prstGeom>
          <a:noFill/>
          <a:ln w="9525">
            <a:noFill/>
            <a:miter lim="800000"/>
            <a:headEnd/>
            <a:tailEnd/>
          </a:ln>
          <a:effec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38200" y="285728"/>
            <a:ext cx="7556313" cy="757222"/>
          </a:xfrm>
        </p:spPr>
        <p:txBody>
          <a:bodyPr/>
          <a:lstStyle/>
          <a:p>
            <a:r>
              <a:rPr lang="en-US">
                <a:effectLst>
                  <a:outerShdw blurRad="38100" dist="38100" dir="2700000" algn="tl">
                    <a:srgbClr val="000000">
                      <a:alpha val="43137"/>
                    </a:srgbClr>
                  </a:outerShdw>
                </a:effectLst>
              </a:rPr>
              <a:t>8.2- Scheduling</a:t>
            </a:r>
            <a:endParaRPr lang="en-US" dirty="0">
              <a:effectLst>
                <a:outerShdw blurRad="38100" dist="38100" dir="2700000" algn="tl">
                  <a:srgbClr val="000000">
                    <a:alpha val="43137"/>
                  </a:srgbClr>
                </a:outerShdw>
              </a:effectLst>
            </a:endParaRPr>
          </a:p>
        </p:txBody>
      </p:sp>
      <p:sp>
        <p:nvSpPr>
          <p:cNvPr id="20483" name="Rectangle 3"/>
          <p:cNvSpPr>
            <a:spLocks noGrp="1" noChangeArrowheads="1"/>
          </p:cNvSpPr>
          <p:nvPr>
            <p:ph idx="1"/>
          </p:nvPr>
        </p:nvSpPr>
        <p:spPr>
          <a:xfrm>
            <a:off x="498474" y="1500174"/>
            <a:ext cx="7556313" cy="1304924"/>
          </a:xfrm>
        </p:spPr>
        <p:txBody>
          <a:bodyPr>
            <a:normAutofit/>
          </a:bodyPr>
          <a:lstStyle/>
          <a:p>
            <a:r>
              <a:rPr lang="en-US" sz="2800" dirty="0">
                <a:solidFill>
                  <a:srgbClr val="002060"/>
                </a:solidFill>
              </a:rPr>
              <a:t>The key to multiprogramming</a:t>
            </a:r>
          </a:p>
          <a:p>
            <a:r>
              <a:rPr lang="en-US" sz="2800" dirty="0">
                <a:solidFill>
                  <a:srgbClr val="002060"/>
                </a:solidFill>
              </a:rPr>
              <a:t>Four types are typically involved:</a:t>
            </a:r>
          </a:p>
        </p:txBody>
      </p:sp>
      <p:sp useBgFill="1">
        <p:nvSpPr>
          <p:cNvPr id="8" name="TextBox 7"/>
          <p:cNvSpPr txBox="1"/>
          <p:nvPr/>
        </p:nvSpPr>
        <p:spPr>
          <a:xfrm>
            <a:off x="7955522" y="176412"/>
            <a:ext cx="959877" cy="1804788"/>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324600" y="304800"/>
            <a:ext cx="2516659" cy="1981200"/>
          </a:xfrm>
          <a:prstGeom prst="rect">
            <a:avLst/>
          </a:prstGeom>
        </p:spPr>
      </p:pic>
      <p:pic>
        <p:nvPicPr>
          <p:cNvPr id="112642" name="Picture 2"/>
          <p:cNvPicPr>
            <a:picLocks noChangeAspect="1" noChangeArrowheads="1"/>
          </p:cNvPicPr>
          <p:nvPr/>
        </p:nvPicPr>
        <p:blipFill>
          <a:blip r:embed="rId4"/>
          <a:srcRect/>
          <a:stretch>
            <a:fillRect/>
          </a:stretch>
        </p:blipFill>
        <p:spPr bwMode="auto">
          <a:xfrm>
            <a:off x="214313" y="2857496"/>
            <a:ext cx="8715375" cy="2695575"/>
          </a:xfrm>
          <a:prstGeom prst="rect">
            <a:avLst/>
          </a:prstGeom>
          <a:noFill/>
          <a:ln w="9525">
            <a:noFill/>
            <a:miter lim="800000"/>
            <a:headEnd/>
            <a:tailEnd/>
          </a:ln>
          <a:effectLst/>
        </p:spPr>
      </p:pic>
      <p:sp>
        <p:nvSpPr>
          <p:cNvPr id="10" name="Rectangle 9"/>
          <p:cNvSpPr/>
          <p:nvPr/>
        </p:nvSpPr>
        <p:spPr>
          <a:xfrm>
            <a:off x="285720" y="5669837"/>
            <a:ext cx="6629572" cy="830997"/>
          </a:xfrm>
          <a:prstGeom prst="rect">
            <a:avLst/>
          </a:prstGeom>
        </p:spPr>
        <p:txBody>
          <a:bodyPr wrap="none">
            <a:spAutoFit/>
          </a:bodyPr>
          <a:lstStyle/>
          <a:p>
            <a:r>
              <a:rPr lang="en-US" b="1"/>
              <a:t>Program</a:t>
            </a:r>
            <a:r>
              <a:rPr lang="en-US"/>
              <a:t>: executable file stored in external memory</a:t>
            </a:r>
          </a:p>
          <a:p>
            <a:r>
              <a:rPr lang="en-US" b="1"/>
              <a:t>Process</a:t>
            </a:r>
            <a:r>
              <a:rPr lang="en-US"/>
              <a:t>: program in execution </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38200" y="285728"/>
            <a:ext cx="7556313" cy="757222"/>
          </a:xfrm>
        </p:spPr>
        <p:txBody>
          <a:bodyPr/>
          <a:lstStyle/>
          <a:p>
            <a:r>
              <a:rPr lang="en-US">
                <a:effectLst>
                  <a:outerShdw blurRad="38100" dist="38100" dir="2700000" algn="tl">
                    <a:srgbClr val="000000">
                      <a:alpha val="43137"/>
                    </a:srgbClr>
                  </a:outerShdw>
                </a:effectLst>
              </a:rPr>
              <a:t>Scheduling….</a:t>
            </a:r>
            <a:endParaRPr lang="en-US" dirty="0">
              <a:effectLst>
                <a:outerShdw blurRad="38100" dist="38100" dir="2700000" algn="tl">
                  <a:srgbClr val="000000">
                    <a:alpha val="43137"/>
                  </a:srgbClr>
                </a:outerShdw>
              </a:effectLst>
            </a:endParaRPr>
          </a:p>
        </p:txBody>
      </p:sp>
      <p:sp useBgFill="1">
        <p:nvSpPr>
          <p:cNvPr id="8" name="TextBox 7"/>
          <p:cNvSpPr txBox="1"/>
          <p:nvPr/>
        </p:nvSpPr>
        <p:spPr>
          <a:xfrm>
            <a:off x="7955522" y="176412"/>
            <a:ext cx="959877" cy="1804788"/>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7551330" y="71414"/>
            <a:ext cx="1449826" cy="1141354"/>
          </a:xfrm>
          <a:prstGeom prst="rect">
            <a:avLst/>
          </a:prstGeom>
        </p:spPr>
      </p:pic>
      <p:grpSp>
        <p:nvGrpSpPr>
          <p:cNvPr id="57" name="Group 56"/>
          <p:cNvGrpSpPr/>
          <p:nvPr/>
        </p:nvGrpSpPr>
        <p:grpSpPr>
          <a:xfrm>
            <a:off x="214282" y="214314"/>
            <a:ext cx="7358114" cy="6500834"/>
            <a:chOff x="214282" y="214314"/>
            <a:chExt cx="7358114" cy="6500834"/>
          </a:xfrm>
        </p:grpSpPr>
        <p:grpSp>
          <p:nvGrpSpPr>
            <p:cNvPr id="55" name="Group 54"/>
            <p:cNvGrpSpPr/>
            <p:nvPr/>
          </p:nvGrpSpPr>
          <p:grpSpPr>
            <a:xfrm>
              <a:off x="214282" y="214314"/>
              <a:ext cx="7358114" cy="6500834"/>
              <a:chOff x="214282" y="214314"/>
              <a:chExt cx="7358114" cy="6500834"/>
            </a:xfrm>
          </p:grpSpPr>
          <p:grpSp>
            <p:nvGrpSpPr>
              <p:cNvPr id="53" name="Group 52"/>
              <p:cNvGrpSpPr/>
              <p:nvPr/>
            </p:nvGrpSpPr>
            <p:grpSpPr>
              <a:xfrm>
                <a:off x="214282" y="214314"/>
                <a:ext cx="7358114" cy="6500834"/>
                <a:chOff x="-32" y="142876"/>
                <a:chExt cx="7358114" cy="6500834"/>
              </a:xfrm>
            </p:grpSpPr>
            <p:grpSp>
              <p:nvGrpSpPr>
                <p:cNvPr id="51" name="Group 50"/>
                <p:cNvGrpSpPr/>
                <p:nvPr/>
              </p:nvGrpSpPr>
              <p:grpSpPr>
                <a:xfrm>
                  <a:off x="-32" y="142876"/>
                  <a:ext cx="7358114" cy="6500834"/>
                  <a:chOff x="-32" y="142876"/>
                  <a:chExt cx="7358114" cy="6500834"/>
                </a:xfrm>
              </p:grpSpPr>
              <p:sp>
                <p:nvSpPr>
                  <p:cNvPr id="12" name="Rectangle 11"/>
                  <p:cNvSpPr/>
                  <p:nvPr/>
                </p:nvSpPr>
                <p:spPr>
                  <a:xfrm>
                    <a:off x="3428992" y="192880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1</a:t>
                    </a:r>
                  </a:p>
                </p:txBody>
              </p:sp>
              <p:sp>
                <p:nvSpPr>
                  <p:cNvPr id="13" name="Rectangle 12"/>
                  <p:cNvSpPr/>
                  <p:nvPr/>
                </p:nvSpPr>
                <p:spPr>
                  <a:xfrm>
                    <a:off x="3428992" y="228599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2</a:t>
                    </a:r>
                  </a:p>
                </p:txBody>
              </p:sp>
              <p:sp>
                <p:nvSpPr>
                  <p:cNvPr id="14" name="Rectangle 13"/>
                  <p:cNvSpPr/>
                  <p:nvPr/>
                </p:nvSpPr>
                <p:spPr>
                  <a:xfrm>
                    <a:off x="3428992" y="264318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3</a:t>
                    </a:r>
                  </a:p>
                </p:txBody>
              </p:sp>
              <p:sp>
                <p:nvSpPr>
                  <p:cNvPr id="15" name="Rectangle 14"/>
                  <p:cNvSpPr/>
                  <p:nvPr/>
                </p:nvSpPr>
                <p:spPr>
                  <a:xfrm>
                    <a:off x="3428992" y="300037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p:nvSpPr>
                <p:spPr>
                  <a:xfrm>
                    <a:off x="3428992" y="335756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9" name="Rectangle 18"/>
                  <p:cNvSpPr/>
                  <p:nvPr/>
                </p:nvSpPr>
                <p:spPr>
                  <a:xfrm>
                    <a:off x="3428992" y="1571612"/>
                    <a:ext cx="1500198"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Process  0</a:t>
                    </a:r>
                  </a:p>
                </p:txBody>
              </p:sp>
              <p:sp>
                <p:nvSpPr>
                  <p:cNvPr id="21" name="Rectangle 20"/>
                  <p:cNvSpPr/>
                  <p:nvPr/>
                </p:nvSpPr>
                <p:spPr>
                  <a:xfrm>
                    <a:off x="2643174" y="5000636"/>
                    <a:ext cx="1214446" cy="500066"/>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a:solidFill>
                          <a:srgbClr val="FF0000"/>
                        </a:solidFill>
                      </a:rPr>
                      <a:t>New process</a:t>
                    </a:r>
                  </a:p>
                </p:txBody>
              </p:sp>
              <p:cxnSp>
                <p:nvCxnSpPr>
                  <p:cNvPr id="23" name="Straight Arrow Connector 22"/>
                  <p:cNvCxnSpPr>
                    <a:stCxn id="21" idx="0"/>
                  </p:cNvCxnSpPr>
                  <p:nvPr/>
                </p:nvCxnSpPr>
                <p:spPr>
                  <a:xfrm rot="5400000" flipH="1" flipV="1">
                    <a:off x="2589596" y="3804051"/>
                    <a:ext cx="1857387" cy="535784"/>
                  </a:xfrm>
                  <a:prstGeom prst="straightConnector1">
                    <a:avLst/>
                  </a:prstGeom>
                  <a:ln>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15074" y="1071546"/>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P0’s mem.</a:t>
                    </a:r>
                  </a:p>
                </p:txBody>
              </p:sp>
              <p:sp>
                <p:nvSpPr>
                  <p:cNvPr id="25" name="Rectangle 24"/>
                  <p:cNvSpPr/>
                  <p:nvPr/>
                </p:nvSpPr>
                <p:spPr>
                  <a:xfrm>
                    <a:off x="6215074" y="2000240"/>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P2’s mem.</a:t>
                    </a:r>
                  </a:p>
                </p:txBody>
              </p:sp>
              <p:sp>
                <p:nvSpPr>
                  <p:cNvPr id="26" name="Rectangle 25"/>
                  <p:cNvSpPr/>
                  <p:nvPr/>
                </p:nvSpPr>
                <p:spPr>
                  <a:xfrm>
                    <a:off x="6215074" y="2928934"/>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P4’s mem.</a:t>
                    </a:r>
                  </a:p>
                </p:txBody>
              </p:sp>
              <p:sp>
                <p:nvSpPr>
                  <p:cNvPr id="27" name="Rectangle 26"/>
                  <p:cNvSpPr/>
                  <p:nvPr/>
                </p:nvSpPr>
                <p:spPr>
                  <a:xfrm>
                    <a:off x="6215074" y="3857628"/>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chemeClr val="tx1"/>
                        </a:solidFill>
                      </a:rPr>
                      <a:t>P1’s mem.</a:t>
                    </a:r>
                  </a:p>
                </p:txBody>
              </p:sp>
              <p:sp>
                <p:nvSpPr>
                  <p:cNvPr id="28" name="Rectangle 27"/>
                  <p:cNvSpPr/>
                  <p:nvPr/>
                </p:nvSpPr>
                <p:spPr>
                  <a:xfrm>
                    <a:off x="6215074" y="4786322"/>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endParaRPr>
                  </a:p>
                </p:txBody>
              </p:sp>
              <p:sp>
                <p:nvSpPr>
                  <p:cNvPr id="29" name="Oval 28"/>
                  <p:cNvSpPr/>
                  <p:nvPr/>
                </p:nvSpPr>
                <p:spPr>
                  <a:xfrm>
                    <a:off x="2071670" y="3786190"/>
                    <a:ext cx="1285884" cy="642942"/>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Accept ?</a:t>
                    </a:r>
                  </a:p>
                </p:txBody>
              </p:sp>
              <p:sp>
                <p:nvSpPr>
                  <p:cNvPr id="30" name="Oval 29"/>
                  <p:cNvSpPr/>
                  <p:nvPr/>
                </p:nvSpPr>
                <p:spPr>
                  <a:xfrm>
                    <a:off x="4286248" y="4786322"/>
                    <a:ext cx="1714512" cy="85725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Where will be used to load it ?</a:t>
                    </a:r>
                  </a:p>
                </p:txBody>
              </p:sp>
              <p:sp>
                <p:nvSpPr>
                  <p:cNvPr id="31" name="Oval 30"/>
                  <p:cNvSpPr/>
                  <p:nvPr/>
                </p:nvSpPr>
                <p:spPr>
                  <a:xfrm>
                    <a:off x="1571604" y="1285860"/>
                    <a:ext cx="1643074" cy="1214446"/>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Which of them will  run ?</a:t>
                    </a:r>
                  </a:p>
                </p:txBody>
              </p:sp>
              <p:sp>
                <p:nvSpPr>
                  <p:cNvPr id="32" name="Rectangle 31"/>
                  <p:cNvSpPr/>
                  <p:nvPr/>
                </p:nvSpPr>
                <p:spPr>
                  <a:xfrm>
                    <a:off x="-32" y="3792684"/>
                    <a:ext cx="2214578" cy="1015663"/>
                  </a:xfrm>
                  <a:prstGeom prst="rect">
                    <a:avLst/>
                  </a:prstGeom>
                </p:spPr>
                <p:txBody>
                  <a:bodyPr wrap="square">
                    <a:spAutoFit/>
                  </a:bodyPr>
                  <a:lstStyle/>
                  <a:p>
                    <a:r>
                      <a:rPr lang="en-US" sz="2000"/>
                      <a:t>Long-term Scheduling</a:t>
                    </a:r>
                  </a:p>
                  <a:p>
                    <a:r>
                      <a:rPr lang="en-US" sz="2000"/>
                      <a:t>(waiting programs)</a:t>
                    </a:r>
                  </a:p>
                </p:txBody>
              </p:sp>
              <p:sp>
                <p:nvSpPr>
                  <p:cNvPr id="33" name="Rectangle 32"/>
                  <p:cNvSpPr/>
                  <p:nvPr/>
                </p:nvSpPr>
                <p:spPr>
                  <a:xfrm>
                    <a:off x="4000496" y="5650072"/>
                    <a:ext cx="2143140" cy="830997"/>
                  </a:xfrm>
                  <a:prstGeom prst="rect">
                    <a:avLst/>
                  </a:prstGeom>
                </p:spPr>
                <p:txBody>
                  <a:bodyPr wrap="square">
                    <a:spAutoFit/>
                  </a:bodyPr>
                  <a:lstStyle/>
                  <a:p>
                    <a:r>
                      <a:rPr lang="en-US" sz="1600"/>
                      <a:t>Medium-term Scheduling (blocked processes)</a:t>
                    </a:r>
                  </a:p>
                </p:txBody>
              </p:sp>
              <p:sp>
                <p:nvSpPr>
                  <p:cNvPr id="34" name="Rectangle 33"/>
                  <p:cNvSpPr/>
                  <p:nvPr/>
                </p:nvSpPr>
                <p:spPr>
                  <a:xfrm>
                    <a:off x="571472" y="2143116"/>
                    <a:ext cx="1500198" cy="1323439"/>
                  </a:xfrm>
                  <a:prstGeom prst="rect">
                    <a:avLst/>
                  </a:prstGeom>
                </p:spPr>
                <p:txBody>
                  <a:bodyPr wrap="square">
                    <a:spAutoFit/>
                  </a:bodyPr>
                  <a:lstStyle/>
                  <a:p>
                    <a:r>
                      <a:rPr lang="en-US" sz="2000"/>
                      <a:t>Short-term Scheduling</a:t>
                    </a:r>
                  </a:p>
                  <a:p>
                    <a:r>
                      <a:rPr lang="en-US" sz="2000"/>
                      <a:t>(current processes)</a:t>
                    </a:r>
                  </a:p>
                </p:txBody>
              </p:sp>
              <p:cxnSp>
                <p:nvCxnSpPr>
                  <p:cNvPr id="36" name="Straight Arrow Connector 35"/>
                  <p:cNvCxnSpPr>
                    <a:stCxn id="19" idx="3"/>
                    <a:endCxn id="24" idx="1"/>
                  </p:cNvCxnSpPr>
                  <p:nvPr/>
                </p:nvCxnSpPr>
                <p:spPr>
                  <a:xfrm flipV="1">
                    <a:off x="4929190" y="1535893"/>
                    <a:ext cx="1285884" cy="214314"/>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2" idx="3"/>
                    <a:endCxn id="27" idx="1"/>
                  </p:cNvCxnSpPr>
                  <p:nvPr/>
                </p:nvCxnSpPr>
                <p:spPr>
                  <a:xfrm>
                    <a:off x="4929190" y="2107397"/>
                    <a:ext cx="1285884" cy="2214578"/>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13" idx="3"/>
                    <a:endCxn id="25" idx="1"/>
                  </p:cNvCxnSpPr>
                  <p:nvPr/>
                </p:nvCxnSpPr>
                <p:spPr>
                  <a:xfrm>
                    <a:off x="4929190" y="2464587"/>
                    <a:ext cx="1285884" cy="1588"/>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14" idx="3"/>
                    <a:endCxn id="26" idx="1"/>
                  </p:cNvCxnSpPr>
                  <p:nvPr/>
                </p:nvCxnSpPr>
                <p:spPr>
                  <a:xfrm>
                    <a:off x="4929190" y="2821777"/>
                    <a:ext cx="1285884" cy="571504"/>
                  </a:xfrm>
                  <a:prstGeom prst="straightConnector1">
                    <a:avLst/>
                  </a:prstGeom>
                  <a:ln w="19050">
                    <a:prstDash val="solid"/>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15" idx="3"/>
                    <a:endCxn id="28" idx="1"/>
                  </p:cNvCxnSpPr>
                  <p:nvPr/>
                </p:nvCxnSpPr>
                <p:spPr>
                  <a:xfrm>
                    <a:off x="4929190" y="3178967"/>
                    <a:ext cx="1285884" cy="2071702"/>
                  </a:xfrm>
                  <a:prstGeom prst="straightConnector1">
                    <a:avLst/>
                  </a:prstGeom>
                  <a:ln w="6350">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215074" y="5715016"/>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endParaRPr>
                  </a:p>
                </p:txBody>
              </p:sp>
              <p:sp>
                <p:nvSpPr>
                  <p:cNvPr id="50" name="Rectangle 49"/>
                  <p:cNvSpPr/>
                  <p:nvPr/>
                </p:nvSpPr>
                <p:spPr>
                  <a:xfrm>
                    <a:off x="6215074" y="142876"/>
                    <a:ext cx="1143008" cy="928694"/>
                  </a:xfrm>
                  <a:prstGeom prst="rect">
                    <a:avLst/>
                  </a:prstGeom>
                  <a:solidFill>
                    <a:schemeClr val="tx2">
                      <a:lumMod val="10000"/>
                      <a:lumOff val="9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tx1"/>
                      </a:solidFill>
                    </a:endParaRPr>
                  </a:p>
                </p:txBody>
              </p:sp>
            </p:grpSp>
            <p:sp>
              <p:nvSpPr>
                <p:cNvPr id="52" name="Rectangle 51"/>
                <p:cNvSpPr/>
                <p:nvPr/>
              </p:nvSpPr>
              <p:spPr>
                <a:xfrm>
                  <a:off x="4714876" y="642918"/>
                  <a:ext cx="1428792" cy="461665"/>
                </a:xfrm>
                <a:prstGeom prst="rect">
                  <a:avLst/>
                </a:prstGeom>
              </p:spPr>
              <p:txBody>
                <a:bodyPr wrap="square">
                  <a:spAutoFit/>
                </a:bodyPr>
                <a:lstStyle/>
                <a:p>
                  <a:r>
                    <a:rPr lang="en-US" b="1"/>
                    <a:t>Memory</a:t>
                  </a:r>
                </a:p>
              </p:txBody>
            </p:sp>
          </p:grpSp>
          <p:sp>
            <p:nvSpPr>
              <p:cNvPr id="54" name="Rectangle 53"/>
              <p:cNvSpPr/>
              <p:nvPr/>
            </p:nvSpPr>
            <p:spPr>
              <a:xfrm>
                <a:off x="3857620" y="3857628"/>
                <a:ext cx="1071570" cy="646331"/>
              </a:xfrm>
              <a:prstGeom prst="rect">
                <a:avLst/>
              </a:prstGeom>
              <a:solidFill>
                <a:schemeClr val="accent6">
                  <a:lumMod val="20000"/>
                  <a:lumOff val="80000"/>
                </a:schemeClr>
              </a:solidFill>
            </p:spPr>
            <p:txBody>
              <a:bodyPr wrap="square">
                <a:spAutoFit/>
              </a:bodyPr>
              <a:lstStyle/>
              <a:p>
                <a:pPr algn="ctr"/>
                <a:r>
                  <a:rPr lang="en-US" sz="1800" b="1"/>
                  <a:t>Process Table</a:t>
                </a:r>
              </a:p>
            </p:txBody>
          </p:sp>
        </p:grpSp>
        <p:sp>
          <p:nvSpPr>
            <p:cNvPr id="56" name="Rectangle 55"/>
            <p:cNvSpPr/>
            <p:nvPr/>
          </p:nvSpPr>
          <p:spPr>
            <a:xfrm>
              <a:off x="285720" y="5721510"/>
              <a:ext cx="3714776" cy="707886"/>
            </a:xfrm>
            <a:prstGeom prst="rect">
              <a:avLst/>
            </a:prstGeom>
            <a:ln>
              <a:solidFill>
                <a:schemeClr val="tx1"/>
              </a:solidFill>
            </a:ln>
          </p:spPr>
          <p:txBody>
            <a:bodyPr wrap="square">
              <a:spAutoFit/>
            </a:bodyPr>
            <a:lstStyle/>
            <a:p>
              <a:pPr algn="ctr"/>
              <a:r>
                <a:rPr lang="en-US" sz="2000" dirty="0"/>
                <a:t>Each element of the process table is called as </a:t>
              </a:r>
              <a:r>
                <a:rPr lang="en-US" sz="2000" b="1" dirty="0"/>
                <a:t>P</a:t>
              </a:r>
              <a:r>
                <a:rPr lang="en-US" sz="2000" dirty="0"/>
                <a:t>rocess </a:t>
              </a:r>
              <a:r>
                <a:rPr lang="en-US" sz="2000" b="1" dirty="0"/>
                <a:t>C</a:t>
              </a:r>
              <a:r>
                <a:rPr lang="en-US" sz="2000" dirty="0"/>
                <a:t>ontrol </a:t>
              </a:r>
              <a:r>
                <a:rPr lang="en-US" sz="2000" b="1" dirty="0"/>
                <a:t>B</a:t>
              </a:r>
              <a:r>
                <a:rPr lang="en-US" sz="2000" dirty="0"/>
                <a:t>lock</a:t>
              </a: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Content Placeholder 25"/>
          <p:cNvGraphicFramePr>
            <a:graphicFrameLocks noGrp="1"/>
          </p:cNvGraphicFramePr>
          <p:nvPr>
            <p:ph idx="4294967295"/>
          </p:nvPr>
        </p:nvGraphicFramePr>
        <p:xfrm>
          <a:off x="228600" y="1066800"/>
          <a:ext cx="86868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506" name="Rectangle 2"/>
          <p:cNvSpPr>
            <a:spLocks noGrp="1" noChangeArrowheads="1"/>
          </p:cNvSpPr>
          <p:nvPr>
            <p:ph type="title" idx="4294967295"/>
          </p:nvPr>
        </p:nvSpPr>
        <p:spPr>
          <a:xfrm>
            <a:off x="381000" y="142852"/>
            <a:ext cx="7556500" cy="623870"/>
          </a:xfrm>
        </p:spPr>
        <p:txBody>
          <a:bodyPr/>
          <a:lstStyle/>
          <a:p>
            <a:r>
              <a:rPr lang="en-US" dirty="0">
                <a:effectLst>
                  <a:outerShdw blurRad="38100" dist="38100" dir="2700000" algn="tl">
                    <a:srgbClr val="000000">
                      <a:alpha val="43137"/>
                    </a:srgbClr>
                  </a:outerShdw>
                </a:effectLst>
              </a:rPr>
              <a:t>Long Term Scheduling</a:t>
            </a:r>
          </a:p>
        </p:txBody>
      </p:sp>
      <p:sp>
        <p:nvSpPr>
          <p:cNvPr id="4" name="Rectangle 3"/>
          <p:cNvSpPr/>
          <p:nvPr/>
        </p:nvSpPr>
        <p:spPr>
          <a:xfrm>
            <a:off x="0" y="2857496"/>
            <a:ext cx="6548780" cy="707886"/>
          </a:xfrm>
          <a:prstGeom prst="rect">
            <a:avLst/>
          </a:prstGeom>
        </p:spPr>
        <p:txBody>
          <a:bodyPr wrap="none">
            <a:spAutoFit/>
          </a:bodyPr>
          <a:lstStyle/>
          <a:p>
            <a:r>
              <a:rPr lang="en-US" sz="2000" b="1"/>
              <a:t>Swapped-out process: </a:t>
            </a:r>
            <a:r>
              <a:rPr lang="en-US" sz="2000"/>
              <a:t>Process stored in RAM must be write </a:t>
            </a:r>
          </a:p>
          <a:p>
            <a:r>
              <a:rPr lang="en-US" sz="2000"/>
              <a:t>to disk. It shields it’s memory to swapped-in process.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sz="3600" dirty="0">
                <a:effectLst>
                  <a:outerShdw blurRad="38100" dist="38100" dir="2700000" algn="tl">
                    <a:srgbClr val="000000">
                      <a:alpha val="43137"/>
                    </a:srgbClr>
                  </a:outerShdw>
                </a:effectLst>
              </a:rPr>
              <a:t>Medium-Term Scheduling</a:t>
            </a: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                      and Short-Term Scheduling</a:t>
            </a:r>
          </a:p>
        </p:txBody>
      </p:sp>
      <p:sp>
        <p:nvSpPr>
          <p:cNvPr id="15" name="Content Placeholder 14"/>
          <p:cNvSpPr>
            <a:spLocks noGrp="1"/>
          </p:cNvSpPr>
          <p:nvPr>
            <p:ph sz="half" idx="2"/>
          </p:nvPr>
        </p:nvSpPr>
        <p:spPr/>
        <p:txBody>
          <a:bodyPr/>
          <a:lstStyle/>
          <a:p>
            <a:pPr marL="0" lvl="1">
              <a:spcBef>
                <a:spcPts val="2000"/>
              </a:spcBef>
              <a:buClr>
                <a:schemeClr val="accent1"/>
              </a:buClr>
            </a:pPr>
            <a:r>
              <a:rPr lang="en-US" sz="2000" dirty="0">
                <a:solidFill>
                  <a:schemeClr val="tx1"/>
                </a:solidFill>
              </a:rPr>
              <a:t>Part of the swapping   function</a:t>
            </a:r>
          </a:p>
          <a:p>
            <a:pPr marL="0" lvl="1">
              <a:spcBef>
                <a:spcPts val="2000"/>
              </a:spcBef>
              <a:buClr>
                <a:schemeClr val="accent1"/>
              </a:buClr>
            </a:pPr>
            <a:r>
              <a:rPr lang="en-US" sz="2000" dirty="0">
                <a:solidFill>
                  <a:schemeClr val="tx1"/>
                </a:solidFill>
              </a:rPr>
              <a:t>Swapping-in decision is based on the need to manage the degree of multiprogramming</a:t>
            </a:r>
          </a:p>
          <a:p>
            <a:pPr marL="0" lvl="1">
              <a:spcBef>
                <a:spcPts val="2000"/>
              </a:spcBef>
              <a:buClr>
                <a:schemeClr val="accent1"/>
              </a:buClr>
            </a:pPr>
            <a:r>
              <a:rPr lang="en-US" sz="2000" dirty="0">
                <a:solidFill>
                  <a:schemeClr val="tx1"/>
                </a:solidFill>
              </a:rPr>
              <a:t>Swapping-in decision will consider the memory requirements of the swapped-out processes</a:t>
            </a:r>
          </a:p>
        </p:txBody>
      </p:sp>
      <p:sp>
        <p:nvSpPr>
          <p:cNvPr id="17" name="Content Placeholder 16"/>
          <p:cNvSpPr>
            <a:spLocks noGrp="1"/>
          </p:cNvSpPr>
          <p:nvPr>
            <p:ph sz="quarter" idx="4"/>
          </p:nvPr>
        </p:nvSpPr>
        <p:spPr>
          <a:xfrm>
            <a:off x="4419600" y="2590800"/>
            <a:ext cx="3657600" cy="3678797"/>
          </a:xfrm>
        </p:spPr>
        <p:txBody>
          <a:bodyPr>
            <a:normAutofit/>
          </a:bodyPr>
          <a:lstStyle/>
          <a:p>
            <a:r>
              <a:rPr lang="en-US" sz="2000" dirty="0">
                <a:solidFill>
                  <a:srgbClr val="002060"/>
                </a:solidFill>
              </a:rPr>
              <a:t>Also known as </a:t>
            </a:r>
            <a:r>
              <a:rPr lang="en-US" sz="2000">
                <a:solidFill>
                  <a:srgbClr val="002060"/>
                </a:solidFill>
              </a:rPr>
              <a:t>the dispatcher (trình điều phối)</a:t>
            </a:r>
            <a:endParaRPr lang="en-US" sz="2000" dirty="0">
              <a:solidFill>
                <a:srgbClr val="002060"/>
              </a:solidFill>
            </a:endParaRPr>
          </a:p>
          <a:p>
            <a:r>
              <a:rPr lang="en-US" sz="2000" dirty="0">
                <a:solidFill>
                  <a:srgbClr val="002060"/>
                </a:solidFill>
              </a:rPr>
              <a:t>Executes frequently and makes the fine-grained decision of which job to execute next</a:t>
            </a:r>
          </a:p>
        </p:txBody>
      </p:sp>
      <p:sp>
        <p:nvSpPr>
          <p:cNvPr id="22531" name="Rectangle 3"/>
          <p:cNvSpPr>
            <a:spLocks noGrp="1" noChangeArrowheads="1"/>
          </p:cNvSpPr>
          <p:nvPr>
            <p:ph type="body" idx="1"/>
          </p:nvPr>
        </p:nvSpPr>
        <p:spPr>
          <a:xfrm>
            <a:off x="497541" y="2057400"/>
            <a:ext cx="3657600" cy="336176"/>
          </a:xfrm>
        </p:spPr>
        <p:txBody>
          <a:bodyPr>
            <a:normAutofit/>
          </a:bodyPr>
          <a:lstStyle/>
          <a:p>
            <a:pPr marL="0" lvl="1" algn="ctr">
              <a:spcBef>
                <a:spcPts val="2000"/>
              </a:spcBef>
              <a:buClr>
                <a:schemeClr val="accent1"/>
              </a:buClr>
            </a:pPr>
            <a:r>
              <a:rPr lang="en-US" sz="2000" dirty="0">
                <a:solidFill>
                  <a:schemeClr val="bg1"/>
                </a:solidFill>
                <a:effectLst>
                  <a:outerShdw blurRad="38100" dist="38100" dir="2700000" algn="tl">
                    <a:srgbClr val="000000">
                      <a:alpha val="43137"/>
                    </a:srgbClr>
                  </a:outerShdw>
                </a:effectLst>
              </a:rPr>
              <a:t>Mediu</a:t>
            </a:r>
            <a:r>
              <a:rPr lang="en-US" dirty="0">
                <a:solidFill>
                  <a:schemeClr val="bg1"/>
                </a:solidFill>
                <a:effectLst>
                  <a:outerShdw blurRad="38100" dist="38100" dir="2700000" algn="tl">
                    <a:srgbClr val="000000">
                      <a:alpha val="43137"/>
                    </a:srgbClr>
                  </a:outerShdw>
                </a:effectLst>
              </a:rPr>
              <a:t>m-Term</a:t>
            </a:r>
            <a:endParaRPr lang="en-US" sz="2000" dirty="0">
              <a:solidFill>
                <a:schemeClr val="bg1"/>
              </a:solidFill>
              <a:effectLst>
                <a:outerShdw blurRad="38100" dist="38100" dir="2700000" algn="tl">
                  <a:srgbClr val="000000">
                    <a:alpha val="43137"/>
                  </a:srgbClr>
                </a:outerShdw>
              </a:effectLst>
            </a:endParaRPr>
          </a:p>
        </p:txBody>
      </p:sp>
      <p:sp>
        <p:nvSpPr>
          <p:cNvPr id="16" name="Text Placeholder 15"/>
          <p:cNvSpPr>
            <a:spLocks noGrp="1"/>
          </p:cNvSpPr>
          <p:nvPr>
            <p:ph type="body" sz="quarter" idx="3"/>
          </p:nvPr>
        </p:nvSpPr>
        <p:spPr>
          <a:xfrm>
            <a:off x="4399878" y="2057401"/>
            <a:ext cx="3657600" cy="336176"/>
          </a:xfrm>
        </p:spPr>
        <p:txBody>
          <a:bodyPr/>
          <a:lstStyle/>
          <a:p>
            <a:r>
              <a:rPr lang="en-US" sz="2000" b="1" dirty="0">
                <a:effectLst>
                  <a:outerShdw blurRad="38100" dist="38100" dir="2700000" algn="tl">
                    <a:srgbClr val="000000">
                      <a:alpha val="43137"/>
                    </a:srgbClr>
                  </a:outerShdw>
                </a:effectLst>
              </a:rPr>
              <a:t>Short-Term</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609600" y="457200"/>
            <a:ext cx="7556500" cy="1116012"/>
          </a:xfrm>
        </p:spPr>
        <p:txBody>
          <a:bodyPr/>
          <a:lstStyle/>
          <a:p>
            <a:r>
              <a:rPr lang="en-US">
                <a:effectLst>
                  <a:outerShdw blurRad="38100" dist="38100" dir="2700000" algn="tl">
                    <a:srgbClr val="000000">
                      <a:alpha val="43137"/>
                    </a:srgbClr>
                  </a:outerShdw>
                </a:effectLst>
              </a:rPr>
              <a:t>Short-Term Scheduling</a:t>
            </a:r>
            <a:br>
              <a:rPr lang="en-US">
                <a:effectLst>
                  <a:outerShdw blurRad="38100" dist="38100" dir="2700000" algn="tl">
                    <a:srgbClr val="000000">
                      <a:alpha val="43137"/>
                    </a:srgbClr>
                  </a:outerShdw>
                </a:effectLst>
              </a:rPr>
            </a:br>
            <a:r>
              <a:rPr lang="en-US" sz="2400">
                <a:effectLst>
                  <a:outerShdw blurRad="38100" dist="38100" dir="2700000" algn="tl">
                    <a:srgbClr val="000000">
                      <a:alpha val="43137"/>
                    </a:srgbClr>
                  </a:outerShdw>
                </a:effectLst>
              </a:rPr>
              <a:t>Five </a:t>
            </a:r>
            <a:r>
              <a:rPr lang="en-US" sz="2400" dirty="0">
                <a:effectLst>
                  <a:outerShdw blurRad="38100" dist="38100" dir="2700000" algn="tl">
                    <a:srgbClr val="000000">
                      <a:alpha val="43137"/>
                    </a:srgbClr>
                  </a:outerShdw>
                </a:effectLst>
              </a:rPr>
              <a:t>State Process Model</a:t>
            </a:r>
          </a:p>
        </p:txBody>
      </p:sp>
      <p:pic>
        <p:nvPicPr>
          <p:cNvPr id="113666" name="Picture 2"/>
          <p:cNvPicPr>
            <a:picLocks noChangeAspect="1" noChangeArrowheads="1"/>
          </p:cNvPicPr>
          <p:nvPr/>
        </p:nvPicPr>
        <p:blipFill>
          <a:blip r:embed="rId3"/>
          <a:srcRect/>
          <a:stretch>
            <a:fillRect/>
          </a:stretch>
        </p:blipFill>
        <p:spPr bwMode="auto">
          <a:xfrm>
            <a:off x="274514" y="1928802"/>
            <a:ext cx="8594972" cy="3714776"/>
          </a:xfrm>
          <a:prstGeom prst="rect">
            <a:avLst/>
          </a:prstGeom>
          <a:noFill/>
          <a:ln w="9525">
            <a:noFill/>
            <a:miter lim="800000"/>
            <a:headEnd/>
            <a:tailEnd/>
          </a:ln>
          <a:effectLst/>
        </p:spPr>
      </p:pic>
      <p:sp>
        <p:nvSpPr>
          <p:cNvPr id="5" name="Rectangle 4"/>
          <p:cNvSpPr/>
          <p:nvPr/>
        </p:nvSpPr>
        <p:spPr>
          <a:xfrm>
            <a:off x="4214810" y="4071942"/>
            <a:ext cx="1358064" cy="369332"/>
          </a:xfrm>
          <a:prstGeom prst="rect">
            <a:avLst/>
          </a:prstGeom>
        </p:spPr>
        <p:txBody>
          <a:bodyPr wrap="none">
            <a:spAutoFit/>
          </a:bodyPr>
          <a:lstStyle/>
          <a:p>
            <a:r>
              <a:rPr lang="en-US" sz="1800">
                <a:solidFill>
                  <a:srgbClr val="0070C0"/>
                </a:solidFill>
              </a:rPr>
              <a:t>IO operation</a:t>
            </a:r>
          </a:p>
        </p:txBody>
      </p:sp>
      <p:sp>
        <p:nvSpPr>
          <p:cNvPr id="6" name="Rectangle 5"/>
          <p:cNvSpPr/>
          <p:nvPr/>
        </p:nvSpPr>
        <p:spPr>
          <a:xfrm>
            <a:off x="2364975" y="3500438"/>
            <a:ext cx="992579" cy="646331"/>
          </a:xfrm>
          <a:prstGeom prst="rect">
            <a:avLst/>
          </a:prstGeom>
        </p:spPr>
        <p:txBody>
          <a:bodyPr wrap="none">
            <a:spAutoFit/>
          </a:bodyPr>
          <a:lstStyle/>
          <a:p>
            <a:r>
              <a:rPr lang="en-US" sz="1800">
                <a:solidFill>
                  <a:srgbClr val="0070C0"/>
                </a:solidFill>
              </a:rPr>
              <a:t>Interrupt</a:t>
            </a:r>
          </a:p>
          <a:p>
            <a:r>
              <a:rPr lang="en-US" sz="1800">
                <a:solidFill>
                  <a:srgbClr val="0070C0"/>
                </a:solidFill>
              </a:rPr>
              <a:t>from IO</a:t>
            </a:r>
          </a:p>
        </p:txBody>
      </p:sp>
      <p:sp>
        <p:nvSpPr>
          <p:cNvPr id="7" name="Rectangle 6"/>
          <p:cNvSpPr/>
          <p:nvPr/>
        </p:nvSpPr>
        <p:spPr>
          <a:xfrm>
            <a:off x="4071934" y="4701613"/>
            <a:ext cx="2010487" cy="584775"/>
          </a:xfrm>
          <a:prstGeom prst="rect">
            <a:avLst/>
          </a:prstGeom>
        </p:spPr>
        <p:txBody>
          <a:bodyPr wrap="none">
            <a:spAutoFit/>
          </a:bodyPr>
          <a:lstStyle/>
          <a:p>
            <a:r>
              <a:rPr lang="en-US" sz="1600">
                <a:solidFill>
                  <a:srgbClr val="0070C0"/>
                </a:solidFill>
              </a:rPr>
              <a:t>CPU can be allocated </a:t>
            </a:r>
          </a:p>
          <a:p>
            <a:r>
              <a:rPr lang="en-US" sz="1600">
                <a:solidFill>
                  <a:srgbClr val="0070C0"/>
                </a:solidFill>
              </a:rPr>
              <a:t>to another process</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050"/>
          <p:cNvSpPr>
            <a:spLocks noGrp="1" noChangeArrowheads="1"/>
          </p:cNvSpPr>
          <p:nvPr>
            <p:ph type="title"/>
          </p:nvPr>
        </p:nvSpPr>
        <p:spPr>
          <a:xfrm>
            <a:off x="380555" y="1000108"/>
            <a:ext cx="3255264" cy="2733692"/>
          </a:xfrm>
        </p:spPr>
        <p:txBody>
          <a:bodyPr>
            <a:normAutofit/>
          </a:bodyPr>
          <a:lstStyle/>
          <a:p>
            <a:r>
              <a:rPr lang="en-GB" sz="3200" dirty="0">
                <a:effectLst>
                  <a:outerShdw blurRad="38100" dist="38100" dir="2700000" algn="tl">
                    <a:srgbClr val="000000">
                      <a:alpha val="43137"/>
                    </a:srgbClr>
                  </a:outerShdw>
                </a:effectLst>
              </a:rPr>
              <a:t>Process </a:t>
            </a:r>
            <a:r>
              <a:rPr lang="en-GB" sz="3200">
                <a:effectLst>
                  <a:outerShdw blurRad="38100" dist="38100" dir="2700000" algn="tl">
                    <a:srgbClr val="000000">
                      <a:alpha val="43137"/>
                    </a:srgbClr>
                  </a:outerShdw>
                </a:effectLst>
              </a:rPr>
              <a:t>Control Block (PCB)</a:t>
            </a:r>
            <a:br>
              <a:rPr lang="en-GB">
                <a:effectLst>
                  <a:outerShdw blurRad="38100" dist="38100" dir="2700000" algn="tl">
                    <a:srgbClr val="000000">
                      <a:alpha val="43137"/>
                    </a:srgbClr>
                  </a:outerShdw>
                </a:effectLst>
              </a:rPr>
            </a:br>
            <a:br>
              <a:rPr lang="en-GB">
                <a:effectLst>
                  <a:outerShdw blurRad="38100" dist="38100" dir="2700000" algn="tl">
                    <a:srgbClr val="000000">
                      <a:alpha val="43137"/>
                    </a:srgbClr>
                  </a:outerShdw>
                </a:effectLst>
              </a:rPr>
            </a:br>
            <a:br>
              <a:rPr lang="en-GB">
                <a:effectLst>
                  <a:outerShdw blurRad="38100" dist="38100" dir="2700000" algn="tl">
                    <a:srgbClr val="000000">
                      <a:alpha val="43137"/>
                    </a:srgbClr>
                  </a:outerShdw>
                </a:effectLst>
              </a:rPr>
            </a:br>
            <a:r>
              <a:rPr lang="en-GB">
                <a:effectLst>
                  <a:outerShdw blurRad="38100" dist="38100" dir="2700000" algn="tl">
                    <a:srgbClr val="000000">
                      <a:alpha val="43137"/>
                    </a:srgbClr>
                  </a:outerShdw>
                </a:effectLst>
              </a:rPr>
              <a:t>What are metadata of a process? </a:t>
            </a:r>
            <a:endParaRPr lang="en-GB" dirty="0">
              <a:effectLst>
                <a:outerShdw blurRad="38100" dist="38100" dir="2700000" algn="tl">
                  <a:srgbClr val="000000">
                    <a:alpha val="43137"/>
                  </a:srgbClr>
                </a:outerShdw>
              </a:effectLst>
            </a:endParaRPr>
          </a:p>
        </p:txBody>
      </p:sp>
      <p:pic>
        <p:nvPicPr>
          <p:cNvPr id="114690" name="Picture 2"/>
          <p:cNvPicPr>
            <a:picLocks noChangeAspect="1" noChangeArrowheads="1"/>
          </p:cNvPicPr>
          <p:nvPr/>
        </p:nvPicPr>
        <p:blipFill>
          <a:blip r:embed="rId3"/>
          <a:srcRect/>
          <a:stretch>
            <a:fillRect/>
          </a:stretch>
        </p:blipFill>
        <p:spPr bwMode="auto">
          <a:xfrm>
            <a:off x="3929058" y="271463"/>
            <a:ext cx="3562350" cy="6315075"/>
          </a:xfrm>
          <a:prstGeom prst="rect">
            <a:avLst/>
          </a:prstGeom>
          <a:noFill/>
          <a:ln w="9525">
            <a:noFill/>
            <a:miter lim="800000"/>
            <a:headEnd/>
            <a:tailEnd/>
          </a:ln>
          <a:effectLst/>
        </p:spPr>
      </p:pic>
      <p:sp>
        <p:nvSpPr>
          <p:cNvPr id="5" name="Rectangle 4"/>
          <p:cNvSpPr/>
          <p:nvPr/>
        </p:nvSpPr>
        <p:spPr>
          <a:xfrm>
            <a:off x="6858016" y="2071678"/>
            <a:ext cx="2143108" cy="128588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Values of registers at the time the process is blocked</a:t>
            </a:r>
          </a:p>
        </p:txBody>
      </p:sp>
      <p:cxnSp>
        <p:nvCxnSpPr>
          <p:cNvPr id="7" name="Straight Arrow Connector 6"/>
          <p:cNvCxnSpPr>
            <a:stCxn id="5" idx="1"/>
          </p:cNvCxnSpPr>
          <p:nvPr/>
        </p:nvCxnSpPr>
        <p:spPr>
          <a:xfrm rot="10800000">
            <a:off x="6000760" y="2643182"/>
            <a:ext cx="857256" cy="714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858016" y="428604"/>
            <a:ext cx="2143108" cy="14287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Index of instruction  which will  be fetched when the process re-executes.</a:t>
            </a:r>
          </a:p>
        </p:txBody>
      </p:sp>
      <p:cxnSp>
        <p:nvCxnSpPr>
          <p:cNvPr id="16" name="Straight Arrow Connector 15"/>
          <p:cNvCxnSpPr>
            <a:stCxn id="13" idx="1"/>
          </p:cNvCxnSpPr>
          <p:nvPr/>
        </p:nvCxnSpPr>
        <p:spPr>
          <a:xfrm rot="10800000" flipV="1">
            <a:off x="6072198" y="1142984"/>
            <a:ext cx="785818" cy="6429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idx="4294967295"/>
          </p:nvPr>
        </p:nvSpPr>
        <p:spPr>
          <a:xfrm>
            <a:off x="285720" y="228600"/>
            <a:ext cx="5500726" cy="628632"/>
          </a:xfrm>
        </p:spPr>
        <p:txBody>
          <a:bodyPr/>
          <a:lstStyle/>
          <a:p>
            <a:r>
              <a:rPr lang="en-GB" dirty="0">
                <a:effectLst>
                  <a:outerShdw blurRad="38100" dist="38100" dir="2700000" algn="tl">
                    <a:srgbClr val="000000">
                      <a:alpha val="43137"/>
                    </a:srgbClr>
                  </a:outerShdw>
                </a:effectLst>
              </a:rPr>
              <a:t>Scheduling Example</a:t>
            </a:r>
          </a:p>
        </p:txBody>
      </p:sp>
      <p:sp>
        <p:nvSpPr>
          <p:cNvPr id="8" name="Rectangle 7"/>
          <p:cNvSpPr/>
          <p:nvPr/>
        </p:nvSpPr>
        <p:spPr>
          <a:xfrm>
            <a:off x="4857752" y="2714620"/>
            <a:ext cx="1214446" cy="338554"/>
          </a:xfrm>
          <a:prstGeom prst="rect">
            <a:avLst/>
          </a:prstGeom>
          <a:solidFill>
            <a:schemeClr val="accent6">
              <a:lumMod val="20000"/>
              <a:lumOff val="80000"/>
            </a:schemeClr>
          </a:solidFill>
        </p:spPr>
        <p:txBody>
          <a:bodyPr wrap="square">
            <a:spAutoFit/>
          </a:bodyPr>
          <a:lstStyle/>
          <a:p>
            <a:r>
              <a:rPr lang="en-US" sz="1600"/>
              <a:t>2. Time out</a:t>
            </a:r>
            <a:endParaRPr lang="en-US" sz="1600" dirty="0"/>
          </a:p>
        </p:txBody>
      </p:sp>
      <p:grpSp>
        <p:nvGrpSpPr>
          <p:cNvPr id="13" name="Group 12"/>
          <p:cNvGrpSpPr/>
          <p:nvPr/>
        </p:nvGrpSpPr>
        <p:grpSpPr>
          <a:xfrm>
            <a:off x="1285852" y="1071546"/>
            <a:ext cx="6638925" cy="5467350"/>
            <a:chOff x="2219355" y="571480"/>
            <a:chExt cx="6638925" cy="5467350"/>
          </a:xfrm>
        </p:grpSpPr>
        <p:pic>
          <p:nvPicPr>
            <p:cNvPr id="115715" name="Picture 3"/>
            <p:cNvPicPr>
              <a:picLocks noChangeAspect="1" noChangeArrowheads="1"/>
            </p:cNvPicPr>
            <p:nvPr/>
          </p:nvPicPr>
          <p:blipFill>
            <a:blip r:embed="rId3"/>
            <a:srcRect/>
            <a:stretch>
              <a:fillRect/>
            </a:stretch>
          </p:blipFill>
          <p:spPr bwMode="auto">
            <a:xfrm>
              <a:off x="2219355" y="571480"/>
              <a:ext cx="6638925" cy="5467350"/>
            </a:xfrm>
            <a:prstGeom prst="rect">
              <a:avLst/>
            </a:prstGeom>
            <a:noFill/>
            <a:ln w="9525">
              <a:noFill/>
              <a:miter lim="800000"/>
              <a:headEnd/>
              <a:tailEnd/>
            </a:ln>
            <a:effectLst/>
          </p:spPr>
        </p:pic>
        <p:sp>
          <p:nvSpPr>
            <p:cNvPr id="5" name="Rectangle 4"/>
            <p:cNvSpPr/>
            <p:nvPr/>
          </p:nvSpPr>
          <p:spPr>
            <a:xfrm>
              <a:off x="2285984" y="2428868"/>
              <a:ext cx="1500198" cy="338554"/>
            </a:xfrm>
            <a:prstGeom prst="rect">
              <a:avLst/>
            </a:prstGeom>
            <a:solidFill>
              <a:schemeClr val="accent6">
                <a:lumMod val="20000"/>
                <a:lumOff val="80000"/>
              </a:schemeClr>
            </a:solidFill>
          </p:spPr>
          <p:txBody>
            <a:bodyPr wrap="square">
              <a:spAutoFit/>
            </a:bodyPr>
            <a:lstStyle/>
            <a:p>
              <a:pPr algn="ctr"/>
              <a:r>
                <a:rPr lang="en-US" sz="1600"/>
                <a:t>Calls a service </a:t>
              </a:r>
              <a:endParaRPr lang="en-US" sz="1600" dirty="0"/>
            </a:p>
          </p:txBody>
        </p:sp>
        <p:cxnSp>
          <p:nvCxnSpPr>
            <p:cNvPr id="7" name="Straight Arrow Connector 6"/>
            <p:cNvCxnSpPr/>
            <p:nvPr/>
          </p:nvCxnSpPr>
          <p:spPr>
            <a:xfrm rot="16200000" flipV="1">
              <a:off x="3003563" y="2070067"/>
              <a:ext cx="856462" cy="401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rot="16200000" flipH="1">
              <a:off x="5893603" y="2250273"/>
              <a:ext cx="1714512" cy="6429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457200" y="228600"/>
            <a:ext cx="7556500" cy="1116012"/>
          </a:xfrm>
        </p:spPr>
        <p:txBody>
          <a:bodyPr/>
          <a:lstStyle/>
          <a:p>
            <a:r>
              <a:rPr lang="en-US" dirty="0">
                <a:effectLst>
                  <a:outerShdw blurRad="38100" dist="38100" dir="2700000" algn="tl">
                    <a:srgbClr val="000000">
                      <a:alpha val="43137"/>
                    </a:srgbClr>
                  </a:outerShdw>
                </a:effectLst>
              </a:rPr>
              <a:t>Key Elements of O/S</a:t>
            </a:r>
          </a:p>
        </p:txBody>
      </p:sp>
      <p:pic>
        <p:nvPicPr>
          <p:cNvPr id="116739" name="Picture 3"/>
          <p:cNvPicPr>
            <a:picLocks noChangeAspect="1" noChangeArrowheads="1"/>
          </p:cNvPicPr>
          <p:nvPr/>
        </p:nvPicPr>
        <p:blipFill>
          <a:blip r:embed="rId3"/>
          <a:srcRect/>
          <a:stretch>
            <a:fillRect/>
          </a:stretch>
        </p:blipFill>
        <p:spPr bwMode="auto">
          <a:xfrm>
            <a:off x="895278" y="980720"/>
            <a:ext cx="7391498" cy="5591552"/>
          </a:xfrm>
          <a:prstGeom prst="rect">
            <a:avLst/>
          </a:prstGeom>
          <a:noFill/>
          <a:ln w="9525">
            <a:noFill/>
            <a:miter lim="800000"/>
            <a:headEnd/>
            <a:tailEnd/>
          </a:ln>
          <a:effec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304800"/>
            <a:ext cx="7556500" cy="1116013"/>
          </a:xfrm>
        </p:spPr>
        <p:txBody>
          <a:bodyPr/>
          <a:lstStyle/>
          <a:p>
            <a:r>
              <a:rPr lang="en-US" dirty="0">
                <a:effectLst>
                  <a:outerShdw blurRad="38100" dist="38100" dir="2700000" algn="tl">
                    <a:srgbClr val="000000">
                      <a:alpha val="43137"/>
                    </a:srgbClr>
                  </a:outerShdw>
                </a:effectLst>
              </a:rPr>
              <a:t>Process Scheduling</a:t>
            </a:r>
          </a:p>
        </p:txBody>
      </p:sp>
      <p:pic>
        <p:nvPicPr>
          <p:cNvPr id="117762" name="Picture 2"/>
          <p:cNvPicPr>
            <a:picLocks noChangeAspect="1" noChangeArrowheads="1"/>
          </p:cNvPicPr>
          <p:nvPr/>
        </p:nvPicPr>
        <p:blipFill>
          <a:blip r:embed="rId3"/>
          <a:srcRect/>
          <a:stretch>
            <a:fillRect/>
          </a:stretch>
        </p:blipFill>
        <p:spPr bwMode="auto">
          <a:xfrm>
            <a:off x="321364" y="1357298"/>
            <a:ext cx="8501274" cy="5286412"/>
          </a:xfrm>
          <a:prstGeom prst="rect">
            <a:avLst/>
          </a:prstGeom>
          <a:noFill/>
          <a:ln w="9525">
            <a:noFill/>
            <a:miter lim="800000"/>
            <a:headEnd/>
            <a:tailEnd/>
          </a:ln>
          <a:effectLst/>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457200" y="304800"/>
            <a:ext cx="7556500" cy="1116013"/>
          </a:xfrm>
        </p:spPr>
        <p:txBody>
          <a:bodyPr/>
          <a:lstStyle/>
          <a:p>
            <a:r>
              <a:rPr lang="en-US">
                <a:effectLst>
                  <a:outerShdw blurRad="38100" dist="38100" dir="2700000" algn="tl">
                    <a:srgbClr val="000000">
                      <a:alpha val="43137"/>
                    </a:srgbClr>
                  </a:outerShdw>
                </a:effectLst>
              </a:rPr>
              <a:t>8.3- Memory Management</a:t>
            </a:r>
            <a:endParaRPr lang="en-US" dirty="0">
              <a:effectLst>
                <a:outerShdw blurRad="38100" dist="38100" dir="2700000" algn="tl">
                  <a:srgbClr val="000000">
                    <a:alpha val="43137"/>
                  </a:srgbClr>
                </a:outerShdw>
              </a:effectLst>
            </a:endParaRPr>
          </a:p>
        </p:txBody>
      </p:sp>
      <p:sp>
        <p:nvSpPr>
          <p:cNvPr id="5" name="Rectangle 4"/>
          <p:cNvSpPr/>
          <p:nvPr/>
        </p:nvSpPr>
        <p:spPr>
          <a:xfrm>
            <a:off x="500034" y="1357298"/>
            <a:ext cx="8072494" cy="3539430"/>
          </a:xfrm>
          <a:prstGeom prst="rect">
            <a:avLst/>
          </a:prstGeom>
        </p:spPr>
        <p:txBody>
          <a:bodyPr wrap="square">
            <a:spAutoFit/>
          </a:bodyPr>
          <a:lstStyle/>
          <a:p>
            <a:pPr>
              <a:buClr>
                <a:schemeClr val="tx2">
                  <a:lumMod val="75000"/>
                  <a:lumOff val="25000"/>
                </a:schemeClr>
              </a:buClr>
              <a:buFont typeface="Wingdings" pitchFamily="2" charset="2"/>
              <a:buChar char="§"/>
            </a:pPr>
            <a:r>
              <a:rPr lang="en-US" sz="3200"/>
              <a:t>  Memory Management</a:t>
            </a:r>
          </a:p>
          <a:p>
            <a:pPr lvl="1">
              <a:buClr>
                <a:schemeClr val="tx2">
                  <a:lumMod val="75000"/>
                  <a:lumOff val="25000"/>
                </a:schemeClr>
              </a:buClr>
              <a:buFont typeface="Wingdings" pitchFamily="2" charset="2"/>
              <a:buChar char="§"/>
            </a:pPr>
            <a:r>
              <a:rPr lang="en-US" sz="3200"/>
              <a:t>  S</a:t>
            </a:r>
            <a:r>
              <a:rPr lang="en-US" sz="3200">
                <a:sym typeface="Wingdings" pitchFamily="2" charset="2"/>
              </a:rPr>
              <a:t>wapping</a:t>
            </a:r>
          </a:p>
          <a:p>
            <a:pPr lvl="1">
              <a:buClr>
                <a:schemeClr val="tx2">
                  <a:lumMod val="75000"/>
                  <a:lumOff val="25000"/>
                </a:schemeClr>
              </a:buClr>
              <a:buFont typeface="Wingdings" pitchFamily="2" charset="2"/>
              <a:buChar char="§"/>
            </a:pPr>
            <a:r>
              <a:rPr lang="en-US" sz="3200">
                <a:sym typeface="Wingdings" pitchFamily="2" charset="2"/>
              </a:rPr>
              <a:t>  Partioning</a:t>
            </a:r>
          </a:p>
          <a:p>
            <a:pPr lvl="1">
              <a:buClr>
                <a:schemeClr val="tx2">
                  <a:lumMod val="75000"/>
                  <a:lumOff val="25000"/>
                </a:schemeClr>
              </a:buClr>
              <a:buFont typeface="Wingdings" pitchFamily="2" charset="2"/>
              <a:buChar char="§"/>
            </a:pPr>
            <a:r>
              <a:rPr lang="en-US" sz="3200">
                <a:sym typeface="Wingdings" pitchFamily="2" charset="2"/>
              </a:rPr>
              <a:t>  Paging</a:t>
            </a:r>
          </a:p>
          <a:p>
            <a:pPr lvl="1">
              <a:buClr>
                <a:schemeClr val="tx2">
                  <a:lumMod val="75000"/>
                  <a:lumOff val="25000"/>
                </a:schemeClr>
              </a:buClr>
              <a:buFont typeface="Wingdings" pitchFamily="2" charset="2"/>
              <a:buChar char="§"/>
            </a:pPr>
            <a:r>
              <a:rPr lang="en-US" sz="3200">
                <a:sym typeface="Wingdings" pitchFamily="2" charset="2"/>
              </a:rPr>
              <a:t>  Virtual Memory</a:t>
            </a:r>
          </a:p>
          <a:p>
            <a:pPr lvl="1">
              <a:buClr>
                <a:schemeClr val="tx2">
                  <a:lumMod val="75000"/>
                  <a:lumOff val="25000"/>
                </a:schemeClr>
              </a:buClr>
              <a:buFont typeface="Wingdings" pitchFamily="2" charset="2"/>
              <a:buChar char="§"/>
            </a:pPr>
            <a:r>
              <a:rPr lang="en-US" sz="3200">
                <a:sym typeface="Wingdings" pitchFamily="2" charset="2"/>
              </a:rPr>
              <a:t>  Translation Lookaside Buffer</a:t>
            </a:r>
          </a:p>
          <a:p>
            <a:pPr lvl="1">
              <a:buClr>
                <a:schemeClr val="tx2">
                  <a:lumMod val="75000"/>
                  <a:lumOff val="25000"/>
                </a:schemeClr>
              </a:buClr>
              <a:buFont typeface="Wingdings" pitchFamily="2" charset="2"/>
              <a:buChar char="§"/>
            </a:pPr>
            <a:r>
              <a:rPr lang="en-US" sz="3200">
                <a:sym typeface="Wingdings" pitchFamily="2" charset="2"/>
              </a:rPr>
              <a:t>  Segmentation</a:t>
            </a:r>
            <a:endParaRPr lang="en-US" sz="3200" dirty="0"/>
          </a:p>
        </p:txBody>
      </p:sp>
      <p:sp>
        <p:nvSpPr>
          <p:cNvPr id="6" name="Rectangle 5"/>
          <p:cNvSpPr/>
          <p:nvPr/>
        </p:nvSpPr>
        <p:spPr>
          <a:xfrm>
            <a:off x="428596" y="5000636"/>
            <a:ext cx="8358246" cy="1384995"/>
          </a:xfrm>
          <a:prstGeom prst="rect">
            <a:avLst/>
          </a:prstGeom>
          <a:solidFill>
            <a:schemeClr val="accent6">
              <a:lumMod val="40000"/>
              <a:lumOff val="60000"/>
            </a:schemeClr>
          </a:solidFill>
        </p:spPr>
        <p:txBody>
          <a:bodyPr wrap="square">
            <a:spAutoFit/>
          </a:bodyPr>
          <a:lstStyle/>
          <a:p>
            <a:r>
              <a:rPr lang="en-US" sz="2800"/>
              <a:t>Memory Manager is a part of OS which bears responsibility to manage computer memory at the system level and some above techniques can be applied.</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1093" y="2714620"/>
            <a:ext cx="3255264" cy="3411543"/>
          </a:xfrm>
        </p:spPr>
        <p:txBody>
          <a:bodyPr>
            <a:normAutofit/>
          </a:bodyPr>
          <a:lstStyle/>
          <a:p>
            <a:r>
              <a:rPr lang="en-US" sz="2800"/>
              <a:t>Why?</a:t>
            </a:r>
          </a:p>
          <a:p>
            <a:r>
              <a:rPr lang="en-US" sz="1800"/>
              <a:t>Memory has larger size </a:t>
            </a:r>
            <a:r>
              <a:rPr lang="en-US" sz="1800">
                <a:sym typeface="Wingdings" pitchFamily="2" charset="2"/>
              </a:rPr>
              <a:t> Processes request more and more memory,  more processes need to run  Memory is not enough to supply  A selected process must be swapped out to disk in order to load new process (SWAP)</a:t>
            </a:r>
            <a:endParaRPr lang="en-US" sz="1800" dirty="0"/>
          </a:p>
        </p:txBody>
      </p:sp>
      <p:sp>
        <p:nvSpPr>
          <p:cNvPr id="6" name="Title 5"/>
          <p:cNvSpPr>
            <a:spLocks noGrp="1"/>
          </p:cNvSpPr>
          <p:nvPr>
            <p:ph type="title"/>
          </p:nvPr>
        </p:nvSpPr>
        <p:spPr>
          <a:xfrm>
            <a:off x="428596" y="500042"/>
            <a:ext cx="3255264" cy="1785950"/>
          </a:xfrm>
        </p:spPr>
        <p:txBody>
          <a:bodyPr>
            <a:normAutofit/>
          </a:bodyPr>
          <a:lstStyle/>
          <a:p>
            <a:r>
              <a:rPr lang="en-US" sz="3200"/>
              <a:t>Memory Management:</a:t>
            </a:r>
            <a:br>
              <a:rPr lang="en-US" sz="3200"/>
            </a:br>
            <a:r>
              <a:rPr lang="en-US" sz="3600"/>
              <a:t>Swapping</a:t>
            </a:r>
            <a:endParaRPr lang="en-US" sz="3200"/>
          </a:p>
        </p:txBody>
      </p:sp>
      <p:pic>
        <p:nvPicPr>
          <p:cNvPr id="118786" name="Picture 2"/>
          <p:cNvPicPr>
            <a:picLocks noChangeAspect="1" noChangeArrowheads="1"/>
          </p:cNvPicPr>
          <p:nvPr/>
        </p:nvPicPr>
        <p:blipFill>
          <a:blip r:embed="rId3"/>
          <a:srcRect/>
          <a:stretch>
            <a:fillRect/>
          </a:stretch>
        </p:blipFill>
        <p:spPr bwMode="auto">
          <a:xfrm>
            <a:off x="4210078" y="276225"/>
            <a:ext cx="4362450" cy="6305550"/>
          </a:xfrm>
          <a:prstGeom prst="rect">
            <a:avLst/>
          </a:prstGeom>
          <a:noFill/>
          <a:ln w="9525">
            <a:noFill/>
            <a:miter lim="800000"/>
            <a:headEnd/>
            <a:tailEnd/>
          </a:ln>
          <a:effectLst/>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0555" y="500042"/>
            <a:ext cx="3255264" cy="1162050"/>
          </a:xfrm>
        </p:spPr>
        <p:txBody>
          <a:bodyPr/>
          <a:lstStyle/>
          <a:p>
            <a:r>
              <a:rPr lang="en-US" dirty="0">
                <a:effectLst>
                  <a:outerShdw blurRad="38100" dist="38100" dir="2700000" algn="tl">
                    <a:srgbClr val="000000">
                      <a:alpha val="43137"/>
                    </a:srgbClr>
                  </a:outerShdw>
                </a:effectLst>
              </a:rPr>
              <a:t>Memory Management</a:t>
            </a:r>
          </a:p>
        </p:txBody>
      </p:sp>
      <p:sp>
        <p:nvSpPr>
          <p:cNvPr id="9" name="Text Placeholder 8"/>
          <p:cNvSpPr>
            <a:spLocks noGrp="1"/>
          </p:cNvSpPr>
          <p:nvPr>
            <p:ph type="body" sz="half" idx="2"/>
          </p:nvPr>
        </p:nvSpPr>
        <p:spPr>
          <a:xfrm>
            <a:off x="381093" y="1785927"/>
            <a:ext cx="3255264" cy="785818"/>
          </a:xfrm>
        </p:spPr>
        <p:txBody>
          <a:bodyPr/>
          <a:lstStyle/>
          <a:p>
            <a:r>
              <a:rPr lang="en-US" sz="3600" dirty="0"/>
              <a:t>Partitioning</a:t>
            </a:r>
          </a:p>
        </p:txBody>
      </p:sp>
      <p:pic>
        <p:nvPicPr>
          <p:cNvPr id="119810" name="Picture 2"/>
          <p:cNvPicPr>
            <a:picLocks noChangeAspect="1" noChangeArrowheads="1"/>
          </p:cNvPicPr>
          <p:nvPr/>
        </p:nvPicPr>
        <p:blipFill>
          <a:blip r:embed="rId3"/>
          <a:srcRect/>
          <a:stretch>
            <a:fillRect/>
          </a:stretch>
        </p:blipFill>
        <p:spPr bwMode="auto">
          <a:xfrm>
            <a:off x="4009994" y="76376"/>
            <a:ext cx="4991162" cy="6710210"/>
          </a:xfrm>
          <a:prstGeom prst="rect">
            <a:avLst/>
          </a:prstGeom>
          <a:noFill/>
          <a:ln w="9525">
            <a:noFill/>
            <a:miter lim="800000"/>
            <a:headEnd/>
            <a:tailEnd/>
          </a:ln>
          <a:effectLst/>
        </p:spPr>
      </p:pic>
      <p:sp>
        <p:nvSpPr>
          <p:cNvPr id="6" name="Rectangle 5"/>
          <p:cNvSpPr/>
          <p:nvPr/>
        </p:nvSpPr>
        <p:spPr>
          <a:xfrm>
            <a:off x="357158" y="2714620"/>
            <a:ext cx="3071834" cy="1569660"/>
          </a:xfrm>
          <a:prstGeom prst="rect">
            <a:avLst/>
          </a:prstGeom>
        </p:spPr>
        <p:txBody>
          <a:bodyPr wrap="square">
            <a:spAutoFit/>
          </a:bodyPr>
          <a:lstStyle/>
          <a:p>
            <a:r>
              <a:rPr lang="en-US">
                <a:solidFill>
                  <a:schemeClr val="bg1"/>
                </a:solidFill>
              </a:rPr>
              <a:t>Smaller process needs smaller  memory </a:t>
            </a:r>
            <a:r>
              <a:rPr lang="en-US">
                <a:solidFill>
                  <a:schemeClr val="bg1"/>
                </a:solidFill>
                <a:sym typeface="Wingdings" pitchFamily="2" charset="2"/>
              </a:rPr>
              <a:t> Unequal-size partition is better.</a:t>
            </a:r>
            <a:endParaRPr lang="en-US">
              <a:solidFill>
                <a:schemeClr val="bg1"/>
              </a:solidFill>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457200" y="152400"/>
            <a:ext cx="7556500" cy="963612"/>
          </a:xfrm>
        </p:spPr>
        <p:txBody>
          <a:bodyPr/>
          <a:lstStyle/>
          <a:p>
            <a:r>
              <a:rPr lang="en-US" dirty="0">
                <a:effectLst>
                  <a:outerShdw blurRad="38100" dist="38100" dir="2700000" algn="tl">
                    <a:srgbClr val="000000">
                      <a:alpha val="43137"/>
                    </a:srgbClr>
                  </a:outerShdw>
                </a:effectLst>
              </a:rPr>
              <a:t>Effect of Dynamic Partitioning</a:t>
            </a:r>
            <a:br>
              <a:rPr lang="en-US" dirty="0"/>
            </a:br>
            <a:endParaRPr lang="en-US" dirty="0"/>
          </a:p>
        </p:txBody>
      </p:sp>
      <p:sp>
        <p:nvSpPr>
          <p:cNvPr id="6" name="TextBox 5"/>
          <p:cNvSpPr txBox="1"/>
          <p:nvPr/>
        </p:nvSpPr>
        <p:spPr>
          <a:xfrm>
            <a:off x="5715008" y="2869071"/>
            <a:ext cx="3071834" cy="3631763"/>
          </a:xfrm>
          <a:prstGeom prst="rect">
            <a:avLst/>
          </a:prstGeom>
          <a:solidFill>
            <a:srgbClr val="92D050"/>
          </a:solidFill>
        </p:spPr>
        <p:txBody>
          <a:bodyPr wrap="square" rtlCol="0">
            <a:spAutoFit/>
          </a:bodyPr>
          <a:lstStyle/>
          <a:p>
            <a:r>
              <a:rPr lang="en-US" b="1" dirty="0">
                <a:latin typeface="+mn-lt"/>
              </a:rPr>
              <a:t>Logical address</a:t>
            </a:r>
          </a:p>
          <a:p>
            <a:r>
              <a:rPr lang="en-US" sz="1800" dirty="0">
                <a:latin typeface="+mn-lt"/>
              </a:rPr>
              <a:t>     - expressed as a location relative </a:t>
            </a:r>
            <a:r>
              <a:rPr lang="en-US" sz="1800">
                <a:latin typeface="+mn-lt"/>
              </a:rPr>
              <a:t>to the </a:t>
            </a:r>
            <a:r>
              <a:rPr lang="en-US" sz="1800" dirty="0">
                <a:latin typeface="+mn-lt"/>
              </a:rPr>
              <a:t>beginning of  </a:t>
            </a:r>
            <a:r>
              <a:rPr lang="en-US" sz="1800">
                <a:latin typeface="+mn-lt"/>
              </a:rPr>
              <a:t>the program (</a:t>
            </a:r>
            <a:r>
              <a:rPr lang="en-US" sz="1800" b="1">
                <a:latin typeface="+mn-lt"/>
              </a:rPr>
              <a:t>offset</a:t>
            </a:r>
            <a:r>
              <a:rPr lang="en-US" sz="1800">
                <a:latin typeface="+mn-lt"/>
              </a:rPr>
              <a:t>)</a:t>
            </a:r>
            <a:endParaRPr lang="en-US" sz="1800" dirty="0">
              <a:latin typeface="+mn-lt"/>
            </a:endParaRPr>
          </a:p>
          <a:p>
            <a:endParaRPr lang="en-US" sz="1600" dirty="0">
              <a:latin typeface="+mn-lt"/>
            </a:endParaRPr>
          </a:p>
          <a:p>
            <a:r>
              <a:rPr lang="en-US" b="1" dirty="0">
                <a:latin typeface="+mn-lt"/>
              </a:rPr>
              <a:t>Physical address</a:t>
            </a:r>
          </a:p>
          <a:p>
            <a:r>
              <a:rPr lang="en-US" sz="1800" dirty="0">
                <a:latin typeface="+mn-lt"/>
              </a:rPr>
              <a:t>     - an actual location in main memory</a:t>
            </a:r>
          </a:p>
          <a:p>
            <a:endParaRPr lang="en-US" sz="1600" dirty="0">
              <a:latin typeface="+mn-lt"/>
            </a:endParaRPr>
          </a:p>
          <a:p>
            <a:r>
              <a:rPr lang="en-US" b="1" dirty="0">
                <a:latin typeface="+mn-lt"/>
              </a:rPr>
              <a:t>Base address</a:t>
            </a:r>
          </a:p>
          <a:p>
            <a:r>
              <a:rPr lang="en-US" sz="1800" dirty="0">
                <a:latin typeface="+mn-lt"/>
              </a:rPr>
              <a:t>      - current starting location of the process</a:t>
            </a:r>
          </a:p>
        </p:txBody>
      </p:sp>
      <p:pic>
        <p:nvPicPr>
          <p:cNvPr id="120834" name="Picture 2"/>
          <p:cNvPicPr>
            <a:picLocks noChangeAspect="1" noChangeArrowheads="1"/>
          </p:cNvPicPr>
          <p:nvPr/>
        </p:nvPicPr>
        <p:blipFill>
          <a:blip r:embed="rId3">
            <a:lum bright="-20000" contrast="25000"/>
          </a:blip>
          <a:srcRect/>
          <a:stretch>
            <a:fillRect/>
          </a:stretch>
        </p:blipFill>
        <p:spPr bwMode="auto">
          <a:xfrm>
            <a:off x="123831" y="1142984"/>
            <a:ext cx="5305425" cy="5372100"/>
          </a:xfrm>
          <a:prstGeom prst="rect">
            <a:avLst/>
          </a:prstGeom>
          <a:noFill/>
          <a:ln w="9525">
            <a:noFill/>
            <a:miter lim="800000"/>
            <a:headEnd/>
            <a:tailEnd/>
          </a:ln>
          <a:effectLst/>
        </p:spPr>
      </p:pic>
      <p:sp>
        <p:nvSpPr>
          <p:cNvPr id="10" name="Rectangle 9"/>
          <p:cNvSpPr/>
          <p:nvPr/>
        </p:nvSpPr>
        <p:spPr>
          <a:xfrm>
            <a:off x="5715008" y="1083404"/>
            <a:ext cx="3000397" cy="1631216"/>
          </a:xfrm>
          <a:prstGeom prst="rect">
            <a:avLst/>
          </a:prstGeom>
          <a:solidFill>
            <a:schemeClr val="accent6">
              <a:lumMod val="40000"/>
              <a:lumOff val="60000"/>
            </a:schemeClr>
          </a:solidFill>
        </p:spPr>
        <p:txBody>
          <a:bodyPr wrap="square">
            <a:spAutoFit/>
          </a:bodyPr>
          <a:lstStyle/>
          <a:p>
            <a:r>
              <a:rPr lang="en-US" sz="2000"/>
              <a:t>To enable loading a process to any position of memory, program addresses must be expressed as </a:t>
            </a:r>
            <a:r>
              <a:rPr lang="en-US" sz="2000" b="1"/>
              <a:t>l</a:t>
            </a:r>
            <a:r>
              <a:rPr lang="en-US" sz="2000" b="1">
                <a:sym typeface="Wingdings" pitchFamily="2" charset="2"/>
              </a:rPr>
              <a:t>ogical addresses</a:t>
            </a:r>
            <a:r>
              <a:rPr lang="en-US" sz="2000">
                <a:sym typeface="Wingdings" pitchFamily="2" charset="2"/>
              </a:rPr>
              <a:t> </a:t>
            </a:r>
            <a:endParaRPr lang="en-US" sz="200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0555" y="838190"/>
            <a:ext cx="3255264" cy="1162050"/>
          </a:xfrm>
        </p:spPr>
        <p:txBody>
          <a:bodyPr>
            <a:noAutofit/>
          </a:bodyPr>
          <a:lstStyle/>
          <a:p>
            <a:r>
              <a:rPr lang="en-US" sz="2400">
                <a:effectLst>
                  <a:outerShdw blurRad="38100" dist="38100" dir="2700000" algn="tl">
                    <a:srgbClr val="000000">
                      <a:alpha val="43137"/>
                    </a:srgbClr>
                  </a:outerShdw>
                </a:effectLst>
              </a:rPr>
              <a:t>Memory Management</a:t>
            </a:r>
            <a:br>
              <a:rPr lang="en-US" sz="2400">
                <a:effectLst>
                  <a:outerShdw blurRad="38100" dist="38100" dir="2700000" algn="tl">
                    <a:srgbClr val="000000">
                      <a:alpha val="43137"/>
                    </a:srgbClr>
                  </a:outerShdw>
                </a:effectLst>
              </a:rPr>
            </a:br>
            <a:r>
              <a:rPr lang="en-US" sz="3600">
                <a:effectLst>
                  <a:outerShdw blurRad="38100" dist="38100" dir="2700000" algn="tl">
                    <a:srgbClr val="000000">
                      <a:alpha val="43137"/>
                    </a:srgbClr>
                  </a:outerShdw>
                </a:effectLst>
              </a:rPr>
              <a:t>Paging</a:t>
            </a:r>
            <a:endParaRPr lang="en-US" sz="2400" dirty="0">
              <a:effectLst>
                <a:outerShdw blurRad="38100" dist="38100" dir="2700000" algn="tl">
                  <a:srgbClr val="000000">
                    <a:alpha val="43137"/>
                  </a:srgbClr>
                </a:outerShdw>
              </a:effectLst>
            </a:endParaRPr>
          </a:p>
        </p:txBody>
      </p:sp>
      <p:sp>
        <p:nvSpPr>
          <p:cNvPr id="9" name="Text Placeholder 8"/>
          <p:cNvSpPr>
            <a:spLocks noGrp="1"/>
          </p:cNvSpPr>
          <p:nvPr>
            <p:ph type="body" sz="half" idx="2"/>
          </p:nvPr>
        </p:nvSpPr>
        <p:spPr>
          <a:xfrm>
            <a:off x="381093" y="2660663"/>
            <a:ext cx="3255264" cy="3768733"/>
          </a:xfrm>
        </p:spPr>
        <p:txBody>
          <a:bodyPr>
            <a:normAutofit fontScale="85000" lnSpcReduction="20000"/>
          </a:bodyPr>
          <a:lstStyle/>
          <a:p>
            <a:r>
              <a:rPr lang="en-US" sz="2000"/>
              <a:t>At a time, only one instruction of the current process executes </a:t>
            </a:r>
            <a:r>
              <a:rPr lang="en-US" sz="2000">
                <a:sym typeface="Wingdings" pitchFamily="2" charset="2"/>
              </a:rPr>
              <a:t>  Only necessary part of each process is loaded  Many processes can be loaded.</a:t>
            </a:r>
          </a:p>
          <a:p>
            <a:r>
              <a:rPr lang="en-US" sz="2000"/>
              <a:t>Programs are divided into   small  fixed chunk (ex. 4KB).  At a time, only some pages of each process are loaded to memory (frames)</a:t>
            </a:r>
          </a:p>
          <a:p>
            <a:r>
              <a:rPr lang="en-US" sz="2000"/>
              <a:t>Memory is divided also to frames</a:t>
            </a:r>
          </a:p>
          <a:p>
            <a:r>
              <a:rPr lang="en-US" sz="2000"/>
              <a:t>Frame size= Page size</a:t>
            </a:r>
            <a:endParaRPr lang="en-US" sz="1800" dirty="0"/>
          </a:p>
        </p:txBody>
      </p:sp>
      <p:pic>
        <p:nvPicPr>
          <p:cNvPr id="121859" name="Picture 3"/>
          <p:cNvPicPr>
            <a:picLocks noChangeAspect="1" noChangeArrowheads="1"/>
          </p:cNvPicPr>
          <p:nvPr/>
        </p:nvPicPr>
        <p:blipFill>
          <a:blip r:embed="rId3"/>
          <a:srcRect/>
          <a:stretch>
            <a:fillRect/>
          </a:stretch>
        </p:blipFill>
        <p:spPr bwMode="auto">
          <a:xfrm>
            <a:off x="3871944" y="214290"/>
            <a:ext cx="5200650" cy="5553075"/>
          </a:xfrm>
          <a:prstGeom prst="rect">
            <a:avLst/>
          </a:prstGeom>
          <a:noFill/>
          <a:ln w="9525">
            <a:noFill/>
            <a:miter lim="800000"/>
            <a:headEnd/>
            <a:tailEnd/>
          </a:ln>
          <a:effectLst/>
        </p:spPr>
      </p:pic>
      <p:sp>
        <p:nvSpPr>
          <p:cNvPr id="7" name="Rectangle 6"/>
          <p:cNvSpPr/>
          <p:nvPr/>
        </p:nvSpPr>
        <p:spPr>
          <a:xfrm>
            <a:off x="4572000" y="5929330"/>
            <a:ext cx="3929090" cy="500066"/>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solidFill>
                  <a:schemeClr val="tx1"/>
                </a:solidFill>
              </a:rPr>
              <a:t>Loading 4 frames of the process A</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57158" y="571480"/>
            <a:ext cx="3255264" cy="2714644"/>
          </a:xfrm>
        </p:spPr>
        <p:txBody>
          <a:bodyPr>
            <a:normAutofit/>
          </a:bodyPr>
          <a:lstStyle/>
          <a:p>
            <a:r>
              <a:rPr lang="en-US" sz="3200" b="1">
                <a:effectLst>
                  <a:outerShdw blurRad="38100" dist="38100" dir="2700000" algn="tl">
                    <a:srgbClr val="000000">
                      <a:alpha val="43137"/>
                    </a:srgbClr>
                  </a:outerShdw>
                </a:effectLst>
              </a:rPr>
              <a:t>Paging</a:t>
            </a:r>
            <a:br>
              <a:rPr lang="en-US" sz="2889">
                <a:effectLst>
                  <a:outerShdw blurRad="38100" dist="38100" dir="2700000" algn="tl">
                    <a:srgbClr val="000000">
                      <a:alpha val="43137"/>
                    </a:srgbClr>
                  </a:outerShdw>
                </a:effectLst>
              </a:rPr>
            </a:br>
            <a:br>
              <a:rPr lang="en-US" sz="2889">
                <a:effectLst>
                  <a:outerShdw blurRad="38100" dist="38100" dir="2700000" algn="tl">
                    <a:srgbClr val="000000">
                      <a:alpha val="43137"/>
                    </a:srgbClr>
                  </a:outerShdw>
                </a:effectLst>
              </a:rPr>
            </a:br>
            <a:r>
              <a:rPr lang="en-US" sz="2889">
                <a:effectLst>
                  <a:outerShdw blurRad="38100" dist="38100" dir="2700000" algn="tl">
                    <a:srgbClr val="000000">
                      <a:alpha val="43137"/>
                    </a:srgbClr>
                  </a:outerShdw>
                </a:effectLst>
              </a:rPr>
              <a:t>Logical </a:t>
            </a:r>
            <a:r>
              <a:rPr lang="en-US" sz="2889" dirty="0">
                <a:effectLst>
                  <a:outerShdw blurRad="38100" dist="38100" dir="2700000" algn="tl">
                    <a:srgbClr val="000000">
                      <a:alpha val="43137"/>
                    </a:srgbClr>
                  </a:outerShdw>
                </a:effectLst>
              </a:rPr>
              <a:t>and Physical</a:t>
            </a:r>
            <a:br>
              <a:rPr lang="en-US" sz="2889">
                <a:effectLst>
                  <a:outerShdw blurRad="38100" dist="38100" dir="2700000" algn="tl">
                    <a:srgbClr val="000000">
                      <a:alpha val="43137"/>
                    </a:srgbClr>
                  </a:outerShdw>
                </a:effectLst>
              </a:rPr>
            </a:br>
            <a:r>
              <a:rPr lang="en-US" sz="2889">
                <a:effectLst>
                  <a:outerShdw blurRad="38100" dist="38100" dir="2700000" algn="tl">
                    <a:srgbClr val="000000">
                      <a:alpha val="43137"/>
                    </a:srgbClr>
                  </a:outerShdw>
                </a:effectLst>
              </a:rPr>
              <a:t>Addresses</a:t>
            </a:r>
            <a:endParaRPr lang="en-US" sz="2889" dirty="0">
              <a:effectLst>
                <a:outerShdw blurRad="38100" dist="38100" dir="2700000" algn="tl">
                  <a:srgbClr val="000000">
                    <a:alpha val="43137"/>
                  </a:srgbClr>
                </a:outerShdw>
              </a:effectLst>
            </a:endParaRPr>
          </a:p>
        </p:txBody>
      </p:sp>
      <p:sp>
        <p:nvSpPr>
          <p:cNvPr id="4" name="Rectangle 3"/>
          <p:cNvSpPr/>
          <p:nvPr/>
        </p:nvSpPr>
        <p:spPr>
          <a:xfrm>
            <a:off x="571472" y="3929066"/>
            <a:ext cx="2786082" cy="1938992"/>
          </a:xfrm>
          <a:prstGeom prst="rect">
            <a:avLst/>
          </a:prstGeom>
        </p:spPr>
        <p:txBody>
          <a:bodyPr wrap="square">
            <a:spAutoFit/>
          </a:bodyPr>
          <a:lstStyle/>
          <a:p>
            <a:r>
              <a:rPr lang="en-US">
                <a:solidFill>
                  <a:schemeClr val="bg1"/>
                </a:solidFill>
              </a:rPr>
              <a:t>Each program address is expressed as a logical address which is a pair of (page, offset) </a:t>
            </a:r>
          </a:p>
        </p:txBody>
      </p:sp>
      <p:grpSp>
        <p:nvGrpSpPr>
          <p:cNvPr id="8" name="Group 7"/>
          <p:cNvGrpSpPr/>
          <p:nvPr/>
        </p:nvGrpSpPr>
        <p:grpSpPr>
          <a:xfrm>
            <a:off x="3857620" y="214290"/>
            <a:ext cx="5181600" cy="5686425"/>
            <a:chOff x="3857620" y="585788"/>
            <a:chExt cx="5181600" cy="5686425"/>
          </a:xfrm>
        </p:grpSpPr>
        <p:pic>
          <p:nvPicPr>
            <p:cNvPr id="122883" name="Picture 3"/>
            <p:cNvPicPr>
              <a:picLocks noChangeAspect="1" noChangeArrowheads="1"/>
            </p:cNvPicPr>
            <p:nvPr/>
          </p:nvPicPr>
          <p:blipFill>
            <a:blip r:embed="rId3"/>
            <a:srcRect/>
            <a:stretch>
              <a:fillRect/>
            </a:stretch>
          </p:blipFill>
          <p:spPr bwMode="auto">
            <a:xfrm>
              <a:off x="3857620" y="585788"/>
              <a:ext cx="5181600" cy="5686425"/>
            </a:xfrm>
            <a:prstGeom prst="rect">
              <a:avLst/>
            </a:prstGeom>
            <a:noFill/>
            <a:ln w="9525">
              <a:noFill/>
              <a:miter lim="800000"/>
              <a:headEnd/>
              <a:tailEnd/>
            </a:ln>
            <a:effectLst/>
          </p:spPr>
        </p:pic>
        <p:sp>
          <p:nvSpPr>
            <p:cNvPr id="7" name="Rectangle 6"/>
            <p:cNvSpPr/>
            <p:nvPr/>
          </p:nvSpPr>
          <p:spPr>
            <a:xfrm>
              <a:off x="5116350" y="4143380"/>
              <a:ext cx="316112" cy="1354217"/>
            </a:xfrm>
            <a:prstGeom prst="rect">
              <a:avLst/>
            </a:prstGeom>
          </p:spPr>
          <p:txBody>
            <a:bodyPr wrap="none">
              <a:spAutoFit/>
            </a:bodyPr>
            <a:lstStyle/>
            <a:p>
              <a:r>
                <a:rPr lang="en-US" sz="2050"/>
                <a:t>0</a:t>
              </a:r>
            </a:p>
            <a:p>
              <a:r>
                <a:rPr lang="en-US" sz="2050"/>
                <a:t>1</a:t>
              </a:r>
            </a:p>
            <a:p>
              <a:r>
                <a:rPr lang="en-US" sz="2050"/>
                <a:t>2</a:t>
              </a:r>
            </a:p>
            <a:p>
              <a:r>
                <a:rPr lang="en-US" sz="2050"/>
                <a:t>3</a:t>
              </a:r>
            </a:p>
          </p:txBody>
        </p:sp>
      </p:grpSp>
      <p:sp>
        <p:nvSpPr>
          <p:cNvPr id="9" name="Rectangle 8"/>
          <p:cNvSpPr/>
          <p:nvPr/>
        </p:nvSpPr>
        <p:spPr>
          <a:xfrm>
            <a:off x="3857620" y="435098"/>
            <a:ext cx="3786214" cy="707886"/>
          </a:xfrm>
          <a:prstGeom prst="rect">
            <a:avLst/>
          </a:prstGeom>
          <a:solidFill>
            <a:schemeClr val="accent2">
              <a:lumMod val="10000"/>
              <a:lumOff val="90000"/>
            </a:schemeClr>
          </a:solidFill>
        </p:spPr>
        <p:txBody>
          <a:bodyPr wrap="square">
            <a:spAutoFit/>
          </a:bodyPr>
          <a:lstStyle/>
          <a:p>
            <a:pPr algn="ctr"/>
            <a:r>
              <a:rPr lang="en-US" sz="2000"/>
              <a:t>How to determine physical address from a logical address?</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8474" y="134471"/>
            <a:ext cx="7556313" cy="932329"/>
          </a:xfrm>
        </p:spPr>
        <p:txBody>
          <a:bodyPr/>
          <a:lstStyle/>
          <a:p>
            <a:r>
              <a:rPr lang="en-US">
                <a:effectLst>
                  <a:outerShdw blurRad="38100" dist="38100" dir="2700000" algn="tl">
                    <a:srgbClr val="000000">
                      <a:alpha val="43137"/>
                    </a:srgbClr>
                  </a:outerShdw>
                </a:effectLst>
              </a:rPr>
              <a:t>Virtual Memory: Demand Paging</a:t>
            </a:r>
            <a:endParaRPr lang="en-US" dirty="0">
              <a:effectLst>
                <a:outerShdw blurRad="38100" dist="38100" dir="2700000" algn="tl">
                  <a:srgbClr val="000000">
                    <a:alpha val="43137"/>
                  </a:srgbClr>
                </a:outerShdw>
              </a:effectLst>
            </a:endParaRPr>
          </a:p>
        </p:txBody>
      </p:sp>
      <p:sp>
        <p:nvSpPr>
          <p:cNvPr id="41987" name="Rectangle 3"/>
          <p:cNvSpPr>
            <a:spLocks noGrp="1" noChangeArrowheads="1"/>
          </p:cNvSpPr>
          <p:nvPr>
            <p:ph idx="1"/>
          </p:nvPr>
        </p:nvSpPr>
        <p:spPr>
          <a:xfrm>
            <a:off x="571472" y="1785926"/>
            <a:ext cx="7858148" cy="4695836"/>
          </a:xfrm>
        </p:spPr>
        <p:txBody>
          <a:bodyPr>
            <a:noAutofit/>
          </a:bodyPr>
          <a:lstStyle/>
          <a:p>
            <a:r>
              <a:rPr lang="en-US" sz="2800" b="1" dirty="0">
                <a:solidFill>
                  <a:srgbClr val="002060"/>
                </a:solidFill>
              </a:rPr>
              <a:t>Each page of a process is brought in only when it is needed</a:t>
            </a:r>
          </a:p>
          <a:p>
            <a:r>
              <a:rPr lang="en-US" sz="2400" b="1" dirty="0">
                <a:solidFill>
                  <a:srgbClr val="002060"/>
                </a:solidFill>
              </a:rPr>
              <a:t>Principle of locality</a:t>
            </a:r>
          </a:p>
          <a:p>
            <a:pPr lvl="1"/>
            <a:r>
              <a:rPr lang="en-US" sz="2000" dirty="0">
                <a:solidFill>
                  <a:srgbClr val="002060"/>
                </a:solidFill>
              </a:rPr>
              <a:t>When working with a large process execution may </a:t>
            </a:r>
            <a:r>
              <a:rPr lang="en-US" sz="2000">
                <a:solidFill>
                  <a:srgbClr val="002060"/>
                </a:solidFill>
              </a:rPr>
              <a:t>be </a:t>
            </a:r>
            <a:r>
              <a:rPr lang="en-US" sz="2000" b="1">
                <a:solidFill>
                  <a:srgbClr val="FF0000"/>
                </a:solidFill>
              </a:rPr>
              <a:t>confined (limited) </a:t>
            </a:r>
            <a:r>
              <a:rPr lang="en-US" sz="2000" b="1" dirty="0">
                <a:solidFill>
                  <a:srgbClr val="FF0000"/>
                </a:solidFill>
              </a:rPr>
              <a:t>to a small section of a program </a:t>
            </a:r>
            <a:r>
              <a:rPr lang="en-US" sz="2000" dirty="0">
                <a:solidFill>
                  <a:srgbClr val="002060"/>
                </a:solidFill>
              </a:rPr>
              <a:t>(subroutine)</a:t>
            </a:r>
          </a:p>
          <a:p>
            <a:pPr lvl="1"/>
            <a:r>
              <a:rPr lang="en-US" sz="2000" dirty="0">
                <a:solidFill>
                  <a:srgbClr val="002060"/>
                </a:solidFill>
              </a:rPr>
              <a:t>It is better use of memory to load in just a few pages</a:t>
            </a:r>
          </a:p>
          <a:p>
            <a:pPr lvl="1"/>
            <a:r>
              <a:rPr lang="en-US" sz="2000" dirty="0">
                <a:solidFill>
                  <a:srgbClr val="002060"/>
                </a:solidFill>
              </a:rPr>
              <a:t>If the program </a:t>
            </a:r>
            <a:r>
              <a:rPr lang="en-US" sz="2000" b="1" dirty="0">
                <a:solidFill>
                  <a:srgbClr val="FF0000"/>
                </a:solidFill>
              </a:rPr>
              <a:t>references</a:t>
            </a:r>
            <a:r>
              <a:rPr lang="en-US" sz="2000" b="1" dirty="0">
                <a:solidFill>
                  <a:srgbClr val="002060"/>
                </a:solidFill>
              </a:rPr>
              <a:t> </a:t>
            </a:r>
            <a:r>
              <a:rPr lang="en-US" sz="2000" dirty="0">
                <a:solidFill>
                  <a:srgbClr val="002060"/>
                </a:solidFill>
              </a:rPr>
              <a:t>data or branches to </a:t>
            </a:r>
            <a:r>
              <a:rPr lang="en-US" sz="2000" dirty="0">
                <a:solidFill>
                  <a:srgbClr val="FF0000"/>
                </a:solidFill>
              </a:rPr>
              <a:t>an instruction on a page not in main memory</a:t>
            </a:r>
            <a:r>
              <a:rPr lang="en-US" sz="2000" dirty="0">
                <a:solidFill>
                  <a:srgbClr val="002060"/>
                </a:solidFill>
              </a:rPr>
              <a:t>, </a:t>
            </a:r>
            <a:r>
              <a:rPr lang="en-US" sz="2000" b="1" u="sng" dirty="0">
                <a:solidFill>
                  <a:srgbClr val="FF0000"/>
                </a:solidFill>
              </a:rPr>
              <a:t>a </a:t>
            </a:r>
            <a:r>
              <a:rPr lang="en-US" sz="2000" b="1" i="1" u="sng" dirty="0">
                <a:solidFill>
                  <a:srgbClr val="FF0000"/>
                </a:solidFill>
              </a:rPr>
              <a:t>page fault </a:t>
            </a:r>
            <a:r>
              <a:rPr lang="en-US" sz="2000" dirty="0">
                <a:solidFill>
                  <a:srgbClr val="002060"/>
                </a:solidFill>
              </a:rPr>
              <a:t>is triggered which tells the OS to bring in the </a:t>
            </a:r>
            <a:r>
              <a:rPr lang="en-US" sz="2000">
                <a:solidFill>
                  <a:srgbClr val="002060"/>
                </a:solidFill>
              </a:rPr>
              <a:t>desired page</a:t>
            </a:r>
            <a:endParaRPr lang="en-US" sz="2000" dirty="0">
              <a:solidFill>
                <a:srgbClr val="002060"/>
              </a:solidFill>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98474" y="134471"/>
            <a:ext cx="7556313" cy="932329"/>
          </a:xfrm>
        </p:spPr>
        <p:txBody>
          <a:bodyPr/>
          <a:lstStyle/>
          <a:p>
            <a:r>
              <a:rPr lang="en-US">
                <a:effectLst>
                  <a:outerShdw blurRad="38100" dist="38100" dir="2700000" algn="tl">
                    <a:srgbClr val="000000">
                      <a:alpha val="43137"/>
                    </a:srgbClr>
                  </a:outerShdw>
                </a:effectLst>
              </a:rPr>
              <a:t>Virtual Memory: Demand Paging</a:t>
            </a:r>
            <a:endParaRPr lang="en-US" dirty="0">
              <a:effectLst>
                <a:outerShdw blurRad="38100" dist="38100" dir="2700000" algn="tl">
                  <a:srgbClr val="000000">
                    <a:alpha val="43137"/>
                  </a:srgbClr>
                </a:outerShdw>
              </a:effectLst>
            </a:endParaRPr>
          </a:p>
        </p:txBody>
      </p:sp>
      <p:sp>
        <p:nvSpPr>
          <p:cNvPr id="41987" name="Rectangle 3"/>
          <p:cNvSpPr>
            <a:spLocks noGrp="1" noChangeArrowheads="1"/>
          </p:cNvSpPr>
          <p:nvPr>
            <p:ph idx="1"/>
          </p:nvPr>
        </p:nvSpPr>
        <p:spPr>
          <a:xfrm>
            <a:off x="500034" y="1500174"/>
            <a:ext cx="8143900" cy="4786346"/>
          </a:xfrm>
        </p:spPr>
        <p:txBody>
          <a:bodyPr>
            <a:noAutofit/>
          </a:bodyPr>
          <a:lstStyle/>
          <a:p>
            <a:r>
              <a:rPr lang="en-US" sz="2400" b="1">
                <a:solidFill>
                  <a:srgbClr val="002060"/>
                </a:solidFill>
              </a:rPr>
              <a:t>Advantages</a:t>
            </a:r>
            <a:r>
              <a:rPr lang="en-US" sz="2400" b="1" dirty="0">
                <a:solidFill>
                  <a:srgbClr val="002060"/>
                </a:solidFill>
              </a:rPr>
              <a:t>:</a:t>
            </a:r>
          </a:p>
          <a:p>
            <a:pPr lvl="1"/>
            <a:r>
              <a:rPr lang="en-US" sz="2000" dirty="0">
                <a:solidFill>
                  <a:srgbClr val="002060"/>
                </a:solidFill>
              </a:rPr>
              <a:t>More processes can be maintained in memory</a:t>
            </a:r>
          </a:p>
          <a:p>
            <a:pPr lvl="1"/>
            <a:r>
              <a:rPr lang="en-US" sz="2000" dirty="0">
                <a:solidFill>
                  <a:srgbClr val="002060"/>
                </a:solidFill>
              </a:rPr>
              <a:t>Time is saved because unused pages are not swapped in and out of memory</a:t>
            </a:r>
          </a:p>
          <a:p>
            <a:r>
              <a:rPr lang="en-US" sz="2400" b="1" dirty="0">
                <a:solidFill>
                  <a:srgbClr val="002060"/>
                </a:solidFill>
              </a:rPr>
              <a:t>Disadvantages:</a:t>
            </a:r>
          </a:p>
          <a:p>
            <a:pPr lvl="1"/>
            <a:r>
              <a:rPr lang="en-US" sz="2000" dirty="0">
                <a:solidFill>
                  <a:srgbClr val="002060"/>
                </a:solidFill>
              </a:rPr>
              <a:t>When one page is brought in, another page must be thrown out (</a:t>
            </a:r>
            <a:r>
              <a:rPr lang="en-US" sz="2000" i="1" dirty="0">
                <a:solidFill>
                  <a:srgbClr val="FF0000"/>
                </a:solidFill>
              </a:rPr>
              <a:t>page replacement</a:t>
            </a:r>
            <a:r>
              <a:rPr lang="en-US" sz="2000" i="1" dirty="0">
                <a:solidFill>
                  <a:srgbClr val="002060"/>
                </a:solidFill>
              </a:rPr>
              <a:t>)</a:t>
            </a:r>
          </a:p>
          <a:p>
            <a:pPr lvl="1"/>
            <a:r>
              <a:rPr lang="en-US" sz="2000" dirty="0">
                <a:solidFill>
                  <a:srgbClr val="002060"/>
                </a:solidFill>
              </a:rPr>
              <a:t>If a page is thrown out just before it is about to be used the OS will have to go get the page again</a:t>
            </a:r>
          </a:p>
          <a:p>
            <a:pPr lvl="1"/>
            <a:r>
              <a:rPr lang="en-US" sz="2000" i="1">
                <a:solidFill>
                  <a:srgbClr val="FF0000"/>
                </a:solidFill>
              </a:rPr>
              <a:t>Thrashing</a:t>
            </a:r>
            <a:r>
              <a:rPr lang="en-US" sz="2000" i="1">
                <a:solidFill>
                  <a:srgbClr val="002060"/>
                </a:solidFill>
              </a:rPr>
              <a:t> (đánh bại- hệ thống trì trệ)</a:t>
            </a:r>
            <a:endParaRPr lang="en-US" sz="2000" dirty="0">
              <a:solidFill>
                <a:srgbClr val="002060"/>
              </a:solidFill>
            </a:endParaRPr>
          </a:p>
          <a:p>
            <a:pPr lvl="2"/>
            <a:r>
              <a:rPr lang="en-US" sz="2000" dirty="0">
                <a:solidFill>
                  <a:srgbClr val="002060"/>
                </a:solidFill>
              </a:rPr>
              <a:t>When the processor spends most of its time swapping pages rather than executing instructions</a:t>
            </a:r>
          </a:p>
          <a:p>
            <a:endParaRPr lang="en-US" sz="2400" dirty="0">
              <a:solidFill>
                <a:srgbClr val="002060"/>
              </a:solidFill>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85721" y="1071546"/>
            <a:ext cx="1928826" cy="2571768"/>
          </a:xfrm>
        </p:spPr>
        <p:txBody>
          <a:bodyPr>
            <a:noAutofit/>
          </a:bodyPr>
          <a:lstStyle/>
          <a:p>
            <a:r>
              <a:rPr lang="en-US" sz="3600">
                <a:effectLst>
                  <a:outerShdw blurRad="38100" dist="38100" dir="2700000" algn="tl">
                    <a:srgbClr val="000000">
                      <a:alpha val="43137"/>
                    </a:srgbClr>
                  </a:outerShdw>
                </a:effectLst>
              </a:rPr>
              <a:t>Paging:</a:t>
            </a:r>
            <a:br>
              <a:rPr lang="en-US" sz="36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Inverted </a:t>
            </a:r>
            <a:br>
              <a:rPr lang="en-US" sz="32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Page</a:t>
            </a:r>
            <a:br>
              <a:rPr lang="en-US" sz="3200" dirty="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Table </a:t>
            </a:r>
            <a:br>
              <a:rPr lang="en-US" sz="3200">
                <a:effectLst>
                  <a:outerShdw blurRad="38100" dist="38100" dir="2700000" algn="tl">
                    <a:srgbClr val="000000">
                      <a:alpha val="43137"/>
                    </a:srgbClr>
                  </a:outerShdw>
                </a:effectLst>
              </a:rPr>
            </a:br>
            <a:r>
              <a:rPr lang="en-US" sz="3200">
                <a:effectLst>
                  <a:outerShdw blurRad="38100" dist="38100" dir="2700000" algn="tl">
                    <a:srgbClr val="000000">
                      <a:alpha val="43137"/>
                    </a:srgbClr>
                  </a:outerShdw>
                </a:effectLst>
              </a:rPr>
              <a:t>Structure</a:t>
            </a:r>
            <a:endParaRPr lang="en-US" sz="3200" dirty="0">
              <a:effectLst>
                <a:outerShdw blurRad="38100" dist="38100" dir="2700000" algn="tl">
                  <a:srgbClr val="000000">
                    <a:alpha val="43137"/>
                  </a:srgbClr>
                </a:outerShdw>
              </a:effectLst>
            </a:endParaRPr>
          </a:p>
        </p:txBody>
      </p:sp>
      <p:sp>
        <p:nvSpPr>
          <p:cNvPr id="5" name="Rectangle 4"/>
          <p:cNvSpPr/>
          <p:nvPr/>
        </p:nvSpPr>
        <p:spPr>
          <a:xfrm>
            <a:off x="285720" y="5371943"/>
            <a:ext cx="8572560" cy="1200329"/>
          </a:xfrm>
          <a:prstGeom prst="rect">
            <a:avLst/>
          </a:prstGeom>
          <a:solidFill>
            <a:schemeClr val="accent1">
              <a:lumMod val="50000"/>
            </a:schemeClr>
          </a:solidFill>
        </p:spPr>
        <p:txBody>
          <a:bodyPr wrap="square">
            <a:spAutoFit/>
          </a:bodyPr>
          <a:lstStyle/>
          <a:p>
            <a:r>
              <a:rPr lang="en-US" sz="1800">
                <a:solidFill>
                  <a:schemeClr val="bg1"/>
                </a:solidFill>
              </a:rPr>
              <a:t>Hash function allows determine the position of a table in which data is stored. </a:t>
            </a:r>
          </a:p>
          <a:p>
            <a:r>
              <a:rPr lang="en-US" sz="1800">
                <a:solidFill>
                  <a:schemeClr val="bg1"/>
                </a:solidFill>
              </a:rPr>
              <a:t>Example: </a:t>
            </a:r>
            <a:r>
              <a:rPr lang="en-US" sz="1800" b="1">
                <a:solidFill>
                  <a:schemeClr val="bg1"/>
                </a:solidFill>
              </a:rPr>
              <a:t>h(n) = n modulo k ( n%k)</a:t>
            </a:r>
          </a:p>
          <a:p>
            <a:r>
              <a:rPr lang="en-US" sz="1800">
                <a:solidFill>
                  <a:schemeClr val="bg1"/>
                </a:solidFill>
              </a:rPr>
              <a:t>If h(n2) = position storing n1, n2 will be stored in the lower position (overflow area) and they are marked in  the field </a:t>
            </a:r>
            <a:r>
              <a:rPr lang="en-US" sz="1800" b="1">
                <a:solidFill>
                  <a:schemeClr val="bg1"/>
                </a:solidFill>
              </a:rPr>
              <a:t>chain.</a:t>
            </a:r>
            <a:endParaRPr lang="en-US" sz="1800">
              <a:solidFill>
                <a:schemeClr val="bg1"/>
              </a:solidFill>
            </a:endParaRPr>
          </a:p>
        </p:txBody>
      </p:sp>
      <p:pic>
        <p:nvPicPr>
          <p:cNvPr id="123907" name="Picture 3"/>
          <p:cNvPicPr>
            <a:picLocks noChangeAspect="1" noChangeArrowheads="1"/>
          </p:cNvPicPr>
          <p:nvPr/>
        </p:nvPicPr>
        <p:blipFill>
          <a:blip r:embed="rId3"/>
          <a:srcRect/>
          <a:stretch>
            <a:fillRect/>
          </a:stretch>
        </p:blipFill>
        <p:spPr bwMode="auto">
          <a:xfrm>
            <a:off x="3071802" y="214290"/>
            <a:ext cx="5972175" cy="5010150"/>
          </a:xfrm>
          <a:prstGeom prst="rect">
            <a:avLst/>
          </a:prstGeom>
          <a:noFill/>
          <a:ln w="9525">
            <a:noFill/>
            <a:miter lim="800000"/>
            <a:headEnd/>
            <a:tailEnd/>
          </a:ln>
          <a:effectLst/>
        </p:spPr>
      </p:pic>
      <p:sp>
        <p:nvSpPr>
          <p:cNvPr id="7" name="Rectangle 6"/>
          <p:cNvSpPr/>
          <p:nvPr/>
        </p:nvSpPr>
        <p:spPr>
          <a:xfrm>
            <a:off x="428596" y="3857628"/>
            <a:ext cx="2500330" cy="121444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a:t>A large table is used to store all pages of all procsses</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357158" y="857232"/>
            <a:ext cx="3255264" cy="2133600"/>
          </a:xfrm>
        </p:spPr>
        <p:txBody>
          <a:bodyPr/>
          <a:lstStyle/>
          <a:p>
            <a:r>
              <a:rPr lang="en-GB">
                <a:effectLst>
                  <a:outerShdw blurRad="38100" dist="38100" dir="2700000" algn="tl">
                    <a:srgbClr val="000000">
                      <a:alpha val="43137"/>
                    </a:srgbClr>
                  </a:outerShdw>
                </a:effectLst>
              </a:rPr>
              <a:t>Paging:</a:t>
            </a:r>
            <a:br>
              <a:rPr lang="en-GB">
                <a:effectLst>
                  <a:outerShdw blurRad="38100" dist="38100" dir="2700000" algn="tl">
                    <a:srgbClr val="000000">
                      <a:alpha val="43137"/>
                    </a:srgbClr>
                  </a:outerShdw>
                </a:effectLst>
              </a:rPr>
            </a:br>
            <a:r>
              <a:rPr lang="en-GB">
                <a:effectLst>
                  <a:outerShdw blurRad="38100" dist="38100" dir="2700000" algn="tl">
                    <a:srgbClr val="000000">
                      <a:alpha val="43137"/>
                    </a:srgbClr>
                  </a:outerShdw>
                </a:effectLst>
              </a:rPr>
              <a:t>Operation </a:t>
            </a:r>
            <a:r>
              <a:rPr lang="en-GB" dirty="0">
                <a:effectLst>
                  <a:outerShdw blurRad="38100" dist="38100" dir="2700000" algn="tl">
                    <a:srgbClr val="000000">
                      <a:alpha val="43137"/>
                    </a:srgbClr>
                  </a:outerShdw>
                </a:effectLst>
              </a:rPr>
              <a:t>of Paging and Translation Lookaside Buffer (TLB)</a:t>
            </a:r>
          </a:p>
        </p:txBody>
      </p:sp>
      <p:sp>
        <p:nvSpPr>
          <p:cNvPr id="5" name="Rectangle 4"/>
          <p:cNvSpPr/>
          <p:nvPr/>
        </p:nvSpPr>
        <p:spPr>
          <a:xfrm>
            <a:off x="357158" y="3357562"/>
            <a:ext cx="3143272" cy="2246769"/>
          </a:xfrm>
          <a:prstGeom prst="rect">
            <a:avLst/>
          </a:prstGeom>
        </p:spPr>
        <p:txBody>
          <a:bodyPr wrap="square">
            <a:spAutoFit/>
          </a:bodyPr>
          <a:lstStyle/>
          <a:p>
            <a:r>
              <a:rPr lang="en-US" sz="2000">
                <a:solidFill>
                  <a:schemeClr val="bg1"/>
                </a:solidFill>
              </a:rPr>
              <a:t>TLB is an hardware including some registers. A part of page table is copied to them in order to increase performance of translating virtual addresses to physical addresses.</a:t>
            </a:r>
          </a:p>
        </p:txBody>
      </p:sp>
      <p:pic>
        <p:nvPicPr>
          <p:cNvPr id="124930" name="Picture 2"/>
          <p:cNvPicPr>
            <a:picLocks noChangeAspect="1" noChangeArrowheads="1"/>
          </p:cNvPicPr>
          <p:nvPr/>
        </p:nvPicPr>
        <p:blipFill>
          <a:blip r:embed="rId3"/>
          <a:srcRect/>
          <a:stretch>
            <a:fillRect/>
          </a:stretch>
        </p:blipFill>
        <p:spPr bwMode="auto">
          <a:xfrm>
            <a:off x="4143372" y="419100"/>
            <a:ext cx="4476750" cy="6019800"/>
          </a:xfrm>
          <a:prstGeom prst="rect">
            <a:avLst/>
          </a:prstGeom>
          <a:noFill/>
          <a:ln w="9525">
            <a:noFill/>
            <a:miter lim="800000"/>
            <a:headEnd/>
            <a:tailEnd/>
          </a:ln>
          <a:effectLst/>
        </p:spPr>
      </p:pic>
      <p:sp>
        <p:nvSpPr>
          <p:cNvPr id="6" name="Rectangle 5"/>
          <p:cNvSpPr/>
          <p:nvPr/>
        </p:nvSpPr>
        <p:spPr>
          <a:xfrm>
            <a:off x="8358246" y="1714488"/>
            <a:ext cx="571472" cy="50006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002060"/>
                </a:solidFill>
              </a:rPr>
              <a:t>TLB hit</a:t>
            </a:r>
          </a:p>
        </p:txBody>
      </p:sp>
      <p:sp>
        <p:nvSpPr>
          <p:cNvPr id="7" name="Rectangle 6"/>
          <p:cNvSpPr/>
          <p:nvPr/>
        </p:nvSpPr>
        <p:spPr>
          <a:xfrm>
            <a:off x="6143636" y="1857364"/>
            <a:ext cx="642942" cy="50006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solidFill>
                  <a:srgbClr val="FF0000"/>
                </a:solidFill>
              </a:rPr>
              <a:t>TLB miss</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a:xfrm>
            <a:off x="214282" y="285728"/>
            <a:ext cx="7000924" cy="571504"/>
          </a:xfrm>
        </p:spPr>
        <p:txBody>
          <a:bodyPr/>
          <a:lstStyle/>
          <a:p>
            <a:r>
              <a:rPr lang="en-GB">
                <a:effectLst>
                  <a:outerShdw blurRad="38100" dist="38100" dir="2700000" algn="tl">
                    <a:srgbClr val="000000">
                      <a:alpha val="43137"/>
                    </a:srgbClr>
                  </a:outerShdw>
                </a:effectLst>
              </a:rPr>
              <a:t>TLB and Cache </a:t>
            </a:r>
            <a:r>
              <a:rPr lang="en-GB" dirty="0">
                <a:effectLst>
                  <a:outerShdw blurRad="38100" dist="38100" dir="2700000" algn="tl">
                    <a:srgbClr val="000000">
                      <a:alpha val="43137"/>
                    </a:srgbClr>
                  </a:outerShdw>
                </a:effectLst>
              </a:rPr>
              <a:t>Operation</a:t>
            </a:r>
          </a:p>
        </p:txBody>
      </p:sp>
      <p:pic>
        <p:nvPicPr>
          <p:cNvPr id="125954" name="Picture 2"/>
          <p:cNvPicPr>
            <a:picLocks noChangeAspect="1" noChangeArrowheads="1"/>
          </p:cNvPicPr>
          <p:nvPr/>
        </p:nvPicPr>
        <p:blipFill>
          <a:blip r:embed="rId3"/>
          <a:srcRect/>
          <a:stretch>
            <a:fillRect/>
          </a:stretch>
        </p:blipFill>
        <p:spPr bwMode="auto">
          <a:xfrm>
            <a:off x="804788" y="997922"/>
            <a:ext cx="7553426" cy="5502912"/>
          </a:xfrm>
          <a:prstGeom prst="rect">
            <a:avLst/>
          </a:prstGeom>
          <a:noFill/>
          <a:ln w="9525">
            <a:noFill/>
            <a:miter lim="800000"/>
            <a:headEnd/>
            <a:tailEnd/>
          </a:ln>
          <a:effectLst/>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28596" y="214290"/>
            <a:ext cx="3457572" cy="895336"/>
          </a:xfrm>
        </p:spPr>
        <p:txBody>
          <a:bodyPr/>
          <a:lstStyle/>
          <a:p>
            <a:r>
              <a:rPr lang="en-US" dirty="0">
                <a:effectLst>
                  <a:outerShdw blurRad="38100" dist="38100" dir="2700000" algn="tl">
                    <a:srgbClr val="000000">
                      <a:alpha val="43137"/>
                    </a:srgbClr>
                  </a:outerShdw>
                </a:effectLst>
              </a:rPr>
              <a:t>Segmentation</a:t>
            </a:r>
          </a:p>
        </p:txBody>
      </p:sp>
      <p:sp>
        <p:nvSpPr>
          <p:cNvPr id="46083" name="Rectangle 3"/>
          <p:cNvSpPr>
            <a:spLocks noGrp="1" noChangeArrowheads="1"/>
          </p:cNvSpPr>
          <p:nvPr>
            <p:ph sz="half" idx="1"/>
          </p:nvPr>
        </p:nvSpPr>
        <p:spPr>
          <a:xfrm>
            <a:off x="71406" y="1857364"/>
            <a:ext cx="4286280" cy="4357718"/>
          </a:xfrm>
        </p:spPr>
        <p:txBody>
          <a:bodyPr>
            <a:noAutofit/>
          </a:bodyPr>
          <a:lstStyle/>
          <a:p>
            <a:r>
              <a:rPr lang="en-US" sz="2000">
                <a:solidFill>
                  <a:srgbClr val="002060"/>
                </a:solidFill>
              </a:rPr>
              <a:t>Usually </a:t>
            </a:r>
            <a:r>
              <a:rPr lang="en-US" sz="2000" dirty="0">
                <a:solidFill>
                  <a:srgbClr val="002060"/>
                </a:solidFill>
              </a:rPr>
              <a:t>visible to the programmer</a:t>
            </a:r>
          </a:p>
          <a:p>
            <a:r>
              <a:rPr lang="en-US" sz="2000" dirty="0">
                <a:solidFill>
                  <a:srgbClr val="002060"/>
                </a:solidFill>
              </a:rPr>
              <a:t>Provided as a convenience for organizing programs and data and as a means for associating privilege and protection attributes with instructions and data</a:t>
            </a:r>
          </a:p>
          <a:p>
            <a:r>
              <a:rPr lang="en-US" sz="2000" dirty="0">
                <a:solidFill>
                  <a:srgbClr val="002060"/>
                </a:solidFill>
              </a:rPr>
              <a:t>Allows the programmer to view memory as consisting of multiple address spaces </a:t>
            </a:r>
            <a:r>
              <a:rPr lang="en-US" sz="2000">
                <a:solidFill>
                  <a:srgbClr val="002060"/>
                </a:solidFill>
              </a:rPr>
              <a:t>or segments</a:t>
            </a:r>
          </a:p>
          <a:p>
            <a:r>
              <a:rPr lang="en-US" sz="2000">
                <a:solidFill>
                  <a:srgbClr val="002060"/>
                </a:solidFill>
              </a:rPr>
              <a:t>A segment can be divided into some pages.</a:t>
            </a:r>
            <a:endParaRPr lang="en-US" sz="2000" dirty="0">
              <a:solidFill>
                <a:srgbClr val="002060"/>
              </a:solidFill>
            </a:endParaRPr>
          </a:p>
        </p:txBody>
      </p:sp>
      <p:sp>
        <p:nvSpPr>
          <p:cNvPr id="4" name="Content Placeholder 3"/>
          <p:cNvSpPr>
            <a:spLocks noGrp="1"/>
          </p:cNvSpPr>
          <p:nvPr>
            <p:ph sz="half" idx="2"/>
          </p:nvPr>
        </p:nvSpPr>
        <p:spPr>
          <a:xfrm>
            <a:off x="4419600" y="2133600"/>
            <a:ext cx="3657600" cy="4491037"/>
          </a:xfrm>
        </p:spPr>
        <p:txBody>
          <a:bodyPr>
            <a:normAutofit/>
          </a:bodyPr>
          <a:lstStyle/>
          <a:p>
            <a:pPr>
              <a:lnSpc>
                <a:spcPts val="2360"/>
              </a:lnSpc>
              <a:spcBef>
                <a:spcPts val="1300"/>
              </a:spcBef>
            </a:pPr>
            <a:r>
              <a:rPr lang="en-US" sz="2000" b="1" dirty="0">
                <a:solidFill>
                  <a:srgbClr val="002060"/>
                </a:solidFill>
              </a:rPr>
              <a:t>Advantages:</a:t>
            </a:r>
          </a:p>
          <a:p>
            <a:pPr lvl="1">
              <a:lnSpc>
                <a:spcPts val="2360"/>
              </a:lnSpc>
              <a:spcBef>
                <a:spcPts val="1300"/>
              </a:spcBef>
            </a:pPr>
            <a:r>
              <a:rPr lang="en-US" sz="2000" dirty="0">
                <a:solidFill>
                  <a:srgbClr val="002060"/>
                </a:solidFill>
              </a:rPr>
              <a:t>Simplifies the handling of growing data structures</a:t>
            </a:r>
          </a:p>
          <a:p>
            <a:pPr lvl="1"/>
            <a:r>
              <a:rPr lang="en-US" sz="2000" dirty="0">
                <a:solidFill>
                  <a:srgbClr val="002060"/>
                </a:solidFill>
              </a:rPr>
              <a:t>Allows programs to be altered and recompiled independently without requiring that an entire set of programs be re-linked and re-loaded</a:t>
            </a:r>
          </a:p>
          <a:p>
            <a:pPr lvl="1"/>
            <a:r>
              <a:rPr lang="en-US" sz="2000">
                <a:solidFill>
                  <a:srgbClr val="002060"/>
                </a:solidFill>
              </a:rPr>
              <a:t>A segment can be shared </a:t>
            </a:r>
            <a:r>
              <a:rPr lang="en-US" sz="2000" dirty="0">
                <a:solidFill>
                  <a:srgbClr val="002060"/>
                </a:solidFill>
              </a:rPr>
              <a:t>among processes</a:t>
            </a:r>
          </a:p>
          <a:p>
            <a:pPr lvl="1"/>
            <a:r>
              <a:rPr lang="en-US" sz="2000">
                <a:solidFill>
                  <a:srgbClr val="002060"/>
                </a:solidFill>
              </a:rPr>
              <a:t>A segment can be added individual protection</a:t>
            </a:r>
            <a:endParaRPr lang="en-US" sz="2000" dirty="0">
              <a:solidFill>
                <a:srgbClr val="002060"/>
              </a:solidFill>
            </a:endParaRPr>
          </a:p>
          <a:p>
            <a:endParaRPr lang="en-US" sz="2000" dirty="0">
              <a:solidFill>
                <a:srgbClr val="002060"/>
              </a:solidFill>
            </a:endParaRPr>
          </a:p>
        </p:txBody>
      </p:sp>
      <p:sp useBgFill="1">
        <p:nvSpPr>
          <p:cNvPr id="7" name="TextBox 6"/>
          <p:cNvSpPr txBox="1"/>
          <p:nvPr/>
        </p:nvSpPr>
        <p:spPr>
          <a:xfrm>
            <a:off x="7963990" y="240255"/>
            <a:ext cx="951409" cy="1740945"/>
          </a:xfrm>
          <a:prstGeom prst="rect">
            <a:avLst/>
          </a:prstGeom>
        </p:spPr>
        <p:txBody>
          <a:bodyPr wrap="square" rtlCol="0">
            <a:spAutoFit/>
          </a:bodyPr>
          <a:lstStyle/>
          <a:p>
            <a:endParaRPr lang="en-US" dirty="0"/>
          </a:p>
        </p:txBody>
      </p:sp>
      <p:pic>
        <p:nvPicPr>
          <p:cNvPr id="9" name="Picture 8"/>
          <p:cNvPicPr>
            <a:picLocks noChangeAspect="1"/>
          </p:cNvPicPr>
          <p:nvPr/>
        </p:nvPicPr>
        <p:blipFill>
          <a:blip r:embed="rId3"/>
          <a:stretch>
            <a:fillRect/>
          </a:stretch>
        </p:blipFill>
        <p:spPr>
          <a:xfrm>
            <a:off x="6705601" y="0"/>
            <a:ext cx="2438399" cy="2595833"/>
          </a:xfrm>
          <a:prstGeom prst="rect">
            <a:avLst/>
          </a:prstGeom>
        </p:spPr>
      </p:pic>
      <p:pic>
        <p:nvPicPr>
          <p:cNvPr id="10" name="Picture 9"/>
          <p:cNvPicPr>
            <a:picLocks noChangeAspect="1"/>
          </p:cNvPicPr>
          <p:nvPr/>
        </p:nvPicPr>
        <p:blipFill>
          <a:blip r:embed="rId4"/>
          <a:stretch>
            <a:fillRect/>
          </a:stretch>
        </p:blipFill>
        <p:spPr>
          <a:xfrm>
            <a:off x="7239000" y="685800"/>
            <a:ext cx="1393778" cy="1214230"/>
          </a:xfrm>
          <a:prstGeom prst="rect">
            <a:avLst/>
          </a:prstGeom>
        </p:spPr>
      </p:pic>
      <p:sp>
        <p:nvSpPr>
          <p:cNvPr id="8" name="Rectangle 3"/>
          <p:cNvSpPr txBox="1">
            <a:spLocks noChangeArrowheads="1"/>
          </p:cNvSpPr>
          <p:nvPr/>
        </p:nvSpPr>
        <p:spPr>
          <a:xfrm>
            <a:off x="1142976" y="1071546"/>
            <a:ext cx="5572164" cy="785818"/>
          </a:xfrm>
          <a:prstGeom prst="rect">
            <a:avLst/>
          </a:prstGeom>
        </p:spPr>
        <p:txBody>
          <a:bodyPr vert="horz" lIns="91440" tIns="45720" rIns="91440" bIns="45720" rtlCol="0">
            <a:noAutofit/>
          </a:bodyPr>
          <a:lstStyle/>
          <a:p>
            <a:pPr marL="228600" marR="0" lvl="0" indent="-228600" algn="ctr"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2000" b="1" i="0" u="none" strike="noStrike" kern="1200" cap="none" spc="0" normalizeH="0" baseline="0" noProof="0">
                <a:ln>
                  <a:noFill/>
                </a:ln>
                <a:solidFill>
                  <a:srgbClr val="002060"/>
                </a:solidFill>
                <a:effectLst/>
                <a:uLnTx/>
                <a:uFillTx/>
                <a:latin typeface="+mn-lt"/>
                <a:ea typeface="+mn-ea"/>
                <a:cs typeface="+mn-cs"/>
              </a:rPr>
              <a:t>Program is divided in to segments (data, code, stack, heap segments)</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28596" y="214290"/>
            <a:ext cx="3457572" cy="895336"/>
          </a:xfrm>
        </p:spPr>
        <p:txBody>
          <a:bodyPr/>
          <a:lstStyle/>
          <a:p>
            <a:r>
              <a:rPr lang="en-US">
                <a:effectLst>
                  <a:outerShdw blurRad="38100" dist="38100" dir="2700000" algn="tl">
                    <a:srgbClr val="000000">
                      <a:alpha val="43137"/>
                    </a:srgbClr>
                  </a:outerShdw>
                </a:effectLst>
              </a:rPr>
              <a:t>Exercises</a:t>
            </a:r>
            <a:endParaRPr lang="en-US" dirty="0">
              <a:effectLst>
                <a:outerShdw blurRad="38100" dist="38100" dir="2700000" algn="tl">
                  <a:srgbClr val="000000">
                    <a:alpha val="43137"/>
                  </a:srgbClr>
                </a:outerShdw>
              </a:effectLst>
            </a:endParaRPr>
          </a:p>
        </p:txBody>
      </p:sp>
      <p:sp>
        <p:nvSpPr>
          <p:cNvPr id="46083" name="Rectangle 3"/>
          <p:cNvSpPr>
            <a:spLocks noGrp="1" noChangeArrowheads="1"/>
          </p:cNvSpPr>
          <p:nvPr>
            <p:ph sz="half" idx="1"/>
          </p:nvPr>
        </p:nvSpPr>
        <p:spPr>
          <a:xfrm>
            <a:off x="357158" y="1000108"/>
            <a:ext cx="8572560" cy="5072098"/>
          </a:xfrm>
        </p:spPr>
        <p:txBody>
          <a:bodyPr>
            <a:noAutofit/>
          </a:bodyPr>
          <a:lstStyle/>
          <a:p>
            <a:r>
              <a:rPr lang="en-US" sz="1600">
                <a:solidFill>
                  <a:srgbClr val="002060"/>
                </a:solidFill>
              </a:rPr>
              <a:t>8.1 What is an operating system? </a:t>
            </a:r>
          </a:p>
          <a:p>
            <a:r>
              <a:rPr lang="en-US" sz="1600">
                <a:solidFill>
                  <a:srgbClr val="002060"/>
                </a:solidFill>
              </a:rPr>
              <a:t>8.2 List and briefly define the key services provided by an OS. </a:t>
            </a:r>
          </a:p>
          <a:p>
            <a:r>
              <a:rPr lang="en-US" sz="1600">
                <a:solidFill>
                  <a:srgbClr val="002060"/>
                </a:solidFill>
              </a:rPr>
              <a:t>8.3 List and briefly define the major types of OS scheduling. </a:t>
            </a:r>
          </a:p>
          <a:p>
            <a:r>
              <a:rPr lang="en-US" sz="1600">
                <a:solidFill>
                  <a:srgbClr val="002060"/>
                </a:solidFill>
              </a:rPr>
              <a:t>8.4 What is the difference between a process and a program? </a:t>
            </a:r>
          </a:p>
          <a:p>
            <a:r>
              <a:rPr lang="en-US" sz="1600">
                <a:solidFill>
                  <a:srgbClr val="002060"/>
                </a:solidFill>
              </a:rPr>
              <a:t>8.5 What is the purpose of swapping? </a:t>
            </a:r>
          </a:p>
          <a:p>
            <a:r>
              <a:rPr lang="en-US" sz="1600">
                <a:solidFill>
                  <a:srgbClr val="002060"/>
                </a:solidFill>
              </a:rPr>
              <a:t>8.6 If a process may be dynamically assigned to different locations in main memory, what is the implication for the addressing mechanism? </a:t>
            </a:r>
          </a:p>
          <a:p>
            <a:r>
              <a:rPr lang="en-US" sz="1600">
                <a:solidFill>
                  <a:srgbClr val="002060"/>
                </a:solidFill>
              </a:rPr>
              <a:t>8.7 Is it necessary for all of the pages of a process to be in main memory while the process is executing? </a:t>
            </a:r>
          </a:p>
          <a:p>
            <a:r>
              <a:rPr lang="en-US" sz="1600">
                <a:solidFill>
                  <a:srgbClr val="002060"/>
                </a:solidFill>
              </a:rPr>
              <a:t>8.8 Must the pages of a process in main memory be contiguous? </a:t>
            </a:r>
          </a:p>
          <a:p>
            <a:r>
              <a:rPr lang="en-US" sz="1600">
                <a:solidFill>
                  <a:srgbClr val="002060"/>
                </a:solidFill>
              </a:rPr>
              <a:t>8.9 Is it necessary for the pages of a process in main memory to be in sequential order? </a:t>
            </a:r>
          </a:p>
          <a:p>
            <a:r>
              <a:rPr lang="en-US" sz="1600">
                <a:solidFill>
                  <a:srgbClr val="002060"/>
                </a:solidFill>
              </a:rPr>
              <a:t>8.10 What is the purpose of a translation lookaside buffer?</a:t>
            </a:r>
            <a:endParaRPr lang="en-US" sz="1600" dirty="0">
              <a:solidFill>
                <a:srgbClr val="002060"/>
              </a:solidFill>
            </a:endParaRPr>
          </a:p>
        </p:txBody>
      </p:sp>
      <p:sp useBgFill="1">
        <p:nvSpPr>
          <p:cNvPr id="7" name="TextBox 6"/>
          <p:cNvSpPr txBox="1"/>
          <p:nvPr/>
        </p:nvSpPr>
        <p:spPr>
          <a:xfrm>
            <a:off x="7963990" y="240255"/>
            <a:ext cx="951409" cy="1740945"/>
          </a:xfrm>
          <a:prstGeom prst="rect">
            <a:avLst/>
          </a:prstGeom>
        </p:spPr>
        <p:txBody>
          <a:bodyPr wrap="square" rtlCol="0">
            <a:spAutoFit/>
          </a:bodyPr>
          <a:lstStyle/>
          <a:p>
            <a:endParaRPr lang="en-US" dirty="0"/>
          </a:p>
        </p:txBody>
      </p:sp>
      <p:pic>
        <p:nvPicPr>
          <p:cNvPr id="10" name="Picture 9"/>
          <p:cNvPicPr>
            <a:picLocks noChangeAspect="1"/>
          </p:cNvPicPr>
          <p:nvPr/>
        </p:nvPicPr>
        <p:blipFill>
          <a:blip r:embed="rId3"/>
          <a:stretch>
            <a:fillRect/>
          </a:stretch>
        </p:blipFill>
        <p:spPr>
          <a:xfrm>
            <a:off x="7215206" y="214290"/>
            <a:ext cx="1393778" cy="121423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86038"/>
            <a:ext cx="3657600" cy="2700350"/>
          </a:xfrm>
        </p:spPr>
        <p:txBody>
          <a:bodyPr>
            <a:normAutofit/>
          </a:bodyPr>
          <a:lstStyle/>
          <a:p>
            <a:pPr>
              <a:spcBef>
                <a:spcPts val="600"/>
              </a:spcBef>
            </a:pPr>
            <a:r>
              <a:rPr lang="en-US" dirty="0">
                <a:solidFill>
                  <a:srgbClr val="002060"/>
                </a:solidFill>
              </a:rPr>
              <a:t>Operating system objectives and functions</a:t>
            </a:r>
          </a:p>
          <a:p>
            <a:pPr>
              <a:spcBef>
                <a:spcPts val="600"/>
              </a:spcBef>
            </a:pPr>
            <a:r>
              <a:rPr lang="en-US" dirty="0">
                <a:solidFill>
                  <a:srgbClr val="002060"/>
                </a:solidFill>
              </a:rPr>
              <a:t>Types of operating systems</a:t>
            </a:r>
          </a:p>
          <a:p>
            <a:pPr>
              <a:spcBef>
                <a:spcPts val="600"/>
              </a:spcBef>
            </a:pPr>
            <a:r>
              <a:rPr lang="en-US" dirty="0">
                <a:solidFill>
                  <a:srgbClr val="002060"/>
                </a:solidFill>
              </a:rPr>
              <a:t>Scheduling</a:t>
            </a:r>
          </a:p>
          <a:p>
            <a:pPr lvl="1"/>
            <a:r>
              <a:rPr lang="en-US" dirty="0">
                <a:solidFill>
                  <a:srgbClr val="002060"/>
                </a:solidFill>
              </a:rPr>
              <a:t>Long-term scheduling</a:t>
            </a:r>
          </a:p>
          <a:p>
            <a:pPr lvl="1"/>
            <a:r>
              <a:rPr lang="en-US" dirty="0">
                <a:solidFill>
                  <a:srgbClr val="002060"/>
                </a:solidFill>
              </a:rPr>
              <a:t>Medium-term scheduling</a:t>
            </a:r>
          </a:p>
          <a:p>
            <a:pPr lvl="1"/>
            <a:r>
              <a:rPr lang="en-US">
                <a:solidFill>
                  <a:srgbClr val="002060"/>
                </a:solidFill>
              </a:rPr>
              <a:t>Short-term scheduling</a:t>
            </a:r>
            <a:endParaRPr lang="en-US" dirty="0">
              <a:solidFill>
                <a:srgbClr val="002060"/>
              </a:solidFill>
            </a:endParaRPr>
          </a:p>
        </p:txBody>
      </p:sp>
      <p:sp>
        <p:nvSpPr>
          <p:cNvPr id="32" name="Content Placeholder 31"/>
          <p:cNvSpPr>
            <a:spLocks noGrp="1"/>
          </p:cNvSpPr>
          <p:nvPr>
            <p:ph sz="quarter" idx="4"/>
          </p:nvPr>
        </p:nvSpPr>
        <p:spPr>
          <a:xfrm>
            <a:off x="4643438" y="2571768"/>
            <a:ext cx="3810000" cy="3857628"/>
          </a:xfrm>
        </p:spPr>
        <p:txBody>
          <a:bodyPr>
            <a:normAutofit/>
          </a:bodyPr>
          <a:lstStyle/>
          <a:p>
            <a:pPr>
              <a:spcBef>
                <a:spcPts val="600"/>
              </a:spcBef>
            </a:pPr>
            <a:r>
              <a:rPr lang="en-US" dirty="0">
                <a:solidFill>
                  <a:srgbClr val="002060"/>
                </a:solidFill>
              </a:rPr>
              <a:t>Memory management</a:t>
            </a:r>
          </a:p>
          <a:p>
            <a:pPr lvl="1"/>
            <a:r>
              <a:rPr lang="en-US" dirty="0">
                <a:solidFill>
                  <a:srgbClr val="002060"/>
                </a:solidFill>
              </a:rPr>
              <a:t>Swapping</a:t>
            </a:r>
          </a:p>
          <a:p>
            <a:pPr lvl="1"/>
            <a:r>
              <a:rPr lang="en-US" dirty="0">
                <a:solidFill>
                  <a:srgbClr val="002060"/>
                </a:solidFill>
              </a:rPr>
              <a:t>Partitioning</a:t>
            </a:r>
          </a:p>
          <a:p>
            <a:pPr lvl="1"/>
            <a:r>
              <a:rPr lang="en-US" dirty="0">
                <a:solidFill>
                  <a:srgbClr val="002060"/>
                </a:solidFill>
              </a:rPr>
              <a:t>Paging</a:t>
            </a:r>
          </a:p>
          <a:p>
            <a:pPr lvl="1"/>
            <a:r>
              <a:rPr lang="en-US" dirty="0">
                <a:solidFill>
                  <a:srgbClr val="002060"/>
                </a:solidFill>
              </a:rPr>
              <a:t>Virtual memory</a:t>
            </a:r>
          </a:p>
          <a:p>
            <a:pPr lvl="1"/>
            <a:r>
              <a:rPr lang="en-US" dirty="0">
                <a:solidFill>
                  <a:srgbClr val="002060"/>
                </a:solidFill>
              </a:rPr>
              <a:t>Translation lookaside buffer</a:t>
            </a:r>
          </a:p>
          <a:p>
            <a:pPr lvl="1"/>
            <a:r>
              <a:rPr lang="en-US">
                <a:solidFill>
                  <a:srgbClr val="002060"/>
                </a:solidFill>
              </a:rPr>
              <a:t>Segmentation</a:t>
            </a:r>
            <a:endParaRPr lang="en-US" dirty="0">
              <a:solidFill>
                <a:srgbClr val="002060"/>
              </a:solidFill>
            </a:endParaRPr>
          </a:p>
          <a:p>
            <a:pPr lvl="1"/>
            <a:endParaRPr lang="en-US" dirty="0">
              <a:solidFill>
                <a:srgbClr val="002060"/>
              </a:solidFill>
            </a:endParaRP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8</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rPr>
              <a:t>Operating System</a:t>
            </a:r>
          </a:p>
          <a:p>
            <a:r>
              <a:rPr lang="en-US" sz="2800" dirty="0">
                <a:solidFill>
                  <a:schemeClr val="tx2"/>
                </a:solidFill>
              </a:rPr>
              <a:t>Support</a:t>
            </a: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21692</TotalTime>
  <Words>19460</Words>
  <Application>Microsoft Office PowerPoint</Application>
  <PresentationFormat>On-screen Show (4:3)</PresentationFormat>
  <Paragraphs>1558</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Rockwell</vt:lpstr>
      <vt:lpstr>Times New Roman</vt:lpstr>
      <vt:lpstr>Wingdings</vt:lpstr>
      <vt:lpstr>Advantage</vt:lpstr>
      <vt:lpstr>William Stallings, Computer Organization and Architecture, 9th Edition</vt:lpstr>
      <vt:lpstr>Objectives</vt:lpstr>
      <vt:lpstr>Contents</vt:lpstr>
      <vt:lpstr>8.1- Operating System Overview</vt:lpstr>
      <vt:lpstr>The Operating System as User/Computer Interface</vt:lpstr>
      <vt:lpstr>Operating System (OS) Services</vt:lpstr>
      <vt:lpstr>Interfaces</vt:lpstr>
      <vt:lpstr>Operating System  as  Resource Manager</vt:lpstr>
      <vt:lpstr>The OS as Resource Manager</vt:lpstr>
      <vt:lpstr>Types of Operating Systems</vt:lpstr>
      <vt:lpstr>Early Systems</vt:lpstr>
      <vt:lpstr>Simple Batch System:  Memory  Layout  for a  Resident Monitor</vt:lpstr>
      <vt:lpstr>From the View of the Processor . . .</vt:lpstr>
      <vt:lpstr>From the View of the Processor . . .</vt:lpstr>
      <vt:lpstr>Desirable Hardware Features</vt:lpstr>
      <vt:lpstr>System Utilization Example</vt:lpstr>
      <vt:lpstr>Multiprogramming Example</vt:lpstr>
      <vt:lpstr>PowerPoint Presentation</vt:lpstr>
      <vt:lpstr>Time Sharing Systems</vt:lpstr>
      <vt:lpstr>PowerPoint Presentation</vt:lpstr>
      <vt:lpstr>8.2- Scheduling</vt:lpstr>
      <vt:lpstr>Scheduling….</vt:lpstr>
      <vt:lpstr>Long Term Scheduling</vt:lpstr>
      <vt:lpstr>Medium-Term Scheduling                       and Short-Term Scheduling</vt:lpstr>
      <vt:lpstr>Short-Term Scheduling Five State Process Model</vt:lpstr>
      <vt:lpstr>Process Control Block (PCB)   What are metadata of a process? </vt:lpstr>
      <vt:lpstr>Scheduling Example</vt:lpstr>
      <vt:lpstr>Key Elements of O/S</vt:lpstr>
      <vt:lpstr>Process Scheduling</vt:lpstr>
      <vt:lpstr>8.3- Memory Management</vt:lpstr>
      <vt:lpstr>Memory Management: Swapping</vt:lpstr>
      <vt:lpstr>Memory Management</vt:lpstr>
      <vt:lpstr>Effect of Dynamic Partitioning </vt:lpstr>
      <vt:lpstr>Memory Management Paging</vt:lpstr>
      <vt:lpstr>Paging  Logical and Physical Addresses</vt:lpstr>
      <vt:lpstr>Virtual Memory: Demand Paging</vt:lpstr>
      <vt:lpstr>Virtual Memory: Demand Paging</vt:lpstr>
      <vt:lpstr>Paging: Inverted  Page Table  Structure</vt:lpstr>
      <vt:lpstr>Paging: Operation of Paging and Translation Lookaside Buffer (TLB)</vt:lpstr>
      <vt:lpstr>TLB and Cache Operation</vt:lpstr>
      <vt:lpstr>Segmentation</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 Operating System Support</dc:title>
  <dc:creator>Adrian J Pullin</dc:creator>
  <cp:lastModifiedBy>Tong Phuoc Quan (FE FPTU HCM)</cp:lastModifiedBy>
  <cp:revision>157</cp:revision>
  <dcterms:created xsi:type="dcterms:W3CDTF">2012-07-01T22:58:42Z</dcterms:created>
  <dcterms:modified xsi:type="dcterms:W3CDTF">2022-02-23T00:54:52Z</dcterms:modified>
</cp:coreProperties>
</file>