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26"/>
  </p:notesMasterIdLst>
  <p:handoutMasterIdLst>
    <p:handoutMasterId r:id="rId27"/>
  </p:handoutMasterIdLst>
  <p:sldIdLst>
    <p:sldId id="334" r:id="rId2"/>
    <p:sldId id="342" r:id="rId3"/>
    <p:sldId id="343" r:id="rId4"/>
    <p:sldId id="358" r:id="rId5"/>
    <p:sldId id="359" r:id="rId6"/>
    <p:sldId id="360" r:id="rId7"/>
    <p:sldId id="346" r:id="rId8"/>
    <p:sldId id="349" r:id="rId9"/>
    <p:sldId id="350" r:id="rId10"/>
    <p:sldId id="351" r:id="rId11"/>
    <p:sldId id="352" r:id="rId12"/>
    <p:sldId id="348" r:id="rId13"/>
    <p:sldId id="353" r:id="rId14"/>
    <p:sldId id="354" r:id="rId15"/>
    <p:sldId id="347" r:id="rId16"/>
    <p:sldId id="355" r:id="rId17"/>
    <p:sldId id="356" r:id="rId18"/>
    <p:sldId id="357" r:id="rId19"/>
    <p:sldId id="362" r:id="rId20"/>
    <p:sldId id="363" r:id="rId21"/>
    <p:sldId id="364" r:id="rId22"/>
    <p:sldId id="361" r:id="rId23"/>
    <p:sldId id="365" r:id="rId24"/>
    <p:sldId id="336" r:id="rId25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6" autoAdjust="0"/>
    <p:restoredTop sz="88988" autoAdjust="0"/>
  </p:normalViewPr>
  <p:slideViewPr>
    <p:cSldViewPr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54"/>
    </p:cViewPr>
  </p:sorterViewPr>
  <p:notesViewPr>
    <p:cSldViewPr>
      <p:cViewPr varScale="1">
        <p:scale>
          <a:sx n="61" d="100"/>
          <a:sy n="61" d="100"/>
        </p:scale>
        <p:origin x="-171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4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484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64139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Prepared by Thân</a:t>
            </a:r>
            <a:r>
              <a:rPr lang="en-GB" baseline="0" dirty="0" smtClean="0"/>
              <a:t> </a:t>
            </a:r>
            <a:r>
              <a:rPr lang="en-GB" baseline="0" smtClean="0"/>
              <a:t>Văn Sử</a:t>
            </a:r>
          </a:p>
          <a:p>
            <a:endParaRPr lang="en-GB" baseline="0" smtClean="0"/>
          </a:p>
          <a:p>
            <a:r>
              <a:rPr lang="en-GB" baseline="0" smtClean="0"/>
              <a:t>These slides are prepared using step-by-step approach, students can study by themselves.</a:t>
            </a:r>
          </a:p>
          <a:p>
            <a:r>
              <a:rPr lang="en-GB" baseline="0" smtClean="0"/>
              <a:t>All needed concepts are presented on each slide</a:t>
            </a:r>
          </a:p>
          <a:p>
            <a:endParaRPr lang="en-GB" baseline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smtClean="0"/>
              <a:t>Teachers should explain sample code, memory map of  programs</a:t>
            </a:r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mtClean="0"/>
              <a:t>Các phép tính toán học</a:t>
            </a:r>
          </a:p>
          <a:p>
            <a:r>
              <a:rPr lang="vi-VN" smtClean="0"/>
              <a:t>2- Bản đồ địa chỉ và bộ nhớ của biến truy cập</a:t>
            </a:r>
          </a:p>
          <a:p>
            <a:r>
              <a:rPr lang="vi-VN" smtClean="0"/>
              <a:t>3- Quy trình với tham số con trỏ</a:t>
            </a:r>
          </a:p>
          <a:p>
            <a:r>
              <a:rPr lang="vi-VN" smtClean="0"/>
              <a:t>4- Sử dụng vòng lặp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smtClean="0"/>
              <a:t>Viết một chương trình MASM sẽ chấp nhận 2 số nguyên, sau đó tổng số của chúng sẽ được in ra.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mtClean="0"/>
              <a:t>Chương trình sau mô tả cách nhận địa chỉ của các biến:</a:t>
            </a:r>
          </a:p>
          <a:p>
            <a:r>
              <a:rPr lang="vi-VN" smtClean="0"/>
              <a:t>Toán tử OFFSET cho các biến toàn cầu</a:t>
            </a:r>
          </a:p>
          <a:p>
            <a:r>
              <a:rPr lang="vi-VN" smtClean="0"/>
              <a:t>Lệnh LEA cho các biến cục bộ</a:t>
            </a:r>
          </a:p>
          <a:p>
            <a:r>
              <a:rPr lang="vi-VN" smtClean="0"/>
              <a:t>Vẽ bản đồ bộ nhớ của một chương trình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smtClean="0"/>
              <a:t>Teachers can explain memory map of sample program</a:t>
            </a:r>
            <a:endParaRPr lang="en-GB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smtClean="0"/>
              <a:t>Teachers can explain memory map of sample program</a:t>
            </a:r>
            <a:endParaRPr lang="en-GB" smtClean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smtClean="0"/>
              <a:t>Teachers can explain memory map of sample program</a:t>
            </a:r>
            <a:endParaRPr lang="en-GB" smtClean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smtClean="0"/>
              <a:t>Teachers can explain sample code</a:t>
            </a:r>
            <a:endParaRPr lang="en-GB" smtClean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mtClean="0"/>
              <a:t>Chương trình này mô tả các giá trị truyền tới đối số khi gọi thủ tục</a:t>
            </a:r>
          </a:p>
          <a:p>
            <a:r>
              <a:rPr lang="vi-VN" smtClean="0"/>
              <a:t>Chương trình sẽ chấp nhận 2 số nguyên, hoán đổi chúng rồi in ra kết quả.</a:t>
            </a:r>
          </a:p>
          <a:p>
            <a:r>
              <a:rPr lang="vi-VN" smtClean="0"/>
              <a:t>Phiên bản này không thể thực hiện các yêu cầu thành công vì thủ tục swap1 truy cập trực tiếp các biến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smtClean="0"/>
              <a:t>Chương trình sau đây mô tả cách sử dụng vòng lặp.</a:t>
            </a:r>
          </a:p>
          <a:p>
            <a:r>
              <a:rPr lang="vi-VN" smtClean="0"/>
              <a:t>Chương trình sẽ thực hiện 3 lần, cho mỗi lần, 2 số nguyên sẽ được chấp nhận sau đó tổng số của chúng được in ra.</a:t>
            </a:r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9F2598D2-2ED8-8547-B4B7-C382E9B8AC9E}" type="slidenum">
              <a:rPr lang="en-US"/>
              <a:pPr/>
              <a:t>24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13 summary.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06-11-2018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06-11-2018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06-11-2018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06-11-2018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06-11-2018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06-11-2018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06-11-2018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06-11-2018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06-11-2018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06-11-2018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06-11-2018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 Placeholder 10"/>
          <p:cNvSpPr txBox="1">
            <a:spLocks/>
          </p:cNvSpPr>
          <p:nvPr/>
        </p:nvSpPr>
        <p:spPr>
          <a:xfrm>
            <a:off x="4500562" y="4714884"/>
            <a:ext cx="4572032" cy="1528767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ASSEMLY LANGUAGE 02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4857760"/>
            <a:ext cx="3786214" cy="156966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To pay more attention to </a:t>
            </a:r>
            <a:r>
              <a:rPr lang="en-US" sz="3200" b="1" smtClean="0">
                <a:solidFill>
                  <a:schemeClr val="bg1"/>
                </a:solidFill>
              </a:rPr>
              <a:t>gain better </a:t>
            </a:r>
            <a:r>
              <a:rPr lang="en-US" sz="3200" b="1" dirty="0" smtClean="0">
                <a:solidFill>
                  <a:schemeClr val="bg1"/>
                </a:solidFill>
              </a:rPr>
              <a:t>result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658890"/>
          </a:xfrm>
        </p:spPr>
        <p:txBody>
          <a:bodyPr/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1285860"/>
            <a:ext cx="7931178" cy="3786214"/>
          </a:xfrm>
        </p:spPr>
        <p:txBody>
          <a:bodyPr>
            <a:noAutofit/>
          </a:bodyPr>
          <a:lstStyle/>
          <a:p>
            <a:pPr lvl="0">
              <a:buNone/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After studying this chapter, you should be able to: 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Perform arithmetic operations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Access variable’s address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Draw the memory map of a program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Understand the way procedures work.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Use a loop operation  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658890"/>
          </a:xfrm>
        </p:spPr>
        <p:txBody>
          <a:bodyPr/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1981201"/>
            <a:ext cx="7556313" cy="216218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>
                <a:solidFill>
                  <a:srgbClr val="002060"/>
                </a:solidFill>
              </a:rPr>
              <a:t>1- Arithmetic operations</a:t>
            </a:r>
          </a:p>
          <a:p>
            <a:r>
              <a:rPr lang="en-US" sz="2800" dirty="0" smtClean="0">
                <a:solidFill>
                  <a:srgbClr val="002060"/>
                </a:solidFill>
              </a:rPr>
              <a:t>2- Access variable’s address and memory map</a:t>
            </a:r>
          </a:p>
          <a:p>
            <a:r>
              <a:rPr lang="en-US" sz="2800" smtClean="0">
                <a:solidFill>
                  <a:srgbClr val="002060"/>
                </a:solidFill>
              </a:rPr>
              <a:t>3- </a:t>
            </a:r>
            <a:r>
              <a:rPr lang="en-US" sz="2800" dirty="0" smtClean="0">
                <a:solidFill>
                  <a:srgbClr val="002060"/>
                </a:solidFill>
              </a:rPr>
              <a:t>Procedure with pointer parameters</a:t>
            </a:r>
          </a:p>
          <a:p>
            <a:r>
              <a:rPr lang="en-US" sz="2800" dirty="0" smtClean="0">
                <a:solidFill>
                  <a:srgbClr val="002060"/>
                </a:solidFill>
              </a:rPr>
              <a:t>4- Use Loops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2357430"/>
            <a:ext cx="7143800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2" y="0"/>
            <a:ext cx="6357982" cy="714356"/>
          </a:xfrm>
        </p:spPr>
        <p:txBody>
          <a:bodyPr/>
          <a:lstStyle/>
          <a:p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Arithmetic Operations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4282" y="1383557"/>
            <a:ext cx="82153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Write a MASM program that will accept 2 integers, then sum of them will be print out.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158" y="785794"/>
            <a:ext cx="2552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EX06_Adding.asm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2" y="0"/>
            <a:ext cx="8358246" cy="714356"/>
          </a:xfrm>
        </p:spPr>
        <p:txBody>
          <a:bodyPr/>
          <a:lstStyle/>
          <a:p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EX06_Adding.asm -  Source code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2844" y="571480"/>
            <a:ext cx="850112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solidFill>
                  <a:srgbClr val="0000CC"/>
                </a:solidFill>
              </a:rPr>
              <a:t>; EX06_Sum.asm   Accept 2 integers, sum of them will be printed out</a:t>
            </a:r>
          </a:p>
          <a:p>
            <a:r>
              <a:rPr lang="en-US" sz="1800" dirty="0" smtClean="0"/>
              <a:t>include \masm32\include\masm32rt.inc </a:t>
            </a:r>
          </a:p>
          <a:p>
            <a:r>
              <a:rPr lang="en-US" sz="1800" dirty="0" smtClean="0">
                <a:solidFill>
                  <a:srgbClr val="FF0000"/>
                </a:solidFill>
              </a:rPr>
              <a:t>sum PROTO :DWORD, :DWORD       ;  prototype a method + 2 parameters</a:t>
            </a:r>
            <a:r>
              <a:rPr lang="en-US" sz="1800" dirty="0" smtClean="0"/>
              <a:t>    </a:t>
            </a:r>
          </a:p>
          <a:p>
            <a:r>
              <a:rPr lang="en-US" sz="1800" dirty="0" smtClean="0"/>
              <a:t>.code                       </a:t>
            </a:r>
          </a:p>
          <a:p>
            <a:r>
              <a:rPr lang="en-US" sz="1800" dirty="0" smtClean="0"/>
              <a:t>start:                          ; The CODE entry </a:t>
            </a:r>
            <a:r>
              <a:rPr lang="en-US" sz="1800" smtClean="0"/>
              <a:t>point of </a:t>
            </a:r>
            <a:r>
              <a:rPr lang="en-US" sz="1800" dirty="0" smtClean="0"/>
              <a:t>the program</a:t>
            </a:r>
          </a:p>
          <a:p>
            <a:r>
              <a:rPr lang="en-US" sz="1800" dirty="0" smtClean="0"/>
              <a:t>    call main                   ; branch to the "main" procedure</a:t>
            </a:r>
          </a:p>
          <a:p>
            <a:r>
              <a:rPr lang="en-US" sz="1800" dirty="0" smtClean="0"/>
              <a:t>    exit</a:t>
            </a:r>
          </a:p>
          <a:p>
            <a:r>
              <a:rPr lang="en-US" sz="1800" dirty="0" smtClean="0"/>
              <a:t>; «««««««««««««««««««««««««««««««««««««««««««««««««««««««</a:t>
            </a:r>
          </a:p>
          <a:p>
            <a:r>
              <a:rPr lang="en-US" sz="1800" dirty="0" smtClean="0"/>
              <a:t>main proc</a:t>
            </a:r>
          </a:p>
          <a:p>
            <a:r>
              <a:rPr lang="en-US" sz="1800" dirty="0" smtClean="0"/>
              <a:t>    LOCAL var1:DWORD            ; 2 DWORD integral variables</a:t>
            </a:r>
          </a:p>
          <a:p>
            <a:r>
              <a:rPr lang="en-US" sz="1800" dirty="0" smtClean="0"/>
              <a:t>    LOCAL var2:DWORD            ; </a:t>
            </a:r>
          </a:p>
          <a:p>
            <a:r>
              <a:rPr lang="en-US" sz="1800" dirty="0" smtClean="0"/>
              <a:t>    LOCAL result:DWORD          ; Result of operation </a:t>
            </a:r>
          </a:p>
          <a:p>
            <a:r>
              <a:rPr lang="en-US" sz="1800" b="1" dirty="0" smtClean="0">
                <a:solidFill>
                  <a:srgbClr val="FF0000"/>
                </a:solidFill>
              </a:rPr>
              <a:t>  ; Input 2 integers</a:t>
            </a:r>
          </a:p>
          <a:p>
            <a:r>
              <a:rPr lang="en-US" sz="1800" dirty="0" smtClean="0"/>
              <a:t>    mov var1, sval(input("Enter number 1 : "))</a:t>
            </a:r>
          </a:p>
          <a:p>
            <a:r>
              <a:rPr lang="en-US" sz="1800" dirty="0" smtClean="0"/>
              <a:t>    mov var2, sval(input("Enter number 2 : "))   </a:t>
            </a:r>
          </a:p>
          <a:p>
            <a:r>
              <a:rPr lang="en-US" sz="1800" b="1" dirty="0" smtClean="0">
                <a:solidFill>
                  <a:srgbClr val="FF0000"/>
                </a:solidFill>
              </a:rPr>
              <a:t>  ; Invoke the procedure SUM to compute their sum, result in EAX</a:t>
            </a:r>
          </a:p>
          <a:p>
            <a:r>
              <a:rPr lang="en-US" sz="1800" dirty="0" smtClean="0"/>
              <a:t>    push eax                             </a:t>
            </a:r>
            <a:r>
              <a:rPr lang="en-US" sz="1800" dirty="0" smtClean="0">
                <a:solidFill>
                  <a:srgbClr val="0000CC"/>
                </a:solidFill>
              </a:rPr>
              <a:t>; store EAX to STACK</a:t>
            </a:r>
          </a:p>
          <a:p>
            <a:r>
              <a:rPr lang="en-US" sz="1800" dirty="0" smtClean="0"/>
              <a:t>    invoke sum, var1 , var2</a:t>
            </a:r>
          </a:p>
          <a:p>
            <a:r>
              <a:rPr lang="en-US" sz="1800" dirty="0" smtClean="0"/>
              <a:t>    mov result, eax                  </a:t>
            </a:r>
            <a:r>
              <a:rPr lang="en-US" sz="1800" dirty="0" smtClean="0">
                <a:solidFill>
                  <a:srgbClr val="0000CC"/>
                </a:solidFill>
              </a:rPr>
              <a:t>; result = EAX</a:t>
            </a:r>
          </a:p>
          <a:p>
            <a:r>
              <a:rPr lang="en-US" sz="1800" dirty="0" smtClean="0"/>
              <a:t>    pop eax                              </a:t>
            </a:r>
            <a:r>
              <a:rPr lang="en-US" sz="1800" dirty="0" smtClean="0">
                <a:solidFill>
                  <a:srgbClr val="0000CC"/>
                </a:solidFill>
              </a:rPr>
              <a:t>; restore EAX from STACK   </a:t>
            </a:r>
          </a:p>
          <a:p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2" y="0"/>
            <a:ext cx="8358246" cy="714356"/>
          </a:xfrm>
        </p:spPr>
        <p:txBody>
          <a:bodyPr/>
          <a:lstStyle/>
          <a:p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EX06_Adding.asm -  Source code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85852" y="1387508"/>
            <a:ext cx="607223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</a:rPr>
              <a:t>; Print the result</a:t>
            </a:r>
          </a:p>
          <a:p>
            <a:r>
              <a:rPr lang="en-US" sz="1800" dirty="0" smtClean="0"/>
              <a:t>    print chr$("Sum of them:")</a:t>
            </a:r>
          </a:p>
          <a:p>
            <a:r>
              <a:rPr lang="en-US" sz="1800" dirty="0" smtClean="0"/>
              <a:t>    print str$(result)    </a:t>
            </a:r>
          </a:p>
          <a:p>
            <a:endParaRPr lang="en-US" sz="1800" dirty="0" smtClean="0"/>
          </a:p>
          <a:p>
            <a:r>
              <a:rPr lang="en-US" sz="1800" dirty="0" smtClean="0"/>
              <a:t>    ret</a:t>
            </a:r>
          </a:p>
          <a:p>
            <a:r>
              <a:rPr lang="en-US" sz="1800" dirty="0" smtClean="0"/>
              <a:t>main endp</a:t>
            </a:r>
          </a:p>
          <a:p>
            <a:r>
              <a:rPr lang="en-US" sz="1800" b="1" dirty="0" smtClean="0">
                <a:solidFill>
                  <a:srgbClr val="3333FF"/>
                </a:solidFill>
              </a:rPr>
              <a:t>; ««««««««««««««««««««««««««««</a:t>
            </a:r>
          </a:p>
          <a:p>
            <a:r>
              <a:rPr lang="en-US" sz="1800" b="1" dirty="0" smtClean="0">
                <a:solidFill>
                  <a:srgbClr val="3333FF"/>
                </a:solidFill>
              </a:rPr>
              <a:t>sum proc v1: DWORD, v2:DWORD</a:t>
            </a:r>
          </a:p>
          <a:p>
            <a:r>
              <a:rPr lang="en-US" sz="1800" b="1" dirty="0" smtClean="0">
                <a:solidFill>
                  <a:srgbClr val="3333FF"/>
                </a:solidFill>
              </a:rPr>
              <a:t>   mov eax, v1          </a:t>
            </a:r>
            <a:r>
              <a:rPr lang="en-US" sz="1800" b="1" dirty="0" smtClean="0">
                <a:solidFill>
                  <a:srgbClr val="FF0000"/>
                </a:solidFill>
              </a:rPr>
              <a:t>; eax= v1</a:t>
            </a:r>
          </a:p>
          <a:p>
            <a:r>
              <a:rPr lang="en-US" sz="1800" b="1" dirty="0" smtClean="0">
                <a:solidFill>
                  <a:srgbClr val="3333FF"/>
                </a:solidFill>
              </a:rPr>
              <a:t>   add eax, v2           </a:t>
            </a:r>
            <a:r>
              <a:rPr lang="en-US" sz="1800" b="1" dirty="0" smtClean="0">
                <a:solidFill>
                  <a:srgbClr val="FF0000"/>
                </a:solidFill>
              </a:rPr>
              <a:t>; eax = eax + v2 -&gt; Result in eax</a:t>
            </a:r>
          </a:p>
          <a:p>
            <a:r>
              <a:rPr lang="en-US" sz="1800" b="1" dirty="0" smtClean="0">
                <a:solidFill>
                  <a:srgbClr val="3333FF"/>
                </a:solidFill>
              </a:rPr>
              <a:t>   ret</a:t>
            </a:r>
          </a:p>
          <a:p>
            <a:r>
              <a:rPr lang="en-US" sz="1800" b="1" dirty="0" smtClean="0">
                <a:solidFill>
                  <a:srgbClr val="3333FF"/>
                </a:solidFill>
              </a:rPr>
              <a:t>sum endp</a:t>
            </a:r>
          </a:p>
          <a:p>
            <a:endParaRPr lang="en-US" sz="1800" dirty="0" smtClean="0"/>
          </a:p>
          <a:p>
            <a:r>
              <a:rPr lang="en-US" sz="1800" dirty="0" smtClean="0"/>
              <a:t>end start 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42852"/>
            <a:ext cx="7556313" cy="658890"/>
          </a:xfrm>
        </p:spPr>
        <p:txBody>
          <a:bodyPr/>
          <a:lstStyle/>
          <a:p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Variable’s Address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1428736"/>
            <a:ext cx="7556313" cy="2714645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2060"/>
                </a:solidFill>
              </a:rPr>
              <a:t>The following program depicts how to get addresses </a:t>
            </a:r>
            <a:r>
              <a:rPr lang="en-US" sz="2800" smtClean="0">
                <a:solidFill>
                  <a:srgbClr val="002060"/>
                </a:solidFill>
              </a:rPr>
              <a:t>of variables:</a:t>
            </a:r>
            <a:endParaRPr lang="en-US" sz="2800" dirty="0" smtClean="0">
              <a:solidFill>
                <a:srgbClr val="002060"/>
              </a:solidFill>
            </a:endParaRP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The operator OFFSET  for global variables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The instruction LEA for local variables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Draw memory map of a program</a:t>
            </a:r>
            <a:endParaRPr lang="en-US" sz="2800" dirty="0" smtClean="0">
              <a:solidFill>
                <a:srgbClr val="002060"/>
              </a:solidFill>
            </a:endParaRPr>
          </a:p>
          <a:p>
            <a:pPr marL="742950" lvl="1" indent="-514350">
              <a:buFont typeface="+mj-lt"/>
              <a:buAutoNum type="arabicPeriod"/>
            </a:pPr>
            <a:endParaRPr lang="en-US" sz="2600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42852"/>
            <a:ext cx="8645526" cy="658890"/>
          </a:xfrm>
        </p:spPr>
        <p:txBody>
          <a:bodyPr/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Addresses.asm- Access Variable’s Address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005151"/>
            <a:ext cx="530542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499370" y="3131106"/>
            <a:ext cx="1500198" cy="2857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123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429256" y="313110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(anInt)4206592</a:t>
            </a:r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7499370" y="1928802"/>
            <a:ext cx="1500198" cy="12023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 love you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429256" y="285749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(txt1)4206596</a:t>
            </a:r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7499370" y="1630908"/>
            <a:ext cx="1500198" cy="2857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5809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429256" y="1630908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(aReal)4206960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7499370" y="714356"/>
            <a:ext cx="1500198" cy="9286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429256" y="1285860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(txt2)4206964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7499370" y="5345684"/>
            <a:ext cx="1500198" cy="2857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429256" y="5345684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(var1)1245112</a:t>
            </a:r>
            <a:endParaRPr lang="en-US" sz="1800" dirty="0"/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4677569" y="3250405"/>
            <a:ext cx="564360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6178561" y="3249611"/>
            <a:ext cx="564360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57620" y="780992"/>
            <a:ext cx="1643074" cy="28623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1800" dirty="0" smtClean="0"/>
          </a:p>
          <a:p>
            <a:pPr algn="ctr"/>
            <a:endParaRPr lang="en-US" sz="1800" dirty="0" smtClean="0"/>
          </a:p>
          <a:p>
            <a:pPr algn="ctr"/>
            <a:r>
              <a:rPr lang="en-US" sz="1800" dirty="0" smtClean="0"/>
              <a:t>Data segment</a:t>
            </a:r>
          </a:p>
          <a:p>
            <a:pPr algn="ctr"/>
            <a:r>
              <a:rPr lang="en-US" sz="1800" dirty="0" smtClean="0"/>
              <a:t>(global variables)</a:t>
            </a:r>
          </a:p>
          <a:p>
            <a:pPr algn="ctr"/>
            <a:endParaRPr lang="en-US" sz="1800" dirty="0" smtClean="0"/>
          </a:p>
          <a:p>
            <a:pPr algn="ctr"/>
            <a:endParaRPr lang="en-US" sz="1800" dirty="0" smtClean="0"/>
          </a:p>
          <a:p>
            <a:pPr algn="ctr"/>
            <a:endParaRPr lang="en-US" sz="1800" dirty="0" smtClean="0"/>
          </a:p>
          <a:p>
            <a:pPr algn="ctr"/>
            <a:endParaRPr lang="en-US" sz="1800" dirty="0" smtClean="0"/>
          </a:p>
          <a:p>
            <a:pPr algn="ctr"/>
            <a:endParaRPr lang="en-US" sz="18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5000628" y="5715016"/>
            <a:ext cx="214314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Stack segment</a:t>
            </a:r>
          </a:p>
          <a:p>
            <a:pPr algn="ctr"/>
            <a:r>
              <a:rPr lang="en-US" sz="1800" dirty="0" smtClean="0"/>
              <a:t>(local variables)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42852"/>
            <a:ext cx="8645526" cy="658890"/>
          </a:xfrm>
        </p:spPr>
        <p:txBody>
          <a:bodyPr/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Addresses.asm- Access Variable’s Address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99370" y="3131106"/>
            <a:ext cx="1500198" cy="2857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123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572132" y="313110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 smtClean="0"/>
              <a:t>(anInt)4206592</a:t>
            </a:r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7499370" y="1928802"/>
            <a:ext cx="1500198" cy="12023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 love you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572132" y="277391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 smtClean="0"/>
              <a:t>(txt1)4206596</a:t>
            </a:r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7499370" y="1630908"/>
            <a:ext cx="1500198" cy="2857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5809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572132" y="1630908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 smtClean="0"/>
              <a:t>(aReal)4206960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7499370" y="714356"/>
            <a:ext cx="1500198" cy="9286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572132" y="1285860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 smtClean="0"/>
              <a:t>(txt2)4206964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7499370" y="5345684"/>
            <a:ext cx="1500198" cy="2857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572132" y="5345684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 smtClean="0"/>
              <a:t>(var1)1245112</a:t>
            </a:r>
            <a:endParaRPr lang="en-US" sz="1800" dirty="0"/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4677569" y="3250405"/>
            <a:ext cx="564360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6178561" y="3249611"/>
            <a:ext cx="564360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15008" y="2191400"/>
            <a:ext cx="150019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Data segment</a:t>
            </a:r>
          </a:p>
          <a:p>
            <a:pPr algn="ctr"/>
            <a:r>
              <a:rPr lang="en-US" sz="1400" dirty="0" smtClean="0"/>
              <a:t>(global variables)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0958" y="6143644"/>
            <a:ext cx="1571636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Stack segment</a:t>
            </a:r>
          </a:p>
          <a:p>
            <a:pPr algn="ctr"/>
            <a:r>
              <a:rPr lang="en-US" sz="1400" dirty="0" smtClean="0"/>
              <a:t>(local variables)</a:t>
            </a:r>
            <a:endParaRPr lang="en-US" sz="1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672" y="862676"/>
            <a:ext cx="5200708" cy="5280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3" name="Straight Arrow Connector 22"/>
          <p:cNvCxnSpPr>
            <a:endCxn id="15" idx="1"/>
          </p:cNvCxnSpPr>
          <p:nvPr/>
        </p:nvCxnSpPr>
        <p:spPr>
          <a:xfrm flipV="1">
            <a:off x="3357554" y="5530350"/>
            <a:ext cx="2214578" cy="32754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9" idx="1"/>
          </p:cNvCxnSpPr>
          <p:nvPr/>
        </p:nvCxnSpPr>
        <p:spPr>
          <a:xfrm flipV="1">
            <a:off x="5142710" y="2453010"/>
            <a:ext cx="572298" cy="2327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eft Brace 26"/>
          <p:cNvSpPr/>
          <p:nvPr/>
        </p:nvSpPr>
        <p:spPr>
          <a:xfrm>
            <a:off x="7215206" y="714356"/>
            <a:ext cx="214314" cy="271464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42852"/>
            <a:ext cx="8645526" cy="658890"/>
          </a:xfrm>
        </p:spPr>
        <p:txBody>
          <a:bodyPr/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Addresses.asm- Access Variable’s Address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0" y="642918"/>
            <a:ext cx="9144032" cy="5953125"/>
            <a:chOff x="0" y="642918"/>
            <a:chExt cx="9144032" cy="59531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048032" y="642918"/>
              <a:ext cx="6096000" cy="5953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4"/>
            <a:stretch>
              <a:fillRect/>
            </a:stretch>
          </p:blipFill>
          <p:spPr bwMode="auto">
            <a:xfrm>
              <a:off x="0" y="1214422"/>
              <a:ext cx="3086100" cy="3133725"/>
            </a:xfrm>
            <a:prstGeom prst="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</p:pic>
        <p:cxnSp>
          <p:nvCxnSpPr>
            <p:cNvPr id="26" name="Straight Arrow Connector 25"/>
            <p:cNvCxnSpPr/>
            <p:nvPr/>
          </p:nvCxnSpPr>
          <p:spPr>
            <a:xfrm rot="10800000" flipV="1">
              <a:off x="1285852" y="1071546"/>
              <a:ext cx="2143140" cy="1000132"/>
            </a:xfrm>
            <a:prstGeom prst="straightConnector1">
              <a:avLst/>
            </a:prstGeom>
            <a:ln w="3175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rot="10800000" flipV="1">
              <a:off x="2143108" y="2143116"/>
              <a:ext cx="1285884" cy="142876"/>
            </a:xfrm>
            <a:prstGeom prst="straightConnector1">
              <a:avLst/>
            </a:prstGeom>
            <a:ln w="3175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rot="10800000">
              <a:off x="1214414" y="2714620"/>
              <a:ext cx="2071702" cy="500066"/>
            </a:xfrm>
            <a:prstGeom prst="straightConnector1">
              <a:avLst/>
            </a:prstGeom>
            <a:ln w="3175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>
              <a:off x="1357290" y="3000372"/>
              <a:ext cx="1928826" cy="1357322"/>
            </a:xfrm>
            <a:prstGeom prst="straightConnector1">
              <a:avLst/>
            </a:prstGeom>
            <a:ln w="3175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10800000">
              <a:off x="1928794" y="4143380"/>
              <a:ext cx="1500198" cy="1071570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929454" y="1357298"/>
              <a:ext cx="2101988" cy="3743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42852"/>
            <a:ext cx="8645526" cy="658890"/>
          </a:xfrm>
        </p:spPr>
        <p:txBody>
          <a:bodyPr/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Addresses.asm- Source code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4314" y="571480"/>
            <a:ext cx="5286380" cy="6001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; Addresses.asm</a:t>
            </a:r>
          </a:p>
          <a:p>
            <a:r>
              <a:rPr lang="en-US" sz="1200" dirty="0" smtClean="0"/>
              <a:t>; Draw memory of a program</a:t>
            </a:r>
          </a:p>
          <a:p>
            <a:endParaRPr lang="en-US" sz="1200" dirty="0" smtClean="0"/>
          </a:p>
          <a:p>
            <a:r>
              <a:rPr lang="en-US" sz="1200" dirty="0" smtClean="0"/>
              <a:t>include \masm32\include\masm32rt.inc </a:t>
            </a:r>
          </a:p>
          <a:p>
            <a:r>
              <a:rPr lang="en-US" sz="1200" dirty="0" smtClean="0"/>
              <a:t> .data          ; initialized data </a:t>
            </a:r>
          </a:p>
          <a:p>
            <a:r>
              <a:rPr lang="en-US" sz="1200" dirty="0" smtClean="0"/>
              <a:t>  anInt DD 123</a:t>
            </a:r>
          </a:p>
          <a:p>
            <a:r>
              <a:rPr lang="en-US" sz="1200" dirty="0" smtClean="0"/>
              <a:t>  txt1 db "I love you", 0</a:t>
            </a:r>
          </a:p>
          <a:p>
            <a:r>
              <a:rPr lang="en-US" sz="1200" dirty="0" smtClean="0"/>
              <a:t> .data?          ; Un-initialized data </a:t>
            </a:r>
          </a:p>
          <a:p>
            <a:r>
              <a:rPr lang="en-US" sz="1200" dirty="0" smtClean="0"/>
              <a:t>  aReal DD ?</a:t>
            </a:r>
          </a:p>
          <a:p>
            <a:r>
              <a:rPr lang="en-US" sz="1200" dirty="0" smtClean="0"/>
              <a:t>  txt2  db 128 dup (?)</a:t>
            </a:r>
          </a:p>
          <a:p>
            <a:r>
              <a:rPr lang="en-US" sz="1200" dirty="0" smtClean="0"/>
              <a:t> .code                       </a:t>
            </a:r>
          </a:p>
          <a:p>
            <a:r>
              <a:rPr lang="en-US" sz="1200" dirty="0" smtClean="0"/>
              <a:t>start:                          ; The CODE entry point to the program</a:t>
            </a:r>
          </a:p>
          <a:p>
            <a:r>
              <a:rPr lang="en-US" sz="1200" dirty="0" smtClean="0"/>
              <a:t>    call main                   ; branch to the "main" procedure</a:t>
            </a:r>
          </a:p>
          <a:p>
            <a:r>
              <a:rPr lang="en-US" sz="1200" dirty="0" smtClean="0"/>
              <a:t>    exit</a:t>
            </a:r>
          </a:p>
          <a:p>
            <a:r>
              <a:rPr lang="en-US" sz="1200" dirty="0" smtClean="0"/>
              <a:t>; ««««</a:t>
            </a:r>
          </a:p>
          <a:p>
            <a:r>
              <a:rPr lang="en-US" sz="1200" dirty="0" smtClean="0"/>
              <a:t>main proc</a:t>
            </a:r>
          </a:p>
          <a:p>
            <a:r>
              <a:rPr lang="en-US" sz="1200" dirty="0" smtClean="0"/>
              <a:t>    LOCAL var1: DWORD           </a:t>
            </a:r>
          </a:p>
          <a:p>
            <a:r>
              <a:rPr lang="en-US" sz="1200" dirty="0" smtClean="0"/>
              <a:t>    </a:t>
            </a:r>
          </a:p>
          <a:p>
            <a:r>
              <a:rPr lang="en-US" sz="1200" dirty="0" smtClean="0"/>
              <a:t> ; Access address and value of anInt</a:t>
            </a:r>
          </a:p>
          <a:p>
            <a:r>
              <a:rPr lang="en-US" sz="1200" dirty="0" smtClean="0"/>
              <a:t>    print chr$("Address of anInt:")</a:t>
            </a:r>
          </a:p>
          <a:p>
            <a:r>
              <a:rPr lang="en-US" sz="1200" dirty="0" smtClean="0"/>
              <a:t>    mov eax, OFFSET anInt ; Operator OFFSET will get address of a global var</a:t>
            </a:r>
          </a:p>
          <a:p>
            <a:r>
              <a:rPr lang="en-US" sz="1200" dirty="0" smtClean="0"/>
              <a:t>    print str$(eax)    </a:t>
            </a:r>
          </a:p>
          <a:p>
            <a:r>
              <a:rPr lang="en-US" sz="1200" dirty="0" smtClean="0"/>
              <a:t>    print chr$(", value:")</a:t>
            </a:r>
          </a:p>
          <a:p>
            <a:r>
              <a:rPr lang="en-US" sz="1200" dirty="0" smtClean="0"/>
              <a:t>    print str$(anInt)</a:t>
            </a:r>
          </a:p>
          <a:p>
            <a:r>
              <a:rPr lang="en-US" sz="1200" dirty="0" smtClean="0"/>
              <a:t>    print chr$(13,10)</a:t>
            </a:r>
          </a:p>
          <a:p>
            <a:r>
              <a:rPr lang="en-US" sz="1200" dirty="0" smtClean="0"/>
              <a:t> ; Access address and value of txt1</a:t>
            </a:r>
          </a:p>
          <a:p>
            <a:r>
              <a:rPr lang="en-US" sz="1200" dirty="0" smtClean="0"/>
              <a:t>    print chr$("Address of txt1:")</a:t>
            </a:r>
          </a:p>
          <a:p>
            <a:r>
              <a:rPr lang="en-US" sz="1200" dirty="0" smtClean="0"/>
              <a:t>    mov eax, OFFSET txt1 </a:t>
            </a:r>
          </a:p>
          <a:p>
            <a:r>
              <a:rPr lang="en-US" sz="1200" dirty="0" smtClean="0"/>
              <a:t>    print str$(eax)    </a:t>
            </a:r>
          </a:p>
          <a:p>
            <a:r>
              <a:rPr lang="en-US" sz="1200" dirty="0" smtClean="0"/>
              <a:t>    print chr$(", value:")</a:t>
            </a:r>
          </a:p>
          <a:p>
            <a:r>
              <a:rPr lang="en-US" sz="1200" dirty="0" smtClean="0"/>
              <a:t>    print OFFSET txt1</a:t>
            </a:r>
          </a:p>
          <a:p>
            <a:r>
              <a:rPr lang="en-US" sz="1200" dirty="0" smtClean="0"/>
              <a:t>    print chr$(13,10)</a:t>
            </a:r>
            <a:endParaRPr 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643570" y="880665"/>
            <a:ext cx="3286148" cy="5262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; Access address and value of aReal</a:t>
            </a:r>
          </a:p>
          <a:p>
            <a:r>
              <a:rPr lang="en-US" sz="1200" dirty="0" smtClean="0"/>
              <a:t>    print chr$("Address of aReal:")</a:t>
            </a:r>
          </a:p>
          <a:p>
            <a:r>
              <a:rPr lang="en-US" sz="1200" dirty="0" smtClean="0"/>
              <a:t>    mov eax, OFFSET aReal</a:t>
            </a:r>
          </a:p>
          <a:p>
            <a:r>
              <a:rPr lang="en-US" sz="1200" dirty="0" smtClean="0"/>
              <a:t>    print str$(eax)    </a:t>
            </a:r>
          </a:p>
          <a:p>
            <a:r>
              <a:rPr lang="en-US" sz="1200" dirty="0" smtClean="0"/>
              <a:t>    print chr$(", value:")</a:t>
            </a:r>
          </a:p>
          <a:p>
            <a:r>
              <a:rPr lang="en-US" sz="1200" dirty="0" smtClean="0"/>
              <a:t>    mov aReal, 5809</a:t>
            </a:r>
          </a:p>
          <a:p>
            <a:r>
              <a:rPr lang="en-US" sz="1200" dirty="0" smtClean="0"/>
              <a:t>    print str$(aReal)</a:t>
            </a:r>
          </a:p>
          <a:p>
            <a:r>
              <a:rPr lang="en-US" sz="1200" dirty="0" smtClean="0"/>
              <a:t>    print chr$(13,10)</a:t>
            </a:r>
          </a:p>
          <a:p>
            <a:r>
              <a:rPr lang="en-US" sz="1200" dirty="0" smtClean="0"/>
              <a:t>  ; Access address and value of txt2</a:t>
            </a:r>
          </a:p>
          <a:p>
            <a:r>
              <a:rPr lang="en-US" sz="1200" dirty="0" smtClean="0"/>
              <a:t>    print chr$("Address of txt2:")</a:t>
            </a:r>
          </a:p>
          <a:p>
            <a:r>
              <a:rPr lang="en-US" sz="1200" dirty="0" smtClean="0"/>
              <a:t>    mov eax, OFFSET txt2 </a:t>
            </a:r>
          </a:p>
          <a:p>
            <a:r>
              <a:rPr lang="en-US" sz="1200" dirty="0" smtClean="0"/>
              <a:t>    print str$(eax)    </a:t>
            </a:r>
          </a:p>
          <a:p>
            <a:r>
              <a:rPr lang="en-US" sz="1200" dirty="0" smtClean="0"/>
              <a:t>    print chr$(", value:")</a:t>
            </a:r>
          </a:p>
          <a:p>
            <a:r>
              <a:rPr lang="en-US" sz="1200" dirty="0" smtClean="0"/>
              <a:t>    print OFFSET txt2</a:t>
            </a:r>
          </a:p>
          <a:p>
            <a:r>
              <a:rPr lang="en-US" sz="1200" dirty="0" smtClean="0"/>
              <a:t>    print chr$(13,10)</a:t>
            </a:r>
          </a:p>
          <a:p>
            <a:r>
              <a:rPr lang="en-US" sz="1200" dirty="0" smtClean="0"/>
              <a:t>  ; Access address and value of local var var1</a:t>
            </a:r>
          </a:p>
          <a:p>
            <a:r>
              <a:rPr lang="en-US" sz="1200" dirty="0" smtClean="0"/>
              <a:t>    mov var1, 1000</a:t>
            </a:r>
          </a:p>
          <a:p>
            <a:r>
              <a:rPr lang="en-US" sz="1200" dirty="0" smtClean="0"/>
              <a:t>    print chr$("Address of var1:")</a:t>
            </a:r>
          </a:p>
          <a:p>
            <a:r>
              <a:rPr lang="en-US" sz="1200" dirty="0" smtClean="0"/>
              <a:t>    lea eax</a:t>
            </a:r>
            <a:r>
              <a:rPr lang="en-US" sz="1200" smtClean="0"/>
              <a:t>, var1  </a:t>
            </a:r>
            <a:r>
              <a:rPr lang="en-US" sz="1200" dirty="0" smtClean="0"/>
              <a:t>; LEA get local variable address</a:t>
            </a:r>
          </a:p>
          <a:p>
            <a:r>
              <a:rPr lang="en-US" sz="1200" dirty="0" smtClean="0"/>
              <a:t>    print str$(eax)    </a:t>
            </a:r>
          </a:p>
          <a:p>
            <a:r>
              <a:rPr lang="en-US" sz="1200" dirty="0" smtClean="0"/>
              <a:t>    print chr$(", value:")</a:t>
            </a:r>
          </a:p>
          <a:p>
            <a:r>
              <a:rPr lang="en-US" sz="1200" dirty="0" smtClean="0"/>
              <a:t>    print str$(var1)</a:t>
            </a:r>
          </a:p>
          <a:p>
            <a:r>
              <a:rPr lang="en-US" sz="1200" dirty="0" smtClean="0"/>
              <a:t>    print chr$(13,10)     </a:t>
            </a:r>
          </a:p>
          <a:p>
            <a:r>
              <a:rPr lang="en-US" sz="1200" dirty="0" smtClean="0"/>
              <a:t>    ret</a:t>
            </a:r>
          </a:p>
          <a:p>
            <a:r>
              <a:rPr lang="en-US" sz="1200" dirty="0" smtClean="0"/>
              <a:t>main endp</a:t>
            </a:r>
          </a:p>
          <a:p>
            <a:r>
              <a:rPr lang="en-US" sz="1200" dirty="0" smtClean="0"/>
              <a:t>; ««««««««««««««««««</a:t>
            </a:r>
          </a:p>
          <a:p>
            <a:r>
              <a:rPr lang="en-US" sz="1200" dirty="0" smtClean="0"/>
              <a:t>end start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71414"/>
            <a:ext cx="7556313" cy="658890"/>
          </a:xfrm>
        </p:spPr>
        <p:txBody>
          <a:bodyPr/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Swap1.asm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785794"/>
            <a:ext cx="7573987" cy="2500331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This program depicts passing values to arguments when calling a procedure 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Program that will accept 2 integers, swap them then print out results.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This version can not perform requirements successfully because the procedure </a:t>
            </a:r>
            <a:r>
              <a:rPr lang="en-US" b="1" dirty="0" smtClean="0">
                <a:solidFill>
                  <a:srgbClr val="002060"/>
                </a:solidFill>
              </a:rPr>
              <a:t>swap1 </a:t>
            </a:r>
            <a:r>
              <a:rPr lang="en-US" smtClean="0">
                <a:solidFill>
                  <a:srgbClr val="002060"/>
                </a:solidFill>
              </a:rPr>
              <a:t>accesses variables </a:t>
            </a:r>
            <a:r>
              <a:rPr lang="en-US" dirty="0" smtClean="0">
                <a:solidFill>
                  <a:srgbClr val="002060"/>
                </a:solidFill>
              </a:rPr>
              <a:t>directly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715140" y="4357694"/>
            <a:ext cx="2285984" cy="12144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Comment:</a:t>
            </a:r>
          </a:p>
          <a:p>
            <a:pPr algn="ctr"/>
            <a:r>
              <a:rPr lang="en-US" sz="2000" dirty="0" smtClean="0"/>
              <a:t>This program can not swap 2 values</a:t>
            </a:r>
            <a:endParaRPr lang="en-US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0989" y="3429000"/>
            <a:ext cx="639127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71414"/>
            <a:ext cx="3859212" cy="428628"/>
          </a:xfrm>
        </p:spPr>
        <p:txBody>
          <a:bodyPr/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Swap1.asm – Source code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" y="500042"/>
            <a:ext cx="5370030" cy="5934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81525" y="1071546"/>
            <a:ext cx="45624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71414"/>
            <a:ext cx="7788301" cy="857256"/>
          </a:xfrm>
        </p:spPr>
        <p:txBody>
          <a:bodyPr/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Swap1.asm – Memory Map when the procedure Swap1 is called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285720" y="928670"/>
            <a:ext cx="8858280" cy="5824557"/>
            <a:chOff x="285720" y="928670"/>
            <a:chExt cx="8858280" cy="5824557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676266" y="928670"/>
              <a:ext cx="4324362" cy="2062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/>
            <p:cNvSpPr/>
            <p:nvPr/>
          </p:nvSpPr>
          <p:spPr>
            <a:xfrm>
              <a:off x="6643702" y="3357562"/>
              <a:ext cx="1285884" cy="35719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 smtClean="0"/>
                <a:t>var1:  123</a:t>
              </a:r>
              <a:endParaRPr lang="en-US" sz="1800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 rot="5400000">
              <a:off x="3998908" y="3572670"/>
              <a:ext cx="528641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5400000">
              <a:off x="5284792" y="3571876"/>
              <a:ext cx="528641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643702" y="3714752"/>
              <a:ext cx="1285884" cy="35719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 smtClean="0"/>
                <a:t>var2: 456</a:t>
              </a:r>
              <a:endParaRPr lang="en-US" sz="18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43570" y="3429000"/>
              <a:ext cx="857256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1245112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643570" y="3786190"/>
              <a:ext cx="857256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1245104</a:t>
              </a:r>
              <a:endParaRPr lang="en-US" sz="14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43702" y="4335669"/>
              <a:ext cx="1285884" cy="35719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smtClean="0"/>
                <a:t>v2:  456</a:t>
              </a:r>
              <a:endParaRPr lang="en-US" sz="18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643702" y="4692859"/>
              <a:ext cx="1285884" cy="35719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smtClean="0"/>
                <a:t>v1: 123</a:t>
              </a:r>
              <a:endParaRPr lang="en-US" sz="18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43570" y="4407107"/>
              <a:ext cx="857256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1245088</a:t>
              </a:r>
              <a:endParaRPr lang="en-US" sz="14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43570" y="4764297"/>
              <a:ext cx="857256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1245084</a:t>
              </a:r>
              <a:endParaRPr lang="en-US" sz="1400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rot="16200000" flipH="1">
              <a:off x="7160833" y="4231883"/>
              <a:ext cx="1393044" cy="1589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16200000" flipH="1">
              <a:off x="7476251" y="4261549"/>
              <a:ext cx="620920" cy="1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428728" y="3114674"/>
              <a:ext cx="2019300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23" name="Straight Arrow Connector 22"/>
            <p:cNvCxnSpPr>
              <a:stCxn id="6146" idx="2"/>
            </p:cNvCxnSpPr>
            <p:nvPr/>
          </p:nvCxnSpPr>
          <p:spPr>
            <a:xfrm rot="5400000">
              <a:off x="2219305" y="3495679"/>
              <a:ext cx="428628" cy="95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85720" y="3071810"/>
              <a:ext cx="1000132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From </a:t>
              </a:r>
              <a:r>
                <a:rPr lang="en-US" sz="1400" b="1" dirty="0" smtClean="0"/>
                <a:t>main</a:t>
              </a:r>
              <a:endParaRPr lang="en-US" sz="14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57356" y="3286124"/>
              <a:ext cx="500066" cy="30777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call</a:t>
              </a:r>
              <a:endParaRPr lang="en-US" sz="1400" b="1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643438" y="5214950"/>
              <a:ext cx="1857388" cy="95410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Copy var1 </a:t>
              </a:r>
              <a:r>
                <a:rPr lang="en-US" sz="1400" b="1" dirty="0" smtClean="0">
                  <a:sym typeface="Wingdings" pitchFamily="2" charset="2"/>
                </a:rPr>
                <a:t> v1</a:t>
              </a:r>
            </a:p>
            <a:p>
              <a:r>
                <a:rPr lang="en-US" sz="1400" b="1" dirty="0" smtClean="0">
                  <a:sym typeface="Wingdings" pitchFamily="2" charset="2"/>
                </a:rPr>
                <a:t>Copy var2  v2</a:t>
              </a:r>
            </a:p>
            <a:p>
              <a:r>
                <a:rPr lang="en-US" sz="1400" b="1" dirty="0" smtClean="0">
                  <a:sym typeface="Wingdings" pitchFamily="2" charset="2"/>
                </a:rPr>
                <a:t>All statements do not relate to var1. var2</a:t>
              </a:r>
              <a:endParaRPr lang="en-US" sz="1400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929454" y="5214950"/>
              <a:ext cx="2071702" cy="1200329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 smtClean="0">
                  <a:solidFill>
                    <a:schemeClr val="bg1"/>
                  </a:solidFill>
                </a:rPr>
                <a:t>Procedure swap1 can not modify values of arguments 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Right Brace 29"/>
            <p:cNvSpPr/>
            <p:nvPr/>
          </p:nvSpPr>
          <p:spPr>
            <a:xfrm>
              <a:off x="7929586" y="3357562"/>
              <a:ext cx="214314" cy="71438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ight Brace 30"/>
            <p:cNvSpPr/>
            <p:nvPr/>
          </p:nvSpPr>
          <p:spPr>
            <a:xfrm>
              <a:off x="7929586" y="4357694"/>
              <a:ext cx="214314" cy="71438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43900" y="3429000"/>
              <a:ext cx="857256" cy="523220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FF0000"/>
                  </a:solidFill>
                </a:rPr>
                <a:t>Stack of main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143900" y="4429132"/>
              <a:ext cx="857256" cy="523220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FF0000"/>
                  </a:solidFill>
                </a:rPr>
                <a:t>Stack of swap1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5357818" y="4214818"/>
              <a:ext cx="3786182" cy="1588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357818" y="3213098"/>
              <a:ext cx="3786182" cy="1588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4500562" y="3286125"/>
              <a:ext cx="714380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chemeClr val="bg1"/>
                  </a:solidFill>
                </a:rPr>
                <a:t>Stack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rot="5400000">
              <a:off x="5142710" y="3501232"/>
              <a:ext cx="571504" cy="158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928662" y="3714752"/>
              <a:ext cx="3048000" cy="3038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359805" cy="642918"/>
          </a:xfrm>
        </p:spPr>
        <p:txBody>
          <a:bodyPr/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Swap2.asm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idx="1"/>
          </p:nvPr>
        </p:nvSpPr>
        <p:spPr>
          <a:xfrm>
            <a:off x="498474" y="785795"/>
            <a:ext cx="7573987" cy="1000132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This program will repair the failure of the previous program in which a procedure is declared using </a:t>
            </a:r>
            <a:r>
              <a:rPr lang="en-US" smtClean="0">
                <a:solidFill>
                  <a:srgbClr val="002060"/>
                </a:solidFill>
              </a:rPr>
              <a:t>pointers (address </a:t>
            </a:r>
            <a:r>
              <a:rPr lang="en-US" dirty="0" smtClean="0">
                <a:solidFill>
                  <a:srgbClr val="002060"/>
                </a:solidFill>
              </a:rPr>
              <a:t>of data)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76463"/>
            <a:ext cx="541972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6643702" y="3357562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smtClean="0"/>
              <a:t>var2:  </a:t>
            </a:r>
            <a:r>
              <a:rPr lang="en-US" sz="1800" dirty="0" smtClean="0"/>
              <a:t>456</a:t>
            </a:r>
            <a:endParaRPr 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5357818" y="3429000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1245104 </a:t>
            </a:r>
            <a:r>
              <a:rPr lang="en-US" sz="1200" b="1" smtClean="0"/>
              <a:t>(var2)</a:t>
            </a:r>
            <a:endParaRPr lang="en-US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6643702" y="2978347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var1</a:t>
            </a:r>
            <a:r>
              <a:rPr lang="en-US" sz="1800" smtClean="0"/>
              <a:t>:  123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5357818" y="3049785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1245112 </a:t>
            </a:r>
            <a:r>
              <a:rPr lang="en-US" sz="1200" b="1" smtClean="0"/>
              <a:t>(var1)</a:t>
            </a:r>
            <a:endParaRPr lang="en-US" sz="1200" b="1" dirty="0"/>
          </a:p>
        </p:txBody>
      </p:sp>
      <p:sp>
        <p:nvSpPr>
          <p:cNvPr id="15" name="Rectangle 14"/>
          <p:cNvSpPr/>
          <p:nvPr/>
        </p:nvSpPr>
        <p:spPr>
          <a:xfrm>
            <a:off x="6643702" y="4429132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1245112</a:t>
            </a:r>
            <a:endParaRPr lang="en-US" sz="1800" dirty="0"/>
          </a:p>
        </p:txBody>
      </p:sp>
      <p:sp>
        <p:nvSpPr>
          <p:cNvPr id="16" name="TextBox 15"/>
          <p:cNvSpPr txBox="1"/>
          <p:nvPr/>
        </p:nvSpPr>
        <p:spPr>
          <a:xfrm>
            <a:off x="5357818" y="4500570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1245084 (add2)</a:t>
            </a:r>
            <a:endParaRPr lang="en-US" sz="1200" b="1" dirty="0"/>
          </a:p>
        </p:txBody>
      </p:sp>
      <p:sp>
        <p:nvSpPr>
          <p:cNvPr id="17" name="Rectangle 16"/>
          <p:cNvSpPr/>
          <p:nvPr/>
        </p:nvSpPr>
        <p:spPr>
          <a:xfrm>
            <a:off x="6643702" y="4049917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1245104  </a:t>
            </a:r>
            <a:endParaRPr lang="en-US" sz="1800" dirty="0"/>
          </a:p>
        </p:txBody>
      </p:sp>
      <p:sp>
        <p:nvSpPr>
          <p:cNvPr id="18" name="TextBox 17"/>
          <p:cNvSpPr txBox="1"/>
          <p:nvPr/>
        </p:nvSpPr>
        <p:spPr>
          <a:xfrm>
            <a:off x="5357818" y="4121355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1245088 (add1)</a:t>
            </a:r>
            <a:endParaRPr lang="en-US" sz="12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8001024" y="3000373"/>
            <a:ext cx="785818" cy="7386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Stack of </a:t>
            </a:r>
            <a:r>
              <a:rPr lang="en-US" sz="1400" b="1" dirty="0" smtClean="0"/>
              <a:t>main</a:t>
            </a:r>
          </a:p>
          <a:p>
            <a:pPr algn="ctr"/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8001024" y="4047658"/>
            <a:ext cx="785818" cy="7386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Stack of</a:t>
            </a:r>
          </a:p>
          <a:p>
            <a:pPr algn="ctr"/>
            <a:r>
              <a:rPr lang="en-US" sz="1400" b="1" dirty="0" smtClean="0"/>
              <a:t>swap2</a:t>
            </a:r>
          </a:p>
          <a:p>
            <a:pPr algn="ctr"/>
            <a:endParaRPr lang="en-US" sz="1400" dirty="0"/>
          </a:p>
        </p:txBody>
      </p:sp>
      <p:cxnSp>
        <p:nvCxnSpPr>
          <p:cNvPr id="27" name="Straight Arrow Connector 26"/>
          <p:cNvCxnSpPr>
            <a:stCxn id="14" idx="2"/>
          </p:cNvCxnSpPr>
          <p:nvPr/>
        </p:nvCxnSpPr>
        <p:spPr>
          <a:xfrm rot="16200000" flipH="1">
            <a:off x="5806776" y="3520768"/>
            <a:ext cx="1173786" cy="785818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2" idx="2"/>
          </p:cNvCxnSpPr>
          <p:nvPr/>
        </p:nvCxnSpPr>
        <p:spPr>
          <a:xfrm rot="16200000" flipH="1">
            <a:off x="6139260" y="3567499"/>
            <a:ext cx="508821" cy="785820"/>
          </a:xfrm>
          <a:prstGeom prst="straightConnector1">
            <a:avLst/>
          </a:prstGeom>
          <a:ln w="19050">
            <a:solidFill>
              <a:srgbClr val="3333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00694" y="5143512"/>
            <a:ext cx="3071834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accent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t1= value at add1</a:t>
            </a:r>
          </a:p>
          <a:p>
            <a:r>
              <a:rPr lang="en-US" sz="1800" b="1" dirty="0" smtClean="0">
                <a:solidFill>
                  <a:schemeClr val="bg1"/>
                </a:solidFill>
              </a:rPr>
              <a:t>t2= value at add2</a:t>
            </a:r>
          </a:p>
          <a:p>
            <a:r>
              <a:rPr lang="en-US" sz="1800" b="1" dirty="0" smtClean="0">
                <a:solidFill>
                  <a:schemeClr val="bg1"/>
                </a:solidFill>
              </a:rPr>
              <a:t>Value at add1 = t2 </a:t>
            </a:r>
          </a:p>
          <a:p>
            <a:r>
              <a:rPr lang="en-US" sz="1800" b="1" dirty="0" smtClean="0">
                <a:solidFill>
                  <a:schemeClr val="bg1"/>
                </a:solidFill>
              </a:rPr>
              <a:t>Value at add2= t1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28860" y="5357826"/>
            <a:ext cx="2500330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To change values of var1 and var2</a:t>
            </a:r>
          </a:p>
        </p:txBody>
      </p:sp>
      <p:sp>
        <p:nvSpPr>
          <p:cNvPr id="35" name="Left Brace 34"/>
          <p:cNvSpPr/>
          <p:nvPr/>
        </p:nvSpPr>
        <p:spPr>
          <a:xfrm>
            <a:off x="4929190" y="5143512"/>
            <a:ext cx="428628" cy="121444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359805" cy="642918"/>
          </a:xfrm>
        </p:spPr>
        <p:txBody>
          <a:bodyPr/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Swap2.asm – Source code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06" y="911536"/>
            <a:ext cx="7000924" cy="5089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266" y="526776"/>
            <a:ext cx="6954064" cy="6052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359805" cy="642918"/>
          </a:xfrm>
        </p:spPr>
        <p:txBody>
          <a:bodyPr/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Swap2.asm – Source code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43702" y="2808083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smtClean="0"/>
              <a:t>var2:  </a:t>
            </a:r>
            <a:r>
              <a:rPr lang="en-US" sz="1800" dirty="0" smtClean="0"/>
              <a:t>456</a:t>
            </a:r>
            <a:endParaRPr 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5357818" y="2879521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1245104 (var1)</a:t>
            </a:r>
            <a:endParaRPr lang="en-US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6643702" y="2428868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var1</a:t>
            </a:r>
            <a:r>
              <a:rPr lang="en-US" sz="1800" smtClean="0"/>
              <a:t>:  123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5357818" y="2500306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1245112 (var2)</a:t>
            </a:r>
            <a:endParaRPr lang="en-US" sz="12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8001024" y="2450894"/>
            <a:ext cx="785818" cy="7386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Stack of </a:t>
            </a:r>
            <a:r>
              <a:rPr lang="en-US" sz="1400" b="1" dirty="0" smtClean="0"/>
              <a:t>main</a:t>
            </a:r>
          </a:p>
          <a:p>
            <a:pPr algn="ctr"/>
            <a:endParaRPr lang="en-US" sz="1400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071934" y="2214554"/>
            <a:ext cx="1071570" cy="42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8" y="785794"/>
            <a:ext cx="5638800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359805" cy="642918"/>
          </a:xfrm>
        </p:spPr>
        <p:txBody>
          <a:bodyPr/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Swap2.asm – Source code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43702" y="3357562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smtClean="0"/>
              <a:t>var2:  </a:t>
            </a:r>
            <a:r>
              <a:rPr lang="en-US" sz="1800" dirty="0" smtClean="0"/>
              <a:t>456</a:t>
            </a:r>
            <a:endParaRPr 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5357818" y="3429000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1245104 (var1)</a:t>
            </a:r>
            <a:endParaRPr lang="en-US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6643702" y="2978347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var1</a:t>
            </a:r>
            <a:r>
              <a:rPr lang="en-US" sz="1800" smtClean="0"/>
              <a:t>:  123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5357818" y="3049785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1245112 (var2)</a:t>
            </a:r>
            <a:endParaRPr lang="en-US" sz="1200" b="1" dirty="0"/>
          </a:p>
        </p:txBody>
      </p:sp>
      <p:sp>
        <p:nvSpPr>
          <p:cNvPr id="15" name="Rectangle 14"/>
          <p:cNvSpPr/>
          <p:nvPr/>
        </p:nvSpPr>
        <p:spPr>
          <a:xfrm>
            <a:off x="6643702" y="4429132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1245112</a:t>
            </a:r>
            <a:endParaRPr lang="en-US" sz="1800" dirty="0"/>
          </a:p>
        </p:txBody>
      </p:sp>
      <p:sp>
        <p:nvSpPr>
          <p:cNvPr id="16" name="TextBox 15"/>
          <p:cNvSpPr txBox="1"/>
          <p:nvPr/>
        </p:nvSpPr>
        <p:spPr>
          <a:xfrm>
            <a:off x="5357818" y="4500570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mtClean="0"/>
              <a:t>1245084 (add1)</a:t>
            </a:r>
            <a:endParaRPr lang="en-US" sz="1200" b="1" dirty="0"/>
          </a:p>
        </p:txBody>
      </p:sp>
      <p:sp>
        <p:nvSpPr>
          <p:cNvPr id="17" name="Rectangle 16"/>
          <p:cNvSpPr/>
          <p:nvPr/>
        </p:nvSpPr>
        <p:spPr>
          <a:xfrm>
            <a:off x="6643702" y="4049917"/>
            <a:ext cx="1285884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1245104  </a:t>
            </a:r>
            <a:endParaRPr lang="en-US" sz="1800" dirty="0"/>
          </a:p>
        </p:txBody>
      </p:sp>
      <p:sp>
        <p:nvSpPr>
          <p:cNvPr id="18" name="TextBox 17"/>
          <p:cNvSpPr txBox="1"/>
          <p:nvPr/>
        </p:nvSpPr>
        <p:spPr>
          <a:xfrm>
            <a:off x="5357818" y="4121355"/>
            <a:ext cx="128588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mtClean="0"/>
              <a:t>1245088 (add2)</a:t>
            </a:r>
            <a:endParaRPr lang="en-US" sz="12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8001024" y="3000373"/>
            <a:ext cx="785818" cy="7386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Stack of </a:t>
            </a:r>
            <a:r>
              <a:rPr lang="en-US" sz="1400" b="1" dirty="0" smtClean="0"/>
              <a:t>main</a:t>
            </a:r>
          </a:p>
          <a:p>
            <a:pPr algn="ctr"/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8001024" y="4047658"/>
            <a:ext cx="785818" cy="7386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Stack of</a:t>
            </a:r>
          </a:p>
          <a:p>
            <a:pPr algn="ctr"/>
            <a:r>
              <a:rPr lang="en-US" sz="1400" b="1" dirty="0" smtClean="0"/>
              <a:t>swap2</a:t>
            </a:r>
          </a:p>
          <a:p>
            <a:pPr algn="ctr"/>
            <a:endParaRPr lang="en-US" sz="1400" dirty="0"/>
          </a:p>
        </p:txBody>
      </p:sp>
      <p:cxnSp>
        <p:nvCxnSpPr>
          <p:cNvPr id="27" name="Straight Arrow Connector 26"/>
          <p:cNvCxnSpPr>
            <a:stCxn id="14" idx="2"/>
          </p:cNvCxnSpPr>
          <p:nvPr/>
        </p:nvCxnSpPr>
        <p:spPr>
          <a:xfrm rot="16200000" flipH="1">
            <a:off x="5806776" y="3520768"/>
            <a:ext cx="1173786" cy="785818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2" idx="2"/>
          </p:cNvCxnSpPr>
          <p:nvPr/>
        </p:nvCxnSpPr>
        <p:spPr>
          <a:xfrm rot="16200000" flipH="1">
            <a:off x="6139260" y="3567499"/>
            <a:ext cx="508821" cy="785820"/>
          </a:xfrm>
          <a:prstGeom prst="straightConnector1">
            <a:avLst/>
          </a:prstGeom>
          <a:ln w="19050">
            <a:solidFill>
              <a:srgbClr val="3333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00694" y="5143512"/>
            <a:ext cx="3071834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accent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t1= value at add1</a:t>
            </a:r>
          </a:p>
          <a:p>
            <a:r>
              <a:rPr lang="en-US" sz="1800" b="1" dirty="0" smtClean="0">
                <a:solidFill>
                  <a:schemeClr val="bg1"/>
                </a:solidFill>
              </a:rPr>
              <a:t>t2= value at add2</a:t>
            </a:r>
          </a:p>
          <a:p>
            <a:r>
              <a:rPr lang="en-US" sz="1800" b="1" dirty="0" smtClean="0">
                <a:solidFill>
                  <a:schemeClr val="bg1"/>
                </a:solidFill>
              </a:rPr>
              <a:t>Value at add1 = t2 </a:t>
            </a:r>
          </a:p>
          <a:p>
            <a:r>
              <a:rPr lang="en-US" sz="1800" b="1" dirty="0" smtClean="0">
                <a:solidFill>
                  <a:schemeClr val="bg1"/>
                </a:solidFill>
              </a:rPr>
              <a:t>Value at add2= t1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57422" y="5429264"/>
            <a:ext cx="2500330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To change values of var1 and var2</a:t>
            </a:r>
          </a:p>
        </p:txBody>
      </p:sp>
      <p:sp>
        <p:nvSpPr>
          <p:cNvPr id="35" name="Left Brace 34"/>
          <p:cNvSpPr/>
          <p:nvPr/>
        </p:nvSpPr>
        <p:spPr>
          <a:xfrm>
            <a:off x="4929190" y="5143512"/>
            <a:ext cx="428628" cy="1214446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2844" y="142876"/>
            <a:ext cx="4286280" cy="714356"/>
          </a:xfrm>
        </p:spPr>
        <p:txBody>
          <a:bodyPr/>
          <a:lstStyle/>
          <a:p>
            <a:r>
              <a:rPr lang="en-GB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3-Loop.asm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596" y="928670"/>
            <a:ext cx="8072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following program depicts a way to use loop.</a:t>
            </a:r>
          </a:p>
          <a:p>
            <a:r>
              <a:rPr lang="en-US" dirty="0" smtClean="0"/>
              <a:t>Program will perform 3 times, for each time, 2 integers will be accepted then sum of them is print out.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5" y="2182872"/>
            <a:ext cx="6715172" cy="4246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2844" y="142876"/>
            <a:ext cx="5857916" cy="714356"/>
          </a:xfrm>
        </p:spPr>
        <p:txBody>
          <a:bodyPr/>
          <a:lstStyle/>
          <a:p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Loop.asm – Source code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1044" y="978748"/>
            <a:ext cx="6248476" cy="5022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2" y="142876"/>
            <a:ext cx="2071702" cy="1571612"/>
          </a:xfrm>
        </p:spPr>
        <p:txBody>
          <a:bodyPr/>
          <a:lstStyle/>
          <a:p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Loop.asm – Source code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2285984" y="71414"/>
            <a:ext cx="6643700" cy="6520712"/>
            <a:chOff x="2285984" y="71414"/>
            <a:chExt cx="6643700" cy="6520712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643174" y="71414"/>
              <a:ext cx="6286510" cy="6520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5" name="Straight Arrow Connector 4"/>
            <p:cNvCxnSpPr/>
            <p:nvPr/>
          </p:nvCxnSpPr>
          <p:spPr>
            <a:xfrm>
              <a:off x="2285984" y="357166"/>
              <a:ext cx="500066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>
              <a:off x="572266" y="2071678"/>
              <a:ext cx="3428230" cy="79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285984" y="3786190"/>
              <a:ext cx="428628" cy="1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2428860" y="4214818"/>
              <a:ext cx="357190" cy="1588"/>
            </a:xfrm>
            <a:prstGeom prst="straightConnector1">
              <a:avLst/>
            </a:prstGeom>
            <a:ln w="28575">
              <a:solidFill>
                <a:srgbClr val="CC00CC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679026" y="2464190"/>
              <a:ext cx="3499668" cy="1588"/>
            </a:xfrm>
            <a:prstGeom prst="line">
              <a:avLst/>
            </a:prstGeom>
            <a:ln>
              <a:solidFill>
                <a:srgbClr val="CC00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428860" y="714356"/>
              <a:ext cx="428628" cy="1588"/>
            </a:xfrm>
            <a:prstGeom prst="line">
              <a:avLst/>
            </a:prstGeom>
            <a:ln>
              <a:solidFill>
                <a:srgbClr val="CC00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2844" y="142876"/>
            <a:ext cx="4286280" cy="714356"/>
          </a:xfrm>
        </p:spPr>
        <p:txBody>
          <a:bodyPr/>
          <a:lstStyle/>
          <a:p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Exercises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0034" y="714356"/>
            <a:ext cx="8215370" cy="1200329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Develop a program that will perform n times, for each time, 2 integers will be accepted then sum of them </a:t>
            </a:r>
            <a:r>
              <a:rPr lang="en-US" smtClean="0"/>
              <a:t>is printed </a:t>
            </a:r>
            <a:r>
              <a:rPr lang="en-US" dirty="0" smtClean="0"/>
              <a:t>out. Value of n is received from user.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00034" y="2071678"/>
            <a:ext cx="8215370" cy="830997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Develop a program that </a:t>
            </a:r>
            <a:r>
              <a:rPr lang="en-US" smtClean="0"/>
              <a:t>will print out the n</a:t>
            </a:r>
            <a:r>
              <a:rPr lang="en-US" baseline="30000" smtClean="0"/>
              <a:t>th</a:t>
            </a:r>
            <a:r>
              <a:rPr lang="en-US" smtClean="0"/>
              <a:t> element of the Fibonacci sequence.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71538" y="3044510"/>
          <a:ext cx="64294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746"/>
                <a:gridCol w="429818"/>
                <a:gridCol w="477574"/>
                <a:gridCol w="477574"/>
                <a:gridCol w="477574"/>
                <a:gridCol w="588689"/>
                <a:gridCol w="588689"/>
                <a:gridCol w="588689"/>
                <a:gridCol w="588689"/>
                <a:gridCol w="588689"/>
                <a:gridCol w="58868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Index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Fib.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13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21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34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55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00298" y="3946289"/>
            <a:ext cx="3857652" cy="2554545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sz="2000" smtClean="0"/>
              <a:t>If  (n = 1 or n =2) eax=1</a:t>
            </a:r>
          </a:p>
          <a:p>
            <a:r>
              <a:rPr lang="en-US" sz="2000" smtClean="0"/>
              <a:t>Else</a:t>
            </a:r>
          </a:p>
          <a:p>
            <a:r>
              <a:rPr lang="en-US" sz="2000" smtClean="0"/>
              <a:t>    t1=1; t2= 1 </a:t>
            </a:r>
          </a:p>
          <a:p>
            <a:r>
              <a:rPr lang="en-US" sz="2000" smtClean="0"/>
              <a:t>    loop n-2 times</a:t>
            </a:r>
          </a:p>
          <a:p>
            <a:r>
              <a:rPr lang="en-US" sz="2000" smtClean="0"/>
              <a:t>          eax = t1 + t2</a:t>
            </a:r>
          </a:p>
          <a:p>
            <a:r>
              <a:rPr lang="en-US" sz="2000" smtClean="0"/>
              <a:t>           t1= t2</a:t>
            </a:r>
          </a:p>
          <a:p>
            <a:r>
              <a:rPr lang="en-US" sz="2000" smtClean="0"/>
              <a:t>           t2 = eax</a:t>
            </a:r>
          </a:p>
          <a:p>
            <a:r>
              <a:rPr lang="en-US" sz="2000" smtClean="0"/>
              <a:t>eax contains the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2844" y="142876"/>
            <a:ext cx="4286280" cy="714356"/>
          </a:xfrm>
        </p:spPr>
        <p:txBody>
          <a:bodyPr/>
          <a:lstStyle/>
          <a:p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Exercises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0034" y="834924"/>
            <a:ext cx="8215370" cy="2308324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Develop </a:t>
            </a:r>
            <a:r>
              <a:rPr lang="en-US" smtClean="0"/>
              <a:t>a procedure for computing n! using the following prototype:</a:t>
            </a:r>
          </a:p>
          <a:p>
            <a:r>
              <a:rPr lang="en-US" smtClean="0"/>
              <a:t>factorial PROTO : DWORD</a:t>
            </a:r>
          </a:p>
          <a:p>
            <a:endParaRPr lang="en-US" smtClean="0"/>
          </a:p>
          <a:p>
            <a:r>
              <a:rPr lang="en-US" smtClean="0"/>
              <a:t>In the procedure main of the ASM program, the integer n will be accepted then value of n! will be printed out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85984" y="3286124"/>
            <a:ext cx="3857652" cy="400110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sz="2000" smtClean="0"/>
              <a:t>n! = 1* 2 * 3* …. * 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4073526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97540" y="1857364"/>
            <a:ext cx="7646359" cy="3548082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Arithmetic operations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Accessing variable’s address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Drawing the memory map of a program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The way procedures work.</a:t>
            </a:r>
          </a:p>
          <a:p>
            <a:pPr lvl="0">
              <a:defRPr/>
            </a:pPr>
            <a:r>
              <a:rPr lang="en-US" sz="2400" dirty="0" smtClean="0">
                <a:solidFill>
                  <a:srgbClr val="002060"/>
                </a:solidFill>
              </a:rPr>
              <a:t>Using loops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5989</TotalTime>
  <Words>1525</Words>
  <Application>Microsoft Office PowerPoint</Application>
  <PresentationFormat>On-screen Show (4:3)</PresentationFormat>
  <Paragraphs>296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Advantage</vt:lpstr>
      <vt:lpstr>PowerPoint Presentation</vt:lpstr>
      <vt:lpstr>Objectives</vt:lpstr>
      <vt:lpstr>Contents</vt:lpstr>
      <vt:lpstr>1- Arithmetic Operations</vt:lpstr>
      <vt:lpstr>EX06_Adding.asm -  Source code</vt:lpstr>
      <vt:lpstr>EX06_Adding.asm -  Source code</vt:lpstr>
      <vt:lpstr>2- Access Variable’s Address</vt:lpstr>
      <vt:lpstr>Addresses.asm- Access Variable’s Address</vt:lpstr>
      <vt:lpstr>Addresses.asm- Access Variable’s Address</vt:lpstr>
      <vt:lpstr>Addresses.asm- Access Variable’s Address</vt:lpstr>
      <vt:lpstr>Addresses.asm- Source code</vt:lpstr>
      <vt:lpstr>Swap1.asm</vt:lpstr>
      <vt:lpstr>Swap1.asm – Source code</vt:lpstr>
      <vt:lpstr>Swap1.asm – Memory Map when the procedure Swap1 is called</vt:lpstr>
      <vt:lpstr>Swap2.asm</vt:lpstr>
      <vt:lpstr>Swap2.asm – Source code</vt:lpstr>
      <vt:lpstr>Swap2.asm – Source code</vt:lpstr>
      <vt:lpstr>Swap2.asm – Source code</vt:lpstr>
      <vt:lpstr>3-Loop.asm</vt:lpstr>
      <vt:lpstr>Loop.asm – Source code</vt:lpstr>
      <vt:lpstr>Loop.asm – Source code</vt:lpstr>
      <vt:lpstr>Exercises</vt:lpstr>
      <vt:lpstr>Exercises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Modes</dc:title>
  <dc:creator>Adrian &amp; Wendy</dc:creator>
  <cp:lastModifiedBy>Admin</cp:lastModifiedBy>
  <cp:revision>121</cp:revision>
  <dcterms:created xsi:type="dcterms:W3CDTF">2012-07-21T04:30:17Z</dcterms:created>
  <dcterms:modified xsi:type="dcterms:W3CDTF">2018-11-06T02:26:25Z</dcterms:modified>
</cp:coreProperties>
</file>